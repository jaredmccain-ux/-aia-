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8"/>
  </p:notesMasterIdLst>
  <p:sldIdLst>
    <p:sldId id="357" r:id="rId2"/>
    <p:sldId id="448" r:id="rId3"/>
    <p:sldId id="342" r:id="rId4"/>
    <p:sldId id="343" r:id="rId5"/>
    <p:sldId id="344" r:id="rId6"/>
    <p:sldId id="444" r:id="rId7"/>
    <p:sldId id="347" r:id="rId8"/>
    <p:sldId id="348" r:id="rId9"/>
    <p:sldId id="350" r:id="rId10"/>
    <p:sldId id="351" r:id="rId11"/>
    <p:sldId id="353" r:id="rId12"/>
    <p:sldId id="356" r:id="rId13"/>
    <p:sldId id="411" r:id="rId14"/>
    <p:sldId id="412" r:id="rId15"/>
    <p:sldId id="413" r:id="rId16"/>
    <p:sldId id="414" r:id="rId17"/>
    <p:sldId id="415" r:id="rId18"/>
    <p:sldId id="416" r:id="rId19"/>
    <p:sldId id="417" r:id="rId20"/>
    <p:sldId id="420" r:id="rId21"/>
    <p:sldId id="421" r:id="rId22"/>
    <p:sldId id="422" r:id="rId23"/>
    <p:sldId id="423" r:id="rId24"/>
    <p:sldId id="424" r:id="rId25"/>
    <p:sldId id="425" r:id="rId26"/>
    <p:sldId id="426" r:id="rId27"/>
  </p:sldIdLst>
  <p:sldSz cx="9144000" cy="6858000" type="screen4x3"/>
  <p:notesSz cx="6858000" cy="9144000"/>
  <p:custDataLst>
    <p:tags r:id="rId29"/>
  </p:custDataLst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81" userDrawn="1">
          <p15:clr>
            <a:srgbClr val="A4A3A4"/>
          </p15:clr>
        </p15:guide>
        <p15:guide id="2" pos="289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FF00FF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107" d="100"/>
          <a:sy n="107" d="100"/>
        </p:scale>
        <p:origin x="101" y="173"/>
      </p:cViewPr>
      <p:guideLst>
        <p:guide orient="horz" pos="2081"/>
        <p:guide pos="2897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-24981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gs" Target="tags/tag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CD80F6E5-AD4A-4B1E-95CA-3F73C58AFB92}" type="datetimeFigureOut">
              <a:rPr lang="zh-CN" altLang="en-US"/>
              <a:t>2024/12/15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 smtClean="0"/>
            </a:lvl1pPr>
          </a:lstStyle>
          <a:p>
            <a:pPr>
              <a:defRPr/>
            </a:pPr>
            <a:fld id="{D9B61587-DBB4-4CB0-9314-684E09425646}" type="slidenum">
              <a:rPr lang="zh-CN" altLang="en-US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7"/>
          <p:cNvSpPr>
            <a:spLocks noChangeArrowheads="1"/>
          </p:cNvSpPr>
          <p:nvPr/>
        </p:nvSpPr>
        <p:spPr bwMode="auto">
          <a:xfrm>
            <a:off x="685800" y="2393950"/>
            <a:ext cx="7772400" cy="109538"/>
          </a:xfrm>
          <a:custGeom>
            <a:avLst/>
            <a:gdLst>
              <a:gd name="T0" fmla="*/ 0 w 1000"/>
              <a:gd name="T1" fmla="*/ 0 h 1000"/>
              <a:gd name="T2" fmla="*/ 2147483646 w 1000"/>
              <a:gd name="T3" fmla="*/ 0 h 1000"/>
              <a:gd name="T4" fmla="*/ 2147483646 w 1000"/>
              <a:gd name="T5" fmla="*/ 2147483646 h 1000"/>
              <a:gd name="T6" fmla="*/ 0 w 1000"/>
              <a:gd name="T7" fmla="*/ 2147483646 h 1000"/>
              <a:gd name="T8" fmla="*/ 0 w 1000"/>
              <a:gd name="T9" fmla="*/ 0 h 1000"/>
              <a:gd name="T10" fmla="*/ 2147483646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618" y="0"/>
                </a:lnTo>
                <a:lnTo>
                  <a:pt x="618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837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990600"/>
            <a:ext cx="7772400" cy="1371600"/>
          </a:xfrm>
        </p:spPr>
        <p:txBody>
          <a:bodyPr/>
          <a:lstStyle>
            <a:lvl1pPr>
              <a:defRPr sz="4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5837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447800" y="3429000"/>
            <a:ext cx="7010400" cy="1600200"/>
          </a:xfr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 sz="2800"/>
            </a:lvl1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C10967E2-3BC1-404D-A9AD-E70781224CF4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7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353843C-8E16-40C9-A559-DD7768348179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D9553289-61DC-4E99-9AF8-5D4239461D4C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66738" y="1752600"/>
            <a:ext cx="3924300" cy="4267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3438" y="1752600"/>
            <a:ext cx="3924300" cy="4267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92126D25-6935-4E52-9633-07499DD998CE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2C76F19F-8D0E-4FEB-9EAA-069BABC2F032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6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4489EAE8-2E4F-4131-B53A-6D60D1339EB0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B00478F3-EEA7-46D8-9171-93AE6D7EE7BC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7CDC6629-6992-4A64-80E7-5E14EC39E996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99A1A54C-C214-4E12-A2E5-6DE121398E9C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725CC42A-A699-40CD-A3A9-19B145D5DC18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73838" y="304800"/>
            <a:ext cx="2001837" cy="57150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66738" y="304800"/>
            <a:ext cx="5854700" cy="57150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C0892BBD-9638-4D88-9151-919E6920F981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566738" y="1752600"/>
            <a:ext cx="3924300" cy="4267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3438" y="1752600"/>
            <a:ext cx="3924300" cy="4267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58DA27EA-815B-4DB4-9FFB-058BE7793617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566738" y="1752600"/>
            <a:ext cx="3924300" cy="4267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3438" y="1752600"/>
            <a:ext cx="3924300" cy="20574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43438" y="3962400"/>
            <a:ext cx="3924300" cy="20574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28A23203-B85B-4D15-B012-D4BCBF489A32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566738" y="1752600"/>
            <a:ext cx="8001000" cy="4267200"/>
          </a:xfrm>
        </p:spPr>
        <p:txBody>
          <a:bodyPr/>
          <a:lstStyle/>
          <a:p>
            <a:pPr lvl="0"/>
            <a:endParaRPr lang="zh-CN" altLang="en-US" noProof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D6AE9F00-A16E-4529-B7EF-46B1409BFD03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6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66738" y="1752600"/>
            <a:ext cx="8001000" cy="426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28" name="AutoShape 4"/>
          <p:cNvSpPr>
            <a:spLocks noChangeArrowheads="1"/>
          </p:cNvSpPr>
          <p:nvPr/>
        </p:nvSpPr>
        <p:spPr bwMode="auto">
          <a:xfrm>
            <a:off x="609600" y="1566863"/>
            <a:ext cx="7958138" cy="109537"/>
          </a:xfrm>
          <a:custGeom>
            <a:avLst/>
            <a:gdLst>
              <a:gd name="T0" fmla="*/ 0 w 1000"/>
              <a:gd name="T1" fmla="*/ 0 h 1000"/>
              <a:gd name="T2" fmla="*/ 2147483646 w 1000"/>
              <a:gd name="T3" fmla="*/ 0 h 1000"/>
              <a:gd name="T4" fmla="*/ 2147483646 w 1000"/>
              <a:gd name="T5" fmla="*/ 2147483646 h 1000"/>
              <a:gd name="T6" fmla="*/ 0 w 1000"/>
              <a:gd name="T7" fmla="*/ 2147483646 h 1000"/>
              <a:gd name="T8" fmla="*/ 0 w 1000"/>
              <a:gd name="T9" fmla="*/ 0 h 1000"/>
              <a:gd name="T10" fmla="*/ 2147483646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29" name="Line 5"/>
          <p:cNvSpPr>
            <a:spLocks noChangeShapeType="1"/>
          </p:cNvSpPr>
          <p:nvPr/>
        </p:nvSpPr>
        <p:spPr bwMode="auto">
          <a:xfrm flipV="1">
            <a:off x="609600" y="6172200"/>
            <a:ext cx="7924800" cy="0"/>
          </a:xfrm>
          <a:prstGeom prst="line">
            <a:avLst/>
          </a:prstGeom>
          <a:noFill/>
          <a:ln w="3175">
            <a:solidFill>
              <a:schemeClr val="accent2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7351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defRPr sz="120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7352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19812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 smtClean="0"/>
            </a:lvl1pPr>
          </a:lstStyle>
          <a:p>
            <a:pPr>
              <a:defRPr/>
            </a:pPr>
            <a:fld id="{C86D8439-16DB-41B5-9F3B-C11712DB70BD}" type="slidenum">
              <a:rPr lang="en-US" altLang="zh-CN"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9pPr>
    </p:titleStyle>
    <p:bodyStyle>
      <a:lvl1pPr marL="469900" indent="-4699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o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908050" indent="-43688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2600">
          <a:solidFill>
            <a:schemeClr val="tx1"/>
          </a:solidFill>
          <a:latin typeface="+mn-lt"/>
          <a:ea typeface="+mn-ea"/>
        </a:defRPr>
      </a:lvl2pPr>
      <a:lvl3pPr marL="1304925" indent="-395605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o"/>
        <a:defRPr sz="2300">
          <a:solidFill>
            <a:schemeClr val="tx1"/>
          </a:solidFill>
          <a:latin typeface="+mn-lt"/>
          <a:ea typeface="+mn-ea"/>
        </a:defRPr>
      </a:lvl3pPr>
      <a:lvl4pPr marL="1694180" indent="-3873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4pPr>
      <a:lvl5pPr marL="2094230" indent="-398780" algn="l" rtl="0" eaLnBrk="0" fontAlgn="base" hangingPunct="0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5pPr>
      <a:lvl6pPr marL="2551430" indent="-398780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6pPr>
      <a:lvl7pPr marL="3008630" indent="-398780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7pPr>
      <a:lvl8pPr marL="3465830" indent="-398780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8pPr>
      <a:lvl9pPr marL="3923030" indent="-398780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7" Type="http://schemas.openxmlformats.org/officeDocument/2006/relationships/image" Target="../media/image9.png"/><Relationship Id="rId2" Type="http://schemas.openxmlformats.org/officeDocument/2006/relationships/image" Target="../media/image4.w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wmf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" Target="slide15.xml"/><Relationship Id="rId2" Type="http://schemas.openxmlformats.org/officeDocument/2006/relationships/slide" Target="slide8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2" Type="http://schemas.openxmlformats.org/officeDocument/2006/relationships/image" Target="../media/image10.w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wmf"/><Relationship Id="rId4" Type="http://schemas.openxmlformats.org/officeDocument/2006/relationships/image" Target="../media/image12.w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wmf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Relationship Id="rId6" Type="http://schemas.openxmlformats.org/officeDocument/2006/relationships/image" Target="../media/image16.wmf"/><Relationship Id="rId5" Type="http://schemas.openxmlformats.org/officeDocument/2006/relationships/oleObject" Target="../embeddings/oleObject1.bin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w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wm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wmf"/><Relationship Id="rId13" Type="http://schemas.openxmlformats.org/officeDocument/2006/relationships/image" Target="../media/image28.wmf"/><Relationship Id="rId3" Type="http://schemas.openxmlformats.org/officeDocument/2006/relationships/image" Target="../media/image20.wmf"/><Relationship Id="rId7" Type="http://schemas.openxmlformats.org/officeDocument/2006/relationships/image" Target="../media/image24.wmf"/><Relationship Id="rId12" Type="http://schemas.openxmlformats.org/officeDocument/2006/relationships/oleObject" Target="../embeddings/oleObject3.bin"/><Relationship Id="rId2" Type="http://schemas.openxmlformats.org/officeDocument/2006/relationships/image" Target="../media/image19.w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wmf"/><Relationship Id="rId11" Type="http://schemas.openxmlformats.org/officeDocument/2006/relationships/image" Target="../media/image27.wmf"/><Relationship Id="rId5" Type="http://schemas.openxmlformats.org/officeDocument/2006/relationships/image" Target="../media/image22.wmf"/><Relationship Id="rId10" Type="http://schemas.openxmlformats.org/officeDocument/2006/relationships/oleObject" Target="../embeddings/oleObject2.bin"/><Relationship Id="rId4" Type="http://schemas.openxmlformats.org/officeDocument/2006/relationships/image" Target="../media/image21.wmf"/><Relationship Id="rId9" Type="http://schemas.openxmlformats.org/officeDocument/2006/relationships/image" Target="../media/image26.w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wmf"/><Relationship Id="rId7" Type="http://schemas.openxmlformats.org/officeDocument/2006/relationships/image" Target="../media/image28.wmf"/><Relationship Id="rId2" Type="http://schemas.openxmlformats.org/officeDocument/2006/relationships/image" Target="../media/image29.wmf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4.bin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wmf"/><Relationship Id="rId7" Type="http://schemas.openxmlformats.org/officeDocument/2006/relationships/image" Target="../media/image38.wmf"/><Relationship Id="rId2" Type="http://schemas.openxmlformats.org/officeDocument/2006/relationships/image" Target="../media/image33.w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wmf"/><Relationship Id="rId5" Type="http://schemas.openxmlformats.org/officeDocument/2006/relationships/image" Target="../media/image36.wmf"/><Relationship Id="rId4" Type="http://schemas.openxmlformats.org/officeDocument/2006/relationships/image" Target="../media/image35.w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wmf"/><Relationship Id="rId2" Type="http://schemas.openxmlformats.org/officeDocument/2006/relationships/image" Target="../media/image39.wm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tags" Target="../tags/tag10.xml"/><Relationship Id="rId13" Type="http://schemas.openxmlformats.org/officeDocument/2006/relationships/tags" Target="../tags/tag15.xml"/><Relationship Id="rId18" Type="http://schemas.openxmlformats.org/officeDocument/2006/relationships/tags" Target="../tags/tag20.xml"/><Relationship Id="rId26" Type="http://schemas.openxmlformats.org/officeDocument/2006/relationships/tags" Target="../tags/tag28.xml"/><Relationship Id="rId39" Type="http://schemas.openxmlformats.org/officeDocument/2006/relationships/image" Target="../media/image45.wmf"/><Relationship Id="rId3" Type="http://schemas.openxmlformats.org/officeDocument/2006/relationships/tags" Target="../tags/tag5.xml"/><Relationship Id="rId21" Type="http://schemas.openxmlformats.org/officeDocument/2006/relationships/tags" Target="../tags/tag23.xml"/><Relationship Id="rId34" Type="http://schemas.openxmlformats.org/officeDocument/2006/relationships/oleObject" Target="../embeddings/oleObject5.bin"/><Relationship Id="rId7" Type="http://schemas.openxmlformats.org/officeDocument/2006/relationships/tags" Target="../tags/tag9.xml"/><Relationship Id="rId12" Type="http://schemas.openxmlformats.org/officeDocument/2006/relationships/tags" Target="../tags/tag14.xml"/><Relationship Id="rId17" Type="http://schemas.openxmlformats.org/officeDocument/2006/relationships/tags" Target="../tags/tag19.xml"/><Relationship Id="rId25" Type="http://schemas.openxmlformats.org/officeDocument/2006/relationships/tags" Target="../tags/tag27.xml"/><Relationship Id="rId33" Type="http://schemas.openxmlformats.org/officeDocument/2006/relationships/image" Target="../media/image42.wmf"/><Relationship Id="rId38" Type="http://schemas.openxmlformats.org/officeDocument/2006/relationships/oleObject" Target="../embeddings/oleObject7.bin"/><Relationship Id="rId2" Type="http://schemas.openxmlformats.org/officeDocument/2006/relationships/tags" Target="../tags/tag4.xml"/><Relationship Id="rId16" Type="http://schemas.openxmlformats.org/officeDocument/2006/relationships/tags" Target="../tags/tag18.xml"/><Relationship Id="rId20" Type="http://schemas.openxmlformats.org/officeDocument/2006/relationships/tags" Target="../tags/tag22.xml"/><Relationship Id="rId29" Type="http://schemas.openxmlformats.org/officeDocument/2006/relationships/tags" Target="../tags/tag31.xml"/><Relationship Id="rId1" Type="http://schemas.openxmlformats.org/officeDocument/2006/relationships/tags" Target="../tags/tag3.xml"/><Relationship Id="rId6" Type="http://schemas.openxmlformats.org/officeDocument/2006/relationships/tags" Target="../tags/tag8.xml"/><Relationship Id="rId11" Type="http://schemas.openxmlformats.org/officeDocument/2006/relationships/tags" Target="../tags/tag13.xml"/><Relationship Id="rId24" Type="http://schemas.openxmlformats.org/officeDocument/2006/relationships/tags" Target="../tags/tag26.xml"/><Relationship Id="rId32" Type="http://schemas.openxmlformats.org/officeDocument/2006/relationships/image" Target="../media/image41.wmf"/><Relationship Id="rId37" Type="http://schemas.openxmlformats.org/officeDocument/2006/relationships/image" Target="../media/image44.wmf"/><Relationship Id="rId5" Type="http://schemas.openxmlformats.org/officeDocument/2006/relationships/tags" Target="../tags/tag7.xml"/><Relationship Id="rId15" Type="http://schemas.openxmlformats.org/officeDocument/2006/relationships/tags" Target="../tags/tag17.xml"/><Relationship Id="rId23" Type="http://schemas.openxmlformats.org/officeDocument/2006/relationships/tags" Target="../tags/tag25.xml"/><Relationship Id="rId28" Type="http://schemas.openxmlformats.org/officeDocument/2006/relationships/tags" Target="../tags/tag30.xml"/><Relationship Id="rId36" Type="http://schemas.openxmlformats.org/officeDocument/2006/relationships/oleObject" Target="../embeddings/oleObject6.bin"/><Relationship Id="rId10" Type="http://schemas.openxmlformats.org/officeDocument/2006/relationships/tags" Target="../tags/tag12.xml"/><Relationship Id="rId19" Type="http://schemas.openxmlformats.org/officeDocument/2006/relationships/tags" Target="../tags/tag21.xml"/><Relationship Id="rId31" Type="http://schemas.openxmlformats.org/officeDocument/2006/relationships/slideLayout" Target="../slideLayouts/slideLayout2.xml"/><Relationship Id="rId4" Type="http://schemas.openxmlformats.org/officeDocument/2006/relationships/tags" Target="../tags/tag6.xml"/><Relationship Id="rId9" Type="http://schemas.openxmlformats.org/officeDocument/2006/relationships/tags" Target="../tags/tag11.xml"/><Relationship Id="rId14" Type="http://schemas.openxmlformats.org/officeDocument/2006/relationships/tags" Target="../tags/tag16.xml"/><Relationship Id="rId22" Type="http://schemas.openxmlformats.org/officeDocument/2006/relationships/tags" Target="../tags/tag24.xml"/><Relationship Id="rId27" Type="http://schemas.openxmlformats.org/officeDocument/2006/relationships/tags" Target="../tags/tag29.xml"/><Relationship Id="rId30" Type="http://schemas.openxmlformats.org/officeDocument/2006/relationships/tags" Target="../tags/tag32.xml"/><Relationship Id="rId35" Type="http://schemas.openxmlformats.org/officeDocument/2006/relationships/image" Target="../media/image43.w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image" Target="../media/image14.w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w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wmf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3.xml"/><Relationship Id="rId6" Type="http://schemas.openxmlformats.org/officeDocument/2006/relationships/image" Target="../media/image14.wmf"/><Relationship Id="rId5" Type="http://schemas.openxmlformats.org/officeDocument/2006/relationships/image" Target="../media/image48.wmf"/><Relationship Id="rId4" Type="http://schemas.openxmlformats.org/officeDocument/2006/relationships/image" Target="../media/image47.wmf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.bin"/><Relationship Id="rId3" Type="http://schemas.openxmlformats.org/officeDocument/2006/relationships/image" Target="../media/image50.wmf"/><Relationship Id="rId7" Type="http://schemas.openxmlformats.org/officeDocument/2006/relationships/image" Target="../media/image54.wmf"/><Relationship Id="rId2" Type="http://schemas.openxmlformats.org/officeDocument/2006/relationships/image" Target="../media/image49.w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3.wmf"/><Relationship Id="rId5" Type="http://schemas.openxmlformats.org/officeDocument/2006/relationships/image" Target="../media/image52.wmf"/><Relationship Id="rId4" Type="http://schemas.openxmlformats.org/officeDocument/2006/relationships/image" Target="../media/image51.wmf"/><Relationship Id="rId9" Type="http://schemas.openxmlformats.org/officeDocument/2006/relationships/image" Target="../media/image55.w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wmf"/><Relationship Id="rId2" Type="http://schemas.openxmlformats.org/officeDocument/2006/relationships/image" Target="../media/image56.w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8.w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wmf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4.xml"/><Relationship Id="rId6" Type="http://schemas.openxmlformats.org/officeDocument/2006/relationships/image" Target="../media/image61.wmf"/><Relationship Id="rId5" Type="http://schemas.openxmlformats.org/officeDocument/2006/relationships/oleObject" Target="../embeddings/oleObject10.bin"/><Relationship Id="rId4" Type="http://schemas.openxmlformats.org/officeDocument/2006/relationships/image" Target="../media/image60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wmf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65.wmf"/><Relationship Id="rId2" Type="http://schemas.openxmlformats.org/officeDocument/2006/relationships/tags" Target="../tags/tag36.xml"/><Relationship Id="rId1" Type="http://schemas.openxmlformats.org/officeDocument/2006/relationships/tags" Target="../tags/tag35.xml"/><Relationship Id="rId6" Type="http://schemas.openxmlformats.org/officeDocument/2006/relationships/image" Target="../media/image64.wmf"/><Relationship Id="rId11" Type="http://schemas.openxmlformats.org/officeDocument/2006/relationships/image" Target="../media/image59.wmf"/><Relationship Id="rId5" Type="http://schemas.openxmlformats.org/officeDocument/2006/relationships/image" Target="../media/image63.wmf"/><Relationship Id="rId10" Type="http://schemas.openxmlformats.org/officeDocument/2006/relationships/image" Target="../media/image60.png"/><Relationship Id="rId4" Type="http://schemas.openxmlformats.org/officeDocument/2006/relationships/image" Target="../media/image62.wmf"/><Relationship Id="rId9" Type="http://schemas.openxmlformats.org/officeDocument/2006/relationships/image" Target="../media/image67.wmf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wmf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7.xml"/><Relationship Id="rId6" Type="http://schemas.openxmlformats.org/officeDocument/2006/relationships/image" Target="../media/image61.wmf"/><Relationship Id="rId5" Type="http://schemas.openxmlformats.org/officeDocument/2006/relationships/oleObject" Target="../embeddings/oleObject10.bin"/><Relationship Id="rId4" Type="http://schemas.openxmlformats.org/officeDocument/2006/relationships/image" Target="../media/image59.wmf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.wmf"/><Relationship Id="rId3" Type="http://schemas.openxmlformats.org/officeDocument/2006/relationships/image" Target="../media/image69.wmf"/><Relationship Id="rId7" Type="http://schemas.openxmlformats.org/officeDocument/2006/relationships/image" Target="../media/image73.wmf"/><Relationship Id="rId12" Type="http://schemas.openxmlformats.org/officeDocument/2006/relationships/image" Target="../media/image61.wmf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8.xml"/><Relationship Id="rId6" Type="http://schemas.openxmlformats.org/officeDocument/2006/relationships/image" Target="../media/image72.wmf"/><Relationship Id="rId11" Type="http://schemas.openxmlformats.org/officeDocument/2006/relationships/oleObject" Target="../embeddings/oleObject10.bin"/><Relationship Id="rId5" Type="http://schemas.openxmlformats.org/officeDocument/2006/relationships/image" Target="../media/image71.wmf"/><Relationship Id="rId10" Type="http://schemas.openxmlformats.org/officeDocument/2006/relationships/image" Target="../media/image76.wmf"/><Relationship Id="rId4" Type="http://schemas.openxmlformats.org/officeDocument/2006/relationships/image" Target="../media/image70.wmf"/><Relationship Id="rId9" Type="http://schemas.openxmlformats.org/officeDocument/2006/relationships/image" Target="../media/image75.wmf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0.wmf"/><Relationship Id="rId13" Type="http://schemas.openxmlformats.org/officeDocument/2006/relationships/image" Target="../media/image85.wmf"/><Relationship Id="rId3" Type="http://schemas.openxmlformats.org/officeDocument/2006/relationships/tags" Target="../tags/tag41.xml"/><Relationship Id="rId7" Type="http://schemas.openxmlformats.org/officeDocument/2006/relationships/image" Target="../media/image79.wmf"/><Relationship Id="rId12" Type="http://schemas.openxmlformats.org/officeDocument/2006/relationships/image" Target="../media/image84.wmf"/><Relationship Id="rId2" Type="http://schemas.openxmlformats.org/officeDocument/2006/relationships/tags" Target="../tags/tag40.xml"/><Relationship Id="rId16" Type="http://schemas.openxmlformats.org/officeDocument/2006/relationships/image" Target="../media/image75.wmf"/><Relationship Id="rId1" Type="http://schemas.openxmlformats.org/officeDocument/2006/relationships/tags" Target="../tags/tag39.xml"/><Relationship Id="rId6" Type="http://schemas.openxmlformats.org/officeDocument/2006/relationships/image" Target="../media/image78.wmf"/><Relationship Id="rId11" Type="http://schemas.openxmlformats.org/officeDocument/2006/relationships/image" Target="../media/image83.wmf"/><Relationship Id="rId5" Type="http://schemas.openxmlformats.org/officeDocument/2006/relationships/image" Target="../media/image77.wmf"/><Relationship Id="rId15" Type="http://schemas.openxmlformats.org/officeDocument/2006/relationships/image" Target="../media/image61.wmf"/><Relationship Id="rId10" Type="http://schemas.openxmlformats.org/officeDocument/2006/relationships/image" Target="../media/image82.wmf"/><Relationship Id="rId4" Type="http://schemas.openxmlformats.org/officeDocument/2006/relationships/slideLayout" Target="../slideLayouts/slideLayout2.xml"/><Relationship Id="rId9" Type="http://schemas.openxmlformats.org/officeDocument/2006/relationships/image" Target="../media/image81.wmf"/><Relationship Id="rId14" Type="http://schemas.openxmlformats.org/officeDocument/2006/relationships/oleObject" Target="../embeddings/oleObject11.bin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4.wmf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89.wmf"/><Relationship Id="rId2" Type="http://schemas.openxmlformats.org/officeDocument/2006/relationships/tags" Target="../tags/tag43.xml"/><Relationship Id="rId1" Type="http://schemas.openxmlformats.org/officeDocument/2006/relationships/tags" Target="../tags/tag42.xml"/><Relationship Id="rId6" Type="http://schemas.openxmlformats.org/officeDocument/2006/relationships/image" Target="../media/image88.wmf"/><Relationship Id="rId5" Type="http://schemas.openxmlformats.org/officeDocument/2006/relationships/image" Target="../media/image87.wmf"/><Relationship Id="rId4" Type="http://schemas.openxmlformats.org/officeDocument/2006/relationships/image" Target="../media/image86.wmf"/><Relationship Id="rId9" Type="http://schemas.openxmlformats.org/officeDocument/2006/relationships/image" Target="../media/image59.wmf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524000"/>
            <a:ext cx="4419600" cy="838200"/>
          </a:xfrm>
        </p:spPr>
        <p:txBody>
          <a:bodyPr/>
          <a:lstStyle/>
          <a:p>
            <a:pPr algn="ctr" eaLnBrk="1" hangingPunct="1">
              <a:spcBef>
                <a:spcPts val="1200"/>
              </a:spcBef>
              <a:spcAft>
                <a:spcPts val="600"/>
              </a:spcAft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最优化理论与方法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（动态规划与图论）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685800" y="2590800"/>
            <a:ext cx="4495800" cy="31242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Char char="o"/>
            </a:pPr>
            <a:r>
              <a:rPr lang="zh-CN" altLang="en-US" sz="2000" b="1" dirty="0">
                <a:latin typeface="宋体" panose="02010600030101010101" pitchFamily="2" charset="-122"/>
              </a:rPr>
              <a:t>教材：</a:t>
            </a:r>
            <a:r>
              <a:rPr lang="en-US" altLang="zh-CN" sz="2000" b="1" dirty="0">
                <a:latin typeface="宋体" panose="02010600030101010101" pitchFamily="2" charset="-122"/>
              </a:rPr>
              <a:t>《</a:t>
            </a:r>
            <a:r>
              <a:rPr lang="zh-CN" altLang="en-US" sz="2000" b="1" dirty="0">
                <a:latin typeface="宋体" panose="02010600030101010101" pitchFamily="2" charset="-122"/>
              </a:rPr>
              <a:t>运筹学</a:t>
            </a:r>
            <a:r>
              <a:rPr lang="en-US" altLang="zh-CN" sz="2000" b="1" dirty="0">
                <a:latin typeface="宋体" panose="02010600030101010101" pitchFamily="2" charset="-122"/>
              </a:rPr>
              <a:t>》</a:t>
            </a:r>
            <a:r>
              <a:rPr lang="zh-CN" altLang="en-US" sz="2000" b="1" dirty="0">
                <a:latin typeface="宋体" panose="02010600030101010101" pitchFamily="2" charset="-122"/>
              </a:rPr>
              <a:t>（第</a:t>
            </a:r>
            <a:r>
              <a:rPr lang="en-US" altLang="zh-CN" sz="2000" b="1" dirty="0">
                <a:latin typeface="宋体" panose="02010600030101010101" pitchFamily="2" charset="-122"/>
              </a:rPr>
              <a:t>5</a:t>
            </a:r>
            <a:r>
              <a:rPr lang="zh-CN" altLang="en-US" sz="2000" b="1" dirty="0">
                <a:latin typeface="宋体" panose="02010600030101010101" pitchFamily="2" charset="-122"/>
              </a:rPr>
              <a:t>版）</a:t>
            </a:r>
          </a:p>
          <a:p>
            <a:pPr eaLnBrk="1" hangingPunct="1"/>
            <a:r>
              <a:rPr lang="zh-CN" altLang="en-US" sz="2000" dirty="0">
                <a:latin typeface="宋体" panose="02010600030101010101" pitchFamily="2" charset="-122"/>
              </a:rPr>
              <a:t>   清华大学出版社</a:t>
            </a:r>
            <a:r>
              <a:rPr lang="en-US" altLang="zh-CN" sz="2000" dirty="0">
                <a:latin typeface="宋体" panose="02010600030101010101" pitchFamily="2" charset="-122"/>
              </a:rPr>
              <a:t>,2021</a:t>
            </a:r>
          </a:p>
          <a:p>
            <a:pPr eaLnBrk="1" hangingPunct="1">
              <a:spcBef>
                <a:spcPts val="1800"/>
              </a:spcBef>
              <a:buFont typeface="Wingdings" panose="05000000000000000000" pitchFamily="2" charset="2"/>
              <a:buChar char="o"/>
            </a:pPr>
            <a:r>
              <a:rPr lang="zh-CN" altLang="en-US" sz="2000" dirty="0">
                <a:latin typeface="宋体" panose="02010600030101010101" pitchFamily="2" charset="-122"/>
              </a:rPr>
              <a:t> 参考书：</a:t>
            </a:r>
            <a:endParaRPr lang="en-US" altLang="zh-CN" sz="2000" dirty="0">
              <a:latin typeface="宋体" panose="02010600030101010101" pitchFamily="2" charset="-122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u"/>
            </a:pPr>
            <a:r>
              <a:rPr lang="en-US" altLang="zh-CN" sz="2000" b="1" dirty="0">
                <a:latin typeface="宋体" panose="02010600030101010101" pitchFamily="2" charset="-122"/>
              </a:rPr>
              <a:t>《</a:t>
            </a:r>
            <a:r>
              <a:rPr lang="zh-CN" altLang="en-US" sz="2000" b="1" dirty="0">
                <a:latin typeface="宋体" panose="02010600030101010101" pitchFamily="2" charset="-122"/>
              </a:rPr>
              <a:t>最优化理论与算法</a:t>
            </a:r>
            <a:r>
              <a:rPr lang="en-US" altLang="zh-CN" sz="2000" b="1" dirty="0">
                <a:latin typeface="宋体" panose="02010600030101010101" pitchFamily="2" charset="-122"/>
              </a:rPr>
              <a:t>》</a:t>
            </a:r>
            <a:r>
              <a:rPr lang="zh-CN" altLang="en-US" sz="2000" b="1" dirty="0">
                <a:latin typeface="宋体" panose="02010600030101010101" pitchFamily="2" charset="-122"/>
              </a:rPr>
              <a:t>（第</a:t>
            </a:r>
            <a:r>
              <a:rPr lang="en-US" altLang="zh-CN" sz="2000" b="1" dirty="0">
                <a:latin typeface="宋体" panose="02010600030101010101" pitchFamily="2" charset="-122"/>
              </a:rPr>
              <a:t>2</a:t>
            </a:r>
            <a:r>
              <a:rPr lang="zh-CN" altLang="en-US" sz="2000" b="1" dirty="0">
                <a:latin typeface="宋体" panose="02010600030101010101" pitchFamily="2" charset="-122"/>
              </a:rPr>
              <a:t>版）</a:t>
            </a:r>
          </a:p>
          <a:p>
            <a:pPr eaLnBrk="1" hangingPunct="1"/>
            <a:r>
              <a:rPr lang="zh-CN" altLang="en-US" sz="2000" dirty="0">
                <a:latin typeface="宋体" panose="02010600030101010101" pitchFamily="2" charset="-122"/>
              </a:rPr>
              <a:t>陈宝林 编著，清华大学出版社</a:t>
            </a:r>
            <a:r>
              <a:rPr lang="en-US" altLang="zh-CN" sz="2000" dirty="0">
                <a:latin typeface="宋体" panose="02010600030101010101" pitchFamily="2" charset="-122"/>
              </a:rPr>
              <a:t>,2005</a:t>
            </a:r>
          </a:p>
          <a:p>
            <a:pPr marL="342900" indent="-342900" eaLnBrk="1" hangingPunct="1">
              <a:buFont typeface="Wingdings" panose="05000000000000000000" pitchFamily="2" charset="2"/>
              <a:buChar char="u"/>
            </a:pPr>
            <a:r>
              <a:rPr lang="en-US" altLang="zh-CN" sz="2000" b="1" dirty="0">
                <a:latin typeface="宋体" panose="02010600030101010101" pitchFamily="2" charset="-122"/>
              </a:rPr>
              <a:t>《</a:t>
            </a:r>
            <a:r>
              <a:rPr lang="zh-CN" altLang="en-US" sz="2000" b="1" dirty="0">
                <a:latin typeface="宋体" panose="02010600030101010101" pitchFamily="2" charset="-122"/>
              </a:rPr>
              <a:t>运筹学</a:t>
            </a:r>
            <a:r>
              <a:rPr lang="en-US" altLang="zh-CN" sz="2000" b="1" dirty="0">
                <a:latin typeface="宋体" panose="02010600030101010101" pitchFamily="2" charset="-122"/>
              </a:rPr>
              <a:t>》</a:t>
            </a:r>
            <a:r>
              <a:rPr lang="zh-CN" altLang="en-US" sz="2000" b="1" dirty="0">
                <a:latin typeface="宋体" panose="02010600030101010101" pitchFamily="2" charset="-122"/>
              </a:rPr>
              <a:t>（第</a:t>
            </a:r>
            <a:r>
              <a:rPr lang="en-US" altLang="zh-CN" sz="2000" b="1" dirty="0">
                <a:latin typeface="宋体" panose="02010600030101010101" pitchFamily="2" charset="-122"/>
              </a:rPr>
              <a:t>4</a:t>
            </a:r>
            <a:r>
              <a:rPr lang="zh-CN" altLang="en-US" sz="2000" b="1" dirty="0">
                <a:latin typeface="宋体" panose="02010600030101010101" pitchFamily="2" charset="-122"/>
              </a:rPr>
              <a:t>版）</a:t>
            </a:r>
          </a:p>
          <a:p>
            <a:pPr eaLnBrk="1" hangingPunct="1"/>
            <a:r>
              <a:rPr lang="zh-CN" altLang="en-US" sz="2000" dirty="0">
                <a:latin typeface="宋体" panose="02010600030101010101" pitchFamily="2" charset="-122"/>
              </a:rPr>
              <a:t>   清华大学出版社</a:t>
            </a:r>
            <a:r>
              <a:rPr lang="en-US" altLang="zh-CN" sz="2000" dirty="0">
                <a:latin typeface="宋体" panose="02010600030101010101" pitchFamily="2" charset="-122"/>
              </a:rPr>
              <a:t>,2012</a:t>
            </a:r>
          </a:p>
          <a:p>
            <a:pPr eaLnBrk="1" hangingPunct="1">
              <a:spcBef>
                <a:spcPts val="1200"/>
              </a:spcBef>
            </a:pPr>
            <a:r>
              <a:rPr lang="zh-CN" altLang="en-US" dirty="0"/>
              <a:t>主讲教师：沈吟东</a:t>
            </a:r>
          </a:p>
        </p:txBody>
      </p:sp>
      <p:pic>
        <p:nvPicPr>
          <p:cNvPr id="16388" name="图片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7200" y="4648200"/>
            <a:ext cx="1113841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6400" y="1720011"/>
            <a:ext cx="3041872" cy="429978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xfrm>
            <a:off x="574675" y="685800"/>
            <a:ext cx="4911725" cy="835025"/>
          </a:xfrm>
        </p:spPr>
        <p:txBody>
          <a:bodyPr/>
          <a:lstStyle/>
          <a:p>
            <a:pPr eaLnBrk="1" hangingPunct="1"/>
            <a:r>
              <a:rPr lang="zh-CN" altLang="en-US"/>
              <a:t>教学安排（</a:t>
            </a:r>
            <a:r>
              <a:rPr lang="en-US" altLang="zh-CN"/>
              <a:t>16</a:t>
            </a:r>
            <a:r>
              <a:rPr lang="zh-CN" altLang="en-US"/>
              <a:t>学时）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2"/>
          </p:nvPr>
        </p:nvSpPr>
        <p:spPr>
          <a:xfrm>
            <a:off x="5334000" y="1905000"/>
            <a:ext cx="3357563" cy="3733800"/>
          </a:xfrm>
          <a:ln>
            <a:solidFill>
              <a:schemeClr val="bg1">
                <a:lumMod val="50000"/>
              </a:schemeClr>
            </a:solidFill>
          </a:ln>
        </p:spPr>
        <p:txBody>
          <a:bodyPr/>
          <a:lstStyle/>
          <a:p>
            <a:pPr eaLnBrk="1" hangingPunct="1">
              <a:lnSpc>
                <a:spcPct val="120000"/>
              </a:lnSpc>
              <a:spcBef>
                <a:spcPts val="1200"/>
              </a:spcBef>
              <a:defRPr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9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章图与网络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(8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学时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pPr lvl="1" eaLnBrk="1" hangingPunct="1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defRPr/>
            </a:pPr>
            <a:r>
              <a:rPr lang="en-US" altLang="zh-CN" sz="1600" dirty="0">
                <a:solidFill>
                  <a:srgbClr val="333333"/>
                </a:solidFill>
                <a:latin typeface="Arial" panose="020B0604020202020204" pitchFamily="34" charset="0"/>
              </a:rPr>
              <a:t>1 </a:t>
            </a:r>
            <a:r>
              <a:rPr lang="zh-CN" altLang="en-US" sz="1600" dirty="0">
                <a:solidFill>
                  <a:srgbClr val="333333"/>
                </a:solidFill>
                <a:latin typeface="Arial" panose="020B0604020202020204" pitchFamily="34" charset="0"/>
              </a:rPr>
              <a:t>图的基本概念</a:t>
            </a:r>
            <a:endParaRPr lang="en-US" altLang="zh-CN" sz="1600" dirty="0">
              <a:solidFill>
                <a:srgbClr val="333333"/>
              </a:solidFill>
              <a:latin typeface="Arial" panose="020B0604020202020204" pitchFamily="34" charset="0"/>
            </a:endParaRPr>
          </a:p>
          <a:p>
            <a:pPr lvl="1" eaLnBrk="1" hangingPunct="1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defRPr/>
            </a:pPr>
            <a:r>
              <a:rPr lang="en-US" altLang="zh-CN" sz="1600" dirty="0">
                <a:solidFill>
                  <a:srgbClr val="333333"/>
                </a:solidFill>
                <a:latin typeface="Arial" panose="020B0604020202020204" pitchFamily="34" charset="0"/>
              </a:rPr>
              <a:t>2 </a:t>
            </a:r>
            <a:r>
              <a:rPr lang="zh-CN" altLang="en-US" sz="1600" dirty="0">
                <a:solidFill>
                  <a:srgbClr val="333333"/>
                </a:solidFill>
                <a:latin typeface="Arial" panose="020B0604020202020204" pitchFamily="34" charset="0"/>
              </a:rPr>
              <a:t>树</a:t>
            </a:r>
            <a:endParaRPr lang="en-US" altLang="zh-CN" sz="1600" dirty="0">
              <a:solidFill>
                <a:srgbClr val="333333"/>
              </a:solidFill>
              <a:latin typeface="Arial" panose="020B0604020202020204" pitchFamily="34" charset="0"/>
            </a:endParaRPr>
          </a:p>
          <a:p>
            <a:pPr lvl="1" eaLnBrk="1" hangingPunct="1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defRPr/>
            </a:pPr>
            <a:r>
              <a:rPr lang="en-US" altLang="zh-CN" sz="1600" dirty="0">
                <a:solidFill>
                  <a:srgbClr val="333333"/>
                </a:solidFill>
                <a:latin typeface="Arial" panose="020B0604020202020204" pitchFamily="34" charset="0"/>
              </a:rPr>
              <a:t>3 </a:t>
            </a:r>
            <a:r>
              <a:rPr lang="zh-CN" altLang="en-US" sz="1600" dirty="0">
                <a:solidFill>
                  <a:srgbClr val="333333"/>
                </a:solidFill>
                <a:latin typeface="Arial" panose="020B0604020202020204" pitchFamily="34" charset="0"/>
              </a:rPr>
              <a:t>最短路问题</a:t>
            </a:r>
            <a:endParaRPr lang="en-US" altLang="zh-CN" sz="1600" dirty="0">
              <a:solidFill>
                <a:srgbClr val="333333"/>
              </a:solidFill>
              <a:latin typeface="Arial" panose="020B0604020202020204" pitchFamily="34" charset="0"/>
            </a:endParaRPr>
          </a:p>
          <a:p>
            <a:pPr lvl="1" eaLnBrk="1" hangingPunct="1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defRPr/>
            </a:pPr>
            <a:r>
              <a:rPr lang="en-US" altLang="zh-CN" sz="1600" dirty="0">
                <a:solidFill>
                  <a:srgbClr val="333333"/>
                </a:solidFill>
                <a:latin typeface="Arial" panose="020B0604020202020204" pitchFamily="34" charset="0"/>
              </a:rPr>
              <a:t>4 </a:t>
            </a:r>
            <a:r>
              <a:rPr lang="zh-CN" altLang="en-US" sz="1600" dirty="0">
                <a:solidFill>
                  <a:srgbClr val="333333"/>
                </a:solidFill>
                <a:latin typeface="Arial" panose="020B0604020202020204" pitchFamily="34" charset="0"/>
              </a:rPr>
              <a:t>网络最大流问题</a:t>
            </a:r>
            <a:endParaRPr lang="en-US" altLang="zh-CN" sz="1600" dirty="0">
              <a:solidFill>
                <a:srgbClr val="333333"/>
              </a:solidFill>
              <a:latin typeface="Arial" panose="020B0604020202020204" pitchFamily="34" charset="0"/>
            </a:endParaRPr>
          </a:p>
          <a:p>
            <a:pPr marL="471170" lvl="1" indent="0" eaLnBrk="1" hangingPunct="1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None/>
              <a:defRPr/>
            </a:pPr>
            <a:endParaRPr lang="zh-CN" altLang="en-US" sz="1600" dirty="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1"/>
          </p:nvPr>
        </p:nvSpPr>
        <p:spPr>
          <a:xfrm>
            <a:off x="528637" y="1905000"/>
            <a:ext cx="4724400" cy="3733800"/>
          </a:xfrm>
          <a:ln>
            <a:solidFill>
              <a:schemeClr val="bg1">
                <a:lumMod val="50000"/>
              </a:schemeClr>
            </a:solidFill>
          </a:ln>
        </p:spPr>
        <p:txBody>
          <a:bodyPr/>
          <a:lstStyle/>
          <a:p>
            <a:pPr eaLnBrk="1" hangingPunct="1">
              <a:lnSpc>
                <a:spcPct val="120000"/>
              </a:lnSpc>
              <a:spcBef>
                <a:spcPts val="1200"/>
              </a:spcBef>
              <a:defRPr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章动态规划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--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基本方法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(4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学时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pPr lvl="1" eaLnBrk="1" hangingPunct="1">
              <a:lnSpc>
                <a:spcPct val="120000"/>
              </a:lnSpc>
              <a:defRPr/>
            </a:pPr>
            <a:r>
              <a:rPr lang="en-US" altLang="zh-CN" sz="1600" dirty="0">
                <a:solidFill>
                  <a:srgbClr val="333333"/>
                </a:solidFill>
                <a:latin typeface="Arial" panose="020B0604020202020204" pitchFamily="34" charset="0"/>
              </a:rPr>
              <a:t>1 </a:t>
            </a:r>
            <a:r>
              <a:rPr lang="zh-CN" altLang="en-US" sz="1600" dirty="0">
                <a:solidFill>
                  <a:srgbClr val="333333"/>
                </a:solidFill>
                <a:latin typeface="Arial" panose="020B0604020202020204" pitchFamily="34" charset="0"/>
              </a:rPr>
              <a:t>多阶段决策过程及实例</a:t>
            </a:r>
            <a:endParaRPr lang="en-US" altLang="zh-CN" sz="1600" dirty="0">
              <a:solidFill>
                <a:srgbClr val="333333"/>
              </a:solidFill>
              <a:latin typeface="Arial" panose="020B0604020202020204" pitchFamily="34" charset="0"/>
            </a:endParaRPr>
          </a:p>
          <a:p>
            <a:pPr lvl="1" eaLnBrk="1" hangingPunct="1">
              <a:lnSpc>
                <a:spcPct val="120000"/>
              </a:lnSpc>
              <a:defRPr/>
            </a:pPr>
            <a:r>
              <a:rPr lang="en-US" altLang="zh-CN" sz="1600" dirty="0">
                <a:solidFill>
                  <a:srgbClr val="333333"/>
                </a:solidFill>
                <a:latin typeface="Arial" panose="020B0604020202020204" pitchFamily="34" charset="0"/>
              </a:rPr>
              <a:t>2 </a:t>
            </a:r>
            <a:r>
              <a:rPr lang="zh-CN" altLang="en-US" sz="1600" dirty="0">
                <a:solidFill>
                  <a:srgbClr val="333333"/>
                </a:solidFill>
                <a:latin typeface="Arial" panose="020B0604020202020204" pitchFamily="34" charset="0"/>
              </a:rPr>
              <a:t>动态规划的基本概念</a:t>
            </a:r>
            <a:endParaRPr lang="en-US" altLang="zh-CN" sz="1600" dirty="0">
              <a:solidFill>
                <a:srgbClr val="333333"/>
              </a:solidFill>
              <a:latin typeface="Arial" panose="020B0604020202020204" pitchFamily="34" charset="0"/>
            </a:endParaRPr>
          </a:p>
          <a:p>
            <a:pPr lvl="1" eaLnBrk="1" hangingPunct="1">
              <a:lnSpc>
                <a:spcPct val="120000"/>
              </a:lnSpc>
              <a:defRPr/>
            </a:pPr>
            <a:r>
              <a:rPr lang="en-US" altLang="zh-CN" sz="1600" kern="0" dirty="0"/>
              <a:t>3 </a:t>
            </a:r>
            <a:r>
              <a:rPr lang="zh-CN" altLang="en-US" sz="1600" kern="0" dirty="0"/>
              <a:t>动态规划的基本方程</a:t>
            </a:r>
            <a:endParaRPr lang="en-US" altLang="zh-CN" sz="1600" dirty="0">
              <a:solidFill>
                <a:srgbClr val="333333"/>
              </a:solidFill>
              <a:latin typeface="Arial" panose="020B0604020202020204" pitchFamily="34" charset="0"/>
            </a:endParaRPr>
          </a:p>
          <a:p>
            <a:pPr lvl="1" eaLnBrk="1" hangingPunct="1">
              <a:lnSpc>
                <a:spcPct val="120000"/>
              </a:lnSpc>
              <a:defRPr/>
            </a:pPr>
            <a:r>
              <a:rPr lang="en-US" altLang="zh-CN" sz="1600" b="1" dirty="0">
                <a:solidFill>
                  <a:srgbClr val="0070C0"/>
                </a:solidFill>
                <a:latin typeface="Arial" panose="020B0604020202020204" pitchFamily="34" charset="0"/>
              </a:rPr>
              <a:t>4 </a:t>
            </a:r>
            <a:r>
              <a:rPr lang="zh-CN" altLang="en-US" sz="1600" b="1" dirty="0">
                <a:solidFill>
                  <a:srgbClr val="0070C0"/>
                </a:solidFill>
                <a:latin typeface="Arial" panose="020B0604020202020204" pitchFamily="34" charset="0"/>
              </a:rPr>
              <a:t>动态规划的最优性原理</a:t>
            </a:r>
            <a:endParaRPr lang="en-US" altLang="zh-CN" sz="1600" b="1" dirty="0">
              <a:solidFill>
                <a:srgbClr val="0070C0"/>
              </a:solidFill>
              <a:latin typeface="Arial" panose="020B0604020202020204" pitchFamily="34" charset="0"/>
            </a:endParaRPr>
          </a:p>
          <a:p>
            <a:pPr lvl="1" eaLnBrk="1" hangingPunct="1">
              <a:lnSpc>
                <a:spcPct val="120000"/>
              </a:lnSpc>
              <a:defRPr/>
            </a:pPr>
            <a:r>
              <a:rPr lang="en-US" altLang="zh-CN" sz="1600" b="1" dirty="0">
                <a:solidFill>
                  <a:srgbClr val="0070C0"/>
                </a:solidFill>
                <a:latin typeface="Arial" panose="020B0604020202020204" pitchFamily="34" charset="0"/>
              </a:rPr>
              <a:t>5 </a:t>
            </a:r>
            <a:r>
              <a:rPr lang="zh-CN" altLang="en-US" sz="1600" b="1" dirty="0">
                <a:solidFill>
                  <a:srgbClr val="0070C0"/>
                </a:solidFill>
                <a:latin typeface="Arial" panose="020B0604020202020204" pitchFamily="34" charset="0"/>
              </a:rPr>
              <a:t>动态规划的求解方法</a:t>
            </a:r>
            <a:endParaRPr lang="en-US" altLang="zh-CN" sz="1600" b="1" dirty="0">
              <a:solidFill>
                <a:srgbClr val="0070C0"/>
              </a:solidFill>
              <a:latin typeface="Arial" panose="020B0604020202020204" pitchFamily="34" charset="0"/>
            </a:endParaRPr>
          </a:p>
          <a:p>
            <a:pPr lvl="1" eaLnBrk="1" hangingPunct="1">
              <a:lnSpc>
                <a:spcPct val="120000"/>
              </a:lnSpc>
              <a:defRPr/>
            </a:pPr>
            <a:endParaRPr lang="en-US" altLang="zh-CN" sz="1400" dirty="0">
              <a:solidFill>
                <a:srgbClr val="333333"/>
              </a:solidFill>
              <a:latin typeface="Arial" panose="020B0604020202020204" pitchFamily="34" charset="0"/>
            </a:endParaRPr>
          </a:p>
          <a:p>
            <a:pPr eaLnBrk="1" hangingPunct="1">
              <a:lnSpc>
                <a:spcPct val="120000"/>
              </a:lnSpc>
              <a:defRPr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章动态规划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—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管理应用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(4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学时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pPr lvl="1" eaLnBrk="1" hangingPunct="1">
              <a:lnSpc>
                <a:spcPct val="120000"/>
              </a:lnSpc>
              <a:defRPr/>
            </a:pPr>
            <a:r>
              <a:rPr lang="en-US" altLang="zh-CN" sz="16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 </a:t>
            </a:r>
            <a:r>
              <a:rPr lang="zh-CN" altLang="en-US" sz="16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资源分配问题</a:t>
            </a:r>
            <a:endParaRPr lang="en-US" altLang="zh-CN" sz="1600" dirty="0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eaLnBrk="1" hangingPunct="1">
              <a:lnSpc>
                <a:spcPct val="120000"/>
              </a:lnSpc>
              <a:defRPr/>
            </a:pPr>
            <a:r>
              <a:rPr lang="en-US" altLang="zh-CN" sz="1600" dirty="0">
                <a:solidFill>
                  <a:srgbClr val="333333"/>
                </a:solidFill>
                <a:latin typeface="Arial" panose="020B0604020202020204" pitchFamily="34" charset="0"/>
              </a:rPr>
              <a:t>7 </a:t>
            </a:r>
            <a:r>
              <a:rPr lang="zh-CN" altLang="en-US" sz="1600" dirty="0">
                <a:solidFill>
                  <a:srgbClr val="333333"/>
                </a:solidFill>
                <a:latin typeface="Arial" panose="020B0604020202020204" pitchFamily="34" charset="0"/>
              </a:rPr>
              <a:t>生产计划问题</a:t>
            </a:r>
            <a:endParaRPr lang="en-US" altLang="zh-CN" sz="1600" dirty="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3"/>
          <p:cNvSpPr>
            <a:spLocks noChangeArrowheads="1"/>
          </p:cNvSpPr>
          <p:nvPr/>
        </p:nvSpPr>
        <p:spPr bwMode="auto">
          <a:xfrm>
            <a:off x="0" y="1349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>
                <a:srgbClr val="000000"/>
              </a:buClr>
              <a:buFontTx/>
              <a:buNone/>
            </a:pPr>
            <a:endParaRPr lang="zh-CN" altLang="en-US" sz="1800">
              <a:latin typeface="Arial" panose="020B0604020202020204" pitchFamily="34" charset="0"/>
            </a:endParaRPr>
          </a:p>
        </p:txBody>
      </p:sp>
      <p:sp>
        <p:nvSpPr>
          <p:cNvPr id="91140" name="Rectangle 4"/>
          <p:cNvSpPr>
            <a:spLocks noChangeArrowheads="1"/>
          </p:cNvSpPr>
          <p:nvPr/>
        </p:nvSpPr>
        <p:spPr bwMode="auto">
          <a:xfrm>
            <a:off x="900113" y="2293938"/>
            <a:ext cx="7705725" cy="6746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20000"/>
              </a:lnSpc>
              <a:spcBef>
                <a:spcPct val="0"/>
              </a:spcBef>
              <a:buClr>
                <a:srgbClr val="000000"/>
              </a:buClr>
              <a:buFontTx/>
              <a:buNone/>
            </a:pPr>
            <a:r>
              <a:rPr lang="zh-CN" altLang="en-US" sz="3200">
                <a:solidFill>
                  <a:srgbClr val="FF0000"/>
                </a:solidFill>
                <a:latin typeface="Arial" panose="020B0604020202020204" pitchFamily="34" charset="0"/>
                <a:ea typeface="楷体" panose="02010609060101010101" pitchFamily="49" charset="-122"/>
              </a:rPr>
              <a:t>       </a:t>
            </a:r>
            <a:r>
              <a:rPr lang="zh-CN" altLang="en-US" sz="3200" b="1">
                <a:solidFill>
                  <a:schemeClr val="hlink"/>
                </a:solidFill>
                <a:latin typeface="Arial" panose="020B0604020202020204" pitchFamily="34" charset="0"/>
                <a:ea typeface="楷体" panose="02010609060101010101" pitchFamily="49" charset="-122"/>
              </a:rPr>
              <a:t>动态规划的理论基础是什么？</a:t>
            </a:r>
            <a:r>
              <a:rPr lang="zh-CN" altLang="en-US" sz="3200">
                <a:solidFill>
                  <a:schemeClr val="bg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  </a:t>
            </a:r>
          </a:p>
        </p:txBody>
      </p:sp>
      <p:sp>
        <p:nvSpPr>
          <p:cNvPr id="80900" name="日期占位符 1"/>
          <p:cNvSpPr>
            <a:spLocks noGrp="1" noChangeArrowheads="1"/>
          </p:cNvSpPr>
          <p:nvPr>
            <p:ph type="dt" sz="quarter" idx="4294967295"/>
          </p:nvPr>
        </p:nvSpPr>
        <p:spPr bwMode="auto">
          <a:xfrm>
            <a:off x="609600" y="6245225"/>
            <a:ext cx="19812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>
                <a:srgbClr val="000000"/>
              </a:buClr>
              <a:buFontTx/>
              <a:buNone/>
            </a:pPr>
            <a:fld id="{85575E69-DE18-4339-BFB9-2CBA95500D35}" type="datetime1">
              <a:rPr lang="zh-CN" altLang="en-US" sz="1400">
                <a:latin typeface="Arial" panose="020B0604020202020204" pitchFamily="34" charset="0"/>
              </a:rPr>
              <a:pPr>
                <a:spcBef>
                  <a:spcPct val="0"/>
                </a:spcBef>
                <a:buClr>
                  <a:srgbClr val="000000"/>
                </a:buClr>
                <a:buFontTx/>
                <a:buNone/>
              </a:pPr>
              <a:t>2024/12/15</a:t>
            </a:fld>
            <a:endParaRPr lang="en-US" altLang="zh-CN" sz="1400">
              <a:latin typeface="Arial" panose="020B0604020202020204" pitchFamily="34" charset="0"/>
            </a:endParaRPr>
          </a:p>
        </p:txBody>
      </p:sp>
      <p:sp>
        <p:nvSpPr>
          <p:cNvPr id="80901" name="灯片编号占位符 2"/>
          <p:cNvSpPr>
            <a:spLocks noGrp="1" noChangeArrowheads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>
                <a:srgbClr val="000000"/>
              </a:buClr>
              <a:buFontTx/>
              <a:buNone/>
            </a:pPr>
            <a:fld id="{1CFD4065-7963-47AF-A349-3B6F2C2CDE67}" type="slidenum">
              <a:rPr lang="zh-CN" altLang="zh-CN" sz="1400">
                <a:latin typeface="Arial" panose="020B0604020202020204" pitchFamily="34" charset="0"/>
              </a:rPr>
              <a:pPr>
                <a:spcBef>
                  <a:spcPct val="0"/>
                </a:spcBef>
                <a:buClr>
                  <a:srgbClr val="000000"/>
                </a:buClr>
                <a:buFontTx/>
                <a:buNone/>
              </a:pPr>
              <a:t>3</a:t>
            </a:fld>
            <a:endParaRPr lang="en-US" altLang="zh-CN" sz="1400">
              <a:latin typeface="Arial" panose="020B0604020202020204" pitchFamily="34" charset="0"/>
            </a:endParaRPr>
          </a:p>
        </p:txBody>
      </p:sp>
      <p:sp>
        <p:nvSpPr>
          <p:cNvPr id="80902" name="Rectangle 2"/>
          <p:cNvSpPr>
            <a:spLocks noGrp="1" noChangeArrowheads="1"/>
          </p:cNvSpPr>
          <p:nvPr>
            <p:ph type="title"/>
          </p:nvPr>
        </p:nvSpPr>
        <p:spPr>
          <a:xfrm>
            <a:off x="574675" y="762000"/>
            <a:ext cx="7502525" cy="758825"/>
          </a:xfrm>
        </p:spPr>
        <p:txBody>
          <a:bodyPr/>
          <a:lstStyle/>
          <a:p>
            <a:pPr eaLnBrk="1" hangingPunct="1"/>
            <a:r>
              <a:rPr lang="en-US" altLang="zh-CN" sz="3200" b="1" dirty="0">
                <a:latin typeface="Times New Roman" panose="02020603050405020304" pitchFamily="18" charset="0"/>
                <a:ea typeface="新宋体" panose="02010609030101010101" pitchFamily="49" charset="-122"/>
              </a:rPr>
              <a:t>4</a:t>
            </a:r>
            <a:r>
              <a:rPr lang="en-US" altLang="zh-CN" sz="3200" b="1" dirty="0">
                <a:latin typeface="Times New Roman" panose="02020603050405020304" pitchFamily="18" charset="0"/>
              </a:rPr>
              <a:t> </a:t>
            </a:r>
            <a:r>
              <a:rPr lang="zh-CN" altLang="en-US" sz="3200" b="1" dirty="0"/>
              <a:t>动态规划的最优性原理和最优性定理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40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1140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1140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1140" grpId="0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3"/>
          <p:cNvSpPr>
            <a:spLocks noChangeArrowheads="1"/>
          </p:cNvSpPr>
          <p:nvPr/>
        </p:nvSpPr>
        <p:spPr bwMode="auto">
          <a:xfrm>
            <a:off x="0" y="1349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>
                <a:srgbClr val="000000"/>
              </a:buClr>
              <a:buFontTx/>
              <a:buNone/>
            </a:pPr>
            <a:endParaRPr lang="zh-CN" altLang="en-US" sz="1800">
              <a:latin typeface="Arial" panose="020B0604020202020204" pitchFamily="34" charset="0"/>
            </a:endParaRPr>
          </a:p>
        </p:txBody>
      </p:sp>
      <p:sp>
        <p:nvSpPr>
          <p:cNvPr id="79875" name="Rectangle 4"/>
          <p:cNvSpPr>
            <a:spLocks noChangeArrowheads="1"/>
          </p:cNvSpPr>
          <p:nvPr/>
        </p:nvSpPr>
        <p:spPr bwMode="auto">
          <a:xfrm>
            <a:off x="685800" y="1752600"/>
            <a:ext cx="7475538" cy="4108450"/>
          </a:xfrm>
          <a:prstGeom prst="rect">
            <a:avLst/>
          </a:prstGeom>
          <a:noFill/>
          <a:ln>
            <a:noFill/>
          </a:ln>
          <a:effectLst/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342900" indent="-342900" algn="just" eaLnBrk="1" hangingPunct="1">
              <a:lnSpc>
                <a:spcPct val="150000"/>
              </a:lnSpc>
              <a:spcBef>
                <a:spcPct val="0"/>
              </a:spcBef>
              <a:buClr>
                <a:srgbClr val="C00000"/>
              </a:buClr>
              <a:buFont typeface="Wingdings" panose="05000000000000000000" pitchFamily="2" charset="2"/>
              <a:buChar char="p"/>
              <a:defRPr/>
            </a:pPr>
            <a:r>
              <a:rPr lang="zh-CN" altLang="en-US" sz="2400" dirty="0">
                <a:latin typeface="Arial" panose="020B0604020202020204" pitchFamily="34" charset="0"/>
                <a:ea typeface="楷体" panose="02010609060101010101" pitchFamily="49" charset="-122"/>
              </a:rPr>
              <a:t>       </a:t>
            </a:r>
            <a:r>
              <a:rPr lang="zh-CN" altLang="en-US" sz="2800" b="1" u="sng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动态规划的最优性原理</a:t>
            </a:r>
            <a:r>
              <a:rPr lang="zh-CN" altLang="en-US" sz="2400" b="1" dirty="0">
                <a:latin typeface="Arial" panose="020B0604020202020204" pitchFamily="34" charset="0"/>
                <a:ea typeface="楷体" panose="02010609060101010101" pitchFamily="49" charset="-122"/>
              </a:rPr>
              <a:t>：</a:t>
            </a:r>
            <a:endParaRPr lang="en-US" altLang="zh-CN" sz="2400" b="1" dirty="0">
              <a:latin typeface="Arial" panose="020B0604020202020204" pitchFamily="34" charset="0"/>
              <a:ea typeface="楷体" panose="02010609060101010101" pitchFamily="49" charset="-122"/>
            </a:endParaRPr>
          </a:p>
          <a:p>
            <a:pPr marL="342900" indent="-342900" algn="just" eaLnBrk="1" hangingPunct="1">
              <a:lnSpc>
                <a:spcPct val="150000"/>
              </a:lnSpc>
              <a:spcBef>
                <a:spcPct val="0"/>
              </a:spcBef>
              <a:buClr>
                <a:srgbClr val="C00000"/>
              </a:buClr>
              <a:buFont typeface="Wingdings" panose="05000000000000000000" pitchFamily="2" charset="2"/>
              <a:buChar char="u"/>
              <a:defRPr/>
            </a:pPr>
            <a:r>
              <a:rPr lang="zh-CN" altLang="en-US" sz="2600" b="1" dirty="0">
                <a:latin typeface="仿宋" panose="02010609060101010101" pitchFamily="49" charset="-122"/>
                <a:ea typeface="仿宋" panose="02010609060101010101" pitchFamily="49" charset="-122"/>
              </a:rPr>
              <a:t>“作为整个过程的最优策略具有这样的性质：即无论过去的状态和决策如何，对前面的决策所形成的状态而言，余下的诸决策必须构成最优策略。”  </a:t>
            </a:r>
            <a:endParaRPr lang="en-US" altLang="zh-CN" sz="2600" b="1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457200" indent="-457200" algn="just" eaLnBrk="1" hangingPunct="1">
              <a:lnSpc>
                <a:spcPct val="150000"/>
              </a:lnSpc>
              <a:spcBef>
                <a:spcPct val="0"/>
              </a:spcBef>
              <a:buClr>
                <a:srgbClr val="C00000"/>
              </a:buClr>
              <a:buFont typeface="Wingdings" panose="05000000000000000000" pitchFamily="2" charset="2"/>
              <a:buChar char="u"/>
              <a:defRPr/>
            </a:pPr>
            <a:r>
              <a:rPr lang="zh-CN" altLang="en-US" sz="2600" b="1" dirty="0">
                <a:latin typeface="Tahoma" panose="020B0604030504040204" pitchFamily="34" charset="0"/>
              </a:rPr>
              <a:t>简言之，</a:t>
            </a:r>
            <a:r>
              <a:rPr lang="zh-CN" altLang="en-US" sz="2600" b="1" dirty="0">
                <a:solidFill>
                  <a:srgbClr val="FF0000"/>
                </a:solidFill>
                <a:latin typeface="Tahoma" panose="020B0604030504040204" pitchFamily="34" charset="0"/>
                <a:ea typeface="华文细黑" panose="02010600040101010101" pitchFamily="2" charset="-122"/>
              </a:rPr>
              <a:t>一个最优策略的子策略总是最优的</a:t>
            </a:r>
            <a:r>
              <a:rPr lang="zh-CN" altLang="en-US" sz="2600" b="1" dirty="0">
                <a:latin typeface="Tahoma" panose="020B0604030504040204" pitchFamily="34" charset="0"/>
              </a:rPr>
              <a:t>。</a:t>
            </a:r>
            <a:endParaRPr lang="zh-CN" altLang="en-US" sz="2600" b="1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eaLnBrk="1" hangingPunct="1">
              <a:spcBef>
                <a:spcPct val="0"/>
              </a:spcBef>
              <a:buClr>
                <a:srgbClr val="000000"/>
              </a:buClr>
              <a:buFontTx/>
              <a:buNone/>
              <a:defRPr/>
            </a:pPr>
            <a:r>
              <a:rPr lang="zh-CN" altLang="en-US" sz="2400" dirty="0">
                <a:latin typeface="仿宋" panose="02010609060101010101" pitchFamily="49" charset="-122"/>
                <a:ea typeface="仿宋" panose="02010609060101010101" pitchFamily="49" charset="-122"/>
              </a:rPr>
              <a:t>   </a:t>
            </a:r>
          </a:p>
        </p:txBody>
      </p:sp>
      <p:sp>
        <p:nvSpPr>
          <p:cNvPr id="81924" name="日期占位符 1"/>
          <p:cNvSpPr>
            <a:spLocks noGrp="1" noChangeArrowheads="1"/>
          </p:cNvSpPr>
          <p:nvPr>
            <p:ph type="dt" sz="quarter" idx="4294967295"/>
          </p:nvPr>
        </p:nvSpPr>
        <p:spPr bwMode="auto">
          <a:xfrm>
            <a:off x="609600" y="6245225"/>
            <a:ext cx="19812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>
                <a:srgbClr val="000000"/>
              </a:buClr>
              <a:buFontTx/>
              <a:buNone/>
            </a:pPr>
            <a:fld id="{265C39C5-9BE5-4128-A3E5-2A8956DDCC99}" type="datetime1">
              <a:rPr lang="zh-CN" altLang="en-US" sz="1400">
                <a:latin typeface="Arial" panose="020B0604020202020204" pitchFamily="34" charset="0"/>
              </a:rPr>
              <a:pPr>
                <a:spcBef>
                  <a:spcPct val="0"/>
                </a:spcBef>
                <a:buClr>
                  <a:srgbClr val="000000"/>
                </a:buClr>
                <a:buFontTx/>
                <a:buNone/>
              </a:pPr>
              <a:t>2024/12/15</a:t>
            </a:fld>
            <a:endParaRPr lang="en-US" altLang="zh-CN" sz="1400">
              <a:latin typeface="Arial" panose="020B0604020202020204" pitchFamily="34" charset="0"/>
            </a:endParaRPr>
          </a:p>
        </p:txBody>
      </p:sp>
      <p:sp>
        <p:nvSpPr>
          <p:cNvPr id="81925" name="灯片编号占位符 2"/>
          <p:cNvSpPr>
            <a:spLocks noGrp="1" noChangeArrowheads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>
                <a:srgbClr val="000000"/>
              </a:buClr>
              <a:buFontTx/>
              <a:buNone/>
            </a:pPr>
            <a:fld id="{31B54E74-5AB6-4E5A-93C6-EC8E757B0797}" type="slidenum">
              <a:rPr lang="zh-CN" altLang="zh-CN" sz="1400">
                <a:latin typeface="Arial" panose="020B0604020202020204" pitchFamily="34" charset="0"/>
              </a:rPr>
              <a:pPr>
                <a:spcBef>
                  <a:spcPct val="0"/>
                </a:spcBef>
                <a:buClr>
                  <a:srgbClr val="000000"/>
                </a:buClr>
                <a:buFontTx/>
                <a:buNone/>
              </a:pPr>
              <a:t>4</a:t>
            </a:fld>
            <a:endParaRPr lang="en-US" altLang="zh-CN" sz="1400">
              <a:latin typeface="Arial" panose="020B0604020202020204" pitchFamily="34" charset="0"/>
            </a:endParaRPr>
          </a:p>
        </p:txBody>
      </p:sp>
      <p:sp>
        <p:nvSpPr>
          <p:cNvPr id="81926" name="Rectangle 2"/>
          <p:cNvSpPr>
            <a:spLocks noGrp="1" noChangeArrowheads="1"/>
          </p:cNvSpPr>
          <p:nvPr>
            <p:ph type="title"/>
          </p:nvPr>
        </p:nvSpPr>
        <p:spPr>
          <a:xfrm>
            <a:off x="574675" y="914400"/>
            <a:ext cx="7502525" cy="606425"/>
          </a:xfrm>
        </p:spPr>
        <p:txBody>
          <a:bodyPr/>
          <a:lstStyle/>
          <a:p>
            <a:pPr eaLnBrk="1" hangingPunct="1"/>
            <a:r>
              <a:rPr lang="en-US" altLang="zh-CN" sz="3200" b="1" dirty="0">
                <a:latin typeface="Times New Roman" panose="02020603050405020304" pitchFamily="18" charset="0"/>
                <a:ea typeface="新宋体" panose="02010609030101010101" pitchFamily="49" charset="-122"/>
              </a:rPr>
              <a:t>4</a:t>
            </a:r>
            <a:r>
              <a:rPr lang="en-US" altLang="zh-CN" sz="3200" b="1" dirty="0">
                <a:latin typeface="Times New Roman" panose="02020603050405020304" pitchFamily="18" charset="0"/>
              </a:rPr>
              <a:t> </a:t>
            </a:r>
            <a:r>
              <a:rPr lang="zh-CN" altLang="en-US" sz="3200" b="1" dirty="0"/>
              <a:t>动态规划的最优性原理和最优性定理</a:t>
            </a:r>
          </a:p>
        </p:txBody>
      </p:sp>
    </p:spTree>
  </p:cSld>
  <p:clrMapOvr>
    <a:masterClrMapping/>
  </p:clrMapOvr>
  <p:transition spd="slow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/>
          <p:cNvSpPr>
            <a:spLocks noChangeArrowheads="1"/>
          </p:cNvSpPr>
          <p:nvPr/>
        </p:nvSpPr>
        <p:spPr bwMode="auto">
          <a:xfrm>
            <a:off x="609600" y="1606550"/>
            <a:ext cx="7993062" cy="1430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indent="2667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25000"/>
              </a:lnSpc>
              <a:spcBef>
                <a:spcPct val="0"/>
              </a:spcBef>
              <a:buClr>
                <a:srgbClr val="000000"/>
              </a:buClr>
              <a:buFontTx/>
              <a:buNone/>
            </a:pPr>
            <a:r>
              <a:rPr lang="zh-CN" altLang="en-US" sz="2400" b="1" dirty="0">
                <a:latin typeface="Times New Roman" panose="02020603050405020304" pitchFamily="18" charset="0"/>
                <a:cs typeface="Courier New" panose="02070309020205020404" pitchFamily="49" charset="0"/>
              </a:rPr>
              <a:t>    </a:t>
            </a:r>
            <a:r>
              <a:rPr lang="zh-CN" altLang="en-US" sz="2400" b="1" u="sng" dirty="0">
                <a:solidFill>
                  <a:srgbClr val="FF0000"/>
                </a:solidFill>
                <a:latin typeface="黑体" panose="02010609060101010101" pitchFamily="49" charset="-122"/>
                <a:cs typeface="Courier New" panose="02070309020205020404" pitchFamily="49" charset="0"/>
              </a:rPr>
              <a:t>动态规划的最优性定理</a:t>
            </a:r>
            <a:r>
              <a:rPr lang="zh-CN" altLang="en-US" sz="2400" b="1" dirty="0">
                <a:latin typeface="Times New Roman" panose="02020603050405020304" pitchFamily="18" charset="0"/>
                <a:cs typeface="Courier New" panose="02070309020205020404" pitchFamily="49" charset="0"/>
              </a:rPr>
              <a:t>：对于阶段数为</a:t>
            </a:r>
            <a:r>
              <a:rPr lang="en-US" altLang="zh-CN" sz="2400" b="1" i="1" dirty="0">
                <a:latin typeface="Times New Roman" panose="02020603050405020304" pitchFamily="18" charset="0"/>
                <a:cs typeface="Courier New" panose="02070309020205020404" pitchFamily="49" charset="0"/>
              </a:rPr>
              <a:t>n</a:t>
            </a:r>
            <a:r>
              <a:rPr lang="zh-CN" altLang="en-US" sz="2400" b="1" dirty="0">
                <a:latin typeface="Times New Roman" panose="02020603050405020304" pitchFamily="18" charset="0"/>
                <a:cs typeface="Courier New" panose="02070309020205020404" pitchFamily="49" charset="0"/>
              </a:rPr>
              <a:t>的多阶段决策过程，                                   </a:t>
            </a:r>
            <a:r>
              <a:rPr lang="zh-CN" altLang="en-US" sz="2400" b="1" dirty="0">
                <a:latin typeface="Tahoma" panose="020B0604030504040204" pitchFamily="34" charset="0"/>
                <a:cs typeface="Courier New" panose="02070309020205020404" pitchFamily="49" charset="0"/>
              </a:rPr>
              <a:t>为最优策略的充要条件是对任意一个阶段</a:t>
            </a:r>
            <a:r>
              <a:rPr lang="en-US" altLang="zh-CN" sz="2400" b="1" i="1" dirty="0">
                <a:latin typeface="Times New Roman" panose="02020603050405020304" pitchFamily="18" charset="0"/>
                <a:cs typeface="Courier New" panose="02070309020205020404" pitchFamily="49" charset="0"/>
              </a:rPr>
              <a:t>k</a:t>
            </a:r>
            <a:r>
              <a:rPr lang="en-US" altLang="zh-CN" sz="2400" b="1" dirty="0">
                <a:latin typeface="Times New Roman" panose="02020603050405020304" pitchFamily="18" charset="0"/>
                <a:cs typeface="Courier New" panose="02070309020205020404" pitchFamily="49" charset="0"/>
              </a:rPr>
              <a:t>(0&lt;</a:t>
            </a:r>
            <a:r>
              <a:rPr lang="en-US" altLang="zh-CN" sz="2400" b="1" i="1" dirty="0">
                <a:latin typeface="Times New Roman" panose="02020603050405020304" pitchFamily="18" charset="0"/>
                <a:cs typeface="Courier New" panose="02070309020205020404" pitchFamily="49" charset="0"/>
              </a:rPr>
              <a:t>k</a:t>
            </a:r>
            <a:r>
              <a:rPr lang="en-US" altLang="zh-CN" sz="2400" b="1" dirty="0">
                <a:latin typeface="Times New Roman" panose="02020603050405020304" pitchFamily="18" charset="0"/>
                <a:cs typeface="Courier New" panose="02070309020205020404" pitchFamily="49" charset="0"/>
              </a:rPr>
              <a:t>&lt;</a:t>
            </a:r>
            <a:r>
              <a:rPr lang="en-US" altLang="zh-CN" sz="2400" b="1" i="1" dirty="0">
                <a:latin typeface="Times New Roman" panose="02020603050405020304" pitchFamily="18" charset="0"/>
                <a:cs typeface="Courier New" panose="02070309020205020404" pitchFamily="49" charset="0"/>
              </a:rPr>
              <a:t>n</a:t>
            </a:r>
            <a:r>
              <a:rPr lang="en-US" altLang="zh-CN" sz="2400" b="1" dirty="0">
                <a:latin typeface="Times New Roman" panose="02020603050405020304" pitchFamily="18" charset="0"/>
                <a:cs typeface="Courier New" panose="02070309020205020404" pitchFamily="49" charset="0"/>
              </a:rPr>
              <a:t>-1)</a:t>
            </a:r>
            <a:r>
              <a:rPr lang="zh-CN" altLang="en-US" sz="2400" b="1" dirty="0">
                <a:latin typeface="Times New Roman" panose="02020603050405020304" pitchFamily="18" charset="0"/>
                <a:cs typeface="Courier New" panose="02070309020205020404" pitchFamily="49" charset="0"/>
              </a:rPr>
              <a:t>，            ，有</a:t>
            </a:r>
          </a:p>
        </p:txBody>
      </p:sp>
      <p:pic>
        <p:nvPicPr>
          <p:cNvPr id="64517" name="Picture 5" descr="8940931701398087791823"/>
          <p:cNvPicPr>
            <a:picLocks noChangeAspect="1" noChangeArrowheads="1"/>
          </p:cNvPicPr>
          <p:nvPr/>
        </p:nvPicPr>
        <p:blipFill>
          <a:blip r:embed="rId2">
            <a:duotone>
              <a:schemeClr val="accent4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1907704" y="2064454"/>
            <a:ext cx="2401452" cy="527054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64518" name="Picture 6" descr="6311119531398087791823"/>
          <p:cNvPicPr>
            <a:picLocks noChangeAspect="1" noChangeArrowheads="1"/>
          </p:cNvPicPr>
          <p:nvPr/>
        </p:nvPicPr>
        <p:blipFill>
          <a:blip r:embed="rId3" cstate="print">
            <a:duotone>
              <a:schemeClr val="accent4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3937000" y="2585975"/>
            <a:ext cx="863600" cy="503237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82949" name="灯片编号占位符 2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8153400" y="6211888"/>
            <a:ext cx="4572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>
                <a:srgbClr val="000000"/>
              </a:buClr>
              <a:buFontTx/>
              <a:buNone/>
            </a:pPr>
            <a:fld id="{47C4E26B-3918-4301-B473-5BF03270D831}" type="slidenum">
              <a:rPr lang="zh-CN" altLang="zh-CN" sz="1400">
                <a:latin typeface="Arial" panose="020B0604020202020204" pitchFamily="34" charset="0"/>
              </a:rPr>
              <a:pPr>
                <a:spcBef>
                  <a:spcPct val="0"/>
                </a:spcBef>
                <a:buClr>
                  <a:srgbClr val="000000"/>
                </a:buClr>
                <a:buFontTx/>
                <a:buNone/>
              </a:pPr>
              <a:t>5</a:t>
            </a:fld>
            <a:endParaRPr lang="en-US" altLang="zh-CN" sz="1400">
              <a:latin typeface="Arial" panose="020B0604020202020204" pitchFamily="34" charset="0"/>
            </a:endParaRPr>
          </a:p>
        </p:txBody>
      </p:sp>
      <p:sp>
        <p:nvSpPr>
          <p:cNvPr id="82951" name="Rectangle 2"/>
          <p:cNvSpPr>
            <a:spLocks noChangeArrowheads="1"/>
          </p:cNvSpPr>
          <p:nvPr/>
        </p:nvSpPr>
        <p:spPr bwMode="auto">
          <a:xfrm>
            <a:off x="611188" y="4741863"/>
            <a:ext cx="7777162" cy="14303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25000"/>
              </a:lnSpc>
              <a:spcBef>
                <a:spcPct val="0"/>
              </a:spcBef>
              <a:buClr>
                <a:srgbClr val="000000"/>
              </a:buClr>
              <a:buFontTx/>
              <a:buNone/>
            </a:pPr>
            <a:r>
              <a:rPr lang="zh-CN" altLang="en-US" sz="2400" b="1">
                <a:latin typeface="Times New Roman" panose="02020603050405020304" pitchFamily="18" charset="0"/>
              </a:rPr>
              <a:t>上式中，                                                ，它是由给定的初始状态</a:t>
            </a:r>
            <a:r>
              <a:rPr lang="en-US" altLang="zh-CN" sz="2400" b="1" i="1">
                <a:latin typeface="Times New Roman" panose="02020603050405020304" pitchFamily="18" charset="0"/>
              </a:rPr>
              <a:t>s</a:t>
            </a:r>
            <a:r>
              <a:rPr lang="en-US" altLang="zh-CN" sz="2400" b="1" baseline="-25000">
                <a:latin typeface="Times New Roman" panose="02020603050405020304" pitchFamily="18" charset="0"/>
              </a:rPr>
              <a:t>0</a:t>
            </a:r>
            <a:r>
              <a:rPr lang="zh-CN" altLang="en-US" sz="2400" b="1">
                <a:latin typeface="Times New Roman" panose="02020603050405020304" pitchFamily="18" charset="0"/>
              </a:rPr>
              <a:t>和子策略</a:t>
            </a:r>
            <a:r>
              <a:rPr lang="en-US" altLang="zh-CN" sz="2400" b="1" i="1">
                <a:latin typeface="Times New Roman" panose="02020603050405020304" pitchFamily="18" charset="0"/>
              </a:rPr>
              <a:t>P</a:t>
            </a:r>
            <a:r>
              <a:rPr lang="en-US" altLang="zh-CN" sz="2400" b="1" baseline="-25000">
                <a:latin typeface="Times New Roman" panose="02020603050405020304" pitchFamily="18" charset="0"/>
              </a:rPr>
              <a:t>0,</a:t>
            </a:r>
            <a:r>
              <a:rPr lang="en-US" altLang="zh-CN" sz="2400" b="1" i="1" baseline="-25000">
                <a:latin typeface="Times New Roman" panose="02020603050405020304" pitchFamily="18" charset="0"/>
              </a:rPr>
              <a:t>k</a:t>
            </a:r>
            <a:r>
              <a:rPr lang="en-US" altLang="zh-CN" sz="2400" b="1" baseline="-25000">
                <a:latin typeface="Times New Roman" panose="02020603050405020304" pitchFamily="18" charset="0"/>
              </a:rPr>
              <a:t>-1</a:t>
            </a:r>
            <a:r>
              <a:rPr lang="zh-CN" altLang="en-US" sz="2400" b="1">
                <a:latin typeface="Times New Roman" panose="02020603050405020304" pitchFamily="18" charset="0"/>
              </a:rPr>
              <a:t>所确定的</a:t>
            </a:r>
            <a:r>
              <a:rPr lang="en-US" altLang="zh-CN" sz="2400" b="1" i="1">
                <a:latin typeface="Times New Roman" panose="02020603050405020304" pitchFamily="18" charset="0"/>
              </a:rPr>
              <a:t>k</a:t>
            </a:r>
            <a:r>
              <a:rPr lang="zh-CN" altLang="en-US" sz="2400" b="1">
                <a:latin typeface="Times New Roman" panose="02020603050405020304" pitchFamily="18" charset="0"/>
              </a:rPr>
              <a:t>阶段状态。当</a:t>
            </a:r>
            <a:r>
              <a:rPr lang="en-US" altLang="zh-CN" sz="2400" b="1" i="1">
                <a:latin typeface="Times New Roman" panose="02020603050405020304" pitchFamily="18" charset="0"/>
              </a:rPr>
              <a:t>V</a:t>
            </a:r>
            <a:r>
              <a:rPr lang="zh-CN" altLang="en-US" sz="2400" b="1">
                <a:latin typeface="Times New Roman" panose="02020603050405020304" pitchFamily="18" charset="0"/>
              </a:rPr>
              <a:t>是效益函数时，</a:t>
            </a:r>
            <a:r>
              <a:rPr lang="en-US" altLang="zh-CN" sz="2400" b="1">
                <a:latin typeface="Times New Roman" panose="02020603050405020304" pitchFamily="18" charset="0"/>
              </a:rPr>
              <a:t>opt</a:t>
            </a:r>
            <a:r>
              <a:rPr lang="zh-CN" altLang="en-US" sz="2400" b="1">
                <a:latin typeface="Times New Roman" panose="02020603050405020304" pitchFamily="18" charset="0"/>
              </a:rPr>
              <a:t>取</a:t>
            </a:r>
            <a:r>
              <a:rPr lang="en-US" altLang="zh-CN" sz="2400" b="1">
                <a:latin typeface="Times New Roman" panose="02020603050405020304" pitchFamily="18" charset="0"/>
              </a:rPr>
              <a:t>max</a:t>
            </a:r>
            <a:r>
              <a:rPr lang="zh-CN" altLang="en-US" sz="2400" b="1">
                <a:latin typeface="Times New Roman" panose="02020603050405020304" pitchFamily="18" charset="0"/>
              </a:rPr>
              <a:t>；当</a:t>
            </a:r>
            <a:r>
              <a:rPr lang="en-US" altLang="zh-CN" sz="2400" b="1" i="1">
                <a:latin typeface="Times New Roman" panose="02020603050405020304" pitchFamily="18" charset="0"/>
              </a:rPr>
              <a:t>V</a:t>
            </a:r>
            <a:r>
              <a:rPr lang="zh-CN" altLang="en-US" sz="2400" b="1">
                <a:latin typeface="Times New Roman" panose="02020603050405020304" pitchFamily="18" charset="0"/>
              </a:rPr>
              <a:t>是损失函数时，</a:t>
            </a:r>
            <a:r>
              <a:rPr lang="en-US" altLang="zh-CN" sz="2400" b="1">
                <a:latin typeface="Times New Roman" panose="02020603050405020304" pitchFamily="18" charset="0"/>
              </a:rPr>
              <a:t>opt</a:t>
            </a:r>
            <a:r>
              <a:rPr lang="zh-CN" altLang="en-US" sz="2400" b="1">
                <a:latin typeface="Times New Roman" panose="02020603050405020304" pitchFamily="18" charset="0"/>
              </a:rPr>
              <a:t>取</a:t>
            </a:r>
            <a:r>
              <a:rPr lang="en-US" altLang="zh-CN" sz="2400" b="1">
                <a:latin typeface="Times New Roman" panose="02020603050405020304" pitchFamily="18" charset="0"/>
              </a:rPr>
              <a:t>min</a:t>
            </a:r>
            <a:r>
              <a:rPr lang="zh-CN" altLang="en-US" sz="2400" b="1">
                <a:latin typeface="Times New Roman" panose="02020603050405020304" pitchFamily="18" charset="0"/>
              </a:rPr>
              <a:t>。</a:t>
            </a:r>
          </a:p>
        </p:txBody>
      </p:sp>
      <p:pic>
        <p:nvPicPr>
          <p:cNvPr id="14" name="Picture 5" descr="3083388881398087791823"/>
          <p:cNvPicPr>
            <a:picLocks noChangeAspect="1" noChangeArrowheads="1"/>
          </p:cNvPicPr>
          <p:nvPr/>
        </p:nvPicPr>
        <p:blipFill>
          <a:blip r:embed="rId4">
            <a:duotone>
              <a:schemeClr val="accent4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1828800" y="4719695"/>
            <a:ext cx="3962400" cy="531169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82953" name="Rectangle 2"/>
          <p:cNvSpPr>
            <a:spLocks noGrp="1" noChangeArrowheads="1"/>
          </p:cNvSpPr>
          <p:nvPr>
            <p:ph type="title"/>
          </p:nvPr>
        </p:nvSpPr>
        <p:spPr>
          <a:xfrm>
            <a:off x="574675" y="914400"/>
            <a:ext cx="7502525" cy="606425"/>
          </a:xfrm>
        </p:spPr>
        <p:txBody>
          <a:bodyPr/>
          <a:lstStyle/>
          <a:p>
            <a:pPr eaLnBrk="1" hangingPunct="1"/>
            <a:r>
              <a:rPr lang="en-US" altLang="zh-CN" sz="3200" b="1" dirty="0">
                <a:latin typeface="Times New Roman" panose="02020603050405020304" pitchFamily="18" charset="0"/>
                <a:ea typeface="新宋体" panose="02010609030101010101" pitchFamily="49" charset="-122"/>
              </a:rPr>
              <a:t>4</a:t>
            </a:r>
            <a:r>
              <a:rPr lang="en-US" altLang="zh-CN" sz="3200" b="1" dirty="0">
                <a:latin typeface="Times New Roman" panose="02020603050405020304" pitchFamily="18" charset="0"/>
              </a:rPr>
              <a:t> </a:t>
            </a:r>
            <a:r>
              <a:rPr lang="zh-CN" altLang="en-US" sz="3200" b="1" dirty="0"/>
              <a:t>动态规划的最优性原理和最优性定理</a:t>
            </a: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36E9AABD-E9B2-4320-8915-ADD7D21E4FF7}"/>
              </a:ext>
            </a:extLst>
          </p:cNvPr>
          <p:cNvGrpSpPr/>
          <p:nvPr/>
        </p:nvGrpSpPr>
        <p:grpSpPr>
          <a:xfrm>
            <a:off x="838200" y="3166891"/>
            <a:ext cx="7543800" cy="1481309"/>
            <a:chOff x="838200" y="3166891"/>
            <a:chExt cx="7543800" cy="1481309"/>
          </a:xfrm>
        </p:grpSpPr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FC2CF775-7ABA-400B-9533-8F64B6C373EE}"/>
                </a:ext>
              </a:extLst>
            </p:cNvPr>
            <p:cNvSpPr/>
            <p:nvPr/>
          </p:nvSpPr>
          <p:spPr>
            <a:xfrm>
              <a:off x="838200" y="3166891"/>
              <a:ext cx="7543800" cy="148130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72CF7216-4C34-422B-9C81-B54499091F0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387475" y="3217872"/>
              <a:ext cx="2117725" cy="547573"/>
            </a:xfrm>
            <a:prstGeom prst="rect">
              <a:avLst/>
            </a:prstGeom>
          </p:spPr>
        </p:pic>
        <p:pic>
          <p:nvPicPr>
            <p:cNvPr id="7" name="图片 6">
              <a:extLst>
                <a:ext uri="{FF2B5EF4-FFF2-40B4-BE49-F238E27FC236}">
                  <a16:creationId xmlns:a16="http://schemas.microsoft.com/office/drawing/2014/main" id="{2DA48626-CB36-4CDD-A9D3-256B5977D80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886200" y="3996440"/>
              <a:ext cx="4267200" cy="544139"/>
            </a:xfrm>
            <a:prstGeom prst="rect">
              <a:avLst/>
            </a:prstGeom>
          </p:spPr>
        </p:pic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E7C066A9-A474-482F-BA50-DAE87392F2B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989013" y="3996440"/>
              <a:ext cx="2840013" cy="542030"/>
            </a:xfrm>
            <a:prstGeom prst="rect">
              <a:avLst/>
            </a:prstGeom>
          </p:spPr>
        </p:pic>
      </p:grpSp>
    </p:spTree>
  </p:cSld>
  <p:clrMapOvr>
    <a:masterClrMapping/>
  </p:clrMapOvr>
  <p:transition spd="slow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3"/>
          <p:cNvSpPr>
            <a:spLocks noGrp="1" noChangeArrowheads="1"/>
          </p:cNvSpPr>
          <p:nvPr>
            <p:ph idx="1"/>
          </p:nvPr>
        </p:nvSpPr>
        <p:spPr>
          <a:xfrm>
            <a:off x="419100" y="2133600"/>
            <a:ext cx="8305800" cy="4191000"/>
          </a:xfrm>
        </p:spPr>
        <p:txBody>
          <a:bodyPr/>
          <a:lstStyle/>
          <a:p>
            <a:pPr marL="0" indent="0" algn="just" eaLnBrk="1" hangingPunct="1">
              <a:spcBef>
                <a:spcPts val="600"/>
              </a:spcBef>
              <a:defRPr/>
            </a:pPr>
            <a:r>
              <a:rPr lang="zh-CN" altLang="en-US" sz="2000" b="1" dirty="0">
                <a:solidFill>
                  <a:srgbClr val="FF0000"/>
                </a:solidFill>
              </a:rPr>
              <a:t>  相同点：</a:t>
            </a:r>
            <a:r>
              <a:rPr lang="zh-CN" altLang="en-US" sz="2000" dirty="0"/>
              <a:t>动态规划、线性规划和非线性规划都属于</a:t>
            </a:r>
            <a:r>
              <a:rPr lang="zh-CN" altLang="en-US" sz="2000" dirty="0">
                <a:solidFill>
                  <a:srgbClr val="FF0000"/>
                </a:solidFill>
              </a:rPr>
              <a:t>数学规划</a:t>
            </a:r>
            <a:r>
              <a:rPr lang="zh-CN" altLang="en-US" sz="2000" dirty="0"/>
              <a:t>范围，研究对象本质上都是</a:t>
            </a:r>
            <a:r>
              <a:rPr lang="zh-CN" altLang="en-US" sz="2000" dirty="0">
                <a:solidFill>
                  <a:srgbClr val="FF0000"/>
                </a:solidFill>
              </a:rPr>
              <a:t>求极值问题</a:t>
            </a:r>
            <a:r>
              <a:rPr lang="zh-CN" altLang="en-US" sz="2000" dirty="0"/>
              <a:t>，都是利用</a:t>
            </a:r>
            <a:r>
              <a:rPr lang="zh-CN" altLang="en-US" sz="2000" dirty="0">
                <a:solidFill>
                  <a:srgbClr val="FF0000"/>
                </a:solidFill>
              </a:rPr>
              <a:t>迭代法</a:t>
            </a:r>
            <a:r>
              <a:rPr lang="zh-CN" altLang="en-US" sz="2000" dirty="0"/>
              <a:t>去逐步求解。</a:t>
            </a:r>
          </a:p>
          <a:p>
            <a:pPr marL="0" indent="0" algn="just" eaLnBrk="1" hangingPunct="1">
              <a:spcBef>
                <a:spcPts val="600"/>
              </a:spcBef>
              <a:defRPr/>
            </a:pPr>
            <a:r>
              <a:rPr lang="zh-CN" altLang="en-US" sz="2000" dirty="0">
                <a:solidFill>
                  <a:srgbClr val="FF0000"/>
                </a:solidFill>
              </a:rPr>
              <a:t>  </a:t>
            </a:r>
            <a:r>
              <a:rPr lang="zh-CN" altLang="en-US" sz="2000" b="1" dirty="0">
                <a:solidFill>
                  <a:srgbClr val="FF0000"/>
                </a:solidFill>
              </a:rPr>
              <a:t>不同点</a:t>
            </a:r>
            <a:endParaRPr lang="zh-CN" altLang="en-US" sz="2000" b="1" dirty="0"/>
          </a:p>
          <a:p>
            <a:pPr marL="720090" lvl="1" algn="just" eaLnBrk="1" hangingPunct="1">
              <a:spcBef>
                <a:spcPts val="600"/>
              </a:spcBef>
              <a:buClr>
                <a:srgbClr val="C00000"/>
              </a:buClr>
              <a:buFont typeface="Wingdings" panose="05000000000000000000" pitchFamily="2" charset="2"/>
              <a:buChar char="u"/>
              <a:defRPr/>
            </a:pPr>
            <a:r>
              <a:rPr lang="zh-CN" altLang="en-US" sz="2000" dirty="0"/>
              <a:t>线性规划和非线性规划研究的问题通常</a:t>
            </a:r>
            <a:r>
              <a:rPr lang="zh-CN" altLang="en-US" sz="2000" dirty="0">
                <a:solidFill>
                  <a:srgbClr val="FF0000"/>
                </a:solidFill>
              </a:rPr>
              <a:t>与时间无关</a:t>
            </a:r>
            <a:r>
              <a:rPr lang="zh-CN" altLang="en-US" sz="2000" dirty="0"/>
              <a:t>，故又称为</a:t>
            </a:r>
            <a:r>
              <a:rPr lang="zh-CN" altLang="en-US" sz="2000" dirty="0">
                <a:solidFill>
                  <a:srgbClr val="FF0000"/>
                </a:solidFill>
              </a:rPr>
              <a:t>静态规划</a:t>
            </a:r>
            <a:r>
              <a:rPr lang="zh-CN" altLang="en-US" sz="2000" dirty="0"/>
              <a:t>。线性规划迭代中的每一步是就问题的整体加以改善的。</a:t>
            </a:r>
            <a:endParaRPr lang="en-US" altLang="zh-CN" sz="2000" dirty="0"/>
          </a:p>
          <a:p>
            <a:pPr marL="720090" lvl="1" algn="just" eaLnBrk="1" hangingPunct="1">
              <a:spcBef>
                <a:spcPts val="600"/>
              </a:spcBef>
              <a:buClr>
                <a:srgbClr val="C00000"/>
              </a:buClr>
              <a:buFont typeface="Wingdings" panose="05000000000000000000" pitchFamily="2" charset="2"/>
              <a:buChar char="u"/>
              <a:defRPr/>
            </a:pPr>
            <a:r>
              <a:rPr lang="zh-CN" altLang="en-US" sz="2000" dirty="0"/>
              <a:t>动态规划研究的问题</a:t>
            </a:r>
            <a:r>
              <a:rPr lang="zh-CN" altLang="en-US" sz="2000" dirty="0">
                <a:solidFill>
                  <a:srgbClr val="FF0000"/>
                </a:solidFill>
              </a:rPr>
              <a:t>与时间有关</a:t>
            </a:r>
            <a:r>
              <a:rPr lang="zh-CN" altLang="en-US" sz="2000" dirty="0"/>
              <a:t>，研究具有多阶段决策过程的一类问题，将问题的整体按时间或空间的特征分成若干个前后衔接的时空阶段，把多阶段决策问题表示为前后有关联的一系列单阶段决策问题，然后逐个加以解决，从而求出整个问题的最优决策序列。</a:t>
            </a:r>
            <a:endParaRPr lang="en-US" altLang="zh-CN" sz="2000" dirty="0"/>
          </a:p>
          <a:p>
            <a:pPr marL="720090" lvl="1" algn="just" eaLnBrk="1" hangingPunct="1">
              <a:spcBef>
                <a:spcPts val="600"/>
              </a:spcBef>
              <a:buClr>
                <a:srgbClr val="C00000"/>
              </a:buClr>
              <a:buFont typeface="Wingdings" panose="05000000000000000000" pitchFamily="2" charset="2"/>
              <a:buChar char="u"/>
              <a:defRPr/>
            </a:pPr>
            <a:r>
              <a:rPr lang="zh-CN" altLang="en-US" sz="2000" dirty="0"/>
              <a:t>对于某些静态问题，也可以</a:t>
            </a:r>
            <a:r>
              <a:rPr lang="zh-CN" altLang="en-US" sz="2000" dirty="0">
                <a:solidFill>
                  <a:srgbClr val="FF0000"/>
                </a:solidFill>
              </a:rPr>
              <a:t>人为地引入时间因素</a:t>
            </a:r>
            <a:r>
              <a:rPr lang="zh-CN" altLang="en-US" sz="2000" dirty="0"/>
              <a:t>，把它看作是按阶段进行的一个动态规划问题，这就使得</a:t>
            </a:r>
            <a:r>
              <a:rPr lang="zh-CN" altLang="en-US" sz="2000" dirty="0">
                <a:solidFill>
                  <a:srgbClr val="FF0000"/>
                </a:solidFill>
              </a:rPr>
              <a:t>动态规划</a:t>
            </a:r>
            <a:r>
              <a:rPr lang="zh-CN" altLang="en-US" sz="2000" dirty="0"/>
              <a:t>成为求解某些线性、非线性规划的</a:t>
            </a:r>
            <a:r>
              <a:rPr lang="zh-CN" altLang="en-US" sz="2000" dirty="0">
                <a:solidFill>
                  <a:srgbClr val="FF0000"/>
                </a:solidFill>
              </a:rPr>
              <a:t>有效方法</a:t>
            </a:r>
            <a:r>
              <a:rPr lang="zh-CN" altLang="en-US" sz="2000" dirty="0"/>
              <a:t>。</a:t>
            </a:r>
            <a:endParaRPr lang="zh-CN" altLang="en-US" sz="2000" dirty="0">
              <a:solidFill>
                <a:srgbClr val="FF0000"/>
              </a:solidFill>
            </a:endParaRPr>
          </a:p>
        </p:txBody>
      </p:sp>
      <p:sp>
        <p:nvSpPr>
          <p:cNvPr id="83971" name="灯片编号占位符 2"/>
          <p:cNvSpPr>
            <a:spLocks noGrp="1" noChangeArrowheads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>
                <a:srgbClr val="000000"/>
              </a:buClr>
              <a:buFontTx/>
              <a:buNone/>
            </a:pPr>
            <a:fld id="{2BBAD5B8-C471-496C-88E2-902BC5346D89}" type="slidenum">
              <a:rPr lang="zh-CN" altLang="zh-CN" sz="1400">
                <a:latin typeface="Arial" panose="020B0604020202020204" pitchFamily="34" charset="0"/>
              </a:rPr>
              <a:t>6</a:t>
            </a:fld>
            <a:endParaRPr lang="en-US" altLang="zh-CN" sz="1400">
              <a:latin typeface="Arial" panose="020B0604020202020204" pitchFamily="34" charset="0"/>
            </a:endParaRPr>
          </a:p>
        </p:txBody>
      </p:sp>
      <p:sp>
        <p:nvSpPr>
          <p:cNvPr id="83972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1" y="841375"/>
            <a:ext cx="4953000" cy="606425"/>
          </a:xfrm>
        </p:spPr>
        <p:txBody>
          <a:bodyPr/>
          <a:lstStyle/>
          <a:p>
            <a:pPr eaLnBrk="1" hangingPunct="1"/>
            <a:r>
              <a:rPr lang="en-US" altLang="zh-CN" sz="3200" b="1" dirty="0">
                <a:latin typeface="Times New Roman" panose="02020603050405020304" pitchFamily="18" charset="0"/>
                <a:ea typeface="新宋体" panose="02010609030101010101" pitchFamily="49" charset="-122"/>
              </a:rPr>
              <a:t>5</a:t>
            </a:r>
            <a:r>
              <a:rPr lang="en-US" altLang="zh-CN" sz="3200" b="1" dirty="0">
                <a:latin typeface="Times New Roman" panose="02020603050405020304" pitchFamily="18" charset="0"/>
              </a:rPr>
              <a:t> </a:t>
            </a:r>
            <a:r>
              <a:rPr lang="zh-CN" altLang="en-US" sz="3200" b="1" dirty="0"/>
              <a:t>动态规划的求解方法</a:t>
            </a:r>
          </a:p>
        </p:txBody>
      </p:sp>
      <p:sp>
        <p:nvSpPr>
          <p:cNvPr id="3" name="Rectangle 2"/>
          <p:cNvSpPr txBox="1">
            <a:spLocks noChangeArrowheads="1"/>
          </p:cNvSpPr>
          <p:nvPr/>
        </p:nvSpPr>
        <p:spPr bwMode="auto">
          <a:xfrm>
            <a:off x="419101" y="1520825"/>
            <a:ext cx="4305300" cy="606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="1" kern="0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动态规划和静态规划的关系</a:t>
            </a:r>
          </a:p>
        </p:txBody>
      </p:sp>
    </p:spTree>
  </p:cSld>
  <p:clrMapOvr>
    <a:masterClrMapping/>
  </p:clrMapOvr>
  <p:transition spd="slow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3"/>
          <p:cNvSpPr>
            <a:spLocks noGrp="1" noChangeArrowheads="1"/>
          </p:cNvSpPr>
          <p:nvPr>
            <p:ph idx="1"/>
          </p:nvPr>
        </p:nvSpPr>
        <p:spPr>
          <a:xfrm>
            <a:off x="703263" y="1676400"/>
            <a:ext cx="6764337" cy="4175125"/>
          </a:xfrm>
        </p:spPr>
        <p:txBody>
          <a:bodyPr/>
          <a:lstStyle/>
          <a:p>
            <a:pPr marL="812800" indent="-812800" algn="just" eaLnBrk="1" hangingPunct="1">
              <a:lnSpc>
                <a:spcPct val="150000"/>
              </a:lnSpc>
              <a:spcBef>
                <a:spcPct val="0"/>
              </a:spcBef>
            </a:pPr>
            <a:r>
              <a:rPr lang="zh-CN" altLang="en-US" sz="2400" dirty="0"/>
              <a:t>在应用动态规划求解多阶段决策问题时，有</a:t>
            </a:r>
            <a:r>
              <a:rPr lang="zh-CN" altLang="en-US" sz="2400" dirty="0">
                <a:solidFill>
                  <a:srgbClr val="C00000"/>
                </a:solidFill>
              </a:rPr>
              <a:t>两种</a:t>
            </a:r>
            <a:r>
              <a:rPr lang="zh-CN" altLang="en-US" sz="2400" dirty="0"/>
              <a:t>具体的求解方法：</a:t>
            </a:r>
            <a:endParaRPr lang="en-US" altLang="zh-CN" sz="2400" dirty="0"/>
          </a:p>
          <a:p>
            <a:pPr lvl="1" algn="just" eaLnBrk="1" hangingPunct="1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u"/>
            </a:pPr>
            <a:r>
              <a:rPr lang="zh-CN" altLang="en-US" sz="2000" dirty="0"/>
              <a:t> </a:t>
            </a:r>
            <a:r>
              <a:rPr lang="en-US" altLang="zh-CN" sz="2000" dirty="0">
                <a:latin typeface="Times New Roman" panose="02020603050405020304" pitchFamily="18" charset="0"/>
              </a:rPr>
              <a:t>1</a:t>
            </a:r>
            <a:r>
              <a:rPr lang="zh-CN" altLang="en-US" sz="2000" dirty="0">
                <a:latin typeface="Times New Roman" panose="02020603050405020304" pitchFamily="18" charset="0"/>
              </a:rPr>
              <a:t>）</a:t>
            </a:r>
            <a:r>
              <a:rPr lang="zh-CN" altLang="en-US" sz="2000" dirty="0">
                <a:hlinkClick r:id="rId2" action="ppaction://hlinksldjump"/>
              </a:rPr>
              <a:t>逆序解法</a:t>
            </a:r>
            <a:endParaRPr lang="zh-CN" altLang="en-US" sz="2000" dirty="0"/>
          </a:p>
          <a:p>
            <a:pPr lvl="1" algn="just" eaLnBrk="1" hangingPunct="1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u"/>
            </a:pPr>
            <a:r>
              <a:rPr lang="zh-CN" altLang="en-US" sz="2000" dirty="0">
                <a:latin typeface="Times New Roman" panose="02020603050405020304" pitchFamily="18" charset="0"/>
              </a:rPr>
              <a:t> </a:t>
            </a:r>
            <a:r>
              <a:rPr lang="en-US" altLang="zh-CN" sz="2000" dirty="0">
                <a:latin typeface="Times New Roman" panose="02020603050405020304" pitchFamily="18" charset="0"/>
              </a:rPr>
              <a:t>2</a:t>
            </a:r>
            <a:r>
              <a:rPr lang="zh-CN" altLang="en-US" sz="2000" dirty="0">
                <a:latin typeface="Times New Roman" panose="02020603050405020304" pitchFamily="18" charset="0"/>
              </a:rPr>
              <a:t>）</a:t>
            </a:r>
            <a:r>
              <a:rPr lang="zh-CN" altLang="en-US" sz="2000" dirty="0">
                <a:latin typeface="Times New Roman" panose="02020603050405020304" pitchFamily="18" charset="0"/>
                <a:hlinkClick r:id="rId3" action="ppaction://hlinksldjump"/>
              </a:rPr>
              <a:t>顺序</a:t>
            </a:r>
            <a:r>
              <a:rPr lang="zh-CN" altLang="en-US" sz="2000" dirty="0">
                <a:hlinkClick r:id="rId3" action="ppaction://hlinksldjump"/>
              </a:rPr>
              <a:t>解法</a:t>
            </a:r>
            <a:endParaRPr lang="zh-CN" altLang="en-US" sz="2000" dirty="0"/>
          </a:p>
          <a:p>
            <a:pPr marL="812800" indent="-812800" algn="just" eaLnBrk="1" hangingPunct="1">
              <a:lnSpc>
                <a:spcPct val="150000"/>
              </a:lnSpc>
              <a:spcBef>
                <a:spcPts val="1200"/>
              </a:spcBef>
            </a:pPr>
            <a:r>
              <a:rPr lang="zh-CN" altLang="en-US" sz="2400" dirty="0">
                <a:solidFill>
                  <a:srgbClr val="FF0000"/>
                </a:solidFill>
              </a:rPr>
              <a:t>关键：正确写出动态规划的递推关系式</a:t>
            </a:r>
            <a:endParaRPr lang="en-US" altLang="zh-CN" sz="2400" dirty="0">
              <a:solidFill>
                <a:srgbClr val="FF0000"/>
              </a:solidFill>
            </a:endParaRPr>
          </a:p>
          <a:p>
            <a:pPr lvl="1" algn="just" eaLnBrk="1" hangingPunct="1">
              <a:lnSpc>
                <a:spcPct val="130000"/>
              </a:lnSpc>
              <a:spcBef>
                <a:spcPct val="0"/>
              </a:spcBef>
              <a:buClr>
                <a:srgbClr val="C00000"/>
              </a:buClr>
              <a:buFont typeface="Wingdings" panose="05000000000000000000" pitchFamily="2" charset="2"/>
              <a:buChar char="u"/>
            </a:pPr>
            <a:r>
              <a:rPr lang="zh-CN" altLang="en-US" sz="2000" dirty="0"/>
              <a:t>逆推形式，当</a:t>
            </a:r>
            <a:r>
              <a:rPr lang="zh-CN" altLang="en-US" sz="2000" b="1" dirty="0">
                <a:solidFill>
                  <a:srgbClr val="0070C0"/>
                </a:solidFill>
              </a:rPr>
              <a:t>初始</a:t>
            </a:r>
            <a:r>
              <a:rPr lang="zh-CN" altLang="en-US" sz="2000" dirty="0"/>
              <a:t>状态给定时，用逆推比较方便</a:t>
            </a:r>
          </a:p>
          <a:p>
            <a:pPr lvl="1" algn="just" eaLnBrk="1" hangingPunct="1">
              <a:lnSpc>
                <a:spcPct val="130000"/>
              </a:lnSpc>
              <a:spcBef>
                <a:spcPct val="0"/>
              </a:spcBef>
              <a:buClr>
                <a:srgbClr val="C00000"/>
              </a:buClr>
              <a:buFont typeface="Wingdings" panose="05000000000000000000" pitchFamily="2" charset="2"/>
              <a:buChar char="u"/>
            </a:pPr>
            <a:r>
              <a:rPr lang="zh-CN" altLang="en-US" sz="2000" dirty="0"/>
              <a:t>顺推形式，当</a:t>
            </a:r>
            <a:r>
              <a:rPr lang="zh-CN" altLang="en-US" sz="2000" b="1" dirty="0">
                <a:solidFill>
                  <a:srgbClr val="0070C0"/>
                </a:solidFill>
              </a:rPr>
              <a:t>终止</a:t>
            </a:r>
            <a:r>
              <a:rPr lang="zh-CN" altLang="en-US" sz="2000" dirty="0"/>
              <a:t>状态给定时，用顺推比较方便</a:t>
            </a:r>
            <a:endParaRPr lang="zh-CN" altLang="en-US" sz="2400" dirty="0">
              <a:solidFill>
                <a:srgbClr val="FF0000"/>
              </a:solidFill>
            </a:endParaRPr>
          </a:p>
          <a:p>
            <a:pPr marL="812800" indent="-812800" algn="just" eaLnBrk="1" hangingPunct="1">
              <a:lnSpc>
                <a:spcPct val="150000"/>
              </a:lnSpc>
              <a:spcBef>
                <a:spcPct val="0"/>
              </a:spcBef>
            </a:pPr>
            <a:endParaRPr lang="zh-CN" altLang="en-US" sz="2400" dirty="0">
              <a:hlinkClick r:id="" action="ppaction://noaction"/>
            </a:endParaRPr>
          </a:p>
        </p:txBody>
      </p:sp>
      <p:sp>
        <p:nvSpPr>
          <p:cNvPr id="84995" name="灯片编号占位符 2"/>
          <p:cNvSpPr>
            <a:spLocks noGrp="1" noChangeArrowheads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>
                <a:srgbClr val="000000"/>
              </a:buClr>
              <a:buFontTx/>
              <a:buNone/>
            </a:pPr>
            <a:fld id="{1B1CFB65-333A-435F-9823-F8762B3C919C}" type="slidenum">
              <a:rPr lang="zh-CN" altLang="zh-CN" sz="1400">
                <a:latin typeface="Arial" panose="020B0604020202020204" pitchFamily="34" charset="0"/>
              </a:rPr>
              <a:t>7</a:t>
            </a:fld>
            <a:endParaRPr lang="en-US" altLang="zh-CN" sz="1400">
              <a:latin typeface="Arial" panose="020B0604020202020204" pitchFamily="34" charset="0"/>
            </a:endParaRPr>
          </a:p>
        </p:txBody>
      </p:sp>
      <p:sp>
        <p:nvSpPr>
          <p:cNvPr id="3" name="Rectangle 2"/>
          <p:cNvSpPr>
            <a:spLocks noGrp="1" noChangeArrowheads="1"/>
          </p:cNvSpPr>
          <p:nvPr>
            <p:ph type="title"/>
          </p:nvPr>
        </p:nvSpPr>
        <p:spPr>
          <a:xfrm>
            <a:off x="574675" y="838200"/>
            <a:ext cx="4759325" cy="682625"/>
          </a:xfrm>
        </p:spPr>
        <p:txBody>
          <a:bodyPr/>
          <a:lstStyle/>
          <a:p>
            <a:pPr eaLnBrk="1" hangingPunct="1"/>
            <a:r>
              <a:rPr lang="en-US" altLang="zh-CN" sz="3200" b="1" dirty="0">
                <a:latin typeface="Times New Roman" panose="02020603050405020304" pitchFamily="18" charset="0"/>
                <a:ea typeface="新宋体" panose="02010609030101010101" pitchFamily="49" charset="-122"/>
              </a:rPr>
              <a:t>5</a:t>
            </a:r>
            <a:r>
              <a:rPr lang="en-US" altLang="zh-CN" sz="3200" b="1" dirty="0">
                <a:latin typeface="Times New Roman" panose="02020603050405020304" pitchFamily="18" charset="0"/>
              </a:rPr>
              <a:t> </a:t>
            </a:r>
            <a:r>
              <a:rPr lang="zh-CN" altLang="en-US" sz="3200" b="1" dirty="0"/>
              <a:t>动态规划的求解方法</a:t>
            </a:r>
          </a:p>
        </p:txBody>
      </p:sp>
    </p:spTree>
  </p:cSld>
  <p:clrMapOvr>
    <a:masterClrMapping/>
  </p:clrMapOvr>
  <p:transition spd="slow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"/>
          <p:cNvSpPr/>
          <p:nvPr/>
        </p:nvSpPr>
        <p:spPr>
          <a:xfrm>
            <a:off x="779463" y="2162175"/>
            <a:ext cx="7680325" cy="2346325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buClr>
                <a:srgbClr val="000000"/>
              </a:buClr>
              <a:buSzPct val="100000"/>
              <a:defRPr/>
            </a:pPr>
            <a:endParaRPr lang="zh-CN" altLang="en-US"/>
          </a:p>
        </p:txBody>
      </p:sp>
      <p:sp>
        <p:nvSpPr>
          <p:cNvPr id="86019" name="Rectangle 3"/>
          <p:cNvSpPr>
            <a:spLocks noChangeArrowheads="1"/>
          </p:cNvSpPr>
          <p:nvPr/>
        </p:nvSpPr>
        <p:spPr bwMode="auto">
          <a:xfrm>
            <a:off x="0" y="1349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>
                <a:srgbClr val="000000"/>
              </a:buClr>
              <a:buFontTx/>
              <a:buNone/>
            </a:pPr>
            <a:endParaRPr lang="zh-CN" altLang="en-US" sz="1800">
              <a:latin typeface="Arial" panose="020B0604020202020204" pitchFamily="34" charset="0"/>
            </a:endParaRPr>
          </a:p>
        </p:txBody>
      </p:sp>
      <p:pic>
        <p:nvPicPr>
          <p:cNvPr id="68612" name="Picture 4" descr="8772757471398087791823"/>
          <p:cNvPicPr>
            <a:picLocks noChangeAspect="1" noChangeArrowheads="1"/>
          </p:cNvPicPr>
          <p:nvPr/>
        </p:nvPicPr>
        <p:blipFill>
          <a:blip r:embed="rId2">
            <a:duotone>
              <a:schemeClr val="accent4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990599" y="2204864"/>
            <a:ext cx="7324725" cy="864858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68613" name="Picture 5" descr="9168277491398087791833"/>
          <p:cNvPicPr>
            <a:picLocks noChangeAspect="1" noChangeArrowheads="1"/>
          </p:cNvPicPr>
          <p:nvPr/>
        </p:nvPicPr>
        <p:blipFill>
          <a:blip r:embed="rId3" cstate="print">
            <a:duotone>
              <a:schemeClr val="accent4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3192708" y="3140968"/>
            <a:ext cx="1656184" cy="583128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86022" name="Rectangle 6"/>
          <p:cNvSpPr>
            <a:spLocks noChangeArrowheads="1"/>
          </p:cNvSpPr>
          <p:nvPr/>
        </p:nvSpPr>
        <p:spPr bwMode="auto">
          <a:xfrm>
            <a:off x="779463" y="1700213"/>
            <a:ext cx="4826000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>
                <a:srgbClr val="000000"/>
              </a:buClr>
              <a:buFontTx/>
              <a:buNone/>
            </a:pPr>
            <a:r>
              <a:rPr lang="zh-CN" altLang="en-US" sz="2400" b="1" u="sng" dirty="0">
                <a:latin typeface="Times New Roman" panose="02020603050405020304" pitchFamily="18" charset="0"/>
              </a:rPr>
              <a:t>动态规划逆推解法的基本方程为</a:t>
            </a:r>
            <a:r>
              <a:rPr lang="zh-CN" altLang="en-US" sz="2400" b="1" dirty="0">
                <a:latin typeface="Times New Roman" panose="02020603050405020304" pitchFamily="18" charset="0"/>
              </a:rPr>
              <a:t>：</a:t>
            </a:r>
          </a:p>
        </p:txBody>
      </p:sp>
      <p:sp>
        <p:nvSpPr>
          <p:cNvPr id="86023" name="Rectangle 7"/>
          <p:cNvSpPr>
            <a:spLocks noChangeArrowheads="1"/>
          </p:cNvSpPr>
          <p:nvPr/>
        </p:nvSpPr>
        <p:spPr bwMode="auto">
          <a:xfrm>
            <a:off x="896938" y="3182938"/>
            <a:ext cx="1730375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>
                <a:srgbClr val="000000"/>
              </a:buClr>
              <a:buFontTx/>
              <a:buNone/>
            </a:pPr>
            <a:r>
              <a:rPr lang="zh-CN" altLang="en-US" sz="2400" b="1">
                <a:latin typeface="Times New Roman" panose="02020603050405020304" pitchFamily="18" charset="0"/>
              </a:rPr>
              <a:t>边界条件为</a:t>
            </a:r>
            <a:endParaRPr lang="zh-CN" altLang="en-US" sz="2400" b="1">
              <a:latin typeface="Arial" panose="020B0604020202020204" pitchFamily="34" charset="0"/>
            </a:endParaRPr>
          </a:p>
        </p:txBody>
      </p:sp>
      <p:pic>
        <p:nvPicPr>
          <p:cNvPr id="68616" name="Picture 8" descr="3416311181398087791833"/>
          <p:cNvPicPr>
            <a:picLocks noChangeAspect="1" noChangeArrowheads="1"/>
          </p:cNvPicPr>
          <p:nvPr/>
        </p:nvPicPr>
        <p:blipFill>
          <a:blip r:embed="rId4" cstate="print">
            <a:duotone>
              <a:schemeClr val="accent4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1979712" y="3717032"/>
            <a:ext cx="1871662" cy="576262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86025" name="Rectangle 9"/>
          <p:cNvSpPr>
            <a:spLocks noChangeArrowheads="1"/>
          </p:cNvSpPr>
          <p:nvPr/>
        </p:nvSpPr>
        <p:spPr bwMode="auto">
          <a:xfrm>
            <a:off x="971550" y="3716338"/>
            <a:ext cx="803275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>
                <a:srgbClr val="000000"/>
              </a:buClr>
              <a:buFontTx/>
              <a:buNone/>
            </a:pPr>
            <a:r>
              <a:rPr lang="zh-CN" altLang="en-US" sz="2400" b="1">
                <a:latin typeface="Times New Roman" panose="02020603050405020304" pitchFamily="18" charset="0"/>
              </a:rPr>
              <a:t>式中</a:t>
            </a:r>
            <a:endParaRPr lang="zh-CN" altLang="en-US" sz="2400" b="1">
              <a:latin typeface="Arial" panose="020B0604020202020204" pitchFamily="34" charset="0"/>
            </a:endParaRPr>
          </a:p>
        </p:txBody>
      </p:sp>
      <p:sp>
        <p:nvSpPr>
          <p:cNvPr id="86026" name="灯片编号占位符 2"/>
          <p:cNvSpPr>
            <a:spLocks noGrp="1" noChangeArrowheads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>
                <a:srgbClr val="000000"/>
              </a:buClr>
              <a:buFontTx/>
              <a:buNone/>
            </a:pPr>
            <a:fld id="{2504D59F-E0A1-4D52-9F24-79B9698AF5AE}" type="slidenum">
              <a:rPr lang="zh-CN" altLang="zh-CN" sz="1400">
                <a:latin typeface="Arial" panose="020B0604020202020204" pitchFamily="34" charset="0"/>
              </a:rPr>
              <a:t>8</a:t>
            </a:fld>
            <a:endParaRPr lang="en-US" altLang="zh-CN" sz="1400">
              <a:latin typeface="Arial" panose="020B0604020202020204" pitchFamily="34" charset="0"/>
            </a:endParaRPr>
          </a:p>
        </p:txBody>
      </p:sp>
      <p:sp>
        <p:nvSpPr>
          <p:cNvPr id="86027" name="Rectangle 2"/>
          <p:cNvSpPr>
            <a:spLocks noChangeArrowheads="1"/>
          </p:cNvSpPr>
          <p:nvPr/>
        </p:nvSpPr>
        <p:spPr bwMode="auto">
          <a:xfrm>
            <a:off x="539750" y="4591050"/>
            <a:ext cx="7775575" cy="1389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20000"/>
              </a:lnSpc>
              <a:spcBef>
                <a:spcPct val="0"/>
              </a:spcBef>
              <a:buClr>
                <a:srgbClr val="000000"/>
              </a:buClr>
              <a:buFontTx/>
              <a:buNone/>
            </a:pPr>
            <a:r>
              <a:rPr lang="zh-CN" altLang="en-US" sz="3200" b="1">
                <a:latin typeface="Times New Roman" panose="02020603050405020304" pitchFamily="18" charset="0"/>
              </a:rPr>
              <a:t>      </a:t>
            </a: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</a:rPr>
              <a:t>其</a:t>
            </a:r>
            <a:r>
              <a:rPr lang="zh-CN" altLang="en-US" sz="240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求解过程</a:t>
            </a: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</a:rPr>
              <a:t>为：根据边界条件</a:t>
            </a:r>
            <a:r>
              <a:rPr lang="zh-CN" altLang="en-US" sz="240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，从</a:t>
            </a:r>
            <a:r>
              <a:rPr lang="en-US" altLang="zh-CN" sz="2400" i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k</a:t>
            </a:r>
            <a:r>
              <a:rPr lang="en-US" altLang="zh-CN" sz="240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=</a:t>
            </a:r>
            <a:r>
              <a:rPr lang="en-US" altLang="zh-CN" sz="2400" i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lang="zh-CN" altLang="en-US" sz="240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开始，由后向前逆推，从而逐步可求得各段的最优决策和相应的最优值，最后</a:t>
            </a:r>
            <a:r>
              <a:rPr lang="zh-CN" altLang="en-US" sz="240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求出            </a:t>
            </a:r>
            <a:r>
              <a:rPr lang="zh-CN" altLang="en-US" sz="240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时，就得到整个问题的最优解。 </a:t>
            </a:r>
          </a:p>
        </p:txBody>
      </p:sp>
      <p:pic>
        <p:nvPicPr>
          <p:cNvPr id="15" name="Picture 5" descr="7069040961398087791833"/>
          <p:cNvPicPr>
            <a:picLocks noChangeAspect="1" noChangeArrowheads="1"/>
          </p:cNvPicPr>
          <p:nvPr/>
        </p:nvPicPr>
        <p:blipFill>
          <a:blip r:embed="rId5" cstate="print">
            <a:duotone>
              <a:schemeClr val="accent4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2519462" y="5638111"/>
            <a:ext cx="792162" cy="383177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86029" name="Rectangle 2"/>
          <p:cNvSpPr>
            <a:spLocks noGrp="1" noChangeArrowheads="1"/>
          </p:cNvSpPr>
          <p:nvPr>
            <p:ph type="title"/>
          </p:nvPr>
        </p:nvSpPr>
        <p:spPr>
          <a:xfrm>
            <a:off x="570160" y="754728"/>
            <a:ext cx="6019800" cy="606425"/>
          </a:xfrm>
        </p:spPr>
        <p:txBody>
          <a:bodyPr/>
          <a:lstStyle/>
          <a:p>
            <a:pPr eaLnBrk="1" hangingPunct="1"/>
            <a:r>
              <a:rPr lang="en-US" altLang="zh-CN" sz="3200" b="1" dirty="0">
                <a:latin typeface="Times New Roman" panose="02020603050405020304" pitchFamily="18" charset="0"/>
                <a:ea typeface="新宋体" panose="02010609030101010101" pitchFamily="49" charset="-122"/>
              </a:rPr>
              <a:t>5</a:t>
            </a:r>
            <a:r>
              <a:rPr lang="en-US" altLang="zh-CN" sz="3200" b="1" dirty="0">
                <a:latin typeface="Times New Roman" panose="02020603050405020304" pitchFamily="18" charset="0"/>
              </a:rPr>
              <a:t> </a:t>
            </a:r>
            <a:r>
              <a:rPr lang="zh-CN" altLang="en-US" sz="3200" b="1" dirty="0"/>
              <a:t>动态规划的求解方法</a:t>
            </a:r>
          </a:p>
        </p:txBody>
      </p:sp>
    </p:spTree>
  </p:cSld>
  <p:clrMapOvr>
    <a:masterClrMapping/>
  </p:clrMapOvr>
  <p:transition spd="slow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3"/>
          <p:cNvSpPr>
            <a:spLocks noChangeArrowheads="1"/>
          </p:cNvSpPr>
          <p:nvPr/>
        </p:nvSpPr>
        <p:spPr bwMode="auto">
          <a:xfrm>
            <a:off x="0" y="1349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>
                <a:srgbClr val="000000"/>
              </a:buClr>
              <a:buFontTx/>
              <a:buNone/>
            </a:pPr>
            <a:endParaRPr lang="zh-CN" altLang="en-US" sz="1800">
              <a:latin typeface="Arial" panose="020B0604020202020204" pitchFamily="34" charset="0"/>
            </a:endParaRPr>
          </a:p>
        </p:txBody>
      </p:sp>
      <p:pic>
        <p:nvPicPr>
          <p:cNvPr id="70660" name="Picture 4" descr="1114959391398087791833"/>
          <p:cNvPicPr>
            <a:picLocks noChangeAspect="1" noChangeArrowheads="1"/>
          </p:cNvPicPr>
          <p:nvPr/>
        </p:nvPicPr>
        <p:blipFill>
          <a:blip r:embed="rId3">
            <a:duotone>
              <a:schemeClr val="accent4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1081088" y="2136984"/>
            <a:ext cx="4161980" cy="1390723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87044" name="Rectangle 5"/>
          <p:cNvSpPr>
            <a:spLocks noChangeArrowheads="1"/>
          </p:cNvSpPr>
          <p:nvPr/>
        </p:nvSpPr>
        <p:spPr bwMode="auto">
          <a:xfrm>
            <a:off x="609600" y="1676400"/>
            <a:ext cx="4246563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>
                <a:srgbClr val="000000"/>
              </a:buClr>
              <a:buFontTx/>
              <a:buNone/>
            </a:pPr>
            <a:r>
              <a:rPr lang="zh-CN" altLang="en-US" sz="2400" b="1" u="sng">
                <a:latin typeface="Times New Roman" panose="02020603050405020304" pitchFamily="18" charset="0"/>
                <a:cs typeface="Courier New" panose="02070309020205020404" pitchFamily="49" charset="0"/>
              </a:rPr>
              <a:t>例</a:t>
            </a:r>
            <a:r>
              <a:rPr lang="en-US" altLang="zh-CN" sz="2400" b="1" u="sng">
                <a:latin typeface="Times New Roman" panose="02020603050405020304" pitchFamily="18" charset="0"/>
                <a:cs typeface="Courier New" panose="02070309020205020404" pitchFamily="49" charset="0"/>
              </a:rPr>
              <a:t>3</a:t>
            </a:r>
            <a:r>
              <a:rPr lang="en-US" altLang="zh-CN" sz="2400" b="1">
                <a:latin typeface="Times New Roman" panose="02020603050405020304" pitchFamily="18" charset="0"/>
                <a:cs typeface="Courier New" panose="02070309020205020404" pitchFamily="49" charset="0"/>
              </a:rPr>
              <a:t>  </a:t>
            </a:r>
            <a:r>
              <a:rPr lang="zh-CN" altLang="en-US" sz="2400" b="1">
                <a:latin typeface="Times New Roman" panose="02020603050405020304" pitchFamily="18" charset="0"/>
                <a:cs typeface="Courier New" panose="02070309020205020404" pitchFamily="49" charset="0"/>
              </a:rPr>
              <a:t>用</a:t>
            </a:r>
            <a:r>
              <a:rPr lang="zh-CN" altLang="en-US" sz="2400" b="1">
                <a:solidFill>
                  <a:srgbClr val="C00000"/>
                </a:solidFill>
                <a:latin typeface="Times New Roman" panose="02020603050405020304" pitchFamily="18" charset="0"/>
                <a:cs typeface="Courier New" panose="02070309020205020404" pitchFamily="49" charset="0"/>
              </a:rPr>
              <a:t>逆推解法</a:t>
            </a:r>
            <a:r>
              <a:rPr lang="zh-CN" altLang="en-US" sz="2400" b="1">
                <a:latin typeface="Times New Roman" panose="02020603050405020304" pitchFamily="18" charset="0"/>
                <a:cs typeface="Courier New" panose="02070309020205020404" pitchFamily="49" charset="0"/>
              </a:rPr>
              <a:t>求解下面问题</a:t>
            </a:r>
          </a:p>
        </p:txBody>
      </p:sp>
      <p:sp>
        <p:nvSpPr>
          <p:cNvPr id="87046" name="灯片编号占位符 2"/>
          <p:cNvSpPr>
            <a:spLocks noGrp="1" noChangeArrowheads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>
                <a:srgbClr val="000000"/>
              </a:buClr>
              <a:buFontTx/>
              <a:buNone/>
            </a:pPr>
            <a:fld id="{C6DA3BBE-E639-4952-93ED-7A1D0914F019}" type="slidenum">
              <a:rPr lang="zh-CN" altLang="zh-CN" sz="1400">
                <a:latin typeface="Arial" panose="020B0604020202020204" pitchFamily="34" charset="0"/>
              </a:rPr>
              <a:t>9</a:t>
            </a:fld>
            <a:endParaRPr lang="en-US" altLang="zh-CN" sz="1400">
              <a:latin typeface="Arial" panose="020B0604020202020204" pitchFamily="34" charset="0"/>
            </a:endParaRPr>
          </a:p>
        </p:txBody>
      </p:sp>
      <p:grpSp>
        <p:nvGrpSpPr>
          <p:cNvPr id="38" name="Group 4"/>
          <p:cNvGrpSpPr/>
          <p:nvPr/>
        </p:nvGrpSpPr>
        <p:grpSpPr bwMode="auto">
          <a:xfrm>
            <a:off x="404813" y="4627563"/>
            <a:ext cx="4724400" cy="1620837"/>
            <a:chOff x="839" y="1963"/>
            <a:chExt cx="2976" cy="1104"/>
          </a:xfrm>
        </p:grpSpPr>
        <p:sp>
          <p:nvSpPr>
            <p:cNvPr id="87052" name="Rectangle 5"/>
            <p:cNvSpPr>
              <a:spLocks noChangeArrowheads="1"/>
            </p:cNvSpPr>
            <p:nvPr/>
          </p:nvSpPr>
          <p:spPr bwMode="auto">
            <a:xfrm>
              <a:off x="1511" y="2395"/>
              <a:ext cx="336" cy="288"/>
            </a:xfrm>
            <a:prstGeom prst="rect">
              <a:avLst/>
            </a:prstGeom>
            <a:solidFill>
              <a:srgbClr val="00FFCC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>
                  <a:srgbClr val="000000"/>
                </a:buClr>
                <a:buFontTx/>
                <a:buNone/>
              </a:pPr>
              <a:endParaRPr lang="zh-CN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87053" name="Rectangle 6"/>
            <p:cNvSpPr>
              <a:spLocks noChangeArrowheads="1"/>
            </p:cNvSpPr>
            <p:nvPr/>
          </p:nvSpPr>
          <p:spPr bwMode="auto">
            <a:xfrm>
              <a:off x="2279" y="2395"/>
              <a:ext cx="336" cy="288"/>
            </a:xfrm>
            <a:prstGeom prst="rect">
              <a:avLst/>
            </a:prstGeom>
            <a:solidFill>
              <a:srgbClr val="00FFCC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>
                  <a:srgbClr val="000000"/>
                </a:buClr>
                <a:buFontTx/>
                <a:buNone/>
              </a:pPr>
              <a:endParaRPr lang="zh-CN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87054" name="Rectangle 7"/>
            <p:cNvSpPr>
              <a:spLocks noChangeArrowheads="1"/>
            </p:cNvSpPr>
            <p:nvPr/>
          </p:nvSpPr>
          <p:spPr bwMode="auto">
            <a:xfrm>
              <a:off x="3047" y="2395"/>
              <a:ext cx="336" cy="288"/>
            </a:xfrm>
            <a:prstGeom prst="rect">
              <a:avLst/>
            </a:prstGeom>
            <a:solidFill>
              <a:srgbClr val="00FFCC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>
                  <a:srgbClr val="000000"/>
                </a:buClr>
                <a:buFontTx/>
                <a:buNone/>
              </a:pPr>
              <a:endParaRPr lang="zh-CN" altLang="en-US" sz="1800">
                <a:latin typeface="Arial" panose="020B0604020202020204" pitchFamily="34" charset="0"/>
              </a:endParaRPr>
            </a:p>
          </p:txBody>
        </p:sp>
        <p:sp>
          <p:nvSpPr>
            <p:cNvPr id="87055" name="Line 8"/>
            <p:cNvSpPr>
              <a:spLocks noChangeShapeType="1"/>
            </p:cNvSpPr>
            <p:nvPr/>
          </p:nvSpPr>
          <p:spPr bwMode="auto">
            <a:xfrm>
              <a:off x="887" y="2539"/>
              <a:ext cx="62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7056" name="Line 9"/>
            <p:cNvSpPr>
              <a:spLocks noChangeShapeType="1"/>
            </p:cNvSpPr>
            <p:nvPr/>
          </p:nvSpPr>
          <p:spPr bwMode="auto">
            <a:xfrm>
              <a:off x="1847" y="2539"/>
              <a:ext cx="4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7057" name="Line 10"/>
            <p:cNvSpPr>
              <a:spLocks noChangeShapeType="1"/>
            </p:cNvSpPr>
            <p:nvPr/>
          </p:nvSpPr>
          <p:spPr bwMode="auto">
            <a:xfrm>
              <a:off x="2615" y="2539"/>
              <a:ext cx="4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7058" name="Line 11"/>
            <p:cNvSpPr>
              <a:spLocks noChangeShapeType="1"/>
            </p:cNvSpPr>
            <p:nvPr/>
          </p:nvSpPr>
          <p:spPr bwMode="auto">
            <a:xfrm>
              <a:off x="3383" y="2539"/>
              <a:ext cx="4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7059" name="Text Box 12"/>
            <p:cNvSpPr txBox="1">
              <a:spLocks noChangeArrowheads="1"/>
            </p:cNvSpPr>
            <p:nvPr/>
          </p:nvSpPr>
          <p:spPr bwMode="auto">
            <a:xfrm>
              <a:off x="1559" y="2395"/>
              <a:ext cx="14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>
                  <a:srgbClr val="000000"/>
                </a:buClr>
                <a:buFontTx/>
                <a:buNone/>
              </a:pPr>
              <a:r>
                <a:rPr lang="en-US" altLang="zh-CN" sz="1800">
                  <a:latin typeface="Arial" panose="020B0604020202020204" pitchFamily="34" charset="0"/>
                </a:rPr>
                <a:t>1</a:t>
              </a:r>
            </a:p>
          </p:txBody>
        </p:sp>
        <p:sp>
          <p:nvSpPr>
            <p:cNvPr id="87060" name="Text Box 13"/>
            <p:cNvSpPr txBox="1">
              <a:spLocks noChangeArrowheads="1"/>
            </p:cNvSpPr>
            <p:nvPr/>
          </p:nvSpPr>
          <p:spPr bwMode="auto">
            <a:xfrm>
              <a:off x="2327" y="2395"/>
              <a:ext cx="14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>
                  <a:srgbClr val="000000"/>
                </a:buClr>
                <a:buFontTx/>
                <a:buNone/>
              </a:pPr>
              <a:r>
                <a:rPr lang="en-US" altLang="zh-CN" sz="1800">
                  <a:latin typeface="Arial" panose="020B0604020202020204" pitchFamily="34" charset="0"/>
                </a:rPr>
                <a:t>2</a:t>
              </a:r>
            </a:p>
          </p:txBody>
        </p:sp>
        <p:sp>
          <p:nvSpPr>
            <p:cNvPr id="87061" name="Text Box 14"/>
            <p:cNvSpPr txBox="1">
              <a:spLocks noChangeArrowheads="1"/>
            </p:cNvSpPr>
            <p:nvPr/>
          </p:nvSpPr>
          <p:spPr bwMode="auto">
            <a:xfrm>
              <a:off x="3095" y="2395"/>
              <a:ext cx="14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>
                  <a:srgbClr val="000000"/>
                </a:buClr>
                <a:buFontTx/>
                <a:buNone/>
              </a:pPr>
              <a:r>
                <a:rPr lang="en-US" altLang="zh-CN" sz="1800">
                  <a:latin typeface="Arial" panose="020B0604020202020204" pitchFamily="34" charset="0"/>
                </a:rPr>
                <a:t>3</a:t>
              </a:r>
            </a:p>
          </p:txBody>
        </p:sp>
        <p:sp>
          <p:nvSpPr>
            <p:cNvPr id="87062" name="Text Box 15"/>
            <p:cNvSpPr txBox="1">
              <a:spLocks noChangeArrowheads="1"/>
            </p:cNvSpPr>
            <p:nvPr/>
          </p:nvSpPr>
          <p:spPr bwMode="auto">
            <a:xfrm>
              <a:off x="839" y="2289"/>
              <a:ext cx="816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>
                  <a:srgbClr val="000000"/>
                </a:buClr>
                <a:buFontTx/>
                <a:buNone/>
              </a:pPr>
              <a:r>
                <a:rPr lang="en-US" altLang="zh-CN" sz="2000" i="1">
                  <a:latin typeface="Arial" panose="020B0604020202020204" pitchFamily="34" charset="0"/>
                </a:rPr>
                <a:t>      S</a:t>
              </a:r>
              <a:r>
                <a:rPr lang="en-US" altLang="zh-CN" sz="2000" baseline="-25000">
                  <a:latin typeface="Arial" panose="020B0604020202020204" pitchFamily="34" charset="0"/>
                </a:rPr>
                <a:t>1</a:t>
              </a:r>
              <a:endParaRPr lang="en-US" altLang="zh-CN" sz="1800">
                <a:latin typeface="Arial" panose="020B0604020202020204" pitchFamily="34" charset="0"/>
              </a:endParaRPr>
            </a:p>
          </p:txBody>
        </p:sp>
        <p:sp>
          <p:nvSpPr>
            <p:cNvPr id="87063" name="Line 16"/>
            <p:cNvSpPr>
              <a:spLocks noChangeShapeType="1"/>
            </p:cNvSpPr>
            <p:nvPr/>
          </p:nvSpPr>
          <p:spPr bwMode="auto">
            <a:xfrm flipV="1">
              <a:off x="1655" y="2683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7064" name="Line 17"/>
            <p:cNvSpPr>
              <a:spLocks noChangeShapeType="1"/>
            </p:cNvSpPr>
            <p:nvPr/>
          </p:nvSpPr>
          <p:spPr bwMode="auto">
            <a:xfrm flipV="1">
              <a:off x="3191" y="2683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7065" name="Line 18"/>
            <p:cNvSpPr>
              <a:spLocks noChangeShapeType="1"/>
            </p:cNvSpPr>
            <p:nvPr/>
          </p:nvSpPr>
          <p:spPr bwMode="auto">
            <a:xfrm flipV="1">
              <a:off x="2423" y="2251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7066" name="Line 19"/>
            <p:cNvSpPr>
              <a:spLocks noChangeShapeType="1"/>
            </p:cNvSpPr>
            <p:nvPr/>
          </p:nvSpPr>
          <p:spPr bwMode="auto">
            <a:xfrm flipV="1">
              <a:off x="1655" y="2251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7067" name="Line 20"/>
            <p:cNvSpPr>
              <a:spLocks noChangeShapeType="1"/>
            </p:cNvSpPr>
            <p:nvPr/>
          </p:nvSpPr>
          <p:spPr bwMode="auto">
            <a:xfrm flipV="1">
              <a:off x="2423" y="2683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7068" name="Line 21"/>
            <p:cNvSpPr>
              <a:spLocks noChangeShapeType="1"/>
            </p:cNvSpPr>
            <p:nvPr/>
          </p:nvSpPr>
          <p:spPr bwMode="auto">
            <a:xfrm flipV="1">
              <a:off x="3191" y="2251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7069" name="Text Box 22"/>
            <p:cNvSpPr txBox="1">
              <a:spLocks noChangeArrowheads="1"/>
            </p:cNvSpPr>
            <p:nvPr/>
          </p:nvSpPr>
          <p:spPr bwMode="auto">
            <a:xfrm>
              <a:off x="1559" y="2779"/>
              <a:ext cx="33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>
                  <a:srgbClr val="000000"/>
                </a:buClr>
                <a:buFontTx/>
                <a:buNone/>
              </a:pPr>
              <a:r>
                <a:rPr lang="en-US" altLang="zh-CN" sz="1800" i="1">
                  <a:latin typeface="Arial" panose="020B0604020202020204" pitchFamily="34" charset="0"/>
                </a:rPr>
                <a:t>x</a:t>
              </a:r>
              <a:r>
                <a:rPr lang="en-US" altLang="zh-CN" sz="1800" baseline="-25000">
                  <a:latin typeface="Arial" panose="020B0604020202020204" pitchFamily="34" charset="0"/>
                </a:rPr>
                <a:t>1</a:t>
              </a:r>
              <a:endParaRPr lang="en-US" altLang="zh-CN" sz="1800">
                <a:latin typeface="Arial" panose="020B0604020202020204" pitchFamily="34" charset="0"/>
              </a:endParaRPr>
            </a:p>
          </p:txBody>
        </p:sp>
        <p:sp>
          <p:nvSpPr>
            <p:cNvPr id="87070" name="Text Box 23"/>
            <p:cNvSpPr txBox="1">
              <a:spLocks noChangeArrowheads="1"/>
            </p:cNvSpPr>
            <p:nvPr/>
          </p:nvSpPr>
          <p:spPr bwMode="auto">
            <a:xfrm>
              <a:off x="2279" y="2779"/>
              <a:ext cx="33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>
                  <a:srgbClr val="000000"/>
                </a:buClr>
                <a:buFontTx/>
                <a:buNone/>
              </a:pPr>
              <a:r>
                <a:rPr lang="en-US" altLang="zh-CN" sz="1800" i="1">
                  <a:latin typeface="Arial" panose="020B0604020202020204" pitchFamily="34" charset="0"/>
                </a:rPr>
                <a:t>x</a:t>
              </a:r>
              <a:r>
                <a:rPr lang="en-US" altLang="zh-CN" sz="1800" baseline="-25000">
                  <a:latin typeface="Arial" panose="020B0604020202020204" pitchFamily="34" charset="0"/>
                </a:rPr>
                <a:t>2</a:t>
              </a:r>
              <a:endParaRPr lang="en-US" altLang="zh-CN" sz="1800">
                <a:latin typeface="Arial" panose="020B0604020202020204" pitchFamily="34" charset="0"/>
              </a:endParaRPr>
            </a:p>
          </p:txBody>
        </p:sp>
        <p:sp>
          <p:nvSpPr>
            <p:cNvPr id="87071" name="Text Box 24"/>
            <p:cNvSpPr txBox="1">
              <a:spLocks noChangeArrowheads="1"/>
            </p:cNvSpPr>
            <p:nvPr/>
          </p:nvSpPr>
          <p:spPr bwMode="auto">
            <a:xfrm>
              <a:off x="3095" y="2779"/>
              <a:ext cx="33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>
                  <a:srgbClr val="000000"/>
                </a:buClr>
                <a:buFontTx/>
                <a:buNone/>
              </a:pPr>
              <a:r>
                <a:rPr lang="en-US" altLang="zh-CN" sz="1800" i="1">
                  <a:latin typeface="Arial" panose="020B0604020202020204" pitchFamily="34" charset="0"/>
                </a:rPr>
                <a:t>x</a:t>
              </a:r>
              <a:r>
                <a:rPr lang="en-US" altLang="zh-CN" sz="1800" baseline="-25000">
                  <a:latin typeface="Arial" panose="020B0604020202020204" pitchFamily="34" charset="0"/>
                </a:rPr>
                <a:t>3</a:t>
              </a:r>
              <a:endParaRPr lang="en-US" altLang="zh-CN" sz="1800">
                <a:latin typeface="Arial" panose="020B0604020202020204" pitchFamily="34" charset="0"/>
              </a:endParaRPr>
            </a:p>
          </p:txBody>
        </p:sp>
        <p:sp>
          <p:nvSpPr>
            <p:cNvPr id="87072" name="Text Box 25"/>
            <p:cNvSpPr txBox="1">
              <a:spLocks noChangeArrowheads="1"/>
            </p:cNvSpPr>
            <p:nvPr/>
          </p:nvSpPr>
          <p:spPr bwMode="auto">
            <a:xfrm>
              <a:off x="1559" y="1963"/>
              <a:ext cx="33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>
                  <a:srgbClr val="000000"/>
                </a:buClr>
                <a:buFontTx/>
                <a:buNone/>
              </a:pPr>
              <a:r>
                <a:rPr lang="en-US" altLang="zh-CN" sz="1800" i="1">
                  <a:latin typeface="Arial" panose="020B0604020202020204" pitchFamily="34" charset="0"/>
                </a:rPr>
                <a:t>v</a:t>
              </a:r>
              <a:r>
                <a:rPr lang="en-US" altLang="zh-CN" sz="1800" baseline="-25000">
                  <a:latin typeface="Arial" panose="020B0604020202020204" pitchFamily="34" charset="0"/>
                </a:rPr>
                <a:t>1</a:t>
              </a:r>
              <a:endParaRPr lang="en-US" altLang="zh-CN" sz="1800">
                <a:latin typeface="Arial" panose="020B0604020202020204" pitchFamily="34" charset="0"/>
              </a:endParaRPr>
            </a:p>
          </p:txBody>
        </p:sp>
        <p:sp>
          <p:nvSpPr>
            <p:cNvPr id="87073" name="Text Box 26"/>
            <p:cNvSpPr txBox="1">
              <a:spLocks noChangeArrowheads="1"/>
            </p:cNvSpPr>
            <p:nvPr/>
          </p:nvSpPr>
          <p:spPr bwMode="auto">
            <a:xfrm>
              <a:off x="2279" y="1963"/>
              <a:ext cx="33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>
                  <a:srgbClr val="000000"/>
                </a:buClr>
                <a:buFontTx/>
                <a:buNone/>
              </a:pPr>
              <a:r>
                <a:rPr lang="en-US" altLang="zh-CN" sz="1800" i="1">
                  <a:latin typeface="Arial" panose="020B0604020202020204" pitchFamily="34" charset="0"/>
                </a:rPr>
                <a:t>v</a:t>
              </a:r>
              <a:r>
                <a:rPr lang="en-US" altLang="zh-CN" sz="1800" baseline="-25000">
                  <a:latin typeface="Arial" panose="020B0604020202020204" pitchFamily="34" charset="0"/>
                </a:rPr>
                <a:t>2</a:t>
              </a:r>
              <a:endParaRPr lang="en-US" altLang="zh-CN" sz="1800">
                <a:latin typeface="Arial" panose="020B0604020202020204" pitchFamily="34" charset="0"/>
              </a:endParaRPr>
            </a:p>
          </p:txBody>
        </p:sp>
        <p:sp>
          <p:nvSpPr>
            <p:cNvPr id="87074" name="Text Box 27"/>
            <p:cNvSpPr txBox="1">
              <a:spLocks noChangeArrowheads="1"/>
            </p:cNvSpPr>
            <p:nvPr/>
          </p:nvSpPr>
          <p:spPr bwMode="auto">
            <a:xfrm>
              <a:off x="3047" y="1963"/>
              <a:ext cx="33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>
                  <a:srgbClr val="000000"/>
                </a:buClr>
                <a:buFontTx/>
                <a:buNone/>
              </a:pPr>
              <a:r>
                <a:rPr lang="en-US" altLang="zh-CN" sz="1800" i="1">
                  <a:latin typeface="Arial" panose="020B0604020202020204" pitchFamily="34" charset="0"/>
                </a:rPr>
                <a:t>v</a:t>
              </a:r>
              <a:r>
                <a:rPr lang="en-US" altLang="zh-CN" sz="1800" baseline="-25000">
                  <a:latin typeface="Arial" panose="020B0604020202020204" pitchFamily="34" charset="0"/>
                </a:rPr>
                <a:t>3</a:t>
              </a:r>
              <a:endParaRPr lang="en-US" altLang="zh-CN" sz="1800">
                <a:latin typeface="Arial" panose="020B0604020202020204" pitchFamily="34" charset="0"/>
              </a:endParaRPr>
            </a:p>
          </p:txBody>
        </p:sp>
        <p:sp>
          <p:nvSpPr>
            <p:cNvPr id="87075" name="Text Box 28"/>
            <p:cNvSpPr txBox="1">
              <a:spLocks noChangeArrowheads="1"/>
            </p:cNvSpPr>
            <p:nvPr/>
          </p:nvSpPr>
          <p:spPr bwMode="auto">
            <a:xfrm>
              <a:off x="1943" y="2203"/>
              <a:ext cx="33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>
                  <a:srgbClr val="000000"/>
                </a:buClr>
                <a:buFontTx/>
                <a:buNone/>
              </a:pPr>
              <a:r>
                <a:rPr lang="en-US" altLang="zh-CN" sz="1800" i="1">
                  <a:latin typeface="Arial" panose="020B0604020202020204" pitchFamily="34" charset="0"/>
                </a:rPr>
                <a:t>s</a:t>
              </a:r>
              <a:r>
                <a:rPr lang="en-US" altLang="zh-CN" sz="1800" baseline="-25000">
                  <a:latin typeface="Arial" panose="020B0604020202020204" pitchFamily="34" charset="0"/>
                </a:rPr>
                <a:t>2</a:t>
              </a:r>
              <a:endParaRPr lang="en-US" altLang="zh-CN" sz="1800">
                <a:latin typeface="Arial" panose="020B0604020202020204" pitchFamily="34" charset="0"/>
              </a:endParaRPr>
            </a:p>
          </p:txBody>
        </p:sp>
        <p:sp>
          <p:nvSpPr>
            <p:cNvPr id="87076" name="Text Box 29"/>
            <p:cNvSpPr txBox="1">
              <a:spLocks noChangeArrowheads="1"/>
            </p:cNvSpPr>
            <p:nvPr/>
          </p:nvSpPr>
          <p:spPr bwMode="auto">
            <a:xfrm>
              <a:off x="2663" y="2203"/>
              <a:ext cx="33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>
                  <a:srgbClr val="000000"/>
                </a:buClr>
                <a:buFontTx/>
                <a:buNone/>
              </a:pPr>
              <a:r>
                <a:rPr lang="en-US" altLang="zh-CN" sz="1800" i="1">
                  <a:latin typeface="Arial" panose="020B0604020202020204" pitchFamily="34" charset="0"/>
                </a:rPr>
                <a:t>s</a:t>
              </a:r>
              <a:r>
                <a:rPr lang="en-US" altLang="zh-CN" sz="1800" baseline="-25000">
                  <a:latin typeface="Arial" panose="020B0604020202020204" pitchFamily="34" charset="0"/>
                </a:rPr>
                <a:t>3</a:t>
              </a:r>
              <a:endParaRPr lang="en-US" altLang="zh-CN" sz="1800">
                <a:latin typeface="Arial" panose="020B0604020202020204" pitchFamily="34" charset="0"/>
              </a:endParaRPr>
            </a:p>
          </p:txBody>
        </p:sp>
        <p:sp>
          <p:nvSpPr>
            <p:cNvPr id="87077" name="Text Box 30"/>
            <p:cNvSpPr txBox="1">
              <a:spLocks noChangeArrowheads="1"/>
            </p:cNvSpPr>
            <p:nvPr/>
          </p:nvSpPr>
          <p:spPr bwMode="auto">
            <a:xfrm>
              <a:off x="3479" y="2203"/>
              <a:ext cx="33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>
                  <a:srgbClr val="000000"/>
                </a:buClr>
                <a:buFontTx/>
                <a:buNone/>
              </a:pPr>
              <a:r>
                <a:rPr lang="en-US" altLang="zh-CN" sz="1800" i="1">
                  <a:latin typeface="Arial" panose="020B0604020202020204" pitchFamily="34" charset="0"/>
                </a:rPr>
                <a:t>s</a:t>
              </a:r>
              <a:r>
                <a:rPr lang="en-US" altLang="zh-CN" sz="1800" baseline="-25000">
                  <a:latin typeface="Arial" panose="020B0604020202020204" pitchFamily="34" charset="0"/>
                </a:rPr>
                <a:t>4</a:t>
              </a:r>
              <a:endParaRPr lang="en-US" altLang="zh-CN" sz="1800">
                <a:latin typeface="Arial" panose="020B0604020202020204" pitchFamily="34" charset="0"/>
              </a:endParaRPr>
            </a:p>
          </p:txBody>
        </p:sp>
      </p:grpSp>
      <p:sp>
        <p:nvSpPr>
          <p:cNvPr id="40" name="Rectangle 2"/>
          <p:cNvSpPr txBox="1">
            <a:spLocks noChangeArrowheads="1"/>
          </p:cNvSpPr>
          <p:nvPr/>
        </p:nvSpPr>
        <p:spPr bwMode="auto">
          <a:xfrm>
            <a:off x="650875" y="914400"/>
            <a:ext cx="5445125" cy="620713"/>
          </a:xfrm>
          <a:prstGeom prst="rect">
            <a:avLst/>
          </a:prstGeom>
          <a:noFill/>
          <a:ln>
            <a:noFill/>
          </a:ln>
        </p:spPr>
        <p:txBody>
          <a:bodyPr anchor="b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2800" b="1" u="sng" kern="0" dirty="0">
                <a:solidFill>
                  <a:schemeClr val="hlink"/>
                </a:solidFill>
              </a:rPr>
              <a:t>动态规划的求解方法</a:t>
            </a:r>
            <a:r>
              <a:rPr lang="en-US" altLang="zh-CN" sz="2800" b="1" u="sng" kern="0" dirty="0">
                <a:solidFill>
                  <a:schemeClr val="hlink"/>
                </a:solidFill>
              </a:rPr>
              <a:t>—</a:t>
            </a:r>
            <a:r>
              <a:rPr lang="zh-CN" altLang="en-US" sz="2400" b="1" u="sng" kern="0" dirty="0">
                <a:solidFill>
                  <a:srgbClr val="C00000"/>
                </a:solidFill>
              </a:rPr>
              <a:t>算例</a:t>
            </a:r>
            <a:r>
              <a:rPr lang="en-US" altLang="zh-CN" sz="2400" b="1" u="sng" kern="0" dirty="0">
                <a:solidFill>
                  <a:srgbClr val="C00000"/>
                </a:solidFill>
              </a:rPr>
              <a:t>3</a:t>
            </a:r>
            <a:endParaRPr lang="zh-CN" altLang="en-US" sz="2400" b="1" u="sng" kern="0" dirty="0">
              <a:solidFill>
                <a:srgbClr val="C00000"/>
              </a:solidFill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762000" y="3581400"/>
            <a:ext cx="4572000" cy="98425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>
            <a:spAutoFit/>
          </a:bodyPr>
          <a:lstStyle/>
          <a:p>
            <a:pPr algn="just" eaLnBrk="1" hangingPunct="1">
              <a:lnSpc>
                <a:spcPct val="140000"/>
              </a:lnSpc>
              <a:buClr>
                <a:srgbClr val="000000"/>
              </a:buClr>
              <a:defRPr/>
            </a:pPr>
            <a:r>
              <a:rPr lang="zh-CN" altLang="en-US" sz="2200" b="1" u="sng" dirty="0">
                <a:latin typeface="Times New Roman" panose="02020603050405020304" pitchFamily="18" charset="0"/>
              </a:rPr>
              <a:t>解</a:t>
            </a:r>
            <a:r>
              <a:rPr lang="zh-CN" altLang="en-US" sz="2200" b="1" dirty="0">
                <a:latin typeface="Times New Roman" panose="02020603050405020304" pitchFamily="18" charset="0"/>
              </a:rPr>
              <a:t> </a:t>
            </a:r>
            <a:r>
              <a:rPr lang="en-US" altLang="zh-CN" sz="2200" b="1" dirty="0">
                <a:latin typeface="Times New Roman" panose="02020603050405020304" pitchFamily="18" charset="0"/>
              </a:rPr>
              <a:t>: </a:t>
            </a:r>
            <a:r>
              <a:rPr lang="zh-CN" altLang="en-US" sz="2200" b="1" dirty="0">
                <a:latin typeface="Times New Roman" panose="02020603050405020304" pitchFamily="18" charset="0"/>
              </a:rPr>
              <a:t>按问题的变量个数划分阶段，把它看作为一个三阶段决策问题。</a:t>
            </a:r>
          </a:p>
        </p:txBody>
      </p:sp>
      <p:pic>
        <p:nvPicPr>
          <p:cNvPr id="87051" name="Picture 19" descr="8g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9000" y="41275"/>
            <a:ext cx="5634038" cy="949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4" name="对象 3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6019800" y="4114800"/>
          <a:ext cx="2021840" cy="1847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800100" imgH="939800" progId="Equation.DSMT4">
                  <p:embed/>
                </p:oleObj>
              </mc:Choice>
              <mc:Fallback>
                <p:oleObj name="Equation" r:id="rId5" imgW="800100" imgH="939800" progId="Equation.DSMT4">
                  <p:embed/>
                  <p:pic>
                    <p:nvPicPr>
                      <p:cNvPr id="0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19800" y="4114800"/>
                        <a:ext cx="2021840" cy="1847850"/>
                      </a:xfrm>
                      <a:prstGeom prst="rect">
                        <a:avLst/>
                      </a:prstGeom>
                      <a:solidFill>
                        <a:schemeClr val="accent5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圆角矩形 2"/>
          <p:cNvSpPr/>
          <p:nvPr/>
        </p:nvSpPr>
        <p:spPr>
          <a:xfrm>
            <a:off x="1150938" y="4627563"/>
            <a:ext cx="7308850" cy="1538287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buClr>
                <a:srgbClr val="000000"/>
              </a:buClr>
              <a:buSzPct val="100000"/>
              <a:defRPr/>
            </a:pPr>
            <a:endParaRPr lang="zh-CN" altLang="en-US"/>
          </a:p>
        </p:txBody>
      </p:sp>
      <p:sp>
        <p:nvSpPr>
          <p:cNvPr id="88067" name="Rectangle 3"/>
          <p:cNvSpPr>
            <a:spLocks noChangeArrowheads="1"/>
          </p:cNvSpPr>
          <p:nvPr/>
        </p:nvSpPr>
        <p:spPr bwMode="auto">
          <a:xfrm>
            <a:off x="0" y="1349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>
                <a:srgbClr val="000000"/>
              </a:buClr>
              <a:buFontTx/>
              <a:buNone/>
            </a:pPr>
            <a:endParaRPr lang="zh-CN" altLang="en-US" sz="1800">
              <a:latin typeface="Arial" panose="020B0604020202020204" pitchFamily="34" charset="0"/>
            </a:endParaRPr>
          </a:p>
        </p:txBody>
      </p:sp>
      <p:sp>
        <p:nvSpPr>
          <p:cNvPr id="88068" name="Rectangle 4"/>
          <p:cNvSpPr>
            <a:spLocks noChangeArrowheads="1"/>
          </p:cNvSpPr>
          <p:nvPr/>
        </p:nvSpPr>
        <p:spPr bwMode="auto">
          <a:xfrm>
            <a:off x="609600" y="1604963"/>
            <a:ext cx="7993063" cy="2879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40000"/>
              </a:lnSpc>
              <a:spcBef>
                <a:spcPct val="0"/>
              </a:spcBef>
              <a:buClr>
                <a:srgbClr val="000000"/>
              </a:buClr>
              <a:buFontTx/>
              <a:buNone/>
            </a:pPr>
            <a:r>
              <a:rPr lang="zh-CN" altLang="en-US" sz="2200" b="1" u="sng" dirty="0">
                <a:latin typeface="Times New Roman" panose="02020603050405020304" pitchFamily="18" charset="0"/>
              </a:rPr>
              <a:t>解</a:t>
            </a:r>
            <a:r>
              <a:rPr lang="zh-CN" altLang="en-US" sz="2200" b="1" dirty="0">
                <a:latin typeface="Times New Roman" panose="02020603050405020304" pitchFamily="18" charset="0"/>
              </a:rPr>
              <a:t> </a:t>
            </a:r>
            <a:r>
              <a:rPr lang="en-US" altLang="zh-CN" sz="2200" b="1" dirty="0">
                <a:latin typeface="Times New Roman" panose="02020603050405020304" pitchFamily="18" charset="0"/>
              </a:rPr>
              <a:t>: </a:t>
            </a:r>
            <a:r>
              <a:rPr lang="zh-CN" altLang="en-US" sz="2200" b="1" dirty="0">
                <a:latin typeface="Times New Roman" panose="02020603050405020304" pitchFamily="18" charset="0"/>
              </a:rPr>
              <a:t>按问题的变量个数划分阶段，把它看作为一个三阶段决策问题。</a:t>
            </a:r>
          </a:p>
          <a:p>
            <a:pPr algn="just" eaLnBrk="1" hangingPunct="1">
              <a:lnSpc>
                <a:spcPct val="140000"/>
              </a:lnSpc>
              <a:spcBef>
                <a:spcPct val="0"/>
              </a:spcBef>
              <a:buClr>
                <a:srgbClr val="000000"/>
              </a:buClr>
              <a:buFontTx/>
              <a:buNone/>
            </a:pPr>
            <a:r>
              <a:rPr lang="zh-CN" altLang="en-US" sz="2200" b="1" dirty="0">
                <a:latin typeface="Times New Roman" panose="02020603050405020304" pitchFamily="18" charset="0"/>
              </a:rPr>
              <a:t>        设</a:t>
            </a:r>
            <a:r>
              <a:rPr lang="zh-CN" altLang="en-US" sz="22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状态变量</a:t>
            </a:r>
            <a:r>
              <a:rPr lang="zh-CN" altLang="en-US" sz="2200" b="1" dirty="0">
                <a:latin typeface="Times New Roman" panose="02020603050405020304" pitchFamily="18" charset="0"/>
              </a:rPr>
              <a:t>为</a:t>
            </a:r>
            <a:r>
              <a:rPr lang="en-US" altLang="zh-CN" sz="2200" b="1" i="1" dirty="0">
                <a:latin typeface="Times New Roman" panose="02020603050405020304" pitchFamily="18" charset="0"/>
              </a:rPr>
              <a:t>s</a:t>
            </a:r>
            <a:r>
              <a:rPr lang="en-US" altLang="zh-CN" sz="2200" b="1" baseline="-25000" dirty="0">
                <a:latin typeface="Times New Roman" panose="02020603050405020304" pitchFamily="18" charset="0"/>
              </a:rPr>
              <a:t>1</a:t>
            </a:r>
            <a:r>
              <a:rPr lang="zh-CN" altLang="en-US" sz="2200" b="1" dirty="0">
                <a:latin typeface="Times New Roman" panose="02020603050405020304" pitchFamily="18" charset="0"/>
              </a:rPr>
              <a:t>，</a:t>
            </a:r>
            <a:r>
              <a:rPr lang="en-US" altLang="zh-CN" sz="2200" b="1" i="1" dirty="0">
                <a:latin typeface="Times New Roman" panose="02020603050405020304" pitchFamily="18" charset="0"/>
              </a:rPr>
              <a:t>s</a:t>
            </a:r>
            <a:r>
              <a:rPr lang="en-US" altLang="zh-CN" sz="2200" b="1" baseline="-25000" dirty="0">
                <a:latin typeface="Times New Roman" panose="02020603050405020304" pitchFamily="18" charset="0"/>
              </a:rPr>
              <a:t>2</a:t>
            </a:r>
            <a:r>
              <a:rPr lang="zh-CN" altLang="en-US" sz="2200" b="1" dirty="0">
                <a:latin typeface="Times New Roman" panose="02020603050405020304" pitchFamily="18" charset="0"/>
              </a:rPr>
              <a:t>，</a:t>
            </a:r>
            <a:r>
              <a:rPr lang="en-US" altLang="zh-CN" sz="2200" b="1" i="1" dirty="0">
                <a:latin typeface="Times New Roman" panose="02020603050405020304" pitchFamily="18" charset="0"/>
              </a:rPr>
              <a:t>s</a:t>
            </a:r>
            <a:r>
              <a:rPr lang="en-US" altLang="zh-CN" sz="2200" b="1" baseline="-25000" dirty="0">
                <a:latin typeface="Times New Roman" panose="02020603050405020304" pitchFamily="18" charset="0"/>
              </a:rPr>
              <a:t>3</a:t>
            </a:r>
            <a:r>
              <a:rPr lang="zh-CN" altLang="en-US" sz="2200" b="1" dirty="0">
                <a:latin typeface="Times New Roman" panose="02020603050405020304" pitchFamily="18" charset="0"/>
              </a:rPr>
              <a:t>和</a:t>
            </a:r>
            <a:r>
              <a:rPr lang="en-US" altLang="zh-CN" sz="2200" b="1" i="1" dirty="0">
                <a:latin typeface="Times New Roman" panose="02020603050405020304" pitchFamily="18" charset="0"/>
              </a:rPr>
              <a:t>s</a:t>
            </a:r>
            <a:r>
              <a:rPr lang="en-US" altLang="zh-CN" sz="2200" b="1" baseline="-25000" dirty="0">
                <a:latin typeface="Times New Roman" panose="02020603050405020304" pitchFamily="18" charset="0"/>
              </a:rPr>
              <a:t>4</a:t>
            </a:r>
            <a:r>
              <a:rPr lang="zh-CN" altLang="en-US" sz="2200" b="1" dirty="0">
                <a:latin typeface="Times New Roman" panose="02020603050405020304" pitchFamily="18" charset="0"/>
              </a:rPr>
              <a:t>，并记</a:t>
            </a:r>
            <a:r>
              <a:rPr lang="en-US" altLang="zh-CN" sz="2200" b="1" i="1" dirty="0">
                <a:latin typeface="Times New Roman" panose="02020603050405020304" pitchFamily="18" charset="0"/>
              </a:rPr>
              <a:t>s</a:t>
            </a:r>
            <a:r>
              <a:rPr lang="en-US" altLang="zh-CN" sz="2200" b="1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sz="2200" b="1" dirty="0">
                <a:latin typeface="Times New Roman" panose="02020603050405020304" pitchFamily="18" charset="0"/>
              </a:rPr>
              <a:t>=c</a:t>
            </a:r>
            <a:r>
              <a:rPr lang="zh-CN" altLang="en-US" sz="2200" b="1" dirty="0">
                <a:latin typeface="Times New Roman" panose="02020603050405020304" pitchFamily="18" charset="0"/>
              </a:rPr>
              <a:t>；取问题中的变量</a:t>
            </a:r>
            <a:r>
              <a:rPr lang="en-US" altLang="zh-CN" sz="22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2200" b="1" baseline="-25000" dirty="0">
                <a:latin typeface="Times New Roman" panose="02020603050405020304" pitchFamily="18" charset="0"/>
              </a:rPr>
              <a:t>1</a:t>
            </a:r>
            <a:r>
              <a:rPr lang="zh-CN" altLang="en-US" sz="2200" b="1" dirty="0">
                <a:latin typeface="Times New Roman" panose="02020603050405020304" pitchFamily="18" charset="0"/>
              </a:rPr>
              <a:t>，</a:t>
            </a:r>
            <a:r>
              <a:rPr lang="en-US" altLang="zh-CN" sz="22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2200" b="1" baseline="-25000" dirty="0">
                <a:latin typeface="Times New Roman" panose="02020603050405020304" pitchFamily="18" charset="0"/>
              </a:rPr>
              <a:t>2</a:t>
            </a:r>
            <a:r>
              <a:rPr lang="zh-CN" altLang="en-US" sz="2200" b="1" dirty="0">
                <a:latin typeface="Times New Roman" panose="02020603050405020304" pitchFamily="18" charset="0"/>
              </a:rPr>
              <a:t>和</a:t>
            </a:r>
            <a:r>
              <a:rPr lang="en-US" altLang="zh-CN" sz="22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2200" b="1" baseline="-25000" dirty="0">
                <a:latin typeface="Times New Roman" panose="02020603050405020304" pitchFamily="18" charset="0"/>
              </a:rPr>
              <a:t>3</a:t>
            </a:r>
            <a:r>
              <a:rPr lang="zh-CN" altLang="en-US" sz="2200" b="1" dirty="0">
                <a:latin typeface="Times New Roman" panose="02020603050405020304" pitchFamily="18" charset="0"/>
              </a:rPr>
              <a:t>为</a:t>
            </a:r>
            <a:r>
              <a:rPr lang="zh-CN" altLang="en-US" sz="22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决策变量</a:t>
            </a:r>
            <a:r>
              <a:rPr lang="zh-CN" altLang="en-US" sz="2200" b="1" dirty="0">
                <a:latin typeface="Times New Roman" panose="02020603050405020304" pitchFamily="18" charset="0"/>
              </a:rPr>
              <a:t>；各阶段</a:t>
            </a:r>
            <a:r>
              <a:rPr lang="zh-CN" altLang="en-US" sz="2200" b="1" dirty="0">
                <a:solidFill>
                  <a:srgbClr val="C00000"/>
                </a:solidFill>
                <a:latin typeface="Times New Roman" panose="02020603050405020304" pitchFamily="18" charset="0"/>
              </a:rPr>
              <a:t>指标函数</a:t>
            </a:r>
            <a:r>
              <a:rPr lang="zh-CN" altLang="en-US" sz="2200" b="1" dirty="0">
                <a:latin typeface="Times New Roman" panose="02020603050405020304" pitchFamily="18" charset="0"/>
              </a:rPr>
              <a:t>按</a:t>
            </a:r>
            <a:r>
              <a:rPr lang="zh-CN" altLang="en-US" sz="2200" b="1" dirty="0">
                <a:solidFill>
                  <a:srgbClr val="C00000"/>
                </a:solidFill>
                <a:latin typeface="Times New Roman" panose="02020603050405020304" pitchFamily="18" charset="0"/>
              </a:rPr>
              <a:t>乘积</a:t>
            </a:r>
            <a:r>
              <a:rPr lang="zh-CN" altLang="en-US" sz="2200" b="1" dirty="0">
                <a:latin typeface="Times New Roman" panose="02020603050405020304" pitchFamily="18" charset="0"/>
              </a:rPr>
              <a:t>方式结合。令最优值函数</a:t>
            </a:r>
            <a:r>
              <a:rPr lang="en-US" altLang="zh-CN" sz="2200" b="1" i="1" dirty="0" err="1">
                <a:latin typeface="Times New Roman" panose="02020603050405020304" pitchFamily="18" charset="0"/>
              </a:rPr>
              <a:t>f</a:t>
            </a:r>
            <a:r>
              <a:rPr lang="en-US" altLang="zh-CN" sz="2200" b="1" i="1" baseline="-25000" dirty="0" err="1">
                <a:latin typeface="Times New Roman" panose="02020603050405020304" pitchFamily="18" charset="0"/>
              </a:rPr>
              <a:t>k</a:t>
            </a:r>
            <a:r>
              <a:rPr lang="en-US" altLang="zh-CN" sz="2200" b="1" dirty="0">
                <a:latin typeface="Times New Roman" panose="02020603050405020304" pitchFamily="18" charset="0"/>
              </a:rPr>
              <a:t>(</a:t>
            </a:r>
            <a:r>
              <a:rPr lang="en-US" altLang="zh-CN" sz="2200" b="1" i="1" dirty="0" err="1">
                <a:latin typeface="Times New Roman" panose="02020603050405020304" pitchFamily="18" charset="0"/>
              </a:rPr>
              <a:t>s</a:t>
            </a:r>
            <a:r>
              <a:rPr lang="en-US" altLang="zh-CN" sz="2200" b="1" i="1" baseline="-25000" dirty="0" err="1">
                <a:latin typeface="Times New Roman" panose="02020603050405020304" pitchFamily="18" charset="0"/>
              </a:rPr>
              <a:t>k</a:t>
            </a:r>
            <a:r>
              <a:rPr lang="en-US" altLang="zh-CN" sz="2200" b="1" dirty="0">
                <a:latin typeface="Times New Roman" panose="02020603050405020304" pitchFamily="18" charset="0"/>
              </a:rPr>
              <a:t>)</a:t>
            </a:r>
            <a:r>
              <a:rPr lang="zh-CN" altLang="en-US" sz="2200" b="1" dirty="0">
                <a:latin typeface="Times New Roman" panose="02020603050405020304" pitchFamily="18" charset="0"/>
              </a:rPr>
              <a:t>表示为第</a:t>
            </a:r>
            <a:r>
              <a:rPr lang="en-US" altLang="zh-CN" sz="2200" b="1" i="1" dirty="0">
                <a:latin typeface="Times New Roman" panose="02020603050405020304" pitchFamily="18" charset="0"/>
              </a:rPr>
              <a:t>k</a:t>
            </a:r>
            <a:r>
              <a:rPr lang="zh-CN" altLang="en-US" sz="2200" b="1" dirty="0">
                <a:latin typeface="Times New Roman" panose="02020603050405020304" pitchFamily="18" charset="0"/>
              </a:rPr>
              <a:t>阶段的初始状态为</a:t>
            </a:r>
            <a:r>
              <a:rPr lang="en-US" altLang="zh-CN" sz="2200" b="1" i="1" dirty="0" err="1">
                <a:latin typeface="Times New Roman" panose="02020603050405020304" pitchFamily="18" charset="0"/>
              </a:rPr>
              <a:t>s</a:t>
            </a:r>
            <a:r>
              <a:rPr lang="en-US" altLang="zh-CN" sz="2200" b="1" i="1" baseline="-25000" dirty="0" err="1">
                <a:latin typeface="Times New Roman" panose="02020603050405020304" pitchFamily="18" charset="0"/>
              </a:rPr>
              <a:t>k</a:t>
            </a:r>
            <a:r>
              <a:rPr lang="zh-CN" altLang="en-US" sz="2200" b="1" dirty="0">
                <a:latin typeface="Times New Roman" panose="02020603050405020304" pitchFamily="18" charset="0"/>
              </a:rPr>
              <a:t>，从</a:t>
            </a:r>
            <a:r>
              <a:rPr lang="en-US" altLang="zh-CN" sz="2200" b="1" i="1" dirty="0">
                <a:latin typeface="Times New Roman" panose="02020603050405020304" pitchFamily="18" charset="0"/>
              </a:rPr>
              <a:t>k</a:t>
            </a:r>
            <a:r>
              <a:rPr lang="zh-CN" altLang="en-US" sz="2200" b="1" dirty="0">
                <a:latin typeface="Times New Roman" panose="02020603050405020304" pitchFamily="18" charset="0"/>
              </a:rPr>
              <a:t>阶段到</a:t>
            </a:r>
            <a:r>
              <a:rPr lang="en-US" altLang="zh-CN" sz="2200" b="1" dirty="0">
                <a:latin typeface="Times New Roman" panose="02020603050405020304" pitchFamily="18" charset="0"/>
              </a:rPr>
              <a:t>3</a:t>
            </a:r>
            <a:r>
              <a:rPr lang="zh-CN" altLang="en-US" sz="2200" b="1" dirty="0">
                <a:latin typeface="Times New Roman" panose="02020603050405020304" pitchFamily="18" charset="0"/>
              </a:rPr>
              <a:t>阶段所得到的最大值。</a:t>
            </a:r>
          </a:p>
        </p:txBody>
      </p:sp>
      <p:sp>
        <p:nvSpPr>
          <p:cNvPr id="88069" name="灯片编号占位符 2"/>
          <p:cNvSpPr>
            <a:spLocks noGrp="1" noChangeArrowheads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>
                <a:srgbClr val="000000"/>
              </a:buClr>
              <a:buFontTx/>
              <a:buNone/>
            </a:pPr>
            <a:fld id="{35DD6867-B27C-48D1-9337-E89972721E07}" type="slidenum">
              <a:rPr lang="zh-CN" altLang="zh-CN" sz="1400">
                <a:latin typeface="Arial" panose="020B0604020202020204" pitchFamily="34" charset="0"/>
              </a:rPr>
              <a:t>10</a:t>
            </a:fld>
            <a:endParaRPr lang="en-US" altLang="zh-CN" sz="1400">
              <a:latin typeface="Arial" panose="020B0604020202020204" pitchFamily="34" charset="0"/>
            </a:endParaRPr>
          </a:p>
        </p:txBody>
      </p:sp>
      <p:pic>
        <p:nvPicPr>
          <p:cNvPr id="9" name="Picture 4" descr="7127870731398087791833"/>
          <p:cNvPicPr>
            <a:picLocks noChangeAspect="1" noChangeArrowheads="1"/>
          </p:cNvPicPr>
          <p:nvPr/>
        </p:nvPicPr>
        <p:blipFill>
          <a:blip r:embed="rId2">
            <a:duotone>
              <a:schemeClr val="accent4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2005185" y="4765576"/>
            <a:ext cx="5473700" cy="625475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88071" name="Rectangle 6"/>
          <p:cNvSpPr>
            <a:spLocks noChangeArrowheads="1"/>
          </p:cNvSpPr>
          <p:nvPr/>
        </p:nvSpPr>
        <p:spPr bwMode="auto">
          <a:xfrm>
            <a:off x="1333500" y="4848225"/>
            <a:ext cx="671513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>
                <a:srgbClr val="000000"/>
              </a:buClr>
              <a:buFontTx/>
              <a:buNone/>
            </a:pPr>
            <a:r>
              <a:rPr lang="zh-CN" altLang="en-US" sz="2400" b="1">
                <a:solidFill>
                  <a:srgbClr val="FF0000"/>
                </a:solidFill>
                <a:latin typeface="Times New Roman" panose="02020603050405020304" pitchFamily="18" charset="0"/>
              </a:rPr>
              <a:t>设</a:t>
            </a:r>
            <a:endParaRPr lang="zh-CN" altLang="en-US" sz="2400" b="1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88072" name="Rectangle 7"/>
          <p:cNvSpPr>
            <a:spLocks noChangeArrowheads="1"/>
          </p:cNvSpPr>
          <p:nvPr/>
        </p:nvSpPr>
        <p:spPr bwMode="auto">
          <a:xfrm>
            <a:off x="1333500" y="5462588"/>
            <a:ext cx="1031875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>
                <a:srgbClr val="000000"/>
              </a:buClr>
              <a:buFontTx/>
              <a:buNone/>
            </a:pPr>
            <a:r>
              <a:rPr lang="zh-CN" altLang="en-US" sz="2400" b="1">
                <a:solidFill>
                  <a:srgbClr val="FF0000"/>
                </a:solidFill>
                <a:latin typeface="Times New Roman" panose="02020603050405020304" pitchFamily="18" charset="0"/>
              </a:rPr>
              <a:t>则有</a:t>
            </a:r>
            <a:endParaRPr lang="zh-CN" altLang="en-US" sz="240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pic>
        <p:nvPicPr>
          <p:cNvPr id="88073" name="Picture 1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1050" y="5429250"/>
            <a:ext cx="5734050" cy="514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4" name="Rectangle 2"/>
          <p:cNvSpPr txBox="1">
            <a:spLocks noChangeArrowheads="1"/>
          </p:cNvSpPr>
          <p:nvPr/>
        </p:nvSpPr>
        <p:spPr bwMode="auto">
          <a:xfrm>
            <a:off x="609600" y="914400"/>
            <a:ext cx="5410200" cy="620713"/>
          </a:xfrm>
          <a:prstGeom prst="rect">
            <a:avLst/>
          </a:prstGeom>
          <a:noFill/>
          <a:ln>
            <a:noFill/>
          </a:ln>
        </p:spPr>
        <p:txBody>
          <a:bodyPr anchor="b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2800" b="1" u="sng" kern="0" dirty="0">
                <a:solidFill>
                  <a:schemeClr val="hlink"/>
                </a:solidFill>
              </a:rPr>
              <a:t>动态规划的求解方法</a:t>
            </a:r>
            <a:r>
              <a:rPr lang="zh-CN" altLang="en-US" sz="2400" b="1" u="sng" kern="0" dirty="0">
                <a:solidFill>
                  <a:srgbClr val="0070C0"/>
                </a:solidFill>
              </a:rPr>
              <a:t>（</a:t>
            </a:r>
            <a:r>
              <a:rPr lang="zh-CN" altLang="en-US" sz="2400" b="1" u="sng" kern="0" dirty="0">
                <a:solidFill>
                  <a:srgbClr val="C00000"/>
                </a:solidFill>
              </a:rPr>
              <a:t>例</a:t>
            </a:r>
            <a:r>
              <a:rPr lang="en-US" altLang="zh-CN" sz="2400" b="1" u="sng" kern="0" dirty="0">
                <a:solidFill>
                  <a:srgbClr val="C00000"/>
                </a:solidFill>
              </a:rPr>
              <a:t>3</a:t>
            </a:r>
            <a:r>
              <a:rPr lang="en-US" altLang="zh-CN" sz="2400" b="1" u="sng" kern="0" dirty="0">
                <a:solidFill>
                  <a:srgbClr val="0070C0"/>
                </a:solidFill>
              </a:rPr>
              <a:t>-</a:t>
            </a:r>
            <a:r>
              <a:rPr lang="zh-CN" altLang="en-US" sz="2400" b="1" u="sng" kern="0" dirty="0">
                <a:solidFill>
                  <a:srgbClr val="0070C0"/>
                </a:solidFill>
              </a:rPr>
              <a:t>逆</a:t>
            </a:r>
            <a:r>
              <a:rPr lang="zh-CN" altLang="en-US" sz="2400" b="1" u="sng" dirty="0">
                <a:solidFill>
                  <a:srgbClr val="0070C0"/>
                </a:solidFill>
                <a:latin typeface="Times New Roman" panose="02020603050405020304" pitchFamily="18" charset="0"/>
              </a:rPr>
              <a:t>推法</a:t>
            </a:r>
            <a:r>
              <a:rPr lang="zh-CN" altLang="en-US" sz="2400" b="1" u="sng" kern="0" dirty="0">
                <a:solidFill>
                  <a:srgbClr val="0070C0"/>
                </a:solidFill>
              </a:rPr>
              <a:t>）</a:t>
            </a:r>
            <a:endParaRPr lang="zh-CN" altLang="en-US" sz="2400" b="1" u="sng" kern="0" dirty="0">
              <a:solidFill>
                <a:schemeClr val="hlink"/>
              </a:solidFill>
            </a:endParaRPr>
          </a:p>
        </p:txBody>
      </p:sp>
      <p:pic>
        <p:nvPicPr>
          <p:cNvPr id="15" name="Picture 4" descr="1114959391398087791833"/>
          <p:cNvPicPr>
            <a:picLocks noChangeAspect="1" noChangeArrowheads="1"/>
          </p:cNvPicPr>
          <p:nvPr/>
        </p:nvPicPr>
        <p:blipFill>
          <a:blip r:embed="rId4">
            <a:duotone>
              <a:schemeClr val="accent4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6032695" y="319428"/>
            <a:ext cx="3111305" cy="125263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62A8672F-F4CD-264D-DEBA-4F4E4676E3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4518" y="4109062"/>
            <a:ext cx="1800582" cy="4001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>
                <a:srgbClr val="000000"/>
              </a:buClr>
              <a:buFontTx/>
              <a:buNone/>
            </a:pPr>
            <a:r>
              <a:rPr lang="zh-CN" altLang="en-US" sz="2000" b="1" dirty="0">
                <a:solidFill>
                  <a:srgbClr val="FF0000"/>
                </a:solidFill>
                <a:latin typeface="Arial" panose="020B0604020202020204" pitchFamily="34" charset="0"/>
              </a:rPr>
              <a:t>状态转移方程</a:t>
            </a:r>
          </a:p>
        </p:txBody>
      </p:sp>
      <p:cxnSp>
        <p:nvCxnSpPr>
          <p:cNvPr id="4" name="直接箭头连接符 3">
            <a:extLst>
              <a:ext uri="{FF2B5EF4-FFF2-40B4-BE49-F238E27FC236}">
                <a16:creationId xmlns:a16="http://schemas.microsoft.com/office/drawing/2014/main" id="{44553CDF-5DA8-4301-29A2-E8D4727E2A2A}"/>
              </a:ext>
            </a:extLst>
          </p:cNvPr>
          <p:cNvCxnSpPr>
            <a:cxnSpLocks/>
          </p:cNvCxnSpPr>
          <p:nvPr/>
        </p:nvCxnSpPr>
        <p:spPr bwMode="auto">
          <a:xfrm flipH="1">
            <a:off x="5029200" y="4397518"/>
            <a:ext cx="955318" cy="36805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矩形 5">
            <a:extLst>
              <a:ext uri="{FF2B5EF4-FFF2-40B4-BE49-F238E27FC236}">
                <a16:creationId xmlns:a16="http://schemas.microsoft.com/office/drawing/2014/main" id="{87D341FE-22D4-C12C-479B-1E05B7AFD6D2}"/>
              </a:ext>
            </a:extLst>
          </p:cNvPr>
          <p:cNvSpPr/>
          <p:nvPr/>
        </p:nvSpPr>
        <p:spPr>
          <a:xfrm>
            <a:off x="7478885" y="790306"/>
            <a:ext cx="287165" cy="310879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6DFD9C0-646E-E2C7-0967-D078F4EA05F1}"/>
              </a:ext>
            </a:extLst>
          </p:cNvPr>
          <p:cNvSpPr/>
          <p:nvPr/>
        </p:nvSpPr>
        <p:spPr>
          <a:xfrm>
            <a:off x="6957834" y="753084"/>
            <a:ext cx="890766" cy="364989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B74186E-15C8-75BF-BE25-446475906313}"/>
              </a:ext>
            </a:extLst>
          </p:cNvPr>
          <p:cNvSpPr/>
          <p:nvPr/>
        </p:nvSpPr>
        <p:spPr>
          <a:xfrm>
            <a:off x="6400800" y="777563"/>
            <a:ext cx="1447800" cy="36498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圆角矩形 3"/>
          <p:cNvSpPr/>
          <p:nvPr/>
        </p:nvSpPr>
        <p:spPr>
          <a:xfrm>
            <a:off x="696913" y="3008313"/>
            <a:ext cx="8267700" cy="3459162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buClr>
                <a:srgbClr val="000000"/>
              </a:buClr>
              <a:buSzPct val="100000"/>
              <a:defRPr/>
            </a:pPr>
            <a:endParaRPr lang="zh-CN" altLang="en-US"/>
          </a:p>
        </p:txBody>
      </p:sp>
      <p:sp>
        <p:nvSpPr>
          <p:cNvPr id="3" name="圆角矩形 2"/>
          <p:cNvSpPr/>
          <p:nvPr/>
        </p:nvSpPr>
        <p:spPr>
          <a:xfrm>
            <a:off x="696913" y="2254250"/>
            <a:ext cx="6324039" cy="754063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buClr>
                <a:srgbClr val="000000"/>
              </a:buClr>
              <a:buSzPct val="100000"/>
              <a:defRPr/>
            </a:pPr>
            <a:endParaRPr lang="zh-CN" altLang="en-US"/>
          </a:p>
        </p:txBody>
      </p:sp>
      <p:sp>
        <p:nvSpPr>
          <p:cNvPr id="89092" name="Rectangle 2"/>
          <p:cNvSpPr>
            <a:spLocks noChangeArrowheads="1"/>
          </p:cNvSpPr>
          <p:nvPr/>
        </p:nvSpPr>
        <p:spPr bwMode="auto">
          <a:xfrm>
            <a:off x="4309512" y="2363291"/>
            <a:ext cx="142726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 indent="2667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indent="0" eaLnBrk="1" hangingPunct="1">
              <a:spcBef>
                <a:spcPct val="0"/>
              </a:spcBef>
              <a:buClr>
                <a:srgbClr val="000000"/>
              </a:buClr>
              <a:buFontTx/>
              <a:buNone/>
            </a:pPr>
            <a:r>
              <a:rPr lang="zh-CN" altLang="en-US" sz="2400" b="1" dirty="0">
                <a:latin typeface="Tahoma" panose="020B0604030504040204" pitchFamily="34" charset="0"/>
              </a:rPr>
              <a:t>及最优解</a:t>
            </a:r>
          </a:p>
        </p:txBody>
      </p:sp>
      <p:sp>
        <p:nvSpPr>
          <p:cNvPr id="89093" name="Rectangle 4"/>
          <p:cNvSpPr>
            <a:spLocks noChangeArrowheads="1"/>
          </p:cNvSpPr>
          <p:nvPr/>
        </p:nvSpPr>
        <p:spPr bwMode="auto">
          <a:xfrm>
            <a:off x="0" y="1349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>
                <a:srgbClr val="000000"/>
              </a:buClr>
              <a:buFontTx/>
              <a:buNone/>
            </a:pPr>
            <a:endParaRPr lang="zh-CN" altLang="en-US" sz="1800">
              <a:latin typeface="Arial" panose="020B0604020202020204" pitchFamily="34" charset="0"/>
            </a:endParaRPr>
          </a:p>
        </p:txBody>
      </p:sp>
      <p:pic>
        <p:nvPicPr>
          <p:cNvPr id="73733" name="Picture 5" descr="4882548571398087791833"/>
          <p:cNvPicPr>
            <a:picLocks noChangeAspect="1" noChangeArrowheads="1"/>
          </p:cNvPicPr>
          <p:nvPr/>
        </p:nvPicPr>
        <p:blipFill>
          <a:blip r:embed="rId2">
            <a:duotone>
              <a:schemeClr val="accent4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739145" y="2287199"/>
            <a:ext cx="3455987" cy="720725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73734" name="Picture 6" descr="7192149381398087791833"/>
          <p:cNvPicPr>
            <a:picLocks noChangeAspect="1" noChangeArrowheads="1"/>
          </p:cNvPicPr>
          <p:nvPr/>
        </p:nvPicPr>
        <p:blipFill>
          <a:blip r:embed="rId3" cstate="print">
            <a:duotone>
              <a:schemeClr val="accent4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5723161" y="2253793"/>
            <a:ext cx="1081087" cy="625475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89096" name="Rectangle 7"/>
          <p:cNvSpPr>
            <a:spLocks noChangeArrowheads="1"/>
          </p:cNvSpPr>
          <p:nvPr/>
        </p:nvSpPr>
        <p:spPr bwMode="auto">
          <a:xfrm>
            <a:off x="609600" y="1708299"/>
            <a:ext cx="422116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>
                <a:srgbClr val="000000"/>
              </a:buClr>
              <a:buFontTx/>
              <a:buNone/>
            </a:pPr>
            <a:r>
              <a:rPr lang="zh-CN" altLang="en-US" sz="2400" b="1" dirty="0">
                <a:latin typeface="Times New Roman" panose="02020603050405020304" pitchFamily="18" charset="0"/>
              </a:rPr>
              <a:t>用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逆推解法</a:t>
            </a:r>
            <a:r>
              <a:rPr lang="zh-CN" altLang="en-US" sz="2400" b="1" dirty="0">
                <a:latin typeface="Times New Roman" panose="02020603050405020304" pitchFamily="18" charset="0"/>
              </a:rPr>
              <a:t>，从后向前依次有</a:t>
            </a:r>
            <a:endParaRPr lang="zh-CN" altLang="en-US" sz="2400" b="1" dirty="0">
              <a:latin typeface="Tahoma" panose="020B0604030504040204" pitchFamily="34" charset="0"/>
            </a:endParaRPr>
          </a:p>
        </p:txBody>
      </p:sp>
      <p:pic>
        <p:nvPicPr>
          <p:cNvPr id="12" name="Picture 5" descr="9856476801398087791833"/>
          <p:cNvPicPr>
            <a:picLocks noChangeAspect="1" noChangeArrowheads="1"/>
          </p:cNvPicPr>
          <p:nvPr/>
        </p:nvPicPr>
        <p:blipFill>
          <a:blip r:embed="rId4">
            <a:duotone>
              <a:schemeClr val="accent4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697037" y="3201648"/>
            <a:ext cx="8267451" cy="719014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89098" name="Rectangle 2"/>
          <p:cNvSpPr>
            <a:spLocks noChangeArrowheads="1"/>
          </p:cNvSpPr>
          <p:nvPr/>
        </p:nvSpPr>
        <p:spPr bwMode="auto">
          <a:xfrm>
            <a:off x="1042988" y="4060825"/>
            <a:ext cx="3832225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>
                <a:srgbClr val="000000"/>
              </a:buClr>
              <a:buFontTx/>
              <a:buNone/>
            </a:pPr>
            <a:r>
              <a:rPr lang="zh-CN" altLang="en-US" sz="2400" b="1">
                <a:latin typeface="Arial" panose="020B0604020202020204" pitchFamily="34" charset="0"/>
                <a:cs typeface="Courier New" panose="02070309020205020404" pitchFamily="49" charset="0"/>
              </a:rPr>
              <a:t>由                                可得</a:t>
            </a:r>
          </a:p>
        </p:txBody>
      </p:sp>
      <p:pic>
        <p:nvPicPr>
          <p:cNvPr id="14" name="Picture 6" descr="7729217041398087791833"/>
          <p:cNvPicPr>
            <a:picLocks noChangeAspect="1" noChangeArrowheads="1"/>
          </p:cNvPicPr>
          <p:nvPr/>
        </p:nvPicPr>
        <p:blipFill>
          <a:blip r:embed="rId5">
            <a:duotone>
              <a:schemeClr val="accent4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1547664" y="3923779"/>
            <a:ext cx="2592388" cy="887412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15" name="Picture 7" descr="134544991398087791833"/>
          <p:cNvPicPr>
            <a:picLocks noChangeAspect="1" noChangeArrowheads="1"/>
          </p:cNvPicPr>
          <p:nvPr/>
        </p:nvPicPr>
        <p:blipFill>
          <a:blip r:embed="rId6">
            <a:duotone>
              <a:schemeClr val="accent4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4932040" y="3875583"/>
            <a:ext cx="2519363" cy="863600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89101" name="Rectangle 8"/>
          <p:cNvSpPr>
            <a:spLocks noChangeArrowheads="1"/>
          </p:cNvSpPr>
          <p:nvPr/>
        </p:nvSpPr>
        <p:spPr bwMode="auto">
          <a:xfrm>
            <a:off x="7451725" y="4060825"/>
            <a:ext cx="1093788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tabLst>
                <a:tab pos="2641600" algn="ctr"/>
                <a:tab pos="5270500" algn="r"/>
              </a:tabLst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tabLst>
                <a:tab pos="2641600" algn="ctr"/>
                <a:tab pos="5270500" algn="r"/>
              </a:tabLst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tabLst>
                <a:tab pos="2641600" algn="ctr"/>
                <a:tab pos="5270500" algn="r"/>
              </a:tabLst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tabLst>
                <a:tab pos="2641600" algn="ctr"/>
                <a:tab pos="5270500" algn="r"/>
              </a:tabLst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tabLst>
                <a:tab pos="2641600" algn="ctr"/>
                <a:tab pos="5270500" algn="r"/>
              </a:tabLst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tabLst>
                <a:tab pos="2641600" algn="ctr"/>
                <a:tab pos="5270500" algn="r"/>
              </a:tabLst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tabLst>
                <a:tab pos="2641600" algn="ctr"/>
                <a:tab pos="5270500" algn="r"/>
              </a:tabLst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tabLst>
                <a:tab pos="2641600" algn="ctr"/>
                <a:tab pos="5270500" algn="r"/>
              </a:tabLst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tabLst>
                <a:tab pos="2641600" algn="ctr"/>
                <a:tab pos="5270500" algn="r"/>
              </a:tabLst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>
                <a:srgbClr val="000000"/>
              </a:buClr>
              <a:buFontTx/>
              <a:buNone/>
            </a:pPr>
            <a:r>
              <a:rPr lang="zh-CN" altLang="en-US" sz="2400">
                <a:latin typeface="Arial" panose="020B0604020202020204" pitchFamily="34" charset="0"/>
                <a:cs typeface="Courier New" panose="02070309020205020404" pitchFamily="49" charset="0"/>
              </a:rPr>
              <a:t> </a:t>
            </a:r>
            <a:r>
              <a:rPr lang="en-US" altLang="zh-CN" sz="2400" b="1">
                <a:latin typeface="Times New Roman" panose="02020603050405020304" pitchFamily="18" charset="0"/>
                <a:cs typeface="Courier New" panose="02070309020205020404" pitchFamily="49" charset="0"/>
              </a:rPr>
              <a:t>(</a:t>
            </a:r>
            <a:r>
              <a:rPr lang="zh-CN" altLang="en-US" sz="2400" b="1">
                <a:latin typeface="Times New Roman" panose="02020603050405020304" pitchFamily="18" charset="0"/>
                <a:cs typeface="Courier New" panose="02070309020205020404" pitchFamily="49" charset="0"/>
              </a:rPr>
              <a:t>舍去</a:t>
            </a:r>
            <a:r>
              <a:rPr lang="en-US" altLang="zh-CN" sz="2400" b="1">
                <a:latin typeface="Times New Roman" panose="02020603050405020304" pitchFamily="18" charset="0"/>
                <a:cs typeface="Courier New" panose="02070309020205020404" pitchFamily="49" charset="0"/>
              </a:rPr>
              <a:t>)</a:t>
            </a:r>
          </a:p>
        </p:txBody>
      </p:sp>
      <p:sp>
        <p:nvSpPr>
          <p:cNvPr id="89102" name="Rectangle 2"/>
          <p:cNvSpPr>
            <a:spLocks noChangeArrowheads="1"/>
          </p:cNvSpPr>
          <p:nvPr/>
        </p:nvSpPr>
        <p:spPr bwMode="auto">
          <a:xfrm>
            <a:off x="1042988" y="5856288"/>
            <a:ext cx="4435475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>
                <a:srgbClr val="000000"/>
              </a:buClr>
              <a:buFontTx/>
              <a:buNone/>
            </a:pPr>
            <a:r>
              <a:rPr lang="zh-CN" altLang="en-US" sz="2400" b="1">
                <a:latin typeface="Times New Roman" panose="02020603050405020304" pitchFamily="18" charset="0"/>
              </a:rPr>
              <a:t>所以，           </a:t>
            </a:r>
            <a:r>
              <a:rPr lang="zh-CN" altLang="en-US" sz="2400" b="1">
                <a:latin typeface="Tahoma" panose="020B0604030504040204" pitchFamily="34" charset="0"/>
              </a:rPr>
              <a:t>为极大值点。此时</a:t>
            </a:r>
          </a:p>
        </p:txBody>
      </p:sp>
      <p:pic>
        <p:nvPicPr>
          <p:cNvPr id="18" name="Picture 5" descr="5558910491398087791833"/>
          <p:cNvPicPr>
            <a:picLocks noChangeAspect="1" noChangeArrowheads="1"/>
          </p:cNvPicPr>
          <p:nvPr/>
        </p:nvPicPr>
        <p:blipFill>
          <a:blip r:embed="rId7">
            <a:duotone>
              <a:schemeClr val="accent4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1909201" y="4817295"/>
            <a:ext cx="2921561" cy="923599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19" name="Picture 6" descr="5358576121398087791833"/>
          <p:cNvPicPr>
            <a:picLocks noChangeAspect="1" noChangeArrowheads="1"/>
          </p:cNvPicPr>
          <p:nvPr/>
        </p:nvPicPr>
        <p:blipFill>
          <a:blip r:embed="rId8" cstate="print">
            <a:duotone>
              <a:schemeClr val="accent4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1828800" y="5735538"/>
            <a:ext cx="1079500" cy="731837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20" name="Picture 7" descr="5993322621398087791833"/>
          <p:cNvPicPr>
            <a:picLocks noChangeAspect="1" noChangeArrowheads="1"/>
          </p:cNvPicPr>
          <p:nvPr/>
        </p:nvPicPr>
        <p:blipFill>
          <a:blip r:embed="rId9" cstate="print">
            <a:duotone>
              <a:schemeClr val="accent4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5475177" y="5675287"/>
            <a:ext cx="2121159" cy="791326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89106" name="Rectangle 8"/>
          <p:cNvSpPr>
            <a:spLocks noChangeArrowheads="1"/>
          </p:cNvSpPr>
          <p:nvPr/>
        </p:nvSpPr>
        <p:spPr bwMode="auto">
          <a:xfrm>
            <a:off x="1042988" y="5027613"/>
            <a:ext cx="803275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>
                <a:srgbClr val="000000"/>
              </a:buClr>
              <a:buFontTx/>
              <a:buNone/>
            </a:pPr>
            <a:r>
              <a:rPr lang="zh-CN" altLang="en-US" sz="2400" b="1">
                <a:latin typeface="Times New Roman" panose="02020603050405020304" pitchFamily="18" charset="0"/>
              </a:rPr>
              <a:t>由于</a:t>
            </a:r>
            <a:endParaRPr lang="zh-CN" altLang="en-US" sz="2400" b="1">
              <a:latin typeface="Arial" panose="020B0604020202020204" pitchFamily="34" charset="0"/>
            </a:endParaRPr>
          </a:p>
        </p:txBody>
      </p:sp>
      <p:grpSp>
        <p:nvGrpSpPr>
          <p:cNvPr id="7" name="组合 6"/>
          <p:cNvGrpSpPr/>
          <p:nvPr/>
        </p:nvGrpSpPr>
        <p:grpSpPr bwMode="auto">
          <a:xfrm>
            <a:off x="6019799" y="2443622"/>
            <a:ext cx="2878035" cy="894634"/>
            <a:chOff x="6020096" y="1997726"/>
            <a:chExt cx="2877703" cy="894644"/>
          </a:xfrm>
        </p:grpSpPr>
        <p:sp>
          <p:nvSpPr>
            <p:cNvPr id="89110" name="文本框 1"/>
            <p:cNvSpPr txBox="1">
              <a:spLocks noChangeArrowheads="1"/>
            </p:cNvSpPr>
            <p:nvPr/>
          </p:nvSpPr>
          <p:spPr bwMode="auto">
            <a:xfrm>
              <a:off x="7097425" y="1997726"/>
              <a:ext cx="1800374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>
                  <a:srgbClr val="000000"/>
                </a:buClr>
                <a:buFontTx/>
                <a:buNone/>
              </a:pPr>
              <a:r>
                <a:rPr lang="zh-CN" altLang="en-US" sz="2000" b="1" dirty="0">
                  <a:solidFill>
                    <a:srgbClr val="FF0000"/>
                  </a:solidFill>
                  <a:latin typeface="Arial" panose="020B0604020202020204" pitchFamily="34" charset="0"/>
                </a:rPr>
                <a:t>状态转移方程</a:t>
              </a:r>
            </a:p>
          </p:txBody>
        </p:sp>
        <p:cxnSp>
          <p:nvCxnSpPr>
            <p:cNvPr id="6" name="直接箭头连接符 5"/>
            <p:cNvCxnSpPr>
              <a:cxnSpLocks/>
              <a:stCxn id="89110" idx="2"/>
            </p:cNvCxnSpPr>
            <p:nvPr/>
          </p:nvCxnSpPr>
          <p:spPr>
            <a:xfrm flipH="1">
              <a:off x="6020096" y="2397836"/>
              <a:ext cx="1977516" cy="494534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89108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75746876"/>
              </p:ext>
            </p:extLst>
          </p:nvPr>
        </p:nvGraphicFramePr>
        <p:xfrm>
          <a:off x="5817183" y="296282"/>
          <a:ext cx="3268439" cy="3902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0" imgW="1917700" imgH="228600" progId="Equation.DSMT4">
                  <p:embed/>
                </p:oleObj>
              </mc:Choice>
              <mc:Fallback>
                <p:oleObj r:id="rId10" imgW="1917700" imgH="228600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17183" y="296282"/>
                        <a:ext cx="3268439" cy="390242"/>
                      </a:xfrm>
                      <a:prstGeom prst="rect">
                        <a:avLst/>
                      </a:prstGeom>
                      <a:solidFill>
                        <a:srgbClr val="BFBFBF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Rectangle 2"/>
          <p:cNvSpPr txBox="1">
            <a:spLocks noChangeArrowheads="1"/>
          </p:cNvSpPr>
          <p:nvPr/>
        </p:nvSpPr>
        <p:spPr bwMode="auto">
          <a:xfrm>
            <a:off x="559435" y="762000"/>
            <a:ext cx="5079365" cy="620713"/>
          </a:xfrm>
          <a:prstGeom prst="rect">
            <a:avLst/>
          </a:prstGeom>
          <a:noFill/>
          <a:ln>
            <a:noFill/>
          </a:ln>
        </p:spPr>
        <p:txBody>
          <a:bodyPr anchor="b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3200" b="1" u="sng" kern="0" dirty="0">
                <a:solidFill>
                  <a:schemeClr val="hlink"/>
                </a:solidFill>
              </a:rPr>
              <a:t>动态规划的求解方法</a:t>
            </a:r>
            <a:r>
              <a:rPr lang="en-US" altLang="zh-CN" sz="3200" b="1" u="sng" kern="0" dirty="0">
                <a:solidFill>
                  <a:schemeClr val="hlink"/>
                </a:solidFill>
              </a:rPr>
              <a:t>—</a:t>
            </a:r>
            <a:r>
              <a:rPr lang="zh-CN" altLang="en-US" sz="2800" b="1" u="sng" kern="0" dirty="0">
                <a:solidFill>
                  <a:srgbClr val="C00000"/>
                </a:solidFill>
              </a:rPr>
              <a:t>例</a:t>
            </a:r>
            <a:r>
              <a:rPr lang="en-US" altLang="zh-CN" sz="2800" b="1" u="sng" kern="0" dirty="0">
                <a:solidFill>
                  <a:srgbClr val="C00000"/>
                </a:solidFill>
              </a:rPr>
              <a:t>3</a:t>
            </a:r>
            <a:endParaRPr lang="zh-CN" altLang="en-US" sz="2800" b="1" u="sng" kern="0" dirty="0">
              <a:solidFill>
                <a:srgbClr val="C00000"/>
              </a:solidFill>
            </a:endParaRPr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50906606"/>
              </p:ext>
            </p:extLst>
          </p:nvPr>
        </p:nvGraphicFramePr>
        <p:xfrm>
          <a:off x="7742724" y="889002"/>
          <a:ext cx="1222936" cy="12454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685800" imgH="774065" progId="Equation.3">
                  <p:embed/>
                </p:oleObj>
              </mc:Choice>
              <mc:Fallback>
                <p:oleObj name="公式" r:id="rId12" imgW="685800" imgH="774065" progId="Equation.3">
                  <p:embed/>
                  <p:pic>
                    <p:nvPicPr>
                      <p:cNvPr id="0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42724" y="889002"/>
                        <a:ext cx="1222936" cy="1245492"/>
                      </a:xfrm>
                      <a:prstGeom prst="rect">
                        <a:avLst/>
                      </a:prstGeom>
                      <a:solidFill>
                        <a:schemeClr val="bg2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文本框 8"/>
          <p:cNvSpPr txBox="1"/>
          <p:nvPr/>
        </p:nvSpPr>
        <p:spPr>
          <a:xfrm>
            <a:off x="5352340" y="4775872"/>
            <a:ext cx="2519363" cy="646331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r>
              <a:rPr lang="zh-CN" altLang="en-US" b="0" i="0" dirty="0">
                <a:solidFill>
                  <a:srgbClr val="333333"/>
                </a:solidFill>
                <a:effectLst/>
                <a:latin typeface="zuoyeFont_mathFont, Arial"/>
              </a:rPr>
              <a:t>一阶导数为零说明</a:t>
            </a:r>
            <a:endParaRPr lang="en-US" altLang="zh-CN" b="0" i="0" dirty="0">
              <a:solidFill>
                <a:srgbClr val="333333"/>
              </a:solidFill>
              <a:effectLst/>
              <a:latin typeface="zuoyeFont_mathFont, Arial"/>
            </a:endParaRPr>
          </a:p>
          <a:p>
            <a:r>
              <a:rPr lang="zh-CN" altLang="en-US" b="0" i="0" dirty="0">
                <a:solidFill>
                  <a:srgbClr val="333333"/>
                </a:solidFill>
                <a:effectLst/>
                <a:latin typeface="zuoyeFont_mathFont, Arial"/>
              </a:rPr>
              <a:t>函数在这里可能有极值</a:t>
            </a:r>
            <a:endParaRPr lang="zh-CN" altLang="en-US" dirty="0"/>
          </a:p>
        </p:txBody>
      </p:sp>
      <p:cxnSp>
        <p:nvCxnSpPr>
          <p:cNvPr id="11" name="直接箭头连接符 10"/>
          <p:cNvCxnSpPr>
            <a:cxnSpLocks/>
          </p:cNvCxnSpPr>
          <p:nvPr/>
        </p:nvCxnSpPr>
        <p:spPr>
          <a:xfrm flipH="1" flipV="1">
            <a:off x="3581400" y="4570659"/>
            <a:ext cx="1676400" cy="4215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90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90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91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91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891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891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891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891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89098" grpId="0"/>
      <p:bldP spid="89101" grpId="0"/>
      <p:bldP spid="89102" grpId="0"/>
      <p:bldP spid="89106" grpId="0"/>
      <p:bldP spid="9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1752600" y="5105400"/>
            <a:ext cx="4800600" cy="888698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圆角矩形 2"/>
          <p:cNvSpPr/>
          <p:nvPr/>
        </p:nvSpPr>
        <p:spPr>
          <a:xfrm>
            <a:off x="763588" y="1905000"/>
            <a:ext cx="7542212" cy="244792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buClr>
                <a:srgbClr val="000000"/>
              </a:buClr>
              <a:buSzPct val="100000"/>
              <a:defRPr/>
            </a:pPr>
            <a:endParaRPr lang="zh-CN" altLang="en-US"/>
          </a:p>
        </p:txBody>
      </p:sp>
      <p:sp>
        <p:nvSpPr>
          <p:cNvPr id="90115" name="Rectangle 3"/>
          <p:cNvSpPr>
            <a:spLocks noChangeArrowheads="1"/>
          </p:cNvSpPr>
          <p:nvPr/>
        </p:nvSpPr>
        <p:spPr bwMode="auto">
          <a:xfrm>
            <a:off x="0" y="1349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>
                <a:srgbClr val="000000"/>
              </a:buClr>
              <a:buFontTx/>
              <a:buNone/>
            </a:pPr>
            <a:endParaRPr lang="zh-CN" altLang="en-US" sz="1800">
              <a:latin typeface="Arial" panose="020B0604020202020204" pitchFamily="34" charset="0"/>
            </a:endParaRPr>
          </a:p>
        </p:txBody>
      </p:sp>
      <p:pic>
        <p:nvPicPr>
          <p:cNvPr id="76804" name="Picture 4" descr="2485732361398087791833"/>
          <p:cNvPicPr>
            <a:picLocks noChangeAspect="1" noChangeArrowheads="1"/>
          </p:cNvPicPr>
          <p:nvPr/>
        </p:nvPicPr>
        <p:blipFill>
          <a:blip r:embed="rId2">
            <a:duotone>
              <a:schemeClr val="accent4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1318021" y="1976338"/>
            <a:ext cx="6574731" cy="1491976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76805" name="Picture 5" descr="450316831398087791833"/>
          <p:cNvPicPr>
            <a:picLocks noChangeAspect="1" noChangeArrowheads="1"/>
          </p:cNvPicPr>
          <p:nvPr/>
        </p:nvPicPr>
        <p:blipFill>
          <a:blip r:embed="rId3">
            <a:duotone>
              <a:schemeClr val="accent4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4004321" y="3423144"/>
            <a:ext cx="3096344" cy="819348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90118" name="Rectangle 7"/>
          <p:cNvSpPr>
            <a:spLocks noChangeArrowheads="1"/>
          </p:cNvSpPr>
          <p:nvPr/>
        </p:nvSpPr>
        <p:spPr bwMode="auto">
          <a:xfrm>
            <a:off x="1339850" y="3638550"/>
            <a:ext cx="2351088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>
                <a:srgbClr val="000000"/>
              </a:buClr>
              <a:buFontTx/>
              <a:buNone/>
            </a:pPr>
            <a:r>
              <a:rPr lang="zh-CN" altLang="en-US" sz="2400" b="1">
                <a:latin typeface="Times New Roman" panose="02020603050405020304" pitchFamily="18" charset="0"/>
              </a:rPr>
              <a:t>仿前分析，可得</a:t>
            </a:r>
            <a:endParaRPr lang="zh-CN" altLang="en-US" sz="2400" b="1">
              <a:latin typeface="Arial" panose="020B0604020202020204" pitchFamily="34" charset="0"/>
            </a:endParaRPr>
          </a:p>
        </p:txBody>
      </p:sp>
      <p:sp>
        <p:nvSpPr>
          <p:cNvPr id="90120" name="灯片编号占位符 2"/>
          <p:cNvSpPr>
            <a:spLocks noGrp="1" noChangeArrowheads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>
                <a:srgbClr val="000000"/>
              </a:buClr>
              <a:buFontTx/>
              <a:buNone/>
            </a:pPr>
            <a:fld id="{3333B988-EC78-46A8-9D8B-C749C85C365F}" type="slidenum">
              <a:rPr lang="zh-CN" altLang="zh-CN" sz="1400">
                <a:latin typeface="Arial" panose="020B0604020202020204" pitchFamily="34" charset="0"/>
              </a:rPr>
              <a:t>12</a:t>
            </a:fld>
            <a:endParaRPr lang="en-US" altLang="zh-CN" sz="1400">
              <a:latin typeface="Arial" panose="020B0604020202020204" pitchFamily="34" charset="0"/>
            </a:endParaRPr>
          </a:p>
        </p:txBody>
      </p:sp>
      <p:sp>
        <p:nvSpPr>
          <p:cNvPr id="10" name="Rectangle 2"/>
          <p:cNvSpPr txBox="1">
            <a:spLocks noChangeArrowheads="1"/>
          </p:cNvSpPr>
          <p:nvPr/>
        </p:nvSpPr>
        <p:spPr bwMode="auto">
          <a:xfrm>
            <a:off x="533400" y="914400"/>
            <a:ext cx="6816725" cy="620713"/>
          </a:xfrm>
          <a:prstGeom prst="rect">
            <a:avLst/>
          </a:prstGeom>
          <a:noFill/>
          <a:ln>
            <a:noFill/>
          </a:ln>
        </p:spPr>
        <p:txBody>
          <a:bodyPr anchor="b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3200" b="1" u="sng" kern="0" dirty="0">
                <a:solidFill>
                  <a:schemeClr val="hlink"/>
                </a:solidFill>
              </a:rPr>
              <a:t>动态规划的求解方法</a:t>
            </a:r>
            <a:r>
              <a:rPr lang="en-US" altLang="zh-CN" sz="3200" b="1" u="sng" kern="0" dirty="0">
                <a:solidFill>
                  <a:schemeClr val="hlink"/>
                </a:solidFill>
              </a:rPr>
              <a:t>—</a:t>
            </a:r>
            <a:r>
              <a:rPr lang="zh-CN" altLang="en-US" sz="3200" b="1" u="sng" kern="0" dirty="0">
                <a:solidFill>
                  <a:srgbClr val="C00000"/>
                </a:solidFill>
              </a:rPr>
              <a:t>算例</a:t>
            </a:r>
            <a:r>
              <a:rPr lang="en-US" altLang="zh-CN" sz="3200" b="1" u="sng" kern="0" dirty="0">
                <a:solidFill>
                  <a:srgbClr val="C00000"/>
                </a:solidFill>
              </a:rPr>
              <a:t>3</a:t>
            </a:r>
            <a:r>
              <a:rPr kumimoji="0" lang="zh-CN" altLang="en-US" sz="2400" b="1" i="0" u="sng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 （逆</a:t>
            </a:r>
            <a:r>
              <a:rPr kumimoji="0" lang="zh-CN" altLang="en-US" sz="2400" b="1" i="0" u="sng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推法</a:t>
            </a:r>
            <a:r>
              <a:rPr kumimoji="0" lang="zh-CN" altLang="en-US" sz="2400" b="1" i="0" u="sng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）</a:t>
            </a:r>
            <a:endParaRPr lang="zh-CN" altLang="en-US" sz="3200" b="1" u="sng" kern="0" dirty="0">
              <a:solidFill>
                <a:schemeClr val="hlink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42281" y="5181600"/>
            <a:ext cx="2401660" cy="762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00060" y="5334000"/>
            <a:ext cx="1524000" cy="463296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</p:pic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35593475"/>
              </p:ext>
            </p:extLst>
          </p:nvPr>
        </p:nvGraphicFramePr>
        <p:xfrm>
          <a:off x="7693025" y="354013"/>
          <a:ext cx="1222375" cy="1246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685800" imgH="774065" progId="Equation.DSMT4">
                  <p:embed/>
                </p:oleObj>
              </mc:Choice>
              <mc:Fallback>
                <p:oleObj name="Equation" r:id="rId6" imgW="685800" imgH="774065" progId="Equation.DSMT4">
                  <p:embed/>
                  <p:pic>
                    <p:nvPicPr>
                      <p:cNvPr id="0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93025" y="354013"/>
                        <a:ext cx="1222375" cy="1246187"/>
                      </a:xfrm>
                      <a:prstGeom prst="rect">
                        <a:avLst/>
                      </a:prstGeom>
                      <a:solidFill>
                        <a:schemeClr val="bg2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圆角矩形 3"/>
          <p:cNvSpPr/>
          <p:nvPr/>
        </p:nvSpPr>
        <p:spPr>
          <a:xfrm>
            <a:off x="1150938" y="2532063"/>
            <a:ext cx="6877050" cy="792162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buClr>
                <a:srgbClr val="000000"/>
              </a:buClr>
              <a:buSzPct val="100000"/>
              <a:defRPr/>
            </a:pPr>
            <a:endParaRPr lang="zh-CN" altLang="en-US"/>
          </a:p>
        </p:txBody>
      </p:sp>
      <p:sp>
        <p:nvSpPr>
          <p:cNvPr id="5" name="圆角矩形 4"/>
          <p:cNvSpPr/>
          <p:nvPr/>
        </p:nvSpPr>
        <p:spPr>
          <a:xfrm>
            <a:off x="1150938" y="3386138"/>
            <a:ext cx="6877050" cy="1643062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buClr>
                <a:srgbClr val="000000"/>
              </a:buClr>
              <a:buSzPct val="100000"/>
              <a:defRPr/>
            </a:pPr>
            <a:endParaRPr lang="zh-CN" altLang="en-US"/>
          </a:p>
        </p:txBody>
      </p:sp>
      <p:sp>
        <p:nvSpPr>
          <p:cNvPr id="6" name="圆角矩形 5"/>
          <p:cNvSpPr/>
          <p:nvPr/>
        </p:nvSpPr>
        <p:spPr>
          <a:xfrm>
            <a:off x="1150938" y="5108575"/>
            <a:ext cx="6877050" cy="144462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buClr>
                <a:srgbClr val="000000"/>
              </a:buClr>
              <a:buSzPct val="100000"/>
              <a:defRPr/>
            </a:pPr>
            <a:endParaRPr lang="zh-CN" altLang="en-US"/>
          </a:p>
        </p:txBody>
      </p:sp>
      <p:sp>
        <p:nvSpPr>
          <p:cNvPr id="91141" name="Rectangle 3"/>
          <p:cNvSpPr>
            <a:spLocks noChangeArrowheads="1"/>
          </p:cNvSpPr>
          <p:nvPr/>
        </p:nvSpPr>
        <p:spPr bwMode="auto">
          <a:xfrm>
            <a:off x="0" y="1349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>
                <a:srgbClr val="000000"/>
              </a:buClr>
              <a:buFontTx/>
              <a:buNone/>
            </a:pPr>
            <a:endParaRPr lang="zh-CN" altLang="en-US" sz="1800">
              <a:latin typeface="Arial" panose="020B0604020202020204" pitchFamily="34" charset="0"/>
            </a:endParaRPr>
          </a:p>
        </p:txBody>
      </p:sp>
      <p:grpSp>
        <p:nvGrpSpPr>
          <p:cNvPr id="91142" name="组合 2"/>
          <p:cNvGrpSpPr/>
          <p:nvPr/>
        </p:nvGrpSpPr>
        <p:grpSpPr bwMode="auto">
          <a:xfrm>
            <a:off x="828675" y="1597025"/>
            <a:ext cx="7486650" cy="935038"/>
            <a:chOff x="1476375" y="2114114"/>
            <a:chExt cx="7488113" cy="934679"/>
          </a:xfrm>
        </p:grpSpPr>
        <p:pic>
          <p:nvPicPr>
            <p:cNvPr id="77828" name="Picture 4" descr="5988502601398087791833"/>
            <p:cNvPicPr>
              <a:picLocks noChangeAspect="1" noChangeArrowheads="1"/>
            </p:cNvPicPr>
            <p:nvPr/>
          </p:nvPicPr>
          <p:blipFill>
            <a:blip r:embed="rId2" cstate="print">
              <a:duotone>
                <a:schemeClr val="accent4">
                  <a:shade val="45000"/>
                  <a:satMod val="135000"/>
                </a:schemeClr>
                <a:prstClr val="white"/>
              </a:duotone>
            </a:blip>
            <a:srcRect/>
            <a:stretch>
              <a:fillRect/>
            </a:stretch>
          </p:blipFill>
          <p:spPr bwMode="auto">
            <a:xfrm>
              <a:off x="2843808" y="2132856"/>
              <a:ext cx="936108" cy="561665"/>
            </a:xfrm>
            <a:prstGeom prst="rect">
              <a:avLst/>
            </a:prstGeom>
            <a:noFill/>
            <a:ln>
              <a:noFill/>
            </a:ln>
            <a:effectLst/>
          </p:spPr>
        </p:pic>
        <p:sp>
          <p:nvSpPr>
            <p:cNvPr id="91156" name="Rectangle 6"/>
            <p:cNvSpPr>
              <a:spLocks noChangeArrowheads="1"/>
            </p:cNvSpPr>
            <p:nvPr/>
          </p:nvSpPr>
          <p:spPr bwMode="auto">
            <a:xfrm>
              <a:off x="1476375" y="2114114"/>
              <a:ext cx="7488113" cy="93467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20000"/>
                </a:lnSpc>
                <a:spcBef>
                  <a:spcPct val="0"/>
                </a:spcBef>
                <a:buClr>
                  <a:srgbClr val="000000"/>
                </a:buClr>
                <a:buFontTx/>
                <a:buNone/>
              </a:pPr>
              <a:r>
                <a:rPr lang="zh-CN" altLang="en-US" sz="2400" b="1">
                  <a:latin typeface="Times New Roman" panose="02020603050405020304" pitchFamily="18" charset="0"/>
                </a:rPr>
                <a:t>由于已知             ，根据计算的顺序反推算，可得各阶段的最优决策和最优值。</a:t>
              </a:r>
              <a:r>
                <a:rPr lang="zh-CN" altLang="en-US" sz="2400" b="1">
                  <a:latin typeface="Arial" panose="020B0604020202020204" pitchFamily="34" charset="0"/>
                </a:rPr>
                <a:t> </a:t>
              </a:r>
            </a:p>
          </p:txBody>
        </p:sp>
      </p:grpSp>
      <p:sp>
        <p:nvSpPr>
          <p:cNvPr id="91143" name="灯片编号占位符 2"/>
          <p:cNvSpPr>
            <a:spLocks noGrp="1" noChangeArrowheads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>
                <a:srgbClr val="000000"/>
              </a:buClr>
              <a:buFontTx/>
              <a:buNone/>
            </a:pPr>
            <a:fld id="{2DDC73D2-CAC5-4DAB-B388-FA547DC124A3}" type="slidenum">
              <a:rPr lang="zh-CN" altLang="zh-CN" sz="1400">
                <a:latin typeface="Arial" panose="020B0604020202020204" pitchFamily="34" charset="0"/>
              </a:rPr>
              <a:t>13</a:t>
            </a:fld>
            <a:endParaRPr lang="en-US" altLang="zh-CN" sz="1400">
              <a:latin typeface="Arial" panose="020B0604020202020204" pitchFamily="34" charset="0"/>
            </a:endParaRPr>
          </a:p>
        </p:txBody>
      </p:sp>
      <p:pic>
        <p:nvPicPr>
          <p:cNvPr id="12" name="Picture 4" descr="5101690081398087791833"/>
          <p:cNvPicPr>
            <a:picLocks noChangeAspect="1" noChangeArrowheads="1"/>
          </p:cNvPicPr>
          <p:nvPr/>
        </p:nvPicPr>
        <p:blipFill>
          <a:blip r:embed="rId3">
            <a:duotone>
              <a:schemeClr val="accent4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3131484" y="2558200"/>
            <a:ext cx="3311525" cy="765175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13" name="Picture 5" descr="1989259691398087791833"/>
          <p:cNvPicPr>
            <a:picLocks noChangeAspect="1" noChangeArrowheads="1"/>
          </p:cNvPicPr>
          <p:nvPr/>
        </p:nvPicPr>
        <p:blipFill>
          <a:blip r:embed="rId4">
            <a:duotone>
              <a:schemeClr val="accent4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1619672" y="3384848"/>
            <a:ext cx="2952327" cy="815628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14" name="Picture 6" descr="1092929471398087791833"/>
          <p:cNvPicPr>
            <a:picLocks noChangeAspect="1" noChangeArrowheads="1"/>
          </p:cNvPicPr>
          <p:nvPr/>
        </p:nvPicPr>
        <p:blipFill>
          <a:blip r:embed="rId5">
            <a:duotone>
              <a:schemeClr val="accent4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2267620" y="4284616"/>
            <a:ext cx="4392612" cy="744537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91147" name="Rectangle 7"/>
          <p:cNvSpPr>
            <a:spLocks noChangeArrowheads="1"/>
          </p:cNvSpPr>
          <p:nvPr/>
        </p:nvSpPr>
        <p:spPr bwMode="auto">
          <a:xfrm>
            <a:off x="1187450" y="2752725"/>
            <a:ext cx="1108075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>
                <a:srgbClr val="000000"/>
              </a:buClr>
              <a:buFontTx/>
              <a:buNone/>
            </a:pPr>
            <a:r>
              <a:rPr lang="zh-CN" altLang="en-US" sz="2400" b="1">
                <a:latin typeface="Times New Roman" panose="02020603050405020304" pitchFamily="18" charset="0"/>
              </a:rPr>
              <a:t>即</a:t>
            </a:r>
            <a:r>
              <a:rPr lang="zh-CN" altLang="en-US" sz="2400">
                <a:latin typeface="Arial" panose="020B0604020202020204" pitchFamily="34" charset="0"/>
                <a:cs typeface="Courier New" panose="02070309020205020404" pitchFamily="49" charset="0"/>
              </a:rPr>
              <a:t>	</a:t>
            </a:r>
            <a:endParaRPr lang="zh-CN" altLang="en-US" sz="2400">
              <a:latin typeface="Arial" panose="020B0604020202020204" pitchFamily="34" charset="0"/>
            </a:endParaRPr>
          </a:p>
        </p:txBody>
      </p:sp>
      <p:sp>
        <p:nvSpPr>
          <p:cNvPr id="91148" name="Rectangle 8"/>
          <p:cNvSpPr>
            <a:spLocks noChangeArrowheads="1"/>
          </p:cNvSpPr>
          <p:nvPr/>
        </p:nvSpPr>
        <p:spPr bwMode="auto">
          <a:xfrm>
            <a:off x="1150938" y="3562350"/>
            <a:ext cx="792162" cy="831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>
                <a:srgbClr val="000000"/>
              </a:buClr>
              <a:buFontTx/>
              <a:buNone/>
            </a:pPr>
            <a:r>
              <a:rPr lang="zh-CN" altLang="en-US" sz="2400" b="1">
                <a:latin typeface="Times New Roman" panose="02020603050405020304" pitchFamily="18" charset="0"/>
              </a:rPr>
              <a:t>由</a:t>
            </a:r>
            <a:r>
              <a:rPr lang="zh-CN" altLang="en-US" sz="2400">
                <a:latin typeface="Arial" panose="020B0604020202020204" pitchFamily="34" charset="0"/>
                <a:cs typeface="Courier New" panose="02070309020205020404" pitchFamily="49" charset="0"/>
              </a:rPr>
              <a:t>	</a:t>
            </a:r>
            <a:endParaRPr lang="zh-CN" altLang="en-US" sz="2400">
              <a:latin typeface="Arial" panose="020B0604020202020204" pitchFamily="34" charset="0"/>
            </a:endParaRPr>
          </a:p>
        </p:txBody>
      </p:sp>
      <p:sp>
        <p:nvSpPr>
          <p:cNvPr id="91149" name="Rectangle 9"/>
          <p:cNvSpPr>
            <a:spLocks noChangeArrowheads="1"/>
          </p:cNvSpPr>
          <p:nvPr/>
        </p:nvSpPr>
        <p:spPr bwMode="auto">
          <a:xfrm>
            <a:off x="5624513" y="3595688"/>
            <a:ext cx="1108075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>
                <a:srgbClr val="000000"/>
              </a:buClr>
              <a:buFontTx/>
              <a:buNone/>
            </a:pPr>
            <a:r>
              <a:rPr lang="zh-CN" altLang="en-US" sz="2400" b="1">
                <a:latin typeface="Times New Roman" panose="02020603050405020304" pitchFamily="18" charset="0"/>
              </a:rPr>
              <a:t>可得</a:t>
            </a:r>
            <a:r>
              <a:rPr lang="zh-CN" altLang="en-US" sz="2400">
                <a:latin typeface="Arial" panose="020B0604020202020204" pitchFamily="34" charset="0"/>
                <a:cs typeface="Courier New" panose="02070309020205020404" pitchFamily="49" charset="0"/>
              </a:rPr>
              <a:t>	</a:t>
            </a:r>
            <a:endParaRPr lang="zh-CN" altLang="en-US" sz="2400">
              <a:latin typeface="Arial" panose="020B0604020202020204" pitchFamily="34" charset="0"/>
            </a:endParaRPr>
          </a:p>
        </p:txBody>
      </p:sp>
      <p:pic>
        <p:nvPicPr>
          <p:cNvPr id="22" name="Picture 4" descr="4125643801398087791833"/>
          <p:cNvPicPr>
            <a:picLocks noChangeAspect="1" noChangeArrowheads="1"/>
          </p:cNvPicPr>
          <p:nvPr/>
        </p:nvPicPr>
        <p:blipFill>
          <a:blip r:embed="rId6">
            <a:duotone>
              <a:schemeClr val="accent4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2368218" y="5801270"/>
            <a:ext cx="2695062" cy="751930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91151" name="Rectangle 5"/>
          <p:cNvSpPr>
            <a:spLocks noChangeArrowheads="1"/>
          </p:cNvSpPr>
          <p:nvPr/>
        </p:nvSpPr>
        <p:spPr bwMode="auto">
          <a:xfrm>
            <a:off x="5721350" y="5300663"/>
            <a:ext cx="1108075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>
                <a:srgbClr val="000000"/>
              </a:buClr>
              <a:buFontTx/>
              <a:buNone/>
            </a:pPr>
            <a:r>
              <a:rPr lang="zh-CN" altLang="en-US" sz="2400" b="1">
                <a:latin typeface="Times New Roman" panose="02020603050405020304" pitchFamily="18" charset="0"/>
              </a:rPr>
              <a:t>可得</a:t>
            </a:r>
            <a:r>
              <a:rPr lang="zh-CN" altLang="en-US" sz="2400">
                <a:latin typeface="Arial" panose="020B0604020202020204" pitchFamily="34" charset="0"/>
                <a:cs typeface="Courier New" panose="02070309020205020404" pitchFamily="49" charset="0"/>
              </a:rPr>
              <a:t>	</a:t>
            </a:r>
            <a:endParaRPr lang="zh-CN" altLang="en-US" sz="2400">
              <a:latin typeface="Arial" panose="020B0604020202020204" pitchFamily="34" charset="0"/>
            </a:endParaRPr>
          </a:p>
        </p:txBody>
      </p:sp>
      <p:sp>
        <p:nvSpPr>
          <p:cNvPr id="91152" name="Rectangle 6"/>
          <p:cNvSpPr>
            <a:spLocks noChangeArrowheads="1"/>
          </p:cNvSpPr>
          <p:nvPr/>
        </p:nvSpPr>
        <p:spPr bwMode="auto">
          <a:xfrm>
            <a:off x="1209675" y="5300663"/>
            <a:ext cx="1108075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>
                <a:srgbClr val="000000"/>
              </a:buClr>
              <a:buFontTx/>
              <a:buNone/>
            </a:pPr>
            <a:r>
              <a:rPr lang="zh-CN" altLang="en-US" sz="2400" b="1">
                <a:latin typeface="Times New Roman" panose="02020603050405020304" pitchFamily="18" charset="0"/>
              </a:rPr>
              <a:t>由</a:t>
            </a:r>
            <a:r>
              <a:rPr lang="zh-CN" altLang="en-US" sz="2400">
                <a:latin typeface="Arial" panose="020B0604020202020204" pitchFamily="34" charset="0"/>
                <a:cs typeface="Courier New" panose="02070309020205020404" pitchFamily="49" charset="0"/>
              </a:rPr>
              <a:t>	</a:t>
            </a:r>
            <a:endParaRPr lang="zh-CN" altLang="en-US" sz="2400">
              <a:latin typeface="Arial" panose="020B0604020202020204" pitchFamily="34" charset="0"/>
            </a:endParaRPr>
          </a:p>
        </p:txBody>
      </p:sp>
      <p:pic>
        <p:nvPicPr>
          <p:cNvPr id="25" name="Picture 11" descr="8345538571398087791833"/>
          <p:cNvPicPr>
            <a:picLocks noChangeAspect="1" noChangeArrowheads="1"/>
          </p:cNvPicPr>
          <p:nvPr/>
        </p:nvPicPr>
        <p:blipFill>
          <a:blip r:embed="rId7">
            <a:duotone>
              <a:schemeClr val="accent4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1763688" y="5108029"/>
            <a:ext cx="3886200" cy="797099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1" name="Rectangle 2"/>
          <p:cNvSpPr txBox="1">
            <a:spLocks noChangeArrowheads="1"/>
          </p:cNvSpPr>
          <p:nvPr/>
        </p:nvSpPr>
        <p:spPr bwMode="auto">
          <a:xfrm>
            <a:off x="650875" y="914400"/>
            <a:ext cx="6892925" cy="620713"/>
          </a:xfrm>
          <a:prstGeom prst="rect">
            <a:avLst/>
          </a:prstGeom>
          <a:noFill/>
          <a:ln>
            <a:noFill/>
          </a:ln>
        </p:spPr>
        <p:txBody>
          <a:bodyPr anchor="b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3200" b="1" u="sng" kern="0" dirty="0">
                <a:solidFill>
                  <a:schemeClr val="hlink"/>
                </a:solidFill>
              </a:rPr>
              <a:t>动态规划的求解方法</a:t>
            </a:r>
            <a:r>
              <a:rPr lang="en-US" altLang="zh-CN" sz="3200" b="1" u="sng" kern="0" dirty="0">
                <a:solidFill>
                  <a:schemeClr val="hlink"/>
                </a:solidFill>
              </a:rPr>
              <a:t>—</a:t>
            </a:r>
            <a:r>
              <a:rPr lang="zh-CN" altLang="en-US" sz="2800" b="1" u="sng" kern="0" dirty="0">
                <a:solidFill>
                  <a:srgbClr val="C00000"/>
                </a:solidFill>
              </a:rPr>
              <a:t>算例</a:t>
            </a:r>
            <a:r>
              <a:rPr lang="en-US" altLang="zh-CN" sz="2800" b="1" u="sng" kern="0" dirty="0">
                <a:solidFill>
                  <a:srgbClr val="C00000"/>
                </a:solidFill>
              </a:rPr>
              <a:t>3</a:t>
            </a:r>
            <a:r>
              <a:rPr kumimoji="0" lang="zh-CN" altLang="en-US" sz="2400" b="1" i="0" u="sng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 （逆</a:t>
            </a:r>
            <a:r>
              <a:rPr kumimoji="0" lang="zh-CN" altLang="en-US" sz="2400" b="1" i="0" u="sng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推法</a:t>
            </a:r>
            <a:r>
              <a:rPr kumimoji="0" lang="zh-CN" altLang="en-US" sz="2400" b="1" i="0" u="sng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）</a:t>
            </a:r>
            <a:endParaRPr lang="zh-CN" altLang="en-US" sz="3200" b="1" u="sng" kern="0" dirty="0">
              <a:solidFill>
                <a:schemeClr val="hlink"/>
              </a:solidFill>
            </a:endParaRPr>
          </a:p>
        </p:txBody>
      </p:sp>
    </p:spTree>
  </p:cSld>
  <p:clrMapOvr>
    <a:masterClrMapping/>
  </p:clrMapOvr>
  <p:transition spd="slow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3"/>
          <p:cNvSpPr>
            <a:spLocks noChangeArrowheads="1"/>
          </p:cNvSpPr>
          <p:nvPr/>
        </p:nvSpPr>
        <p:spPr bwMode="auto">
          <a:xfrm>
            <a:off x="0" y="1349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>
                <a:srgbClr val="000000"/>
              </a:buClr>
              <a:buFontTx/>
              <a:buNone/>
            </a:pPr>
            <a:endParaRPr lang="zh-CN" altLang="en-US" sz="1800">
              <a:latin typeface="Arial" panose="020B0604020202020204" pitchFamily="34" charset="0"/>
            </a:endParaRPr>
          </a:p>
        </p:txBody>
      </p:sp>
      <p:pic>
        <p:nvPicPr>
          <p:cNvPr id="80900" name="Picture 4" descr="5401187781398087791843"/>
          <p:cNvPicPr>
            <a:picLocks noChangeAspect="1" noChangeArrowheads="1"/>
          </p:cNvPicPr>
          <p:nvPr/>
        </p:nvPicPr>
        <p:blipFill>
          <a:blip r:embed="rId2">
            <a:duotone>
              <a:schemeClr val="accent4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2555776" y="2634888"/>
            <a:ext cx="3384078" cy="846020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80901" name="Picture 5" descr="5970708861398087791843"/>
          <p:cNvPicPr>
            <a:picLocks noChangeAspect="1" noChangeArrowheads="1"/>
          </p:cNvPicPr>
          <p:nvPr/>
        </p:nvPicPr>
        <p:blipFill>
          <a:blip r:embed="rId3">
            <a:duotone>
              <a:schemeClr val="accent4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2569077" y="4240212"/>
            <a:ext cx="2952750" cy="865188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92165" name="Rectangle 6"/>
          <p:cNvSpPr>
            <a:spLocks noChangeArrowheads="1"/>
          </p:cNvSpPr>
          <p:nvPr/>
        </p:nvSpPr>
        <p:spPr bwMode="auto">
          <a:xfrm>
            <a:off x="1042988" y="1905000"/>
            <a:ext cx="4802187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>
                <a:srgbClr val="000000"/>
              </a:buClr>
              <a:buFontTx/>
              <a:buNone/>
            </a:pPr>
            <a:r>
              <a:rPr lang="zh-CN" altLang="en-US" sz="2400" b="1">
                <a:latin typeface="Times New Roman" panose="02020603050405020304" pitchFamily="18" charset="0"/>
              </a:rPr>
              <a:t>因此得到最优解为	</a:t>
            </a:r>
            <a:r>
              <a:rPr lang="zh-CN" altLang="en-US" sz="2400">
                <a:latin typeface="Times New Roman" panose="02020603050405020304" pitchFamily="18" charset="0"/>
              </a:rPr>
              <a:t>		</a:t>
            </a:r>
            <a:endParaRPr lang="zh-CN" altLang="en-US" sz="2400">
              <a:latin typeface="Arial" panose="020B0604020202020204" pitchFamily="34" charset="0"/>
            </a:endParaRPr>
          </a:p>
        </p:txBody>
      </p:sp>
      <p:sp>
        <p:nvSpPr>
          <p:cNvPr id="92166" name="Rectangle 7"/>
          <p:cNvSpPr>
            <a:spLocks noChangeArrowheads="1"/>
          </p:cNvSpPr>
          <p:nvPr/>
        </p:nvSpPr>
        <p:spPr bwMode="auto">
          <a:xfrm>
            <a:off x="995363" y="3722688"/>
            <a:ext cx="4800600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>
                <a:srgbClr val="000000"/>
              </a:buClr>
              <a:buFontTx/>
              <a:buNone/>
            </a:pPr>
            <a:r>
              <a:rPr lang="zh-CN" altLang="en-US" sz="2400" b="1">
                <a:latin typeface="Times New Roman" panose="02020603050405020304" pitchFamily="18" charset="0"/>
              </a:rPr>
              <a:t>最大值为</a:t>
            </a:r>
            <a:r>
              <a:rPr lang="zh-CN" altLang="en-US" sz="2400">
                <a:latin typeface="Times New Roman" panose="02020603050405020304" pitchFamily="18" charset="0"/>
              </a:rPr>
              <a:t>				</a:t>
            </a:r>
            <a:endParaRPr lang="zh-CN" altLang="en-US" sz="2400">
              <a:latin typeface="Arial" panose="020B0604020202020204" pitchFamily="34" charset="0"/>
            </a:endParaRPr>
          </a:p>
        </p:txBody>
      </p:sp>
      <p:sp>
        <p:nvSpPr>
          <p:cNvPr id="92167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>
                <a:srgbClr val="000000"/>
              </a:buClr>
              <a:buFontTx/>
              <a:buNone/>
            </a:pPr>
            <a:endParaRPr lang="zh-CN" altLang="en-US" sz="1800">
              <a:latin typeface="Arial" panose="020B0604020202020204" pitchFamily="34" charset="0"/>
            </a:endParaRPr>
          </a:p>
        </p:txBody>
      </p:sp>
      <p:sp>
        <p:nvSpPr>
          <p:cNvPr id="92168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>
                <a:srgbClr val="000000"/>
              </a:buClr>
              <a:buFontTx/>
              <a:buNone/>
            </a:pPr>
            <a:endParaRPr lang="zh-CN" altLang="en-US" sz="1800">
              <a:latin typeface="Arial" panose="020B0604020202020204" pitchFamily="34" charset="0"/>
            </a:endParaRPr>
          </a:p>
        </p:txBody>
      </p:sp>
      <p:sp>
        <p:nvSpPr>
          <p:cNvPr id="92169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>
                <a:srgbClr val="000000"/>
              </a:buClr>
              <a:buFontTx/>
              <a:buNone/>
            </a:pPr>
            <a:endParaRPr lang="zh-CN" altLang="en-US" sz="1800">
              <a:latin typeface="Arial" panose="020B0604020202020204" pitchFamily="34" charset="0"/>
            </a:endParaRPr>
          </a:p>
        </p:txBody>
      </p:sp>
      <p:sp>
        <p:nvSpPr>
          <p:cNvPr id="92170" name="灯片编号占位符 2"/>
          <p:cNvSpPr>
            <a:spLocks noGrp="1" noChangeArrowheads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>
                <a:srgbClr val="000000"/>
              </a:buClr>
              <a:buFontTx/>
              <a:buNone/>
            </a:pPr>
            <a:fld id="{1A94E123-D6D9-4192-89BC-D18FE8ED44AA}" type="slidenum">
              <a:rPr lang="zh-CN" altLang="zh-CN" sz="1400">
                <a:latin typeface="Arial" panose="020B0604020202020204" pitchFamily="34" charset="0"/>
              </a:rPr>
              <a:t>14</a:t>
            </a:fld>
            <a:endParaRPr lang="en-US" altLang="zh-CN" sz="1400">
              <a:latin typeface="Arial" panose="020B0604020202020204" pitchFamily="34" charset="0"/>
            </a:endParaRPr>
          </a:p>
        </p:txBody>
      </p:sp>
      <p:sp>
        <p:nvSpPr>
          <p:cNvPr id="12" name="Rectangle 2"/>
          <p:cNvSpPr txBox="1">
            <a:spLocks noChangeArrowheads="1"/>
          </p:cNvSpPr>
          <p:nvPr/>
        </p:nvSpPr>
        <p:spPr bwMode="auto">
          <a:xfrm>
            <a:off x="650875" y="914400"/>
            <a:ext cx="5445125" cy="620713"/>
          </a:xfrm>
          <a:prstGeom prst="rect">
            <a:avLst/>
          </a:prstGeom>
          <a:noFill/>
          <a:ln>
            <a:noFill/>
          </a:ln>
        </p:spPr>
        <p:txBody>
          <a:bodyPr anchor="b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3200" b="1" u="sng" kern="0" dirty="0">
                <a:solidFill>
                  <a:schemeClr val="hlink"/>
                </a:solidFill>
              </a:rPr>
              <a:t>动态规划的求解方法</a:t>
            </a:r>
            <a:r>
              <a:rPr lang="en-US" altLang="zh-CN" sz="3200" b="1" u="sng" kern="0" dirty="0">
                <a:solidFill>
                  <a:schemeClr val="hlink"/>
                </a:solidFill>
              </a:rPr>
              <a:t>—</a:t>
            </a:r>
            <a:r>
              <a:rPr lang="zh-CN" altLang="en-US" sz="2800" b="1" u="sng" kern="0" dirty="0">
                <a:solidFill>
                  <a:srgbClr val="C00000"/>
                </a:solidFill>
              </a:rPr>
              <a:t>算例</a:t>
            </a:r>
            <a:r>
              <a:rPr lang="en-US" altLang="zh-CN" sz="2800" b="1" u="sng" kern="0" dirty="0">
                <a:solidFill>
                  <a:srgbClr val="C00000"/>
                </a:solidFill>
              </a:rPr>
              <a:t>3</a:t>
            </a:r>
            <a:endParaRPr lang="zh-CN" altLang="en-US" sz="2800" b="1" u="sng" kern="0" dirty="0">
              <a:solidFill>
                <a:srgbClr val="C00000"/>
              </a:solidFill>
            </a:endParaRPr>
          </a:p>
        </p:txBody>
      </p:sp>
    </p:spTree>
  </p:cSld>
  <p:clrMapOvr>
    <a:masterClrMapping/>
  </p:clrMapOvr>
  <p:transition spd="slow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"/>
          <p:cNvSpPr/>
          <p:nvPr/>
        </p:nvSpPr>
        <p:spPr>
          <a:xfrm>
            <a:off x="819150" y="2306638"/>
            <a:ext cx="7561263" cy="2263775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buClr>
                <a:srgbClr val="000000"/>
              </a:buClr>
              <a:buSzPct val="100000"/>
              <a:defRPr/>
            </a:pPr>
            <a:endParaRPr lang="zh-CN" altLang="en-US"/>
          </a:p>
        </p:txBody>
      </p:sp>
      <p:sp>
        <p:nvSpPr>
          <p:cNvPr id="93187" name="Rectangle 3"/>
          <p:cNvSpPr>
            <a:spLocks noChangeArrowheads="1"/>
          </p:cNvSpPr>
          <p:nvPr/>
        </p:nvSpPr>
        <p:spPr bwMode="auto">
          <a:xfrm>
            <a:off x="0" y="1349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>
                <a:srgbClr val="000000"/>
              </a:buClr>
              <a:buFontTx/>
              <a:buNone/>
            </a:pPr>
            <a:endParaRPr lang="zh-CN" altLang="en-US" sz="1800">
              <a:latin typeface="Arial" panose="020B0604020202020204" pitchFamily="34" charset="0"/>
            </a:endParaRPr>
          </a:p>
        </p:txBody>
      </p:sp>
      <p:pic>
        <p:nvPicPr>
          <p:cNvPr id="81926" name="Picture 6" descr="9622923471398087791843"/>
          <p:cNvPicPr>
            <a:picLocks noChangeAspect="1" noChangeArrowheads="1"/>
          </p:cNvPicPr>
          <p:nvPr/>
        </p:nvPicPr>
        <p:blipFill>
          <a:blip r:embed="rId32" cstate="print">
            <a:duotone>
              <a:schemeClr val="accent4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2188273" y="4030587"/>
            <a:ext cx="2087311" cy="539966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93191" name="Rectangle 7"/>
          <p:cNvSpPr>
            <a:spLocks noChangeArrowheads="1"/>
          </p:cNvSpPr>
          <p:nvPr/>
        </p:nvSpPr>
        <p:spPr bwMode="auto">
          <a:xfrm>
            <a:off x="819150" y="1752600"/>
            <a:ext cx="4826000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>
                <a:srgbClr val="000000"/>
              </a:buClr>
              <a:buFontTx/>
              <a:buNone/>
            </a:pPr>
            <a:r>
              <a:rPr lang="zh-CN" altLang="en-US" sz="2400" b="1" u="sng" dirty="0">
                <a:latin typeface="Times New Roman" panose="02020603050405020304" pitchFamily="18" charset="0"/>
              </a:rPr>
              <a:t>动态规划</a:t>
            </a:r>
            <a:r>
              <a:rPr lang="zh-CN" altLang="en-US" sz="2400" b="1" u="sng" dirty="0">
                <a:solidFill>
                  <a:srgbClr val="FF0000"/>
                </a:solidFill>
                <a:latin typeface="Times New Roman" panose="02020603050405020304" pitchFamily="18" charset="0"/>
              </a:rPr>
              <a:t>顺推解法</a:t>
            </a:r>
            <a:r>
              <a:rPr lang="zh-CN" altLang="en-US" sz="2400" b="1" u="sng" dirty="0">
                <a:latin typeface="Times New Roman" panose="02020603050405020304" pitchFamily="18" charset="0"/>
              </a:rPr>
              <a:t>的基本方程为</a:t>
            </a:r>
            <a:r>
              <a:rPr lang="zh-CN" altLang="en-US" sz="2400" b="1" dirty="0">
                <a:latin typeface="Times New Roman" panose="02020603050405020304" pitchFamily="18" charset="0"/>
              </a:rPr>
              <a:t>：</a:t>
            </a:r>
            <a:endParaRPr lang="zh-CN" altLang="en-US" sz="2400" dirty="0">
              <a:latin typeface="Arial" panose="020B0604020202020204" pitchFamily="34" charset="0"/>
            </a:endParaRPr>
          </a:p>
        </p:txBody>
      </p:sp>
      <p:sp>
        <p:nvSpPr>
          <p:cNvPr id="93192" name="Rectangle 8"/>
          <p:cNvSpPr>
            <a:spLocks noChangeArrowheads="1"/>
          </p:cNvSpPr>
          <p:nvPr/>
        </p:nvSpPr>
        <p:spPr bwMode="auto">
          <a:xfrm>
            <a:off x="971550" y="3463925"/>
            <a:ext cx="1731963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>
                <a:srgbClr val="000000"/>
              </a:buClr>
              <a:buFontTx/>
              <a:buNone/>
            </a:pPr>
            <a:r>
              <a:rPr lang="zh-CN" altLang="en-US" sz="2400" b="1">
                <a:latin typeface="Times New Roman" panose="02020603050405020304" pitchFamily="18" charset="0"/>
              </a:rPr>
              <a:t>边界条件为</a:t>
            </a:r>
            <a:endParaRPr lang="zh-CN" altLang="en-US" sz="2400" b="1">
              <a:latin typeface="Arial" panose="020B0604020202020204" pitchFamily="34" charset="0"/>
            </a:endParaRPr>
          </a:p>
        </p:txBody>
      </p:sp>
      <p:sp>
        <p:nvSpPr>
          <p:cNvPr id="93193" name="Rectangle 9"/>
          <p:cNvSpPr>
            <a:spLocks noChangeArrowheads="1"/>
          </p:cNvSpPr>
          <p:nvPr/>
        </p:nvSpPr>
        <p:spPr bwMode="auto">
          <a:xfrm>
            <a:off x="950913" y="4090988"/>
            <a:ext cx="803275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>
                <a:srgbClr val="000000"/>
              </a:buClr>
              <a:buFontTx/>
              <a:buNone/>
            </a:pPr>
            <a:r>
              <a:rPr lang="zh-CN" altLang="en-US" sz="2400" b="1">
                <a:latin typeface="Times New Roman" panose="02020603050405020304" pitchFamily="18" charset="0"/>
              </a:rPr>
              <a:t>式中</a:t>
            </a:r>
            <a:endParaRPr lang="zh-CN" altLang="en-US" sz="2400" b="1">
              <a:latin typeface="Arial" panose="020B0604020202020204" pitchFamily="34" charset="0"/>
            </a:endParaRPr>
          </a:p>
        </p:txBody>
      </p:sp>
      <p:sp>
        <p:nvSpPr>
          <p:cNvPr id="93195" name="灯片编号占位符 2"/>
          <p:cNvSpPr>
            <a:spLocks noGrp="1" noChangeArrowheads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>
                <a:srgbClr val="000000"/>
              </a:buClr>
              <a:buFontTx/>
              <a:buNone/>
            </a:pPr>
            <a:fld id="{5E1EEFBA-6043-4973-9188-FD3EE94EACCF}" type="slidenum">
              <a:rPr lang="zh-CN" altLang="zh-CN" sz="1400">
                <a:latin typeface="Arial" panose="020B0604020202020204" pitchFamily="34" charset="0"/>
              </a:rPr>
              <a:t>15</a:t>
            </a:fld>
            <a:endParaRPr lang="en-US" altLang="zh-CN" sz="1400">
              <a:latin typeface="Arial" panose="020B0604020202020204" pitchFamily="34" charset="0"/>
            </a:endParaRPr>
          </a:p>
        </p:txBody>
      </p:sp>
      <p:sp>
        <p:nvSpPr>
          <p:cNvPr id="93196" name="Rectangle 2"/>
          <p:cNvSpPr>
            <a:spLocks noChangeArrowheads="1"/>
          </p:cNvSpPr>
          <p:nvPr/>
        </p:nvSpPr>
        <p:spPr bwMode="auto">
          <a:xfrm>
            <a:off x="819150" y="4745356"/>
            <a:ext cx="7632700" cy="14204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20000"/>
              </a:lnSpc>
              <a:spcBef>
                <a:spcPct val="0"/>
              </a:spcBef>
              <a:buClr>
                <a:srgbClr val="000000"/>
              </a:buClr>
              <a:buFontTx/>
              <a:buNone/>
            </a:pPr>
            <a:r>
              <a:rPr lang="zh-CN" altLang="en-US" sz="2400" b="1" dirty="0">
                <a:latin typeface="Times New Roman" panose="02020603050405020304" pitchFamily="18" charset="0"/>
              </a:rPr>
              <a:t>       其求解过程为：根据边界条件，从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k</a:t>
            </a:r>
            <a:r>
              <a:rPr lang="en-US" altLang="zh-CN" sz="2400" b="1" dirty="0">
                <a:latin typeface="Times New Roman" panose="02020603050405020304" pitchFamily="18" charset="0"/>
              </a:rPr>
              <a:t>=1</a:t>
            </a:r>
            <a:r>
              <a:rPr lang="zh-CN" altLang="en-US" sz="2400" b="1" dirty="0">
                <a:latin typeface="Arial" panose="020B0604020202020204" pitchFamily="34" charset="0"/>
              </a:rPr>
              <a:t>开始，由前向后顺推，逐步求得各段的最优决策和相应的最优值，最后求出               ，</a:t>
            </a:r>
            <a:r>
              <a:rPr lang="zh-CN" altLang="en-US" sz="2400" b="1" dirty="0">
                <a:latin typeface="Tahoma" panose="020B0604030504040204" pitchFamily="34" charset="0"/>
              </a:rPr>
              <a:t>就得到整个问题的最优解。</a:t>
            </a:r>
            <a:endParaRPr lang="zh-CN" altLang="en-US" sz="2400" b="1" dirty="0">
              <a:latin typeface="Arial" panose="020B0604020202020204" pitchFamily="34" charset="0"/>
            </a:endParaRPr>
          </a:p>
        </p:txBody>
      </p:sp>
      <p:pic>
        <p:nvPicPr>
          <p:cNvPr id="15" name="Picture 5" descr="3784436641398087791843"/>
          <p:cNvPicPr>
            <a:picLocks noChangeAspect="1" noChangeArrowheads="1"/>
          </p:cNvPicPr>
          <p:nvPr/>
        </p:nvPicPr>
        <p:blipFill>
          <a:blip r:embed="rId33" cstate="print">
            <a:duotone>
              <a:schemeClr val="accent4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1915290" y="5698103"/>
            <a:ext cx="1224310" cy="481272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16" name="Rectangle 2"/>
          <p:cNvSpPr txBox="1">
            <a:spLocks noChangeArrowheads="1"/>
          </p:cNvSpPr>
          <p:nvPr/>
        </p:nvSpPr>
        <p:spPr bwMode="auto">
          <a:xfrm>
            <a:off x="650875" y="762000"/>
            <a:ext cx="5445125" cy="620713"/>
          </a:xfrm>
          <a:prstGeom prst="rect">
            <a:avLst/>
          </a:prstGeom>
          <a:noFill/>
          <a:ln>
            <a:noFill/>
          </a:ln>
        </p:spPr>
        <p:txBody>
          <a:bodyPr anchor="b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3200" b="1" u="sng" kern="0" dirty="0">
                <a:solidFill>
                  <a:schemeClr val="hlink"/>
                </a:solidFill>
              </a:rPr>
              <a:t>动态规划的求解方法（</a:t>
            </a:r>
            <a:r>
              <a:rPr lang="en-US" altLang="zh-CN" sz="3200" b="1" u="sng" kern="0" dirty="0">
                <a:solidFill>
                  <a:schemeClr val="hlink"/>
                </a:solidFill>
              </a:rPr>
              <a:t>2</a:t>
            </a:r>
            <a:r>
              <a:rPr lang="zh-CN" altLang="en-US" sz="3200" b="1" u="sng" kern="0" dirty="0">
                <a:solidFill>
                  <a:schemeClr val="hlink"/>
                </a:solidFill>
              </a:rPr>
              <a:t>）</a:t>
            </a:r>
          </a:p>
        </p:txBody>
      </p:sp>
      <p:graphicFrame>
        <p:nvGraphicFramePr>
          <p:cNvPr id="4" name="对象 3">
            <a:hlinkClick r:id="" action="ppaction://ole?verb=0"/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027113" y="2438083"/>
          <a:ext cx="7067550" cy="758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4" imgW="3314700" imgH="355600" progId="Equation.DSMT4">
                  <p:embed/>
                </p:oleObj>
              </mc:Choice>
              <mc:Fallback>
                <p:oleObj r:id="rId34" imgW="3314700" imgH="355600" progId="Equation.DSMT4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35"/>
                      <a:stretch>
                        <a:fillRect/>
                      </a:stretch>
                    </p:blipFill>
                    <p:spPr>
                      <a:xfrm>
                        <a:off x="1027113" y="2438083"/>
                        <a:ext cx="7067550" cy="7581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hlinkClick r:id="" action="ppaction://ole?verb=0"/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2690178" y="3419793"/>
          <a:ext cx="1328420" cy="4876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6" imgW="622300" imgH="228600" progId="Equation.DSMT4">
                  <p:embed/>
                </p:oleObj>
              </mc:Choice>
              <mc:Fallback>
                <p:oleObj r:id="rId36" imgW="622300" imgH="228600" progId="Equation.DSMT4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37"/>
                      <a:stretch>
                        <a:fillRect/>
                      </a:stretch>
                    </p:blipFill>
                    <p:spPr>
                      <a:xfrm>
                        <a:off x="2690178" y="3419793"/>
                        <a:ext cx="1328420" cy="48768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" name="圆角矩形 36"/>
          <p:cNvSpPr/>
          <p:nvPr>
            <p:custDataLst>
              <p:tags r:id="rId3"/>
            </p:custDataLst>
          </p:nvPr>
        </p:nvSpPr>
        <p:spPr>
          <a:xfrm>
            <a:off x="5511165" y="489922"/>
            <a:ext cx="3500755" cy="1069975"/>
          </a:xfrm>
          <a:prstGeom prst="roundRect">
            <a:avLst>
              <a:gd name="adj" fmla="val 24472"/>
            </a:avLst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grpSp>
        <p:nvGrpSpPr>
          <p:cNvPr id="38" name="组合 37"/>
          <p:cNvGrpSpPr/>
          <p:nvPr/>
        </p:nvGrpSpPr>
        <p:grpSpPr bwMode="auto">
          <a:xfrm>
            <a:off x="5486400" y="399117"/>
            <a:ext cx="3522980" cy="1193928"/>
            <a:chOff x="411897" y="3987941"/>
            <a:chExt cx="4724400" cy="1743208"/>
          </a:xfrm>
        </p:grpSpPr>
        <p:grpSp>
          <p:nvGrpSpPr>
            <p:cNvPr id="39" name="组合 64"/>
            <p:cNvGrpSpPr/>
            <p:nvPr/>
          </p:nvGrpSpPr>
          <p:grpSpPr bwMode="auto">
            <a:xfrm>
              <a:off x="411897" y="3987941"/>
              <a:ext cx="4724400" cy="1743208"/>
              <a:chOff x="4283968" y="620688"/>
              <a:chExt cx="4724400" cy="1743208"/>
            </a:xfrm>
          </p:grpSpPr>
          <p:sp>
            <p:nvSpPr>
              <p:cNvPr id="40" name="Text Box 22"/>
              <p:cNvSpPr txBox="1">
                <a:spLocks noChangeArrowheads="1"/>
              </p:cNvSpPr>
              <p:nvPr>
                <p:custDataLst>
                  <p:tags r:id="rId7"/>
                </p:custDataLst>
              </p:nvPr>
            </p:nvSpPr>
            <p:spPr bwMode="auto">
              <a:xfrm>
                <a:off x="5426968" y="1916088"/>
                <a:ext cx="533400" cy="44780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6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23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5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>
                    <a:srgbClr val="000000"/>
                  </a:buClr>
                  <a:buFontTx/>
                  <a:buNone/>
                </a:pPr>
                <a:r>
                  <a:rPr lang="en-US" altLang="zh-CN" sz="1400" i="1">
                    <a:latin typeface="Arial" panose="020B0604020202020204" pitchFamily="34" charset="0"/>
                  </a:rPr>
                  <a:t>u</a:t>
                </a:r>
                <a:r>
                  <a:rPr lang="en-US" altLang="zh-CN" sz="1400" baseline="-25000">
                    <a:latin typeface="Arial" panose="020B0604020202020204" pitchFamily="34" charset="0"/>
                  </a:rPr>
                  <a:t>1</a:t>
                </a:r>
                <a:endParaRPr lang="en-US" altLang="zh-CN" sz="1400">
                  <a:latin typeface="Arial" panose="020B0604020202020204" pitchFamily="34" charset="0"/>
                </a:endParaRPr>
              </a:p>
            </p:txBody>
          </p:sp>
          <p:grpSp>
            <p:nvGrpSpPr>
              <p:cNvPr id="43" name="组合 66"/>
              <p:cNvGrpSpPr/>
              <p:nvPr/>
            </p:nvGrpSpPr>
            <p:grpSpPr bwMode="auto">
              <a:xfrm>
                <a:off x="4283968" y="620688"/>
                <a:ext cx="4724400" cy="1371600"/>
                <a:chOff x="4283968" y="620688"/>
                <a:chExt cx="4724400" cy="1371600"/>
              </a:xfrm>
            </p:grpSpPr>
            <p:sp>
              <p:nvSpPr>
                <p:cNvPr id="44" name="Rectangle 5"/>
                <p:cNvSpPr>
                  <a:spLocks noChangeArrowheads="1"/>
                </p:cNvSpPr>
                <p:nvPr>
                  <p:custDataLst>
                    <p:tags r:id="rId8"/>
                  </p:custDataLst>
                </p:nvPr>
              </p:nvSpPr>
              <p:spPr bwMode="auto">
                <a:xfrm>
                  <a:off x="5350768" y="1306488"/>
                  <a:ext cx="533400" cy="457200"/>
                </a:xfrm>
                <a:prstGeom prst="rect">
                  <a:avLst/>
                </a:prstGeom>
                <a:solidFill>
                  <a:srgbClr val="00FFCC"/>
                </a:solidFill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o"/>
                    <a:defRPr sz="3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n"/>
                    <a:defRPr sz="26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o"/>
                    <a:defRPr sz="23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5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>
                      <a:srgbClr val="000000"/>
                    </a:buClr>
                    <a:buFontTx/>
                    <a:buNone/>
                  </a:pPr>
                  <a:endParaRPr lang="zh-CN" altLang="en-US" sz="14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5" name="Rectangle 6"/>
                <p:cNvSpPr>
                  <a:spLocks noChangeArrowheads="1"/>
                </p:cNvSpPr>
                <p:nvPr>
                  <p:custDataLst>
                    <p:tags r:id="rId9"/>
                  </p:custDataLst>
                </p:nvPr>
              </p:nvSpPr>
              <p:spPr bwMode="auto">
                <a:xfrm>
                  <a:off x="6569968" y="1306488"/>
                  <a:ext cx="533400" cy="457200"/>
                </a:xfrm>
                <a:prstGeom prst="rect">
                  <a:avLst/>
                </a:prstGeom>
                <a:solidFill>
                  <a:srgbClr val="00FFCC"/>
                </a:solidFill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o"/>
                    <a:defRPr sz="3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n"/>
                    <a:defRPr sz="26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o"/>
                    <a:defRPr sz="23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5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>
                      <a:srgbClr val="000000"/>
                    </a:buClr>
                    <a:buFontTx/>
                    <a:buNone/>
                  </a:pPr>
                  <a:endParaRPr lang="zh-CN" altLang="en-US" sz="14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6" name="Rectangle 7"/>
                <p:cNvSpPr>
                  <a:spLocks noChangeArrowheads="1"/>
                </p:cNvSpPr>
                <p:nvPr>
                  <p:custDataLst>
                    <p:tags r:id="rId10"/>
                  </p:custDataLst>
                </p:nvPr>
              </p:nvSpPr>
              <p:spPr bwMode="auto">
                <a:xfrm>
                  <a:off x="7789168" y="1306488"/>
                  <a:ext cx="533400" cy="457200"/>
                </a:xfrm>
                <a:prstGeom prst="rect">
                  <a:avLst/>
                </a:prstGeom>
                <a:solidFill>
                  <a:srgbClr val="00FFCC"/>
                </a:solidFill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o"/>
                    <a:defRPr sz="3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n"/>
                    <a:defRPr sz="26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o"/>
                    <a:defRPr sz="23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5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>
                      <a:srgbClr val="000000"/>
                    </a:buClr>
                    <a:buFontTx/>
                    <a:buNone/>
                  </a:pPr>
                  <a:endParaRPr lang="zh-CN" altLang="en-US" sz="14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7" name="Line 8"/>
                <p:cNvSpPr>
                  <a:spLocks noChangeShapeType="1"/>
                </p:cNvSpPr>
                <p:nvPr>
                  <p:custDataLst>
                    <p:tags r:id="rId11"/>
                  </p:custDataLst>
                </p:nvPr>
              </p:nvSpPr>
              <p:spPr bwMode="auto">
                <a:xfrm>
                  <a:off x="4360168" y="1535088"/>
                  <a:ext cx="99060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8" name="Line 9"/>
                <p:cNvSpPr>
                  <a:spLocks noChangeShapeType="1"/>
                </p:cNvSpPr>
                <p:nvPr>
                  <p:custDataLst>
                    <p:tags r:id="rId12"/>
                  </p:custDataLst>
                </p:nvPr>
              </p:nvSpPr>
              <p:spPr bwMode="auto">
                <a:xfrm>
                  <a:off x="5884168" y="1535088"/>
                  <a:ext cx="68580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9" name="Line 10"/>
                <p:cNvSpPr>
                  <a:spLocks noChangeShapeType="1"/>
                </p:cNvSpPr>
                <p:nvPr>
                  <p:custDataLst>
                    <p:tags r:id="rId13"/>
                  </p:custDataLst>
                </p:nvPr>
              </p:nvSpPr>
              <p:spPr bwMode="auto">
                <a:xfrm>
                  <a:off x="7103368" y="1535088"/>
                  <a:ext cx="68580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0" name="Line 11"/>
                <p:cNvSpPr>
                  <a:spLocks noChangeShapeType="1"/>
                </p:cNvSpPr>
                <p:nvPr>
                  <p:custDataLst>
                    <p:tags r:id="rId14"/>
                  </p:custDataLst>
                </p:nvPr>
              </p:nvSpPr>
              <p:spPr bwMode="auto">
                <a:xfrm flipH="1" flipV="1">
                  <a:off x="8306032" y="1535088"/>
                  <a:ext cx="58644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1" name="Text Box 12"/>
                <p:cNvSpPr txBox="1">
                  <a:spLocks noChangeArrowheads="1"/>
                </p:cNvSpPr>
                <p:nvPr>
                  <p:custDataLst>
                    <p:tags r:id="rId15"/>
                  </p:custDataLst>
                </p:nvPr>
              </p:nvSpPr>
              <p:spPr bwMode="auto">
                <a:xfrm>
                  <a:off x="5426968" y="1306488"/>
                  <a:ext cx="228600" cy="44780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o"/>
                    <a:defRPr sz="3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n"/>
                    <a:defRPr sz="26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o"/>
                    <a:defRPr sz="23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5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Clr>
                      <a:srgbClr val="000000"/>
                    </a:buClr>
                    <a:buFontTx/>
                    <a:buNone/>
                  </a:pPr>
                  <a:r>
                    <a:rPr lang="en-US" altLang="zh-CN" sz="1400">
                      <a:latin typeface="Arial" panose="020B0604020202020204" pitchFamily="34" charset="0"/>
                    </a:rPr>
                    <a:t>1</a:t>
                  </a:r>
                </a:p>
              </p:txBody>
            </p:sp>
            <p:sp>
              <p:nvSpPr>
                <p:cNvPr id="52" name="Text Box 13"/>
                <p:cNvSpPr txBox="1">
                  <a:spLocks noChangeArrowheads="1"/>
                </p:cNvSpPr>
                <p:nvPr>
                  <p:custDataLst>
                    <p:tags r:id="rId16"/>
                  </p:custDataLst>
                </p:nvPr>
              </p:nvSpPr>
              <p:spPr bwMode="auto">
                <a:xfrm>
                  <a:off x="6646168" y="1306488"/>
                  <a:ext cx="228600" cy="44780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o"/>
                    <a:defRPr sz="3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n"/>
                    <a:defRPr sz="26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o"/>
                    <a:defRPr sz="23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5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Clr>
                      <a:srgbClr val="000000"/>
                    </a:buClr>
                    <a:buFontTx/>
                    <a:buNone/>
                  </a:pPr>
                  <a:r>
                    <a:rPr lang="en-US" altLang="zh-CN" sz="1400">
                      <a:latin typeface="Arial" panose="020B0604020202020204" pitchFamily="34" charset="0"/>
                    </a:rPr>
                    <a:t>2</a:t>
                  </a:r>
                </a:p>
              </p:txBody>
            </p:sp>
            <p:sp>
              <p:nvSpPr>
                <p:cNvPr id="53" name="Text Box 14"/>
                <p:cNvSpPr txBox="1">
                  <a:spLocks noChangeArrowheads="1"/>
                </p:cNvSpPr>
                <p:nvPr>
                  <p:custDataLst>
                    <p:tags r:id="rId17"/>
                  </p:custDataLst>
                </p:nvPr>
              </p:nvSpPr>
              <p:spPr bwMode="auto">
                <a:xfrm>
                  <a:off x="7865368" y="1306488"/>
                  <a:ext cx="228600" cy="44780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o"/>
                    <a:defRPr sz="3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n"/>
                    <a:defRPr sz="26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o"/>
                    <a:defRPr sz="23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5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Clr>
                      <a:srgbClr val="000000"/>
                    </a:buClr>
                    <a:buFontTx/>
                    <a:buNone/>
                  </a:pPr>
                  <a:r>
                    <a:rPr lang="en-US" altLang="zh-CN" sz="1400">
                      <a:latin typeface="Arial" panose="020B0604020202020204" pitchFamily="34" charset="0"/>
                    </a:rPr>
                    <a:t>3</a:t>
                  </a:r>
                </a:p>
              </p:txBody>
            </p:sp>
            <p:sp>
              <p:nvSpPr>
                <p:cNvPr id="54" name="Text Box 15"/>
                <p:cNvSpPr txBox="1">
                  <a:spLocks noChangeArrowheads="1"/>
                </p:cNvSpPr>
                <p:nvPr>
                  <p:custDataLst>
                    <p:tags r:id="rId18"/>
                  </p:custDataLst>
                </p:nvPr>
              </p:nvSpPr>
              <p:spPr bwMode="auto">
                <a:xfrm>
                  <a:off x="4283968" y="1138213"/>
                  <a:ext cx="1295400" cy="44780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o"/>
                    <a:defRPr sz="3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n"/>
                    <a:defRPr sz="26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o"/>
                    <a:defRPr sz="23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5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Clr>
                      <a:srgbClr val="000000"/>
                    </a:buClr>
                    <a:buFontTx/>
                    <a:buNone/>
                  </a:pPr>
                  <a:r>
                    <a:rPr lang="en-US" altLang="zh-CN" sz="1400" i="1">
                      <a:latin typeface="Arial" panose="020B0604020202020204" pitchFamily="34" charset="0"/>
                    </a:rPr>
                    <a:t>      S</a:t>
                  </a:r>
                  <a:r>
                    <a:rPr lang="en-US" altLang="zh-CN" sz="1400" baseline="-25000">
                      <a:latin typeface="Arial" panose="020B0604020202020204" pitchFamily="34" charset="0"/>
                    </a:rPr>
                    <a:t>1</a:t>
                  </a:r>
                  <a:endParaRPr lang="en-US" altLang="zh-CN" sz="14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55" name="Line 16"/>
                <p:cNvSpPr>
                  <a:spLocks noChangeShapeType="1"/>
                </p:cNvSpPr>
                <p:nvPr>
                  <p:custDataLst>
                    <p:tags r:id="rId19"/>
                  </p:custDataLst>
                </p:nvPr>
              </p:nvSpPr>
              <p:spPr bwMode="auto">
                <a:xfrm flipV="1">
                  <a:off x="5579368" y="1763688"/>
                  <a:ext cx="0" cy="22860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6" name="Line 17"/>
                <p:cNvSpPr>
                  <a:spLocks noChangeShapeType="1"/>
                </p:cNvSpPr>
                <p:nvPr>
                  <p:custDataLst>
                    <p:tags r:id="rId20"/>
                  </p:custDataLst>
                </p:nvPr>
              </p:nvSpPr>
              <p:spPr bwMode="auto">
                <a:xfrm flipV="1">
                  <a:off x="8017768" y="1763688"/>
                  <a:ext cx="0" cy="22860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7" name="Line 18"/>
                <p:cNvSpPr>
                  <a:spLocks noChangeShapeType="1"/>
                </p:cNvSpPr>
                <p:nvPr>
                  <p:custDataLst>
                    <p:tags r:id="rId21"/>
                  </p:custDataLst>
                </p:nvPr>
              </p:nvSpPr>
              <p:spPr bwMode="auto">
                <a:xfrm flipV="1">
                  <a:off x="6798568" y="1077888"/>
                  <a:ext cx="0" cy="22860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8" name="Line 19"/>
                <p:cNvSpPr>
                  <a:spLocks noChangeShapeType="1"/>
                </p:cNvSpPr>
                <p:nvPr>
                  <p:custDataLst>
                    <p:tags r:id="rId22"/>
                  </p:custDataLst>
                </p:nvPr>
              </p:nvSpPr>
              <p:spPr bwMode="auto">
                <a:xfrm flipV="1">
                  <a:off x="5579368" y="1077888"/>
                  <a:ext cx="0" cy="22860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9" name="Line 20"/>
                <p:cNvSpPr>
                  <a:spLocks noChangeShapeType="1"/>
                </p:cNvSpPr>
                <p:nvPr>
                  <p:custDataLst>
                    <p:tags r:id="rId23"/>
                  </p:custDataLst>
                </p:nvPr>
              </p:nvSpPr>
              <p:spPr bwMode="auto">
                <a:xfrm flipV="1">
                  <a:off x="6798568" y="1763688"/>
                  <a:ext cx="0" cy="22860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60" name="Line 21"/>
                <p:cNvSpPr>
                  <a:spLocks noChangeShapeType="1"/>
                </p:cNvSpPr>
                <p:nvPr>
                  <p:custDataLst>
                    <p:tags r:id="rId24"/>
                  </p:custDataLst>
                </p:nvPr>
              </p:nvSpPr>
              <p:spPr bwMode="auto">
                <a:xfrm flipV="1">
                  <a:off x="8017768" y="1077888"/>
                  <a:ext cx="0" cy="22860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61" name="Text Box 25"/>
                <p:cNvSpPr txBox="1">
                  <a:spLocks noChangeArrowheads="1"/>
                </p:cNvSpPr>
                <p:nvPr>
                  <p:custDataLst>
                    <p:tags r:id="rId25"/>
                  </p:custDataLst>
                </p:nvPr>
              </p:nvSpPr>
              <p:spPr bwMode="auto">
                <a:xfrm>
                  <a:off x="5426968" y="671488"/>
                  <a:ext cx="533400" cy="44780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o"/>
                    <a:defRPr sz="3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n"/>
                    <a:defRPr sz="26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o"/>
                    <a:defRPr sz="23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5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Clr>
                      <a:srgbClr val="000000"/>
                    </a:buClr>
                    <a:buFontTx/>
                    <a:buNone/>
                  </a:pPr>
                  <a:r>
                    <a:rPr lang="en-US" altLang="zh-CN" sz="1400" i="1" dirty="0">
                      <a:latin typeface="Arial" panose="020B0604020202020204" pitchFamily="34" charset="0"/>
                    </a:rPr>
                    <a:t>v</a:t>
                  </a:r>
                  <a:r>
                    <a:rPr lang="en-US" altLang="zh-CN" sz="1400" baseline="-25000" dirty="0">
                      <a:latin typeface="Arial" panose="020B0604020202020204" pitchFamily="34" charset="0"/>
                    </a:rPr>
                    <a:t>1</a:t>
                  </a:r>
                  <a:endParaRPr lang="en-US" altLang="zh-CN" sz="1400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62" name="Text Box 26"/>
                <p:cNvSpPr txBox="1">
                  <a:spLocks noChangeArrowheads="1"/>
                </p:cNvSpPr>
                <p:nvPr>
                  <p:custDataLst>
                    <p:tags r:id="rId26"/>
                  </p:custDataLst>
                </p:nvPr>
              </p:nvSpPr>
              <p:spPr bwMode="auto">
                <a:xfrm>
                  <a:off x="6569968" y="620688"/>
                  <a:ext cx="533400" cy="44780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o"/>
                    <a:defRPr sz="3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n"/>
                    <a:defRPr sz="26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o"/>
                    <a:defRPr sz="23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5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Clr>
                      <a:srgbClr val="000000"/>
                    </a:buClr>
                    <a:buFontTx/>
                    <a:buNone/>
                  </a:pPr>
                  <a:r>
                    <a:rPr lang="en-US" altLang="zh-CN" sz="1400" i="1">
                      <a:latin typeface="Arial" panose="020B0604020202020204" pitchFamily="34" charset="0"/>
                    </a:rPr>
                    <a:t>v</a:t>
                  </a:r>
                  <a:r>
                    <a:rPr lang="en-US" altLang="zh-CN" sz="1400" baseline="-25000">
                      <a:latin typeface="Arial" panose="020B0604020202020204" pitchFamily="34" charset="0"/>
                    </a:rPr>
                    <a:t>2</a:t>
                  </a:r>
                  <a:endParaRPr lang="en-US" altLang="zh-CN" sz="14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63" name="Text Box 27"/>
                <p:cNvSpPr txBox="1">
                  <a:spLocks noChangeArrowheads="1"/>
                </p:cNvSpPr>
                <p:nvPr>
                  <p:custDataLst>
                    <p:tags r:id="rId27"/>
                  </p:custDataLst>
                </p:nvPr>
              </p:nvSpPr>
              <p:spPr bwMode="auto">
                <a:xfrm>
                  <a:off x="7789168" y="620688"/>
                  <a:ext cx="533400" cy="44780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o"/>
                    <a:defRPr sz="3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n"/>
                    <a:defRPr sz="26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o"/>
                    <a:defRPr sz="23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5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Clr>
                      <a:srgbClr val="000000"/>
                    </a:buClr>
                    <a:buFontTx/>
                    <a:buNone/>
                  </a:pPr>
                  <a:r>
                    <a:rPr lang="en-US" altLang="zh-CN" sz="1400" i="1">
                      <a:latin typeface="Arial" panose="020B0604020202020204" pitchFamily="34" charset="0"/>
                    </a:rPr>
                    <a:t>v</a:t>
                  </a:r>
                  <a:r>
                    <a:rPr lang="en-US" altLang="zh-CN" sz="1400" baseline="-25000">
                      <a:latin typeface="Arial" panose="020B0604020202020204" pitchFamily="34" charset="0"/>
                    </a:rPr>
                    <a:t>3</a:t>
                  </a:r>
                  <a:endParaRPr lang="en-US" altLang="zh-CN" sz="14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64" name="Text Box 28"/>
                <p:cNvSpPr txBox="1">
                  <a:spLocks noChangeArrowheads="1"/>
                </p:cNvSpPr>
                <p:nvPr>
                  <p:custDataLst>
                    <p:tags r:id="rId28"/>
                  </p:custDataLst>
                </p:nvPr>
              </p:nvSpPr>
              <p:spPr bwMode="auto">
                <a:xfrm>
                  <a:off x="6036568" y="1001688"/>
                  <a:ext cx="533400" cy="44780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o"/>
                    <a:defRPr sz="3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n"/>
                    <a:defRPr sz="26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o"/>
                    <a:defRPr sz="23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5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Clr>
                      <a:srgbClr val="000000"/>
                    </a:buClr>
                    <a:buFontTx/>
                    <a:buNone/>
                  </a:pPr>
                  <a:r>
                    <a:rPr lang="en-US" altLang="zh-CN" sz="1400" i="1">
                      <a:latin typeface="Arial" panose="020B0604020202020204" pitchFamily="34" charset="0"/>
                    </a:rPr>
                    <a:t>s</a:t>
                  </a:r>
                  <a:r>
                    <a:rPr lang="en-US" altLang="zh-CN" sz="1400" baseline="-25000">
                      <a:latin typeface="Arial" panose="020B0604020202020204" pitchFamily="34" charset="0"/>
                    </a:rPr>
                    <a:t>2</a:t>
                  </a:r>
                  <a:endParaRPr lang="en-US" altLang="zh-CN" sz="14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65" name="Text Box 29"/>
                <p:cNvSpPr txBox="1">
                  <a:spLocks noChangeArrowheads="1"/>
                </p:cNvSpPr>
                <p:nvPr>
                  <p:custDataLst>
                    <p:tags r:id="rId29"/>
                  </p:custDataLst>
                </p:nvPr>
              </p:nvSpPr>
              <p:spPr bwMode="auto">
                <a:xfrm>
                  <a:off x="7179568" y="1001688"/>
                  <a:ext cx="533400" cy="44780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o"/>
                    <a:defRPr sz="3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n"/>
                    <a:defRPr sz="26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o"/>
                    <a:defRPr sz="23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5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Clr>
                      <a:srgbClr val="000000"/>
                    </a:buClr>
                    <a:buFontTx/>
                    <a:buNone/>
                  </a:pPr>
                  <a:r>
                    <a:rPr lang="en-US" altLang="zh-CN" sz="1400" i="1">
                      <a:latin typeface="Arial" panose="020B0604020202020204" pitchFamily="34" charset="0"/>
                    </a:rPr>
                    <a:t>s</a:t>
                  </a:r>
                  <a:r>
                    <a:rPr lang="en-US" altLang="zh-CN" sz="1400" baseline="-25000">
                      <a:latin typeface="Arial" panose="020B0604020202020204" pitchFamily="34" charset="0"/>
                    </a:rPr>
                    <a:t>3</a:t>
                  </a:r>
                  <a:endParaRPr lang="en-US" altLang="zh-CN" sz="14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66" name="Text Box 30"/>
                <p:cNvSpPr txBox="1">
                  <a:spLocks noChangeArrowheads="1"/>
                </p:cNvSpPr>
                <p:nvPr>
                  <p:custDataLst>
                    <p:tags r:id="rId30"/>
                  </p:custDataLst>
                </p:nvPr>
              </p:nvSpPr>
              <p:spPr bwMode="auto">
                <a:xfrm>
                  <a:off x="8474968" y="1001688"/>
                  <a:ext cx="533400" cy="44780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o"/>
                    <a:defRPr sz="3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n"/>
                    <a:defRPr sz="26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o"/>
                    <a:defRPr sz="23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5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Clr>
                      <a:srgbClr val="000000"/>
                    </a:buClr>
                    <a:buFontTx/>
                    <a:buNone/>
                  </a:pPr>
                  <a:r>
                    <a:rPr lang="en-US" altLang="zh-CN" sz="1400" i="1">
                      <a:latin typeface="Arial" panose="020B0604020202020204" pitchFamily="34" charset="0"/>
                    </a:rPr>
                    <a:t>s</a:t>
                  </a:r>
                  <a:r>
                    <a:rPr lang="en-US" altLang="zh-CN" sz="1400" baseline="-25000">
                      <a:latin typeface="Arial" panose="020B0604020202020204" pitchFamily="34" charset="0"/>
                    </a:rPr>
                    <a:t>4</a:t>
                  </a:r>
                  <a:endParaRPr lang="en-US" altLang="zh-CN" sz="1400">
                    <a:latin typeface="Arial" panose="020B0604020202020204" pitchFamily="34" charset="0"/>
                  </a:endParaRPr>
                </a:p>
              </p:txBody>
            </p:sp>
          </p:grpSp>
        </p:grpSp>
        <p:sp>
          <p:nvSpPr>
            <p:cNvPr id="67" name="Text Box 23"/>
            <p:cNvSpPr txBox="1"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2694057" y="5283341"/>
              <a:ext cx="533400" cy="44780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>
                  <a:srgbClr val="000000"/>
                </a:buClr>
                <a:buFontTx/>
                <a:buNone/>
              </a:pPr>
              <a:r>
                <a:rPr lang="en-US" altLang="zh-CN" sz="1400" i="1">
                  <a:latin typeface="Arial" panose="020B0604020202020204" pitchFamily="34" charset="0"/>
                </a:rPr>
                <a:t>u</a:t>
              </a:r>
              <a:r>
                <a:rPr lang="en-US" altLang="zh-CN" sz="1400" baseline="-25000">
                  <a:latin typeface="Arial" panose="020B0604020202020204" pitchFamily="34" charset="0"/>
                </a:rPr>
                <a:t>2</a:t>
              </a:r>
              <a:endParaRPr lang="en-US" altLang="zh-CN" sz="1400">
                <a:latin typeface="Arial" panose="020B0604020202020204" pitchFamily="34" charset="0"/>
              </a:endParaRPr>
            </a:p>
          </p:txBody>
        </p:sp>
        <p:sp>
          <p:nvSpPr>
            <p:cNvPr id="68" name="Text Box 24"/>
            <p:cNvSpPr txBox="1">
              <a:spLocks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3989457" y="5283341"/>
              <a:ext cx="533400" cy="44780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>
                  <a:srgbClr val="000000"/>
                </a:buClr>
                <a:buFontTx/>
                <a:buNone/>
              </a:pPr>
              <a:r>
                <a:rPr lang="en-US" altLang="zh-CN" sz="1400" i="1">
                  <a:latin typeface="Arial" panose="020B0604020202020204" pitchFamily="34" charset="0"/>
                </a:rPr>
                <a:t>u</a:t>
              </a:r>
              <a:r>
                <a:rPr lang="en-US" altLang="zh-CN" sz="1400" baseline="-25000">
                  <a:latin typeface="Arial" panose="020B0604020202020204" pitchFamily="34" charset="0"/>
                </a:rPr>
                <a:t>3</a:t>
              </a:r>
              <a:endParaRPr lang="en-US" altLang="zh-CN" sz="1400">
                <a:latin typeface="Arial" panose="020B0604020202020204" pitchFamily="34" charset="0"/>
              </a:endParaRPr>
            </a:p>
          </p:txBody>
        </p:sp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E8D271B9-7D8E-BD27-3DCA-467777E600A0}"/>
              </a:ext>
            </a:extLst>
          </p:cNvPr>
          <p:cNvGrpSpPr/>
          <p:nvPr/>
        </p:nvGrpSpPr>
        <p:grpSpPr>
          <a:xfrm>
            <a:off x="638810" y="4876800"/>
            <a:ext cx="7895590" cy="1235355"/>
            <a:chOff x="564198" y="569704"/>
            <a:chExt cx="7993380" cy="955675"/>
          </a:xfrm>
          <a:solidFill>
            <a:schemeClr val="bg1">
              <a:lumMod val="95000"/>
            </a:schemeClr>
          </a:solidFill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9EB9C4C1-3F92-76B1-B313-E6F11E0B8C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4198" y="569704"/>
              <a:ext cx="7993380" cy="955675"/>
            </a:xfrm>
            <a:prstGeom prst="rect">
              <a:avLst/>
            </a:prstGeom>
            <a:grpFill/>
            <a:ln>
              <a:noFill/>
            </a:ln>
            <a:effectLst/>
          </p:spPr>
          <p:txBody>
            <a:bodyPr anchor="ctr">
              <a:no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lnSpc>
                  <a:spcPct val="150000"/>
                </a:lnSpc>
                <a:spcBef>
                  <a:spcPct val="0"/>
                </a:spcBef>
                <a:buClr>
                  <a:srgbClr val="FF0000"/>
                </a:buClr>
                <a:buFont typeface="Wingdings" panose="05000000000000000000" charset="0"/>
                <a:buChar char="u"/>
              </a:pPr>
              <a:r>
                <a:rPr lang="en-US" altLang="zh-CN" sz="2400" b="1" dirty="0">
                  <a:latin typeface="Times New Roman" panose="02020603050405020304" pitchFamily="18" charset="0"/>
                </a:rPr>
                <a:t>    </a:t>
              </a:r>
              <a:r>
                <a:rPr lang="zh-CN" altLang="en-US" sz="2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最优值函数     </a:t>
              </a:r>
              <a:r>
                <a:rPr lang="en-US" altLang="zh-CN" sz="2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  </a:t>
              </a:r>
              <a:r>
                <a:rPr lang="zh-CN" altLang="en-US" sz="2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表示第</a:t>
              </a:r>
              <a:r>
                <a:rPr lang="en-US" altLang="zh-CN" sz="22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k</a:t>
              </a:r>
              <a:r>
                <a:rPr lang="zh-CN" altLang="en-US" sz="2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阶段的</a:t>
              </a:r>
              <a:r>
                <a:rPr lang="zh-CN" altLang="en-US" sz="22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结束状态</a:t>
              </a:r>
              <a:r>
                <a:rPr lang="zh-CN" altLang="en-US" sz="2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为</a:t>
              </a:r>
              <a:r>
                <a:rPr lang="en-US" altLang="zh-CN" sz="22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r>
                <a:rPr lang="en-US" altLang="zh-CN" sz="2200" b="1" i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k+</a:t>
              </a:r>
              <a:r>
                <a:rPr lang="en-US" altLang="zh-CN" sz="2200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zh-CN" altLang="en-US" sz="2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，从第 </a:t>
              </a:r>
              <a:r>
                <a:rPr lang="en-US" altLang="zh-CN" sz="2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 </a:t>
              </a:r>
              <a:r>
                <a:rPr lang="zh-CN" altLang="en-US" sz="2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阶段的状态</a:t>
              </a:r>
              <a:r>
                <a:rPr lang="en-US" altLang="zh-CN" sz="22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r>
                <a:rPr lang="en-US" altLang="zh-CN" sz="22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zh-CN" altLang="en-US" sz="2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开始到第</a:t>
              </a:r>
              <a:r>
                <a:rPr lang="en-US" altLang="zh-CN" sz="22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k</a:t>
              </a:r>
              <a:r>
                <a:rPr lang="zh-CN" altLang="en-US" sz="2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阶段的终止状态</a:t>
              </a:r>
              <a:r>
                <a:rPr lang="en-US" altLang="zh-CN" sz="22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r>
                <a:rPr lang="en-US" altLang="zh-CN" sz="2200" i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k+</a:t>
              </a:r>
              <a:r>
                <a:rPr lang="en-US" altLang="zh-CN" sz="22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zh-CN" altLang="en-US" sz="2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的最优值。</a:t>
              </a:r>
            </a:p>
          </p:txBody>
        </p:sp>
        <p:graphicFrame>
          <p:nvGraphicFramePr>
            <p:cNvPr id="5" name="对象 4">
              <a:hlinkClick r:id="" action="ppaction://ole?verb=0"/>
              <a:extLst>
                <a:ext uri="{FF2B5EF4-FFF2-40B4-BE49-F238E27FC236}">
                  <a16:creationId xmlns:a16="http://schemas.microsoft.com/office/drawing/2014/main" id="{01B75ADA-446B-4CE6-2167-15A5A30342BD}"/>
                </a:ext>
              </a:extLst>
            </p:cNvPr>
            <p:cNvGraphicFramePr>
              <a:graphicFrameLocks noChangeAspect="1"/>
            </p:cNvGraphicFramePr>
            <p:nvPr>
              <p:custDataLst>
                <p:tags r:id="rId4"/>
              </p:custDataLst>
              <p:extLst>
                <p:ext uri="{D42A27DB-BD31-4B8C-83A1-F6EECF244321}">
                  <p14:modId xmlns:p14="http://schemas.microsoft.com/office/powerpoint/2010/main" val="977536153"/>
                </p:ext>
              </p:extLst>
            </p:nvPr>
          </p:nvGraphicFramePr>
          <p:xfrm>
            <a:off x="2649220" y="628051"/>
            <a:ext cx="1084580" cy="4876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38" imgW="508000" imgH="228600" progId="Equation.DSMT4">
                    <p:embed/>
                  </p:oleObj>
                </mc:Choice>
                <mc:Fallback>
                  <p:oleObj r:id="rId38" imgW="508000" imgH="228600" progId="Equation.DSMT4">
                    <p:embed/>
                    <p:pic>
                      <p:nvPicPr>
                        <p:cNvPr id="4" name="对象 3">
                          <a:hlinkClick r:id="" action="ppaction://ole?verb=0"/>
                        </p:cNvPr>
                        <p:cNvPicPr/>
                        <p:nvPr/>
                      </p:nvPicPr>
                      <p:blipFill>
                        <a:blip r:embed="rId39"/>
                        <a:stretch>
                          <a:fillRect/>
                        </a:stretch>
                      </p:blipFill>
                      <p:spPr>
                        <a:xfrm>
                          <a:off x="2649220" y="628051"/>
                          <a:ext cx="1084580" cy="487680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3"/>
          <p:cNvSpPr>
            <a:spLocks noChangeArrowheads="1"/>
          </p:cNvSpPr>
          <p:nvPr/>
        </p:nvSpPr>
        <p:spPr bwMode="auto">
          <a:xfrm>
            <a:off x="0" y="1349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>
                <a:srgbClr val="000000"/>
              </a:buClr>
              <a:buFontTx/>
              <a:buNone/>
            </a:pPr>
            <a:endParaRPr lang="zh-CN" altLang="en-US" sz="1800">
              <a:latin typeface="Arial" panose="020B0604020202020204" pitchFamily="34" charset="0"/>
            </a:endParaRPr>
          </a:p>
        </p:txBody>
      </p:sp>
      <p:pic>
        <p:nvPicPr>
          <p:cNvPr id="70660" name="Picture 4" descr="1114959391398087791833"/>
          <p:cNvPicPr>
            <a:picLocks noChangeAspect="1" noChangeArrowheads="1"/>
          </p:cNvPicPr>
          <p:nvPr/>
        </p:nvPicPr>
        <p:blipFill>
          <a:blip r:embed="rId2">
            <a:duotone>
              <a:schemeClr val="accent4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685800" y="2152650"/>
            <a:ext cx="5187950" cy="1733550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94212" name="Rectangle 5"/>
          <p:cNvSpPr>
            <a:spLocks noChangeArrowheads="1"/>
          </p:cNvSpPr>
          <p:nvPr/>
        </p:nvSpPr>
        <p:spPr bwMode="auto">
          <a:xfrm>
            <a:off x="381000" y="1692424"/>
            <a:ext cx="315983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indent="2667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>
                <a:srgbClr val="000000"/>
              </a:buClr>
              <a:buFontTx/>
              <a:buNone/>
            </a:pPr>
            <a:r>
              <a:rPr lang="zh-CN" altLang="en-US" sz="2400" b="1" dirty="0">
                <a:latin typeface="Times New Roman" panose="02020603050405020304" pitchFamily="18" charset="0"/>
                <a:cs typeface="Courier New" panose="02070309020205020404" pitchFamily="49" charset="0"/>
              </a:rPr>
              <a:t>将</a:t>
            </a:r>
            <a:r>
              <a:rPr lang="zh-CN" altLang="en-US" sz="2400" b="1" u="sng" dirty="0">
                <a:latin typeface="Times New Roman" panose="02020603050405020304" pitchFamily="18" charset="0"/>
                <a:cs typeface="Courier New" panose="02070309020205020404" pitchFamily="49" charset="0"/>
              </a:rPr>
              <a:t>例</a:t>
            </a:r>
            <a:r>
              <a:rPr lang="en-US" altLang="zh-CN" sz="2400" b="1" u="sng" dirty="0">
                <a:latin typeface="Times New Roman" panose="02020603050405020304" pitchFamily="18" charset="0"/>
                <a:cs typeface="Courier New" panose="02070309020205020404" pitchFamily="49" charset="0"/>
              </a:rPr>
              <a:t>3</a:t>
            </a:r>
            <a:r>
              <a:rPr lang="en-US" altLang="zh-CN" sz="2400" b="1" dirty="0">
                <a:latin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zh-CN" altLang="en-US" sz="2400" b="1" dirty="0">
                <a:latin typeface="Times New Roman" panose="02020603050405020304" pitchFamily="18" charset="0"/>
                <a:cs typeface="Courier New" panose="02070309020205020404" pitchFamily="49" charset="0"/>
              </a:rPr>
              <a:t>用</a:t>
            </a:r>
            <a:r>
              <a:rPr lang="zh-CN" altLang="en-US" sz="2400" b="1" dirty="0">
                <a:solidFill>
                  <a:srgbClr val="C00000"/>
                </a:solidFill>
                <a:latin typeface="Times New Roman" panose="02020603050405020304" pitchFamily="18" charset="0"/>
                <a:cs typeface="Courier New" panose="02070309020205020404" pitchFamily="49" charset="0"/>
              </a:rPr>
              <a:t>顺推法</a:t>
            </a:r>
            <a:r>
              <a:rPr lang="zh-CN" altLang="en-US" sz="2400" b="1" dirty="0">
                <a:latin typeface="Times New Roman" panose="02020603050405020304" pitchFamily="18" charset="0"/>
                <a:cs typeface="Courier New" panose="02070309020205020404" pitchFamily="49" charset="0"/>
              </a:rPr>
              <a:t>求解</a:t>
            </a:r>
          </a:p>
        </p:txBody>
      </p:sp>
      <p:sp>
        <p:nvSpPr>
          <p:cNvPr id="94213" name="灯片编号占位符 2"/>
          <p:cNvSpPr>
            <a:spLocks noGrp="1" noChangeArrowheads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>
                <a:srgbClr val="000000"/>
              </a:buClr>
              <a:buFontTx/>
              <a:buNone/>
            </a:pPr>
            <a:fld id="{3AACDDE8-5BE5-4DD7-AA74-F04BCEE15835}" type="slidenum">
              <a:rPr lang="zh-CN" altLang="zh-CN" sz="1400">
                <a:latin typeface="Arial" panose="020B0604020202020204" pitchFamily="34" charset="0"/>
              </a:rPr>
              <a:t>16</a:t>
            </a:fld>
            <a:endParaRPr lang="en-US" altLang="zh-CN" sz="1400">
              <a:latin typeface="Arial" panose="020B0604020202020204" pitchFamily="34" charset="0"/>
            </a:endParaRPr>
          </a:p>
        </p:txBody>
      </p:sp>
      <p:sp>
        <p:nvSpPr>
          <p:cNvPr id="36" name="Rectangle 48"/>
          <p:cNvSpPr>
            <a:spLocks noChangeArrowheads="1"/>
          </p:cNvSpPr>
          <p:nvPr/>
        </p:nvSpPr>
        <p:spPr bwMode="auto">
          <a:xfrm>
            <a:off x="5638800" y="4895215"/>
            <a:ext cx="2964180" cy="119888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accent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Clr>
                <a:srgbClr val="000000"/>
              </a:buClr>
              <a:buFontTx/>
              <a:buNone/>
            </a:pP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状态变量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 s</a:t>
            </a:r>
            <a:r>
              <a:rPr lang="en-US" altLang="zh-CN" sz="2400" b="1" i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, s</a:t>
            </a:r>
            <a:r>
              <a:rPr lang="en-US" altLang="zh-CN" sz="2400" b="1" i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, s</a:t>
            </a:r>
            <a:r>
              <a:rPr lang="en-US" altLang="zh-CN" sz="2400" b="1" i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, s</a:t>
            </a:r>
            <a:r>
              <a:rPr lang="en-US" altLang="zh-CN" sz="2400" b="1" i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>
                <a:srgbClr val="000000"/>
              </a:buClr>
              <a:buFontTx/>
              <a:buNone/>
            </a:pP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决策变量为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 x</a:t>
            </a:r>
            <a:r>
              <a:rPr lang="en-US" altLang="zh-CN" sz="2400" b="1" i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, x</a:t>
            </a:r>
            <a:r>
              <a:rPr lang="en-US" altLang="zh-CN" sz="2400" b="1" i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, x</a:t>
            </a:r>
            <a:r>
              <a:rPr lang="en-US" altLang="zh-CN" sz="2400" b="1" i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/>
        </p:nvGraphicFramePr>
        <p:xfrm>
          <a:off x="6248400" y="2895600"/>
          <a:ext cx="2021840" cy="1847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800100" imgH="939800" progId="Equation.DSMT4">
                  <p:embed/>
                </p:oleObj>
              </mc:Choice>
              <mc:Fallback>
                <p:oleObj name="Equation" r:id="rId3" imgW="800100" imgH="939800" progId="Equation.DSMT4">
                  <p:embed/>
                  <p:pic>
                    <p:nvPicPr>
                      <p:cNvPr id="0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48400" y="2895600"/>
                        <a:ext cx="2021840" cy="1847850"/>
                      </a:xfrm>
                      <a:prstGeom prst="rect">
                        <a:avLst/>
                      </a:prstGeom>
                      <a:solidFill>
                        <a:schemeClr val="accent5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组合 3"/>
          <p:cNvGrpSpPr/>
          <p:nvPr/>
        </p:nvGrpSpPr>
        <p:grpSpPr bwMode="auto">
          <a:xfrm>
            <a:off x="533400" y="4343400"/>
            <a:ext cx="4724400" cy="1752600"/>
            <a:chOff x="411897" y="3987941"/>
            <a:chExt cx="4724400" cy="1752600"/>
          </a:xfrm>
        </p:grpSpPr>
        <p:grpSp>
          <p:nvGrpSpPr>
            <p:cNvPr id="94218" name="组合 64"/>
            <p:cNvGrpSpPr/>
            <p:nvPr/>
          </p:nvGrpSpPr>
          <p:grpSpPr bwMode="auto">
            <a:xfrm>
              <a:off x="411897" y="3987941"/>
              <a:ext cx="4724400" cy="1752600"/>
              <a:chOff x="4283968" y="620688"/>
              <a:chExt cx="4724400" cy="1752600"/>
            </a:xfrm>
          </p:grpSpPr>
          <p:sp>
            <p:nvSpPr>
              <p:cNvPr id="94221" name="Text Box 22"/>
              <p:cNvSpPr txBox="1">
                <a:spLocks noChangeArrowheads="1"/>
              </p:cNvSpPr>
              <p:nvPr/>
            </p:nvSpPr>
            <p:spPr bwMode="auto">
              <a:xfrm>
                <a:off x="5426968" y="1916088"/>
                <a:ext cx="533400" cy="4572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6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23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5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>
                    <a:srgbClr val="000000"/>
                  </a:buClr>
                  <a:buFontTx/>
                  <a:buNone/>
                </a:pPr>
                <a:r>
                  <a:rPr lang="en-US" altLang="zh-CN" sz="1800" i="1">
                    <a:latin typeface="Arial" panose="020B0604020202020204" pitchFamily="34" charset="0"/>
                  </a:rPr>
                  <a:t>x</a:t>
                </a:r>
                <a:r>
                  <a:rPr lang="en-US" altLang="zh-CN" sz="1800" baseline="-25000">
                    <a:latin typeface="Arial" panose="020B0604020202020204" pitchFamily="34" charset="0"/>
                  </a:rPr>
                  <a:t>1</a:t>
                </a:r>
                <a:endParaRPr lang="en-US" altLang="zh-CN" sz="1800">
                  <a:latin typeface="Arial" panose="020B0604020202020204" pitchFamily="34" charset="0"/>
                </a:endParaRPr>
              </a:p>
            </p:txBody>
          </p:sp>
          <p:grpSp>
            <p:nvGrpSpPr>
              <p:cNvPr id="94222" name="组合 66"/>
              <p:cNvGrpSpPr/>
              <p:nvPr/>
            </p:nvGrpSpPr>
            <p:grpSpPr bwMode="auto">
              <a:xfrm>
                <a:off x="4283968" y="620688"/>
                <a:ext cx="4724400" cy="1371600"/>
                <a:chOff x="4283968" y="620688"/>
                <a:chExt cx="4724400" cy="1371600"/>
              </a:xfrm>
            </p:grpSpPr>
            <p:sp>
              <p:nvSpPr>
                <p:cNvPr id="94223" name="Rectangle 5"/>
                <p:cNvSpPr>
                  <a:spLocks noChangeArrowheads="1"/>
                </p:cNvSpPr>
                <p:nvPr/>
              </p:nvSpPr>
              <p:spPr bwMode="auto">
                <a:xfrm>
                  <a:off x="5350768" y="1306488"/>
                  <a:ext cx="533400" cy="457200"/>
                </a:xfrm>
                <a:prstGeom prst="rect">
                  <a:avLst/>
                </a:prstGeom>
                <a:solidFill>
                  <a:srgbClr val="00FFCC"/>
                </a:solidFill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o"/>
                    <a:defRPr sz="3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n"/>
                    <a:defRPr sz="26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o"/>
                    <a:defRPr sz="23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5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>
                      <a:srgbClr val="000000"/>
                    </a:buClr>
                    <a:buFontTx/>
                    <a:buNone/>
                  </a:pPr>
                  <a:endParaRPr lang="zh-CN" altLang="en-US" sz="18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94224" name="Rectangle 6"/>
                <p:cNvSpPr>
                  <a:spLocks noChangeArrowheads="1"/>
                </p:cNvSpPr>
                <p:nvPr/>
              </p:nvSpPr>
              <p:spPr bwMode="auto">
                <a:xfrm>
                  <a:off x="6569968" y="1306488"/>
                  <a:ext cx="533400" cy="457200"/>
                </a:xfrm>
                <a:prstGeom prst="rect">
                  <a:avLst/>
                </a:prstGeom>
                <a:solidFill>
                  <a:srgbClr val="00FFCC"/>
                </a:solidFill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o"/>
                    <a:defRPr sz="3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n"/>
                    <a:defRPr sz="26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o"/>
                    <a:defRPr sz="23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5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>
                      <a:srgbClr val="000000"/>
                    </a:buClr>
                    <a:buFontTx/>
                    <a:buNone/>
                  </a:pPr>
                  <a:endParaRPr lang="zh-CN" altLang="en-US" sz="18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94225" name="Rectangle 7"/>
                <p:cNvSpPr>
                  <a:spLocks noChangeArrowheads="1"/>
                </p:cNvSpPr>
                <p:nvPr/>
              </p:nvSpPr>
              <p:spPr bwMode="auto">
                <a:xfrm>
                  <a:off x="7789168" y="1306488"/>
                  <a:ext cx="533400" cy="457200"/>
                </a:xfrm>
                <a:prstGeom prst="rect">
                  <a:avLst/>
                </a:prstGeom>
                <a:solidFill>
                  <a:srgbClr val="00FFCC"/>
                </a:solidFill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o"/>
                    <a:defRPr sz="3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n"/>
                    <a:defRPr sz="26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o"/>
                    <a:defRPr sz="23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5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>
                      <a:srgbClr val="000000"/>
                    </a:buClr>
                    <a:buFontTx/>
                    <a:buNone/>
                  </a:pPr>
                  <a:endParaRPr lang="zh-CN" altLang="en-US" sz="18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94226" name="Line 8"/>
                <p:cNvSpPr>
                  <a:spLocks noChangeShapeType="1"/>
                </p:cNvSpPr>
                <p:nvPr/>
              </p:nvSpPr>
              <p:spPr bwMode="auto">
                <a:xfrm>
                  <a:off x="4360168" y="1535088"/>
                  <a:ext cx="99060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94227" name="Line 9"/>
                <p:cNvSpPr>
                  <a:spLocks noChangeShapeType="1"/>
                </p:cNvSpPr>
                <p:nvPr/>
              </p:nvSpPr>
              <p:spPr bwMode="auto">
                <a:xfrm>
                  <a:off x="5884168" y="1535088"/>
                  <a:ext cx="68580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94228" name="Line 10"/>
                <p:cNvSpPr>
                  <a:spLocks noChangeShapeType="1"/>
                </p:cNvSpPr>
                <p:nvPr/>
              </p:nvSpPr>
              <p:spPr bwMode="auto">
                <a:xfrm>
                  <a:off x="7103368" y="1535088"/>
                  <a:ext cx="68580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94229" name="Line 11"/>
                <p:cNvSpPr>
                  <a:spLocks noChangeShapeType="1"/>
                </p:cNvSpPr>
                <p:nvPr/>
              </p:nvSpPr>
              <p:spPr bwMode="auto">
                <a:xfrm flipH="1" flipV="1">
                  <a:off x="8306032" y="1535088"/>
                  <a:ext cx="58644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94230" name="Text Box 12"/>
                <p:cNvSpPr txBox="1">
                  <a:spLocks noChangeArrowheads="1"/>
                </p:cNvSpPr>
                <p:nvPr/>
              </p:nvSpPr>
              <p:spPr bwMode="auto">
                <a:xfrm>
                  <a:off x="5426968" y="1306488"/>
                  <a:ext cx="228600" cy="4572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o"/>
                    <a:defRPr sz="3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n"/>
                    <a:defRPr sz="26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o"/>
                    <a:defRPr sz="23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5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Clr>
                      <a:srgbClr val="000000"/>
                    </a:buClr>
                    <a:buFontTx/>
                    <a:buNone/>
                  </a:pPr>
                  <a:r>
                    <a:rPr lang="en-US" altLang="zh-CN" sz="1800">
                      <a:latin typeface="Arial" panose="020B0604020202020204" pitchFamily="34" charset="0"/>
                    </a:rPr>
                    <a:t>1</a:t>
                  </a:r>
                </a:p>
              </p:txBody>
            </p:sp>
            <p:sp>
              <p:nvSpPr>
                <p:cNvPr id="94231" name="Text Box 13"/>
                <p:cNvSpPr txBox="1">
                  <a:spLocks noChangeArrowheads="1"/>
                </p:cNvSpPr>
                <p:nvPr/>
              </p:nvSpPr>
              <p:spPr bwMode="auto">
                <a:xfrm>
                  <a:off x="6646168" y="1306488"/>
                  <a:ext cx="228600" cy="4572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o"/>
                    <a:defRPr sz="3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n"/>
                    <a:defRPr sz="26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o"/>
                    <a:defRPr sz="23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5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Clr>
                      <a:srgbClr val="000000"/>
                    </a:buClr>
                    <a:buFontTx/>
                    <a:buNone/>
                  </a:pPr>
                  <a:r>
                    <a:rPr lang="en-US" altLang="zh-CN" sz="1800">
                      <a:latin typeface="Arial" panose="020B0604020202020204" pitchFamily="34" charset="0"/>
                    </a:rPr>
                    <a:t>2</a:t>
                  </a:r>
                </a:p>
              </p:txBody>
            </p:sp>
            <p:sp>
              <p:nvSpPr>
                <p:cNvPr id="94232" name="Text Box 14"/>
                <p:cNvSpPr txBox="1">
                  <a:spLocks noChangeArrowheads="1"/>
                </p:cNvSpPr>
                <p:nvPr/>
              </p:nvSpPr>
              <p:spPr bwMode="auto">
                <a:xfrm>
                  <a:off x="7865368" y="1306488"/>
                  <a:ext cx="228600" cy="4572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o"/>
                    <a:defRPr sz="3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n"/>
                    <a:defRPr sz="26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o"/>
                    <a:defRPr sz="23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5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Clr>
                      <a:srgbClr val="000000"/>
                    </a:buClr>
                    <a:buFontTx/>
                    <a:buNone/>
                  </a:pPr>
                  <a:r>
                    <a:rPr lang="en-US" altLang="zh-CN" sz="1800">
                      <a:latin typeface="Arial" panose="020B0604020202020204" pitchFamily="34" charset="0"/>
                    </a:rPr>
                    <a:t>3</a:t>
                  </a:r>
                </a:p>
              </p:txBody>
            </p:sp>
            <p:sp>
              <p:nvSpPr>
                <p:cNvPr id="94233" name="Text Box 15"/>
                <p:cNvSpPr txBox="1">
                  <a:spLocks noChangeArrowheads="1"/>
                </p:cNvSpPr>
                <p:nvPr/>
              </p:nvSpPr>
              <p:spPr bwMode="auto">
                <a:xfrm>
                  <a:off x="4283968" y="1138213"/>
                  <a:ext cx="1295400" cy="39687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o"/>
                    <a:defRPr sz="3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n"/>
                    <a:defRPr sz="26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o"/>
                    <a:defRPr sz="23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5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Clr>
                      <a:srgbClr val="000000"/>
                    </a:buClr>
                    <a:buFontTx/>
                    <a:buNone/>
                  </a:pPr>
                  <a:r>
                    <a:rPr lang="en-US" altLang="zh-CN" sz="2000" i="1">
                      <a:latin typeface="Arial" panose="020B0604020202020204" pitchFamily="34" charset="0"/>
                    </a:rPr>
                    <a:t>      S</a:t>
                  </a:r>
                  <a:r>
                    <a:rPr lang="en-US" altLang="zh-CN" sz="2000" baseline="-25000">
                      <a:latin typeface="Arial" panose="020B0604020202020204" pitchFamily="34" charset="0"/>
                    </a:rPr>
                    <a:t>1</a:t>
                  </a:r>
                  <a:endParaRPr lang="en-US" altLang="zh-CN" sz="18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94234" name="Line 16"/>
                <p:cNvSpPr>
                  <a:spLocks noChangeShapeType="1"/>
                </p:cNvSpPr>
                <p:nvPr/>
              </p:nvSpPr>
              <p:spPr bwMode="auto">
                <a:xfrm flipV="1">
                  <a:off x="5579368" y="1763688"/>
                  <a:ext cx="0" cy="22860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94235" name="Line 17"/>
                <p:cNvSpPr>
                  <a:spLocks noChangeShapeType="1"/>
                </p:cNvSpPr>
                <p:nvPr/>
              </p:nvSpPr>
              <p:spPr bwMode="auto">
                <a:xfrm flipV="1">
                  <a:off x="8017768" y="1763688"/>
                  <a:ext cx="0" cy="22860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94236" name="Line 18"/>
                <p:cNvSpPr>
                  <a:spLocks noChangeShapeType="1"/>
                </p:cNvSpPr>
                <p:nvPr/>
              </p:nvSpPr>
              <p:spPr bwMode="auto">
                <a:xfrm flipV="1">
                  <a:off x="6798568" y="1077888"/>
                  <a:ext cx="0" cy="22860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94237" name="Line 19"/>
                <p:cNvSpPr>
                  <a:spLocks noChangeShapeType="1"/>
                </p:cNvSpPr>
                <p:nvPr/>
              </p:nvSpPr>
              <p:spPr bwMode="auto">
                <a:xfrm flipV="1">
                  <a:off x="5579368" y="1077888"/>
                  <a:ext cx="0" cy="22860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94238" name="Line 20"/>
                <p:cNvSpPr>
                  <a:spLocks noChangeShapeType="1"/>
                </p:cNvSpPr>
                <p:nvPr/>
              </p:nvSpPr>
              <p:spPr bwMode="auto">
                <a:xfrm flipV="1">
                  <a:off x="6798568" y="1763688"/>
                  <a:ext cx="0" cy="22860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94239" name="Line 21"/>
                <p:cNvSpPr>
                  <a:spLocks noChangeShapeType="1"/>
                </p:cNvSpPr>
                <p:nvPr/>
              </p:nvSpPr>
              <p:spPr bwMode="auto">
                <a:xfrm flipV="1">
                  <a:off x="8017768" y="1077888"/>
                  <a:ext cx="0" cy="22860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94240" name="Text Box 25"/>
                <p:cNvSpPr txBox="1">
                  <a:spLocks noChangeArrowheads="1"/>
                </p:cNvSpPr>
                <p:nvPr/>
              </p:nvSpPr>
              <p:spPr bwMode="auto">
                <a:xfrm>
                  <a:off x="5426968" y="671488"/>
                  <a:ext cx="533400" cy="4572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o"/>
                    <a:defRPr sz="3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n"/>
                    <a:defRPr sz="26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o"/>
                    <a:defRPr sz="23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5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Clr>
                      <a:srgbClr val="000000"/>
                    </a:buClr>
                    <a:buFontTx/>
                    <a:buNone/>
                  </a:pPr>
                  <a:r>
                    <a:rPr lang="en-US" altLang="zh-CN" sz="1800" i="1">
                      <a:latin typeface="Arial" panose="020B0604020202020204" pitchFamily="34" charset="0"/>
                    </a:rPr>
                    <a:t>v</a:t>
                  </a:r>
                  <a:r>
                    <a:rPr lang="en-US" altLang="zh-CN" sz="1800" baseline="-25000">
                      <a:latin typeface="Arial" panose="020B0604020202020204" pitchFamily="34" charset="0"/>
                    </a:rPr>
                    <a:t>1</a:t>
                  </a:r>
                  <a:endParaRPr lang="en-US" altLang="zh-CN" sz="18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94241" name="Text Box 26"/>
                <p:cNvSpPr txBox="1">
                  <a:spLocks noChangeArrowheads="1"/>
                </p:cNvSpPr>
                <p:nvPr/>
              </p:nvSpPr>
              <p:spPr bwMode="auto">
                <a:xfrm>
                  <a:off x="6569968" y="620688"/>
                  <a:ext cx="533400" cy="4572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o"/>
                    <a:defRPr sz="3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n"/>
                    <a:defRPr sz="26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o"/>
                    <a:defRPr sz="23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5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Clr>
                      <a:srgbClr val="000000"/>
                    </a:buClr>
                    <a:buFontTx/>
                    <a:buNone/>
                  </a:pPr>
                  <a:r>
                    <a:rPr lang="en-US" altLang="zh-CN" sz="1800" i="1">
                      <a:latin typeface="Arial" panose="020B0604020202020204" pitchFamily="34" charset="0"/>
                    </a:rPr>
                    <a:t>v</a:t>
                  </a:r>
                  <a:r>
                    <a:rPr lang="en-US" altLang="zh-CN" sz="1800" baseline="-25000">
                      <a:latin typeface="Arial" panose="020B0604020202020204" pitchFamily="34" charset="0"/>
                    </a:rPr>
                    <a:t>2</a:t>
                  </a:r>
                  <a:endParaRPr lang="en-US" altLang="zh-CN" sz="18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94242" name="Text Box 27"/>
                <p:cNvSpPr txBox="1">
                  <a:spLocks noChangeArrowheads="1"/>
                </p:cNvSpPr>
                <p:nvPr/>
              </p:nvSpPr>
              <p:spPr bwMode="auto">
                <a:xfrm>
                  <a:off x="7789168" y="620688"/>
                  <a:ext cx="533400" cy="4572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o"/>
                    <a:defRPr sz="3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n"/>
                    <a:defRPr sz="26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o"/>
                    <a:defRPr sz="23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5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Clr>
                      <a:srgbClr val="000000"/>
                    </a:buClr>
                    <a:buFontTx/>
                    <a:buNone/>
                  </a:pPr>
                  <a:r>
                    <a:rPr lang="en-US" altLang="zh-CN" sz="1800" i="1">
                      <a:latin typeface="Arial" panose="020B0604020202020204" pitchFamily="34" charset="0"/>
                    </a:rPr>
                    <a:t>v</a:t>
                  </a:r>
                  <a:r>
                    <a:rPr lang="en-US" altLang="zh-CN" sz="1800" baseline="-25000">
                      <a:latin typeface="Arial" panose="020B0604020202020204" pitchFamily="34" charset="0"/>
                    </a:rPr>
                    <a:t>3</a:t>
                  </a:r>
                  <a:endParaRPr lang="en-US" altLang="zh-CN" sz="18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94243" name="Text Box 28"/>
                <p:cNvSpPr txBox="1">
                  <a:spLocks noChangeArrowheads="1"/>
                </p:cNvSpPr>
                <p:nvPr/>
              </p:nvSpPr>
              <p:spPr bwMode="auto">
                <a:xfrm>
                  <a:off x="6036568" y="1001688"/>
                  <a:ext cx="533400" cy="4572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o"/>
                    <a:defRPr sz="3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n"/>
                    <a:defRPr sz="26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o"/>
                    <a:defRPr sz="23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5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Clr>
                      <a:srgbClr val="000000"/>
                    </a:buClr>
                    <a:buFontTx/>
                    <a:buNone/>
                  </a:pPr>
                  <a:r>
                    <a:rPr lang="en-US" altLang="zh-CN" sz="1800" i="1">
                      <a:latin typeface="Arial" panose="020B0604020202020204" pitchFamily="34" charset="0"/>
                    </a:rPr>
                    <a:t>s</a:t>
                  </a:r>
                  <a:r>
                    <a:rPr lang="en-US" altLang="zh-CN" sz="1800" baseline="-25000">
                      <a:latin typeface="Arial" panose="020B0604020202020204" pitchFamily="34" charset="0"/>
                    </a:rPr>
                    <a:t>2</a:t>
                  </a:r>
                  <a:endParaRPr lang="en-US" altLang="zh-CN" sz="18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94244" name="Text Box 29"/>
                <p:cNvSpPr txBox="1">
                  <a:spLocks noChangeArrowheads="1"/>
                </p:cNvSpPr>
                <p:nvPr/>
              </p:nvSpPr>
              <p:spPr bwMode="auto">
                <a:xfrm>
                  <a:off x="7179568" y="1001688"/>
                  <a:ext cx="533400" cy="4572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o"/>
                    <a:defRPr sz="3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n"/>
                    <a:defRPr sz="26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o"/>
                    <a:defRPr sz="23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5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Clr>
                      <a:srgbClr val="000000"/>
                    </a:buClr>
                    <a:buFontTx/>
                    <a:buNone/>
                  </a:pPr>
                  <a:r>
                    <a:rPr lang="en-US" altLang="zh-CN" sz="1800" i="1">
                      <a:latin typeface="Arial" panose="020B0604020202020204" pitchFamily="34" charset="0"/>
                    </a:rPr>
                    <a:t>s</a:t>
                  </a:r>
                  <a:r>
                    <a:rPr lang="en-US" altLang="zh-CN" sz="1800" baseline="-25000">
                      <a:latin typeface="Arial" panose="020B0604020202020204" pitchFamily="34" charset="0"/>
                    </a:rPr>
                    <a:t>3</a:t>
                  </a:r>
                  <a:endParaRPr lang="en-US" altLang="zh-CN" sz="18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94245" name="Text Box 30"/>
                <p:cNvSpPr txBox="1">
                  <a:spLocks noChangeArrowheads="1"/>
                </p:cNvSpPr>
                <p:nvPr/>
              </p:nvSpPr>
              <p:spPr bwMode="auto">
                <a:xfrm>
                  <a:off x="8474968" y="1001688"/>
                  <a:ext cx="533400" cy="4572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o"/>
                    <a:defRPr sz="3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n"/>
                    <a:defRPr sz="26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o"/>
                    <a:defRPr sz="23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5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Clr>
                      <a:srgbClr val="000000"/>
                    </a:buClr>
                    <a:buFontTx/>
                    <a:buNone/>
                  </a:pPr>
                  <a:r>
                    <a:rPr lang="en-US" altLang="zh-CN" sz="1800" i="1">
                      <a:latin typeface="Arial" panose="020B0604020202020204" pitchFamily="34" charset="0"/>
                    </a:rPr>
                    <a:t>s</a:t>
                  </a:r>
                  <a:r>
                    <a:rPr lang="en-US" altLang="zh-CN" sz="1800" baseline="-25000">
                      <a:latin typeface="Arial" panose="020B0604020202020204" pitchFamily="34" charset="0"/>
                    </a:rPr>
                    <a:t>4</a:t>
                  </a:r>
                  <a:endParaRPr lang="en-US" altLang="zh-CN" sz="1800">
                    <a:latin typeface="Arial" panose="020B0604020202020204" pitchFamily="34" charset="0"/>
                  </a:endParaRPr>
                </a:p>
              </p:txBody>
            </p:sp>
          </p:grpSp>
        </p:grpSp>
        <p:sp>
          <p:nvSpPr>
            <p:cNvPr id="94219" name="Text Box 23"/>
            <p:cNvSpPr txBox="1">
              <a:spLocks noChangeArrowheads="1"/>
            </p:cNvSpPr>
            <p:nvPr/>
          </p:nvSpPr>
          <p:spPr bwMode="auto">
            <a:xfrm>
              <a:off x="2694057" y="5283341"/>
              <a:ext cx="5334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>
                  <a:srgbClr val="000000"/>
                </a:buClr>
                <a:buFontTx/>
                <a:buNone/>
              </a:pPr>
              <a:r>
                <a:rPr lang="en-US" altLang="zh-CN" sz="1800" i="1">
                  <a:latin typeface="Arial" panose="020B0604020202020204" pitchFamily="34" charset="0"/>
                </a:rPr>
                <a:t>x</a:t>
              </a:r>
              <a:r>
                <a:rPr lang="en-US" altLang="zh-CN" sz="1800" baseline="-25000">
                  <a:latin typeface="Arial" panose="020B0604020202020204" pitchFamily="34" charset="0"/>
                </a:rPr>
                <a:t>2</a:t>
              </a:r>
              <a:endParaRPr lang="en-US" altLang="zh-CN" sz="1800">
                <a:latin typeface="Arial" panose="020B0604020202020204" pitchFamily="34" charset="0"/>
              </a:endParaRPr>
            </a:p>
          </p:txBody>
        </p:sp>
        <p:sp>
          <p:nvSpPr>
            <p:cNvPr id="94220" name="Text Box 24"/>
            <p:cNvSpPr txBox="1">
              <a:spLocks noChangeArrowheads="1"/>
            </p:cNvSpPr>
            <p:nvPr/>
          </p:nvSpPr>
          <p:spPr bwMode="auto">
            <a:xfrm>
              <a:off x="3989457" y="5283341"/>
              <a:ext cx="5334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>
                  <a:srgbClr val="000000"/>
                </a:buClr>
                <a:buFontTx/>
                <a:buNone/>
              </a:pPr>
              <a:r>
                <a:rPr lang="en-US" altLang="zh-CN" sz="1800" i="1">
                  <a:latin typeface="Arial" panose="020B0604020202020204" pitchFamily="34" charset="0"/>
                </a:rPr>
                <a:t>x</a:t>
              </a:r>
              <a:r>
                <a:rPr lang="en-US" altLang="zh-CN" sz="1800" baseline="-25000">
                  <a:latin typeface="Arial" panose="020B0604020202020204" pitchFamily="34" charset="0"/>
                </a:rPr>
                <a:t>3</a:t>
              </a:r>
              <a:endParaRPr lang="en-US" altLang="zh-CN" sz="1800">
                <a:latin typeface="Arial" panose="020B0604020202020204" pitchFamily="34" charset="0"/>
              </a:endParaRPr>
            </a:p>
          </p:txBody>
        </p:sp>
      </p:grpSp>
      <p:sp>
        <p:nvSpPr>
          <p:cNvPr id="39" name="Rectangle 2"/>
          <p:cNvSpPr txBox="1">
            <a:spLocks noChangeArrowheads="1"/>
          </p:cNvSpPr>
          <p:nvPr/>
        </p:nvSpPr>
        <p:spPr bwMode="auto">
          <a:xfrm>
            <a:off x="609600" y="838200"/>
            <a:ext cx="5445125" cy="620713"/>
          </a:xfrm>
          <a:prstGeom prst="rect">
            <a:avLst/>
          </a:prstGeom>
          <a:noFill/>
          <a:ln>
            <a:noFill/>
          </a:ln>
        </p:spPr>
        <p:txBody>
          <a:bodyPr anchor="b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3200" b="1" u="sng" kern="0" dirty="0">
                <a:solidFill>
                  <a:schemeClr val="hlink"/>
                </a:solidFill>
              </a:rPr>
              <a:t>动态规划的求解方法</a:t>
            </a:r>
            <a:r>
              <a:rPr lang="en-US" altLang="zh-CN" sz="3200" b="1" u="sng" kern="0" dirty="0">
                <a:solidFill>
                  <a:schemeClr val="hlink"/>
                </a:solidFill>
              </a:rPr>
              <a:t>—</a:t>
            </a:r>
            <a:r>
              <a:rPr lang="zh-CN" altLang="en-US" sz="2800" b="1" u="sng" kern="0" dirty="0">
                <a:solidFill>
                  <a:srgbClr val="C00000"/>
                </a:solidFill>
              </a:rPr>
              <a:t>算例</a:t>
            </a:r>
            <a:r>
              <a:rPr lang="en-US" altLang="zh-CN" sz="2800" b="1" u="sng" kern="0" dirty="0">
                <a:solidFill>
                  <a:srgbClr val="C00000"/>
                </a:solidFill>
              </a:rPr>
              <a:t>4</a:t>
            </a:r>
            <a:endParaRPr lang="zh-CN" altLang="en-US" sz="2800" b="1" u="sng" kern="0" dirty="0">
              <a:solidFill>
                <a:srgbClr val="C00000"/>
              </a:solidFill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 bldLvl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/>
          <p:cNvSpPr>
            <a:spLocks noChangeArrowheads="1"/>
          </p:cNvSpPr>
          <p:nvPr/>
        </p:nvSpPr>
        <p:spPr bwMode="auto">
          <a:xfrm>
            <a:off x="704850" y="1524159"/>
            <a:ext cx="7705725" cy="28613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indent="2667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50000"/>
              </a:lnSpc>
              <a:spcBef>
                <a:spcPct val="0"/>
              </a:spcBef>
              <a:buClr>
                <a:srgbClr val="000000"/>
              </a:buClr>
              <a:buFontTx/>
              <a:buNone/>
            </a:pPr>
            <a:r>
              <a:rPr lang="zh-CN" altLang="en-US" sz="2400" b="1" u="sng" dirty="0">
                <a:solidFill>
                  <a:srgbClr val="FF0000"/>
                </a:solidFill>
                <a:latin typeface="Times New Roman" panose="02020603050405020304" pitchFamily="18" charset="0"/>
              </a:rPr>
              <a:t>例</a:t>
            </a:r>
            <a:r>
              <a:rPr lang="en-US" altLang="zh-CN" sz="2400" b="1" u="sng" dirty="0">
                <a:solidFill>
                  <a:srgbClr val="FF0000"/>
                </a:solidFill>
                <a:latin typeface="Times New Roman" panose="02020603050405020304" pitchFamily="18" charset="0"/>
              </a:rPr>
              <a:t>4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  </a:t>
            </a:r>
            <a:r>
              <a:rPr lang="zh-CN" altLang="en-US" sz="2400" b="1" dirty="0">
                <a:latin typeface="Times New Roman" panose="02020603050405020304" pitchFamily="18" charset="0"/>
              </a:rPr>
              <a:t>将例</a:t>
            </a:r>
            <a:r>
              <a:rPr lang="en-US" altLang="zh-CN" sz="2400" b="1" dirty="0">
                <a:latin typeface="Times New Roman" panose="02020603050405020304" pitchFamily="18" charset="0"/>
              </a:rPr>
              <a:t>3</a:t>
            </a:r>
            <a:r>
              <a:rPr lang="zh-CN" altLang="en-US" sz="2400" b="1" dirty="0">
                <a:latin typeface="Times New Roman" panose="02020603050405020304" pitchFamily="18" charset="0"/>
              </a:rPr>
              <a:t>用顺推解法解之。</a:t>
            </a:r>
            <a:endParaRPr lang="en-US" altLang="zh-CN" sz="2400" b="1" dirty="0">
              <a:latin typeface="Times New Roman" panose="02020603050405020304" pitchFamily="18" charset="0"/>
            </a:endParaRPr>
          </a:p>
          <a:p>
            <a:pPr algn="just" eaLnBrk="1" hangingPunct="1">
              <a:lnSpc>
                <a:spcPct val="150000"/>
              </a:lnSpc>
              <a:spcBef>
                <a:spcPct val="0"/>
              </a:spcBef>
              <a:buClr>
                <a:srgbClr val="000000"/>
              </a:buClr>
              <a:buFontTx/>
              <a:buNone/>
            </a:pPr>
            <a:r>
              <a:rPr lang="zh-CN" altLang="en-US" sz="2400" b="1" u="sng" dirty="0">
                <a:latin typeface="Times New Roman" panose="02020603050405020304" pitchFamily="18" charset="0"/>
              </a:rPr>
              <a:t>解</a:t>
            </a:r>
            <a:r>
              <a:rPr lang="zh-CN" altLang="en-US" sz="2400" b="1" dirty="0">
                <a:latin typeface="Times New Roman" panose="02020603050405020304" pitchFamily="18" charset="0"/>
              </a:rPr>
              <a:t>：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设状态变量为</a:t>
            </a:r>
            <a:r>
              <a:rPr lang="en-US" altLang="zh-CN" sz="2400" b="1" i="1" dirty="0">
                <a:solidFill>
                  <a:srgbClr val="FF0000"/>
                </a:solidFill>
                <a:latin typeface="Times New Roman" panose="02020603050405020304" pitchFamily="18" charset="0"/>
              </a:rPr>
              <a:t>s</a:t>
            </a:r>
            <a:r>
              <a:rPr lang="en-US" altLang="zh-CN" sz="2400" b="1" baseline="-25000" dirty="0">
                <a:solidFill>
                  <a:srgbClr val="FF0000"/>
                </a:solidFill>
                <a:latin typeface="Times New Roman" panose="02020603050405020304" pitchFamily="18" charset="0"/>
              </a:rPr>
              <a:t>1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，</a:t>
            </a:r>
            <a:r>
              <a:rPr lang="en-US" altLang="zh-CN" sz="2400" b="1" i="1" dirty="0">
                <a:solidFill>
                  <a:srgbClr val="FF0000"/>
                </a:solidFill>
                <a:latin typeface="Times New Roman" panose="02020603050405020304" pitchFamily="18" charset="0"/>
              </a:rPr>
              <a:t>s</a:t>
            </a:r>
            <a:r>
              <a:rPr lang="en-US" altLang="zh-CN" sz="2400" b="1" baseline="-25000" dirty="0">
                <a:solidFill>
                  <a:srgbClr val="FF0000"/>
                </a:solidFill>
                <a:latin typeface="Times New Roman" panose="02020603050405020304" pitchFamily="18" charset="0"/>
              </a:rPr>
              <a:t>2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，</a:t>
            </a:r>
            <a:r>
              <a:rPr lang="en-US" altLang="zh-CN" sz="2400" b="1" i="1" dirty="0">
                <a:solidFill>
                  <a:srgbClr val="FF0000"/>
                </a:solidFill>
                <a:latin typeface="Times New Roman" panose="02020603050405020304" pitchFamily="18" charset="0"/>
              </a:rPr>
              <a:t>s</a:t>
            </a:r>
            <a:r>
              <a:rPr lang="en-US" altLang="zh-CN" sz="2400" b="1" baseline="-25000" dirty="0">
                <a:solidFill>
                  <a:srgbClr val="FF0000"/>
                </a:solidFill>
                <a:latin typeface="Times New Roman" panose="02020603050405020304" pitchFamily="18" charset="0"/>
              </a:rPr>
              <a:t>3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和</a:t>
            </a:r>
            <a:r>
              <a:rPr lang="en-US" altLang="zh-CN" sz="2400" b="1" i="1" dirty="0">
                <a:solidFill>
                  <a:srgbClr val="FF0000"/>
                </a:solidFill>
                <a:latin typeface="Times New Roman" panose="02020603050405020304" pitchFamily="18" charset="0"/>
              </a:rPr>
              <a:t>s</a:t>
            </a:r>
            <a:r>
              <a:rPr lang="en-US" altLang="zh-CN" sz="2400" b="1" baseline="-25000" dirty="0">
                <a:solidFill>
                  <a:srgbClr val="FF0000"/>
                </a:solidFill>
                <a:latin typeface="Times New Roman" panose="02020603050405020304" pitchFamily="18" charset="0"/>
              </a:rPr>
              <a:t>4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；取问题中的变量</a:t>
            </a:r>
            <a:r>
              <a:rPr lang="en-US" altLang="zh-CN" sz="2400" b="1" i="1" dirty="0">
                <a:solidFill>
                  <a:srgbClr val="FF0000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400" b="1" baseline="-25000" dirty="0">
                <a:solidFill>
                  <a:srgbClr val="FF0000"/>
                </a:solidFill>
                <a:latin typeface="Times New Roman" panose="02020603050405020304" pitchFamily="18" charset="0"/>
              </a:rPr>
              <a:t>1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，</a:t>
            </a:r>
            <a:r>
              <a:rPr lang="en-US" altLang="zh-CN" sz="2400" b="1" i="1" dirty="0">
                <a:solidFill>
                  <a:srgbClr val="FF0000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400" b="1" baseline="-25000" dirty="0">
                <a:solidFill>
                  <a:srgbClr val="FF0000"/>
                </a:solidFill>
                <a:latin typeface="Times New Roman" panose="02020603050405020304" pitchFamily="18" charset="0"/>
              </a:rPr>
              <a:t>2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和</a:t>
            </a:r>
            <a:r>
              <a:rPr lang="en-US" altLang="zh-CN" sz="2400" b="1" i="1" dirty="0">
                <a:solidFill>
                  <a:srgbClr val="FF0000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400" b="1" baseline="-25000" dirty="0">
                <a:solidFill>
                  <a:srgbClr val="FF0000"/>
                </a:solidFill>
                <a:latin typeface="Times New Roman" panose="02020603050405020304" pitchFamily="18" charset="0"/>
              </a:rPr>
              <a:t>3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为决策变量；各阶段指标函数按乘积方式结合。</a:t>
            </a:r>
            <a:r>
              <a:rPr lang="zh-CN" altLang="en-US" sz="2400" b="1" dirty="0">
                <a:latin typeface="Times New Roman" panose="02020603050405020304" pitchFamily="18" charset="0"/>
              </a:rPr>
              <a:t>设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s</a:t>
            </a:r>
            <a:r>
              <a:rPr lang="en-US" altLang="zh-CN" sz="2400" b="1" baseline="-25000" dirty="0">
                <a:latin typeface="Times New Roman" panose="02020603050405020304" pitchFamily="18" charset="0"/>
              </a:rPr>
              <a:t>4</a:t>
            </a:r>
            <a:r>
              <a:rPr lang="en-US" altLang="zh-CN" sz="2400" b="1" dirty="0">
                <a:latin typeface="Times New Roman" panose="02020603050405020304" pitchFamily="18" charset="0"/>
              </a:rPr>
              <a:t>=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c</a:t>
            </a:r>
            <a:r>
              <a:rPr lang="en-US" altLang="zh-CN" sz="2400" b="1" dirty="0">
                <a:latin typeface="Times New Roman" panose="02020603050405020304" pitchFamily="18" charset="0"/>
              </a:rPr>
              <a:t>, </a:t>
            </a:r>
            <a:r>
              <a:rPr lang="zh-CN" altLang="en-US" sz="2400" b="1" dirty="0">
                <a:latin typeface="Times New Roman" panose="02020603050405020304" pitchFamily="18" charset="0"/>
              </a:rPr>
              <a:t>令最优值函数 </a:t>
            </a:r>
            <a:r>
              <a:rPr lang="en-US" altLang="zh-CN" sz="2400" b="1" dirty="0">
                <a:latin typeface="Times New Roman" panose="02020603050405020304" pitchFamily="18" charset="0"/>
              </a:rPr>
              <a:t> </a:t>
            </a:r>
            <a:r>
              <a:rPr lang="zh-CN" altLang="en-US" sz="2400" b="1" dirty="0">
                <a:latin typeface="Times New Roman" panose="02020603050405020304" pitchFamily="18" charset="0"/>
              </a:rPr>
              <a:t>         表示第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k</a:t>
            </a:r>
            <a:r>
              <a:rPr lang="zh-CN" altLang="en-US" sz="2400" b="1" dirty="0">
                <a:latin typeface="Times New Roman" panose="02020603050405020304" pitchFamily="18" charset="0"/>
              </a:rPr>
              <a:t>阶段末的状态为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s</a:t>
            </a:r>
            <a:r>
              <a:rPr lang="en-US" altLang="zh-CN" sz="2400" b="1" i="1" baseline="-25000" dirty="0">
                <a:latin typeface="Times New Roman" panose="02020603050405020304" pitchFamily="18" charset="0"/>
              </a:rPr>
              <a:t>k</a:t>
            </a:r>
            <a:r>
              <a:rPr lang="en-US" altLang="zh-CN" sz="2400" b="1" baseline="-25000" dirty="0">
                <a:latin typeface="Times New Roman" panose="02020603050405020304" pitchFamily="18" charset="0"/>
              </a:rPr>
              <a:t>+1</a:t>
            </a:r>
            <a:r>
              <a:rPr lang="zh-CN" altLang="en-US" sz="2400" b="1" dirty="0">
                <a:latin typeface="Times New Roman" panose="02020603050405020304" pitchFamily="18" charset="0"/>
              </a:rPr>
              <a:t>，从</a:t>
            </a:r>
            <a:r>
              <a:rPr lang="en-US" altLang="zh-CN" sz="2400" b="1" dirty="0">
                <a:latin typeface="Times New Roman" panose="02020603050405020304" pitchFamily="18" charset="0"/>
              </a:rPr>
              <a:t>1</a:t>
            </a:r>
            <a:r>
              <a:rPr lang="zh-CN" altLang="en-US" sz="2400" b="1" dirty="0">
                <a:latin typeface="Times New Roman" panose="02020603050405020304" pitchFamily="18" charset="0"/>
              </a:rPr>
              <a:t>阶段到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k</a:t>
            </a:r>
            <a:r>
              <a:rPr lang="zh-CN" altLang="en-US" sz="2400" b="1" dirty="0">
                <a:latin typeface="Times New Roman" panose="02020603050405020304" pitchFamily="18" charset="0"/>
              </a:rPr>
              <a:t>阶段的最大值。</a:t>
            </a:r>
          </a:p>
        </p:txBody>
      </p:sp>
      <p:pic>
        <p:nvPicPr>
          <p:cNvPr id="83973" name="Picture 5" descr="1883072661398087791843"/>
          <p:cNvPicPr>
            <a:picLocks noChangeAspect="1" noChangeArrowheads="1"/>
          </p:cNvPicPr>
          <p:nvPr/>
        </p:nvPicPr>
        <p:blipFill>
          <a:blip r:embed="rId3" cstate="print">
            <a:duotone>
              <a:schemeClr val="accent4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3563888" y="3351882"/>
            <a:ext cx="936153" cy="495396"/>
          </a:xfrm>
          <a:prstGeom prst="rect">
            <a:avLst/>
          </a:prstGeom>
          <a:noFill/>
          <a:ln>
            <a:noFill/>
          </a:ln>
          <a:effectLst/>
        </p:spPr>
      </p:pic>
      <p:grpSp>
        <p:nvGrpSpPr>
          <p:cNvPr id="4" name="组合 3"/>
          <p:cNvGrpSpPr/>
          <p:nvPr/>
        </p:nvGrpSpPr>
        <p:grpSpPr bwMode="auto">
          <a:xfrm>
            <a:off x="866775" y="4995789"/>
            <a:ext cx="7343775" cy="1079891"/>
            <a:chOff x="900113" y="3347398"/>
            <a:chExt cx="7343775" cy="1377002"/>
          </a:xfrm>
        </p:grpSpPr>
        <p:sp>
          <p:nvSpPr>
            <p:cNvPr id="3" name="圆角矩形 2"/>
            <p:cNvSpPr/>
            <p:nvPr/>
          </p:nvSpPr>
          <p:spPr>
            <a:xfrm>
              <a:off x="900113" y="3347398"/>
              <a:ext cx="7343775" cy="1377002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buClr>
                  <a:srgbClr val="000000"/>
                </a:buClr>
                <a:buSzPct val="100000"/>
                <a:defRPr/>
              </a:pPr>
              <a:endParaRPr lang="zh-CN" altLang="en-US"/>
            </a:p>
          </p:txBody>
        </p:sp>
        <p:pic>
          <p:nvPicPr>
            <p:cNvPr id="83971" name="Picture 3" descr="3977557611398087791843"/>
            <p:cNvPicPr>
              <a:picLocks noChangeAspect="1" noChangeArrowheads="1"/>
            </p:cNvPicPr>
            <p:nvPr/>
          </p:nvPicPr>
          <p:blipFill>
            <a:blip r:embed="rId4">
              <a:duotone>
                <a:schemeClr val="accent4">
                  <a:shade val="45000"/>
                  <a:satMod val="135000"/>
                </a:schemeClr>
                <a:prstClr val="white"/>
              </a:duotone>
            </a:blip>
            <a:srcRect/>
            <a:stretch>
              <a:fillRect/>
            </a:stretch>
          </p:blipFill>
          <p:spPr bwMode="auto">
            <a:xfrm>
              <a:off x="1614489" y="3353564"/>
              <a:ext cx="5549800" cy="622134"/>
            </a:xfrm>
            <a:prstGeom prst="rect">
              <a:avLst/>
            </a:prstGeom>
            <a:noFill/>
            <a:ln>
              <a:noFill/>
            </a:ln>
            <a:effectLst/>
          </p:spPr>
        </p:pic>
        <p:pic>
          <p:nvPicPr>
            <p:cNvPr id="83974" name="Picture 6" descr="3230514811398087791843"/>
            <p:cNvPicPr>
              <a:picLocks noChangeAspect="1" noChangeArrowheads="1"/>
            </p:cNvPicPr>
            <p:nvPr/>
          </p:nvPicPr>
          <p:blipFill>
            <a:blip r:embed="rId5">
              <a:duotone>
                <a:schemeClr val="accent4">
                  <a:shade val="45000"/>
                  <a:satMod val="135000"/>
                </a:schemeClr>
                <a:prstClr val="white"/>
              </a:duotone>
            </a:blip>
            <a:srcRect/>
            <a:stretch>
              <a:fillRect/>
            </a:stretch>
          </p:blipFill>
          <p:spPr bwMode="auto">
            <a:xfrm>
              <a:off x="1907704" y="4072071"/>
              <a:ext cx="4105126" cy="611919"/>
            </a:xfrm>
            <a:prstGeom prst="rect">
              <a:avLst/>
            </a:prstGeom>
            <a:noFill/>
            <a:ln>
              <a:noFill/>
            </a:ln>
            <a:effectLst/>
          </p:spPr>
        </p:pic>
        <p:sp>
          <p:nvSpPr>
            <p:cNvPr id="95245" name="Rectangle 7"/>
            <p:cNvSpPr>
              <a:spLocks noChangeArrowheads="1"/>
            </p:cNvSpPr>
            <p:nvPr/>
          </p:nvSpPr>
          <p:spPr bwMode="auto">
            <a:xfrm>
              <a:off x="971233" y="4089091"/>
              <a:ext cx="1087755" cy="55707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anchor="ctr">
              <a:no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>
                  <a:srgbClr val="000000"/>
                </a:buClr>
                <a:buFontTx/>
                <a:buNone/>
              </a:pPr>
              <a:r>
                <a:rPr lang="zh-CN" altLang="en-US" sz="2400" b="1">
                  <a:latin typeface="Times New Roman" panose="02020603050405020304" pitchFamily="18" charset="0"/>
                </a:rPr>
                <a:t>则有</a:t>
              </a:r>
              <a:endParaRPr lang="zh-CN" altLang="en-US" sz="2400">
                <a:latin typeface="Arial" panose="020B0604020202020204" pitchFamily="34" charset="0"/>
              </a:endParaRPr>
            </a:p>
          </p:txBody>
        </p:sp>
      </p:grpSp>
      <p:sp>
        <p:nvSpPr>
          <p:cNvPr id="95237" name="日期占位符 1"/>
          <p:cNvSpPr>
            <a:spLocks noGrp="1" noChangeArrowheads="1"/>
          </p:cNvSpPr>
          <p:nvPr>
            <p:ph type="dt" sz="quarter" idx="4294967295"/>
          </p:nvPr>
        </p:nvSpPr>
        <p:spPr bwMode="auto">
          <a:xfrm>
            <a:off x="609600" y="6245225"/>
            <a:ext cx="19812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>
                <a:srgbClr val="000000"/>
              </a:buClr>
              <a:buFontTx/>
              <a:buNone/>
            </a:pPr>
            <a:fld id="{58406C0A-AEED-487F-9638-0B532E1F1498}" type="datetime1">
              <a:rPr lang="zh-CN" altLang="en-US" sz="1400">
                <a:latin typeface="Arial" panose="020B0604020202020204" pitchFamily="34" charset="0"/>
              </a:rPr>
              <a:t>2024/12/15</a:t>
            </a:fld>
            <a:endParaRPr lang="en-US" altLang="zh-CN" sz="1400">
              <a:latin typeface="Arial" panose="020B0604020202020204" pitchFamily="34" charset="0"/>
            </a:endParaRPr>
          </a:p>
        </p:txBody>
      </p:sp>
      <p:sp>
        <p:nvSpPr>
          <p:cNvPr id="95238" name="灯片编号占位符 2"/>
          <p:cNvSpPr>
            <a:spLocks noGrp="1" noChangeArrowheads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>
                <a:srgbClr val="000000"/>
              </a:buClr>
              <a:buFontTx/>
              <a:buNone/>
            </a:pPr>
            <a:fld id="{2F940E65-4F30-4FD3-8080-B5B88FA28D5B}" type="slidenum">
              <a:rPr lang="zh-CN" altLang="zh-CN" sz="1400">
                <a:latin typeface="Arial" panose="020B0604020202020204" pitchFamily="34" charset="0"/>
              </a:rPr>
              <a:t>17</a:t>
            </a:fld>
            <a:endParaRPr lang="en-US" altLang="zh-CN" sz="1400">
              <a:latin typeface="Arial" panose="020B0604020202020204" pitchFamily="34" charset="0"/>
            </a:endParaRPr>
          </a:p>
        </p:txBody>
      </p:sp>
      <p:sp>
        <p:nvSpPr>
          <p:cNvPr id="12" name="Rectangle 2"/>
          <p:cNvSpPr txBox="1">
            <a:spLocks noChangeArrowheads="1"/>
          </p:cNvSpPr>
          <p:nvPr/>
        </p:nvSpPr>
        <p:spPr bwMode="auto">
          <a:xfrm>
            <a:off x="609600" y="838200"/>
            <a:ext cx="3962400" cy="620713"/>
          </a:xfrm>
          <a:prstGeom prst="rect">
            <a:avLst/>
          </a:prstGeom>
          <a:noFill/>
          <a:ln>
            <a:noFill/>
          </a:ln>
        </p:spPr>
        <p:txBody>
          <a:bodyPr anchor="b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3200" b="1" u="sng" kern="0" dirty="0">
                <a:solidFill>
                  <a:schemeClr val="hlink"/>
                </a:solidFill>
              </a:rPr>
              <a:t>动态规划的求解方法</a:t>
            </a:r>
          </a:p>
        </p:txBody>
      </p:sp>
      <p:sp>
        <p:nvSpPr>
          <p:cNvPr id="2" name="矩形 1"/>
          <p:cNvSpPr/>
          <p:nvPr/>
        </p:nvSpPr>
        <p:spPr>
          <a:xfrm>
            <a:off x="609600" y="6200775"/>
            <a:ext cx="5105400" cy="40005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>
            <a:spAutoFit/>
          </a:bodyPr>
          <a:lstStyle/>
          <a:p>
            <a:pPr marL="342900" indent="-342900">
              <a:buClr>
                <a:srgbClr val="C00000"/>
              </a:buClr>
              <a:buFont typeface="Wingdings" panose="05000000000000000000" pitchFamily="2" charset="2"/>
              <a:buChar char="u"/>
              <a:defRPr/>
            </a:pPr>
            <a:r>
              <a:rPr lang="zh-CN" altLang="en-US" sz="2000" b="1" dirty="0"/>
              <a:t>当终止状态给定时，用顺推比较方便。</a:t>
            </a:r>
          </a:p>
        </p:txBody>
      </p:sp>
      <p:pic>
        <p:nvPicPr>
          <p:cNvPr id="14" name="Picture 4" descr="1114959391398087791833"/>
          <p:cNvPicPr>
            <a:picLocks noChangeAspect="1" noChangeArrowheads="1"/>
          </p:cNvPicPr>
          <p:nvPr/>
        </p:nvPicPr>
        <p:blipFill>
          <a:blip r:embed="rId6">
            <a:duotone>
              <a:schemeClr val="accent4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4692170" y="76200"/>
            <a:ext cx="4375630" cy="1462114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/>
        </p:spPr>
      </p:pic>
      <p:sp>
        <p:nvSpPr>
          <p:cNvPr id="5" name="矩形 4"/>
          <p:cNvSpPr/>
          <p:nvPr/>
        </p:nvSpPr>
        <p:spPr>
          <a:xfrm>
            <a:off x="5257800" y="705534"/>
            <a:ext cx="457200" cy="310879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5152980" y="682760"/>
            <a:ext cx="1324020" cy="364989"/>
          </a:xfrm>
          <a:prstGeom prst="rect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5052990" y="692446"/>
            <a:ext cx="2033610" cy="36498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Rectangle 7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938212" y="5042377"/>
            <a:ext cx="488950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>
                <a:srgbClr val="000000"/>
              </a:buClr>
              <a:buFontTx/>
              <a:buNone/>
            </a:pPr>
            <a:r>
              <a:rPr lang="zh-CN" altLang="en-US" sz="2400" b="1">
                <a:latin typeface="Times New Roman" panose="02020603050405020304" pitchFamily="18" charset="0"/>
              </a:rPr>
              <a:t>设</a:t>
            </a:r>
            <a:endParaRPr lang="zh-CN" altLang="en-US" sz="2400">
              <a:latin typeface="Arial" panose="020B0604020202020204" pitchFamily="34" charset="0"/>
            </a:endParaRPr>
          </a:p>
        </p:txBody>
      </p:sp>
      <p:grpSp>
        <p:nvGrpSpPr>
          <p:cNvPr id="9" name="组合 8"/>
          <p:cNvGrpSpPr/>
          <p:nvPr/>
        </p:nvGrpSpPr>
        <p:grpSpPr bwMode="auto">
          <a:xfrm>
            <a:off x="4846955" y="3951605"/>
            <a:ext cx="3442335" cy="1015003"/>
            <a:chOff x="411897" y="3987941"/>
            <a:chExt cx="4724400" cy="1707815"/>
          </a:xfrm>
        </p:grpSpPr>
        <p:grpSp>
          <p:nvGrpSpPr>
            <p:cNvPr id="94218" name="组合 64"/>
            <p:cNvGrpSpPr/>
            <p:nvPr/>
          </p:nvGrpSpPr>
          <p:grpSpPr bwMode="auto">
            <a:xfrm>
              <a:off x="411897" y="3987941"/>
              <a:ext cx="4724400" cy="1707815"/>
              <a:chOff x="4283968" y="620688"/>
              <a:chExt cx="4724400" cy="1707815"/>
            </a:xfrm>
          </p:grpSpPr>
          <p:sp>
            <p:nvSpPr>
              <p:cNvPr id="94221" name="Text Box 22"/>
              <p:cNvSpPr txBox="1">
                <a:spLocks noChangeArrowheads="1"/>
              </p:cNvSpPr>
              <p:nvPr/>
            </p:nvSpPr>
            <p:spPr bwMode="auto">
              <a:xfrm>
                <a:off x="5426968" y="1916088"/>
                <a:ext cx="533400" cy="41241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3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6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o"/>
                  <a:defRPr sz="23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5000"/>
                  </a:spcBef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5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Verdan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>
                    <a:srgbClr val="000000"/>
                  </a:buClr>
                  <a:buFontTx/>
                  <a:buNone/>
                </a:pPr>
                <a:r>
                  <a:rPr lang="en-US" altLang="zh-CN" sz="1000" i="1">
                    <a:latin typeface="Arial" panose="020B0604020202020204" pitchFamily="34" charset="0"/>
                  </a:rPr>
                  <a:t>x</a:t>
                </a:r>
                <a:r>
                  <a:rPr lang="en-US" altLang="zh-CN" sz="1000" baseline="-25000">
                    <a:latin typeface="Arial" panose="020B0604020202020204" pitchFamily="34" charset="0"/>
                  </a:rPr>
                  <a:t>1</a:t>
                </a:r>
                <a:endParaRPr lang="en-US" altLang="zh-CN" sz="1000">
                  <a:latin typeface="Arial" panose="020B0604020202020204" pitchFamily="34" charset="0"/>
                </a:endParaRPr>
              </a:p>
            </p:txBody>
          </p:sp>
          <p:grpSp>
            <p:nvGrpSpPr>
              <p:cNvPr id="94222" name="组合 66"/>
              <p:cNvGrpSpPr/>
              <p:nvPr/>
            </p:nvGrpSpPr>
            <p:grpSpPr bwMode="auto">
              <a:xfrm>
                <a:off x="4283968" y="620688"/>
                <a:ext cx="4724400" cy="1371600"/>
                <a:chOff x="4283968" y="620688"/>
                <a:chExt cx="4724400" cy="1371600"/>
              </a:xfrm>
            </p:grpSpPr>
            <p:sp>
              <p:nvSpPr>
                <p:cNvPr id="94223" name="Rectangle 5"/>
                <p:cNvSpPr>
                  <a:spLocks noChangeArrowheads="1"/>
                </p:cNvSpPr>
                <p:nvPr/>
              </p:nvSpPr>
              <p:spPr bwMode="auto">
                <a:xfrm>
                  <a:off x="5350768" y="1306488"/>
                  <a:ext cx="533400" cy="457200"/>
                </a:xfrm>
                <a:prstGeom prst="rect">
                  <a:avLst/>
                </a:prstGeom>
                <a:solidFill>
                  <a:srgbClr val="00FFCC"/>
                </a:solidFill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o"/>
                    <a:defRPr sz="3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n"/>
                    <a:defRPr sz="26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o"/>
                    <a:defRPr sz="23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5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>
                      <a:srgbClr val="000000"/>
                    </a:buClr>
                    <a:buFontTx/>
                    <a:buNone/>
                  </a:pPr>
                  <a:endParaRPr lang="zh-CN" altLang="en-US" sz="10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94224" name="Rectangle 6"/>
                <p:cNvSpPr>
                  <a:spLocks noChangeArrowheads="1"/>
                </p:cNvSpPr>
                <p:nvPr/>
              </p:nvSpPr>
              <p:spPr bwMode="auto">
                <a:xfrm>
                  <a:off x="6569968" y="1306488"/>
                  <a:ext cx="533400" cy="457200"/>
                </a:xfrm>
                <a:prstGeom prst="rect">
                  <a:avLst/>
                </a:prstGeom>
                <a:solidFill>
                  <a:srgbClr val="00FFCC"/>
                </a:solidFill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o"/>
                    <a:defRPr sz="3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n"/>
                    <a:defRPr sz="26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o"/>
                    <a:defRPr sz="23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5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>
                      <a:srgbClr val="000000"/>
                    </a:buClr>
                    <a:buFontTx/>
                    <a:buNone/>
                  </a:pPr>
                  <a:endParaRPr lang="zh-CN" altLang="en-US" sz="10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94225" name="Rectangle 7"/>
                <p:cNvSpPr>
                  <a:spLocks noChangeArrowheads="1"/>
                </p:cNvSpPr>
                <p:nvPr/>
              </p:nvSpPr>
              <p:spPr bwMode="auto">
                <a:xfrm>
                  <a:off x="7789168" y="1306488"/>
                  <a:ext cx="533400" cy="457200"/>
                </a:xfrm>
                <a:prstGeom prst="rect">
                  <a:avLst/>
                </a:prstGeom>
                <a:solidFill>
                  <a:srgbClr val="00FFCC"/>
                </a:solidFill>
                <a:ln w="9525">
                  <a:solidFill>
                    <a:schemeClr val="tx1"/>
                  </a:solidFill>
                  <a:miter lim="800000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o"/>
                    <a:defRPr sz="3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n"/>
                    <a:defRPr sz="26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o"/>
                    <a:defRPr sz="23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5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>
                      <a:srgbClr val="000000"/>
                    </a:buClr>
                    <a:buFontTx/>
                    <a:buNone/>
                  </a:pPr>
                  <a:endParaRPr lang="zh-CN" altLang="en-US" sz="10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94226" name="Line 8"/>
                <p:cNvSpPr>
                  <a:spLocks noChangeShapeType="1"/>
                </p:cNvSpPr>
                <p:nvPr/>
              </p:nvSpPr>
              <p:spPr bwMode="auto">
                <a:xfrm>
                  <a:off x="4360168" y="1535088"/>
                  <a:ext cx="99060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94227" name="Line 9"/>
                <p:cNvSpPr>
                  <a:spLocks noChangeShapeType="1"/>
                </p:cNvSpPr>
                <p:nvPr/>
              </p:nvSpPr>
              <p:spPr bwMode="auto">
                <a:xfrm>
                  <a:off x="5884168" y="1535088"/>
                  <a:ext cx="68580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94228" name="Line 10"/>
                <p:cNvSpPr>
                  <a:spLocks noChangeShapeType="1"/>
                </p:cNvSpPr>
                <p:nvPr/>
              </p:nvSpPr>
              <p:spPr bwMode="auto">
                <a:xfrm>
                  <a:off x="7103368" y="1535088"/>
                  <a:ext cx="68580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94229" name="Line 11"/>
                <p:cNvSpPr>
                  <a:spLocks noChangeShapeType="1"/>
                </p:cNvSpPr>
                <p:nvPr/>
              </p:nvSpPr>
              <p:spPr bwMode="auto">
                <a:xfrm flipH="1" flipV="1">
                  <a:off x="8306032" y="1535088"/>
                  <a:ext cx="58644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94230" name="Text Box 12"/>
                <p:cNvSpPr txBox="1">
                  <a:spLocks noChangeArrowheads="1"/>
                </p:cNvSpPr>
                <p:nvPr/>
              </p:nvSpPr>
              <p:spPr bwMode="auto">
                <a:xfrm>
                  <a:off x="5426968" y="1306488"/>
                  <a:ext cx="228600" cy="41241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o"/>
                    <a:defRPr sz="3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n"/>
                    <a:defRPr sz="26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o"/>
                    <a:defRPr sz="23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5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Clr>
                      <a:srgbClr val="000000"/>
                    </a:buClr>
                    <a:buFontTx/>
                    <a:buNone/>
                  </a:pPr>
                  <a:r>
                    <a:rPr lang="en-US" altLang="zh-CN" sz="1000">
                      <a:latin typeface="Arial" panose="020B0604020202020204" pitchFamily="34" charset="0"/>
                    </a:rPr>
                    <a:t>1</a:t>
                  </a:r>
                </a:p>
              </p:txBody>
            </p:sp>
            <p:sp>
              <p:nvSpPr>
                <p:cNvPr id="94231" name="Text Box 13"/>
                <p:cNvSpPr txBox="1">
                  <a:spLocks noChangeArrowheads="1"/>
                </p:cNvSpPr>
                <p:nvPr/>
              </p:nvSpPr>
              <p:spPr bwMode="auto">
                <a:xfrm>
                  <a:off x="6646168" y="1306488"/>
                  <a:ext cx="228600" cy="41241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o"/>
                    <a:defRPr sz="3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n"/>
                    <a:defRPr sz="26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o"/>
                    <a:defRPr sz="23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5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Clr>
                      <a:srgbClr val="000000"/>
                    </a:buClr>
                    <a:buFontTx/>
                    <a:buNone/>
                  </a:pPr>
                  <a:r>
                    <a:rPr lang="en-US" altLang="zh-CN" sz="1000">
                      <a:latin typeface="Arial" panose="020B0604020202020204" pitchFamily="34" charset="0"/>
                    </a:rPr>
                    <a:t>2</a:t>
                  </a:r>
                </a:p>
              </p:txBody>
            </p:sp>
            <p:sp>
              <p:nvSpPr>
                <p:cNvPr id="94232" name="Text Box 14"/>
                <p:cNvSpPr txBox="1">
                  <a:spLocks noChangeArrowheads="1"/>
                </p:cNvSpPr>
                <p:nvPr/>
              </p:nvSpPr>
              <p:spPr bwMode="auto">
                <a:xfrm>
                  <a:off x="7865368" y="1306488"/>
                  <a:ext cx="228600" cy="41241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o"/>
                    <a:defRPr sz="3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n"/>
                    <a:defRPr sz="26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o"/>
                    <a:defRPr sz="23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5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Clr>
                      <a:srgbClr val="000000"/>
                    </a:buClr>
                    <a:buFontTx/>
                    <a:buNone/>
                  </a:pPr>
                  <a:r>
                    <a:rPr lang="en-US" altLang="zh-CN" sz="1000">
                      <a:latin typeface="Arial" panose="020B0604020202020204" pitchFamily="34" charset="0"/>
                    </a:rPr>
                    <a:t>3</a:t>
                  </a:r>
                </a:p>
              </p:txBody>
            </p:sp>
            <p:sp>
              <p:nvSpPr>
                <p:cNvPr id="94233" name="Text Box 15"/>
                <p:cNvSpPr txBox="1">
                  <a:spLocks noChangeArrowheads="1"/>
                </p:cNvSpPr>
                <p:nvPr/>
              </p:nvSpPr>
              <p:spPr bwMode="auto">
                <a:xfrm>
                  <a:off x="4283968" y="1138213"/>
                  <a:ext cx="1295400" cy="41241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o"/>
                    <a:defRPr sz="3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n"/>
                    <a:defRPr sz="26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o"/>
                    <a:defRPr sz="23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5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Clr>
                      <a:srgbClr val="000000"/>
                    </a:buClr>
                    <a:buFontTx/>
                    <a:buNone/>
                  </a:pPr>
                  <a:r>
                    <a:rPr lang="en-US" altLang="zh-CN" sz="1000" i="1">
                      <a:latin typeface="Arial" panose="020B0604020202020204" pitchFamily="34" charset="0"/>
                    </a:rPr>
                    <a:t>      S</a:t>
                  </a:r>
                  <a:r>
                    <a:rPr lang="en-US" altLang="zh-CN" sz="1000" baseline="-25000">
                      <a:latin typeface="Arial" panose="020B0604020202020204" pitchFamily="34" charset="0"/>
                    </a:rPr>
                    <a:t>1</a:t>
                  </a:r>
                  <a:endParaRPr lang="en-US" altLang="zh-CN" sz="10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94234" name="Line 16"/>
                <p:cNvSpPr>
                  <a:spLocks noChangeShapeType="1"/>
                </p:cNvSpPr>
                <p:nvPr/>
              </p:nvSpPr>
              <p:spPr bwMode="auto">
                <a:xfrm flipV="1">
                  <a:off x="5579368" y="1763688"/>
                  <a:ext cx="0" cy="22860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94235" name="Line 17"/>
                <p:cNvSpPr>
                  <a:spLocks noChangeShapeType="1"/>
                </p:cNvSpPr>
                <p:nvPr/>
              </p:nvSpPr>
              <p:spPr bwMode="auto">
                <a:xfrm flipV="1">
                  <a:off x="8017768" y="1763688"/>
                  <a:ext cx="0" cy="22860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94236" name="Line 18"/>
                <p:cNvSpPr>
                  <a:spLocks noChangeShapeType="1"/>
                </p:cNvSpPr>
                <p:nvPr/>
              </p:nvSpPr>
              <p:spPr bwMode="auto">
                <a:xfrm flipV="1">
                  <a:off x="6798568" y="1077888"/>
                  <a:ext cx="0" cy="22860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94237" name="Line 19"/>
                <p:cNvSpPr>
                  <a:spLocks noChangeShapeType="1"/>
                </p:cNvSpPr>
                <p:nvPr/>
              </p:nvSpPr>
              <p:spPr bwMode="auto">
                <a:xfrm flipV="1">
                  <a:off x="5579368" y="1077888"/>
                  <a:ext cx="0" cy="22860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94238" name="Line 20"/>
                <p:cNvSpPr>
                  <a:spLocks noChangeShapeType="1"/>
                </p:cNvSpPr>
                <p:nvPr/>
              </p:nvSpPr>
              <p:spPr bwMode="auto">
                <a:xfrm flipV="1">
                  <a:off x="6798568" y="1763688"/>
                  <a:ext cx="0" cy="22860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94239" name="Line 21"/>
                <p:cNvSpPr>
                  <a:spLocks noChangeShapeType="1"/>
                </p:cNvSpPr>
                <p:nvPr/>
              </p:nvSpPr>
              <p:spPr bwMode="auto">
                <a:xfrm flipV="1">
                  <a:off x="8017768" y="1077888"/>
                  <a:ext cx="0" cy="22860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94240" name="Text Box 25"/>
                <p:cNvSpPr txBox="1">
                  <a:spLocks noChangeArrowheads="1"/>
                </p:cNvSpPr>
                <p:nvPr/>
              </p:nvSpPr>
              <p:spPr bwMode="auto">
                <a:xfrm>
                  <a:off x="5426968" y="671488"/>
                  <a:ext cx="533400" cy="41241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o"/>
                    <a:defRPr sz="3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n"/>
                    <a:defRPr sz="26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o"/>
                    <a:defRPr sz="23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5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Clr>
                      <a:srgbClr val="000000"/>
                    </a:buClr>
                    <a:buFontTx/>
                    <a:buNone/>
                  </a:pPr>
                  <a:r>
                    <a:rPr lang="en-US" altLang="zh-CN" sz="1000" i="1">
                      <a:latin typeface="Arial" panose="020B0604020202020204" pitchFamily="34" charset="0"/>
                    </a:rPr>
                    <a:t>v</a:t>
                  </a:r>
                  <a:r>
                    <a:rPr lang="en-US" altLang="zh-CN" sz="1000" baseline="-25000">
                      <a:latin typeface="Arial" panose="020B0604020202020204" pitchFamily="34" charset="0"/>
                    </a:rPr>
                    <a:t>1</a:t>
                  </a:r>
                  <a:endParaRPr lang="en-US" altLang="zh-CN" sz="10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94241" name="Text Box 26"/>
                <p:cNvSpPr txBox="1">
                  <a:spLocks noChangeArrowheads="1"/>
                </p:cNvSpPr>
                <p:nvPr/>
              </p:nvSpPr>
              <p:spPr bwMode="auto">
                <a:xfrm>
                  <a:off x="6569968" y="620688"/>
                  <a:ext cx="533400" cy="41241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o"/>
                    <a:defRPr sz="3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n"/>
                    <a:defRPr sz="26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o"/>
                    <a:defRPr sz="23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5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Clr>
                      <a:srgbClr val="000000"/>
                    </a:buClr>
                    <a:buFontTx/>
                    <a:buNone/>
                  </a:pPr>
                  <a:r>
                    <a:rPr lang="en-US" altLang="zh-CN" sz="1000" i="1">
                      <a:latin typeface="Arial" panose="020B0604020202020204" pitchFamily="34" charset="0"/>
                    </a:rPr>
                    <a:t>v</a:t>
                  </a:r>
                  <a:r>
                    <a:rPr lang="en-US" altLang="zh-CN" sz="1000" baseline="-25000">
                      <a:latin typeface="Arial" panose="020B0604020202020204" pitchFamily="34" charset="0"/>
                    </a:rPr>
                    <a:t>2</a:t>
                  </a:r>
                  <a:endParaRPr lang="en-US" altLang="zh-CN" sz="10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94242" name="Text Box 27"/>
                <p:cNvSpPr txBox="1">
                  <a:spLocks noChangeArrowheads="1"/>
                </p:cNvSpPr>
                <p:nvPr/>
              </p:nvSpPr>
              <p:spPr bwMode="auto">
                <a:xfrm>
                  <a:off x="7789168" y="620688"/>
                  <a:ext cx="533400" cy="41241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o"/>
                    <a:defRPr sz="3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n"/>
                    <a:defRPr sz="26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o"/>
                    <a:defRPr sz="23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5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Clr>
                      <a:srgbClr val="000000"/>
                    </a:buClr>
                    <a:buFontTx/>
                    <a:buNone/>
                  </a:pPr>
                  <a:r>
                    <a:rPr lang="en-US" altLang="zh-CN" sz="1000" i="1">
                      <a:latin typeface="Arial" panose="020B0604020202020204" pitchFamily="34" charset="0"/>
                    </a:rPr>
                    <a:t>v</a:t>
                  </a:r>
                  <a:r>
                    <a:rPr lang="en-US" altLang="zh-CN" sz="1000" baseline="-25000">
                      <a:latin typeface="Arial" panose="020B0604020202020204" pitchFamily="34" charset="0"/>
                    </a:rPr>
                    <a:t>3</a:t>
                  </a:r>
                  <a:endParaRPr lang="en-US" altLang="zh-CN" sz="10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94243" name="Text Box 28"/>
                <p:cNvSpPr txBox="1">
                  <a:spLocks noChangeArrowheads="1"/>
                </p:cNvSpPr>
                <p:nvPr/>
              </p:nvSpPr>
              <p:spPr bwMode="auto">
                <a:xfrm>
                  <a:off x="6036568" y="1001688"/>
                  <a:ext cx="533400" cy="41241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o"/>
                    <a:defRPr sz="3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n"/>
                    <a:defRPr sz="26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o"/>
                    <a:defRPr sz="23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5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Clr>
                      <a:srgbClr val="000000"/>
                    </a:buClr>
                    <a:buFontTx/>
                    <a:buNone/>
                  </a:pPr>
                  <a:r>
                    <a:rPr lang="en-US" altLang="zh-CN" sz="1000" i="1">
                      <a:latin typeface="Arial" panose="020B0604020202020204" pitchFamily="34" charset="0"/>
                    </a:rPr>
                    <a:t>s</a:t>
                  </a:r>
                  <a:r>
                    <a:rPr lang="en-US" altLang="zh-CN" sz="1000" baseline="-25000">
                      <a:latin typeface="Arial" panose="020B0604020202020204" pitchFamily="34" charset="0"/>
                    </a:rPr>
                    <a:t>2</a:t>
                  </a:r>
                  <a:endParaRPr lang="en-US" altLang="zh-CN" sz="10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94244" name="Text Box 29"/>
                <p:cNvSpPr txBox="1">
                  <a:spLocks noChangeArrowheads="1"/>
                </p:cNvSpPr>
                <p:nvPr/>
              </p:nvSpPr>
              <p:spPr bwMode="auto">
                <a:xfrm>
                  <a:off x="7179568" y="1001688"/>
                  <a:ext cx="533400" cy="41241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o"/>
                    <a:defRPr sz="3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n"/>
                    <a:defRPr sz="26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o"/>
                    <a:defRPr sz="23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5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Clr>
                      <a:srgbClr val="000000"/>
                    </a:buClr>
                    <a:buFontTx/>
                    <a:buNone/>
                  </a:pPr>
                  <a:r>
                    <a:rPr lang="en-US" altLang="zh-CN" sz="1000" i="1">
                      <a:latin typeface="Arial" panose="020B0604020202020204" pitchFamily="34" charset="0"/>
                    </a:rPr>
                    <a:t>s</a:t>
                  </a:r>
                  <a:r>
                    <a:rPr lang="en-US" altLang="zh-CN" sz="1000" baseline="-25000">
                      <a:latin typeface="Arial" panose="020B0604020202020204" pitchFamily="34" charset="0"/>
                    </a:rPr>
                    <a:t>3</a:t>
                  </a:r>
                  <a:endParaRPr lang="en-US" altLang="zh-CN" sz="10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94245" name="Text Box 30"/>
                <p:cNvSpPr txBox="1">
                  <a:spLocks noChangeArrowheads="1"/>
                </p:cNvSpPr>
                <p:nvPr/>
              </p:nvSpPr>
              <p:spPr bwMode="auto">
                <a:xfrm>
                  <a:off x="8474968" y="1001688"/>
                  <a:ext cx="533400" cy="41241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o"/>
                    <a:defRPr sz="3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n"/>
                    <a:defRPr sz="26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o"/>
                    <a:defRPr sz="23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5000"/>
                    </a:spcBef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5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5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5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5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Verdan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Clr>
                      <a:srgbClr val="000000"/>
                    </a:buClr>
                    <a:buFontTx/>
                    <a:buNone/>
                  </a:pPr>
                  <a:r>
                    <a:rPr lang="en-US" altLang="zh-CN" sz="1000" i="1">
                      <a:latin typeface="Arial" panose="020B0604020202020204" pitchFamily="34" charset="0"/>
                    </a:rPr>
                    <a:t>s</a:t>
                  </a:r>
                  <a:r>
                    <a:rPr lang="en-US" altLang="zh-CN" sz="1000" baseline="-25000">
                      <a:latin typeface="Arial" panose="020B0604020202020204" pitchFamily="34" charset="0"/>
                    </a:rPr>
                    <a:t>4</a:t>
                  </a:r>
                  <a:endParaRPr lang="en-US" altLang="zh-CN" sz="1000">
                    <a:latin typeface="Arial" panose="020B0604020202020204" pitchFamily="34" charset="0"/>
                  </a:endParaRPr>
                </a:p>
              </p:txBody>
            </p:sp>
          </p:grpSp>
        </p:grpSp>
        <p:sp>
          <p:nvSpPr>
            <p:cNvPr id="94219" name="Text Box 23"/>
            <p:cNvSpPr txBox="1">
              <a:spLocks noChangeArrowheads="1"/>
            </p:cNvSpPr>
            <p:nvPr/>
          </p:nvSpPr>
          <p:spPr bwMode="auto">
            <a:xfrm>
              <a:off x="2694057" y="5283341"/>
              <a:ext cx="533400" cy="41241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>
                  <a:srgbClr val="000000"/>
                </a:buClr>
                <a:buFontTx/>
                <a:buNone/>
              </a:pPr>
              <a:r>
                <a:rPr lang="en-US" altLang="zh-CN" sz="1000" i="1">
                  <a:latin typeface="Arial" panose="020B0604020202020204" pitchFamily="34" charset="0"/>
                </a:rPr>
                <a:t>x</a:t>
              </a:r>
              <a:r>
                <a:rPr lang="en-US" altLang="zh-CN" sz="1000" baseline="-25000">
                  <a:latin typeface="Arial" panose="020B0604020202020204" pitchFamily="34" charset="0"/>
                </a:rPr>
                <a:t>2</a:t>
              </a:r>
              <a:endParaRPr lang="en-US" altLang="zh-CN" sz="1000">
                <a:latin typeface="Arial" panose="020B0604020202020204" pitchFamily="34" charset="0"/>
              </a:endParaRPr>
            </a:p>
          </p:txBody>
        </p:sp>
        <p:sp>
          <p:nvSpPr>
            <p:cNvPr id="94220" name="Text Box 24"/>
            <p:cNvSpPr txBox="1">
              <a:spLocks noChangeArrowheads="1"/>
            </p:cNvSpPr>
            <p:nvPr/>
          </p:nvSpPr>
          <p:spPr bwMode="auto">
            <a:xfrm>
              <a:off x="3989457" y="5283341"/>
              <a:ext cx="533400" cy="41241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>
                  <a:srgbClr val="000000"/>
                </a:buClr>
                <a:buFontTx/>
                <a:buNone/>
              </a:pPr>
              <a:r>
                <a:rPr lang="en-US" altLang="zh-CN" sz="1000" i="1">
                  <a:latin typeface="Arial" panose="020B0604020202020204" pitchFamily="34" charset="0"/>
                </a:rPr>
                <a:t>x</a:t>
              </a:r>
              <a:r>
                <a:rPr lang="en-US" altLang="zh-CN" sz="1000" baseline="-25000">
                  <a:latin typeface="Arial" panose="020B0604020202020204" pitchFamily="34" charset="0"/>
                </a:rPr>
                <a:t>3</a:t>
              </a:r>
              <a:endParaRPr lang="en-US" altLang="zh-CN" sz="1000">
                <a:latin typeface="Arial" panose="020B0604020202020204" pitchFamily="34" charset="0"/>
              </a:endParaRPr>
            </a:p>
          </p:txBody>
        </p:sp>
      </p:grp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圆角矩形 2"/>
          <p:cNvSpPr/>
          <p:nvPr/>
        </p:nvSpPr>
        <p:spPr>
          <a:xfrm>
            <a:off x="857250" y="2163763"/>
            <a:ext cx="7243763" cy="862012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buClr>
                <a:srgbClr val="000000"/>
              </a:buClr>
              <a:buSzPct val="100000"/>
              <a:defRPr/>
            </a:pPr>
            <a:endParaRPr lang="zh-CN" altLang="en-US"/>
          </a:p>
        </p:txBody>
      </p:sp>
      <p:sp>
        <p:nvSpPr>
          <p:cNvPr id="4" name="圆角矩形 3"/>
          <p:cNvSpPr/>
          <p:nvPr/>
        </p:nvSpPr>
        <p:spPr>
          <a:xfrm>
            <a:off x="857250" y="3025775"/>
            <a:ext cx="7243763" cy="141287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buClr>
                <a:srgbClr val="000000"/>
              </a:buClr>
              <a:buSzPct val="100000"/>
              <a:defRPr/>
            </a:pPr>
            <a:endParaRPr lang="zh-CN" altLang="en-US"/>
          </a:p>
        </p:txBody>
      </p:sp>
      <p:sp>
        <p:nvSpPr>
          <p:cNvPr id="5" name="圆角矩形 4"/>
          <p:cNvSpPr/>
          <p:nvPr/>
        </p:nvSpPr>
        <p:spPr>
          <a:xfrm>
            <a:off x="857250" y="4438650"/>
            <a:ext cx="7243763" cy="162877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buClr>
                <a:srgbClr val="000000"/>
              </a:buClr>
              <a:buSzPct val="100000"/>
              <a:defRPr/>
            </a:pPr>
            <a:endParaRPr lang="zh-CN" altLang="en-US"/>
          </a:p>
        </p:txBody>
      </p:sp>
      <p:pic>
        <p:nvPicPr>
          <p:cNvPr id="84995" name="Picture 3" descr="5899868951398087791843"/>
          <p:cNvPicPr>
            <a:picLocks noChangeAspect="1" noChangeArrowheads="1"/>
          </p:cNvPicPr>
          <p:nvPr/>
        </p:nvPicPr>
        <p:blipFill>
          <a:blip r:embed="rId2">
            <a:duotone>
              <a:schemeClr val="accent4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935744" y="2372743"/>
            <a:ext cx="2952837" cy="654445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84996" name="Picture 4" descr="5655680041398087791843"/>
          <p:cNvPicPr>
            <a:picLocks noChangeAspect="1" noChangeArrowheads="1"/>
          </p:cNvPicPr>
          <p:nvPr/>
        </p:nvPicPr>
        <p:blipFill>
          <a:blip r:embed="rId3" cstate="print">
            <a:duotone>
              <a:schemeClr val="accent4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5508104" y="2279576"/>
            <a:ext cx="1008112" cy="592315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96263" name="Rectangle 5"/>
          <p:cNvSpPr>
            <a:spLocks noChangeArrowheads="1"/>
          </p:cNvSpPr>
          <p:nvPr/>
        </p:nvSpPr>
        <p:spPr bwMode="auto">
          <a:xfrm>
            <a:off x="684213" y="1703388"/>
            <a:ext cx="4475162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indent="2667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>
                <a:srgbClr val="000000"/>
              </a:buClr>
              <a:buFontTx/>
              <a:buNone/>
            </a:pPr>
            <a:r>
              <a:rPr lang="zh-CN" altLang="en-US" sz="2400" b="1">
                <a:latin typeface="Times New Roman" panose="02020603050405020304" pitchFamily="18" charset="0"/>
              </a:rPr>
              <a:t>用</a:t>
            </a:r>
            <a:r>
              <a:rPr lang="zh-CN" altLang="en-US" sz="2400" b="1">
                <a:solidFill>
                  <a:srgbClr val="FF0000"/>
                </a:solidFill>
                <a:latin typeface="Times New Roman" panose="02020603050405020304" pitchFamily="18" charset="0"/>
              </a:rPr>
              <a:t>顺推解法</a:t>
            </a:r>
            <a:r>
              <a:rPr lang="zh-CN" altLang="en-US" sz="2400" b="1">
                <a:latin typeface="Times New Roman" panose="02020603050405020304" pitchFamily="18" charset="0"/>
              </a:rPr>
              <a:t>，从前向后依次有</a:t>
            </a:r>
            <a:endParaRPr lang="zh-CN" altLang="en-US" sz="2400" b="1">
              <a:latin typeface="Arial" panose="020B0604020202020204" pitchFamily="34" charset="0"/>
            </a:endParaRPr>
          </a:p>
        </p:txBody>
      </p:sp>
      <p:sp>
        <p:nvSpPr>
          <p:cNvPr id="96264" name="Rectangle 6"/>
          <p:cNvSpPr>
            <a:spLocks noChangeArrowheads="1"/>
          </p:cNvSpPr>
          <p:nvPr/>
        </p:nvSpPr>
        <p:spPr bwMode="auto">
          <a:xfrm>
            <a:off x="4067175" y="2351088"/>
            <a:ext cx="1422400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>
                <a:srgbClr val="000000"/>
              </a:buClr>
              <a:buFontTx/>
              <a:buNone/>
            </a:pPr>
            <a:r>
              <a:rPr lang="zh-CN" altLang="en-US" sz="2400" b="1">
                <a:latin typeface="Times New Roman" panose="02020603050405020304" pitchFamily="18" charset="0"/>
              </a:rPr>
              <a:t>及最优解</a:t>
            </a:r>
            <a:endParaRPr lang="zh-CN" altLang="en-US" sz="2400" b="1">
              <a:latin typeface="Arial" panose="020B0604020202020204" pitchFamily="34" charset="0"/>
            </a:endParaRPr>
          </a:p>
        </p:txBody>
      </p:sp>
      <p:sp>
        <p:nvSpPr>
          <p:cNvPr id="96265" name="灯片编号占位符 2"/>
          <p:cNvSpPr>
            <a:spLocks noGrp="1" noChangeArrowheads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>
                <a:srgbClr val="000000"/>
              </a:buClr>
              <a:buFontTx/>
              <a:buNone/>
            </a:pPr>
            <a:fld id="{CD5A84C4-06BD-4C83-9387-EFB447A61336}" type="slidenum">
              <a:rPr lang="zh-CN" altLang="zh-CN" sz="1400">
                <a:latin typeface="Arial" panose="020B0604020202020204" pitchFamily="34" charset="0"/>
              </a:rPr>
              <a:t>18</a:t>
            </a:fld>
            <a:endParaRPr lang="en-US" altLang="zh-CN" sz="1400">
              <a:latin typeface="Arial" panose="020B0604020202020204" pitchFamily="34" charset="0"/>
            </a:endParaRPr>
          </a:p>
        </p:txBody>
      </p:sp>
      <p:pic>
        <p:nvPicPr>
          <p:cNvPr id="10" name="Picture 3" descr="1118241161398087791843"/>
          <p:cNvPicPr>
            <a:picLocks noChangeAspect="1" noChangeArrowheads="1"/>
          </p:cNvPicPr>
          <p:nvPr/>
        </p:nvPicPr>
        <p:blipFill>
          <a:blip r:embed="rId4">
            <a:duotone>
              <a:schemeClr val="accent4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935744" y="2927648"/>
            <a:ext cx="6836656" cy="719758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11" name="Picture 4" descr="5649219521398087791843"/>
          <p:cNvPicPr>
            <a:picLocks noChangeAspect="1" noChangeArrowheads="1"/>
          </p:cNvPicPr>
          <p:nvPr/>
        </p:nvPicPr>
        <p:blipFill>
          <a:blip r:embed="rId5" cstate="print">
            <a:duotone>
              <a:schemeClr val="accent4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2050752" y="3644478"/>
            <a:ext cx="1081088" cy="795338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12" name="Picture 5" descr="3448991221398087791843"/>
          <p:cNvPicPr>
            <a:picLocks noChangeAspect="1" noChangeArrowheads="1"/>
          </p:cNvPicPr>
          <p:nvPr/>
        </p:nvPicPr>
        <p:blipFill>
          <a:blip r:embed="rId6">
            <a:duotone>
              <a:schemeClr val="accent4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914400" y="4467895"/>
            <a:ext cx="7086600" cy="908025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13" name="Picture 6" descr="7691515321398087791843"/>
          <p:cNvPicPr>
            <a:picLocks noChangeAspect="1" noChangeArrowheads="1"/>
          </p:cNvPicPr>
          <p:nvPr/>
        </p:nvPicPr>
        <p:blipFill>
          <a:blip r:embed="rId7" cstate="print">
            <a:duotone>
              <a:schemeClr val="accent4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2051720" y="5159375"/>
            <a:ext cx="1295400" cy="936625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96270" name="Rectangle 7"/>
          <p:cNvSpPr>
            <a:spLocks noChangeArrowheads="1"/>
          </p:cNvSpPr>
          <p:nvPr/>
        </p:nvSpPr>
        <p:spPr bwMode="auto">
          <a:xfrm>
            <a:off x="827088" y="3790950"/>
            <a:ext cx="1112837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>
                <a:srgbClr val="000000"/>
              </a:buClr>
              <a:buFontTx/>
              <a:buNone/>
            </a:pPr>
            <a:r>
              <a:rPr lang="zh-CN" altLang="en-US" sz="2400" b="1">
                <a:latin typeface="Times New Roman" panose="02020603050405020304" pitchFamily="18" charset="0"/>
              </a:rPr>
              <a:t>最优解</a:t>
            </a:r>
            <a:endParaRPr lang="zh-CN" altLang="en-US" sz="2400" b="1">
              <a:latin typeface="Arial" panose="020B0604020202020204" pitchFamily="34" charset="0"/>
            </a:endParaRPr>
          </a:p>
        </p:txBody>
      </p:sp>
      <p:sp>
        <p:nvSpPr>
          <p:cNvPr id="96271" name="Rectangle 8"/>
          <p:cNvSpPr>
            <a:spLocks noChangeArrowheads="1"/>
          </p:cNvSpPr>
          <p:nvPr/>
        </p:nvSpPr>
        <p:spPr bwMode="auto">
          <a:xfrm>
            <a:off x="857250" y="5345113"/>
            <a:ext cx="1112838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>
                <a:srgbClr val="000000"/>
              </a:buClr>
              <a:buFontTx/>
              <a:buNone/>
            </a:pPr>
            <a:r>
              <a:rPr lang="zh-CN" altLang="en-US" sz="2400" b="1">
                <a:latin typeface="Times New Roman" panose="02020603050405020304" pitchFamily="18" charset="0"/>
              </a:rPr>
              <a:t>最优解</a:t>
            </a:r>
            <a:endParaRPr lang="zh-CN" altLang="en-US" sz="2400" b="1">
              <a:latin typeface="Arial" panose="020B0604020202020204" pitchFamily="34" charset="0"/>
            </a:endParaRPr>
          </a:p>
        </p:txBody>
      </p:sp>
      <p:graphicFrame>
        <p:nvGraphicFramePr>
          <p:cNvPr id="96272" name="Object 20"/>
          <p:cNvGraphicFramePr>
            <a:graphicFrameLocks noChangeAspect="1"/>
          </p:cNvGraphicFramePr>
          <p:nvPr/>
        </p:nvGraphicFramePr>
        <p:xfrm>
          <a:off x="6858000" y="568325"/>
          <a:ext cx="1800225" cy="433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989965" imgH="241300" progId="Equation.DSMT4">
                  <p:embed/>
                </p:oleObj>
              </mc:Choice>
              <mc:Fallback>
                <p:oleObj r:id="rId8" imgW="989965" imgH="241300" progId="Equation.DSMT4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0" y="568325"/>
                        <a:ext cx="1800225" cy="433388"/>
                      </a:xfrm>
                      <a:prstGeom prst="rect">
                        <a:avLst/>
                      </a:prstGeom>
                      <a:solidFill>
                        <a:srgbClr val="D9D9D9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6273" name="文本框 1"/>
          <p:cNvSpPr txBox="1">
            <a:spLocks noChangeArrowheads="1"/>
          </p:cNvSpPr>
          <p:nvPr/>
        </p:nvSpPr>
        <p:spPr bwMode="auto">
          <a:xfrm>
            <a:off x="5959475" y="1698625"/>
            <a:ext cx="18002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>
                <a:srgbClr val="000000"/>
              </a:buClr>
              <a:buFontTx/>
              <a:buNone/>
            </a:pPr>
            <a:r>
              <a:rPr lang="zh-CN" altLang="en-US" sz="2000" b="1">
                <a:solidFill>
                  <a:srgbClr val="FF0000"/>
                </a:solidFill>
                <a:latin typeface="Arial" panose="020B0604020202020204" pitchFamily="34" charset="0"/>
              </a:rPr>
              <a:t>状态转移方程</a:t>
            </a:r>
          </a:p>
        </p:txBody>
      </p:sp>
      <p:cxnSp>
        <p:nvCxnSpPr>
          <p:cNvPr id="6" name="直接箭头连接符 5"/>
          <p:cNvCxnSpPr>
            <a:stCxn id="96273" idx="2"/>
          </p:cNvCxnSpPr>
          <p:nvPr/>
        </p:nvCxnSpPr>
        <p:spPr>
          <a:xfrm flipH="1">
            <a:off x="6289675" y="2098675"/>
            <a:ext cx="569913" cy="1001713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"/>
          <p:cNvSpPr txBox="1">
            <a:spLocks noChangeArrowheads="1"/>
          </p:cNvSpPr>
          <p:nvPr/>
        </p:nvSpPr>
        <p:spPr bwMode="auto">
          <a:xfrm>
            <a:off x="609600" y="838200"/>
            <a:ext cx="5445125" cy="620713"/>
          </a:xfrm>
          <a:prstGeom prst="rect">
            <a:avLst/>
          </a:prstGeom>
          <a:noFill/>
          <a:ln>
            <a:noFill/>
          </a:ln>
        </p:spPr>
        <p:txBody>
          <a:bodyPr anchor="b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3200" b="1" u="sng" kern="0" dirty="0">
                <a:solidFill>
                  <a:schemeClr val="hlink"/>
                </a:solidFill>
              </a:rPr>
              <a:t>动态规划的求解方法</a:t>
            </a:r>
            <a:r>
              <a:rPr lang="en-US" altLang="zh-CN" sz="3200" b="1" u="sng" kern="0" dirty="0">
                <a:solidFill>
                  <a:schemeClr val="hlink"/>
                </a:solidFill>
              </a:rPr>
              <a:t>—</a:t>
            </a:r>
            <a:r>
              <a:rPr lang="zh-CN" altLang="en-US" sz="3200" b="1" u="sng" kern="0" dirty="0">
                <a:solidFill>
                  <a:schemeClr val="hlink"/>
                </a:solidFill>
              </a:rPr>
              <a:t>算例</a:t>
            </a:r>
            <a:r>
              <a:rPr lang="en-US" altLang="zh-CN" sz="3200" b="1" u="sng" kern="0" dirty="0">
                <a:solidFill>
                  <a:schemeClr val="hlink"/>
                </a:solidFill>
              </a:rPr>
              <a:t>4</a:t>
            </a:r>
            <a:endParaRPr lang="zh-CN" altLang="en-US" sz="3200" b="1" u="sng" kern="0" dirty="0">
              <a:solidFill>
                <a:schemeClr val="hlink"/>
              </a:solidFill>
            </a:endParaRPr>
          </a:p>
        </p:txBody>
      </p:sp>
    </p:spTree>
  </p:cSld>
  <p:clrMapOvr>
    <a:masterClrMapping/>
  </p:clrMapOvr>
  <p:transition spd="slow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/>
          <p:cNvSpPr>
            <a:spLocks noChangeArrowheads="1"/>
          </p:cNvSpPr>
          <p:nvPr/>
        </p:nvSpPr>
        <p:spPr bwMode="auto">
          <a:xfrm>
            <a:off x="1300163" y="1947863"/>
            <a:ext cx="5322887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indent="2667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>
                <a:srgbClr val="000000"/>
              </a:buClr>
              <a:buFontTx/>
              <a:buNone/>
            </a:pPr>
            <a:r>
              <a:rPr lang="zh-CN" altLang="en-US" sz="2400" b="1">
                <a:latin typeface="Times New Roman" panose="02020603050405020304" pitchFamily="18" charset="0"/>
              </a:rPr>
              <a:t>由于已知           </a:t>
            </a:r>
            <a:r>
              <a:rPr lang="zh-CN" altLang="en-US" sz="2400" b="1">
                <a:latin typeface="Tahoma" panose="020B0604030504040204" pitchFamily="34" charset="0"/>
              </a:rPr>
              <a:t>，故易得到最优解为</a:t>
            </a:r>
            <a:endParaRPr lang="zh-CN" altLang="en-US" sz="2400">
              <a:latin typeface="Arial" panose="020B0604020202020204" pitchFamily="34" charset="0"/>
            </a:endParaRPr>
          </a:p>
        </p:txBody>
      </p:sp>
      <p:pic>
        <p:nvPicPr>
          <p:cNvPr id="87044" name="Picture 4" descr="8046610831398087791843"/>
          <p:cNvPicPr>
            <a:picLocks noChangeAspect="1" noChangeArrowheads="1"/>
          </p:cNvPicPr>
          <p:nvPr/>
        </p:nvPicPr>
        <p:blipFill>
          <a:blip r:embed="rId2" cstate="print">
            <a:duotone>
              <a:schemeClr val="accent4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2916485" y="1947093"/>
            <a:ext cx="814856" cy="517673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87045" name="Picture 5" descr="4947774661398087791843"/>
          <p:cNvPicPr>
            <a:picLocks noChangeAspect="1" noChangeArrowheads="1"/>
          </p:cNvPicPr>
          <p:nvPr/>
        </p:nvPicPr>
        <p:blipFill>
          <a:blip r:embed="rId3">
            <a:duotone>
              <a:schemeClr val="accent4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2483073" y="2739181"/>
            <a:ext cx="3817119" cy="947969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87046" name="Picture 6" descr="5930382411398087791843"/>
          <p:cNvPicPr>
            <a:picLocks noChangeAspect="1" noChangeArrowheads="1"/>
          </p:cNvPicPr>
          <p:nvPr/>
        </p:nvPicPr>
        <p:blipFill>
          <a:blip r:embed="rId4" cstate="print">
            <a:duotone>
              <a:schemeClr val="accent4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3061493" y="4539381"/>
            <a:ext cx="2014563" cy="870819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97286" name="Rectangle 7"/>
          <p:cNvSpPr>
            <a:spLocks noChangeArrowheads="1"/>
          </p:cNvSpPr>
          <p:nvPr/>
        </p:nvSpPr>
        <p:spPr bwMode="auto">
          <a:xfrm>
            <a:off x="1619250" y="3819525"/>
            <a:ext cx="2012950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>
                <a:srgbClr val="000000"/>
              </a:buClr>
              <a:buFontTx/>
              <a:buNone/>
            </a:pPr>
            <a:r>
              <a:rPr lang="zh-CN" altLang="en-US" sz="2400" b="1">
                <a:latin typeface="Times New Roman" panose="02020603050405020304" pitchFamily="18" charset="0"/>
              </a:rPr>
              <a:t>最大值为</a:t>
            </a:r>
            <a:r>
              <a:rPr lang="zh-CN" altLang="en-US" sz="2400" b="1">
                <a:latin typeface="Arial" panose="020B0604020202020204" pitchFamily="34" charset="0"/>
                <a:cs typeface="Courier New" panose="02070309020205020404" pitchFamily="49" charset="0"/>
              </a:rPr>
              <a:t>	</a:t>
            </a:r>
            <a:endParaRPr lang="zh-CN" altLang="en-US" sz="2400" b="1">
              <a:latin typeface="Arial" panose="020B0604020202020204" pitchFamily="34" charset="0"/>
            </a:endParaRPr>
          </a:p>
        </p:txBody>
      </p:sp>
      <p:sp>
        <p:nvSpPr>
          <p:cNvPr id="97287" name="灯片编号占位符 2"/>
          <p:cNvSpPr>
            <a:spLocks noGrp="1" noChangeArrowheads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>
                <a:srgbClr val="000000"/>
              </a:buClr>
              <a:buFontTx/>
              <a:buNone/>
            </a:pPr>
            <a:fld id="{F19DE0D7-E92E-4131-86C6-DAB0F4128A52}" type="slidenum">
              <a:rPr lang="zh-CN" altLang="zh-CN" sz="1400">
                <a:latin typeface="Arial" panose="020B0604020202020204" pitchFamily="34" charset="0"/>
              </a:rPr>
              <a:t>19</a:t>
            </a:fld>
            <a:endParaRPr lang="en-US" altLang="zh-CN" sz="1400">
              <a:latin typeface="Arial" panose="020B0604020202020204" pitchFamily="34" charset="0"/>
            </a:endParaRPr>
          </a:p>
        </p:txBody>
      </p:sp>
      <p:sp>
        <p:nvSpPr>
          <p:cNvPr id="10" name="Rectangle 2"/>
          <p:cNvSpPr txBox="1">
            <a:spLocks noChangeArrowheads="1"/>
          </p:cNvSpPr>
          <p:nvPr/>
        </p:nvSpPr>
        <p:spPr bwMode="auto">
          <a:xfrm>
            <a:off x="609600" y="838200"/>
            <a:ext cx="5445125" cy="620713"/>
          </a:xfrm>
          <a:prstGeom prst="rect">
            <a:avLst/>
          </a:prstGeom>
          <a:noFill/>
          <a:ln>
            <a:noFill/>
          </a:ln>
        </p:spPr>
        <p:txBody>
          <a:bodyPr anchor="b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3200" b="1" u="sng" kern="0" dirty="0">
                <a:solidFill>
                  <a:schemeClr val="hlink"/>
                </a:solidFill>
              </a:rPr>
              <a:t>动态规划的求解方法</a:t>
            </a:r>
            <a:r>
              <a:rPr lang="en-US" altLang="zh-CN" sz="3200" b="1" u="sng" kern="0" dirty="0">
                <a:solidFill>
                  <a:schemeClr val="hlink"/>
                </a:solidFill>
              </a:rPr>
              <a:t>—</a:t>
            </a:r>
            <a:r>
              <a:rPr lang="zh-CN" altLang="en-US" sz="3200" b="1" u="sng" kern="0" dirty="0">
                <a:solidFill>
                  <a:schemeClr val="hlink"/>
                </a:solidFill>
              </a:rPr>
              <a:t>算例</a:t>
            </a:r>
            <a:r>
              <a:rPr lang="en-US" altLang="zh-CN" sz="3200" b="1" u="sng" kern="0" dirty="0">
                <a:solidFill>
                  <a:schemeClr val="hlink"/>
                </a:solidFill>
              </a:rPr>
              <a:t>4</a:t>
            </a:r>
            <a:endParaRPr lang="zh-CN" altLang="en-US" sz="3200" b="1" u="sng" kern="0" dirty="0">
              <a:solidFill>
                <a:schemeClr val="hlink"/>
              </a:solidFill>
            </a:endParaRPr>
          </a:p>
        </p:txBody>
      </p:sp>
    </p:spTree>
  </p:cSld>
  <p:clrMapOvr>
    <a:masterClrMapping/>
  </p:clrMapOvr>
  <p:transition spd="slow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091" name="Picture 3" descr="4092400631398087791843"/>
          <p:cNvPicPr>
            <a:picLocks noChangeAspect="1" noChangeArrowheads="1"/>
          </p:cNvPicPr>
          <p:nvPr/>
        </p:nvPicPr>
        <p:blipFill>
          <a:blip r:embed="rId3">
            <a:duotone>
              <a:schemeClr val="accent4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1524000" y="2590800"/>
            <a:ext cx="4872355" cy="1782445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98307" name="Rectangle 4"/>
          <p:cNvSpPr>
            <a:spLocks noChangeArrowheads="1"/>
          </p:cNvSpPr>
          <p:nvPr/>
        </p:nvSpPr>
        <p:spPr bwMode="auto">
          <a:xfrm>
            <a:off x="685800" y="1905000"/>
            <a:ext cx="6064250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>
                <a:srgbClr val="000000"/>
              </a:buClr>
              <a:buFontTx/>
              <a:buNone/>
            </a:pPr>
            <a:r>
              <a:rPr lang="zh-CN" altLang="en-US" sz="2400" b="1" u="sng">
                <a:solidFill>
                  <a:srgbClr val="FF0000"/>
                </a:solidFill>
                <a:latin typeface="Times New Roman" panose="02020603050405020304" pitchFamily="18" charset="0"/>
              </a:rPr>
              <a:t>例</a:t>
            </a:r>
            <a:r>
              <a:rPr lang="en-US" altLang="zh-CN" sz="2400" b="1" u="sng">
                <a:solidFill>
                  <a:srgbClr val="FF0000"/>
                </a:solidFill>
                <a:latin typeface="Times New Roman" panose="02020603050405020304" pitchFamily="18" charset="0"/>
              </a:rPr>
              <a:t>5</a:t>
            </a:r>
            <a:r>
              <a:rPr lang="en-US" altLang="zh-CN" sz="2400" b="1">
                <a:solidFill>
                  <a:srgbClr val="FF0000"/>
                </a:solidFill>
                <a:latin typeface="宋体" panose="02010600030101010101" pitchFamily="2" charset="-122"/>
              </a:rPr>
              <a:t> </a:t>
            </a:r>
            <a:r>
              <a:rPr lang="zh-CN" altLang="en-US" sz="2400" b="1">
                <a:latin typeface="宋体" panose="02010600030101010101" pitchFamily="2" charset="-122"/>
              </a:rPr>
              <a:t>用动态规划方法解以下问题</a:t>
            </a:r>
            <a:r>
              <a:rPr lang="en-US" altLang="zh-CN" sz="2400" b="1">
                <a:latin typeface="宋体" panose="02010600030101010101" pitchFamily="2" charset="-122"/>
              </a:rPr>
              <a:t>(</a:t>
            </a:r>
            <a:r>
              <a:rPr lang="zh-CN" altLang="en-US" sz="2400" b="1">
                <a:latin typeface="宋体" panose="02010600030101010101" pitchFamily="2" charset="-122"/>
              </a:rPr>
              <a:t>顺推法</a:t>
            </a:r>
            <a:r>
              <a:rPr lang="en-US" altLang="zh-CN" sz="2400" b="1">
                <a:latin typeface="宋体" panose="02010600030101010101" pitchFamily="2" charset="-122"/>
              </a:rPr>
              <a:t>)</a:t>
            </a:r>
            <a:r>
              <a:rPr lang="zh-CN" altLang="en-US" sz="2400" b="1">
                <a:latin typeface="宋体" panose="02010600030101010101" pitchFamily="2" charset="-122"/>
              </a:rPr>
              <a:t>。</a:t>
            </a:r>
            <a:endParaRPr lang="zh-CN" altLang="en-US" sz="2400" b="1">
              <a:latin typeface="宋体" panose="02010600030101010101" pitchFamily="2" charset="-122"/>
              <a:cs typeface="Courier New" panose="02070309020205020404" pitchFamily="49" charset="0"/>
            </a:endParaRPr>
          </a:p>
        </p:txBody>
      </p:sp>
      <p:sp>
        <p:nvSpPr>
          <p:cNvPr id="98309" name="灯片编号占位符 2"/>
          <p:cNvSpPr>
            <a:spLocks noGrp="1" noChangeArrowheads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>
                <a:srgbClr val="000000"/>
              </a:buClr>
              <a:buFontTx/>
              <a:buNone/>
            </a:pPr>
            <a:fld id="{217797EA-C610-4AF2-8797-793D396053D7}" type="slidenum">
              <a:rPr lang="zh-CN" altLang="zh-CN" sz="1400">
                <a:latin typeface="Arial" panose="020B0604020202020204" pitchFamily="34" charset="0"/>
              </a:rPr>
              <a:t>20</a:t>
            </a:fld>
            <a:endParaRPr lang="en-US" altLang="zh-CN" sz="1400">
              <a:latin typeface="Arial" panose="020B0604020202020204" pitchFamily="34" charset="0"/>
            </a:endParaRPr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 bwMode="auto">
          <a:xfrm>
            <a:off x="609600" y="838200"/>
            <a:ext cx="7315200" cy="620713"/>
          </a:xfrm>
          <a:prstGeom prst="rect">
            <a:avLst/>
          </a:prstGeom>
          <a:noFill/>
          <a:ln>
            <a:noFill/>
          </a:ln>
        </p:spPr>
        <p:txBody>
          <a:bodyPr anchor="b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3200" b="1" u="sng" kern="0" dirty="0">
                <a:solidFill>
                  <a:schemeClr val="hlink"/>
                </a:solidFill>
              </a:rPr>
              <a:t>动态规划的求解方法</a:t>
            </a:r>
            <a:r>
              <a:rPr lang="en-US" altLang="zh-CN" sz="3200" b="1" u="sng" kern="0" dirty="0">
                <a:solidFill>
                  <a:schemeClr val="hlink"/>
                </a:solidFill>
              </a:rPr>
              <a:t>—</a:t>
            </a:r>
            <a:r>
              <a:rPr lang="zh-CN" altLang="en-US" sz="3200" b="1" u="sng" kern="0" dirty="0">
                <a:solidFill>
                  <a:srgbClr val="C00000"/>
                </a:solidFill>
              </a:rPr>
              <a:t>算例</a:t>
            </a:r>
            <a:r>
              <a:rPr lang="en-US" altLang="zh-CN" sz="3200" b="1" u="sng" kern="0" dirty="0">
                <a:solidFill>
                  <a:srgbClr val="C00000"/>
                </a:solidFill>
              </a:rPr>
              <a:t>5</a:t>
            </a:r>
            <a:r>
              <a:rPr kumimoji="0" lang="zh-CN" altLang="en-US" sz="2400" b="1" i="0" u="sng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 （</a:t>
            </a:r>
            <a:r>
              <a:rPr kumimoji="0" lang="zh-CN" altLang="en-US" sz="2400" b="1" i="0" u="sng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顺推法</a:t>
            </a:r>
            <a:r>
              <a:rPr kumimoji="0" lang="zh-CN" altLang="en-US" sz="2400" b="1" i="0" u="sng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）</a:t>
            </a:r>
            <a:endParaRPr lang="zh-CN" altLang="en-US" sz="3200" b="1" u="sng" kern="0" dirty="0">
              <a:solidFill>
                <a:schemeClr val="hlink"/>
              </a:solidFill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4953000"/>
            <a:ext cx="4318000" cy="1492250"/>
          </a:xfrm>
          <a:prstGeom prst="rect">
            <a:avLst/>
          </a:prstGeom>
          <a:solidFill>
            <a:schemeClr val="bg2"/>
          </a:solidFill>
          <a:ln w="12700" cmpd="sng">
            <a:solidFill>
              <a:schemeClr val="accent1">
                <a:shade val="50000"/>
              </a:schemeClr>
            </a:solidFill>
            <a:prstDash val="solid"/>
          </a:ln>
        </p:spPr>
      </p:pic>
      <p:graphicFrame>
        <p:nvGraphicFramePr>
          <p:cNvPr id="3" name="对象 2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6011069" y="4429602"/>
          <a:ext cx="2054225" cy="2200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812800" imgH="965200" progId="Equation.DSMT4">
                  <p:embed/>
                </p:oleObj>
              </mc:Choice>
              <mc:Fallback>
                <p:oleObj name="Equation" r:id="rId5" imgW="812800" imgH="965200" progId="Equation.DSMT4">
                  <p:embed/>
                  <p:pic>
                    <p:nvPicPr>
                      <p:cNvPr id="0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11069" y="4429602"/>
                        <a:ext cx="2054225" cy="2200275"/>
                      </a:xfrm>
                      <a:prstGeom prst="rect">
                        <a:avLst/>
                      </a:prstGeom>
                      <a:solidFill>
                        <a:schemeClr val="bg1">
                          <a:lumMod val="85000"/>
                        </a:schemeClr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圆角矩形 2"/>
          <p:cNvSpPr/>
          <p:nvPr/>
        </p:nvSpPr>
        <p:spPr>
          <a:xfrm>
            <a:off x="1524000" y="5173345"/>
            <a:ext cx="5892800" cy="96520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buClr>
                <a:srgbClr val="000000"/>
              </a:buClr>
              <a:buSzPct val="100000"/>
              <a:defRPr/>
            </a:pPr>
            <a:endParaRPr lang="zh-CN" altLang="en-US" sz="1800"/>
          </a:p>
        </p:txBody>
      </p:sp>
      <p:sp>
        <p:nvSpPr>
          <p:cNvPr id="99331" name="Rectangle 2"/>
          <p:cNvSpPr>
            <a:spLocks noChangeArrowheads="1"/>
          </p:cNvSpPr>
          <p:nvPr/>
        </p:nvSpPr>
        <p:spPr bwMode="auto">
          <a:xfrm>
            <a:off x="603250" y="1681480"/>
            <a:ext cx="7993380" cy="32994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no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50000"/>
              </a:lnSpc>
              <a:spcBef>
                <a:spcPct val="0"/>
              </a:spcBef>
              <a:buClr>
                <a:srgbClr val="000000"/>
              </a:buClr>
              <a:buFontTx/>
              <a:buNone/>
            </a:pPr>
            <a:r>
              <a:rPr lang="zh-CN" altLang="en-US" sz="2400" b="1" u="sng">
                <a:solidFill>
                  <a:srgbClr val="FF0000"/>
                </a:solidFill>
                <a:latin typeface="宋体" panose="02010600030101010101" pitchFamily="2" charset="-122"/>
              </a:rPr>
              <a:t>解</a:t>
            </a:r>
            <a:r>
              <a:rPr lang="zh-CN" altLang="en-US" sz="2400" b="1">
                <a:solidFill>
                  <a:srgbClr val="FF0000"/>
                </a:solidFill>
                <a:latin typeface="宋体" panose="02010600030101010101" pitchFamily="2" charset="-122"/>
              </a:rPr>
              <a:t>：</a:t>
            </a:r>
            <a:r>
              <a:rPr lang="zh-CN" altLang="en-US" sz="2400" b="1">
                <a:latin typeface="Times New Roman" panose="02020603050405020304" pitchFamily="18" charset="0"/>
              </a:rPr>
              <a:t>按问题中变量的个数分为三个阶段。</a:t>
            </a:r>
          </a:p>
          <a:p>
            <a:pPr algn="just" eaLnBrk="1" hangingPunct="1">
              <a:lnSpc>
                <a:spcPct val="150000"/>
              </a:lnSpc>
              <a:spcBef>
                <a:spcPct val="0"/>
              </a:spcBef>
              <a:buClr>
                <a:srgbClr val="FF0000"/>
              </a:buClr>
              <a:buFont typeface="Wingdings" panose="05000000000000000000" charset="0"/>
              <a:buChar char="u"/>
            </a:pPr>
            <a:r>
              <a:rPr lang="zh-CN" altLang="en-US" sz="2400" b="1">
                <a:latin typeface="Times New Roman" panose="02020603050405020304" pitchFamily="18" charset="0"/>
              </a:rPr>
              <a:t>设状态变量为                       ，</a:t>
            </a:r>
          </a:p>
          <a:p>
            <a:pPr algn="just" eaLnBrk="1" hangingPunct="1">
              <a:lnSpc>
                <a:spcPct val="150000"/>
              </a:lnSpc>
              <a:spcBef>
                <a:spcPct val="0"/>
              </a:spcBef>
              <a:buClr>
                <a:srgbClr val="000000"/>
              </a:buClr>
              <a:buFontTx/>
              <a:buNone/>
            </a:pPr>
            <a:r>
              <a:rPr lang="zh-CN" altLang="en-US" sz="2400" b="1">
                <a:latin typeface="Times New Roman" panose="02020603050405020304" pitchFamily="18" charset="0"/>
              </a:rPr>
              <a:t>并记              ；</a:t>
            </a:r>
          </a:p>
          <a:p>
            <a:pPr marL="0" indent="0" algn="just" eaLnBrk="1" latinLnBrk="0" hangingPunct="1">
              <a:lnSpc>
                <a:spcPct val="150000"/>
              </a:lnSpc>
              <a:spcBef>
                <a:spcPts val="600"/>
              </a:spcBef>
              <a:buClr>
                <a:srgbClr val="FF0000"/>
              </a:buClr>
              <a:buFont typeface="Wingdings" panose="05000000000000000000" charset="0"/>
              <a:buChar char="u"/>
            </a:pPr>
            <a:r>
              <a:rPr lang="en-US" altLang="zh-CN" sz="2400" b="1">
                <a:latin typeface="Times New Roman" panose="02020603050405020304" pitchFamily="18" charset="0"/>
              </a:rPr>
              <a:t> </a:t>
            </a:r>
            <a:r>
              <a:rPr lang="zh-CN" altLang="en-US" sz="2400" b="1">
                <a:latin typeface="Times New Roman" panose="02020603050405020304" pitchFamily="18" charset="0"/>
                <a:sym typeface="+mn-ea"/>
              </a:rPr>
              <a:t>取               为各阶段的决策变量；各阶段指标函数按加法方式结合。</a:t>
            </a:r>
            <a:r>
              <a:rPr lang="zh-CN" altLang="en-US" sz="2400" b="1">
                <a:solidFill>
                  <a:srgbClr val="0070C0"/>
                </a:solidFill>
                <a:latin typeface="Times New Roman" panose="02020603050405020304" pitchFamily="18" charset="0"/>
              </a:rPr>
              <a:t>最优值函数     </a:t>
            </a:r>
            <a:r>
              <a:rPr lang="en-US" altLang="zh-CN" sz="2400" b="1">
                <a:solidFill>
                  <a:srgbClr val="0070C0"/>
                </a:solidFill>
                <a:latin typeface="Times New Roman" panose="02020603050405020304" pitchFamily="18" charset="0"/>
              </a:rPr>
              <a:t>       </a:t>
            </a:r>
            <a:r>
              <a:rPr lang="zh-CN" altLang="en-US" sz="2400" b="1">
                <a:solidFill>
                  <a:srgbClr val="0070C0"/>
                </a:solidFill>
                <a:latin typeface="Times New Roman" panose="02020603050405020304" pitchFamily="18" charset="0"/>
              </a:rPr>
              <a:t>表示第</a:t>
            </a:r>
            <a:r>
              <a:rPr lang="en-US" altLang="zh-CN" sz="2400" b="1" i="1">
                <a:solidFill>
                  <a:srgbClr val="0070C0"/>
                </a:solidFill>
                <a:latin typeface="Times New Roman" panose="02020603050405020304" pitchFamily="18" charset="0"/>
              </a:rPr>
              <a:t>k</a:t>
            </a:r>
            <a:r>
              <a:rPr lang="zh-CN" altLang="en-US" sz="2400" b="1">
                <a:solidFill>
                  <a:srgbClr val="0070C0"/>
                </a:solidFill>
                <a:latin typeface="Times New Roman" panose="02020603050405020304" pitchFamily="18" charset="0"/>
              </a:rPr>
              <a:t>阶段的结束状态为</a:t>
            </a:r>
            <a:r>
              <a:rPr lang="en-US" altLang="zh-CN" sz="2400" b="1" i="1">
                <a:solidFill>
                  <a:srgbClr val="0070C0"/>
                </a:solidFill>
                <a:latin typeface="Times New Roman" panose="02020603050405020304" pitchFamily="18" charset="0"/>
              </a:rPr>
              <a:t>s</a:t>
            </a:r>
            <a:r>
              <a:rPr lang="en-US" altLang="zh-CN" sz="2400" b="1" i="1" baseline="-25000">
                <a:solidFill>
                  <a:srgbClr val="0070C0"/>
                </a:solidFill>
                <a:latin typeface="Times New Roman" panose="02020603050405020304" pitchFamily="18" charset="0"/>
              </a:rPr>
              <a:t>k</a:t>
            </a:r>
            <a:r>
              <a:rPr lang="zh-CN" altLang="en-US" sz="2400" b="1">
                <a:solidFill>
                  <a:srgbClr val="0070C0"/>
                </a:solidFill>
                <a:latin typeface="Times New Roman" panose="02020603050405020304" pitchFamily="18" charset="0"/>
              </a:rPr>
              <a:t>，从 </a:t>
            </a:r>
            <a:r>
              <a:rPr lang="en-US" altLang="zh-CN" sz="2400" b="1">
                <a:solidFill>
                  <a:srgbClr val="0070C0"/>
                </a:solidFill>
                <a:latin typeface="Times New Roman" panose="02020603050405020304" pitchFamily="18" charset="0"/>
              </a:rPr>
              <a:t>1 </a:t>
            </a:r>
            <a:r>
              <a:rPr lang="zh-CN" altLang="en-US" sz="2400" b="1">
                <a:solidFill>
                  <a:srgbClr val="0070C0"/>
                </a:solidFill>
                <a:latin typeface="Times New Roman" panose="02020603050405020304" pitchFamily="18" charset="0"/>
              </a:rPr>
              <a:t>阶段至 </a:t>
            </a:r>
            <a:r>
              <a:rPr lang="en-US" altLang="zh-CN" sz="2400" b="1" i="1">
                <a:solidFill>
                  <a:srgbClr val="0070C0"/>
                </a:solidFill>
                <a:latin typeface="Times New Roman" panose="02020603050405020304" pitchFamily="18" charset="0"/>
              </a:rPr>
              <a:t>k </a:t>
            </a:r>
            <a:r>
              <a:rPr lang="zh-CN" altLang="en-US" sz="2400" b="1">
                <a:solidFill>
                  <a:srgbClr val="0070C0"/>
                </a:solidFill>
                <a:latin typeface="Times New Roman" panose="02020603050405020304" pitchFamily="18" charset="0"/>
              </a:rPr>
              <a:t>阶段的最大值</a:t>
            </a:r>
            <a:r>
              <a:rPr lang="zh-CN" altLang="en-US" sz="2400" b="1">
                <a:latin typeface="Times New Roman" panose="02020603050405020304" pitchFamily="18" charset="0"/>
              </a:rPr>
              <a:t>。</a:t>
            </a:r>
          </a:p>
        </p:txBody>
      </p:sp>
      <p:pic>
        <p:nvPicPr>
          <p:cNvPr id="90116" name="Picture 4" descr="7862848151398087791843"/>
          <p:cNvPicPr>
            <a:picLocks noChangeAspect="1" noChangeArrowheads="1"/>
          </p:cNvPicPr>
          <p:nvPr/>
        </p:nvPicPr>
        <p:blipFill>
          <a:blip r:embed="rId4" cstate="print">
            <a:duotone>
              <a:schemeClr val="accent4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2848610" y="2244725"/>
            <a:ext cx="1712595" cy="530860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90117" name="Picture 5" descr="9455305191398087791843"/>
          <p:cNvPicPr>
            <a:picLocks noChangeAspect="1" noChangeArrowheads="1"/>
          </p:cNvPicPr>
          <p:nvPr/>
        </p:nvPicPr>
        <p:blipFill>
          <a:blip r:embed="rId5" cstate="print">
            <a:duotone>
              <a:schemeClr val="accent4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1295534" y="2845837"/>
            <a:ext cx="1017277" cy="442220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90118" name="Picture 6" descr="7148836711398087791853"/>
          <p:cNvPicPr>
            <a:picLocks noChangeAspect="1" noChangeArrowheads="1"/>
          </p:cNvPicPr>
          <p:nvPr/>
        </p:nvPicPr>
        <p:blipFill>
          <a:blip r:embed="rId6" cstate="print">
            <a:duotone>
              <a:schemeClr val="accent4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1363965" y="3414797"/>
            <a:ext cx="1224136" cy="465797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90119" name="Picture 7" descr="3895033811398087791853"/>
          <p:cNvPicPr>
            <a:picLocks noChangeAspect="1" noChangeArrowheads="1"/>
          </p:cNvPicPr>
          <p:nvPr/>
        </p:nvPicPr>
        <p:blipFill>
          <a:blip r:embed="rId7" cstate="print">
            <a:duotone>
              <a:schemeClr val="accent4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4083789" y="3935983"/>
            <a:ext cx="865188" cy="523875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12" name="Picture 3" descr="317169691398087791853"/>
          <p:cNvPicPr>
            <a:picLocks noChangeAspect="1" noChangeArrowheads="1"/>
          </p:cNvPicPr>
          <p:nvPr/>
        </p:nvPicPr>
        <p:blipFill>
          <a:blip r:embed="rId8">
            <a:duotone>
              <a:schemeClr val="accent4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2563495" y="5236845"/>
            <a:ext cx="4641215" cy="430530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13" name="Picture 4" descr="5444833231398087791853"/>
          <p:cNvPicPr>
            <a:picLocks noChangeAspect="1" noChangeArrowheads="1"/>
          </p:cNvPicPr>
          <p:nvPr/>
        </p:nvPicPr>
        <p:blipFill>
          <a:blip r:embed="rId9">
            <a:duotone>
              <a:schemeClr val="accent4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2565400" y="5742940"/>
            <a:ext cx="4756150" cy="407035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99338" name="Text Box 5"/>
          <p:cNvSpPr txBox="1">
            <a:spLocks noChangeArrowheads="1"/>
          </p:cNvSpPr>
          <p:nvPr/>
        </p:nvSpPr>
        <p:spPr bwMode="auto">
          <a:xfrm>
            <a:off x="1759585" y="5291455"/>
            <a:ext cx="382905" cy="372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noAutofit/>
          </a:bodyPr>
          <a:lstStyle>
            <a:lvl1pPr marL="447675" indent="-447675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rgbClr val="000000"/>
              </a:buClr>
              <a:buFontTx/>
              <a:buNone/>
            </a:pPr>
            <a:r>
              <a:rPr lang="zh-CN" altLang="en-US" sz="1800" b="1">
                <a:latin typeface="Arial" panose="020B0604020202020204" pitchFamily="34" charset="0"/>
              </a:rPr>
              <a:t>设</a:t>
            </a:r>
          </a:p>
        </p:txBody>
      </p:sp>
      <p:sp>
        <p:nvSpPr>
          <p:cNvPr id="99339" name="Text Box 6"/>
          <p:cNvSpPr txBox="1">
            <a:spLocks noChangeArrowheads="1"/>
          </p:cNvSpPr>
          <p:nvPr/>
        </p:nvSpPr>
        <p:spPr bwMode="auto">
          <a:xfrm>
            <a:off x="1755775" y="5770880"/>
            <a:ext cx="595630" cy="372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noAutofit/>
          </a:bodyPr>
          <a:lstStyle>
            <a:lvl1pPr marL="447675" indent="-447675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rgbClr val="000000"/>
              </a:buClr>
              <a:buFontTx/>
              <a:buNone/>
            </a:pPr>
            <a:r>
              <a:rPr lang="zh-CN" altLang="en-US" sz="1800" b="1">
                <a:latin typeface="Arial" panose="020B0604020202020204" pitchFamily="34" charset="0"/>
              </a:rPr>
              <a:t>则有</a:t>
            </a:r>
          </a:p>
        </p:txBody>
      </p:sp>
      <p:sp>
        <p:nvSpPr>
          <p:cNvPr id="15" name="Rectangle 2"/>
          <p:cNvSpPr txBox="1">
            <a:spLocks noChangeArrowheads="1"/>
          </p:cNvSpPr>
          <p:nvPr/>
        </p:nvSpPr>
        <p:spPr bwMode="auto">
          <a:xfrm>
            <a:off x="609600" y="838200"/>
            <a:ext cx="5445125" cy="620713"/>
          </a:xfrm>
          <a:prstGeom prst="rect">
            <a:avLst/>
          </a:prstGeom>
          <a:noFill/>
          <a:ln>
            <a:noFill/>
          </a:ln>
        </p:spPr>
        <p:txBody>
          <a:bodyPr anchor="b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2800" b="1" u="sng" kern="0" dirty="0">
                <a:solidFill>
                  <a:schemeClr val="hlink"/>
                </a:solidFill>
              </a:rPr>
              <a:t>DP</a:t>
            </a:r>
            <a:r>
              <a:rPr lang="zh-CN" altLang="en-US" sz="2800" b="1" u="sng" kern="0" dirty="0">
                <a:solidFill>
                  <a:schemeClr val="hlink"/>
                </a:solidFill>
              </a:rPr>
              <a:t>的求解方法</a:t>
            </a:r>
            <a:r>
              <a:rPr lang="en-US" altLang="zh-CN" sz="2800" b="1" u="sng" kern="0" dirty="0">
                <a:solidFill>
                  <a:schemeClr val="hlink"/>
                </a:solidFill>
              </a:rPr>
              <a:t>—</a:t>
            </a:r>
            <a:r>
              <a:rPr lang="zh-CN" altLang="en-US" sz="2800" b="1" u="sng" kern="0" dirty="0">
                <a:solidFill>
                  <a:schemeClr val="hlink"/>
                </a:solidFill>
              </a:rPr>
              <a:t>算例</a:t>
            </a:r>
            <a:r>
              <a:rPr lang="en-US" altLang="zh-CN" sz="2800" b="1" u="sng" kern="0" dirty="0">
                <a:solidFill>
                  <a:schemeClr val="hlink"/>
                </a:solidFill>
              </a:rPr>
              <a:t>5</a:t>
            </a:r>
            <a:r>
              <a:rPr lang="zh-CN" altLang="en-US" sz="2800" b="1" u="sng" kern="0" dirty="0">
                <a:solidFill>
                  <a:schemeClr val="hlink"/>
                </a:solidFill>
              </a:rPr>
              <a:t>（续）</a:t>
            </a:r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4876800" y="2192655"/>
            <a:ext cx="3622040" cy="1251585"/>
          </a:xfrm>
          <a:prstGeom prst="rect">
            <a:avLst/>
          </a:prstGeom>
          <a:solidFill>
            <a:schemeClr val="bg2"/>
          </a:solidFill>
          <a:ln w="12700" cmpd="sng">
            <a:solidFill>
              <a:schemeClr val="accent1">
                <a:shade val="50000"/>
              </a:schemeClr>
            </a:solidFill>
            <a:prstDash val="solid"/>
          </a:ln>
        </p:spPr>
      </p:pic>
      <p:pic>
        <p:nvPicPr>
          <p:cNvPr id="89091" name="Picture 3" descr="4092400631398087791843"/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11">
            <a:duotone>
              <a:schemeClr val="accent4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5768975" y="520700"/>
            <a:ext cx="2847975" cy="104203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</p:pic>
    </p:spTree>
  </p:cSld>
  <p:clrMapOvr>
    <a:masterClrMapping/>
  </p:clrMapOvr>
  <p:transition spd="slow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63" name="Picture 3" descr="8641034221398087791853"/>
          <p:cNvPicPr>
            <a:picLocks noChangeAspect="1" noChangeArrowheads="1"/>
          </p:cNvPicPr>
          <p:nvPr/>
        </p:nvPicPr>
        <p:blipFill>
          <a:blip r:embed="rId3">
            <a:duotone>
              <a:schemeClr val="accent4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949964" y="2951658"/>
            <a:ext cx="5472335" cy="782142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100355" name="Rectangle 5"/>
          <p:cNvSpPr>
            <a:spLocks noChangeArrowheads="1"/>
          </p:cNvSpPr>
          <p:nvPr/>
        </p:nvSpPr>
        <p:spPr bwMode="auto">
          <a:xfrm>
            <a:off x="900113" y="2303463"/>
            <a:ext cx="4205287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>
                <a:srgbClr val="000000"/>
              </a:buClr>
              <a:buFontTx/>
              <a:buNone/>
            </a:pPr>
            <a:r>
              <a:rPr lang="zh-CN" altLang="en-US" sz="2400" b="1">
                <a:latin typeface="Times New Roman" panose="02020603050405020304" pitchFamily="18" charset="0"/>
              </a:rPr>
              <a:t>用顺推方法，从前向后依次有</a:t>
            </a:r>
            <a:endParaRPr lang="zh-CN" altLang="en-US" sz="2400" b="1">
              <a:latin typeface="Arial" panose="020B0604020202020204" pitchFamily="34" charset="0"/>
            </a:endParaRPr>
          </a:p>
        </p:txBody>
      </p:sp>
      <p:sp>
        <p:nvSpPr>
          <p:cNvPr id="100357" name="灯片编号占位符 2"/>
          <p:cNvSpPr>
            <a:spLocks noGrp="1" noChangeArrowheads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>
                <a:srgbClr val="000000"/>
              </a:buClr>
              <a:buFontTx/>
              <a:buNone/>
            </a:pPr>
            <a:fld id="{F4FC68CC-96AD-4451-BEF4-BAF3AD3B6697}" type="slidenum">
              <a:rPr lang="zh-CN" altLang="zh-CN" sz="1400">
                <a:latin typeface="Arial" panose="020B0604020202020204" pitchFamily="34" charset="0"/>
              </a:rPr>
              <a:t>22</a:t>
            </a:fld>
            <a:endParaRPr lang="en-US" altLang="zh-CN" sz="1400">
              <a:latin typeface="Arial" panose="020B0604020202020204" pitchFamily="34" charset="0"/>
            </a:endParaRPr>
          </a:p>
        </p:txBody>
      </p:sp>
      <p:pic>
        <p:nvPicPr>
          <p:cNvPr id="7" name="Picture 3" descr="4092400631398087791843"/>
          <p:cNvPicPr>
            <a:picLocks noChangeAspect="1" noChangeArrowheads="1"/>
          </p:cNvPicPr>
          <p:nvPr/>
        </p:nvPicPr>
        <p:blipFill>
          <a:blip r:embed="rId4">
            <a:duotone>
              <a:schemeClr val="accent4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762001" y="5029200"/>
            <a:ext cx="4038599" cy="147736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</p:pic>
      <p:sp>
        <p:nvSpPr>
          <p:cNvPr id="8" name="Rectangle 2"/>
          <p:cNvSpPr txBox="1">
            <a:spLocks noChangeArrowheads="1"/>
          </p:cNvSpPr>
          <p:nvPr/>
        </p:nvSpPr>
        <p:spPr bwMode="auto">
          <a:xfrm>
            <a:off x="609600" y="838200"/>
            <a:ext cx="5445125" cy="620713"/>
          </a:xfrm>
          <a:prstGeom prst="rect">
            <a:avLst/>
          </a:prstGeom>
          <a:noFill/>
          <a:ln>
            <a:noFill/>
          </a:ln>
        </p:spPr>
        <p:txBody>
          <a:bodyPr anchor="b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3200" b="1" u="sng" kern="0" dirty="0">
                <a:solidFill>
                  <a:schemeClr val="hlink"/>
                </a:solidFill>
              </a:rPr>
              <a:t>DP</a:t>
            </a:r>
            <a:r>
              <a:rPr lang="zh-CN" altLang="en-US" sz="3200" b="1" u="sng" kern="0" dirty="0">
                <a:solidFill>
                  <a:schemeClr val="hlink"/>
                </a:solidFill>
              </a:rPr>
              <a:t>的求解方法</a:t>
            </a:r>
            <a:r>
              <a:rPr lang="en-US" altLang="zh-CN" sz="3200" b="1" u="sng" kern="0" dirty="0">
                <a:solidFill>
                  <a:schemeClr val="hlink"/>
                </a:solidFill>
              </a:rPr>
              <a:t>—</a:t>
            </a:r>
            <a:r>
              <a:rPr lang="zh-CN" altLang="en-US" sz="3200" b="1" u="sng" kern="0" dirty="0">
                <a:solidFill>
                  <a:schemeClr val="hlink"/>
                </a:solidFill>
              </a:rPr>
              <a:t>算例</a:t>
            </a:r>
            <a:r>
              <a:rPr lang="en-US" altLang="zh-CN" sz="3200" b="1" u="sng" kern="0" dirty="0">
                <a:solidFill>
                  <a:schemeClr val="hlink"/>
                </a:solidFill>
              </a:rPr>
              <a:t>5</a:t>
            </a:r>
            <a:r>
              <a:rPr lang="zh-CN" altLang="en-US" sz="3200" b="1" u="sng" kern="0" dirty="0">
                <a:solidFill>
                  <a:schemeClr val="hlink"/>
                </a:solidFill>
              </a:rPr>
              <a:t>（续）</a:t>
            </a: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5791359" y="4429602"/>
          <a:ext cx="2054225" cy="2200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812800" imgH="965200" progId="Equation.DSMT4">
                  <p:embed/>
                </p:oleObj>
              </mc:Choice>
              <mc:Fallback>
                <p:oleObj name="Equation" r:id="rId5" imgW="812800" imgH="965200" progId="Equation.DSMT4">
                  <p:embed/>
                  <p:pic>
                    <p:nvPicPr>
                      <p:cNvPr id="0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91359" y="4429602"/>
                        <a:ext cx="2054225" cy="2200275"/>
                      </a:xfrm>
                      <a:prstGeom prst="rect">
                        <a:avLst/>
                      </a:prstGeom>
                      <a:solidFill>
                        <a:schemeClr val="bg1">
                          <a:lumMod val="85000"/>
                        </a:schemeClr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2"/>
          <p:cNvSpPr>
            <a:spLocks noChangeArrowheads="1"/>
          </p:cNvSpPr>
          <p:nvPr/>
        </p:nvSpPr>
        <p:spPr bwMode="auto">
          <a:xfrm>
            <a:off x="900113" y="3835400"/>
            <a:ext cx="7920037" cy="930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20000"/>
              </a:lnSpc>
              <a:spcBef>
                <a:spcPct val="0"/>
              </a:spcBef>
              <a:buClr>
                <a:srgbClr val="000000"/>
              </a:buClr>
              <a:buFontTx/>
              <a:buNone/>
            </a:pPr>
            <a:r>
              <a:rPr lang="zh-CN" altLang="en-US" sz="2400" b="1">
                <a:latin typeface="Times New Roman" panose="02020603050405020304" pitchFamily="18" charset="0"/>
              </a:rPr>
              <a:t>        因该点不在允许决策集合内，故无须判别。因而</a:t>
            </a:r>
            <a:endParaRPr lang="en-US" altLang="zh-CN" sz="2400" b="1">
              <a:latin typeface="Times New Roman" panose="02020603050405020304" pitchFamily="18" charset="0"/>
            </a:endParaRPr>
          </a:p>
          <a:p>
            <a:pPr algn="just" eaLnBrk="1" hangingPunct="1">
              <a:lnSpc>
                <a:spcPct val="120000"/>
              </a:lnSpc>
              <a:spcBef>
                <a:spcPct val="0"/>
              </a:spcBef>
              <a:buClr>
                <a:srgbClr val="000000"/>
              </a:buClr>
              <a:buFontTx/>
              <a:buNone/>
            </a:pPr>
            <a:r>
              <a:rPr lang="zh-CN" altLang="en-US" sz="2400" b="1">
                <a:latin typeface="Times New Roman" panose="02020603050405020304" pitchFamily="18" charset="0"/>
              </a:rPr>
              <a:t>             </a:t>
            </a:r>
            <a:r>
              <a:rPr lang="zh-CN" altLang="en-US" sz="2400" b="1">
                <a:latin typeface="Tahoma" panose="020B0604030504040204" pitchFamily="34" charset="0"/>
              </a:rPr>
              <a:t>的最大值必在两个端点上选取。</a:t>
            </a:r>
          </a:p>
        </p:txBody>
      </p:sp>
      <p:pic>
        <p:nvPicPr>
          <p:cNvPr id="93188" name="Picture 4" descr="2354732011398087791853"/>
          <p:cNvPicPr>
            <a:picLocks noChangeAspect="1" noChangeArrowheads="1"/>
          </p:cNvPicPr>
          <p:nvPr/>
        </p:nvPicPr>
        <p:blipFill>
          <a:blip r:embed="rId3">
            <a:duotone>
              <a:schemeClr val="accent4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1810802" y="3015573"/>
            <a:ext cx="2448173" cy="795692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93189" name="Picture 5" descr="2980859061398087791853"/>
          <p:cNvPicPr>
            <a:picLocks noChangeAspect="1" noChangeArrowheads="1"/>
          </p:cNvPicPr>
          <p:nvPr/>
        </p:nvPicPr>
        <p:blipFill>
          <a:blip r:embed="rId4" cstate="print">
            <a:duotone>
              <a:schemeClr val="accent4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5261322" y="3002108"/>
            <a:ext cx="1080120" cy="702780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93190" name="Picture 6" descr="353188291398087791853"/>
          <p:cNvPicPr>
            <a:picLocks noChangeAspect="1" noChangeArrowheads="1"/>
          </p:cNvPicPr>
          <p:nvPr/>
        </p:nvPicPr>
        <p:blipFill>
          <a:blip r:embed="rId5" cstate="print">
            <a:duotone>
              <a:schemeClr val="accent4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810824" y="4322368"/>
            <a:ext cx="1240896" cy="471485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101382" name="Rectangle 7"/>
          <p:cNvSpPr>
            <a:spLocks noChangeArrowheads="1"/>
          </p:cNvSpPr>
          <p:nvPr/>
        </p:nvSpPr>
        <p:spPr bwMode="auto">
          <a:xfrm>
            <a:off x="1042988" y="3135313"/>
            <a:ext cx="495300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>
                <a:srgbClr val="000000"/>
              </a:buClr>
              <a:buFontTx/>
              <a:buNone/>
            </a:pPr>
            <a:r>
              <a:rPr lang="zh-CN" altLang="en-US" sz="2400" b="1">
                <a:latin typeface="Times New Roman" panose="02020603050405020304" pitchFamily="18" charset="0"/>
              </a:rPr>
              <a:t>由</a:t>
            </a:r>
            <a:endParaRPr lang="zh-CN" altLang="en-US" sz="2400" b="1">
              <a:latin typeface="Arial" panose="020B0604020202020204" pitchFamily="34" charset="0"/>
            </a:endParaRPr>
          </a:p>
        </p:txBody>
      </p:sp>
      <p:sp>
        <p:nvSpPr>
          <p:cNvPr id="101383" name="Rectangle 8"/>
          <p:cNvSpPr>
            <a:spLocks noChangeArrowheads="1"/>
          </p:cNvSpPr>
          <p:nvPr/>
        </p:nvSpPr>
        <p:spPr bwMode="auto">
          <a:xfrm>
            <a:off x="4457700" y="3135313"/>
            <a:ext cx="803275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>
                <a:srgbClr val="000000"/>
              </a:buClr>
              <a:buFontTx/>
              <a:buNone/>
            </a:pPr>
            <a:r>
              <a:rPr lang="zh-CN" altLang="en-US" sz="2400" b="1">
                <a:latin typeface="Times New Roman" panose="02020603050405020304" pitchFamily="18" charset="0"/>
              </a:rPr>
              <a:t>解得</a:t>
            </a:r>
            <a:endParaRPr lang="zh-CN" altLang="en-US" sz="2400" b="1">
              <a:latin typeface="Arial" panose="020B0604020202020204" pitchFamily="34" charset="0"/>
            </a:endParaRPr>
          </a:p>
        </p:txBody>
      </p:sp>
      <p:sp>
        <p:nvSpPr>
          <p:cNvPr id="101384" name="灯片编号占位符 2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8078788" y="6248400"/>
            <a:ext cx="455612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>
                <a:srgbClr val="000000"/>
              </a:buClr>
              <a:buFontTx/>
              <a:buNone/>
            </a:pPr>
            <a:fld id="{AAC7DDC3-01F6-49D3-ABF2-713A5BDF1BA2}" type="slidenum">
              <a:rPr lang="zh-CN" altLang="zh-CN" sz="1400">
                <a:latin typeface="Arial" panose="020B0604020202020204" pitchFamily="34" charset="0"/>
              </a:rPr>
              <a:t>23</a:t>
            </a:fld>
            <a:endParaRPr lang="en-US" altLang="zh-CN" sz="1400">
              <a:latin typeface="Arial" panose="020B0604020202020204" pitchFamily="34" charset="0"/>
            </a:endParaRPr>
          </a:p>
        </p:txBody>
      </p:sp>
      <p:pic>
        <p:nvPicPr>
          <p:cNvPr id="12" name="Picture 4" descr="2450939041398087791853"/>
          <p:cNvPicPr>
            <a:picLocks noChangeAspect="1" noChangeArrowheads="1"/>
          </p:cNvPicPr>
          <p:nvPr/>
        </p:nvPicPr>
        <p:blipFill>
          <a:blip r:embed="rId6">
            <a:duotone>
              <a:schemeClr val="accent4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808764" y="1471774"/>
            <a:ext cx="7776864" cy="1547650"/>
          </a:xfrm>
          <a:prstGeom prst="rect">
            <a:avLst/>
          </a:prstGeom>
          <a:noFill/>
          <a:ln>
            <a:noFill/>
          </a:ln>
          <a:effectLst/>
        </p:spPr>
      </p:pic>
      <p:grpSp>
        <p:nvGrpSpPr>
          <p:cNvPr id="101386" name="组合 12"/>
          <p:cNvGrpSpPr/>
          <p:nvPr/>
        </p:nvGrpSpPr>
        <p:grpSpPr bwMode="auto">
          <a:xfrm>
            <a:off x="790575" y="4683125"/>
            <a:ext cx="8137525" cy="2054225"/>
            <a:chOff x="683568" y="2924944"/>
            <a:chExt cx="8136904" cy="2055392"/>
          </a:xfrm>
        </p:grpSpPr>
        <p:sp>
          <p:nvSpPr>
            <p:cNvPr id="101388" name="Rectangle 2"/>
            <p:cNvSpPr>
              <a:spLocks noChangeArrowheads="1"/>
            </p:cNvSpPr>
            <p:nvPr/>
          </p:nvSpPr>
          <p:spPr bwMode="auto">
            <a:xfrm>
              <a:off x="683568" y="3558032"/>
              <a:ext cx="8136904" cy="13111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lnSpc>
                  <a:spcPct val="165000"/>
                </a:lnSpc>
                <a:spcBef>
                  <a:spcPct val="0"/>
                </a:spcBef>
                <a:buClr>
                  <a:srgbClr val="000000"/>
                </a:buClr>
                <a:buFontTx/>
                <a:buNone/>
              </a:pPr>
              <a:r>
                <a:rPr lang="zh-CN" altLang="en-US" sz="2400" b="1">
                  <a:latin typeface="Times New Roman" panose="02020603050405020304" pitchFamily="18" charset="0"/>
                </a:rPr>
                <a:t>        因此，               的最大值点在            处，故得到</a:t>
              </a:r>
              <a:endParaRPr lang="en-US" altLang="zh-CN" sz="2400" b="1">
                <a:latin typeface="Times New Roman" panose="02020603050405020304" pitchFamily="18" charset="0"/>
              </a:endParaRPr>
            </a:p>
            <a:p>
              <a:pPr algn="just" eaLnBrk="1" hangingPunct="1">
                <a:lnSpc>
                  <a:spcPct val="165000"/>
                </a:lnSpc>
                <a:spcBef>
                  <a:spcPct val="0"/>
                </a:spcBef>
                <a:buClr>
                  <a:srgbClr val="000000"/>
                </a:buClr>
                <a:buFontTx/>
                <a:buNone/>
              </a:pPr>
              <a:r>
                <a:rPr lang="zh-CN" altLang="en-US" sz="2400" b="1">
                  <a:latin typeface="Times New Roman" panose="02020603050405020304" pitchFamily="18" charset="0"/>
                </a:rPr>
                <a:t>                       及相应的最优解             。</a:t>
              </a:r>
            </a:p>
          </p:txBody>
        </p:sp>
        <p:pic>
          <p:nvPicPr>
            <p:cNvPr id="15" name="Picture 3" descr="9233089391398087791853"/>
            <p:cNvPicPr>
              <a:picLocks noChangeAspect="1" noChangeArrowheads="1"/>
            </p:cNvPicPr>
            <p:nvPr/>
          </p:nvPicPr>
          <p:blipFill>
            <a:blip r:embed="rId7">
              <a:duotone>
                <a:schemeClr val="accent4">
                  <a:shade val="45000"/>
                  <a:satMod val="135000"/>
                </a:schemeClr>
                <a:prstClr val="white"/>
              </a:duotone>
            </a:blip>
            <a:srcRect/>
            <a:stretch>
              <a:fillRect/>
            </a:stretch>
          </p:blipFill>
          <p:spPr bwMode="auto">
            <a:xfrm>
              <a:off x="2195736" y="2924944"/>
              <a:ext cx="3456384" cy="741353"/>
            </a:xfrm>
            <a:prstGeom prst="rect">
              <a:avLst/>
            </a:prstGeom>
            <a:noFill/>
            <a:ln>
              <a:noFill/>
            </a:ln>
            <a:effectLst/>
          </p:spPr>
        </p:pic>
        <p:pic>
          <p:nvPicPr>
            <p:cNvPr id="16" name="Picture 5" descr="9641672581398087791853"/>
            <p:cNvPicPr>
              <a:picLocks noChangeAspect="1" noChangeArrowheads="1"/>
            </p:cNvPicPr>
            <p:nvPr/>
          </p:nvPicPr>
          <p:blipFill>
            <a:blip r:embed="rId5" cstate="print">
              <a:duotone>
                <a:schemeClr val="accent4">
                  <a:shade val="45000"/>
                  <a:satMod val="135000"/>
                </a:schemeClr>
                <a:prstClr val="white"/>
              </a:duotone>
            </a:blip>
            <a:srcRect/>
            <a:stretch>
              <a:fillRect/>
            </a:stretch>
          </p:blipFill>
          <p:spPr bwMode="auto">
            <a:xfrm>
              <a:off x="2339974" y="3773672"/>
              <a:ext cx="1079897" cy="452253"/>
            </a:xfrm>
            <a:prstGeom prst="rect">
              <a:avLst/>
            </a:prstGeom>
            <a:noFill/>
            <a:ln>
              <a:noFill/>
            </a:ln>
            <a:effectLst/>
          </p:spPr>
        </p:pic>
        <p:pic>
          <p:nvPicPr>
            <p:cNvPr id="17" name="Picture 6" descr="4694501891398087791853"/>
            <p:cNvPicPr>
              <a:picLocks noChangeAspect="1" noChangeArrowheads="1"/>
            </p:cNvPicPr>
            <p:nvPr/>
          </p:nvPicPr>
          <p:blipFill>
            <a:blip r:embed="rId8" cstate="print">
              <a:duotone>
                <a:schemeClr val="accent4">
                  <a:shade val="45000"/>
                  <a:satMod val="135000"/>
                </a:schemeClr>
                <a:prstClr val="white"/>
              </a:duotone>
            </a:blip>
            <a:srcRect/>
            <a:stretch>
              <a:fillRect/>
            </a:stretch>
          </p:blipFill>
          <p:spPr bwMode="auto">
            <a:xfrm>
              <a:off x="5364088" y="3734538"/>
              <a:ext cx="576064" cy="451715"/>
            </a:xfrm>
            <a:prstGeom prst="rect">
              <a:avLst/>
            </a:prstGeom>
            <a:noFill/>
            <a:ln>
              <a:noFill/>
            </a:ln>
            <a:effectLst/>
          </p:spPr>
        </p:pic>
        <p:pic>
          <p:nvPicPr>
            <p:cNvPr id="18" name="Picture 7" descr="3268242131398087791853"/>
            <p:cNvPicPr>
              <a:picLocks noChangeAspect="1" noChangeArrowheads="1"/>
            </p:cNvPicPr>
            <p:nvPr/>
          </p:nvPicPr>
          <p:blipFill>
            <a:blip r:embed="rId9" cstate="print">
              <a:duotone>
                <a:schemeClr val="accent4">
                  <a:shade val="45000"/>
                  <a:satMod val="135000"/>
                </a:schemeClr>
                <a:prstClr val="white"/>
              </a:duotone>
            </a:blip>
            <a:srcRect/>
            <a:stretch>
              <a:fillRect/>
            </a:stretch>
          </p:blipFill>
          <p:spPr bwMode="auto">
            <a:xfrm>
              <a:off x="791244" y="4156424"/>
              <a:ext cx="1584325" cy="823912"/>
            </a:xfrm>
            <a:prstGeom prst="rect">
              <a:avLst/>
            </a:prstGeom>
            <a:noFill/>
            <a:ln>
              <a:noFill/>
            </a:ln>
            <a:effectLst/>
          </p:spPr>
        </p:pic>
        <p:pic>
          <p:nvPicPr>
            <p:cNvPr id="19" name="Picture 8" descr="1189873381398087791853"/>
            <p:cNvPicPr>
              <a:picLocks noChangeAspect="1" noChangeArrowheads="1"/>
            </p:cNvPicPr>
            <p:nvPr/>
          </p:nvPicPr>
          <p:blipFill>
            <a:blip r:embed="rId10" cstate="print">
              <a:duotone>
                <a:schemeClr val="accent4">
                  <a:shade val="45000"/>
                  <a:satMod val="135000"/>
                </a:schemeClr>
                <a:prstClr val="white"/>
              </a:duotone>
            </a:blip>
            <a:srcRect/>
            <a:stretch>
              <a:fillRect/>
            </a:stretch>
          </p:blipFill>
          <p:spPr bwMode="auto">
            <a:xfrm>
              <a:off x="4704615" y="4295330"/>
              <a:ext cx="938212" cy="546100"/>
            </a:xfrm>
            <a:prstGeom prst="rect">
              <a:avLst/>
            </a:prstGeom>
            <a:noFill/>
            <a:ln>
              <a:noFill/>
            </a:ln>
            <a:effectLst/>
          </p:spPr>
        </p:pic>
        <p:sp>
          <p:nvSpPr>
            <p:cNvPr id="101394" name="Rectangle 9"/>
            <p:cNvSpPr>
              <a:spLocks noChangeArrowheads="1"/>
            </p:cNvSpPr>
            <p:nvPr/>
          </p:nvSpPr>
          <p:spPr bwMode="auto">
            <a:xfrm>
              <a:off x="1043608" y="3064817"/>
              <a:ext cx="1079599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 indent="2667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3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>
                  <a:srgbClr val="000000"/>
                </a:buClr>
                <a:buFontTx/>
                <a:buNone/>
              </a:pPr>
              <a:r>
                <a:rPr lang="zh-CN" altLang="en-US" sz="2400" b="1">
                  <a:latin typeface="Times New Roman" panose="02020603050405020304" pitchFamily="18" charset="0"/>
                </a:rPr>
                <a:t>由于</a:t>
              </a:r>
              <a:endParaRPr lang="zh-CN" altLang="en-US" sz="2400">
                <a:latin typeface="Arial" panose="020B0604020202020204" pitchFamily="34" charset="0"/>
              </a:endParaRPr>
            </a:p>
          </p:txBody>
        </p:sp>
      </p:grpSp>
      <p:sp>
        <p:nvSpPr>
          <p:cNvPr id="20" name="Rectangle 2"/>
          <p:cNvSpPr txBox="1">
            <a:spLocks noChangeArrowheads="1"/>
          </p:cNvSpPr>
          <p:nvPr/>
        </p:nvSpPr>
        <p:spPr bwMode="auto">
          <a:xfrm>
            <a:off x="609600" y="838200"/>
            <a:ext cx="5445125" cy="620713"/>
          </a:xfrm>
          <a:prstGeom prst="rect">
            <a:avLst/>
          </a:prstGeom>
          <a:noFill/>
          <a:ln>
            <a:noFill/>
          </a:ln>
        </p:spPr>
        <p:txBody>
          <a:bodyPr anchor="b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3200" b="1" u="sng" kern="0" dirty="0">
                <a:solidFill>
                  <a:schemeClr val="hlink"/>
                </a:solidFill>
              </a:rPr>
              <a:t>动态规划的求解方法</a:t>
            </a:r>
            <a:r>
              <a:rPr lang="en-US" altLang="zh-CN" sz="3200" b="1" u="sng" kern="0" dirty="0">
                <a:solidFill>
                  <a:schemeClr val="hlink"/>
                </a:solidFill>
              </a:rPr>
              <a:t>—</a:t>
            </a:r>
            <a:r>
              <a:rPr lang="zh-CN" altLang="en-US" sz="3200" b="1" u="sng" kern="0" dirty="0">
                <a:solidFill>
                  <a:schemeClr val="hlink"/>
                </a:solidFill>
              </a:rPr>
              <a:t>算例</a:t>
            </a:r>
            <a:r>
              <a:rPr lang="en-US" altLang="zh-CN" sz="3200" b="1" u="sng" kern="0" dirty="0">
                <a:solidFill>
                  <a:schemeClr val="hlink"/>
                </a:solidFill>
              </a:rPr>
              <a:t>5</a:t>
            </a:r>
            <a:endParaRPr lang="zh-CN" altLang="en-US" sz="3200" b="1" u="sng" kern="0" dirty="0">
              <a:solidFill>
                <a:schemeClr val="hlink"/>
              </a:solidFill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7086600" y="21590"/>
          <a:ext cx="1341755" cy="14376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812800" imgH="965200" progId="Equation.DSMT4">
                  <p:embed/>
                </p:oleObj>
              </mc:Choice>
              <mc:Fallback>
                <p:oleObj name="Equation" r:id="rId11" imgW="812800" imgH="965200" progId="Equation.DSMT4">
                  <p:embed/>
                  <p:pic>
                    <p:nvPicPr>
                      <p:cNvPr id="0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86600" y="21590"/>
                        <a:ext cx="1341755" cy="1437640"/>
                      </a:xfrm>
                      <a:prstGeom prst="rect">
                        <a:avLst/>
                      </a:prstGeom>
                      <a:solidFill>
                        <a:schemeClr val="bg1">
                          <a:lumMod val="85000"/>
                        </a:schemeClr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235" name="Picture 3" descr="1758381931398087791853"/>
          <p:cNvPicPr>
            <a:picLocks noChangeAspect="1" noChangeArrowheads="1"/>
          </p:cNvPicPr>
          <p:nvPr/>
        </p:nvPicPr>
        <p:blipFill>
          <a:blip r:embed="rId5">
            <a:duotone>
              <a:schemeClr val="accent4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1043608" y="1741350"/>
            <a:ext cx="6193879" cy="1503192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95236" name="Picture 4" descr="7728207111398087791853"/>
          <p:cNvPicPr>
            <a:picLocks noChangeAspect="1" noChangeArrowheads="1"/>
          </p:cNvPicPr>
          <p:nvPr/>
        </p:nvPicPr>
        <p:blipFill>
          <a:blip r:embed="rId6">
            <a:duotone>
              <a:schemeClr val="accent4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1691134" y="3218795"/>
            <a:ext cx="2232025" cy="785813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95237" name="Picture 5" descr="8924326291398087791853"/>
          <p:cNvPicPr>
            <a:picLocks noChangeAspect="1" noChangeArrowheads="1"/>
          </p:cNvPicPr>
          <p:nvPr/>
        </p:nvPicPr>
        <p:blipFill>
          <a:blip r:embed="rId7" cstate="print">
            <a:duotone>
              <a:schemeClr val="accent4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5074865" y="3169284"/>
            <a:ext cx="1223963" cy="795338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102405" name="Rectangle 6"/>
          <p:cNvSpPr>
            <a:spLocks noChangeArrowheads="1"/>
          </p:cNvSpPr>
          <p:nvPr/>
        </p:nvSpPr>
        <p:spPr bwMode="auto">
          <a:xfrm>
            <a:off x="1295400" y="16002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>
                <a:srgbClr val="000000"/>
              </a:buClr>
              <a:buFontTx/>
              <a:buNone/>
            </a:pPr>
            <a:endParaRPr lang="zh-CN" altLang="en-US" sz="1800">
              <a:latin typeface="Arial" panose="020B0604020202020204" pitchFamily="34" charset="0"/>
            </a:endParaRPr>
          </a:p>
        </p:txBody>
      </p:sp>
      <p:sp>
        <p:nvSpPr>
          <p:cNvPr id="102406" name="Rectangle 7"/>
          <p:cNvSpPr>
            <a:spLocks noChangeArrowheads="1"/>
          </p:cNvSpPr>
          <p:nvPr/>
        </p:nvSpPr>
        <p:spPr bwMode="auto">
          <a:xfrm>
            <a:off x="969963" y="3267075"/>
            <a:ext cx="4038600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>
                <a:srgbClr val="000000"/>
              </a:buClr>
              <a:buFontTx/>
              <a:buNone/>
            </a:pPr>
            <a:r>
              <a:rPr lang="zh-CN" altLang="en-US" sz="2400" b="1">
                <a:latin typeface="Times New Roman" panose="02020603050405020304" pitchFamily="18" charset="0"/>
              </a:rPr>
              <a:t>由                                  ，解得</a:t>
            </a:r>
            <a:endParaRPr lang="zh-CN" altLang="en-US" sz="2400" b="1">
              <a:latin typeface="Arial" panose="020B0604020202020204" pitchFamily="34" charset="0"/>
            </a:endParaRPr>
          </a:p>
        </p:txBody>
      </p:sp>
      <p:sp>
        <p:nvSpPr>
          <p:cNvPr id="102407" name="灯片编号占位符 2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7042150" y="6284913"/>
            <a:ext cx="1905000" cy="457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>
                <a:srgbClr val="000000"/>
              </a:buClr>
              <a:buFontTx/>
              <a:buNone/>
            </a:pPr>
            <a:fld id="{8B6EB6A4-A662-42C0-B9FB-802803DF122E}" type="slidenum">
              <a:rPr lang="zh-CN" altLang="zh-CN" sz="1400">
                <a:latin typeface="Arial" panose="020B0604020202020204" pitchFamily="34" charset="0"/>
              </a:rPr>
              <a:t>24</a:t>
            </a:fld>
            <a:endParaRPr lang="en-US" altLang="zh-CN" sz="1400">
              <a:latin typeface="Arial" panose="020B0604020202020204" pitchFamily="34" charset="0"/>
            </a:endParaRPr>
          </a:p>
        </p:txBody>
      </p:sp>
      <p:sp>
        <p:nvSpPr>
          <p:cNvPr id="102408" name="Rectangle 2"/>
          <p:cNvSpPr>
            <a:spLocks noChangeArrowheads="1"/>
          </p:cNvSpPr>
          <p:nvPr/>
        </p:nvSpPr>
        <p:spPr bwMode="auto">
          <a:xfrm>
            <a:off x="323850" y="3992563"/>
            <a:ext cx="7343775" cy="536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20000"/>
              </a:lnSpc>
              <a:spcBef>
                <a:spcPct val="0"/>
              </a:spcBef>
              <a:buClr>
                <a:srgbClr val="000000"/>
              </a:buClr>
              <a:buFontTx/>
              <a:buNone/>
            </a:pPr>
            <a:r>
              <a:rPr lang="zh-CN" altLang="en-US" sz="2400" b="1">
                <a:latin typeface="Times New Roman" panose="02020603050405020304" pitchFamily="18" charset="0"/>
              </a:rPr>
              <a:t>        由于                    </a:t>
            </a:r>
            <a:r>
              <a:rPr lang="zh-CN" altLang="en-US" sz="2400" b="1">
                <a:latin typeface="Tahoma" panose="020B0604030504040204" pitchFamily="34" charset="0"/>
              </a:rPr>
              <a:t>，故该点为极小值点。而</a:t>
            </a:r>
          </a:p>
        </p:txBody>
      </p:sp>
      <p:pic>
        <p:nvPicPr>
          <p:cNvPr id="12" name="Picture 4" descr="1307351621398087791853"/>
          <p:cNvPicPr>
            <a:picLocks noChangeAspect="1" noChangeArrowheads="1"/>
          </p:cNvPicPr>
          <p:nvPr/>
        </p:nvPicPr>
        <p:blipFill>
          <a:blip r:embed="rId8" cstate="print">
            <a:duotone>
              <a:schemeClr val="accent4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1692176" y="3920507"/>
            <a:ext cx="1483812" cy="719882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13" name="Picture 5" descr="7490974781398087791853"/>
          <p:cNvPicPr>
            <a:picLocks noChangeAspect="1" noChangeArrowheads="1"/>
          </p:cNvPicPr>
          <p:nvPr/>
        </p:nvPicPr>
        <p:blipFill>
          <a:blip r:embed="rId9">
            <a:duotone>
              <a:schemeClr val="accent4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1834829" y="4640389"/>
            <a:ext cx="4105820" cy="734582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14" name="Picture 6" descr="7383038661398087791853"/>
          <p:cNvPicPr>
            <a:picLocks noChangeAspect="1" noChangeArrowheads="1"/>
          </p:cNvPicPr>
          <p:nvPr/>
        </p:nvPicPr>
        <p:blipFill>
          <a:blip r:embed="rId10" cstate="print">
            <a:duotone>
              <a:schemeClr val="accent4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1404144" y="5432477"/>
            <a:ext cx="869849" cy="434392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15" name="Picture 7" descr="6322826301398087791853"/>
          <p:cNvPicPr>
            <a:picLocks noChangeAspect="1" noChangeArrowheads="1"/>
          </p:cNvPicPr>
          <p:nvPr/>
        </p:nvPicPr>
        <p:blipFill>
          <a:blip r:embed="rId11" cstate="print">
            <a:duotone>
              <a:schemeClr val="accent4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4356472" y="5395667"/>
            <a:ext cx="936625" cy="498475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16" name="Picture 8" descr="488022061398087791853"/>
          <p:cNvPicPr>
            <a:picLocks noChangeAspect="1" noChangeArrowheads="1"/>
          </p:cNvPicPr>
          <p:nvPr/>
        </p:nvPicPr>
        <p:blipFill>
          <a:blip r:embed="rId12" cstate="print">
            <a:duotone>
              <a:schemeClr val="accent4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1857343" y="6134624"/>
            <a:ext cx="1908968" cy="494776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17" name="Picture 9" descr="8614822301398087791853"/>
          <p:cNvPicPr>
            <a:picLocks noChangeAspect="1" noChangeArrowheads="1"/>
          </p:cNvPicPr>
          <p:nvPr/>
        </p:nvPicPr>
        <p:blipFill>
          <a:blip r:embed="rId13" cstate="print">
            <a:duotone>
              <a:schemeClr val="accent4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6592343" y="6089017"/>
            <a:ext cx="935037" cy="519112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102415" name="Rectangle 11"/>
          <p:cNvSpPr>
            <a:spLocks noChangeArrowheads="1"/>
          </p:cNvSpPr>
          <p:nvPr/>
        </p:nvSpPr>
        <p:spPr bwMode="auto">
          <a:xfrm>
            <a:off x="862013" y="5432425"/>
            <a:ext cx="6127750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>
                <a:srgbClr val="000000"/>
              </a:buClr>
              <a:buFontTx/>
              <a:buNone/>
            </a:pPr>
            <a:r>
              <a:rPr lang="zh-CN" altLang="en-US" sz="2400" b="1">
                <a:latin typeface="Times New Roman" panose="02020603050405020304" pitchFamily="18" charset="0"/>
              </a:rPr>
              <a:t>故                的最大值点在             处，</a:t>
            </a:r>
            <a:r>
              <a:rPr lang="zh-CN" altLang="en-US" sz="2400" b="1">
                <a:latin typeface="Tahoma" panose="020B0604030504040204" pitchFamily="34" charset="0"/>
              </a:rPr>
              <a:t>所以得</a:t>
            </a:r>
          </a:p>
        </p:txBody>
      </p:sp>
      <p:sp>
        <p:nvSpPr>
          <p:cNvPr id="102416" name="Rectangle 12"/>
          <p:cNvSpPr>
            <a:spLocks noChangeArrowheads="1"/>
          </p:cNvSpPr>
          <p:nvPr/>
        </p:nvSpPr>
        <p:spPr bwMode="auto">
          <a:xfrm>
            <a:off x="4191000" y="6118225"/>
            <a:ext cx="2351088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>
                <a:srgbClr val="000000"/>
              </a:buClr>
              <a:buFontTx/>
              <a:buNone/>
            </a:pPr>
            <a:r>
              <a:rPr lang="zh-CN" altLang="en-US" sz="2400" b="1">
                <a:latin typeface="Times New Roman" panose="02020603050405020304" pitchFamily="18" charset="0"/>
              </a:rPr>
              <a:t>及相应的最优解</a:t>
            </a:r>
            <a:endParaRPr lang="zh-CN" altLang="en-US" sz="2400" b="1">
              <a:latin typeface="Arial" panose="020B0604020202020204" pitchFamily="34" charset="0"/>
            </a:endParaRPr>
          </a:p>
        </p:txBody>
      </p:sp>
      <p:sp>
        <p:nvSpPr>
          <p:cNvPr id="19" name="Rectangle 2"/>
          <p:cNvSpPr txBox="1">
            <a:spLocks noChangeArrowheads="1"/>
          </p:cNvSpPr>
          <p:nvPr/>
        </p:nvSpPr>
        <p:spPr bwMode="auto">
          <a:xfrm>
            <a:off x="533400" y="938530"/>
            <a:ext cx="5445125" cy="620713"/>
          </a:xfrm>
          <a:prstGeom prst="rect">
            <a:avLst/>
          </a:prstGeom>
          <a:noFill/>
          <a:ln>
            <a:noFill/>
          </a:ln>
        </p:spPr>
        <p:txBody>
          <a:bodyPr anchor="b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3200" b="1" u="sng" kern="0" dirty="0">
                <a:solidFill>
                  <a:schemeClr val="hlink"/>
                </a:solidFill>
              </a:rPr>
              <a:t>动态规划的求解方法</a:t>
            </a:r>
            <a:r>
              <a:rPr lang="en-US" altLang="zh-CN" sz="3200" b="1" u="sng" kern="0" dirty="0">
                <a:solidFill>
                  <a:schemeClr val="hlink"/>
                </a:solidFill>
              </a:rPr>
              <a:t>—</a:t>
            </a:r>
            <a:r>
              <a:rPr lang="zh-CN" altLang="en-US" sz="3200" b="1" u="sng" kern="0" dirty="0">
                <a:solidFill>
                  <a:schemeClr val="hlink"/>
                </a:solidFill>
              </a:rPr>
              <a:t>算例</a:t>
            </a:r>
            <a:r>
              <a:rPr lang="en-US" altLang="zh-CN" sz="3200" b="1" u="sng" kern="0" dirty="0">
                <a:solidFill>
                  <a:schemeClr val="hlink"/>
                </a:solidFill>
              </a:rPr>
              <a:t>5</a:t>
            </a:r>
            <a:endParaRPr lang="zh-CN" altLang="en-US" sz="3200" b="1" u="sng" kern="0" dirty="0">
              <a:solidFill>
                <a:schemeClr val="hlink"/>
              </a:solidFill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7086600" y="97790"/>
          <a:ext cx="1341755" cy="14376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812800" imgH="965200" progId="Equation.DSMT4">
                  <p:embed/>
                </p:oleObj>
              </mc:Choice>
              <mc:Fallback>
                <p:oleObj name="Equation" r:id="rId14" imgW="812800" imgH="965200" progId="Equation.DSMT4">
                  <p:embed/>
                  <p:pic>
                    <p:nvPicPr>
                      <p:cNvPr id="0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86600" y="97790"/>
                        <a:ext cx="1341755" cy="1437640"/>
                      </a:xfrm>
                      <a:prstGeom prst="rect">
                        <a:avLst/>
                      </a:prstGeom>
                      <a:solidFill>
                        <a:schemeClr val="bg1">
                          <a:lumMod val="85000"/>
                        </a:schemeClr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文本框 1"/>
          <p:cNvSpPr txBox="1"/>
          <p:nvPr/>
        </p:nvSpPr>
        <p:spPr>
          <a:xfrm>
            <a:off x="2531110" y="1717040"/>
            <a:ext cx="244221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/>
              <a:t>(                  )</a:t>
            </a:r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2555875" y="2456815"/>
            <a:ext cx="3013075" cy="7359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3600"/>
              <a:t>(              )</a:t>
            </a:r>
          </a:p>
        </p:txBody>
      </p:sp>
      <p:pic>
        <p:nvPicPr>
          <p:cNvPr id="18" name="Picture 7" descr="3268242131398087791853"/>
          <p:cNvPicPr>
            <a:picLocks noChangeAspect="1" noChangeArrowheads="1"/>
          </p:cNvPicPr>
          <p:nvPr>
            <p:custDataLst>
              <p:tags r:id="rId3"/>
            </p:custDataLst>
          </p:nvPr>
        </p:nvPicPr>
        <p:blipFill>
          <a:blip r:embed="rId16" cstate="print">
            <a:duotone>
              <a:schemeClr val="accent4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5593080" y="171450"/>
            <a:ext cx="1397000" cy="72644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</p:pic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2"/>
          <p:cNvSpPr>
            <a:spLocks noChangeArrowheads="1"/>
          </p:cNvSpPr>
          <p:nvPr/>
        </p:nvSpPr>
        <p:spPr bwMode="auto">
          <a:xfrm>
            <a:off x="827088" y="1752600"/>
            <a:ext cx="7488237" cy="157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40000"/>
              </a:lnSpc>
              <a:spcBef>
                <a:spcPct val="0"/>
              </a:spcBef>
              <a:buClr>
                <a:srgbClr val="000000"/>
              </a:buClr>
              <a:buFontTx/>
              <a:buNone/>
            </a:pPr>
            <a:r>
              <a:rPr lang="zh-CN" altLang="en-US" sz="2400" b="1">
                <a:latin typeface="Times New Roman" panose="02020603050405020304" pitchFamily="18" charset="0"/>
              </a:rPr>
              <a:t>        由于</a:t>
            </a:r>
            <a:r>
              <a:rPr lang="en-US" altLang="zh-CN" sz="2400" b="1" i="1">
                <a:latin typeface="Times New Roman" panose="02020603050405020304" pitchFamily="18" charset="0"/>
              </a:rPr>
              <a:t>s</a:t>
            </a:r>
            <a:r>
              <a:rPr lang="en-US" altLang="zh-CN" sz="2400" b="1" baseline="-25000">
                <a:latin typeface="Times New Roman" panose="02020603050405020304" pitchFamily="18" charset="0"/>
              </a:rPr>
              <a:t>3 </a:t>
            </a:r>
            <a:r>
              <a:rPr lang="en-US" altLang="zh-CN" sz="2400" b="1">
                <a:latin typeface="Times New Roman" panose="02020603050405020304" pitchFamily="18" charset="0"/>
              </a:rPr>
              <a:t>≤9</a:t>
            </a:r>
            <a:r>
              <a:rPr lang="zh-CN" altLang="en-US" sz="2400" b="1">
                <a:latin typeface="Times New Roman" panose="02020603050405020304" pitchFamily="18" charset="0"/>
              </a:rPr>
              <a:t>，故</a:t>
            </a:r>
            <a:r>
              <a:rPr lang="en-US" altLang="zh-CN" sz="2400" b="1" i="1">
                <a:latin typeface="Times New Roman" panose="02020603050405020304" pitchFamily="18" charset="0"/>
              </a:rPr>
              <a:t>s</a:t>
            </a:r>
            <a:r>
              <a:rPr lang="en-US" altLang="zh-CN" sz="2400" b="1" baseline="-25000">
                <a:latin typeface="Times New Roman" panose="02020603050405020304" pitchFamily="18" charset="0"/>
              </a:rPr>
              <a:t>3</a:t>
            </a:r>
            <a:r>
              <a:rPr lang="en-US" altLang="zh-CN" sz="2400" b="1">
                <a:latin typeface="Times New Roman" panose="02020603050405020304" pitchFamily="18" charset="0"/>
              </a:rPr>
              <a:t>=9</a:t>
            </a:r>
            <a:r>
              <a:rPr lang="zh-CN" altLang="en-US" sz="2400" b="1">
                <a:latin typeface="Times New Roman" panose="02020603050405020304" pitchFamily="18" charset="0"/>
              </a:rPr>
              <a:t>时，        </a:t>
            </a:r>
            <a:r>
              <a:rPr lang="zh-CN" altLang="en-US" sz="2400" b="1">
                <a:latin typeface="Tahoma" panose="020B0604030504040204" pitchFamily="34" charset="0"/>
              </a:rPr>
              <a:t>才能达到最大值。所以</a:t>
            </a:r>
            <a:endParaRPr lang="en-US" altLang="zh-CN" sz="2400" b="1">
              <a:latin typeface="Tahoma" panose="020B0604030504040204" pitchFamily="34" charset="0"/>
            </a:endParaRPr>
          </a:p>
          <a:p>
            <a:pPr algn="just" eaLnBrk="1" hangingPunct="1">
              <a:lnSpc>
                <a:spcPct val="140000"/>
              </a:lnSpc>
              <a:spcBef>
                <a:spcPct val="0"/>
              </a:spcBef>
              <a:buClr>
                <a:srgbClr val="000000"/>
              </a:buClr>
              <a:buFontTx/>
              <a:buNone/>
            </a:pPr>
            <a:r>
              <a:rPr lang="zh-CN" altLang="en-US" sz="2400" b="1">
                <a:latin typeface="Tahoma" panose="020B0604030504040204" pitchFamily="34" charset="0"/>
              </a:rPr>
              <a:t>            为最大值。再根据计算的顺序反推算可求得最优解为</a:t>
            </a:r>
          </a:p>
        </p:txBody>
      </p:sp>
      <p:sp>
        <p:nvSpPr>
          <p:cNvPr id="103427" name="Rectangle 4"/>
          <p:cNvSpPr>
            <a:spLocks noChangeArrowheads="1"/>
          </p:cNvSpPr>
          <p:nvPr/>
        </p:nvSpPr>
        <p:spPr bwMode="auto">
          <a:xfrm>
            <a:off x="0" y="60325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>
                <a:srgbClr val="000000"/>
              </a:buClr>
              <a:buFontTx/>
              <a:buNone/>
            </a:pPr>
            <a:endParaRPr lang="zh-CN" altLang="en-US" sz="1800">
              <a:latin typeface="Arial" panose="020B0604020202020204" pitchFamily="34" charset="0"/>
            </a:endParaRPr>
          </a:p>
        </p:txBody>
      </p:sp>
      <p:pic>
        <p:nvPicPr>
          <p:cNvPr id="97285" name="Picture 5" descr="2105091051398087791863"/>
          <p:cNvPicPr>
            <a:picLocks noChangeAspect="1" noChangeArrowheads="1"/>
          </p:cNvPicPr>
          <p:nvPr/>
        </p:nvPicPr>
        <p:blipFill>
          <a:blip r:embed="rId4" cstate="print">
            <a:duotone>
              <a:schemeClr val="accent4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4355976" y="1884838"/>
            <a:ext cx="792088" cy="443032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97286" name="Picture 6" descr="7593558421398087791863"/>
          <p:cNvPicPr>
            <a:picLocks noChangeAspect="1" noChangeArrowheads="1"/>
          </p:cNvPicPr>
          <p:nvPr/>
        </p:nvPicPr>
        <p:blipFill>
          <a:blip r:embed="rId5" cstate="print">
            <a:duotone>
              <a:schemeClr val="accent4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827584" y="2391973"/>
            <a:ext cx="1079202" cy="439953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97287" name="Picture 7" descr="7114073231398087791863"/>
          <p:cNvPicPr>
            <a:picLocks noChangeAspect="1" noChangeArrowheads="1"/>
          </p:cNvPicPr>
          <p:nvPr/>
        </p:nvPicPr>
        <p:blipFill>
          <a:blip r:embed="rId6">
            <a:duotone>
              <a:schemeClr val="accent4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2699817" y="3333528"/>
            <a:ext cx="3096319" cy="598783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97288" name="Picture 8" descr="2839393711398087791863"/>
          <p:cNvPicPr>
            <a:picLocks noChangeAspect="1" noChangeArrowheads="1"/>
          </p:cNvPicPr>
          <p:nvPr/>
        </p:nvPicPr>
        <p:blipFill>
          <a:blip r:embed="rId7">
            <a:duotone>
              <a:schemeClr val="accent4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2734743" y="4458754"/>
            <a:ext cx="2913186" cy="508607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103432" name="Rectangle 9"/>
          <p:cNvSpPr>
            <a:spLocks noChangeArrowheads="1"/>
          </p:cNvSpPr>
          <p:nvPr/>
        </p:nvSpPr>
        <p:spPr bwMode="auto">
          <a:xfrm>
            <a:off x="900113" y="4024313"/>
            <a:ext cx="2030412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>
                <a:srgbClr val="000000"/>
              </a:buClr>
              <a:buFontTx/>
              <a:buNone/>
            </a:pPr>
            <a:r>
              <a:rPr lang="zh-CN" altLang="en-US" sz="2400" b="1">
                <a:latin typeface="Times New Roman" panose="02020603050405020304" pitchFamily="18" charset="0"/>
              </a:rPr>
              <a:t>最大值为</a:t>
            </a:r>
            <a:r>
              <a:rPr lang="zh-CN" altLang="en-US" sz="2400">
                <a:latin typeface="Arial" panose="020B0604020202020204" pitchFamily="34" charset="0"/>
                <a:cs typeface="Courier New" panose="02070309020205020404" pitchFamily="49" charset="0"/>
              </a:rPr>
              <a:t>	</a:t>
            </a:r>
            <a:endParaRPr lang="zh-CN" altLang="en-US" sz="2400">
              <a:latin typeface="Arial" panose="020B0604020202020204" pitchFamily="34" charset="0"/>
            </a:endParaRPr>
          </a:p>
        </p:txBody>
      </p:sp>
      <p:sp>
        <p:nvSpPr>
          <p:cNvPr id="103433" name="灯片编号占位符 2"/>
          <p:cNvSpPr>
            <a:spLocks noGrp="1" noChangeArrowheads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>
                <a:srgbClr val="000000"/>
              </a:buClr>
              <a:buFontTx/>
              <a:buNone/>
            </a:pPr>
            <a:fld id="{1F80BEEF-7762-46C9-AFD0-7CCAF82D9DF6}" type="slidenum">
              <a:rPr lang="zh-CN" altLang="zh-CN" sz="1400">
                <a:latin typeface="Arial" panose="020B0604020202020204" pitchFamily="34" charset="0"/>
              </a:rPr>
              <a:t>25</a:t>
            </a:fld>
            <a:endParaRPr lang="en-US" altLang="zh-CN" sz="1400">
              <a:latin typeface="Arial" panose="020B0604020202020204" pitchFamily="34" charset="0"/>
            </a:endParaRPr>
          </a:p>
        </p:txBody>
      </p:sp>
      <p:sp>
        <p:nvSpPr>
          <p:cNvPr id="13" name="Rectangle 2"/>
          <p:cNvSpPr txBox="1">
            <a:spLocks noChangeArrowheads="1"/>
          </p:cNvSpPr>
          <p:nvPr/>
        </p:nvSpPr>
        <p:spPr bwMode="auto">
          <a:xfrm>
            <a:off x="609600" y="838200"/>
            <a:ext cx="5445125" cy="620713"/>
          </a:xfrm>
          <a:prstGeom prst="rect">
            <a:avLst/>
          </a:prstGeom>
          <a:noFill/>
          <a:ln>
            <a:noFill/>
          </a:ln>
        </p:spPr>
        <p:txBody>
          <a:bodyPr anchor="b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800">
                <a:solidFill>
                  <a:schemeClr val="tx2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3200" b="1" u="sng" kern="0" dirty="0">
                <a:solidFill>
                  <a:schemeClr val="hlink"/>
                </a:solidFill>
              </a:rPr>
              <a:t>动态规划的求解方法</a:t>
            </a:r>
            <a:r>
              <a:rPr lang="en-US" altLang="zh-CN" sz="3200" b="1" u="sng" kern="0" dirty="0">
                <a:solidFill>
                  <a:schemeClr val="hlink"/>
                </a:solidFill>
              </a:rPr>
              <a:t>—</a:t>
            </a:r>
            <a:r>
              <a:rPr lang="zh-CN" altLang="en-US" sz="3200" b="1" u="sng" kern="0" dirty="0">
                <a:solidFill>
                  <a:schemeClr val="hlink"/>
                </a:solidFill>
              </a:rPr>
              <a:t>算例</a:t>
            </a:r>
            <a:r>
              <a:rPr lang="en-US" altLang="zh-CN" sz="3200" b="1" u="sng" kern="0" dirty="0">
                <a:solidFill>
                  <a:schemeClr val="hlink"/>
                </a:solidFill>
              </a:rPr>
              <a:t>5</a:t>
            </a:r>
            <a:endParaRPr lang="zh-CN" altLang="en-US" sz="3200" b="1" u="sng" kern="0" dirty="0">
              <a:solidFill>
                <a:schemeClr val="hlink"/>
              </a:solidFill>
            </a:endParaRPr>
          </a:p>
        </p:txBody>
      </p:sp>
      <p:pic>
        <p:nvPicPr>
          <p:cNvPr id="16" name="Picture 8" descr="488022061398087791853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8" cstate="print">
            <a:duotone>
              <a:schemeClr val="accent4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6625558" y="914289"/>
            <a:ext cx="1908968" cy="49477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</p:pic>
      <p:pic>
        <p:nvPicPr>
          <p:cNvPr id="7" name="Picture 3" descr="4092400631398087791843"/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9">
            <a:duotone>
              <a:schemeClr val="accent4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685800" y="5525135"/>
            <a:ext cx="3150235" cy="115252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</p:pic>
    </p:spTree>
  </p:cSld>
  <p:clrMapOvr>
    <a:masterClrMapping/>
  </p:clrMapOvr>
  <p:transition spd="slow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2"/>
          <p:cNvSpPr>
            <a:spLocks noGrp="1" noChangeArrowheads="1"/>
          </p:cNvSpPr>
          <p:nvPr>
            <p:ph type="title"/>
          </p:nvPr>
        </p:nvSpPr>
        <p:spPr>
          <a:xfrm>
            <a:off x="852488" y="590550"/>
            <a:ext cx="3151187" cy="741363"/>
          </a:xfrm>
        </p:spPr>
        <p:txBody>
          <a:bodyPr/>
          <a:lstStyle/>
          <a:p>
            <a:pPr eaLnBrk="1" hangingPunct="1"/>
            <a:r>
              <a:rPr lang="zh-CN" altLang="en-US" sz="3200">
                <a:latin typeface="宋体" panose="02010600030101010101" pitchFamily="2" charset="-122"/>
              </a:rPr>
              <a:t>课后作业安排</a:t>
            </a:r>
          </a:p>
        </p:txBody>
      </p:sp>
      <p:sp>
        <p:nvSpPr>
          <p:cNvPr id="104451" name="Rectangle 3"/>
          <p:cNvSpPr>
            <a:spLocks noGrp="1" noChangeArrowheads="1"/>
          </p:cNvSpPr>
          <p:nvPr>
            <p:ph idx="1"/>
          </p:nvPr>
        </p:nvSpPr>
        <p:spPr>
          <a:xfrm>
            <a:off x="609600" y="1676400"/>
            <a:ext cx="6934200" cy="2169319"/>
          </a:xfrm>
        </p:spPr>
        <p:txBody>
          <a:bodyPr/>
          <a:lstStyle/>
          <a:p>
            <a:pPr marL="812800" indent="-812800" algn="just" eaLnBrk="1" hangingPunct="1">
              <a:lnSpc>
                <a:spcPct val="120000"/>
              </a:lnSpc>
            </a:pPr>
            <a:r>
              <a:rPr lang="zh-CN" altLang="en-US" dirty="0">
                <a:latin typeface="Times New Roman" panose="02020603050405020304" pitchFamily="18" charset="0"/>
              </a:rPr>
              <a:t>习题（</a:t>
            </a:r>
            <a:r>
              <a:rPr lang="en-US" altLang="zh-CN" dirty="0">
                <a:latin typeface="Times New Roman" panose="02020603050405020304" pitchFamily="18" charset="0"/>
              </a:rPr>
              <a:t>p.302 – p.303</a:t>
            </a:r>
            <a:r>
              <a:rPr lang="zh-CN" altLang="en-US" dirty="0">
                <a:latin typeface="Times New Roman" panose="02020603050405020304" pitchFamily="18" charset="0"/>
              </a:rPr>
              <a:t>）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marL="457200" indent="-457200" algn="just" eaLnBrk="1" hangingPunct="1">
              <a:lnSpc>
                <a:spcPct val="150000"/>
              </a:lnSpc>
              <a:spcBef>
                <a:spcPts val="1800"/>
              </a:spcBef>
              <a:buFont typeface="+mj-ea"/>
              <a:buAutoNum type="circleNumDbPlain"/>
            </a:pPr>
            <a:r>
              <a:rPr lang="en-US" altLang="zh-CN" sz="2400" dirty="0">
                <a:latin typeface="Times New Roman" panose="02020603050405020304" pitchFamily="18" charset="0"/>
              </a:rPr>
              <a:t>8.2 </a:t>
            </a:r>
            <a:r>
              <a:rPr lang="zh-CN" altLang="en-US" sz="2400" dirty="0">
                <a:latin typeface="Times New Roman" panose="02020603050405020304" pitchFamily="18" charset="0"/>
              </a:rPr>
              <a:t>计算从</a:t>
            </a:r>
            <a:r>
              <a:rPr lang="en-US" altLang="zh-CN" sz="2400" dirty="0">
                <a:latin typeface="Times New Roman" panose="02020603050405020304" pitchFamily="18" charset="0"/>
              </a:rPr>
              <a:t>A</a:t>
            </a:r>
            <a:r>
              <a:rPr lang="zh-CN" altLang="en-US" sz="2400" dirty="0">
                <a:latin typeface="Times New Roman" panose="02020603050405020304" pitchFamily="18" charset="0"/>
              </a:rPr>
              <a:t>到</a:t>
            </a:r>
            <a:r>
              <a:rPr lang="en-US" altLang="zh-CN" sz="2400" dirty="0">
                <a:latin typeface="Times New Roman" panose="02020603050405020304" pitchFamily="18" charset="0"/>
              </a:rPr>
              <a:t>B</a:t>
            </a:r>
            <a:r>
              <a:rPr lang="zh-CN" altLang="en-US" sz="2400" dirty="0">
                <a:latin typeface="Times New Roman" panose="02020603050405020304" pitchFamily="18" charset="0"/>
              </a:rPr>
              <a:t>，</a:t>
            </a:r>
            <a:r>
              <a:rPr lang="en-US" altLang="zh-CN" sz="2400" dirty="0">
                <a:latin typeface="Times New Roman" panose="02020603050405020304" pitchFamily="18" charset="0"/>
              </a:rPr>
              <a:t>C</a:t>
            </a:r>
            <a:r>
              <a:rPr lang="zh-CN" altLang="en-US" sz="2400" dirty="0">
                <a:latin typeface="Times New Roman" panose="02020603050405020304" pitchFamily="18" charset="0"/>
              </a:rPr>
              <a:t>和 </a:t>
            </a:r>
            <a:r>
              <a:rPr lang="en-US" altLang="zh-CN" sz="2400" dirty="0">
                <a:latin typeface="Times New Roman" panose="02020603050405020304" pitchFamily="18" charset="0"/>
              </a:rPr>
              <a:t>D</a:t>
            </a:r>
            <a:r>
              <a:rPr lang="zh-CN" altLang="en-US" sz="2400" dirty="0">
                <a:latin typeface="Times New Roman" panose="02020603050405020304" pitchFamily="18" charset="0"/>
              </a:rPr>
              <a:t>的最短路线。</a:t>
            </a:r>
            <a:endParaRPr lang="en-US" altLang="zh-CN" sz="2400" dirty="0">
              <a:latin typeface="Times New Roman" panose="02020603050405020304" pitchFamily="18" charset="0"/>
            </a:endParaRPr>
          </a:p>
          <a:p>
            <a:pPr marL="457200" indent="-457200" algn="just" eaLnBrk="1" hangingPunct="1">
              <a:lnSpc>
                <a:spcPct val="150000"/>
              </a:lnSpc>
              <a:spcBef>
                <a:spcPts val="3000"/>
              </a:spcBef>
              <a:buFont typeface="+mj-ea"/>
              <a:buAutoNum type="circleNumDbPlain"/>
            </a:pPr>
            <a:r>
              <a:rPr lang="en-US" altLang="zh-CN" sz="2400" dirty="0">
                <a:latin typeface="Times New Roman" panose="02020603050405020304" pitchFamily="18" charset="0"/>
              </a:rPr>
              <a:t>8.4(1).</a:t>
            </a:r>
          </a:p>
        </p:txBody>
      </p:sp>
      <p:sp>
        <p:nvSpPr>
          <p:cNvPr id="104453" name="灯片编号占位符 2"/>
          <p:cNvSpPr>
            <a:spLocks noGrp="1" noChangeArrowheads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>
                <a:srgbClr val="000000"/>
              </a:buClr>
              <a:buFontTx/>
              <a:buNone/>
            </a:pPr>
            <a:fld id="{34E668AE-1A0E-4ECD-8AB9-E6C7F4F383A2}" type="slidenum">
              <a:rPr lang="zh-CN" altLang="zh-CN" sz="1400">
                <a:latin typeface="Arial" panose="020B0604020202020204" pitchFamily="34" charset="0"/>
              </a:rPr>
              <a:t>26</a:t>
            </a:fld>
            <a:endParaRPr lang="en-US" altLang="zh-CN" sz="1400">
              <a:latin typeface="Arial" panose="020B0604020202020204" pitchFamily="34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2209800"/>
            <a:ext cx="2819400" cy="1389184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" y="4095750"/>
            <a:ext cx="4686300" cy="1924050"/>
          </a:xfrm>
          <a:prstGeom prst="rect">
            <a:avLst/>
          </a:prstGeom>
        </p:spPr>
      </p:pic>
    </p:spTree>
  </p:cSld>
  <p:clrMapOvr>
    <a:masterClrMapping/>
  </p:clrMapOvr>
  <p:transition spd="slow"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NWQ3NzQ3NTRiZTMxMTU0ZTlkZmZlMDczMDM1Mzg5MGQ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Profile">
  <a:themeElements>
    <a:clrScheme name="Profile 9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A3B2C1"/>
      </a:accent1>
      <a:accent2>
        <a:srgbClr val="CC0000"/>
      </a:accent2>
      <a:accent3>
        <a:srgbClr val="FFFFFF"/>
      </a:accent3>
      <a:accent4>
        <a:srgbClr val="000000"/>
      </a:accent4>
      <a:accent5>
        <a:srgbClr val="CED5DD"/>
      </a:accent5>
      <a:accent6>
        <a:srgbClr val="B90000"/>
      </a:accent6>
      <a:hlink>
        <a:srgbClr val="336699"/>
      </a:hlink>
      <a:folHlink>
        <a:srgbClr val="003366"/>
      </a:folHlink>
    </a:clrScheme>
    <a:fontScheme name="Profile">
      <a:majorFont>
        <a:latin typeface="Verdana"/>
        <a:ea typeface="宋体"/>
        <a:cs typeface=""/>
      </a:majorFont>
      <a:minorFont>
        <a:latin typeface="Verdan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Profile 1">
        <a:dk1>
          <a:srgbClr val="A50021"/>
        </a:dk1>
        <a:lt1>
          <a:srgbClr val="FFFFFF"/>
        </a:lt1>
        <a:dk2>
          <a:srgbClr val="800000"/>
        </a:dk2>
        <a:lt2>
          <a:srgbClr val="FFFFFF"/>
        </a:lt2>
        <a:accent1>
          <a:srgbClr val="FF9900"/>
        </a:accent1>
        <a:accent2>
          <a:srgbClr val="FF3300"/>
        </a:accent2>
        <a:accent3>
          <a:srgbClr val="C0AAAA"/>
        </a:accent3>
        <a:accent4>
          <a:srgbClr val="DADADA"/>
        </a:accent4>
        <a:accent5>
          <a:srgbClr val="FFCAAA"/>
        </a:accent5>
        <a:accent6>
          <a:srgbClr val="E72D00"/>
        </a:accent6>
        <a:hlink>
          <a:srgbClr val="FFFFCC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2">
        <a:dk1>
          <a:srgbClr val="3C001E"/>
        </a:dk1>
        <a:lt1>
          <a:srgbClr val="FFFFFF"/>
        </a:lt1>
        <a:dk2>
          <a:srgbClr val="51072E"/>
        </a:dk2>
        <a:lt2>
          <a:srgbClr val="FFFFFF"/>
        </a:lt2>
        <a:accent1>
          <a:srgbClr val="89A38F"/>
        </a:accent1>
        <a:accent2>
          <a:srgbClr val="666699"/>
        </a:accent2>
        <a:accent3>
          <a:srgbClr val="B3AAAD"/>
        </a:accent3>
        <a:accent4>
          <a:srgbClr val="DADADA"/>
        </a:accent4>
        <a:accent5>
          <a:srgbClr val="C4CEC6"/>
        </a:accent5>
        <a:accent6>
          <a:srgbClr val="5C5C8A"/>
        </a:accent6>
        <a:hlink>
          <a:srgbClr val="80800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3">
        <a:dk1>
          <a:srgbClr val="333333"/>
        </a:dk1>
        <a:lt1>
          <a:srgbClr val="FFFFFF"/>
        </a:lt1>
        <a:dk2>
          <a:srgbClr val="000000"/>
        </a:dk2>
        <a:lt2>
          <a:srgbClr val="FFFFFF"/>
        </a:lt2>
        <a:accent1>
          <a:srgbClr val="3399FF"/>
        </a:accent1>
        <a:accent2>
          <a:srgbClr val="CC0000"/>
        </a:accent2>
        <a:accent3>
          <a:srgbClr val="AAAAAA"/>
        </a:accent3>
        <a:accent4>
          <a:srgbClr val="DADADA"/>
        </a:accent4>
        <a:accent5>
          <a:srgbClr val="ADCAFF"/>
        </a:accent5>
        <a:accent6>
          <a:srgbClr val="B90000"/>
        </a:accent6>
        <a:hlink>
          <a:srgbClr val="666699"/>
        </a:hlink>
        <a:folHlink>
          <a:srgbClr val="66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4">
        <a:dk1>
          <a:srgbClr val="4B3D1B"/>
        </a:dk1>
        <a:lt1>
          <a:srgbClr val="FFFFFF"/>
        </a:lt1>
        <a:dk2>
          <a:srgbClr val="330000"/>
        </a:dk2>
        <a:lt2>
          <a:srgbClr val="FFFFFF"/>
        </a:lt2>
        <a:accent1>
          <a:srgbClr val="CC9900"/>
        </a:accent1>
        <a:accent2>
          <a:srgbClr val="CC6600"/>
        </a:accent2>
        <a:accent3>
          <a:srgbClr val="ADAA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666699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5">
        <a:dk1>
          <a:srgbClr val="006666"/>
        </a:dk1>
        <a:lt1>
          <a:srgbClr val="FFFFFF"/>
        </a:lt1>
        <a:dk2>
          <a:srgbClr val="003366"/>
        </a:dk2>
        <a:lt2>
          <a:srgbClr val="FFFFFF"/>
        </a:lt2>
        <a:accent1>
          <a:srgbClr val="0099CC"/>
        </a:accent1>
        <a:accent2>
          <a:srgbClr val="6666FF"/>
        </a:accent2>
        <a:accent3>
          <a:srgbClr val="AAADB8"/>
        </a:accent3>
        <a:accent4>
          <a:srgbClr val="DADADA"/>
        </a:accent4>
        <a:accent5>
          <a:srgbClr val="AACAE2"/>
        </a:accent5>
        <a:accent6>
          <a:srgbClr val="5C5CE7"/>
        </a:accent6>
        <a:hlink>
          <a:srgbClr val="FFFF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6">
        <a:dk1>
          <a:srgbClr val="003366"/>
        </a:dk1>
        <a:lt1>
          <a:srgbClr val="FFFFFF"/>
        </a:lt1>
        <a:dk2>
          <a:srgbClr val="006666"/>
        </a:dk2>
        <a:lt2>
          <a:srgbClr val="FFFFFF"/>
        </a:lt2>
        <a:accent1>
          <a:srgbClr val="6699FF"/>
        </a:accent1>
        <a:accent2>
          <a:srgbClr val="00CCFF"/>
        </a:accent2>
        <a:accent3>
          <a:srgbClr val="AAB8B8"/>
        </a:accent3>
        <a:accent4>
          <a:srgbClr val="DADADA"/>
        </a:accent4>
        <a:accent5>
          <a:srgbClr val="B8CAFF"/>
        </a:accent5>
        <a:accent6>
          <a:srgbClr val="00B9E7"/>
        </a:accent6>
        <a:hlink>
          <a:srgbClr val="FFFFCC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7">
        <a:dk1>
          <a:srgbClr val="000000"/>
        </a:dk1>
        <a:lt1>
          <a:srgbClr val="619CB1"/>
        </a:lt1>
        <a:dk2>
          <a:srgbClr val="FFFFFF"/>
        </a:dk2>
        <a:lt2>
          <a:srgbClr val="4E899E"/>
        </a:lt2>
        <a:accent1>
          <a:srgbClr val="FFCC00"/>
        </a:accent1>
        <a:accent2>
          <a:srgbClr val="B6523E"/>
        </a:accent2>
        <a:accent3>
          <a:srgbClr val="B7CBD5"/>
        </a:accent3>
        <a:accent4>
          <a:srgbClr val="000000"/>
        </a:accent4>
        <a:accent5>
          <a:srgbClr val="FFE2AA"/>
        </a:accent5>
        <a:accent6>
          <a:srgbClr val="A54937"/>
        </a:accent6>
        <a:hlink>
          <a:srgbClr val="99CC00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ofile 8">
        <a:dk1>
          <a:srgbClr val="598600"/>
        </a:dk1>
        <a:lt1>
          <a:srgbClr val="FFFFFF"/>
        </a:lt1>
        <a:dk2>
          <a:srgbClr val="336600"/>
        </a:dk2>
        <a:lt2>
          <a:srgbClr val="FFFFFF"/>
        </a:lt2>
        <a:accent1>
          <a:srgbClr val="33CC33"/>
        </a:accent1>
        <a:accent2>
          <a:srgbClr val="99CC00"/>
        </a:accent2>
        <a:accent3>
          <a:srgbClr val="ADB8AA"/>
        </a:accent3>
        <a:accent4>
          <a:srgbClr val="DADADA"/>
        </a:accent4>
        <a:accent5>
          <a:srgbClr val="ADE2AD"/>
        </a:accent5>
        <a:accent6>
          <a:srgbClr val="8AB900"/>
        </a:accent6>
        <a:hlink>
          <a:srgbClr val="FFCC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9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A3B2C1"/>
        </a:accent1>
        <a:accent2>
          <a:srgbClr val="CC0000"/>
        </a:accent2>
        <a:accent3>
          <a:srgbClr val="FFFFFF"/>
        </a:accent3>
        <a:accent4>
          <a:srgbClr val="000000"/>
        </a:accent4>
        <a:accent5>
          <a:srgbClr val="CED5DD"/>
        </a:accent5>
        <a:accent6>
          <a:srgbClr val="B90000"/>
        </a:accent6>
        <a:hlink>
          <a:srgbClr val="336699"/>
        </a:hlink>
        <a:folHlink>
          <a:srgbClr val="0033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Profile</Template>
  <TotalTime>269</TotalTime>
  <Words>1540</Words>
  <Application>Microsoft Office PowerPoint</Application>
  <PresentationFormat>全屏显示(4:3)</PresentationFormat>
  <Paragraphs>221</Paragraphs>
  <Slides>26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26</vt:i4>
      </vt:variant>
    </vt:vector>
  </HeadingPairs>
  <TitlesOfParts>
    <vt:vector size="41" baseType="lpstr">
      <vt:lpstr>zuoyeFont_mathFont, Arial</vt:lpstr>
      <vt:lpstr>仿宋</vt:lpstr>
      <vt:lpstr>黑体</vt:lpstr>
      <vt:lpstr>宋体</vt:lpstr>
      <vt:lpstr>微软雅黑</vt:lpstr>
      <vt:lpstr>Arial</vt:lpstr>
      <vt:lpstr>Calibri</vt:lpstr>
      <vt:lpstr>Tahoma</vt:lpstr>
      <vt:lpstr>Times New Roman</vt:lpstr>
      <vt:lpstr>Verdana</vt:lpstr>
      <vt:lpstr>Wingdings</vt:lpstr>
      <vt:lpstr>Profile</vt:lpstr>
      <vt:lpstr>Equation</vt:lpstr>
      <vt:lpstr>MathType 6.0 Equation</vt:lpstr>
      <vt:lpstr>公式</vt:lpstr>
      <vt:lpstr>最优化理论与方法（动态规划与图论）</vt:lpstr>
      <vt:lpstr>教学安排（16学时）</vt:lpstr>
      <vt:lpstr>4 动态规划的最优性原理和最优性定理</vt:lpstr>
      <vt:lpstr>4 动态规划的最优性原理和最优性定理</vt:lpstr>
      <vt:lpstr>4 动态规划的最优性原理和最优性定理</vt:lpstr>
      <vt:lpstr>5 动态规划的求解方法</vt:lpstr>
      <vt:lpstr>5 动态规划的求解方法</vt:lpstr>
      <vt:lpstr>5 动态规划的求解方法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课后作业安排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think</dc:creator>
  <cp:lastModifiedBy>hq</cp:lastModifiedBy>
  <cp:revision>556</cp:revision>
  <cp:lastPrinted>2113-01-01T00:00:00Z</cp:lastPrinted>
  <dcterms:created xsi:type="dcterms:W3CDTF">2113-01-01T00:00:00Z</dcterms:created>
  <dcterms:modified xsi:type="dcterms:W3CDTF">2024-12-15T12:38:47Z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  <property fmtid="{D5CDD505-2E9C-101B-9397-08002B2CF9AE}" pid="3" name="ICV">
    <vt:lpwstr>482407024D404EA0A8031968A0B029B5_12</vt:lpwstr>
  </property>
  <property fmtid="{D5CDD505-2E9C-101B-9397-08002B2CF9AE}" pid="4" name="KSOProductBuildVer">
    <vt:lpwstr>2052-12.1.0.15990</vt:lpwstr>
  </property>
</Properties>
</file>