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handoutMasterIdLst>
    <p:handoutMasterId r:id="rId108"/>
  </p:handoutMasterIdLst>
  <p:sldIdLst>
    <p:sldId id="257" r:id="rId2"/>
    <p:sldId id="5065" r:id="rId3"/>
    <p:sldId id="5066" r:id="rId4"/>
    <p:sldId id="5069" r:id="rId5"/>
    <p:sldId id="610" r:id="rId6"/>
    <p:sldId id="611" r:id="rId7"/>
    <p:sldId id="549" r:id="rId8"/>
    <p:sldId id="612" r:id="rId9"/>
    <p:sldId id="548" r:id="rId10"/>
    <p:sldId id="592" r:id="rId11"/>
    <p:sldId id="420" r:id="rId12"/>
    <p:sldId id="543" r:id="rId13"/>
    <p:sldId id="545" r:id="rId14"/>
    <p:sldId id="546" r:id="rId15"/>
    <p:sldId id="613" r:id="rId16"/>
    <p:sldId id="428" r:id="rId17"/>
    <p:sldId id="614" r:id="rId18"/>
    <p:sldId id="539" r:id="rId19"/>
    <p:sldId id="609" r:id="rId20"/>
    <p:sldId id="5070" r:id="rId21"/>
    <p:sldId id="551" r:id="rId22"/>
    <p:sldId id="552" r:id="rId23"/>
    <p:sldId id="553" r:id="rId24"/>
    <p:sldId id="554" r:id="rId25"/>
    <p:sldId id="555" r:id="rId26"/>
    <p:sldId id="593" r:id="rId27"/>
    <p:sldId id="595" r:id="rId28"/>
    <p:sldId id="485" r:id="rId29"/>
    <p:sldId id="486" r:id="rId30"/>
    <p:sldId id="287" r:id="rId31"/>
    <p:sldId id="537" r:id="rId32"/>
    <p:sldId id="538" r:id="rId33"/>
    <p:sldId id="300" r:id="rId34"/>
    <p:sldId id="596" r:id="rId35"/>
    <p:sldId id="385" r:id="rId36"/>
    <p:sldId id="540" r:id="rId37"/>
    <p:sldId id="541" r:id="rId38"/>
    <p:sldId id="534" r:id="rId39"/>
    <p:sldId id="388" r:id="rId40"/>
    <p:sldId id="535" r:id="rId41"/>
    <p:sldId id="597" r:id="rId42"/>
    <p:sldId id="598" r:id="rId43"/>
    <p:sldId id="439" r:id="rId44"/>
    <p:sldId id="441" r:id="rId45"/>
    <p:sldId id="442" r:id="rId46"/>
    <p:sldId id="443" r:id="rId47"/>
    <p:sldId id="487" r:id="rId48"/>
    <p:sldId id="600" r:id="rId49"/>
    <p:sldId id="601" r:id="rId50"/>
    <p:sldId id="488" r:id="rId51"/>
    <p:sldId id="432" r:id="rId52"/>
    <p:sldId id="602" r:id="rId53"/>
    <p:sldId id="433" r:id="rId54"/>
    <p:sldId id="434" r:id="rId55"/>
    <p:sldId id="436" r:id="rId56"/>
    <p:sldId id="435" r:id="rId57"/>
    <p:sldId id="437" r:id="rId58"/>
    <p:sldId id="604" r:id="rId59"/>
    <p:sldId id="446" r:id="rId60"/>
    <p:sldId id="447" r:id="rId61"/>
    <p:sldId id="448" r:id="rId62"/>
    <p:sldId id="454" r:id="rId63"/>
    <p:sldId id="449" r:id="rId64"/>
    <p:sldId id="462" r:id="rId65"/>
    <p:sldId id="456" r:id="rId66"/>
    <p:sldId id="509" r:id="rId67"/>
    <p:sldId id="473" r:id="rId68"/>
    <p:sldId id="477" r:id="rId69"/>
    <p:sldId id="510" r:id="rId70"/>
    <p:sldId id="514" r:id="rId71"/>
    <p:sldId id="515" r:id="rId72"/>
    <p:sldId id="516" r:id="rId73"/>
    <p:sldId id="457" r:id="rId74"/>
    <p:sldId id="464" r:id="rId75"/>
    <p:sldId id="465" r:id="rId76"/>
    <p:sldId id="466" r:id="rId77"/>
    <p:sldId id="476" r:id="rId78"/>
    <p:sldId id="605" r:id="rId79"/>
    <p:sldId id="606" r:id="rId80"/>
    <p:sldId id="607" r:id="rId81"/>
    <p:sldId id="483" r:id="rId82"/>
    <p:sldId id="489" r:id="rId83"/>
    <p:sldId id="490" r:id="rId84"/>
    <p:sldId id="501" r:id="rId85"/>
    <p:sldId id="458" r:id="rId86"/>
    <p:sldId id="459" r:id="rId87"/>
    <p:sldId id="460" r:id="rId88"/>
    <p:sldId id="502" r:id="rId89"/>
    <p:sldId id="461" r:id="rId90"/>
    <p:sldId id="503" r:id="rId91"/>
    <p:sldId id="492" r:id="rId92"/>
    <p:sldId id="493" r:id="rId93"/>
    <p:sldId id="494" r:id="rId94"/>
    <p:sldId id="495" r:id="rId95"/>
    <p:sldId id="496" r:id="rId96"/>
    <p:sldId id="525" r:id="rId97"/>
    <p:sldId id="526" r:id="rId98"/>
    <p:sldId id="527" r:id="rId99"/>
    <p:sldId id="528" r:id="rId100"/>
    <p:sldId id="529" r:id="rId101"/>
    <p:sldId id="530" r:id="rId102"/>
    <p:sldId id="608" r:id="rId103"/>
    <p:sldId id="531" r:id="rId104"/>
    <p:sldId id="532" r:id="rId105"/>
    <p:sldId id="472" r:id="rId106"/>
  </p:sldIdLst>
  <p:sldSz cx="9144000" cy="6858000" type="screen4x3"/>
  <p:notesSz cx="7099300" cy="10234613"/>
  <p:custShowLst>
    <p:custShow name="自定义放映1" id="0">
      <p:sldLst>
        <p:sld r:id="rId2"/>
      </p:sldLst>
    </p:custShow>
  </p:custShow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8" userDrawn="1">
          <p15:clr>
            <a:srgbClr val="A4A3A4"/>
          </p15:clr>
        </p15:guide>
        <p15:guide id="2" pos="29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33CC"/>
    <a:srgbClr val="FF0000"/>
    <a:srgbClr val="FF9900"/>
    <a:srgbClr val="CC0099"/>
    <a:srgbClr val="FF66CC"/>
    <a:srgbClr val="FF99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78"/>
    <p:restoredTop sz="94652"/>
  </p:normalViewPr>
  <p:slideViewPr>
    <p:cSldViewPr showGuides="1">
      <p:cViewPr varScale="1">
        <p:scale>
          <a:sx n="104" d="100"/>
          <a:sy n="104" d="100"/>
        </p:scale>
        <p:origin x="1800" y="108"/>
      </p:cViewPr>
      <p:guideLst>
        <p:guide orient="horz" pos="2138"/>
        <p:guide pos="293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1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9.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0.wmf"/><Relationship Id="rId5" Type="http://schemas.openxmlformats.org/officeDocument/2006/relationships/image" Target="../media/image74.wmf"/><Relationship Id="rId10" Type="http://schemas.openxmlformats.org/officeDocument/2006/relationships/image" Target="../media/image79.wmf"/><Relationship Id="rId4" Type="http://schemas.openxmlformats.org/officeDocument/2006/relationships/image" Target="../media/image73.wmf"/><Relationship Id="rId9" Type="http://schemas.openxmlformats.org/officeDocument/2006/relationships/image" Target="../media/image7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83.wmf"/><Relationship Id="rId7" Type="http://schemas.openxmlformats.org/officeDocument/2006/relationships/image" Target="../media/image87.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6.wmf"/><Relationship Id="rId7" Type="http://schemas.openxmlformats.org/officeDocument/2006/relationships/image" Target="../media/image91.wmf"/><Relationship Id="rId2" Type="http://schemas.openxmlformats.org/officeDocument/2006/relationships/image" Target="../media/image88.wmf"/><Relationship Id="rId1" Type="http://schemas.openxmlformats.org/officeDocument/2006/relationships/image" Target="../media/image70.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7.wmf"/><Relationship Id="rId9" Type="http://schemas.openxmlformats.org/officeDocument/2006/relationships/image" Target="../media/image93.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95.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94.wmf"/><Relationship Id="rId6" Type="http://schemas.openxmlformats.org/officeDocument/2006/relationships/image" Target="../media/image75.wmf"/><Relationship Id="rId5" Type="http://schemas.openxmlformats.org/officeDocument/2006/relationships/image" Target="../media/image74.wmf"/><Relationship Id="rId10" Type="http://schemas.openxmlformats.org/officeDocument/2006/relationships/image" Target="../media/image98.wmf"/><Relationship Id="rId4" Type="http://schemas.openxmlformats.org/officeDocument/2006/relationships/image" Target="../media/image96.wmf"/><Relationship Id="rId9" Type="http://schemas.openxmlformats.org/officeDocument/2006/relationships/image" Target="../media/image9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04.emf"/><Relationship Id="rId7" Type="http://schemas.openxmlformats.org/officeDocument/2006/relationships/image" Target="../media/image107.wmf"/><Relationship Id="rId2" Type="http://schemas.openxmlformats.org/officeDocument/2006/relationships/image" Target="../media/image103.wmf"/><Relationship Id="rId1" Type="http://schemas.openxmlformats.org/officeDocument/2006/relationships/image" Target="../media/image102.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11" Type="http://schemas.openxmlformats.org/officeDocument/2006/relationships/image" Target="../media/image121.wmf"/><Relationship Id="rId5" Type="http://schemas.openxmlformats.org/officeDocument/2006/relationships/image" Target="../media/image115.wmf"/><Relationship Id="rId10" Type="http://schemas.openxmlformats.org/officeDocument/2006/relationships/image" Target="../media/image120.wmf"/><Relationship Id="rId4" Type="http://schemas.openxmlformats.org/officeDocument/2006/relationships/image" Target="../media/image114.wmf"/><Relationship Id="rId9" Type="http://schemas.openxmlformats.org/officeDocument/2006/relationships/image" Target="../media/image11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 Id="rId5" Type="http://schemas.openxmlformats.org/officeDocument/2006/relationships/image" Target="../media/image131.wmf"/><Relationship Id="rId4" Type="http://schemas.openxmlformats.org/officeDocument/2006/relationships/image" Target="../media/image13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3.wmf"/><Relationship Id="rId1" Type="http://schemas.openxmlformats.org/officeDocument/2006/relationships/image" Target="../media/image13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wmf"/><Relationship Id="rId7" Type="http://schemas.openxmlformats.org/officeDocument/2006/relationships/image" Target="../media/image145.wmf"/><Relationship Id="rId12" Type="http://schemas.openxmlformats.org/officeDocument/2006/relationships/image" Target="../media/image150.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11" Type="http://schemas.openxmlformats.org/officeDocument/2006/relationships/image" Target="../media/image149.emf"/><Relationship Id="rId5" Type="http://schemas.openxmlformats.org/officeDocument/2006/relationships/image" Target="../media/image143.wmf"/><Relationship Id="rId10" Type="http://schemas.openxmlformats.org/officeDocument/2006/relationships/image" Target="../media/image148.emf"/><Relationship Id="rId4" Type="http://schemas.openxmlformats.org/officeDocument/2006/relationships/image" Target="../media/image142.wmf"/><Relationship Id="rId9" Type="http://schemas.openxmlformats.org/officeDocument/2006/relationships/image" Target="../media/image147.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image" Target="../media/image156.wmf"/><Relationship Id="rId7" Type="http://schemas.openxmlformats.org/officeDocument/2006/relationships/image" Target="../media/image160.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9.wmf"/><Relationship Id="rId5" Type="http://schemas.openxmlformats.org/officeDocument/2006/relationships/image" Target="../media/image158.emf"/><Relationship Id="rId4" Type="http://schemas.openxmlformats.org/officeDocument/2006/relationships/image" Target="../media/image15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6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image" Target="../media/image167.wmf"/><Relationship Id="rId7" Type="http://schemas.openxmlformats.org/officeDocument/2006/relationships/image" Target="../media/image171.wmf"/><Relationship Id="rId2" Type="http://schemas.openxmlformats.org/officeDocument/2006/relationships/image" Target="../media/image166.wmf"/><Relationship Id="rId1" Type="http://schemas.openxmlformats.org/officeDocument/2006/relationships/image" Target="../media/image165.wmf"/><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image" Target="../media/image185.wmf"/><Relationship Id="rId18" Type="http://schemas.openxmlformats.org/officeDocument/2006/relationships/image" Target="../media/image190.wmf"/><Relationship Id="rId3" Type="http://schemas.openxmlformats.org/officeDocument/2006/relationships/image" Target="../media/image175.wmf"/><Relationship Id="rId7" Type="http://schemas.openxmlformats.org/officeDocument/2006/relationships/image" Target="../media/image179.wmf"/><Relationship Id="rId12" Type="http://schemas.openxmlformats.org/officeDocument/2006/relationships/image" Target="../media/image184.wmf"/><Relationship Id="rId17" Type="http://schemas.openxmlformats.org/officeDocument/2006/relationships/image" Target="../media/image189.wmf"/><Relationship Id="rId2" Type="http://schemas.openxmlformats.org/officeDocument/2006/relationships/image" Target="../media/image174.wmf"/><Relationship Id="rId16" Type="http://schemas.openxmlformats.org/officeDocument/2006/relationships/image" Target="../media/image188.wmf"/><Relationship Id="rId1" Type="http://schemas.openxmlformats.org/officeDocument/2006/relationships/image" Target="../media/image173.wmf"/><Relationship Id="rId6" Type="http://schemas.openxmlformats.org/officeDocument/2006/relationships/image" Target="../media/image178.wmf"/><Relationship Id="rId11" Type="http://schemas.openxmlformats.org/officeDocument/2006/relationships/image" Target="../media/image183.wmf"/><Relationship Id="rId5" Type="http://schemas.openxmlformats.org/officeDocument/2006/relationships/image" Target="../media/image177.wmf"/><Relationship Id="rId15" Type="http://schemas.openxmlformats.org/officeDocument/2006/relationships/image" Target="../media/image187.wmf"/><Relationship Id="rId10" Type="http://schemas.openxmlformats.org/officeDocument/2006/relationships/image" Target="../media/image182.wmf"/><Relationship Id="rId4" Type="http://schemas.openxmlformats.org/officeDocument/2006/relationships/image" Target="../media/image176.wmf"/><Relationship Id="rId9" Type="http://schemas.openxmlformats.org/officeDocument/2006/relationships/image" Target="../media/image181.wmf"/><Relationship Id="rId14" Type="http://schemas.openxmlformats.org/officeDocument/2006/relationships/image" Target="../media/image186.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image" Target="../media/image203.wmf"/><Relationship Id="rId3" Type="http://schemas.openxmlformats.org/officeDocument/2006/relationships/image" Target="../media/image193.wmf"/><Relationship Id="rId7" Type="http://schemas.openxmlformats.org/officeDocument/2006/relationships/image" Target="../media/image197.emf"/><Relationship Id="rId12" Type="http://schemas.openxmlformats.org/officeDocument/2006/relationships/image" Target="../media/image202.wmf"/><Relationship Id="rId2" Type="http://schemas.openxmlformats.org/officeDocument/2006/relationships/image" Target="../media/image192.wmf"/><Relationship Id="rId16" Type="http://schemas.openxmlformats.org/officeDocument/2006/relationships/image" Target="../media/image206.wmf"/><Relationship Id="rId1" Type="http://schemas.openxmlformats.org/officeDocument/2006/relationships/image" Target="../media/image191.wmf"/><Relationship Id="rId6" Type="http://schemas.openxmlformats.org/officeDocument/2006/relationships/image" Target="../media/image196.wmf"/><Relationship Id="rId11" Type="http://schemas.openxmlformats.org/officeDocument/2006/relationships/image" Target="../media/image201.wmf"/><Relationship Id="rId5" Type="http://schemas.openxmlformats.org/officeDocument/2006/relationships/image" Target="../media/image195.wmf"/><Relationship Id="rId15" Type="http://schemas.openxmlformats.org/officeDocument/2006/relationships/image" Target="../media/image205.wmf"/><Relationship Id="rId10" Type="http://schemas.openxmlformats.org/officeDocument/2006/relationships/image" Target="../media/image200.wmf"/><Relationship Id="rId4" Type="http://schemas.openxmlformats.org/officeDocument/2006/relationships/image" Target="../media/image194.wmf"/><Relationship Id="rId9" Type="http://schemas.openxmlformats.org/officeDocument/2006/relationships/image" Target="../media/image199.emf"/><Relationship Id="rId14" Type="http://schemas.openxmlformats.org/officeDocument/2006/relationships/image" Target="../media/image204.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97.emf"/><Relationship Id="rId3" Type="http://schemas.openxmlformats.org/officeDocument/2006/relationships/image" Target="../media/image192.wmf"/><Relationship Id="rId7" Type="http://schemas.openxmlformats.org/officeDocument/2006/relationships/image" Target="../media/image196.wmf"/><Relationship Id="rId2" Type="http://schemas.openxmlformats.org/officeDocument/2006/relationships/image" Target="../media/image191.wmf"/><Relationship Id="rId1" Type="http://schemas.openxmlformats.org/officeDocument/2006/relationships/image" Target="../media/image207.wmf"/><Relationship Id="rId6" Type="http://schemas.openxmlformats.org/officeDocument/2006/relationships/image" Target="../media/image195.wmf"/><Relationship Id="rId5" Type="http://schemas.openxmlformats.org/officeDocument/2006/relationships/image" Target="../media/image194.wmf"/><Relationship Id="rId4" Type="http://schemas.openxmlformats.org/officeDocument/2006/relationships/image" Target="../media/image193.wmf"/><Relationship Id="rId9" Type="http://schemas.openxmlformats.org/officeDocument/2006/relationships/image" Target="../media/image19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21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08.wmf"/><Relationship Id="rId2" Type="http://schemas.openxmlformats.org/officeDocument/2006/relationships/image" Target="../media/image215.wmf"/><Relationship Id="rId1" Type="http://schemas.openxmlformats.org/officeDocument/2006/relationships/image" Target="../media/image214.wmf"/><Relationship Id="rId4" Type="http://schemas.openxmlformats.org/officeDocument/2006/relationships/image" Target="../media/image216.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19.wmf"/><Relationship Id="rId2" Type="http://schemas.openxmlformats.org/officeDocument/2006/relationships/image" Target="../media/image218.wmf"/><Relationship Id="rId1" Type="http://schemas.openxmlformats.org/officeDocument/2006/relationships/image" Target="../media/image217.wmf"/><Relationship Id="rId6" Type="http://schemas.openxmlformats.org/officeDocument/2006/relationships/image" Target="../media/image222.wmf"/><Relationship Id="rId5" Type="http://schemas.openxmlformats.org/officeDocument/2006/relationships/image" Target="../media/image221.wmf"/><Relationship Id="rId4" Type="http://schemas.openxmlformats.org/officeDocument/2006/relationships/image" Target="../media/image220.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203.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image" Target="../media/image225.wmf"/><Relationship Id="rId7" Type="http://schemas.openxmlformats.org/officeDocument/2006/relationships/image" Target="../media/image229.wmf"/><Relationship Id="rId12" Type="http://schemas.openxmlformats.org/officeDocument/2006/relationships/image" Target="../media/image234.wmf"/><Relationship Id="rId2" Type="http://schemas.openxmlformats.org/officeDocument/2006/relationships/image" Target="../media/image224.w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wmf"/><Relationship Id="rId5" Type="http://schemas.openxmlformats.org/officeDocument/2006/relationships/image" Target="../media/image227.wmf"/><Relationship Id="rId10" Type="http://schemas.openxmlformats.org/officeDocument/2006/relationships/image" Target="../media/image232.wmf"/><Relationship Id="rId4" Type="http://schemas.openxmlformats.org/officeDocument/2006/relationships/image" Target="../media/image226.wmf"/><Relationship Id="rId9" Type="http://schemas.openxmlformats.org/officeDocument/2006/relationships/image" Target="../media/image231.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30.wmf"/><Relationship Id="rId13" Type="http://schemas.openxmlformats.org/officeDocument/2006/relationships/image" Target="../media/image235.wmf"/><Relationship Id="rId3" Type="http://schemas.openxmlformats.org/officeDocument/2006/relationships/image" Target="../media/image225.wmf"/><Relationship Id="rId7" Type="http://schemas.openxmlformats.org/officeDocument/2006/relationships/image" Target="../media/image229.wmf"/><Relationship Id="rId12" Type="http://schemas.openxmlformats.org/officeDocument/2006/relationships/image" Target="../media/image234.wmf"/><Relationship Id="rId2" Type="http://schemas.openxmlformats.org/officeDocument/2006/relationships/image" Target="../media/image224.w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wmf"/><Relationship Id="rId5" Type="http://schemas.openxmlformats.org/officeDocument/2006/relationships/image" Target="../media/image227.wmf"/><Relationship Id="rId10" Type="http://schemas.openxmlformats.org/officeDocument/2006/relationships/image" Target="../media/image232.wmf"/><Relationship Id="rId4" Type="http://schemas.openxmlformats.org/officeDocument/2006/relationships/image" Target="../media/image226.wmf"/><Relationship Id="rId9" Type="http://schemas.openxmlformats.org/officeDocument/2006/relationships/image" Target="../media/image231.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30.wmf"/><Relationship Id="rId13" Type="http://schemas.openxmlformats.org/officeDocument/2006/relationships/image" Target="../media/image235.wmf"/><Relationship Id="rId3" Type="http://schemas.openxmlformats.org/officeDocument/2006/relationships/image" Target="../media/image225.wmf"/><Relationship Id="rId7" Type="http://schemas.openxmlformats.org/officeDocument/2006/relationships/image" Target="../media/image229.wmf"/><Relationship Id="rId12" Type="http://schemas.openxmlformats.org/officeDocument/2006/relationships/image" Target="../media/image234.wmf"/><Relationship Id="rId2" Type="http://schemas.openxmlformats.org/officeDocument/2006/relationships/image" Target="../media/image224.w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wmf"/><Relationship Id="rId5" Type="http://schemas.openxmlformats.org/officeDocument/2006/relationships/image" Target="../media/image227.wmf"/><Relationship Id="rId10" Type="http://schemas.openxmlformats.org/officeDocument/2006/relationships/image" Target="../media/image232.wmf"/><Relationship Id="rId4" Type="http://schemas.openxmlformats.org/officeDocument/2006/relationships/image" Target="../media/image226.wmf"/><Relationship Id="rId9" Type="http://schemas.openxmlformats.org/officeDocument/2006/relationships/image" Target="../media/image231.wmf"/><Relationship Id="rId14" Type="http://schemas.openxmlformats.org/officeDocument/2006/relationships/image" Target="../media/image236.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30.wmf"/><Relationship Id="rId13" Type="http://schemas.openxmlformats.org/officeDocument/2006/relationships/image" Target="../media/image235.wmf"/><Relationship Id="rId3" Type="http://schemas.openxmlformats.org/officeDocument/2006/relationships/image" Target="../media/image225.wmf"/><Relationship Id="rId7" Type="http://schemas.openxmlformats.org/officeDocument/2006/relationships/image" Target="../media/image229.wmf"/><Relationship Id="rId12" Type="http://schemas.openxmlformats.org/officeDocument/2006/relationships/image" Target="../media/image234.wmf"/><Relationship Id="rId2" Type="http://schemas.openxmlformats.org/officeDocument/2006/relationships/image" Target="../media/image224.wmf"/><Relationship Id="rId16" Type="http://schemas.openxmlformats.org/officeDocument/2006/relationships/image" Target="../media/image238.e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wmf"/><Relationship Id="rId5" Type="http://schemas.openxmlformats.org/officeDocument/2006/relationships/image" Target="../media/image227.wmf"/><Relationship Id="rId15" Type="http://schemas.openxmlformats.org/officeDocument/2006/relationships/image" Target="../media/image237.wmf"/><Relationship Id="rId10" Type="http://schemas.openxmlformats.org/officeDocument/2006/relationships/image" Target="../media/image232.wmf"/><Relationship Id="rId4" Type="http://schemas.openxmlformats.org/officeDocument/2006/relationships/image" Target="../media/image226.wmf"/><Relationship Id="rId9" Type="http://schemas.openxmlformats.org/officeDocument/2006/relationships/image" Target="../media/image231.wmf"/><Relationship Id="rId14" Type="http://schemas.openxmlformats.org/officeDocument/2006/relationships/image" Target="../media/image236.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30.wmf"/><Relationship Id="rId13" Type="http://schemas.openxmlformats.org/officeDocument/2006/relationships/image" Target="../media/image235.wmf"/><Relationship Id="rId3" Type="http://schemas.openxmlformats.org/officeDocument/2006/relationships/image" Target="../media/image225.wmf"/><Relationship Id="rId7" Type="http://schemas.openxmlformats.org/officeDocument/2006/relationships/image" Target="../media/image229.wmf"/><Relationship Id="rId12" Type="http://schemas.openxmlformats.org/officeDocument/2006/relationships/image" Target="../media/image234.wmf"/><Relationship Id="rId17" Type="http://schemas.openxmlformats.org/officeDocument/2006/relationships/image" Target="../media/image239.wmf"/><Relationship Id="rId2" Type="http://schemas.openxmlformats.org/officeDocument/2006/relationships/image" Target="../media/image224.wmf"/><Relationship Id="rId16" Type="http://schemas.openxmlformats.org/officeDocument/2006/relationships/image" Target="../media/image238.e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wmf"/><Relationship Id="rId5" Type="http://schemas.openxmlformats.org/officeDocument/2006/relationships/image" Target="../media/image227.wmf"/><Relationship Id="rId15" Type="http://schemas.openxmlformats.org/officeDocument/2006/relationships/image" Target="../media/image237.wmf"/><Relationship Id="rId10" Type="http://schemas.openxmlformats.org/officeDocument/2006/relationships/image" Target="../media/image232.wmf"/><Relationship Id="rId4" Type="http://schemas.openxmlformats.org/officeDocument/2006/relationships/image" Target="../media/image226.wmf"/><Relationship Id="rId9" Type="http://schemas.openxmlformats.org/officeDocument/2006/relationships/image" Target="../media/image231.wmf"/><Relationship Id="rId14" Type="http://schemas.openxmlformats.org/officeDocument/2006/relationships/image" Target="../media/image236.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41.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243.wmf"/><Relationship Id="rId1" Type="http://schemas.openxmlformats.org/officeDocument/2006/relationships/image" Target="../media/image242.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5.wmf"/><Relationship Id="rId1" Type="http://schemas.openxmlformats.org/officeDocument/2006/relationships/image" Target="../media/image244.wmf"/><Relationship Id="rId6" Type="http://schemas.openxmlformats.org/officeDocument/2006/relationships/image" Target="../media/image249.wmf"/><Relationship Id="rId5" Type="http://schemas.openxmlformats.org/officeDocument/2006/relationships/image" Target="../media/image248.wmf"/><Relationship Id="rId4" Type="http://schemas.openxmlformats.org/officeDocument/2006/relationships/image" Target="../media/image247.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57.wmf"/><Relationship Id="rId13" Type="http://schemas.openxmlformats.org/officeDocument/2006/relationships/image" Target="../media/image262.wmf"/><Relationship Id="rId3" Type="http://schemas.openxmlformats.org/officeDocument/2006/relationships/image" Target="../media/image252.wmf"/><Relationship Id="rId7" Type="http://schemas.openxmlformats.org/officeDocument/2006/relationships/image" Target="../media/image256.wmf"/><Relationship Id="rId12" Type="http://schemas.openxmlformats.org/officeDocument/2006/relationships/image" Target="../media/image261.wmf"/><Relationship Id="rId2" Type="http://schemas.openxmlformats.org/officeDocument/2006/relationships/image" Target="../media/image251.wmf"/><Relationship Id="rId16" Type="http://schemas.openxmlformats.org/officeDocument/2006/relationships/image" Target="../media/image265.wmf"/><Relationship Id="rId1" Type="http://schemas.openxmlformats.org/officeDocument/2006/relationships/image" Target="../media/image250.wmf"/><Relationship Id="rId6" Type="http://schemas.openxmlformats.org/officeDocument/2006/relationships/image" Target="../media/image255.wmf"/><Relationship Id="rId11" Type="http://schemas.openxmlformats.org/officeDocument/2006/relationships/image" Target="../media/image260.wmf"/><Relationship Id="rId5" Type="http://schemas.openxmlformats.org/officeDocument/2006/relationships/image" Target="../media/image254.wmf"/><Relationship Id="rId15" Type="http://schemas.openxmlformats.org/officeDocument/2006/relationships/image" Target="../media/image264.wmf"/><Relationship Id="rId10" Type="http://schemas.openxmlformats.org/officeDocument/2006/relationships/image" Target="../media/image259.wmf"/><Relationship Id="rId4" Type="http://schemas.openxmlformats.org/officeDocument/2006/relationships/image" Target="../media/image253.wmf"/><Relationship Id="rId9" Type="http://schemas.openxmlformats.org/officeDocument/2006/relationships/image" Target="../media/image258.wmf"/><Relationship Id="rId14" Type="http://schemas.openxmlformats.org/officeDocument/2006/relationships/image" Target="../media/image263.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67.wmf"/><Relationship Id="rId1" Type="http://schemas.openxmlformats.org/officeDocument/2006/relationships/image" Target="../media/image26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68.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76.wmf"/><Relationship Id="rId3" Type="http://schemas.openxmlformats.org/officeDocument/2006/relationships/image" Target="../media/image271.wmf"/><Relationship Id="rId7" Type="http://schemas.openxmlformats.org/officeDocument/2006/relationships/image" Target="../media/image275.wmf"/><Relationship Id="rId2" Type="http://schemas.openxmlformats.org/officeDocument/2006/relationships/image" Target="../media/image270.wmf"/><Relationship Id="rId1" Type="http://schemas.openxmlformats.org/officeDocument/2006/relationships/image" Target="../media/image269.wmf"/><Relationship Id="rId6" Type="http://schemas.openxmlformats.org/officeDocument/2006/relationships/image" Target="../media/image274.wmf"/><Relationship Id="rId5" Type="http://schemas.openxmlformats.org/officeDocument/2006/relationships/image" Target="../media/image273.wmf"/><Relationship Id="rId4" Type="http://schemas.openxmlformats.org/officeDocument/2006/relationships/image" Target="../media/image272.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77.wmf"/><Relationship Id="rId1" Type="http://schemas.openxmlformats.org/officeDocument/2006/relationships/image" Target="../media/image269.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 Id="rId6" Type="http://schemas.openxmlformats.org/officeDocument/2006/relationships/image" Target="../media/image283.wmf"/><Relationship Id="rId5" Type="http://schemas.openxmlformats.org/officeDocument/2006/relationships/image" Target="../media/image282.wmf"/><Relationship Id="rId4" Type="http://schemas.openxmlformats.org/officeDocument/2006/relationships/image" Target="../media/image28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7"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62A6A986-AF75-472E-B4AB-97184F039A1F}" type="datetime1">
              <a:rPr kumimoji="1"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微软雅黑" panose="020B0503020204020204" pitchFamily="34" charset="-122"/>
                <a:cs typeface="+mn-cs"/>
              </a:rPr>
              <a:t>2025/10/13</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8"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9"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A8023455-A7CA-446A-B75C-22D5E92CE5F5}"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072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CA10CB70-F2F2-4FD3-A580-BF7DC3E1AFEE}" type="datetime1">
              <a:rPr kumimoji="1"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微软雅黑" panose="020B0503020204020204" pitchFamily="34" charset="-122"/>
                <a:cs typeface="+mn-cs"/>
              </a:rPr>
              <a:t>2025/10/13</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2052" name="Rectangle 4"/>
          <p:cNvSpPr>
            <a:spLocks noGrp="1" noRot="1" noChangeAspect="1" noTextEdit="1"/>
          </p:cNvSpPr>
          <p:nvPr>
            <p:ph type="sldImg" idx="2"/>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第五级</a:t>
            </a:r>
          </a:p>
        </p:txBody>
      </p:sp>
      <p:sp>
        <p:nvSpPr>
          <p:cNvPr id="3072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072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BC1F9884-5053-47F6-B977-9210A9ECFCC7}"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txBox="1">
            <a:spLocks noGrp="1"/>
          </p:cNvSpPr>
          <p:nvPr>
            <p:ph type="dt" sz="half"/>
          </p:nvPr>
        </p:nvSpPr>
        <p:spPr>
          <a:xfrm>
            <a:off x="4022725" y="0"/>
            <a:ext cx="3076575" cy="511175"/>
          </a:xfrm>
          <a:prstGeom prst="rect">
            <a:avLst/>
          </a:prstGeom>
          <a:noFill/>
          <a:ln w="9525">
            <a:noFill/>
          </a:ln>
        </p:spPr>
        <p:txBody>
          <a:bodyPr lIns="99048" tIns="49524" rIns="99048" bIns="49524"/>
          <a:lstStyle/>
          <a:p>
            <a:pPr lvl="0" algn="r" eaLnBrk="1" latinLnBrk="1" hangingPunct="1">
              <a:spcBef>
                <a:spcPct val="0"/>
              </a:spcBef>
            </a:pPr>
            <a:fld id="{8A4E3C25-5A6C-4847-B96B-355C5B5B7035}" type="datetime1">
              <a:rPr lang="zh-CN" altLang="en-US" sz="1300" smtClean="0"/>
              <a:t>2025/10/13</a:t>
            </a:fld>
            <a:endParaRPr lang="zh-CN" altLang="en-US" sz="1300" dirty="0"/>
          </a:p>
        </p:txBody>
      </p:sp>
      <p:sp>
        <p:nvSpPr>
          <p:cNvPr id="5123"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lstStyle/>
          <a:p>
            <a:pPr lvl="0" algn="r" eaLnBrk="1" latinLnBrk="1" hangingPunct="1">
              <a:spcBef>
                <a:spcPct val="0"/>
              </a:spcBef>
            </a:pPr>
            <a:fld id="{9A0DB2DC-4C9A-4742-B13C-FB6460FD3503}" type="slidenum">
              <a:rPr lang="en-US" altLang="zh-CN" sz="1300" dirty="0"/>
              <a:t>1</a:t>
            </a:fld>
            <a:endParaRPr lang="en-US" altLang="zh-CN" sz="1300" dirty="0"/>
          </a:p>
        </p:txBody>
      </p:sp>
      <p:sp>
        <p:nvSpPr>
          <p:cNvPr id="5124" name="Rectangle 1026"/>
          <p:cNvSpPr>
            <a:spLocks noGrp="1" noRot="1" noChangeAspect="1" noTextEdit="1"/>
          </p:cNvSpPr>
          <p:nvPr>
            <p:ph type="sldImg"/>
          </p:nvPr>
        </p:nvSpPr>
        <p:spPr/>
      </p:sp>
      <p:sp>
        <p:nvSpPr>
          <p:cNvPr id="5125" name="Rectangle 1027"/>
          <p:cNvSpPr>
            <a:spLocks noGrp="1"/>
          </p:cNvSpPr>
          <p:nvPr>
            <p:ph type="body" idx="1"/>
          </p:nvPr>
        </p:nvSpPr>
        <p:spPr/>
        <p:txBody>
          <a:bodyPr wrap="square" lIns="99048" tIns="49524" rIns="99048" bIns="49524" anchor="t"/>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b="0" dirty="0"/>
              <a:t>以神经动力学优化为例，</a:t>
            </a:r>
          </a:p>
        </p:txBody>
      </p:sp>
      <p:sp>
        <p:nvSpPr>
          <p:cNvPr id="4" name="灯片编号占位符 3"/>
          <p:cNvSpPr>
            <a:spLocks noGrp="1"/>
          </p:cNvSpPr>
          <p:nvPr>
            <p:ph type="sldNum" sz="quarter" idx="10"/>
          </p:nvPr>
        </p:nvSpPr>
        <p:spPr/>
        <p:txBody>
          <a:bodyPr/>
          <a:lstStyle/>
          <a:p>
            <a:fld id="{676E9307-9E7E-442D-8536-CA5F4AB99FE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b="0" dirty="0"/>
              <a:t>以神经动力学优化为例，</a:t>
            </a:r>
          </a:p>
        </p:txBody>
      </p:sp>
      <p:sp>
        <p:nvSpPr>
          <p:cNvPr id="4" name="灯片编号占位符 3"/>
          <p:cNvSpPr>
            <a:spLocks noGrp="1"/>
          </p:cNvSpPr>
          <p:nvPr>
            <p:ph type="sldNum" sz="quarter" idx="10"/>
          </p:nvPr>
        </p:nvSpPr>
        <p:spPr/>
        <p:txBody>
          <a:bodyPr/>
          <a:lstStyle/>
          <a:p>
            <a:fld id="{676E9307-9E7E-442D-8536-CA5F4AB99FE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b="0" dirty="0"/>
              <a:t>以神经动力学优化为例，</a:t>
            </a:r>
          </a:p>
        </p:txBody>
      </p:sp>
      <p:sp>
        <p:nvSpPr>
          <p:cNvPr id="4" name="灯片编号占位符 3"/>
          <p:cNvSpPr>
            <a:spLocks noGrp="1"/>
          </p:cNvSpPr>
          <p:nvPr>
            <p:ph type="sldNum" sz="quarter" idx="10"/>
          </p:nvPr>
        </p:nvSpPr>
        <p:spPr/>
        <p:txBody>
          <a:bodyPr/>
          <a:lstStyle/>
          <a:p>
            <a:fld id="{676E9307-9E7E-442D-8536-CA5F4AB99FE3}" type="slidenum">
              <a:rPr lang="zh-CN" altLang="en-US" smtClean="0"/>
              <a:t>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0D05310-F9BB-49D3-9BFE-291EF711FBF0}"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ea typeface="微软雅黑"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136D3986-1ACA-454C-A232-AE5065E78E38}"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EBC8A0D-5200-4C5C-B591-EBE4F627F4DB}"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A555641-0EEB-4F3A-A9F3-90D6706EF1DA}"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68332CA9-7DC4-4175-A843-FCC76410ED09}"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1E00BEB-6704-465E-97E9-8DEA67822E38}"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ea typeface="微软雅黑" panose="020B0503020204020204" pitchFamily="34" charset="-122"/>
              </a:defRPr>
            </a:lvl1pPr>
            <a:lvl2pPr>
              <a:defRPr sz="2800">
                <a:ea typeface="微软雅黑" panose="020B0503020204020204" pitchFamily="34" charset="-122"/>
              </a:defRPr>
            </a:lvl2pPr>
            <a:lvl3pPr>
              <a:defRPr sz="2400">
                <a:ea typeface="微软雅黑" panose="020B0503020204020204" pitchFamily="34" charset="-122"/>
              </a:defRPr>
            </a:lvl3pPr>
            <a:lvl4pPr>
              <a:defRPr sz="2000">
                <a:ea typeface="微软雅黑" panose="020B0503020204020204" pitchFamily="34" charset="-122"/>
              </a:defRPr>
            </a:lvl4pPr>
            <a:lvl5pPr>
              <a:defRPr sz="2000">
                <a:ea typeface="微软雅黑" panose="020B0503020204020204" pitchFamily="34"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4B08919-0325-4045-922D-5324115FAF4E}"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60CEA46-F33D-4C4E-A8BF-34533163CAEF}"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525E3B87-4F48-401D-9496-F155509F87C4}"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lvl1pPr>
              <a:defRPr>
                <a:ea typeface="微软雅黑"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08DAC70-9295-4AFC-9E10-F4AD1CDE9CD8}"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D23983F-5F89-4EC4-8D77-964C4950495B}"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文本与内容">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Rectangle 11"/>
          <p:cNvSpPr>
            <a:spLocks noGrp="1" noChangeArrowheads="1"/>
          </p:cNvSpPr>
          <p:nvPr>
            <p:ph type="dt" sz="half" idx="10"/>
          </p:nvPr>
        </p:nvSpPr>
        <p:spPr/>
        <p:txBody>
          <a:bodyPr/>
          <a:lstStyle>
            <a:lvl1pPr>
              <a:defRPr/>
            </a:lvl1pPr>
          </a:lstStyle>
          <a:p>
            <a:pPr>
              <a:defRPr/>
            </a:pPr>
            <a:fld id="{5DCB5BC2-36BB-4EE9-B6A5-233A2EFEF8DC}" type="datetime1">
              <a:rPr lang="zh-CN" altLang="en-US" smtClean="0"/>
              <a:t>2025/10/13</a:t>
            </a:fld>
            <a:endParaRPr lang="en-US" altLang="zh-CN" dirty="0"/>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6DC1E550-C484-4733-8AE5-552F7C7F219F}" type="slidenum">
              <a:rPr lang="en-US" altLang="zh-CN"/>
              <a:t>‹#›</a:t>
            </a:fld>
            <a:endParaRPr lang="en-US"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27"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ea typeface="微软雅黑" panose="020B0503020204020204" pitchFamily="3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463EE1F-FF1F-48A1-B2B4-48CAE347F74A}" type="datetime1">
              <a:rPr kumimoji="0" lang="zh-CN" altLang="en-US"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2025/10/13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37228"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37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ea typeface="微软雅黑" panose="020B0503020204020204" pitchFamily="34"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random/>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34" Type="http://schemas.openxmlformats.org/officeDocument/2006/relationships/image" Target="../media/image17.png"/><Relationship Id="rId42" Type="http://schemas.openxmlformats.org/officeDocument/2006/relationships/image" Target="../media/image25.jpeg"/><Relationship Id="rId47" Type="http://schemas.openxmlformats.org/officeDocument/2006/relationships/image" Target="../media/image30.png"/><Relationship Id="rId50" Type="http://schemas.openxmlformats.org/officeDocument/2006/relationships/image" Target="../media/image33.png"/><Relationship Id="rId55" Type="http://schemas.openxmlformats.org/officeDocument/2006/relationships/image" Target="../media/image38.png"/><Relationship Id="rId63" Type="http://schemas.openxmlformats.org/officeDocument/2006/relationships/image" Target="../media/image46.pn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slideLayout" Target="../slideLayouts/slideLayout12.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15.png"/><Relationship Id="rId37" Type="http://schemas.openxmlformats.org/officeDocument/2006/relationships/image" Target="../media/image20.svg"/><Relationship Id="rId40" Type="http://schemas.openxmlformats.org/officeDocument/2006/relationships/image" Target="../media/image23.png"/><Relationship Id="rId45" Type="http://schemas.openxmlformats.org/officeDocument/2006/relationships/image" Target="../media/image28.jpeg"/><Relationship Id="rId53" Type="http://schemas.openxmlformats.org/officeDocument/2006/relationships/image" Target="../media/image36.png"/><Relationship Id="rId58" Type="http://schemas.openxmlformats.org/officeDocument/2006/relationships/image" Target="../media/image41.png"/><Relationship Id="rId66" Type="http://schemas.openxmlformats.org/officeDocument/2006/relationships/image" Target="../media/image49.jpeg"/><Relationship Id="rId5" Type="http://schemas.openxmlformats.org/officeDocument/2006/relationships/tags" Target="../tags/tag5.xml"/><Relationship Id="rId61" Type="http://schemas.openxmlformats.org/officeDocument/2006/relationships/image" Target="../media/image44.png"/><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notesSlide" Target="../notesSlides/notesSlide4.xml"/><Relationship Id="rId35" Type="http://schemas.openxmlformats.org/officeDocument/2006/relationships/image" Target="../media/image18.png"/><Relationship Id="rId43" Type="http://schemas.openxmlformats.org/officeDocument/2006/relationships/image" Target="../media/image26.emf"/><Relationship Id="rId48" Type="http://schemas.openxmlformats.org/officeDocument/2006/relationships/image" Target="../media/image31.png"/><Relationship Id="rId56" Type="http://schemas.openxmlformats.org/officeDocument/2006/relationships/image" Target="../media/image39.png"/><Relationship Id="rId64" Type="http://schemas.openxmlformats.org/officeDocument/2006/relationships/image" Target="../media/image47.png"/><Relationship Id="rId8" Type="http://schemas.openxmlformats.org/officeDocument/2006/relationships/tags" Target="../tags/tag8.xml"/><Relationship Id="rId51" Type="http://schemas.openxmlformats.org/officeDocument/2006/relationships/image" Target="../media/image34.png"/><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16.png"/><Relationship Id="rId38" Type="http://schemas.openxmlformats.org/officeDocument/2006/relationships/image" Target="../media/image21.png"/><Relationship Id="rId46" Type="http://schemas.openxmlformats.org/officeDocument/2006/relationships/image" Target="../media/image29.jpeg"/><Relationship Id="rId59" Type="http://schemas.openxmlformats.org/officeDocument/2006/relationships/image" Target="../media/image42.png"/><Relationship Id="rId20" Type="http://schemas.openxmlformats.org/officeDocument/2006/relationships/tags" Target="../tags/tag20.xml"/><Relationship Id="rId41" Type="http://schemas.openxmlformats.org/officeDocument/2006/relationships/image" Target="../media/image24.GIF"/><Relationship Id="rId54" Type="http://schemas.openxmlformats.org/officeDocument/2006/relationships/image" Target="../media/image37.png"/><Relationship Id="rId62" Type="http://schemas.openxmlformats.org/officeDocument/2006/relationships/image" Target="../media/image45.png"/><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image" Target="../media/image19.png"/><Relationship Id="rId49" Type="http://schemas.openxmlformats.org/officeDocument/2006/relationships/image" Target="../media/image32.png"/><Relationship Id="rId57" Type="http://schemas.openxmlformats.org/officeDocument/2006/relationships/image" Target="../media/image40.png"/><Relationship Id="rId10" Type="http://schemas.openxmlformats.org/officeDocument/2006/relationships/tags" Target="../tags/tag10.xml"/><Relationship Id="rId31" Type="http://schemas.openxmlformats.org/officeDocument/2006/relationships/image" Target="../media/image14.png"/><Relationship Id="rId44" Type="http://schemas.openxmlformats.org/officeDocument/2006/relationships/image" Target="../media/image27.jpeg"/><Relationship Id="rId52" Type="http://schemas.openxmlformats.org/officeDocument/2006/relationships/image" Target="../media/image35.png"/><Relationship Id="rId60" Type="http://schemas.openxmlformats.org/officeDocument/2006/relationships/image" Target="../media/image43.png"/><Relationship Id="rId65" Type="http://schemas.openxmlformats.org/officeDocument/2006/relationships/image" Target="../media/image48.jpeg"/><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GIF"/><Relationship Id="rId1" Type="http://schemas.openxmlformats.org/officeDocument/2006/relationships/slideLayout" Target="../slideLayouts/slideLayout6.xml"/><Relationship Id="rId5" Type="http://schemas.openxmlformats.org/officeDocument/2006/relationships/image" Target="../media/image53.jpeg"/><Relationship Id="rId4" Type="http://schemas.openxmlformats.org/officeDocument/2006/relationships/image" Target="../media/image52.jpeg"/></Relationships>
</file>

<file path=ppt/slides/_rels/slide8.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55.wmf"/><Relationship Id="rId5" Type="http://schemas.openxmlformats.org/officeDocument/2006/relationships/oleObject" Target="../embeddings/oleObject2.bin"/><Relationship Id="rId4" Type="http://schemas.openxmlformats.org/officeDocument/2006/relationships/image" Target="../media/image54.emf"/></Relationships>
</file>

<file path=ppt/slides/_rels/slide9.xml.rels><?xml version="1.0" encoding="UTF-8" standalone="yes"?>
<Relationships xmlns="http://schemas.openxmlformats.org/package/2006/relationships"><Relationship Id="rId8" Type="http://schemas.openxmlformats.org/officeDocument/2006/relationships/hyperlink" Target="http://baike.baidu.com/view/471090.htm" TargetMode="External"/><Relationship Id="rId3" Type="http://schemas.openxmlformats.org/officeDocument/2006/relationships/image" Target="../media/image57.png"/><Relationship Id="rId7" Type="http://schemas.openxmlformats.org/officeDocument/2006/relationships/hyperlink" Target="http://baike.baidu.com/view/66878.htm" TargetMode="External"/><Relationship Id="rId2" Type="http://schemas.openxmlformats.org/officeDocument/2006/relationships/hyperlink" Target="http://baike.baidu.com/view/11582706.htm" TargetMode="External"/><Relationship Id="rId1" Type="http://schemas.openxmlformats.org/officeDocument/2006/relationships/slideLayout" Target="../slideLayouts/slideLayout6.xml"/><Relationship Id="rId6" Type="http://schemas.openxmlformats.org/officeDocument/2006/relationships/hyperlink" Target="http://baike.baidu.com/view/787311.htm" TargetMode="External"/><Relationship Id="rId5" Type="http://schemas.openxmlformats.org/officeDocument/2006/relationships/hyperlink" Target="http://baike.baidu.com/view/190091.htm" TargetMode="External"/><Relationship Id="rId4" Type="http://schemas.openxmlformats.org/officeDocument/2006/relationships/hyperlink" Target="http://baike.baidu.com/subview/6630388/6752409.htm" TargetMode="External"/><Relationship Id="rId9" Type="http://schemas.openxmlformats.org/officeDocument/2006/relationships/hyperlink" Target="http://baike.baidu.com/view/92066.ht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59.wmf"/><Relationship Id="rId5" Type="http://schemas.openxmlformats.org/officeDocument/2006/relationships/oleObject" Target="../embeddings/oleObject5.bin"/><Relationship Id="rId4" Type="http://schemas.openxmlformats.org/officeDocument/2006/relationships/image" Target="../media/image5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baike.baidu.com/view/29959.htm"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66.wmf"/><Relationship Id="rId5" Type="http://schemas.openxmlformats.org/officeDocument/2006/relationships/oleObject" Target="../embeddings/oleObject8.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66.wmf"/><Relationship Id="rId5" Type="http://schemas.openxmlformats.org/officeDocument/2006/relationships/oleObject" Target="../embeddings/oleObject12.bin"/><Relationship Id="rId10" Type="http://schemas.openxmlformats.org/officeDocument/2006/relationships/image" Target="../media/image69.wmf"/><Relationship Id="rId4" Type="http://schemas.openxmlformats.org/officeDocument/2006/relationships/image" Target="../media/image65.wmf"/><Relationship Id="rId9" Type="http://schemas.openxmlformats.org/officeDocument/2006/relationships/oleObject" Target="../embeddings/oleObject14.bin"/></Relationships>
</file>

<file path=ppt/slides/_rels/slide32.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20.bin"/><Relationship Id="rId18" Type="http://schemas.openxmlformats.org/officeDocument/2006/relationships/image" Target="../media/image77.wmf"/><Relationship Id="rId3" Type="http://schemas.openxmlformats.org/officeDocument/2006/relationships/oleObject" Target="../embeddings/oleObject15.bin"/><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74.wmf"/><Relationship Id="rId17" Type="http://schemas.openxmlformats.org/officeDocument/2006/relationships/oleObject" Target="../embeddings/oleObject22.bin"/><Relationship Id="rId2" Type="http://schemas.openxmlformats.org/officeDocument/2006/relationships/slideLayout" Target="../slideLayouts/slideLayout12.xml"/><Relationship Id="rId16" Type="http://schemas.openxmlformats.org/officeDocument/2006/relationships/image" Target="../media/image76.wmf"/><Relationship Id="rId20" Type="http://schemas.openxmlformats.org/officeDocument/2006/relationships/image" Target="../media/image78.wmf"/><Relationship Id="rId1" Type="http://schemas.openxmlformats.org/officeDocument/2006/relationships/vmlDrawing" Target="../drawings/vmlDrawing5.vml"/><Relationship Id="rId6" Type="http://schemas.openxmlformats.org/officeDocument/2006/relationships/image" Target="../media/image71.wmf"/><Relationship Id="rId11" Type="http://schemas.openxmlformats.org/officeDocument/2006/relationships/oleObject" Target="../embeddings/oleObject19.bin"/><Relationship Id="rId24" Type="http://schemas.openxmlformats.org/officeDocument/2006/relationships/image" Target="../media/image80.wmf"/><Relationship Id="rId5" Type="http://schemas.openxmlformats.org/officeDocument/2006/relationships/oleObject" Target="../embeddings/oleObject16.bin"/><Relationship Id="rId15" Type="http://schemas.openxmlformats.org/officeDocument/2006/relationships/oleObject" Target="../embeddings/oleObject21.bin"/><Relationship Id="rId23" Type="http://schemas.openxmlformats.org/officeDocument/2006/relationships/oleObject" Target="../embeddings/oleObject25.bin"/><Relationship Id="rId10" Type="http://schemas.openxmlformats.org/officeDocument/2006/relationships/image" Target="../media/image73.wmf"/><Relationship Id="rId19" Type="http://schemas.openxmlformats.org/officeDocument/2006/relationships/oleObject" Target="../embeddings/oleObject23.bin"/><Relationship Id="rId4" Type="http://schemas.openxmlformats.org/officeDocument/2006/relationships/image" Target="../media/image70.wmf"/><Relationship Id="rId9" Type="http://schemas.openxmlformats.org/officeDocument/2006/relationships/oleObject" Target="../embeddings/oleObject18.bin"/><Relationship Id="rId14" Type="http://schemas.openxmlformats.org/officeDocument/2006/relationships/image" Target="../media/image75.wmf"/><Relationship Id="rId22" Type="http://schemas.openxmlformats.org/officeDocument/2006/relationships/image" Target="../media/image79.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85.wmf"/><Relationship Id="rId2" Type="http://schemas.openxmlformats.org/officeDocument/2006/relationships/slideLayout" Target="../slideLayouts/slideLayout13.xml"/><Relationship Id="rId16" Type="http://schemas.openxmlformats.org/officeDocument/2006/relationships/image" Target="../media/image87.wmf"/><Relationship Id="rId1" Type="http://schemas.openxmlformats.org/officeDocument/2006/relationships/vmlDrawing" Target="../drawings/vmlDrawing6.vml"/><Relationship Id="rId6" Type="http://schemas.openxmlformats.org/officeDocument/2006/relationships/image" Target="../media/image82.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29.bin"/><Relationship Id="rId14" Type="http://schemas.openxmlformats.org/officeDocument/2006/relationships/image" Target="../media/image8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89.wmf"/><Relationship Id="rId18" Type="http://schemas.openxmlformats.org/officeDocument/2006/relationships/image" Target="../media/image91.wmf"/><Relationship Id="rId3" Type="http://schemas.openxmlformats.org/officeDocument/2006/relationships/oleObject" Target="../embeddings/oleObject33.bin"/><Relationship Id="rId21" Type="http://schemas.openxmlformats.org/officeDocument/2006/relationships/oleObject" Target="../embeddings/oleObject43.bin"/><Relationship Id="rId7" Type="http://schemas.openxmlformats.org/officeDocument/2006/relationships/image" Target="../media/image88.wmf"/><Relationship Id="rId12" Type="http://schemas.openxmlformats.org/officeDocument/2006/relationships/oleObject" Target="../embeddings/oleObject38.bin"/><Relationship Id="rId17" Type="http://schemas.openxmlformats.org/officeDocument/2006/relationships/oleObject" Target="../embeddings/oleObject41.bin"/><Relationship Id="rId2" Type="http://schemas.openxmlformats.org/officeDocument/2006/relationships/slideLayout" Target="../slideLayouts/slideLayout12.xml"/><Relationship Id="rId16" Type="http://schemas.openxmlformats.org/officeDocument/2006/relationships/oleObject" Target="../embeddings/oleObject40.bin"/><Relationship Id="rId20" Type="http://schemas.openxmlformats.org/officeDocument/2006/relationships/image" Target="../media/image92.wmf"/><Relationship Id="rId1" Type="http://schemas.openxmlformats.org/officeDocument/2006/relationships/vmlDrawing" Target="../drawings/vmlDrawing7.vml"/><Relationship Id="rId6" Type="http://schemas.openxmlformats.org/officeDocument/2006/relationships/oleObject" Target="../embeddings/oleObject35.bin"/><Relationship Id="rId11" Type="http://schemas.openxmlformats.org/officeDocument/2006/relationships/image" Target="../media/image87.wmf"/><Relationship Id="rId5" Type="http://schemas.openxmlformats.org/officeDocument/2006/relationships/oleObject" Target="../embeddings/oleObject34.bin"/><Relationship Id="rId15" Type="http://schemas.openxmlformats.org/officeDocument/2006/relationships/image" Target="../media/image90.wmf"/><Relationship Id="rId10" Type="http://schemas.openxmlformats.org/officeDocument/2006/relationships/oleObject" Target="../embeddings/oleObject37.bin"/><Relationship Id="rId19" Type="http://schemas.openxmlformats.org/officeDocument/2006/relationships/oleObject" Target="../embeddings/oleObject42.bin"/><Relationship Id="rId4" Type="http://schemas.openxmlformats.org/officeDocument/2006/relationships/image" Target="../media/image70.wmf"/><Relationship Id="rId9" Type="http://schemas.openxmlformats.org/officeDocument/2006/relationships/image" Target="../media/image86.wmf"/><Relationship Id="rId14" Type="http://schemas.openxmlformats.org/officeDocument/2006/relationships/oleObject" Target="../embeddings/oleObject39.bin"/><Relationship Id="rId22" Type="http://schemas.openxmlformats.org/officeDocument/2006/relationships/image" Target="../media/image93.wmf"/></Relationships>
</file>

<file path=ppt/slides/_rels/slide36.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49.bin"/><Relationship Id="rId18" Type="http://schemas.openxmlformats.org/officeDocument/2006/relationships/image" Target="../media/image77.wmf"/><Relationship Id="rId3" Type="http://schemas.openxmlformats.org/officeDocument/2006/relationships/oleObject" Target="../embeddings/oleObject44.bin"/><Relationship Id="rId21" Type="http://schemas.openxmlformats.org/officeDocument/2006/relationships/oleObject" Target="../embeddings/oleObject53.bin"/><Relationship Id="rId7" Type="http://schemas.openxmlformats.org/officeDocument/2006/relationships/oleObject" Target="../embeddings/oleObject46.bin"/><Relationship Id="rId12" Type="http://schemas.openxmlformats.org/officeDocument/2006/relationships/image" Target="../media/image74.wmf"/><Relationship Id="rId17" Type="http://schemas.openxmlformats.org/officeDocument/2006/relationships/oleObject" Target="../embeddings/oleObject51.bin"/><Relationship Id="rId2" Type="http://schemas.openxmlformats.org/officeDocument/2006/relationships/slideLayout" Target="../slideLayouts/slideLayout12.xml"/><Relationship Id="rId16" Type="http://schemas.openxmlformats.org/officeDocument/2006/relationships/image" Target="../media/image76.wmf"/><Relationship Id="rId20" Type="http://schemas.openxmlformats.org/officeDocument/2006/relationships/image" Target="../media/image97.wmf"/><Relationship Id="rId1" Type="http://schemas.openxmlformats.org/officeDocument/2006/relationships/vmlDrawing" Target="../drawings/vmlDrawing8.vml"/><Relationship Id="rId6" Type="http://schemas.openxmlformats.org/officeDocument/2006/relationships/image" Target="../media/image71.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96.wmf"/><Relationship Id="rId19" Type="http://schemas.openxmlformats.org/officeDocument/2006/relationships/oleObject" Target="../embeddings/oleObject52.bin"/><Relationship Id="rId4" Type="http://schemas.openxmlformats.org/officeDocument/2006/relationships/image" Target="../media/image94.wmf"/><Relationship Id="rId9" Type="http://schemas.openxmlformats.org/officeDocument/2006/relationships/oleObject" Target="../embeddings/oleObject47.bin"/><Relationship Id="rId14" Type="http://schemas.openxmlformats.org/officeDocument/2006/relationships/image" Target="../media/image75.wmf"/><Relationship Id="rId22" Type="http://schemas.openxmlformats.org/officeDocument/2006/relationships/image" Target="../media/image98.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100.wmf"/><Relationship Id="rId5" Type="http://schemas.openxmlformats.org/officeDocument/2006/relationships/oleObject" Target="../embeddings/oleObject55.bin"/><Relationship Id="rId4" Type="http://schemas.openxmlformats.org/officeDocument/2006/relationships/image" Target="../media/image99.wmf"/></Relationships>
</file>

<file path=ppt/slides/_rels/slide40.xml.rels><?xml version="1.0" encoding="UTF-8" standalone="yes"?>
<Relationships xmlns="http://schemas.openxmlformats.org/package/2006/relationships"><Relationship Id="rId8" Type="http://schemas.openxmlformats.org/officeDocument/2006/relationships/image" Target="../media/image104.emf"/><Relationship Id="rId13" Type="http://schemas.openxmlformats.org/officeDocument/2006/relationships/oleObject" Target="../embeddings/oleObject62.bin"/><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105.wmf"/><Relationship Id="rId2" Type="http://schemas.openxmlformats.org/officeDocument/2006/relationships/slideLayout" Target="../slideLayouts/slideLayout12.xml"/><Relationship Id="rId16" Type="http://schemas.openxmlformats.org/officeDocument/2006/relationships/image" Target="../media/image107.wmf"/><Relationship Id="rId1" Type="http://schemas.openxmlformats.org/officeDocument/2006/relationships/vmlDrawing" Target="../drawings/vmlDrawing10.vml"/><Relationship Id="rId6" Type="http://schemas.openxmlformats.org/officeDocument/2006/relationships/image" Target="../media/image103.wmf"/><Relationship Id="rId11" Type="http://schemas.openxmlformats.org/officeDocument/2006/relationships/oleObject" Target="../embeddings/oleObject61.bin"/><Relationship Id="rId5" Type="http://schemas.openxmlformats.org/officeDocument/2006/relationships/oleObject" Target="../embeddings/oleObject58.bin"/><Relationship Id="rId15" Type="http://schemas.openxmlformats.org/officeDocument/2006/relationships/oleObject" Target="../embeddings/oleObject63.bin"/><Relationship Id="rId10" Type="http://schemas.openxmlformats.org/officeDocument/2006/relationships/image" Target="../media/image101.wmf"/><Relationship Id="rId4" Type="http://schemas.openxmlformats.org/officeDocument/2006/relationships/image" Target="../media/image102.wmf"/><Relationship Id="rId9" Type="http://schemas.openxmlformats.org/officeDocument/2006/relationships/oleObject" Target="../embeddings/oleObject60.bin"/><Relationship Id="rId14" Type="http://schemas.openxmlformats.org/officeDocument/2006/relationships/image" Target="../media/image106.wmf"/></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109.wmf"/><Relationship Id="rId5" Type="http://schemas.openxmlformats.org/officeDocument/2006/relationships/oleObject" Target="../embeddings/oleObject65.bin"/><Relationship Id="rId4" Type="http://schemas.openxmlformats.org/officeDocument/2006/relationships/image" Target="../media/image108.wmf"/></Relationships>
</file>

<file path=ppt/slides/_rels/slide43.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72.bin"/><Relationship Id="rId18" Type="http://schemas.openxmlformats.org/officeDocument/2006/relationships/image" Target="../media/image118.wmf"/><Relationship Id="rId3" Type="http://schemas.openxmlformats.org/officeDocument/2006/relationships/oleObject" Target="../embeddings/oleObject67.bin"/><Relationship Id="rId21" Type="http://schemas.openxmlformats.org/officeDocument/2006/relationships/oleObject" Target="../embeddings/oleObject76.bin"/><Relationship Id="rId7" Type="http://schemas.openxmlformats.org/officeDocument/2006/relationships/oleObject" Target="../embeddings/oleObject69.bin"/><Relationship Id="rId12" Type="http://schemas.openxmlformats.org/officeDocument/2006/relationships/image" Target="../media/image115.wmf"/><Relationship Id="rId17" Type="http://schemas.openxmlformats.org/officeDocument/2006/relationships/oleObject" Target="../embeddings/oleObject74.bin"/><Relationship Id="rId2" Type="http://schemas.openxmlformats.org/officeDocument/2006/relationships/slideLayout" Target="../slideLayouts/slideLayout6.xml"/><Relationship Id="rId16" Type="http://schemas.openxmlformats.org/officeDocument/2006/relationships/image" Target="../media/image117.wmf"/><Relationship Id="rId20" Type="http://schemas.openxmlformats.org/officeDocument/2006/relationships/image" Target="../media/image119.wmf"/><Relationship Id="rId1" Type="http://schemas.openxmlformats.org/officeDocument/2006/relationships/vmlDrawing" Target="../drawings/vmlDrawing12.vml"/><Relationship Id="rId6" Type="http://schemas.openxmlformats.org/officeDocument/2006/relationships/image" Target="../media/image112.wmf"/><Relationship Id="rId11" Type="http://schemas.openxmlformats.org/officeDocument/2006/relationships/oleObject" Target="../embeddings/oleObject71.bin"/><Relationship Id="rId24" Type="http://schemas.openxmlformats.org/officeDocument/2006/relationships/image" Target="../media/image121.wmf"/><Relationship Id="rId5" Type="http://schemas.openxmlformats.org/officeDocument/2006/relationships/oleObject" Target="../embeddings/oleObject68.bin"/><Relationship Id="rId15" Type="http://schemas.openxmlformats.org/officeDocument/2006/relationships/oleObject" Target="../embeddings/oleObject73.bin"/><Relationship Id="rId23" Type="http://schemas.openxmlformats.org/officeDocument/2006/relationships/oleObject" Target="../embeddings/oleObject77.bin"/><Relationship Id="rId10" Type="http://schemas.openxmlformats.org/officeDocument/2006/relationships/image" Target="../media/image114.wmf"/><Relationship Id="rId19" Type="http://schemas.openxmlformats.org/officeDocument/2006/relationships/oleObject" Target="../embeddings/oleObject75.bin"/><Relationship Id="rId4" Type="http://schemas.openxmlformats.org/officeDocument/2006/relationships/image" Target="../media/image111.wmf"/><Relationship Id="rId9" Type="http://schemas.openxmlformats.org/officeDocument/2006/relationships/oleObject" Target="../embeddings/oleObject70.bin"/><Relationship Id="rId14" Type="http://schemas.openxmlformats.org/officeDocument/2006/relationships/image" Target="../media/image116.wmf"/><Relationship Id="rId22" Type="http://schemas.openxmlformats.org/officeDocument/2006/relationships/image" Target="../media/image120.wmf"/></Relationships>
</file>

<file path=ppt/slides/_rels/slide44.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123.wmf"/><Relationship Id="rId5" Type="http://schemas.openxmlformats.org/officeDocument/2006/relationships/oleObject" Target="../embeddings/oleObject79.bin"/><Relationship Id="rId4" Type="http://schemas.openxmlformats.org/officeDocument/2006/relationships/image" Target="../media/image122.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126.wmf"/><Relationship Id="rId5" Type="http://schemas.openxmlformats.org/officeDocument/2006/relationships/oleObject" Target="../embeddings/oleObject82.bin"/><Relationship Id="rId4" Type="http://schemas.openxmlformats.org/officeDocument/2006/relationships/image" Target="../media/image125.wmf"/></Relationships>
</file>

<file path=ppt/slides/_rels/slide46.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image" Target="../media/image131.wmf"/><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128.wmf"/><Relationship Id="rId11" Type="http://schemas.openxmlformats.org/officeDocument/2006/relationships/oleObject" Target="../embeddings/oleObject87.bin"/><Relationship Id="rId5" Type="http://schemas.openxmlformats.org/officeDocument/2006/relationships/oleObject" Target="../embeddings/oleObject84.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86.bin"/></Relationships>
</file>

<file path=ppt/slides/_rels/slide47.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133.wmf"/><Relationship Id="rId5" Type="http://schemas.openxmlformats.org/officeDocument/2006/relationships/oleObject" Target="../embeddings/oleObject89.bin"/><Relationship Id="rId4" Type="http://schemas.openxmlformats.org/officeDocument/2006/relationships/image" Target="../media/image132.wmf"/></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5.w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92.bin"/><Relationship Id="rId5" Type="http://schemas.openxmlformats.org/officeDocument/2006/relationships/image" Target="../media/image134.wmf"/><Relationship Id="rId4" Type="http://schemas.openxmlformats.org/officeDocument/2006/relationships/oleObject" Target="../embeddings/oleObject91.bin"/></Relationships>
</file>

<file path=ppt/slides/_rels/slide50.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8.wmf"/><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94.bin"/><Relationship Id="rId5" Type="http://schemas.openxmlformats.org/officeDocument/2006/relationships/image" Target="../media/image137.wmf"/><Relationship Id="rId4" Type="http://schemas.openxmlformats.org/officeDocument/2006/relationships/oleObject" Target="../embeddings/oleObject93.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image" Target="../media/image143.wmf"/><Relationship Id="rId18" Type="http://schemas.openxmlformats.org/officeDocument/2006/relationships/oleObject" Target="../embeddings/oleObject102.bin"/><Relationship Id="rId26" Type="http://schemas.openxmlformats.org/officeDocument/2006/relationships/oleObject" Target="../embeddings/oleObject106.bin"/><Relationship Id="rId3" Type="http://schemas.openxmlformats.org/officeDocument/2006/relationships/image" Target="../media/image151.png"/><Relationship Id="rId21" Type="http://schemas.openxmlformats.org/officeDocument/2006/relationships/image" Target="../media/image147.wmf"/><Relationship Id="rId7" Type="http://schemas.openxmlformats.org/officeDocument/2006/relationships/image" Target="../media/image140.wmf"/><Relationship Id="rId12" Type="http://schemas.openxmlformats.org/officeDocument/2006/relationships/oleObject" Target="../embeddings/oleObject99.bin"/><Relationship Id="rId17" Type="http://schemas.openxmlformats.org/officeDocument/2006/relationships/image" Target="../media/image145.wmf"/><Relationship Id="rId25" Type="http://schemas.openxmlformats.org/officeDocument/2006/relationships/image" Target="../media/image149.emf"/><Relationship Id="rId2" Type="http://schemas.openxmlformats.org/officeDocument/2006/relationships/slideLayout" Target="../slideLayouts/slideLayout6.xml"/><Relationship Id="rId16" Type="http://schemas.openxmlformats.org/officeDocument/2006/relationships/oleObject" Target="../embeddings/oleObject101.bin"/><Relationship Id="rId20" Type="http://schemas.openxmlformats.org/officeDocument/2006/relationships/oleObject" Target="../embeddings/oleObject103.bin"/><Relationship Id="rId1" Type="http://schemas.openxmlformats.org/officeDocument/2006/relationships/vmlDrawing" Target="../drawings/vmlDrawing19.vml"/><Relationship Id="rId6" Type="http://schemas.openxmlformats.org/officeDocument/2006/relationships/oleObject" Target="../embeddings/oleObject96.bin"/><Relationship Id="rId11" Type="http://schemas.openxmlformats.org/officeDocument/2006/relationships/image" Target="../media/image142.wmf"/><Relationship Id="rId24" Type="http://schemas.openxmlformats.org/officeDocument/2006/relationships/oleObject" Target="../embeddings/oleObject105.bin"/><Relationship Id="rId5" Type="http://schemas.openxmlformats.org/officeDocument/2006/relationships/image" Target="../media/image139.wmf"/><Relationship Id="rId15" Type="http://schemas.openxmlformats.org/officeDocument/2006/relationships/image" Target="../media/image144.wmf"/><Relationship Id="rId23" Type="http://schemas.openxmlformats.org/officeDocument/2006/relationships/image" Target="../media/image148.emf"/><Relationship Id="rId10" Type="http://schemas.openxmlformats.org/officeDocument/2006/relationships/oleObject" Target="../embeddings/oleObject98.bin"/><Relationship Id="rId19" Type="http://schemas.openxmlformats.org/officeDocument/2006/relationships/image" Target="../media/image146.wmf"/><Relationship Id="rId4" Type="http://schemas.openxmlformats.org/officeDocument/2006/relationships/oleObject" Target="../embeddings/oleObject95.bin"/><Relationship Id="rId9" Type="http://schemas.openxmlformats.org/officeDocument/2006/relationships/image" Target="../media/image141.wmf"/><Relationship Id="rId14" Type="http://schemas.openxmlformats.org/officeDocument/2006/relationships/oleObject" Target="../embeddings/oleObject100.bin"/><Relationship Id="rId22" Type="http://schemas.openxmlformats.org/officeDocument/2006/relationships/oleObject" Target="../embeddings/oleObject104.bin"/><Relationship Id="rId27" Type="http://schemas.openxmlformats.org/officeDocument/2006/relationships/image" Target="../media/image150.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52.png"/><Relationship Id="rId1" Type="http://schemas.openxmlformats.org/officeDocument/2006/relationships/slideLayout" Target="../slideLayouts/slideLayout6.xml"/><Relationship Id="rId4" Type="http://schemas.openxmlformats.org/officeDocument/2006/relationships/image" Target="../media/image153.png"/></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58.emf"/><Relationship Id="rId18" Type="http://schemas.openxmlformats.org/officeDocument/2006/relationships/oleObject" Target="../embeddings/oleObject114.bin"/><Relationship Id="rId3" Type="http://schemas.openxmlformats.org/officeDocument/2006/relationships/image" Target="../media/image152.png"/><Relationship Id="rId7" Type="http://schemas.openxmlformats.org/officeDocument/2006/relationships/image" Target="../media/image155.wmf"/><Relationship Id="rId12" Type="http://schemas.openxmlformats.org/officeDocument/2006/relationships/oleObject" Target="../embeddings/oleObject111.bin"/><Relationship Id="rId17" Type="http://schemas.openxmlformats.org/officeDocument/2006/relationships/image" Target="../media/image160.wmf"/><Relationship Id="rId2" Type="http://schemas.openxmlformats.org/officeDocument/2006/relationships/slideLayout" Target="../slideLayouts/slideLayout6.xml"/><Relationship Id="rId16" Type="http://schemas.openxmlformats.org/officeDocument/2006/relationships/oleObject" Target="../embeddings/oleObject113.bin"/><Relationship Id="rId20" Type="http://schemas.openxmlformats.org/officeDocument/2006/relationships/image" Target="../media/image161.wmf"/><Relationship Id="rId1" Type="http://schemas.openxmlformats.org/officeDocument/2006/relationships/vmlDrawing" Target="../drawings/vmlDrawing20.vml"/><Relationship Id="rId6" Type="http://schemas.openxmlformats.org/officeDocument/2006/relationships/oleObject" Target="../embeddings/oleObject108.bin"/><Relationship Id="rId11" Type="http://schemas.openxmlformats.org/officeDocument/2006/relationships/image" Target="../media/image157.wmf"/><Relationship Id="rId5" Type="http://schemas.openxmlformats.org/officeDocument/2006/relationships/image" Target="../media/image154.wmf"/><Relationship Id="rId15" Type="http://schemas.openxmlformats.org/officeDocument/2006/relationships/image" Target="../media/image159.wmf"/><Relationship Id="rId10" Type="http://schemas.openxmlformats.org/officeDocument/2006/relationships/oleObject" Target="../embeddings/oleObject110.bin"/><Relationship Id="rId19" Type="http://schemas.openxmlformats.org/officeDocument/2006/relationships/oleObject" Target="../embeddings/oleObject115.bin"/><Relationship Id="rId4" Type="http://schemas.openxmlformats.org/officeDocument/2006/relationships/oleObject" Target="../embeddings/oleObject107.bin"/><Relationship Id="rId9" Type="http://schemas.openxmlformats.org/officeDocument/2006/relationships/image" Target="../media/image156.wmf"/><Relationship Id="rId14" Type="http://schemas.openxmlformats.org/officeDocument/2006/relationships/oleObject" Target="../embeddings/oleObject112.bin"/></Relationships>
</file>

<file path=ppt/slides/_rels/slide55.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63.wmf"/><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oleObject" Target="../embeddings/oleObject117.bin"/><Relationship Id="rId5" Type="http://schemas.openxmlformats.org/officeDocument/2006/relationships/image" Target="../media/image162.wmf"/><Relationship Id="rId4" Type="http://schemas.openxmlformats.org/officeDocument/2006/relationships/oleObject" Target="../embeddings/oleObject116.bin"/></Relationships>
</file>

<file path=ppt/slides/_rels/slide5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slideLayout" Target="../slideLayouts/slideLayout6.xml"/><Relationship Id="rId1" Type="http://schemas.openxmlformats.org/officeDocument/2006/relationships/vmlDrawing" Target="../drawings/vmlDrawing22.vml"/><Relationship Id="rId5" Type="http://schemas.openxmlformats.org/officeDocument/2006/relationships/image" Target="../media/image164.wmf"/><Relationship Id="rId4" Type="http://schemas.openxmlformats.org/officeDocument/2006/relationships/oleObject" Target="../embeddings/oleObject118.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8" Type="http://schemas.openxmlformats.org/officeDocument/2006/relationships/image" Target="../media/image167.wmf"/><Relationship Id="rId13" Type="http://schemas.openxmlformats.org/officeDocument/2006/relationships/oleObject" Target="../embeddings/oleObject124.bin"/><Relationship Id="rId18" Type="http://schemas.openxmlformats.org/officeDocument/2006/relationships/image" Target="../media/image172.wmf"/><Relationship Id="rId3" Type="http://schemas.openxmlformats.org/officeDocument/2006/relationships/oleObject" Target="../embeddings/oleObject119.bin"/><Relationship Id="rId7" Type="http://schemas.openxmlformats.org/officeDocument/2006/relationships/oleObject" Target="../embeddings/oleObject121.bin"/><Relationship Id="rId12" Type="http://schemas.openxmlformats.org/officeDocument/2006/relationships/image" Target="../media/image169.wmf"/><Relationship Id="rId17" Type="http://schemas.openxmlformats.org/officeDocument/2006/relationships/oleObject" Target="../embeddings/oleObject126.bin"/><Relationship Id="rId2" Type="http://schemas.openxmlformats.org/officeDocument/2006/relationships/slideLayout" Target="../slideLayouts/slideLayout6.xml"/><Relationship Id="rId16" Type="http://schemas.openxmlformats.org/officeDocument/2006/relationships/image" Target="../media/image171.wmf"/><Relationship Id="rId1" Type="http://schemas.openxmlformats.org/officeDocument/2006/relationships/vmlDrawing" Target="../drawings/vmlDrawing23.vml"/><Relationship Id="rId6" Type="http://schemas.openxmlformats.org/officeDocument/2006/relationships/image" Target="../media/image166.wmf"/><Relationship Id="rId11" Type="http://schemas.openxmlformats.org/officeDocument/2006/relationships/oleObject" Target="../embeddings/oleObject123.bin"/><Relationship Id="rId5" Type="http://schemas.openxmlformats.org/officeDocument/2006/relationships/oleObject" Target="../embeddings/oleObject120.bin"/><Relationship Id="rId15" Type="http://schemas.openxmlformats.org/officeDocument/2006/relationships/oleObject" Target="../embeddings/oleObject125.bin"/><Relationship Id="rId10" Type="http://schemas.openxmlformats.org/officeDocument/2006/relationships/image" Target="../media/image168.wmf"/><Relationship Id="rId4" Type="http://schemas.openxmlformats.org/officeDocument/2006/relationships/image" Target="../media/image165.wmf"/><Relationship Id="rId9" Type="http://schemas.openxmlformats.org/officeDocument/2006/relationships/oleObject" Target="../embeddings/oleObject122.bin"/><Relationship Id="rId14" Type="http://schemas.openxmlformats.org/officeDocument/2006/relationships/image" Target="../media/image170.wmf"/></Relationships>
</file>

<file path=ppt/slides/_rels/slide61.xml.rels><?xml version="1.0" encoding="UTF-8" standalone="yes"?>
<Relationships xmlns="http://schemas.openxmlformats.org/package/2006/relationships"><Relationship Id="rId13" Type="http://schemas.openxmlformats.org/officeDocument/2006/relationships/oleObject" Target="../embeddings/oleObject132.bin"/><Relationship Id="rId18" Type="http://schemas.openxmlformats.org/officeDocument/2006/relationships/image" Target="../media/image180.wmf"/><Relationship Id="rId26" Type="http://schemas.openxmlformats.org/officeDocument/2006/relationships/image" Target="../media/image184.wmf"/><Relationship Id="rId39" Type="http://schemas.openxmlformats.org/officeDocument/2006/relationships/image" Target="../media/image190.wmf"/><Relationship Id="rId21" Type="http://schemas.openxmlformats.org/officeDocument/2006/relationships/oleObject" Target="../embeddings/oleObject136.bin"/><Relationship Id="rId34" Type="http://schemas.openxmlformats.org/officeDocument/2006/relationships/image" Target="../media/image188.wmf"/><Relationship Id="rId7" Type="http://schemas.openxmlformats.org/officeDocument/2006/relationships/oleObject" Target="../embeddings/oleObject129.bin"/><Relationship Id="rId12" Type="http://schemas.openxmlformats.org/officeDocument/2006/relationships/image" Target="../media/image177.wmf"/><Relationship Id="rId17" Type="http://schemas.openxmlformats.org/officeDocument/2006/relationships/oleObject" Target="../embeddings/oleObject134.bin"/><Relationship Id="rId25" Type="http://schemas.openxmlformats.org/officeDocument/2006/relationships/oleObject" Target="../embeddings/oleObject138.bin"/><Relationship Id="rId33" Type="http://schemas.openxmlformats.org/officeDocument/2006/relationships/oleObject" Target="../embeddings/oleObject142.bin"/><Relationship Id="rId38" Type="http://schemas.openxmlformats.org/officeDocument/2006/relationships/oleObject" Target="../embeddings/oleObject145.bin"/><Relationship Id="rId2" Type="http://schemas.openxmlformats.org/officeDocument/2006/relationships/slideLayout" Target="../slideLayouts/slideLayout6.xml"/><Relationship Id="rId16" Type="http://schemas.openxmlformats.org/officeDocument/2006/relationships/image" Target="../media/image179.wmf"/><Relationship Id="rId20" Type="http://schemas.openxmlformats.org/officeDocument/2006/relationships/image" Target="../media/image181.wmf"/><Relationship Id="rId29" Type="http://schemas.openxmlformats.org/officeDocument/2006/relationships/oleObject" Target="../embeddings/oleObject140.bin"/><Relationship Id="rId1" Type="http://schemas.openxmlformats.org/officeDocument/2006/relationships/vmlDrawing" Target="../drawings/vmlDrawing24.vml"/><Relationship Id="rId6" Type="http://schemas.openxmlformats.org/officeDocument/2006/relationships/image" Target="../media/image174.wmf"/><Relationship Id="rId11" Type="http://schemas.openxmlformats.org/officeDocument/2006/relationships/oleObject" Target="../embeddings/oleObject131.bin"/><Relationship Id="rId24" Type="http://schemas.openxmlformats.org/officeDocument/2006/relationships/image" Target="../media/image183.wmf"/><Relationship Id="rId32" Type="http://schemas.openxmlformats.org/officeDocument/2006/relationships/image" Target="../media/image187.wmf"/><Relationship Id="rId37" Type="http://schemas.openxmlformats.org/officeDocument/2006/relationships/oleObject" Target="../embeddings/oleObject144.bin"/><Relationship Id="rId5" Type="http://schemas.openxmlformats.org/officeDocument/2006/relationships/oleObject" Target="../embeddings/oleObject128.bin"/><Relationship Id="rId15" Type="http://schemas.openxmlformats.org/officeDocument/2006/relationships/oleObject" Target="../embeddings/oleObject133.bin"/><Relationship Id="rId23" Type="http://schemas.openxmlformats.org/officeDocument/2006/relationships/oleObject" Target="../embeddings/oleObject137.bin"/><Relationship Id="rId28" Type="http://schemas.openxmlformats.org/officeDocument/2006/relationships/image" Target="../media/image185.wmf"/><Relationship Id="rId36" Type="http://schemas.openxmlformats.org/officeDocument/2006/relationships/image" Target="../media/image189.wmf"/><Relationship Id="rId10" Type="http://schemas.openxmlformats.org/officeDocument/2006/relationships/image" Target="../media/image176.wmf"/><Relationship Id="rId19" Type="http://schemas.openxmlformats.org/officeDocument/2006/relationships/oleObject" Target="../embeddings/oleObject135.bin"/><Relationship Id="rId31" Type="http://schemas.openxmlformats.org/officeDocument/2006/relationships/oleObject" Target="../embeddings/oleObject141.bin"/><Relationship Id="rId4" Type="http://schemas.openxmlformats.org/officeDocument/2006/relationships/image" Target="../media/image173.wmf"/><Relationship Id="rId9" Type="http://schemas.openxmlformats.org/officeDocument/2006/relationships/oleObject" Target="../embeddings/oleObject130.bin"/><Relationship Id="rId14" Type="http://schemas.openxmlformats.org/officeDocument/2006/relationships/image" Target="../media/image178.wmf"/><Relationship Id="rId22" Type="http://schemas.openxmlformats.org/officeDocument/2006/relationships/image" Target="../media/image182.wmf"/><Relationship Id="rId27" Type="http://schemas.openxmlformats.org/officeDocument/2006/relationships/oleObject" Target="../embeddings/oleObject139.bin"/><Relationship Id="rId30" Type="http://schemas.openxmlformats.org/officeDocument/2006/relationships/image" Target="../media/image186.wmf"/><Relationship Id="rId35" Type="http://schemas.openxmlformats.org/officeDocument/2006/relationships/oleObject" Target="../embeddings/oleObject143.bin"/><Relationship Id="rId8" Type="http://schemas.openxmlformats.org/officeDocument/2006/relationships/image" Target="../media/image175.wmf"/><Relationship Id="rId3" Type="http://schemas.openxmlformats.org/officeDocument/2006/relationships/oleObject" Target="../embeddings/oleObject127.bin"/></Relationships>
</file>

<file path=ppt/slides/_rels/slide62.xml.rels><?xml version="1.0" encoding="UTF-8" standalone="yes"?>
<Relationships xmlns="http://schemas.openxmlformats.org/package/2006/relationships"><Relationship Id="rId13" Type="http://schemas.openxmlformats.org/officeDocument/2006/relationships/oleObject" Target="../embeddings/oleObject151.bin"/><Relationship Id="rId18" Type="http://schemas.openxmlformats.org/officeDocument/2006/relationships/image" Target="../media/image198.wmf"/><Relationship Id="rId26" Type="http://schemas.openxmlformats.org/officeDocument/2006/relationships/oleObject" Target="../embeddings/oleObject158.bin"/><Relationship Id="rId3" Type="http://schemas.openxmlformats.org/officeDocument/2006/relationships/oleObject" Target="../embeddings/oleObject146.bin"/><Relationship Id="rId21" Type="http://schemas.openxmlformats.org/officeDocument/2006/relationships/oleObject" Target="../embeddings/oleObject155.bin"/><Relationship Id="rId34" Type="http://schemas.openxmlformats.org/officeDocument/2006/relationships/oleObject" Target="../embeddings/oleObject162.bin"/><Relationship Id="rId7" Type="http://schemas.openxmlformats.org/officeDocument/2006/relationships/oleObject" Target="../embeddings/oleObject148.bin"/><Relationship Id="rId12" Type="http://schemas.openxmlformats.org/officeDocument/2006/relationships/image" Target="../media/image195.wmf"/><Relationship Id="rId17" Type="http://schemas.openxmlformats.org/officeDocument/2006/relationships/oleObject" Target="../embeddings/oleObject153.bin"/><Relationship Id="rId25" Type="http://schemas.openxmlformats.org/officeDocument/2006/relationships/oleObject" Target="../embeddings/oleObject157.bin"/><Relationship Id="rId33" Type="http://schemas.openxmlformats.org/officeDocument/2006/relationships/image" Target="../media/image205.wmf"/><Relationship Id="rId2" Type="http://schemas.openxmlformats.org/officeDocument/2006/relationships/slideLayout" Target="../slideLayouts/slideLayout14.xml"/><Relationship Id="rId16" Type="http://schemas.openxmlformats.org/officeDocument/2006/relationships/image" Target="../media/image197.emf"/><Relationship Id="rId20" Type="http://schemas.openxmlformats.org/officeDocument/2006/relationships/image" Target="../media/image199.emf"/><Relationship Id="rId29" Type="http://schemas.openxmlformats.org/officeDocument/2006/relationships/image" Target="../media/image203.wmf"/><Relationship Id="rId1" Type="http://schemas.openxmlformats.org/officeDocument/2006/relationships/vmlDrawing" Target="../drawings/vmlDrawing25.vml"/><Relationship Id="rId6" Type="http://schemas.openxmlformats.org/officeDocument/2006/relationships/image" Target="../media/image192.wmf"/><Relationship Id="rId11" Type="http://schemas.openxmlformats.org/officeDocument/2006/relationships/oleObject" Target="../embeddings/oleObject150.bin"/><Relationship Id="rId24" Type="http://schemas.openxmlformats.org/officeDocument/2006/relationships/image" Target="../media/image201.wmf"/><Relationship Id="rId32" Type="http://schemas.openxmlformats.org/officeDocument/2006/relationships/oleObject" Target="../embeddings/oleObject161.bin"/><Relationship Id="rId5" Type="http://schemas.openxmlformats.org/officeDocument/2006/relationships/oleObject" Target="../embeddings/oleObject147.bin"/><Relationship Id="rId15" Type="http://schemas.openxmlformats.org/officeDocument/2006/relationships/oleObject" Target="../embeddings/oleObject152.bin"/><Relationship Id="rId23" Type="http://schemas.openxmlformats.org/officeDocument/2006/relationships/oleObject" Target="../embeddings/oleObject156.bin"/><Relationship Id="rId28" Type="http://schemas.openxmlformats.org/officeDocument/2006/relationships/oleObject" Target="../embeddings/oleObject159.bin"/><Relationship Id="rId10" Type="http://schemas.openxmlformats.org/officeDocument/2006/relationships/image" Target="../media/image194.wmf"/><Relationship Id="rId19" Type="http://schemas.openxmlformats.org/officeDocument/2006/relationships/oleObject" Target="../embeddings/oleObject154.bin"/><Relationship Id="rId31" Type="http://schemas.openxmlformats.org/officeDocument/2006/relationships/image" Target="../media/image204.wmf"/><Relationship Id="rId4" Type="http://schemas.openxmlformats.org/officeDocument/2006/relationships/image" Target="../media/image191.wmf"/><Relationship Id="rId9" Type="http://schemas.openxmlformats.org/officeDocument/2006/relationships/oleObject" Target="../embeddings/oleObject149.bin"/><Relationship Id="rId14" Type="http://schemas.openxmlformats.org/officeDocument/2006/relationships/image" Target="../media/image196.wmf"/><Relationship Id="rId22" Type="http://schemas.openxmlformats.org/officeDocument/2006/relationships/image" Target="../media/image200.wmf"/><Relationship Id="rId27" Type="http://schemas.openxmlformats.org/officeDocument/2006/relationships/image" Target="../media/image202.wmf"/><Relationship Id="rId30" Type="http://schemas.openxmlformats.org/officeDocument/2006/relationships/oleObject" Target="../embeddings/oleObject160.bin"/><Relationship Id="rId35" Type="http://schemas.openxmlformats.org/officeDocument/2006/relationships/image" Target="../media/image206.wmf"/><Relationship Id="rId8" Type="http://schemas.openxmlformats.org/officeDocument/2006/relationships/image" Target="../media/image193.wmf"/></Relationships>
</file>

<file path=ppt/slides/_rels/slide63.xml.rels><?xml version="1.0" encoding="UTF-8" standalone="yes"?>
<Relationships xmlns="http://schemas.openxmlformats.org/package/2006/relationships"><Relationship Id="rId8" Type="http://schemas.openxmlformats.org/officeDocument/2006/relationships/image" Target="../media/image192.wmf"/><Relationship Id="rId13" Type="http://schemas.openxmlformats.org/officeDocument/2006/relationships/oleObject" Target="../embeddings/oleObject168.bin"/><Relationship Id="rId18" Type="http://schemas.openxmlformats.org/officeDocument/2006/relationships/image" Target="../media/image197.emf"/><Relationship Id="rId3" Type="http://schemas.openxmlformats.org/officeDocument/2006/relationships/oleObject" Target="../embeddings/oleObject163.bin"/><Relationship Id="rId7" Type="http://schemas.openxmlformats.org/officeDocument/2006/relationships/oleObject" Target="../embeddings/oleObject165.bin"/><Relationship Id="rId12" Type="http://schemas.openxmlformats.org/officeDocument/2006/relationships/image" Target="../media/image194.wmf"/><Relationship Id="rId17" Type="http://schemas.openxmlformats.org/officeDocument/2006/relationships/oleObject" Target="../embeddings/oleObject170.bin"/><Relationship Id="rId2" Type="http://schemas.openxmlformats.org/officeDocument/2006/relationships/slideLayout" Target="../slideLayouts/slideLayout6.xml"/><Relationship Id="rId16" Type="http://schemas.openxmlformats.org/officeDocument/2006/relationships/image" Target="../media/image196.wmf"/><Relationship Id="rId20" Type="http://schemas.openxmlformats.org/officeDocument/2006/relationships/image" Target="../media/image198.wmf"/><Relationship Id="rId1" Type="http://schemas.openxmlformats.org/officeDocument/2006/relationships/vmlDrawing" Target="../drawings/vmlDrawing26.vml"/><Relationship Id="rId6" Type="http://schemas.openxmlformats.org/officeDocument/2006/relationships/image" Target="../media/image191.wmf"/><Relationship Id="rId11" Type="http://schemas.openxmlformats.org/officeDocument/2006/relationships/oleObject" Target="../embeddings/oleObject167.bin"/><Relationship Id="rId5" Type="http://schemas.openxmlformats.org/officeDocument/2006/relationships/oleObject" Target="../embeddings/oleObject164.bin"/><Relationship Id="rId15" Type="http://schemas.openxmlformats.org/officeDocument/2006/relationships/oleObject" Target="../embeddings/oleObject169.bin"/><Relationship Id="rId10" Type="http://schemas.openxmlformats.org/officeDocument/2006/relationships/image" Target="../media/image193.wmf"/><Relationship Id="rId19" Type="http://schemas.openxmlformats.org/officeDocument/2006/relationships/oleObject" Target="../embeddings/oleObject171.bin"/><Relationship Id="rId4" Type="http://schemas.openxmlformats.org/officeDocument/2006/relationships/image" Target="../media/image207.wmf"/><Relationship Id="rId9" Type="http://schemas.openxmlformats.org/officeDocument/2006/relationships/oleObject" Target="../embeddings/oleObject166.bin"/><Relationship Id="rId14" Type="http://schemas.openxmlformats.org/officeDocument/2006/relationships/image" Target="../media/image195.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74.bin"/><Relationship Id="rId13" Type="http://schemas.openxmlformats.org/officeDocument/2006/relationships/image" Target="../media/image212.wmf"/><Relationship Id="rId3" Type="http://schemas.openxmlformats.org/officeDocument/2006/relationships/oleObject" Target="../embeddings/oleObject172.bin"/><Relationship Id="rId7" Type="http://schemas.openxmlformats.org/officeDocument/2006/relationships/image" Target="../media/image209.wmf"/><Relationship Id="rId12" Type="http://schemas.openxmlformats.org/officeDocument/2006/relationships/oleObject" Target="../embeddings/oleObject176.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oleObject" Target="../embeddings/oleObject173.bin"/><Relationship Id="rId11" Type="http://schemas.openxmlformats.org/officeDocument/2006/relationships/image" Target="../media/image211.wmf"/><Relationship Id="rId5" Type="http://schemas.openxmlformats.org/officeDocument/2006/relationships/image" Target="../media/image136.png"/><Relationship Id="rId15" Type="http://schemas.openxmlformats.org/officeDocument/2006/relationships/image" Target="../media/image213.wmf"/><Relationship Id="rId10" Type="http://schemas.openxmlformats.org/officeDocument/2006/relationships/oleObject" Target="../embeddings/oleObject175.bin"/><Relationship Id="rId4" Type="http://schemas.openxmlformats.org/officeDocument/2006/relationships/image" Target="../media/image208.wmf"/><Relationship Id="rId9" Type="http://schemas.openxmlformats.org/officeDocument/2006/relationships/image" Target="../media/image210.wmf"/><Relationship Id="rId14" Type="http://schemas.openxmlformats.org/officeDocument/2006/relationships/oleObject" Target="../embeddings/oleObject177.bin"/></Relationships>
</file>

<file path=ppt/slides/_rels/slide65.xml.rels><?xml version="1.0" encoding="UTF-8" standalone="yes"?>
<Relationships xmlns="http://schemas.openxmlformats.org/package/2006/relationships"><Relationship Id="rId8" Type="http://schemas.openxmlformats.org/officeDocument/2006/relationships/image" Target="../media/image208.wmf"/><Relationship Id="rId3" Type="http://schemas.openxmlformats.org/officeDocument/2006/relationships/oleObject" Target="../embeddings/oleObject178.bin"/><Relationship Id="rId7" Type="http://schemas.openxmlformats.org/officeDocument/2006/relationships/oleObject" Target="../embeddings/oleObject180.bin"/><Relationship Id="rId2" Type="http://schemas.openxmlformats.org/officeDocument/2006/relationships/slideLayout" Target="../slideLayouts/slideLayout6.xml"/><Relationship Id="rId1" Type="http://schemas.openxmlformats.org/officeDocument/2006/relationships/vmlDrawing" Target="../drawings/vmlDrawing28.vml"/><Relationship Id="rId6" Type="http://schemas.openxmlformats.org/officeDocument/2006/relationships/image" Target="../media/image215.wmf"/><Relationship Id="rId5" Type="http://schemas.openxmlformats.org/officeDocument/2006/relationships/oleObject" Target="../embeddings/oleObject179.bin"/><Relationship Id="rId10" Type="http://schemas.openxmlformats.org/officeDocument/2006/relationships/image" Target="../media/image216.emf"/><Relationship Id="rId4" Type="http://schemas.openxmlformats.org/officeDocument/2006/relationships/image" Target="../media/image214.wmf"/><Relationship Id="rId9" Type="http://schemas.openxmlformats.org/officeDocument/2006/relationships/oleObject" Target="../embeddings/oleObject181.bin"/></Relationships>
</file>

<file path=ppt/slides/_rels/slide66.xml.rels><?xml version="1.0" encoding="UTF-8" standalone="yes"?>
<Relationships xmlns="http://schemas.openxmlformats.org/package/2006/relationships"><Relationship Id="rId8" Type="http://schemas.openxmlformats.org/officeDocument/2006/relationships/image" Target="../media/image219.wmf"/><Relationship Id="rId13" Type="http://schemas.openxmlformats.org/officeDocument/2006/relationships/oleObject" Target="../embeddings/oleObject187.bin"/><Relationship Id="rId3" Type="http://schemas.openxmlformats.org/officeDocument/2006/relationships/oleObject" Target="../embeddings/oleObject182.bin"/><Relationship Id="rId7" Type="http://schemas.openxmlformats.org/officeDocument/2006/relationships/oleObject" Target="../embeddings/oleObject184.bin"/><Relationship Id="rId12" Type="http://schemas.openxmlformats.org/officeDocument/2006/relationships/image" Target="../media/image221.wmf"/><Relationship Id="rId2" Type="http://schemas.openxmlformats.org/officeDocument/2006/relationships/slideLayout" Target="../slideLayouts/slideLayout1.xml"/><Relationship Id="rId1" Type="http://schemas.openxmlformats.org/officeDocument/2006/relationships/vmlDrawing" Target="../drawings/vmlDrawing29.vml"/><Relationship Id="rId6" Type="http://schemas.openxmlformats.org/officeDocument/2006/relationships/image" Target="../media/image218.wmf"/><Relationship Id="rId11" Type="http://schemas.openxmlformats.org/officeDocument/2006/relationships/oleObject" Target="../embeddings/oleObject186.bin"/><Relationship Id="rId5" Type="http://schemas.openxmlformats.org/officeDocument/2006/relationships/oleObject" Target="../embeddings/oleObject183.bin"/><Relationship Id="rId10" Type="http://schemas.openxmlformats.org/officeDocument/2006/relationships/image" Target="../media/image220.wmf"/><Relationship Id="rId4" Type="http://schemas.openxmlformats.org/officeDocument/2006/relationships/image" Target="../media/image217.wmf"/><Relationship Id="rId9" Type="http://schemas.openxmlformats.org/officeDocument/2006/relationships/oleObject" Target="../embeddings/oleObject185.bin"/><Relationship Id="rId14" Type="http://schemas.openxmlformats.org/officeDocument/2006/relationships/image" Target="../media/image222.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88.bin"/><Relationship Id="rId2" Type="http://schemas.openxmlformats.org/officeDocument/2006/relationships/slideLayout" Target="../slideLayouts/slideLayout6.xml"/><Relationship Id="rId1" Type="http://schemas.openxmlformats.org/officeDocument/2006/relationships/vmlDrawing" Target="../drawings/vmlDrawing30.vml"/><Relationship Id="rId6" Type="http://schemas.openxmlformats.org/officeDocument/2006/relationships/image" Target="../media/image165.wmf"/><Relationship Id="rId5" Type="http://schemas.openxmlformats.org/officeDocument/2006/relationships/oleObject" Target="../embeddings/oleObject189.bin"/><Relationship Id="rId4" Type="http://schemas.openxmlformats.org/officeDocument/2006/relationships/image" Target="../media/image203.wmf"/></Relationships>
</file>

<file path=ppt/slides/_rels/slide68.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195.bin"/><Relationship Id="rId18" Type="http://schemas.openxmlformats.org/officeDocument/2006/relationships/image" Target="../media/image230.wmf"/><Relationship Id="rId26" Type="http://schemas.openxmlformats.org/officeDocument/2006/relationships/image" Target="../media/image234.wmf"/><Relationship Id="rId3" Type="http://schemas.openxmlformats.org/officeDocument/2006/relationships/oleObject" Target="../embeddings/oleObject190.bin"/><Relationship Id="rId21" Type="http://schemas.openxmlformats.org/officeDocument/2006/relationships/oleObject" Target="../embeddings/oleObject199.bin"/><Relationship Id="rId7" Type="http://schemas.openxmlformats.org/officeDocument/2006/relationships/oleObject" Target="../embeddings/oleObject192.bin"/><Relationship Id="rId12" Type="http://schemas.openxmlformats.org/officeDocument/2006/relationships/image" Target="../media/image227.wmf"/><Relationship Id="rId17" Type="http://schemas.openxmlformats.org/officeDocument/2006/relationships/oleObject" Target="../embeddings/oleObject197.bin"/><Relationship Id="rId25" Type="http://schemas.openxmlformats.org/officeDocument/2006/relationships/oleObject" Target="../embeddings/oleObject201.bin"/><Relationship Id="rId2" Type="http://schemas.openxmlformats.org/officeDocument/2006/relationships/slideLayout" Target="../slideLayouts/slideLayout14.xml"/><Relationship Id="rId16" Type="http://schemas.openxmlformats.org/officeDocument/2006/relationships/image" Target="../media/image229.wmf"/><Relationship Id="rId20" Type="http://schemas.openxmlformats.org/officeDocument/2006/relationships/image" Target="../media/image231.wmf"/><Relationship Id="rId1" Type="http://schemas.openxmlformats.org/officeDocument/2006/relationships/vmlDrawing" Target="../drawings/vmlDrawing31.vml"/><Relationship Id="rId6" Type="http://schemas.openxmlformats.org/officeDocument/2006/relationships/image" Target="../media/image224.wmf"/><Relationship Id="rId11" Type="http://schemas.openxmlformats.org/officeDocument/2006/relationships/oleObject" Target="../embeddings/oleObject194.bin"/><Relationship Id="rId24" Type="http://schemas.openxmlformats.org/officeDocument/2006/relationships/image" Target="../media/image233.wmf"/><Relationship Id="rId5" Type="http://schemas.openxmlformats.org/officeDocument/2006/relationships/oleObject" Target="../embeddings/oleObject191.bin"/><Relationship Id="rId15" Type="http://schemas.openxmlformats.org/officeDocument/2006/relationships/oleObject" Target="../embeddings/oleObject196.bin"/><Relationship Id="rId23" Type="http://schemas.openxmlformats.org/officeDocument/2006/relationships/oleObject" Target="../embeddings/oleObject200.bin"/><Relationship Id="rId10" Type="http://schemas.openxmlformats.org/officeDocument/2006/relationships/image" Target="../media/image226.wmf"/><Relationship Id="rId19" Type="http://schemas.openxmlformats.org/officeDocument/2006/relationships/oleObject" Target="../embeddings/oleObject198.bin"/><Relationship Id="rId4" Type="http://schemas.openxmlformats.org/officeDocument/2006/relationships/image" Target="../media/image223.wmf"/><Relationship Id="rId9" Type="http://schemas.openxmlformats.org/officeDocument/2006/relationships/oleObject" Target="../embeddings/oleObject193.bin"/><Relationship Id="rId14" Type="http://schemas.openxmlformats.org/officeDocument/2006/relationships/image" Target="../media/image228.wmf"/><Relationship Id="rId22" Type="http://schemas.openxmlformats.org/officeDocument/2006/relationships/image" Target="../media/image232.wmf"/><Relationship Id="rId27" Type="http://schemas.openxmlformats.org/officeDocument/2006/relationships/oleObject" Target="../embeddings/oleObject202.bin"/></Relationships>
</file>

<file path=ppt/slides/_rels/slide69.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08.bin"/><Relationship Id="rId18" Type="http://schemas.openxmlformats.org/officeDocument/2006/relationships/image" Target="../media/image230.wmf"/><Relationship Id="rId26" Type="http://schemas.openxmlformats.org/officeDocument/2006/relationships/image" Target="../media/image234.wmf"/><Relationship Id="rId3" Type="http://schemas.openxmlformats.org/officeDocument/2006/relationships/oleObject" Target="../embeddings/oleObject203.bin"/><Relationship Id="rId21" Type="http://schemas.openxmlformats.org/officeDocument/2006/relationships/oleObject" Target="../embeddings/oleObject212.bin"/><Relationship Id="rId7" Type="http://schemas.openxmlformats.org/officeDocument/2006/relationships/oleObject" Target="../embeddings/oleObject205.bin"/><Relationship Id="rId12" Type="http://schemas.openxmlformats.org/officeDocument/2006/relationships/image" Target="../media/image227.wmf"/><Relationship Id="rId17" Type="http://schemas.openxmlformats.org/officeDocument/2006/relationships/oleObject" Target="../embeddings/oleObject210.bin"/><Relationship Id="rId25" Type="http://schemas.openxmlformats.org/officeDocument/2006/relationships/oleObject" Target="../embeddings/oleObject214.bin"/><Relationship Id="rId2" Type="http://schemas.openxmlformats.org/officeDocument/2006/relationships/slideLayout" Target="../slideLayouts/slideLayout14.xml"/><Relationship Id="rId16" Type="http://schemas.openxmlformats.org/officeDocument/2006/relationships/image" Target="../media/image229.wmf"/><Relationship Id="rId20" Type="http://schemas.openxmlformats.org/officeDocument/2006/relationships/image" Target="../media/image231.wmf"/><Relationship Id="rId29" Type="http://schemas.openxmlformats.org/officeDocument/2006/relationships/oleObject" Target="../embeddings/oleObject217.bin"/><Relationship Id="rId1" Type="http://schemas.openxmlformats.org/officeDocument/2006/relationships/vmlDrawing" Target="../drawings/vmlDrawing32.vml"/><Relationship Id="rId6" Type="http://schemas.openxmlformats.org/officeDocument/2006/relationships/image" Target="../media/image224.wmf"/><Relationship Id="rId11" Type="http://schemas.openxmlformats.org/officeDocument/2006/relationships/oleObject" Target="../embeddings/oleObject207.bin"/><Relationship Id="rId24" Type="http://schemas.openxmlformats.org/officeDocument/2006/relationships/image" Target="../media/image233.wmf"/><Relationship Id="rId32" Type="http://schemas.openxmlformats.org/officeDocument/2006/relationships/oleObject" Target="../embeddings/oleObject219.bin"/><Relationship Id="rId5" Type="http://schemas.openxmlformats.org/officeDocument/2006/relationships/oleObject" Target="../embeddings/oleObject204.bin"/><Relationship Id="rId15" Type="http://schemas.openxmlformats.org/officeDocument/2006/relationships/oleObject" Target="../embeddings/oleObject209.bin"/><Relationship Id="rId23" Type="http://schemas.openxmlformats.org/officeDocument/2006/relationships/oleObject" Target="../embeddings/oleObject213.bin"/><Relationship Id="rId28" Type="http://schemas.openxmlformats.org/officeDocument/2006/relationships/oleObject" Target="../embeddings/oleObject216.bin"/><Relationship Id="rId10" Type="http://schemas.openxmlformats.org/officeDocument/2006/relationships/image" Target="../media/image226.wmf"/><Relationship Id="rId19" Type="http://schemas.openxmlformats.org/officeDocument/2006/relationships/oleObject" Target="../embeddings/oleObject211.bin"/><Relationship Id="rId31" Type="http://schemas.openxmlformats.org/officeDocument/2006/relationships/image" Target="../media/image235.wmf"/><Relationship Id="rId4" Type="http://schemas.openxmlformats.org/officeDocument/2006/relationships/image" Target="../media/image223.wmf"/><Relationship Id="rId9" Type="http://schemas.openxmlformats.org/officeDocument/2006/relationships/oleObject" Target="../embeddings/oleObject206.bin"/><Relationship Id="rId14" Type="http://schemas.openxmlformats.org/officeDocument/2006/relationships/image" Target="../media/image228.wmf"/><Relationship Id="rId22" Type="http://schemas.openxmlformats.org/officeDocument/2006/relationships/image" Target="../media/image232.wmf"/><Relationship Id="rId27" Type="http://schemas.openxmlformats.org/officeDocument/2006/relationships/oleObject" Target="../embeddings/oleObject215.bin"/><Relationship Id="rId30" Type="http://schemas.openxmlformats.org/officeDocument/2006/relationships/oleObject" Target="../embeddings/oleObject218.bin"/></Relationships>
</file>

<file path=ppt/slides/_rels/slide70.xml.rels><?xml version="1.0" encoding="UTF-8" standalone="yes"?>
<Relationships xmlns="http://schemas.openxmlformats.org/package/2006/relationships"><Relationship Id="rId13" Type="http://schemas.openxmlformats.org/officeDocument/2006/relationships/oleObject" Target="../embeddings/oleObject225.bin"/><Relationship Id="rId18" Type="http://schemas.openxmlformats.org/officeDocument/2006/relationships/image" Target="../media/image230.wmf"/><Relationship Id="rId26" Type="http://schemas.openxmlformats.org/officeDocument/2006/relationships/image" Target="../media/image234.wmf"/><Relationship Id="rId3" Type="http://schemas.openxmlformats.org/officeDocument/2006/relationships/oleObject" Target="../embeddings/oleObject220.bin"/><Relationship Id="rId21" Type="http://schemas.openxmlformats.org/officeDocument/2006/relationships/oleObject" Target="../embeddings/oleObject229.bin"/><Relationship Id="rId34" Type="http://schemas.openxmlformats.org/officeDocument/2006/relationships/image" Target="../media/image236.emf"/><Relationship Id="rId7" Type="http://schemas.openxmlformats.org/officeDocument/2006/relationships/oleObject" Target="../embeddings/oleObject222.bin"/><Relationship Id="rId12" Type="http://schemas.openxmlformats.org/officeDocument/2006/relationships/image" Target="../media/image227.wmf"/><Relationship Id="rId17" Type="http://schemas.openxmlformats.org/officeDocument/2006/relationships/oleObject" Target="../embeddings/oleObject227.bin"/><Relationship Id="rId25" Type="http://schemas.openxmlformats.org/officeDocument/2006/relationships/oleObject" Target="../embeddings/oleObject231.bin"/><Relationship Id="rId33" Type="http://schemas.openxmlformats.org/officeDocument/2006/relationships/oleObject" Target="../embeddings/oleObject237.bin"/><Relationship Id="rId2" Type="http://schemas.openxmlformats.org/officeDocument/2006/relationships/slideLayout" Target="../slideLayouts/slideLayout14.xml"/><Relationship Id="rId16" Type="http://schemas.openxmlformats.org/officeDocument/2006/relationships/image" Target="../media/image229.wmf"/><Relationship Id="rId20" Type="http://schemas.openxmlformats.org/officeDocument/2006/relationships/image" Target="../media/image231.wmf"/><Relationship Id="rId29" Type="http://schemas.openxmlformats.org/officeDocument/2006/relationships/oleObject" Target="../embeddings/oleObject234.bin"/><Relationship Id="rId1" Type="http://schemas.openxmlformats.org/officeDocument/2006/relationships/vmlDrawing" Target="../drawings/vmlDrawing33.vml"/><Relationship Id="rId6" Type="http://schemas.openxmlformats.org/officeDocument/2006/relationships/image" Target="../media/image224.wmf"/><Relationship Id="rId11" Type="http://schemas.openxmlformats.org/officeDocument/2006/relationships/oleObject" Target="../embeddings/oleObject224.bin"/><Relationship Id="rId24" Type="http://schemas.openxmlformats.org/officeDocument/2006/relationships/image" Target="../media/image233.wmf"/><Relationship Id="rId32" Type="http://schemas.openxmlformats.org/officeDocument/2006/relationships/oleObject" Target="../embeddings/oleObject236.bin"/><Relationship Id="rId5" Type="http://schemas.openxmlformats.org/officeDocument/2006/relationships/oleObject" Target="../embeddings/oleObject221.bin"/><Relationship Id="rId15" Type="http://schemas.openxmlformats.org/officeDocument/2006/relationships/oleObject" Target="../embeddings/oleObject226.bin"/><Relationship Id="rId23" Type="http://schemas.openxmlformats.org/officeDocument/2006/relationships/oleObject" Target="../embeddings/oleObject230.bin"/><Relationship Id="rId28" Type="http://schemas.openxmlformats.org/officeDocument/2006/relationships/oleObject" Target="../embeddings/oleObject233.bin"/><Relationship Id="rId10" Type="http://schemas.openxmlformats.org/officeDocument/2006/relationships/image" Target="../media/image226.wmf"/><Relationship Id="rId19" Type="http://schemas.openxmlformats.org/officeDocument/2006/relationships/oleObject" Target="../embeddings/oleObject228.bin"/><Relationship Id="rId31" Type="http://schemas.openxmlformats.org/officeDocument/2006/relationships/image" Target="../media/image235.wmf"/><Relationship Id="rId4" Type="http://schemas.openxmlformats.org/officeDocument/2006/relationships/image" Target="../media/image223.wmf"/><Relationship Id="rId9" Type="http://schemas.openxmlformats.org/officeDocument/2006/relationships/oleObject" Target="../embeddings/oleObject223.bin"/><Relationship Id="rId14" Type="http://schemas.openxmlformats.org/officeDocument/2006/relationships/image" Target="../media/image228.wmf"/><Relationship Id="rId22" Type="http://schemas.openxmlformats.org/officeDocument/2006/relationships/image" Target="../media/image232.wmf"/><Relationship Id="rId27" Type="http://schemas.openxmlformats.org/officeDocument/2006/relationships/oleObject" Target="../embeddings/oleObject232.bin"/><Relationship Id="rId30" Type="http://schemas.openxmlformats.org/officeDocument/2006/relationships/oleObject" Target="../embeddings/oleObject235.bin"/><Relationship Id="rId35" Type="http://schemas.openxmlformats.org/officeDocument/2006/relationships/oleObject" Target="../embeddings/oleObject238.bin"/><Relationship Id="rId8" Type="http://schemas.openxmlformats.org/officeDocument/2006/relationships/image" Target="../media/image225.wmf"/></Relationships>
</file>

<file path=ppt/slides/_rels/slide71.xml.rels><?xml version="1.0" encoding="UTF-8" standalone="yes"?>
<Relationships xmlns="http://schemas.openxmlformats.org/package/2006/relationships"><Relationship Id="rId13" Type="http://schemas.openxmlformats.org/officeDocument/2006/relationships/oleObject" Target="../embeddings/oleObject244.bin"/><Relationship Id="rId18" Type="http://schemas.openxmlformats.org/officeDocument/2006/relationships/image" Target="../media/image230.wmf"/><Relationship Id="rId26" Type="http://schemas.openxmlformats.org/officeDocument/2006/relationships/image" Target="../media/image234.wmf"/><Relationship Id="rId39" Type="http://schemas.openxmlformats.org/officeDocument/2006/relationships/image" Target="../media/image238.emf"/><Relationship Id="rId21" Type="http://schemas.openxmlformats.org/officeDocument/2006/relationships/oleObject" Target="../embeddings/oleObject248.bin"/><Relationship Id="rId34" Type="http://schemas.openxmlformats.org/officeDocument/2006/relationships/image" Target="../media/image236.emf"/><Relationship Id="rId7" Type="http://schemas.openxmlformats.org/officeDocument/2006/relationships/oleObject" Target="../embeddings/oleObject241.bin"/><Relationship Id="rId12" Type="http://schemas.openxmlformats.org/officeDocument/2006/relationships/image" Target="../media/image227.wmf"/><Relationship Id="rId17" Type="http://schemas.openxmlformats.org/officeDocument/2006/relationships/oleObject" Target="../embeddings/oleObject246.bin"/><Relationship Id="rId25" Type="http://schemas.openxmlformats.org/officeDocument/2006/relationships/oleObject" Target="../embeddings/oleObject250.bin"/><Relationship Id="rId33" Type="http://schemas.openxmlformats.org/officeDocument/2006/relationships/oleObject" Target="../embeddings/oleObject256.bin"/><Relationship Id="rId38" Type="http://schemas.openxmlformats.org/officeDocument/2006/relationships/oleObject" Target="../embeddings/oleObject259.bin"/><Relationship Id="rId2" Type="http://schemas.openxmlformats.org/officeDocument/2006/relationships/slideLayout" Target="../slideLayouts/slideLayout14.xml"/><Relationship Id="rId16" Type="http://schemas.openxmlformats.org/officeDocument/2006/relationships/image" Target="../media/image229.wmf"/><Relationship Id="rId20" Type="http://schemas.openxmlformats.org/officeDocument/2006/relationships/image" Target="../media/image231.wmf"/><Relationship Id="rId29" Type="http://schemas.openxmlformats.org/officeDocument/2006/relationships/oleObject" Target="../embeddings/oleObject253.bin"/><Relationship Id="rId1" Type="http://schemas.openxmlformats.org/officeDocument/2006/relationships/vmlDrawing" Target="../drawings/vmlDrawing34.vml"/><Relationship Id="rId6" Type="http://schemas.openxmlformats.org/officeDocument/2006/relationships/image" Target="../media/image224.wmf"/><Relationship Id="rId11" Type="http://schemas.openxmlformats.org/officeDocument/2006/relationships/oleObject" Target="../embeddings/oleObject243.bin"/><Relationship Id="rId24" Type="http://schemas.openxmlformats.org/officeDocument/2006/relationships/image" Target="../media/image233.wmf"/><Relationship Id="rId32" Type="http://schemas.openxmlformats.org/officeDocument/2006/relationships/oleObject" Target="../embeddings/oleObject255.bin"/><Relationship Id="rId37" Type="http://schemas.openxmlformats.org/officeDocument/2006/relationships/image" Target="../media/image237.wmf"/><Relationship Id="rId5" Type="http://schemas.openxmlformats.org/officeDocument/2006/relationships/oleObject" Target="../embeddings/oleObject240.bin"/><Relationship Id="rId15" Type="http://schemas.openxmlformats.org/officeDocument/2006/relationships/oleObject" Target="../embeddings/oleObject245.bin"/><Relationship Id="rId23" Type="http://schemas.openxmlformats.org/officeDocument/2006/relationships/oleObject" Target="../embeddings/oleObject249.bin"/><Relationship Id="rId28" Type="http://schemas.openxmlformats.org/officeDocument/2006/relationships/oleObject" Target="../embeddings/oleObject252.bin"/><Relationship Id="rId36" Type="http://schemas.openxmlformats.org/officeDocument/2006/relationships/oleObject" Target="../embeddings/oleObject258.bin"/><Relationship Id="rId10" Type="http://schemas.openxmlformats.org/officeDocument/2006/relationships/image" Target="../media/image226.wmf"/><Relationship Id="rId19" Type="http://schemas.openxmlformats.org/officeDocument/2006/relationships/oleObject" Target="../embeddings/oleObject247.bin"/><Relationship Id="rId31" Type="http://schemas.openxmlformats.org/officeDocument/2006/relationships/image" Target="../media/image235.wmf"/><Relationship Id="rId4" Type="http://schemas.openxmlformats.org/officeDocument/2006/relationships/image" Target="../media/image223.wmf"/><Relationship Id="rId9" Type="http://schemas.openxmlformats.org/officeDocument/2006/relationships/oleObject" Target="../embeddings/oleObject242.bin"/><Relationship Id="rId14" Type="http://schemas.openxmlformats.org/officeDocument/2006/relationships/image" Target="../media/image228.wmf"/><Relationship Id="rId22" Type="http://schemas.openxmlformats.org/officeDocument/2006/relationships/image" Target="../media/image232.wmf"/><Relationship Id="rId27" Type="http://schemas.openxmlformats.org/officeDocument/2006/relationships/oleObject" Target="../embeddings/oleObject251.bin"/><Relationship Id="rId30" Type="http://schemas.openxmlformats.org/officeDocument/2006/relationships/oleObject" Target="../embeddings/oleObject254.bin"/><Relationship Id="rId35" Type="http://schemas.openxmlformats.org/officeDocument/2006/relationships/oleObject" Target="../embeddings/oleObject257.bin"/><Relationship Id="rId8" Type="http://schemas.openxmlformats.org/officeDocument/2006/relationships/image" Target="../media/image225.wmf"/><Relationship Id="rId3" Type="http://schemas.openxmlformats.org/officeDocument/2006/relationships/oleObject" Target="../embeddings/oleObject239.bin"/></Relationships>
</file>

<file path=ppt/slides/_rels/slide72.xml.rels><?xml version="1.0" encoding="UTF-8" standalone="yes"?>
<Relationships xmlns="http://schemas.openxmlformats.org/package/2006/relationships"><Relationship Id="rId13" Type="http://schemas.openxmlformats.org/officeDocument/2006/relationships/oleObject" Target="../embeddings/oleObject265.bin"/><Relationship Id="rId18" Type="http://schemas.openxmlformats.org/officeDocument/2006/relationships/image" Target="../media/image230.wmf"/><Relationship Id="rId26" Type="http://schemas.openxmlformats.org/officeDocument/2006/relationships/image" Target="../media/image234.wmf"/><Relationship Id="rId39" Type="http://schemas.openxmlformats.org/officeDocument/2006/relationships/image" Target="../media/image238.emf"/><Relationship Id="rId21" Type="http://schemas.openxmlformats.org/officeDocument/2006/relationships/oleObject" Target="../embeddings/oleObject269.bin"/><Relationship Id="rId34" Type="http://schemas.openxmlformats.org/officeDocument/2006/relationships/image" Target="../media/image236.emf"/><Relationship Id="rId7" Type="http://schemas.openxmlformats.org/officeDocument/2006/relationships/oleObject" Target="../embeddings/oleObject262.bin"/><Relationship Id="rId2" Type="http://schemas.openxmlformats.org/officeDocument/2006/relationships/slideLayout" Target="../slideLayouts/slideLayout14.xml"/><Relationship Id="rId16" Type="http://schemas.openxmlformats.org/officeDocument/2006/relationships/image" Target="../media/image229.wmf"/><Relationship Id="rId20" Type="http://schemas.openxmlformats.org/officeDocument/2006/relationships/image" Target="../media/image231.wmf"/><Relationship Id="rId29" Type="http://schemas.openxmlformats.org/officeDocument/2006/relationships/oleObject" Target="../embeddings/oleObject274.bin"/><Relationship Id="rId41" Type="http://schemas.openxmlformats.org/officeDocument/2006/relationships/image" Target="../media/image239.wmf"/><Relationship Id="rId1" Type="http://schemas.openxmlformats.org/officeDocument/2006/relationships/vmlDrawing" Target="../drawings/vmlDrawing35.vml"/><Relationship Id="rId6" Type="http://schemas.openxmlformats.org/officeDocument/2006/relationships/image" Target="../media/image224.wmf"/><Relationship Id="rId11" Type="http://schemas.openxmlformats.org/officeDocument/2006/relationships/oleObject" Target="../embeddings/oleObject264.bin"/><Relationship Id="rId24" Type="http://schemas.openxmlformats.org/officeDocument/2006/relationships/image" Target="../media/image233.wmf"/><Relationship Id="rId32" Type="http://schemas.openxmlformats.org/officeDocument/2006/relationships/oleObject" Target="../embeddings/oleObject276.bin"/><Relationship Id="rId37" Type="http://schemas.openxmlformats.org/officeDocument/2006/relationships/image" Target="../media/image237.wmf"/><Relationship Id="rId40" Type="http://schemas.openxmlformats.org/officeDocument/2006/relationships/oleObject" Target="../embeddings/oleObject281.bin"/><Relationship Id="rId5" Type="http://schemas.openxmlformats.org/officeDocument/2006/relationships/oleObject" Target="../embeddings/oleObject261.bin"/><Relationship Id="rId15" Type="http://schemas.openxmlformats.org/officeDocument/2006/relationships/oleObject" Target="../embeddings/oleObject266.bin"/><Relationship Id="rId23" Type="http://schemas.openxmlformats.org/officeDocument/2006/relationships/oleObject" Target="../embeddings/oleObject270.bin"/><Relationship Id="rId28" Type="http://schemas.openxmlformats.org/officeDocument/2006/relationships/oleObject" Target="../embeddings/oleObject273.bin"/><Relationship Id="rId36" Type="http://schemas.openxmlformats.org/officeDocument/2006/relationships/oleObject" Target="../embeddings/oleObject279.bin"/><Relationship Id="rId10" Type="http://schemas.openxmlformats.org/officeDocument/2006/relationships/image" Target="../media/image226.wmf"/><Relationship Id="rId19" Type="http://schemas.openxmlformats.org/officeDocument/2006/relationships/oleObject" Target="../embeddings/oleObject268.bin"/><Relationship Id="rId31" Type="http://schemas.openxmlformats.org/officeDocument/2006/relationships/image" Target="../media/image235.wmf"/><Relationship Id="rId4" Type="http://schemas.openxmlformats.org/officeDocument/2006/relationships/image" Target="../media/image223.wmf"/><Relationship Id="rId9" Type="http://schemas.openxmlformats.org/officeDocument/2006/relationships/oleObject" Target="../embeddings/oleObject263.bin"/><Relationship Id="rId14" Type="http://schemas.openxmlformats.org/officeDocument/2006/relationships/image" Target="../media/image228.wmf"/><Relationship Id="rId22" Type="http://schemas.openxmlformats.org/officeDocument/2006/relationships/image" Target="../media/image232.wmf"/><Relationship Id="rId27" Type="http://schemas.openxmlformats.org/officeDocument/2006/relationships/oleObject" Target="../embeddings/oleObject272.bin"/><Relationship Id="rId30" Type="http://schemas.openxmlformats.org/officeDocument/2006/relationships/oleObject" Target="../embeddings/oleObject275.bin"/><Relationship Id="rId35" Type="http://schemas.openxmlformats.org/officeDocument/2006/relationships/oleObject" Target="../embeddings/oleObject278.bin"/><Relationship Id="rId8" Type="http://schemas.openxmlformats.org/officeDocument/2006/relationships/image" Target="../media/image225.wmf"/><Relationship Id="rId3" Type="http://schemas.openxmlformats.org/officeDocument/2006/relationships/oleObject" Target="../embeddings/oleObject260.bin"/><Relationship Id="rId12" Type="http://schemas.openxmlformats.org/officeDocument/2006/relationships/image" Target="../media/image227.wmf"/><Relationship Id="rId17" Type="http://schemas.openxmlformats.org/officeDocument/2006/relationships/oleObject" Target="../embeddings/oleObject267.bin"/><Relationship Id="rId25" Type="http://schemas.openxmlformats.org/officeDocument/2006/relationships/oleObject" Target="../embeddings/oleObject271.bin"/><Relationship Id="rId33" Type="http://schemas.openxmlformats.org/officeDocument/2006/relationships/oleObject" Target="../embeddings/oleObject277.bin"/><Relationship Id="rId38" Type="http://schemas.openxmlformats.org/officeDocument/2006/relationships/oleObject" Target="../embeddings/oleObject280.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82.bin"/><Relationship Id="rId2" Type="http://schemas.openxmlformats.org/officeDocument/2006/relationships/slideLayout" Target="../slideLayouts/slideLayout6.xml"/><Relationship Id="rId1" Type="http://schemas.openxmlformats.org/officeDocument/2006/relationships/vmlDrawing" Target="../drawings/vmlDrawing36.vml"/><Relationship Id="rId4" Type="http://schemas.openxmlformats.org/officeDocument/2006/relationships/image" Target="../media/image241.wmf"/></Relationships>
</file>

<file path=ppt/slides/_rels/slide8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83.bin"/><Relationship Id="rId2" Type="http://schemas.openxmlformats.org/officeDocument/2006/relationships/slideLayout" Target="../slideLayouts/slideLayout6.xml"/><Relationship Id="rId1" Type="http://schemas.openxmlformats.org/officeDocument/2006/relationships/vmlDrawing" Target="../drawings/vmlDrawing37.vml"/><Relationship Id="rId6" Type="http://schemas.openxmlformats.org/officeDocument/2006/relationships/image" Target="../media/image243.wmf"/><Relationship Id="rId5" Type="http://schemas.openxmlformats.org/officeDocument/2006/relationships/oleObject" Target="../embeddings/oleObject284.bin"/><Relationship Id="rId4" Type="http://schemas.openxmlformats.org/officeDocument/2006/relationships/image" Target="../media/image242.wmf"/></Relationships>
</file>

<file path=ppt/slides/_rels/slide90.x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oleObject" Target="../embeddings/oleObject290.bin"/><Relationship Id="rId3" Type="http://schemas.openxmlformats.org/officeDocument/2006/relationships/oleObject" Target="../embeddings/oleObject285.bin"/><Relationship Id="rId7" Type="http://schemas.openxmlformats.org/officeDocument/2006/relationships/oleObject" Target="../embeddings/oleObject287.bin"/><Relationship Id="rId12" Type="http://schemas.openxmlformats.org/officeDocument/2006/relationships/image" Target="../media/image248.wmf"/><Relationship Id="rId2" Type="http://schemas.openxmlformats.org/officeDocument/2006/relationships/slideLayout" Target="../slideLayouts/slideLayout6.xml"/><Relationship Id="rId1" Type="http://schemas.openxmlformats.org/officeDocument/2006/relationships/vmlDrawing" Target="../drawings/vmlDrawing38.vml"/><Relationship Id="rId6" Type="http://schemas.openxmlformats.org/officeDocument/2006/relationships/image" Target="../media/image245.wmf"/><Relationship Id="rId11" Type="http://schemas.openxmlformats.org/officeDocument/2006/relationships/oleObject" Target="../embeddings/oleObject289.bin"/><Relationship Id="rId5" Type="http://schemas.openxmlformats.org/officeDocument/2006/relationships/oleObject" Target="../embeddings/oleObject286.bin"/><Relationship Id="rId10" Type="http://schemas.openxmlformats.org/officeDocument/2006/relationships/image" Target="../media/image247.wmf"/><Relationship Id="rId4" Type="http://schemas.openxmlformats.org/officeDocument/2006/relationships/image" Target="../media/image244.wmf"/><Relationship Id="rId9" Type="http://schemas.openxmlformats.org/officeDocument/2006/relationships/oleObject" Target="../embeddings/oleObject288.bin"/><Relationship Id="rId14" Type="http://schemas.openxmlformats.org/officeDocument/2006/relationships/image" Target="../media/image249.w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3" Type="http://schemas.openxmlformats.org/officeDocument/2006/relationships/oleObject" Target="../embeddings/oleObject296.bin"/><Relationship Id="rId18" Type="http://schemas.openxmlformats.org/officeDocument/2006/relationships/oleObject" Target="../embeddings/oleObject299.bin"/><Relationship Id="rId26" Type="http://schemas.openxmlformats.org/officeDocument/2006/relationships/image" Target="../media/image260.wmf"/><Relationship Id="rId3" Type="http://schemas.openxmlformats.org/officeDocument/2006/relationships/oleObject" Target="../embeddings/oleObject291.bin"/><Relationship Id="rId21" Type="http://schemas.openxmlformats.org/officeDocument/2006/relationships/image" Target="../media/image258.wmf"/><Relationship Id="rId34" Type="http://schemas.openxmlformats.org/officeDocument/2006/relationships/image" Target="../media/image264.wmf"/><Relationship Id="rId7" Type="http://schemas.openxmlformats.org/officeDocument/2006/relationships/oleObject" Target="../embeddings/oleObject293.bin"/><Relationship Id="rId12" Type="http://schemas.openxmlformats.org/officeDocument/2006/relationships/image" Target="../media/image254.wmf"/><Relationship Id="rId17" Type="http://schemas.openxmlformats.org/officeDocument/2006/relationships/image" Target="../media/image256.wmf"/><Relationship Id="rId25" Type="http://schemas.openxmlformats.org/officeDocument/2006/relationships/oleObject" Target="../embeddings/oleObject303.bin"/><Relationship Id="rId33" Type="http://schemas.openxmlformats.org/officeDocument/2006/relationships/oleObject" Target="../embeddings/oleObject307.bin"/><Relationship Id="rId2" Type="http://schemas.openxmlformats.org/officeDocument/2006/relationships/slideLayout" Target="../slideLayouts/slideLayout6.xml"/><Relationship Id="rId16" Type="http://schemas.openxmlformats.org/officeDocument/2006/relationships/oleObject" Target="../embeddings/oleObject298.bin"/><Relationship Id="rId20" Type="http://schemas.openxmlformats.org/officeDocument/2006/relationships/oleObject" Target="../embeddings/oleObject300.bin"/><Relationship Id="rId29" Type="http://schemas.openxmlformats.org/officeDocument/2006/relationships/oleObject" Target="../embeddings/oleObject305.bin"/><Relationship Id="rId1" Type="http://schemas.openxmlformats.org/officeDocument/2006/relationships/vmlDrawing" Target="../drawings/vmlDrawing39.vml"/><Relationship Id="rId6" Type="http://schemas.openxmlformats.org/officeDocument/2006/relationships/image" Target="../media/image251.wmf"/><Relationship Id="rId11" Type="http://schemas.openxmlformats.org/officeDocument/2006/relationships/oleObject" Target="../embeddings/oleObject295.bin"/><Relationship Id="rId24" Type="http://schemas.openxmlformats.org/officeDocument/2006/relationships/oleObject" Target="../embeddings/oleObject302.bin"/><Relationship Id="rId32" Type="http://schemas.openxmlformats.org/officeDocument/2006/relationships/image" Target="../media/image263.wmf"/><Relationship Id="rId5" Type="http://schemas.openxmlformats.org/officeDocument/2006/relationships/oleObject" Target="../embeddings/oleObject292.bin"/><Relationship Id="rId15" Type="http://schemas.openxmlformats.org/officeDocument/2006/relationships/image" Target="../media/image255.wmf"/><Relationship Id="rId23" Type="http://schemas.openxmlformats.org/officeDocument/2006/relationships/image" Target="../media/image259.wmf"/><Relationship Id="rId28" Type="http://schemas.openxmlformats.org/officeDocument/2006/relationships/image" Target="../media/image261.wmf"/><Relationship Id="rId36" Type="http://schemas.openxmlformats.org/officeDocument/2006/relationships/image" Target="../media/image265.wmf"/><Relationship Id="rId10" Type="http://schemas.openxmlformats.org/officeDocument/2006/relationships/image" Target="../media/image253.wmf"/><Relationship Id="rId19" Type="http://schemas.openxmlformats.org/officeDocument/2006/relationships/image" Target="../media/image257.wmf"/><Relationship Id="rId31" Type="http://schemas.openxmlformats.org/officeDocument/2006/relationships/oleObject" Target="../embeddings/oleObject306.bin"/><Relationship Id="rId4" Type="http://schemas.openxmlformats.org/officeDocument/2006/relationships/image" Target="../media/image250.wmf"/><Relationship Id="rId9" Type="http://schemas.openxmlformats.org/officeDocument/2006/relationships/oleObject" Target="../embeddings/oleObject294.bin"/><Relationship Id="rId14" Type="http://schemas.openxmlformats.org/officeDocument/2006/relationships/oleObject" Target="../embeddings/oleObject297.bin"/><Relationship Id="rId22" Type="http://schemas.openxmlformats.org/officeDocument/2006/relationships/oleObject" Target="../embeddings/oleObject301.bin"/><Relationship Id="rId27" Type="http://schemas.openxmlformats.org/officeDocument/2006/relationships/oleObject" Target="../embeddings/oleObject304.bin"/><Relationship Id="rId30" Type="http://schemas.openxmlformats.org/officeDocument/2006/relationships/image" Target="../media/image262.wmf"/><Relationship Id="rId35" Type="http://schemas.openxmlformats.org/officeDocument/2006/relationships/oleObject" Target="../embeddings/oleObject308.bin"/><Relationship Id="rId8" Type="http://schemas.openxmlformats.org/officeDocument/2006/relationships/image" Target="../media/image252.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309.bin"/><Relationship Id="rId2" Type="http://schemas.openxmlformats.org/officeDocument/2006/relationships/slideLayout" Target="../slideLayouts/slideLayout6.xml"/><Relationship Id="rId1" Type="http://schemas.openxmlformats.org/officeDocument/2006/relationships/vmlDrawing" Target="../drawings/vmlDrawing40.vml"/><Relationship Id="rId6" Type="http://schemas.openxmlformats.org/officeDocument/2006/relationships/image" Target="../media/image267.wmf"/><Relationship Id="rId5" Type="http://schemas.openxmlformats.org/officeDocument/2006/relationships/oleObject" Target="../embeddings/oleObject310.bin"/><Relationship Id="rId4" Type="http://schemas.openxmlformats.org/officeDocument/2006/relationships/image" Target="../media/image266.w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311.bin"/><Relationship Id="rId2" Type="http://schemas.openxmlformats.org/officeDocument/2006/relationships/slideLayout" Target="../slideLayouts/slideLayout6.xml"/><Relationship Id="rId1" Type="http://schemas.openxmlformats.org/officeDocument/2006/relationships/vmlDrawing" Target="../drawings/vmlDrawing41.vml"/><Relationship Id="rId4" Type="http://schemas.openxmlformats.org/officeDocument/2006/relationships/image" Target="../media/image268.w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8" Type="http://schemas.openxmlformats.org/officeDocument/2006/relationships/image" Target="../media/image271.wmf"/><Relationship Id="rId13" Type="http://schemas.openxmlformats.org/officeDocument/2006/relationships/oleObject" Target="../embeddings/oleObject317.bin"/><Relationship Id="rId18" Type="http://schemas.openxmlformats.org/officeDocument/2006/relationships/image" Target="../media/image276.wmf"/><Relationship Id="rId3" Type="http://schemas.openxmlformats.org/officeDocument/2006/relationships/oleObject" Target="../embeddings/oleObject312.bin"/><Relationship Id="rId7" Type="http://schemas.openxmlformats.org/officeDocument/2006/relationships/oleObject" Target="../embeddings/oleObject314.bin"/><Relationship Id="rId12" Type="http://schemas.openxmlformats.org/officeDocument/2006/relationships/image" Target="../media/image273.wmf"/><Relationship Id="rId17" Type="http://schemas.openxmlformats.org/officeDocument/2006/relationships/oleObject" Target="../embeddings/oleObject319.bin"/><Relationship Id="rId2" Type="http://schemas.openxmlformats.org/officeDocument/2006/relationships/slideLayout" Target="../slideLayouts/slideLayout6.xml"/><Relationship Id="rId16" Type="http://schemas.openxmlformats.org/officeDocument/2006/relationships/image" Target="../media/image275.wmf"/><Relationship Id="rId1" Type="http://schemas.openxmlformats.org/officeDocument/2006/relationships/vmlDrawing" Target="../drawings/vmlDrawing42.vml"/><Relationship Id="rId6" Type="http://schemas.openxmlformats.org/officeDocument/2006/relationships/image" Target="../media/image270.wmf"/><Relationship Id="rId11" Type="http://schemas.openxmlformats.org/officeDocument/2006/relationships/oleObject" Target="../embeddings/oleObject316.bin"/><Relationship Id="rId5" Type="http://schemas.openxmlformats.org/officeDocument/2006/relationships/oleObject" Target="../embeddings/oleObject313.bin"/><Relationship Id="rId15" Type="http://schemas.openxmlformats.org/officeDocument/2006/relationships/oleObject" Target="../embeddings/oleObject318.bin"/><Relationship Id="rId10" Type="http://schemas.openxmlformats.org/officeDocument/2006/relationships/image" Target="../media/image272.wmf"/><Relationship Id="rId4" Type="http://schemas.openxmlformats.org/officeDocument/2006/relationships/image" Target="../media/image269.wmf"/><Relationship Id="rId9" Type="http://schemas.openxmlformats.org/officeDocument/2006/relationships/oleObject" Target="../embeddings/oleObject315.bin"/><Relationship Id="rId14" Type="http://schemas.openxmlformats.org/officeDocument/2006/relationships/image" Target="../media/image274.w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320.bin"/><Relationship Id="rId2" Type="http://schemas.openxmlformats.org/officeDocument/2006/relationships/slideLayout" Target="../slideLayouts/slideLayout6.xml"/><Relationship Id="rId1" Type="http://schemas.openxmlformats.org/officeDocument/2006/relationships/vmlDrawing" Target="../drawings/vmlDrawing43.vml"/><Relationship Id="rId6" Type="http://schemas.openxmlformats.org/officeDocument/2006/relationships/image" Target="../media/image277.wmf"/><Relationship Id="rId5" Type="http://schemas.openxmlformats.org/officeDocument/2006/relationships/oleObject" Target="../embeddings/oleObject321.bin"/><Relationship Id="rId4" Type="http://schemas.openxmlformats.org/officeDocument/2006/relationships/image" Target="../media/image269.wmf"/></Relationships>
</file>

<file path=ppt/slides/_rels/slide103.xml.rels><?xml version="1.0" encoding="UTF-8" standalone="yes"?>
<Relationships xmlns="http://schemas.openxmlformats.org/package/2006/relationships"><Relationship Id="rId8" Type="http://schemas.openxmlformats.org/officeDocument/2006/relationships/image" Target="../media/image280.wmf"/><Relationship Id="rId13" Type="http://schemas.openxmlformats.org/officeDocument/2006/relationships/oleObject" Target="../embeddings/oleObject327.bin"/><Relationship Id="rId3" Type="http://schemas.openxmlformats.org/officeDocument/2006/relationships/oleObject" Target="../embeddings/oleObject322.bin"/><Relationship Id="rId7" Type="http://schemas.openxmlformats.org/officeDocument/2006/relationships/oleObject" Target="../embeddings/oleObject324.bin"/><Relationship Id="rId12" Type="http://schemas.openxmlformats.org/officeDocument/2006/relationships/image" Target="../media/image282.wmf"/><Relationship Id="rId2" Type="http://schemas.openxmlformats.org/officeDocument/2006/relationships/slideLayout" Target="../slideLayouts/slideLayout6.xml"/><Relationship Id="rId1" Type="http://schemas.openxmlformats.org/officeDocument/2006/relationships/vmlDrawing" Target="../drawings/vmlDrawing44.vml"/><Relationship Id="rId6" Type="http://schemas.openxmlformats.org/officeDocument/2006/relationships/image" Target="../media/image279.wmf"/><Relationship Id="rId11" Type="http://schemas.openxmlformats.org/officeDocument/2006/relationships/oleObject" Target="../embeddings/oleObject326.bin"/><Relationship Id="rId5" Type="http://schemas.openxmlformats.org/officeDocument/2006/relationships/oleObject" Target="../embeddings/oleObject323.bin"/><Relationship Id="rId10" Type="http://schemas.openxmlformats.org/officeDocument/2006/relationships/image" Target="../media/image281.wmf"/><Relationship Id="rId4" Type="http://schemas.openxmlformats.org/officeDocument/2006/relationships/image" Target="../media/image278.wmf"/><Relationship Id="rId9" Type="http://schemas.openxmlformats.org/officeDocument/2006/relationships/oleObject" Target="../embeddings/oleObject325.bin"/><Relationship Id="rId14" Type="http://schemas.openxmlformats.org/officeDocument/2006/relationships/image" Target="../media/image283.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1</a:t>
            </a:fld>
            <a:endParaRPr lang="en-US" altLang="zh-CN" sz="1400" dirty="0">
              <a:ea typeface="微软雅黑" panose="020B0503020204020204" pitchFamily="34" charset="-122"/>
            </a:endParaRPr>
          </a:p>
        </p:txBody>
      </p:sp>
      <p:grpSp>
        <p:nvGrpSpPr>
          <p:cNvPr id="2" name="Group 5"/>
          <p:cNvGrpSpPr/>
          <p:nvPr/>
        </p:nvGrpSpPr>
        <p:grpSpPr>
          <a:xfrm>
            <a:off x="0" y="188914"/>
            <a:ext cx="9144000" cy="2503488"/>
            <a:chOff x="1104" y="1591"/>
            <a:chExt cx="3600" cy="1577"/>
          </a:xfrm>
        </p:grpSpPr>
        <p:sp>
          <p:nvSpPr>
            <p:cNvPr id="4104" name="Rectangle 6" descr="信纸"/>
            <p:cNvSpPr/>
            <p:nvPr/>
          </p:nvSpPr>
          <p:spPr>
            <a:xfrm>
              <a:off x="1464" y="1970"/>
              <a:ext cx="2880" cy="816"/>
            </a:xfrm>
            <a:prstGeom prst="rect">
              <a:avLst/>
            </a:prstGeom>
            <a:blipFill rotWithShape="0">
              <a:blip r:embed="rId3"/>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a typeface="微软雅黑" panose="020B0503020204020204" pitchFamily="34" charset="-122"/>
              </a:endParaRPr>
            </a:p>
          </p:txBody>
        </p:sp>
        <p:grpSp>
          <p:nvGrpSpPr>
            <p:cNvPr id="4105" name="Group 7"/>
            <p:cNvGrpSpPr/>
            <p:nvPr/>
          </p:nvGrpSpPr>
          <p:grpSpPr>
            <a:xfrm>
              <a:off x="1104" y="1591"/>
              <a:ext cx="3600" cy="1577"/>
              <a:chOff x="1104" y="1591"/>
              <a:chExt cx="3600" cy="1577"/>
            </a:xfrm>
          </p:grpSpPr>
          <p:pic>
            <p:nvPicPr>
              <p:cNvPr id="4106" name="Picture 8" descr="印"/>
              <p:cNvPicPr>
                <a:picLocks noChangeAspect="1"/>
              </p:cNvPicPr>
              <p:nvPr/>
            </p:nvPicPr>
            <p:blipFill>
              <a:blip r:embed="rId4"/>
              <a:stretch>
                <a:fillRect/>
              </a:stretch>
            </p:blipFill>
            <p:spPr>
              <a:xfrm>
                <a:off x="1507" y="2663"/>
                <a:ext cx="101" cy="101"/>
              </a:xfrm>
              <a:prstGeom prst="rect">
                <a:avLst/>
              </a:prstGeom>
              <a:noFill/>
              <a:ln w="9525">
                <a:noFill/>
              </a:ln>
            </p:spPr>
          </p:pic>
          <p:grpSp>
            <p:nvGrpSpPr>
              <p:cNvPr id="4107" name="Group 9"/>
              <p:cNvGrpSpPr/>
              <p:nvPr/>
            </p:nvGrpSpPr>
            <p:grpSpPr>
              <a:xfrm>
                <a:off x="1104" y="1591"/>
                <a:ext cx="3600" cy="1577"/>
                <a:chOff x="1104" y="1584"/>
                <a:chExt cx="3600" cy="1577"/>
              </a:xfrm>
            </p:grpSpPr>
            <p:pic>
              <p:nvPicPr>
                <p:cNvPr id="4108" name="Picture 10" descr="卷轴2"/>
                <p:cNvPicPr>
                  <a:picLocks noChangeAspect="1"/>
                </p:cNvPicPr>
                <p:nvPr/>
              </p:nvPicPr>
              <p:blipFill>
                <a:blip r:embed="rId5"/>
                <a:stretch>
                  <a:fillRect/>
                </a:stretch>
              </p:blipFill>
              <p:spPr>
                <a:xfrm>
                  <a:off x="1104" y="1584"/>
                  <a:ext cx="3600" cy="1577"/>
                </a:xfrm>
                <a:prstGeom prst="rect">
                  <a:avLst/>
                </a:prstGeom>
                <a:noFill/>
                <a:ln w="9525">
                  <a:noFill/>
                </a:ln>
              </p:spPr>
            </p:pic>
            <p:sp>
              <p:nvSpPr>
                <p:cNvPr id="4109" name="Text Box 11"/>
                <p:cNvSpPr txBox="1"/>
                <p:nvPr/>
              </p:nvSpPr>
              <p:spPr>
                <a:xfrm>
                  <a:off x="1463" y="2121"/>
                  <a:ext cx="2837" cy="582"/>
                </a:xfrm>
                <a:prstGeom prst="rect">
                  <a:avLst/>
                </a:prstGeom>
                <a:noFill/>
                <a:ln w="9525">
                  <a:noFill/>
                </a:ln>
              </p:spPr>
              <p:txBody>
                <a:bodyPr wrap="square">
                  <a:spAutoFit/>
                </a:bodyPr>
                <a:lstStyle/>
                <a:p>
                  <a:pPr algn="ctr" eaLnBrk="1" hangingPunct="1">
                    <a:spcBef>
                      <a:spcPct val="50000"/>
                    </a:spcBef>
                  </a:pPr>
                  <a:r>
                    <a:rPr lang="zh-CN" altLang="zh-CN" sz="5400" b="1" dirty="0">
                      <a:latin typeface="微软雅黑" panose="020B0503020204020204" pitchFamily="34" charset="-122"/>
                      <a:ea typeface="微软雅黑" panose="020B0503020204020204" pitchFamily="34" charset="-122"/>
                    </a:rPr>
                    <a:t>最优化理论与方法</a:t>
                  </a:r>
                  <a:endParaRPr lang="zh-CN" altLang="en-US" sz="5400" b="1" dirty="0">
                    <a:latin typeface="微软雅黑" panose="020B0503020204020204" pitchFamily="34" charset="-122"/>
                    <a:ea typeface="微软雅黑" panose="020B0503020204020204" pitchFamily="34" charset="-122"/>
                  </a:endParaRPr>
                </a:p>
              </p:txBody>
            </p:sp>
          </p:grpSp>
        </p:grpSp>
      </p:grpSp>
      <p:grpSp>
        <p:nvGrpSpPr>
          <p:cNvPr id="5" name="Group 12"/>
          <p:cNvGrpSpPr/>
          <p:nvPr/>
        </p:nvGrpSpPr>
        <p:grpSpPr>
          <a:xfrm>
            <a:off x="526369" y="2924010"/>
            <a:ext cx="8207375" cy="3941762"/>
            <a:chOff x="528" y="1440"/>
            <a:chExt cx="4608" cy="2256"/>
          </a:xfrm>
        </p:grpSpPr>
        <p:sp>
          <p:nvSpPr>
            <p:cNvPr id="4102" name="Text Box 13"/>
            <p:cNvSpPr txBox="1"/>
            <p:nvPr/>
          </p:nvSpPr>
          <p:spPr>
            <a:xfrm>
              <a:off x="528" y="1440"/>
              <a:ext cx="346" cy="2256"/>
            </a:xfrm>
            <a:prstGeom prst="rect">
              <a:avLst/>
            </a:prstGeom>
            <a:noFill/>
            <a:ln w="9525">
              <a:noFill/>
            </a:ln>
          </p:spPr>
          <p:txBody>
            <a:bodyPr vert="eaVert">
              <a:spAutoFit/>
            </a:bodyPr>
            <a:lstStyle/>
            <a:p>
              <a:pPr eaLnBrk="1" hangingPunct="1">
                <a:spcBef>
                  <a:spcPct val="50000"/>
                </a:spcBef>
              </a:pPr>
              <a:r>
                <a:rPr lang="zh-CN" altLang="en-US" sz="2800" b="1" dirty="0">
                  <a:solidFill>
                    <a:srgbClr val="FF0000"/>
                  </a:solidFill>
                  <a:latin typeface="微软雅黑" panose="020B0503020204020204" pitchFamily="34" charset="-122"/>
                  <a:ea typeface="微软雅黑" panose="020B0503020204020204" pitchFamily="34" charset="-122"/>
                </a:rPr>
                <a:t>运 筹 帷 幄 之 中</a:t>
              </a:r>
            </a:p>
          </p:txBody>
        </p:sp>
        <p:sp>
          <p:nvSpPr>
            <p:cNvPr id="4103" name="Text Box 14"/>
            <p:cNvSpPr txBox="1"/>
            <p:nvPr/>
          </p:nvSpPr>
          <p:spPr>
            <a:xfrm>
              <a:off x="4790" y="1488"/>
              <a:ext cx="346" cy="2208"/>
            </a:xfrm>
            <a:prstGeom prst="rect">
              <a:avLst/>
            </a:prstGeom>
            <a:noFill/>
            <a:ln w="9525">
              <a:noFill/>
            </a:ln>
          </p:spPr>
          <p:txBody>
            <a:bodyPr vert="eaVert">
              <a:spAutoFit/>
            </a:bodyPr>
            <a:lstStyle/>
            <a:p>
              <a:pPr eaLnBrk="1" hangingPunct="1">
                <a:spcBef>
                  <a:spcPct val="50000"/>
                </a:spcBef>
              </a:pPr>
              <a:r>
                <a:rPr lang="zh-CN" altLang="en-US" sz="2800" b="1" dirty="0">
                  <a:solidFill>
                    <a:srgbClr val="FF0000"/>
                  </a:solidFill>
                  <a:latin typeface="微软雅黑" panose="020B0503020204020204" pitchFamily="34" charset="-122"/>
                  <a:ea typeface="微软雅黑" panose="020B0503020204020204" pitchFamily="34" charset="-122"/>
                </a:rPr>
                <a:t>决 胜 千 里 之 外</a:t>
              </a:r>
            </a:p>
          </p:txBody>
        </p:sp>
      </p:grpSp>
      <p:sp>
        <p:nvSpPr>
          <p:cNvPr id="4101" name="Text Box 15"/>
          <p:cNvSpPr txBox="1"/>
          <p:nvPr/>
        </p:nvSpPr>
        <p:spPr>
          <a:xfrm>
            <a:off x="0" y="4652963"/>
            <a:ext cx="9144000" cy="1168400"/>
          </a:xfrm>
          <a:prstGeom prst="rect">
            <a:avLst/>
          </a:prstGeom>
          <a:noFill/>
          <a:ln w="9525">
            <a:noFill/>
          </a:ln>
        </p:spPr>
        <p:txBody>
          <a:bodyPr wrap="square">
            <a:spAutoFit/>
          </a:bodyPr>
          <a:lstStyle/>
          <a:p>
            <a:pPr algn="ctr" eaLnBrk="1" hangingPunct="1">
              <a:spcBef>
                <a:spcPct val="50000"/>
              </a:spcBef>
            </a:pPr>
            <a:r>
              <a:rPr lang="zh-CN" altLang="en-US" sz="2800" b="1" dirty="0">
                <a:solidFill>
                  <a:schemeClr val="bg2"/>
                </a:solidFill>
                <a:latin typeface="微软雅黑" panose="020B0503020204020204" pitchFamily="34" charset="-122"/>
                <a:ea typeface="微软雅黑" panose="020B0503020204020204" pitchFamily="34" charset="-122"/>
              </a:rPr>
              <a:t>曾志刚</a:t>
            </a:r>
          </a:p>
          <a:p>
            <a:pPr algn="ctr" eaLnBrk="1" hangingPunct="1">
              <a:spcBef>
                <a:spcPct val="50000"/>
              </a:spcBef>
            </a:pPr>
            <a:endParaRPr lang="zh-CN" altLang="en-US" sz="2800" b="1" dirty="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ppt_h/2"/>
                                          </p:val>
                                        </p:tav>
                                        <p:tav tm="100000">
                                          <p:val>
                                            <p:strVal val="#ppt_y"/>
                                          </p:val>
                                        </p:tav>
                                      </p:tavLst>
                                    </p:anim>
                                    <p:anim calcmode="lin" valueType="num">
                                      <p:cBhvr>
                                        <p:cTn id="14" dur="500" fill="hold"/>
                                        <p:tgtEl>
                                          <p:spTgt spid="5"/>
                                        </p:tgtEl>
                                        <p:attrNameLst>
                                          <p:attrName>ppt_w</p:attrName>
                                        </p:attrNameLst>
                                      </p:cBhvr>
                                      <p:tavLst>
                                        <p:tav tm="0">
                                          <p:val>
                                            <p:strVal val="#ppt_w"/>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2"/>
          <p:cNvSpPr txBox="1"/>
          <p:nvPr/>
        </p:nvSpPr>
        <p:spPr>
          <a:xfrm>
            <a:off x="26717" y="407245"/>
            <a:ext cx="6846838" cy="415498"/>
          </a:xfrm>
          <a:prstGeom prst="rect">
            <a:avLst/>
          </a:prstGeom>
          <a:noFill/>
          <a:ln w="38100">
            <a:noFill/>
            <a:prstDash val="sysDash"/>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7175" indent="-257175">
              <a:buFont typeface="Wingdings" panose="05000000000000000000" pitchFamily="2" charset="2"/>
              <a:buChar char="p"/>
            </a:pPr>
            <a:r>
              <a:rPr lang="zh-CN" altLang="en-US" sz="2100" b="1" kern="0" dirty="0">
                <a:latin typeface="微软雅黑" panose="020B0503020204020204" pitchFamily="34" charset="-122"/>
                <a:ea typeface="微软雅黑" panose="020B0503020204020204" pitchFamily="34" charset="-122"/>
              </a:rPr>
              <a:t>优化理论应用于</a:t>
            </a:r>
            <a:r>
              <a:rPr lang="zh-CN" altLang="en-US" sz="2100" b="1" kern="0" dirty="0">
                <a:solidFill>
                  <a:srgbClr val="C00000"/>
                </a:solidFill>
                <a:latin typeface="微软雅黑" panose="020B0503020204020204" pitchFamily="34" charset="-122"/>
                <a:ea typeface="微软雅黑" panose="020B0503020204020204" pitchFamily="34" charset="-122"/>
              </a:rPr>
              <a:t>空</a:t>
            </a:r>
            <a:r>
              <a:rPr lang="en-US" altLang="zh-CN" sz="2100" b="1" kern="0" dirty="0">
                <a:solidFill>
                  <a:srgbClr val="C00000"/>
                </a:solidFill>
                <a:latin typeface="微软雅黑" panose="020B0503020204020204" pitchFamily="34" charset="-122"/>
                <a:ea typeface="微软雅黑" panose="020B0503020204020204" pitchFamily="34" charset="-122"/>
              </a:rPr>
              <a:t>-</a:t>
            </a:r>
            <a:r>
              <a:rPr lang="zh-CN" altLang="en-US" sz="2100" b="1" kern="0" dirty="0">
                <a:solidFill>
                  <a:srgbClr val="C00000"/>
                </a:solidFill>
                <a:latin typeface="微软雅黑" panose="020B0503020204020204" pitchFamily="34" charset="-122"/>
                <a:ea typeface="微软雅黑" panose="020B0503020204020204" pitchFamily="34" charset="-122"/>
              </a:rPr>
              <a:t>天</a:t>
            </a:r>
            <a:r>
              <a:rPr lang="en-US" altLang="zh-CN" sz="2100" b="1" kern="0" dirty="0">
                <a:solidFill>
                  <a:srgbClr val="C00000"/>
                </a:solidFill>
                <a:latin typeface="微软雅黑" panose="020B0503020204020204" pitchFamily="34" charset="-122"/>
                <a:ea typeface="微软雅黑" panose="020B0503020204020204" pitchFamily="34" charset="-122"/>
              </a:rPr>
              <a:t>-</a:t>
            </a:r>
            <a:r>
              <a:rPr lang="zh-CN" altLang="en-US" sz="2100" b="1" kern="0" dirty="0">
                <a:solidFill>
                  <a:srgbClr val="C00000"/>
                </a:solidFill>
                <a:latin typeface="微软雅黑" panose="020B0503020204020204" pitchFamily="34" charset="-122"/>
                <a:ea typeface="微软雅黑" panose="020B0503020204020204" pitchFamily="34" charset="-122"/>
              </a:rPr>
              <a:t>地</a:t>
            </a:r>
            <a:r>
              <a:rPr lang="en-US" altLang="zh-CN" sz="2100" b="1" kern="0" dirty="0">
                <a:solidFill>
                  <a:srgbClr val="C00000"/>
                </a:solidFill>
                <a:latin typeface="微软雅黑" panose="020B0503020204020204" pitchFamily="34" charset="-122"/>
                <a:ea typeface="微软雅黑" panose="020B0503020204020204" pitchFamily="34" charset="-122"/>
              </a:rPr>
              <a:t>-</a:t>
            </a:r>
            <a:r>
              <a:rPr lang="zh-CN" altLang="en-US" sz="2100" b="1" kern="0" dirty="0">
                <a:solidFill>
                  <a:srgbClr val="C00000"/>
                </a:solidFill>
                <a:latin typeface="微软雅黑" panose="020B0503020204020204" pitchFamily="34" charset="-122"/>
                <a:ea typeface="微软雅黑" panose="020B0503020204020204" pitchFamily="34" charset="-122"/>
              </a:rPr>
              <a:t>海</a:t>
            </a:r>
            <a:r>
              <a:rPr lang="en-US" altLang="zh-CN" sz="2100" b="1" kern="0" dirty="0">
                <a:solidFill>
                  <a:srgbClr val="C00000"/>
                </a:solidFill>
                <a:latin typeface="微软雅黑" panose="020B0503020204020204" pitchFamily="34" charset="-122"/>
                <a:ea typeface="微软雅黑" panose="020B0503020204020204" pitchFamily="34" charset="-122"/>
              </a:rPr>
              <a:t>-</a:t>
            </a:r>
            <a:r>
              <a:rPr lang="zh-CN" altLang="en-US" sz="2100" b="1" kern="0" dirty="0">
                <a:solidFill>
                  <a:srgbClr val="C00000"/>
                </a:solidFill>
                <a:latin typeface="微软雅黑" panose="020B0503020204020204" pitchFamily="34" charset="-122"/>
                <a:ea typeface="微软雅黑" panose="020B0503020204020204" pitchFamily="34" charset="-122"/>
              </a:rPr>
              <a:t>潜</a:t>
            </a:r>
            <a:r>
              <a:rPr lang="zh-CN" altLang="en-US" sz="2100" b="1" kern="0" dirty="0">
                <a:latin typeface="微软雅黑" panose="020B0503020204020204" pitchFamily="34" charset="-122"/>
                <a:ea typeface="微软雅黑" panose="020B0503020204020204" pitchFamily="34" charset="-122"/>
              </a:rPr>
              <a:t>等控制领域</a:t>
            </a:r>
            <a:endParaRPr lang="en-US" altLang="zh-CN" sz="2100" b="1" kern="0" dirty="0">
              <a:latin typeface="微软雅黑" panose="020B0503020204020204" pitchFamily="34" charset="-122"/>
              <a:ea typeface="微软雅黑" panose="020B0503020204020204" pitchFamily="34" charset="-122"/>
            </a:endParaRPr>
          </a:p>
        </p:txBody>
      </p:sp>
      <p:sp>
        <p:nvSpPr>
          <p:cNvPr id="7" name="等腰三角形 6"/>
          <p:cNvSpPr/>
          <p:nvPr/>
        </p:nvSpPr>
        <p:spPr>
          <a:xfrm>
            <a:off x="2358864" y="3383403"/>
            <a:ext cx="4335814" cy="358721"/>
          </a:xfrm>
          <a:prstGeom prst="triangle">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143509" y="3778089"/>
            <a:ext cx="8766527" cy="435606"/>
          </a:xfrm>
          <a:prstGeom prst="rect">
            <a:avLst/>
          </a:prstGeom>
          <a:noFill/>
          <a:ln w="19050">
            <a:solidFill>
              <a:srgbClr val="0070C0"/>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5"/>
          </a:p>
        </p:txBody>
      </p:sp>
      <p:sp>
        <p:nvSpPr>
          <p:cNvPr id="18" name="等腰三角形 17"/>
          <p:cNvSpPr/>
          <p:nvPr/>
        </p:nvSpPr>
        <p:spPr>
          <a:xfrm>
            <a:off x="2249578" y="5197868"/>
            <a:ext cx="4353863" cy="290110"/>
          </a:xfrm>
          <a:prstGeom prst="triangle">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1200545" y="5528702"/>
            <a:ext cx="6647975" cy="461665"/>
            <a:chOff x="1093589" y="5190073"/>
            <a:chExt cx="6866353" cy="615553"/>
          </a:xfrm>
        </p:grpSpPr>
        <p:sp>
          <p:nvSpPr>
            <p:cNvPr id="20" name="矩形 19"/>
            <p:cNvSpPr/>
            <p:nvPr/>
          </p:nvSpPr>
          <p:spPr>
            <a:xfrm>
              <a:off x="1205974" y="5190073"/>
              <a:ext cx="6682429" cy="584776"/>
            </a:xfrm>
            <a:prstGeom prst="rect">
              <a:avLst/>
            </a:prstGeom>
            <a:noFill/>
            <a:ln w="19050">
              <a:solidFill>
                <a:srgbClr val="0070C0"/>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5"/>
            </a:p>
          </p:txBody>
        </p:sp>
        <p:sp>
          <p:nvSpPr>
            <p:cNvPr id="21" name="文本框 58"/>
            <p:cNvSpPr txBox="1"/>
            <p:nvPr/>
          </p:nvSpPr>
          <p:spPr>
            <a:xfrm>
              <a:off x="1093589" y="5190073"/>
              <a:ext cx="6866353" cy="615553"/>
            </a:xfrm>
            <a:prstGeom prst="rect">
              <a:avLst/>
            </a:prstGeom>
            <a:noFill/>
            <a:ln w="38100">
              <a:noFill/>
              <a:prstDash val="sysDash"/>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优化理论与方法是控制系统高效运行的重要支撑</a:t>
              </a:r>
            </a:p>
          </p:txBody>
        </p:sp>
      </p:grpSp>
      <p:sp>
        <p:nvSpPr>
          <p:cNvPr id="27" name="矩形 26"/>
          <p:cNvSpPr/>
          <p:nvPr/>
        </p:nvSpPr>
        <p:spPr>
          <a:xfrm>
            <a:off x="3663523" y="5224775"/>
            <a:ext cx="1550240" cy="2928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rgbClr val="3B46D9"/>
                </a:solidFill>
                <a:latin typeface="微软雅黑" panose="020B0503020204020204" pitchFamily="34" charset="-122"/>
                <a:ea typeface="微软雅黑" panose="020B0503020204020204" pitchFamily="34" charset="-122"/>
              </a:rPr>
              <a:t>直接决定</a:t>
            </a:r>
          </a:p>
        </p:txBody>
      </p:sp>
      <p:sp>
        <p:nvSpPr>
          <p:cNvPr id="28" name="矩形 27"/>
          <p:cNvSpPr/>
          <p:nvPr/>
        </p:nvSpPr>
        <p:spPr>
          <a:xfrm>
            <a:off x="3697932" y="3413452"/>
            <a:ext cx="1550240" cy="2928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rgbClr val="3B46D9"/>
                </a:solidFill>
                <a:latin typeface="微软雅黑" panose="020B0503020204020204" pitchFamily="34" charset="-122"/>
                <a:ea typeface="微软雅黑" panose="020B0503020204020204" pitchFamily="34" charset="-122"/>
              </a:rPr>
              <a:t>任务挑战</a:t>
            </a:r>
          </a:p>
        </p:txBody>
      </p:sp>
      <p:grpSp>
        <p:nvGrpSpPr>
          <p:cNvPr id="29" name="组合 28"/>
          <p:cNvGrpSpPr/>
          <p:nvPr/>
        </p:nvGrpSpPr>
        <p:grpSpPr>
          <a:xfrm>
            <a:off x="143508" y="1842739"/>
            <a:ext cx="8748972" cy="1529106"/>
            <a:chOff x="-635" y="1313984"/>
            <a:chExt cx="9092189" cy="1727089"/>
          </a:xfrm>
        </p:grpSpPr>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106" y="1875368"/>
              <a:ext cx="1641107" cy="1131550"/>
            </a:xfrm>
            <a:prstGeom prst="rect">
              <a:avLst/>
            </a:prstGeom>
          </p:spPr>
        </p:pic>
        <p:grpSp>
          <p:nvGrpSpPr>
            <p:cNvPr id="31" name="组合 30"/>
            <p:cNvGrpSpPr/>
            <p:nvPr/>
          </p:nvGrpSpPr>
          <p:grpSpPr>
            <a:xfrm>
              <a:off x="-635" y="1313984"/>
              <a:ext cx="9092189" cy="1727089"/>
              <a:chOff x="-635" y="1313984"/>
              <a:chExt cx="9092189" cy="1727089"/>
            </a:xfrm>
          </p:grpSpPr>
          <p:pic>
            <p:nvPicPr>
              <p:cNvPr id="33" name="图片 32"/>
              <p:cNvPicPr>
                <a:picLocks noChangeAspect="1"/>
              </p:cNvPicPr>
              <p:nvPr/>
            </p:nvPicPr>
            <p:blipFill rotWithShape="1">
              <a:blip r:embed="rId4" cstate="print">
                <a:extLst>
                  <a:ext uri="{28A0092B-C50C-407E-A947-70E740481C1C}">
                    <a14:useLocalDpi xmlns:a14="http://schemas.microsoft.com/office/drawing/2010/main" val="0"/>
                  </a:ext>
                </a:extLst>
              </a:blip>
              <a:srcRect l="19343" t="10745" r="27185" b="31606"/>
              <a:stretch>
                <a:fillRect/>
              </a:stretch>
            </p:blipFill>
            <p:spPr>
              <a:xfrm>
                <a:off x="5648912" y="1907801"/>
                <a:ext cx="1540609" cy="1104358"/>
              </a:xfrm>
              <a:prstGeom prst="rect">
                <a:avLst/>
              </a:prstGeom>
            </p:spPr>
          </p:pic>
          <p:pic>
            <p:nvPicPr>
              <p:cNvPr id="34" name="图片 33"/>
              <p:cNvPicPr>
                <a:picLocks noChangeAspect="1"/>
              </p:cNvPicPr>
              <p:nvPr/>
            </p:nvPicPr>
            <p:blipFill rotWithShape="1">
              <a:blip r:embed="rId5" cstate="print">
                <a:extLst>
                  <a:ext uri="{28A0092B-C50C-407E-A947-70E740481C1C}">
                    <a14:useLocalDpi xmlns:a14="http://schemas.microsoft.com/office/drawing/2010/main" val="0"/>
                  </a:ext>
                </a:extLst>
              </a:blip>
              <a:srcRect l="11014" t="20672" r="6718" b="21476"/>
              <a:stretch>
                <a:fillRect/>
              </a:stretch>
            </p:blipFill>
            <p:spPr>
              <a:xfrm>
                <a:off x="7441739" y="1940332"/>
                <a:ext cx="1568640" cy="1065509"/>
              </a:xfrm>
              <a:prstGeom prst="rect">
                <a:avLst/>
              </a:prstGeom>
            </p:spPr>
          </p:pic>
          <p:grpSp>
            <p:nvGrpSpPr>
              <p:cNvPr id="35" name="组合 34"/>
              <p:cNvGrpSpPr/>
              <p:nvPr/>
            </p:nvGrpSpPr>
            <p:grpSpPr>
              <a:xfrm>
                <a:off x="-635" y="1313984"/>
                <a:ext cx="9092189" cy="1727089"/>
                <a:chOff x="51810" y="1271569"/>
                <a:chExt cx="9092189" cy="1727089"/>
              </a:xfrm>
            </p:grpSpPr>
            <p:pic>
              <p:nvPicPr>
                <p:cNvPr id="36" name="图片 35"/>
                <p:cNvPicPr>
                  <a:picLocks noChangeAspect="1"/>
                </p:cNvPicPr>
                <p:nvPr/>
              </p:nvPicPr>
              <p:blipFill rotWithShape="1">
                <a:blip r:embed="rId6" cstate="print">
                  <a:extLst>
                    <a:ext uri="{28A0092B-C50C-407E-A947-70E740481C1C}">
                      <a14:useLocalDpi xmlns:a14="http://schemas.microsoft.com/office/drawing/2010/main" val="0"/>
                    </a:ext>
                  </a:extLst>
                </a:blip>
                <a:srcRect l="9015" t="17837" r="1902" b="15518"/>
                <a:stretch>
                  <a:fillRect/>
                </a:stretch>
              </p:blipFill>
              <p:spPr>
                <a:xfrm>
                  <a:off x="3850217" y="1857603"/>
                  <a:ext cx="1621407" cy="1113738"/>
                </a:xfrm>
                <a:prstGeom prst="rect">
                  <a:avLst/>
                </a:prstGeom>
              </p:spPr>
            </p:pic>
            <p:sp>
              <p:nvSpPr>
                <p:cNvPr id="37" name="圆角矩形 89"/>
                <p:cNvSpPr/>
                <p:nvPr/>
              </p:nvSpPr>
              <p:spPr>
                <a:xfrm>
                  <a:off x="1988616" y="1292759"/>
                  <a:ext cx="1670935" cy="5420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天：歼</a:t>
                  </a:r>
                  <a:r>
                    <a:rPr lang="en-US" altLang="zh-CN" sz="1500" b="1" dirty="0">
                      <a:solidFill>
                        <a:schemeClr val="bg1"/>
                      </a:solidFill>
                      <a:latin typeface="微软雅黑" panose="020B0503020204020204" pitchFamily="34" charset="-122"/>
                      <a:ea typeface="微软雅黑" panose="020B0503020204020204" pitchFamily="34" charset="-122"/>
                    </a:rPr>
                    <a:t>20</a:t>
                  </a:r>
                  <a:r>
                    <a:rPr lang="zh-CN" altLang="en-US" sz="1500" b="1" dirty="0">
                      <a:solidFill>
                        <a:schemeClr val="bg1"/>
                      </a:solidFill>
                      <a:latin typeface="微软雅黑" panose="020B0503020204020204" pitchFamily="34" charset="-122"/>
                      <a:ea typeface="微软雅黑" panose="020B0503020204020204" pitchFamily="34" charset="-122"/>
                    </a:rPr>
                    <a:t>战机</a:t>
                  </a:r>
                  <a:endParaRPr lang="en-US" altLang="zh-CN" sz="1500" b="1" dirty="0">
                    <a:solidFill>
                      <a:schemeClr val="bg1"/>
                    </a:solidFill>
                    <a:latin typeface="微软雅黑" panose="020B0503020204020204" pitchFamily="34" charset="-122"/>
                    <a:ea typeface="微软雅黑" panose="020B0503020204020204" pitchFamily="34" charset="-122"/>
                  </a:endParaRPr>
                </a:p>
                <a:p>
                  <a:pPr algn="ctr"/>
                  <a:r>
                    <a:rPr lang="zh-CN" altLang="en-US" sz="1500" b="1" dirty="0">
                      <a:solidFill>
                        <a:schemeClr val="bg1"/>
                      </a:solidFill>
                      <a:latin typeface="微软雅黑" panose="020B0503020204020204" pitchFamily="34" charset="-122"/>
                      <a:ea typeface="微软雅黑" panose="020B0503020204020204" pitchFamily="34" charset="-122"/>
                    </a:rPr>
                    <a:t>通讯优化</a:t>
                  </a:r>
                </a:p>
              </p:txBody>
            </p:sp>
            <p:sp>
              <p:nvSpPr>
                <p:cNvPr id="38" name="圆角矩形 90"/>
                <p:cNvSpPr/>
                <p:nvPr/>
              </p:nvSpPr>
              <p:spPr>
                <a:xfrm>
                  <a:off x="3820510" y="1292485"/>
                  <a:ext cx="1662408" cy="53969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地：坦克车辆</a:t>
                  </a:r>
                  <a:endParaRPr lang="en-US" altLang="zh-CN" sz="1500" b="1" dirty="0">
                    <a:solidFill>
                      <a:schemeClr val="bg1"/>
                    </a:solidFill>
                    <a:latin typeface="微软雅黑" panose="020B0503020204020204" pitchFamily="34" charset="-122"/>
                    <a:ea typeface="微软雅黑" panose="020B0503020204020204" pitchFamily="34" charset="-122"/>
                  </a:endParaRPr>
                </a:p>
                <a:p>
                  <a:pPr algn="ctr"/>
                  <a:r>
                    <a:rPr lang="zh-CN" altLang="en-US" sz="1500" b="1" dirty="0">
                      <a:solidFill>
                        <a:schemeClr val="bg1"/>
                      </a:solidFill>
                      <a:latin typeface="微软雅黑" panose="020B0503020204020204" pitchFamily="34" charset="-122"/>
                      <a:ea typeface="微软雅黑" panose="020B0503020204020204" pitchFamily="34" charset="-122"/>
                    </a:rPr>
                    <a:t>出动优化</a:t>
                  </a:r>
                </a:p>
              </p:txBody>
            </p:sp>
            <p:sp>
              <p:nvSpPr>
                <p:cNvPr id="39" name="圆角矩形 91"/>
                <p:cNvSpPr/>
                <p:nvPr/>
              </p:nvSpPr>
              <p:spPr>
                <a:xfrm>
                  <a:off x="5660957" y="1294250"/>
                  <a:ext cx="1621407" cy="56175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bg1"/>
                      </a:solidFill>
                      <a:latin typeface="微软雅黑" panose="020B0503020204020204" pitchFamily="34" charset="-122"/>
                      <a:ea typeface="微软雅黑" panose="020B0503020204020204" pitchFamily="34" charset="-122"/>
                    </a:rPr>
                    <a:t>海：舰载机</a:t>
                  </a:r>
                  <a:endParaRPr lang="en-US" altLang="zh-CN" sz="1500" b="1" dirty="0">
                    <a:solidFill>
                      <a:schemeClr val="bg1"/>
                    </a:solidFill>
                    <a:latin typeface="微软雅黑" panose="020B0503020204020204" pitchFamily="34" charset="-122"/>
                    <a:ea typeface="微软雅黑" panose="020B0503020204020204" pitchFamily="34" charset="-122"/>
                  </a:endParaRPr>
                </a:p>
                <a:p>
                  <a:pPr algn="ctr"/>
                  <a:r>
                    <a:rPr lang="zh-CN" altLang="en-US" sz="1500" b="1" dirty="0">
                      <a:solidFill>
                        <a:schemeClr val="bg1"/>
                      </a:solidFill>
                      <a:latin typeface="微软雅黑" panose="020B0503020204020204" pitchFamily="34" charset="-122"/>
                      <a:ea typeface="微软雅黑" panose="020B0503020204020204" pitchFamily="34" charset="-122"/>
                    </a:rPr>
                    <a:t>调度与优化</a:t>
                  </a:r>
                </a:p>
              </p:txBody>
            </p:sp>
            <p:sp>
              <p:nvSpPr>
                <p:cNvPr id="40" name="圆角矩形 92"/>
                <p:cNvSpPr/>
                <p:nvPr/>
              </p:nvSpPr>
              <p:spPr>
                <a:xfrm>
                  <a:off x="7457949" y="1292485"/>
                  <a:ext cx="1641108" cy="59237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bg1"/>
                      </a:solidFill>
                      <a:latin typeface="微软雅黑" panose="020B0503020204020204" pitchFamily="34" charset="-122"/>
                      <a:ea typeface="微软雅黑" panose="020B0503020204020204" pitchFamily="34" charset="-122"/>
                    </a:rPr>
                    <a:t>潜：潜艇推进</a:t>
                  </a:r>
                  <a:endParaRPr lang="en-US" altLang="zh-CN" sz="1500" b="1" dirty="0">
                    <a:solidFill>
                      <a:schemeClr val="bg1"/>
                    </a:solidFill>
                    <a:latin typeface="微软雅黑" panose="020B0503020204020204" pitchFamily="34" charset="-122"/>
                    <a:ea typeface="微软雅黑" panose="020B0503020204020204" pitchFamily="34" charset="-122"/>
                  </a:endParaRPr>
                </a:p>
                <a:p>
                  <a:pPr algn="ctr"/>
                  <a:r>
                    <a:rPr lang="zh-CN" altLang="en-US" sz="1500" b="1" dirty="0">
                      <a:solidFill>
                        <a:schemeClr val="bg1"/>
                      </a:solidFill>
                      <a:latin typeface="微软雅黑" panose="020B0503020204020204" pitchFamily="34" charset="-122"/>
                      <a:ea typeface="微软雅黑" panose="020B0503020204020204" pitchFamily="34" charset="-122"/>
                    </a:rPr>
                    <a:t>能源优化</a:t>
                  </a:r>
                </a:p>
              </p:txBody>
            </p:sp>
            <p:sp>
              <p:nvSpPr>
                <p:cNvPr id="41" name="矩形 40"/>
                <p:cNvSpPr/>
                <p:nvPr/>
              </p:nvSpPr>
              <p:spPr>
                <a:xfrm>
                  <a:off x="51810" y="1271569"/>
                  <a:ext cx="9092189" cy="1727089"/>
                </a:xfrm>
                <a:prstGeom prst="rect">
                  <a:avLst/>
                </a:prstGeom>
                <a:noFill/>
                <a:ln w="19050">
                  <a:solidFill>
                    <a:srgbClr val="0070C0"/>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5"/>
                </a:p>
              </p:txBody>
            </p:sp>
            <p:sp>
              <p:nvSpPr>
                <p:cNvPr id="42" name="圆角矩形 88"/>
                <p:cNvSpPr/>
                <p:nvPr/>
              </p:nvSpPr>
              <p:spPr>
                <a:xfrm>
                  <a:off x="157508" y="1285988"/>
                  <a:ext cx="1701766" cy="54153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bg1"/>
                      </a:solidFill>
                      <a:latin typeface="微软雅黑" panose="020B0503020204020204" pitchFamily="34" charset="-122"/>
                      <a:ea typeface="微软雅黑" panose="020B0503020204020204" pitchFamily="34" charset="-122"/>
                    </a:rPr>
                    <a:t>空：北斗卫星</a:t>
                  </a:r>
                  <a:endParaRPr lang="en-US" altLang="zh-CN" sz="1500" b="1" dirty="0">
                    <a:solidFill>
                      <a:schemeClr val="bg1"/>
                    </a:solidFill>
                    <a:latin typeface="微软雅黑" panose="020B0503020204020204" pitchFamily="34" charset="-122"/>
                    <a:ea typeface="微软雅黑" panose="020B0503020204020204" pitchFamily="34" charset="-122"/>
                  </a:endParaRPr>
                </a:p>
                <a:p>
                  <a:pPr algn="ctr"/>
                  <a:r>
                    <a:rPr lang="zh-CN" altLang="en-US" sz="1500" b="1" dirty="0">
                      <a:solidFill>
                        <a:schemeClr val="bg1"/>
                      </a:solidFill>
                      <a:latin typeface="微软雅黑" panose="020B0503020204020204" pitchFamily="34" charset="-122"/>
                      <a:ea typeface="微软雅黑" panose="020B0503020204020204" pitchFamily="34" charset="-122"/>
                    </a:rPr>
                    <a:t>轨迹优化</a:t>
                  </a:r>
                </a:p>
              </p:txBody>
            </p:sp>
          </p:grpSp>
        </p:grpSp>
        <p:pic>
          <p:nvPicPr>
            <p:cNvPr id="32" name="图片 31"/>
            <p:cNvPicPr>
              <a:picLocks noChangeAspect="1"/>
            </p:cNvPicPr>
            <p:nvPr/>
          </p:nvPicPr>
          <p:blipFill rotWithShape="1">
            <a:blip r:embed="rId7" cstate="print">
              <a:extLst>
                <a:ext uri="{28A0092B-C50C-407E-A947-70E740481C1C}">
                  <a14:useLocalDpi xmlns:a14="http://schemas.microsoft.com/office/drawing/2010/main" val="0"/>
                </a:ext>
              </a:extLst>
            </a:blip>
            <a:srcRect l="5842" r="18567"/>
            <a:stretch>
              <a:fillRect/>
            </a:stretch>
          </p:blipFill>
          <p:spPr>
            <a:xfrm>
              <a:off x="1956721" y="1898421"/>
              <a:ext cx="1598507" cy="1113738"/>
            </a:xfrm>
            <a:prstGeom prst="rect">
              <a:avLst/>
            </a:prstGeom>
          </p:spPr>
        </p:pic>
      </p:grpSp>
      <p:sp>
        <p:nvSpPr>
          <p:cNvPr id="54" name="等腰三角形 53"/>
          <p:cNvSpPr/>
          <p:nvPr/>
        </p:nvSpPr>
        <p:spPr>
          <a:xfrm>
            <a:off x="2750025" y="4251040"/>
            <a:ext cx="3352972" cy="290110"/>
          </a:xfrm>
          <a:prstGeom prst="triangle">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55" name="矩形 54"/>
          <p:cNvSpPr/>
          <p:nvPr/>
        </p:nvSpPr>
        <p:spPr>
          <a:xfrm>
            <a:off x="143508" y="4553519"/>
            <a:ext cx="8766527" cy="630533"/>
          </a:xfrm>
          <a:prstGeom prst="rect">
            <a:avLst/>
          </a:prstGeom>
          <a:noFill/>
          <a:ln w="19050">
            <a:solidFill>
              <a:srgbClr val="0070C0"/>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5"/>
          </a:p>
        </p:txBody>
      </p:sp>
      <p:sp>
        <p:nvSpPr>
          <p:cNvPr id="56" name="矩形 55"/>
          <p:cNvSpPr/>
          <p:nvPr/>
        </p:nvSpPr>
        <p:spPr>
          <a:xfrm>
            <a:off x="3651391" y="4249661"/>
            <a:ext cx="1550240" cy="2928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rgbClr val="3B46D9"/>
                </a:solidFill>
                <a:latin typeface="微软雅黑" panose="020B0503020204020204" pitchFamily="34" charset="-122"/>
                <a:ea typeface="微软雅黑" panose="020B0503020204020204" pitchFamily="34" charset="-122"/>
              </a:rPr>
              <a:t>算法需求</a:t>
            </a:r>
          </a:p>
        </p:txBody>
      </p:sp>
      <p:sp>
        <p:nvSpPr>
          <p:cNvPr id="57" name="矩形 56"/>
          <p:cNvSpPr/>
          <p:nvPr/>
        </p:nvSpPr>
        <p:spPr>
          <a:xfrm>
            <a:off x="481385" y="4701858"/>
            <a:ext cx="1217825" cy="336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tx2">
                    <a:lumMod val="75000"/>
                  </a:schemeClr>
                </a:solidFill>
                <a:latin typeface="微软雅黑" panose="020B0503020204020204" pitchFamily="34" charset="-122"/>
                <a:ea typeface="微软雅黑" panose="020B0503020204020204" pitchFamily="34" charset="-122"/>
              </a:rPr>
              <a:t>动态调整</a:t>
            </a:r>
            <a:endParaRPr lang="zh-CN" altLang="en-US" sz="1350" b="1" dirty="0">
              <a:solidFill>
                <a:schemeClr val="tx2">
                  <a:lumMod val="75000"/>
                </a:schemeClr>
              </a:solidFill>
            </a:endParaRPr>
          </a:p>
        </p:txBody>
      </p:sp>
      <p:sp>
        <p:nvSpPr>
          <p:cNvPr id="58" name="矩形 57"/>
          <p:cNvSpPr/>
          <p:nvPr/>
        </p:nvSpPr>
        <p:spPr>
          <a:xfrm>
            <a:off x="2223724" y="4707626"/>
            <a:ext cx="1217825" cy="336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tx2">
                    <a:lumMod val="75000"/>
                  </a:schemeClr>
                </a:solidFill>
                <a:latin typeface="微软雅黑" panose="020B0503020204020204" pitchFamily="34" charset="-122"/>
                <a:ea typeface="微软雅黑" panose="020B0503020204020204" pitchFamily="34" charset="-122"/>
              </a:rPr>
              <a:t>实时响应</a:t>
            </a:r>
            <a:endParaRPr lang="zh-CN" altLang="en-US" sz="1350" b="1" dirty="0">
              <a:solidFill>
                <a:schemeClr val="tx2">
                  <a:lumMod val="75000"/>
                </a:schemeClr>
              </a:solidFill>
            </a:endParaRPr>
          </a:p>
        </p:txBody>
      </p:sp>
      <p:sp>
        <p:nvSpPr>
          <p:cNvPr id="59" name="矩形 58"/>
          <p:cNvSpPr/>
          <p:nvPr/>
        </p:nvSpPr>
        <p:spPr>
          <a:xfrm>
            <a:off x="3966064" y="4701858"/>
            <a:ext cx="1217825" cy="336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tx2">
                    <a:lumMod val="75000"/>
                  </a:schemeClr>
                </a:solidFill>
                <a:latin typeface="微软雅黑" panose="020B0503020204020204" pitchFamily="34" charset="-122"/>
                <a:ea typeface="微软雅黑" panose="020B0503020204020204" pitchFamily="34" charset="-122"/>
              </a:rPr>
              <a:t>稳定收敛</a:t>
            </a:r>
            <a:endParaRPr lang="zh-CN" altLang="en-US" sz="1500" b="1" dirty="0">
              <a:solidFill>
                <a:schemeClr val="tx2">
                  <a:lumMod val="75000"/>
                </a:schemeClr>
              </a:solidFill>
            </a:endParaRPr>
          </a:p>
        </p:txBody>
      </p:sp>
      <p:sp>
        <p:nvSpPr>
          <p:cNvPr id="60" name="矩形 59"/>
          <p:cNvSpPr/>
          <p:nvPr/>
        </p:nvSpPr>
        <p:spPr>
          <a:xfrm>
            <a:off x="5708403" y="4707626"/>
            <a:ext cx="1217825" cy="336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tx2">
                    <a:lumMod val="75000"/>
                  </a:schemeClr>
                </a:solidFill>
                <a:latin typeface="微软雅黑" panose="020B0503020204020204" pitchFamily="34" charset="-122"/>
                <a:ea typeface="微软雅黑" panose="020B0503020204020204" pitchFamily="34" charset="-122"/>
              </a:rPr>
              <a:t>最优调度</a:t>
            </a:r>
            <a:endParaRPr lang="zh-CN" altLang="en-US" sz="1500" b="1" dirty="0">
              <a:solidFill>
                <a:schemeClr val="tx2">
                  <a:lumMod val="75000"/>
                </a:schemeClr>
              </a:solidFill>
            </a:endParaRPr>
          </a:p>
        </p:txBody>
      </p:sp>
      <p:sp>
        <p:nvSpPr>
          <p:cNvPr id="61" name="矩形 60"/>
          <p:cNvSpPr/>
          <p:nvPr/>
        </p:nvSpPr>
        <p:spPr>
          <a:xfrm>
            <a:off x="7450743" y="4701858"/>
            <a:ext cx="1217825" cy="336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tx2">
                    <a:lumMod val="75000"/>
                  </a:schemeClr>
                </a:solidFill>
                <a:latin typeface="微软雅黑" panose="020B0503020204020204" pitchFamily="34" charset="-122"/>
                <a:ea typeface="微软雅黑" panose="020B0503020204020204" pitchFamily="34" charset="-122"/>
              </a:rPr>
              <a:t>自主决策</a:t>
            </a:r>
            <a:endParaRPr lang="zh-CN" altLang="en-US" sz="1350" b="1" dirty="0">
              <a:solidFill>
                <a:schemeClr val="tx2">
                  <a:lumMod val="75000"/>
                </a:schemeClr>
              </a:solidFill>
            </a:endParaRPr>
          </a:p>
        </p:txBody>
      </p:sp>
      <p:sp>
        <p:nvSpPr>
          <p:cNvPr id="62" name="矩形 61"/>
          <p:cNvSpPr/>
          <p:nvPr/>
        </p:nvSpPr>
        <p:spPr>
          <a:xfrm>
            <a:off x="362805" y="3865523"/>
            <a:ext cx="1811363" cy="230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accent1"/>
                </a:solidFill>
                <a:latin typeface="微软雅黑" panose="020B0503020204020204" pitchFamily="34" charset="-122"/>
                <a:ea typeface="微软雅黑" panose="020B0503020204020204" pitchFamily="34" charset="-122"/>
              </a:rPr>
              <a:t>高效运行</a:t>
            </a:r>
          </a:p>
        </p:txBody>
      </p:sp>
      <p:sp>
        <p:nvSpPr>
          <p:cNvPr id="63" name="矩形 62"/>
          <p:cNvSpPr/>
          <p:nvPr/>
        </p:nvSpPr>
        <p:spPr>
          <a:xfrm>
            <a:off x="2289621" y="3872768"/>
            <a:ext cx="1811363" cy="230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accent1"/>
                </a:solidFill>
                <a:latin typeface="微软雅黑" panose="020B0503020204020204" pitchFamily="34" charset="-122"/>
                <a:ea typeface="微软雅黑" panose="020B0503020204020204" pitchFamily="34" charset="-122"/>
              </a:rPr>
              <a:t>环境复杂</a:t>
            </a:r>
          </a:p>
        </p:txBody>
      </p:sp>
      <p:sp>
        <p:nvSpPr>
          <p:cNvPr id="64" name="矩形 63"/>
          <p:cNvSpPr/>
          <p:nvPr/>
        </p:nvSpPr>
        <p:spPr>
          <a:xfrm>
            <a:off x="4548379" y="3876128"/>
            <a:ext cx="1811363" cy="230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accent1"/>
                </a:solidFill>
                <a:latin typeface="微软雅黑" panose="020B0503020204020204" pitchFamily="34" charset="-122"/>
                <a:ea typeface="微软雅黑" panose="020B0503020204020204" pitchFamily="34" charset="-122"/>
              </a:rPr>
              <a:t>动态变化</a:t>
            </a:r>
          </a:p>
        </p:txBody>
      </p:sp>
      <p:sp>
        <p:nvSpPr>
          <p:cNvPr id="65" name="矩形 64"/>
          <p:cNvSpPr/>
          <p:nvPr/>
        </p:nvSpPr>
        <p:spPr>
          <a:xfrm>
            <a:off x="6835792" y="3880319"/>
            <a:ext cx="1811363" cy="230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500" b="1" dirty="0">
                <a:solidFill>
                  <a:schemeClr val="accent1"/>
                </a:solidFill>
                <a:latin typeface="微软雅黑" panose="020B0503020204020204" pitchFamily="34" charset="-122"/>
                <a:ea typeface="微软雅黑" panose="020B0503020204020204" pitchFamily="34" charset="-122"/>
              </a:rPr>
              <a:t>高度可靠</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 y="6163486"/>
            <a:ext cx="9143999" cy="404405"/>
          </a:xfrm>
          <a:prstGeom prst="rect">
            <a:avLst/>
          </a:prstGeom>
          <a:solidFill>
            <a:srgbClr val="002060"/>
          </a:solidFill>
          <a:ln w="9525" cap="flat" cmpd="sng" algn="ctr">
            <a:noFill/>
            <a:prstDash val="solid"/>
          </a:ln>
          <a:effectLst>
            <a:outerShdw blurRad="40000" dist="23000" dir="5400000" rotWithShape="0">
              <a:srgbClr val="000000">
                <a:alpha val="35000"/>
              </a:srgbClr>
            </a:outerShdw>
          </a:effectLst>
        </p:spPr>
        <p:txBody>
          <a:bodyPr wrap="square" anchor="ctr" anchorCtr="0">
            <a:noAutofit/>
          </a:bodyPr>
          <a:lstStyle/>
          <a:p>
            <a:pPr algn="ctr">
              <a:defRPr/>
            </a:pPr>
            <a:r>
              <a:rPr lang="zh-CN" altLang="en-US" b="1" kern="0" dirty="0">
                <a:solidFill>
                  <a:schemeClr val="bg1"/>
                </a:solidFill>
                <a:latin typeface="微软雅黑" panose="020B0503020204020204" pitchFamily="34" charset="-122"/>
                <a:ea typeface="微软雅黑" panose="020B0503020204020204" pitchFamily="34" charset="-122"/>
                <a:sym typeface="+mn-ea"/>
              </a:rPr>
              <a:t>优化理论与方法是强国竞争博弈的战略制高点</a:t>
            </a:r>
          </a:p>
        </p:txBody>
      </p:sp>
      <p:grpSp>
        <p:nvGrpSpPr>
          <p:cNvPr id="4" name="组合 3"/>
          <p:cNvGrpSpPr/>
          <p:nvPr/>
        </p:nvGrpSpPr>
        <p:grpSpPr>
          <a:xfrm>
            <a:off x="180004" y="618145"/>
            <a:ext cx="7033735" cy="1711226"/>
            <a:chOff x="125277" y="899112"/>
            <a:chExt cx="7442567" cy="2076839"/>
          </a:xfrm>
        </p:grpSpPr>
        <p:sp>
          <p:nvSpPr>
            <p:cNvPr id="5" name="文本框 4"/>
            <p:cNvSpPr txBox="1"/>
            <p:nvPr/>
          </p:nvSpPr>
          <p:spPr>
            <a:xfrm>
              <a:off x="125277" y="1408609"/>
              <a:ext cx="7442567" cy="672363"/>
            </a:xfrm>
            <a:prstGeom prst="rect">
              <a:avLst/>
            </a:prstGeom>
            <a:noFill/>
            <a:ln w="38100">
              <a:noFill/>
              <a:prstDash val="sysDash"/>
            </a:ln>
          </p:spPr>
          <p:txBody>
            <a:bodyPr wrap="square" rtlCol="0">
              <a:spAutoFit/>
            </a:bodyPr>
            <a:lstStyle/>
            <a:p>
              <a:pPr algn="ctr"/>
              <a:r>
                <a:rPr lang="zh-CN" altLang="en-US" sz="1500" b="1" kern="0" dirty="0">
                  <a:latin typeface="微软雅黑" panose="020B0503020204020204" pitchFamily="34" charset="-122"/>
                  <a:ea typeface="微软雅黑" panose="020B0503020204020204" pitchFamily="34" charset="-122"/>
                </a:rPr>
                <a:t>美国国防高级研究计划局</a:t>
              </a:r>
              <a:r>
                <a:rPr lang="en-US" altLang="zh-CN" sz="1500" b="1" kern="0" dirty="0">
                  <a:latin typeface="微软雅黑" panose="020B0503020204020204" pitchFamily="34" charset="-122"/>
                  <a:ea typeface="微软雅黑" panose="020B0503020204020204" pitchFamily="34" charset="-122"/>
                </a:rPr>
                <a:t>(DARPA)</a:t>
              </a:r>
              <a:r>
                <a:rPr lang="zh-CN" altLang="en-US" sz="1500" b="1" kern="0" dirty="0">
                  <a:latin typeface="微软雅黑" panose="020B0503020204020204" pitchFamily="34" charset="-122"/>
                  <a:ea typeface="微软雅黑" panose="020B0503020204020204" pitchFamily="34" charset="-122"/>
                </a:rPr>
                <a:t>确定</a:t>
              </a:r>
              <a:r>
                <a:rPr lang="zh-CN" altLang="en-US" sz="1500" b="1" kern="0" dirty="0">
                  <a:solidFill>
                    <a:srgbClr val="C00000"/>
                  </a:solidFill>
                  <a:latin typeface="微软雅黑" panose="020B0503020204020204" pitchFamily="34" charset="-122"/>
                  <a:ea typeface="微软雅黑" panose="020B0503020204020204" pitchFamily="34" charset="-122"/>
                </a:rPr>
                <a:t>开展专项研究并重点资助</a:t>
              </a:r>
              <a:endParaRPr lang="en-US" altLang="zh-CN" sz="1500" b="1" kern="0" dirty="0">
                <a:solidFill>
                  <a:srgbClr val="C0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152181" y="899112"/>
              <a:ext cx="6453660" cy="2076839"/>
              <a:chOff x="152181" y="899112"/>
              <a:chExt cx="6453660" cy="2076839"/>
            </a:xfrm>
          </p:grpSpPr>
          <p:sp>
            <p:nvSpPr>
              <p:cNvPr id="8" name="五角星 64"/>
              <p:cNvSpPr/>
              <p:nvPr/>
            </p:nvSpPr>
            <p:spPr>
              <a:xfrm>
                <a:off x="164877" y="979595"/>
                <a:ext cx="357996" cy="325120"/>
              </a:xfrm>
              <a:prstGeom prst="star5">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文本框 8"/>
              <p:cNvSpPr txBox="1"/>
              <p:nvPr/>
            </p:nvSpPr>
            <p:spPr>
              <a:xfrm>
                <a:off x="152181" y="899112"/>
                <a:ext cx="6453660" cy="392211"/>
              </a:xfrm>
              <a:prstGeom prst="rect">
                <a:avLst/>
              </a:prstGeom>
              <a:noFill/>
              <a:ln w="38100">
                <a:noFill/>
                <a:prstDash val="sysDash"/>
              </a:ln>
            </p:spPr>
            <p:txBody>
              <a:bodyPr wrap="square" rtlCol="0">
                <a:spAutoFit/>
              </a:bodyPr>
              <a:lstStyle/>
              <a:p>
                <a:pPr algn="ctr"/>
                <a:r>
                  <a:rPr lang="zh-CN" altLang="en-US" sz="1500" b="1" kern="0" dirty="0">
                    <a:latin typeface="微软雅黑" panose="020B0503020204020204" pitchFamily="34" charset="-122"/>
                    <a:ea typeface="微软雅黑" panose="020B0503020204020204" pitchFamily="34" charset="-122"/>
                  </a:rPr>
                  <a:t>国务院印发的新一代人工智能发展规划的</a:t>
                </a:r>
                <a:r>
                  <a:rPr lang="zh-CN" altLang="en-US" sz="1500" b="1" kern="0" dirty="0">
                    <a:solidFill>
                      <a:srgbClr val="C00000"/>
                    </a:solidFill>
                    <a:latin typeface="微软雅黑" panose="020B0503020204020204" pitchFamily="34" charset="-122"/>
                    <a:ea typeface="微软雅黑" panose="020B0503020204020204" pitchFamily="34" charset="-122"/>
                  </a:rPr>
                  <a:t>重要研究方向</a:t>
                </a:r>
                <a:endParaRPr lang="en-US" altLang="zh-CN" sz="1500" b="1" kern="0" dirty="0">
                  <a:solidFill>
                    <a:srgbClr val="C00000"/>
                  </a:solidFill>
                  <a:latin typeface="微软雅黑" panose="020B0503020204020204" pitchFamily="34" charset="-122"/>
                  <a:ea typeface="微软雅黑" panose="020B0503020204020204" pitchFamily="34" charset="-122"/>
                </a:endParaRPr>
              </a:p>
            </p:txBody>
          </p:sp>
          <p:sp>
            <p:nvSpPr>
              <p:cNvPr id="11" name="五角星 67"/>
              <p:cNvSpPr/>
              <p:nvPr/>
            </p:nvSpPr>
            <p:spPr>
              <a:xfrm>
                <a:off x="164877" y="1370875"/>
                <a:ext cx="357996" cy="325120"/>
              </a:xfrm>
              <a:prstGeom prst="star5">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五角星 69"/>
              <p:cNvSpPr/>
              <p:nvPr/>
            </p:nvSpPr>
            <p:spPr>
              <a:xfrm>
                <a:off x="164877" y="1820027"/>
                <a:ext cx="357996" cy="325120"/>
              </a:xfrm>
              <a:prstGeom prst="star5">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文本框 12"/>
              <p:cNvSpPr txBox="1"/>
              <p:nvPr/>
            </p:nvSpPr>
            <p:spPr>
              <a:xfrm>
                <a:off x="343875" y="1876260"/>
                <a:ext cx="5276795" cy="672363"/>
              </a:xfrm>
              <a:prstGeom prst="rect">
                <a:avLst/>
              </a:prstGeom>
              <a:noFill/>
              <a:ln w="38100">
                <a:noFill/>
                <a:prstDash val="sysDash"/>
              </a:ln>
            </p:spPr>
            <p:txBody>
              <a:bodyPr wrap="square" rtlCol="0">
                <a:spAutoFit/>
              </a:bodyPr>
              <a:lstStyle/>
              <a:p>
                <a:pPr algn="ctr"/>
                <a:r>
                  <a:rPr lang="zh-CN" altLang="en-US" sz="1500" b="1" kern="0" dirty="0">
                    <a:latin typeface="微软雅黑" panose="020B0503020204020204" pitchFamily="34" charset="-122"/>
                    <a:ea typeface="微软雅黑" panose="020B0503020204020204" pitchFamily="34" charset="-122"/>
                  </a:rPr>
                  <a:t>美国国家智能战略其列为基础研究的</a:t>
                </a:r>
                <a:r>
                  <a:rPr lang="zh-CN" altLang="en-US" sz="1500" b="1" kern="0" dirty="0">
                    <a:solidFill>
                      <a:srgbClr val="C00000"/>
                    </a:solidFill>
                    <a:latin typeface="微软雅黑" panose="020B0503020204020204" pitchFamily="34" charset="-122"/>
                    <a:ea typeface="微软雅黑" panose="020B0503020204020204" pitchFamily="34" charset="-122"/>
                  </a:rPr>
                  <a:t>研究重点</a:t>
                </a:r>
                <a:endParaRPr lang="en-US" altLang="zh-CN" sz="1500" b="1" kern="0" dirty="0">
                  <a:solidFill>
                    <a:srgbClr val="C00000"/>
                  </a:solidFill>
                  <a:latin typeface="微软雅黑" panose="020B0503020204020204" pitchFamily="34" charset="-122"/>
                  <a:ea typeface="微软雅黑" panose="020B0503020204020204" pitchFamily="34" charset="-122"/>
                </a:endParaRPr>
              </a:p>
            </p:txBody>
          </p:sp>
          <p:sp>
            <p:nvSpPr>
              <p:cNvPr id="14" name="五角星 71"/>
              <p:cNvSpPr/>
              <p:nvPr/>
            </p:nvSpPr>
            <p:spPr>
              <a:xfrm>
                <a:off x="164877" y="2257491"/>
                <a:ext cx="357996" cy="325120"/>
              </a:xfrm>
              <a:prstGeom prst="star5">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文本框 14"/>
              <p:cNvSpPr txBox="1"/>
              <p:nvPr/>
            </p:nvSpPr>
            <p:spPr>
              <a:xfrm>
                <a:off x="226687" y="2303588"/>
                <a:ext cx="6304648" cy="672363"/>
              </a:xfrm>
              <a:prstGeom prst="rect">
                <a:avLst/>
              </a:prstGeom>
              <a:noFill/>
              <a:ln w="38100">
                <a:noFill/>
                <a:prstDash val="sysDash"/>
              </a:ln>
            </p:spPr>
            <p:txBody>
              <a:bodyPr wrap="square" rtlCol="0">
                <a:spAutoFit/>
              </a:bodyPr>
              <a:lstStyle/>
              <a:p>
                <a:pPr algn="ctr"/>
                <a:r>
                  <a:rPr lang="zh-CN" altLang="en-US" sz="1500" b="1" kern="0" dirty="0">
                    <a:latin typeface="微软雅黑" panose="020B0503020204020204" pitchFamily="34" charset="-122"/>
                    <a:ea typeface="微软雅黑" panose="020B0503020204020204" pitchFamily="34" charset="-122"/>
                  </a:rPr>
                  <a:t>欧盟推出一系列计划和协议</a:t>
                </a:r>
                <a:r>
                  <a:rPr lang="zh-CN" altLang="en-US" sz="1500" b="1" kern="0" dirty="0">
                    <a:solidFill>
                      <a:srgbClr val="C00000"/>
                    </a:solidFill>
                    <a:latin typeface="微软雅黑" panose="020B0503020204020204" pitchFamily="34" charset="-122"/>
                    <a:ea typeface="微软雅黑" panose="020B0503020204020204" pitchFamily="34" charset="-122"/>
                  </a:rPr>
                  <a:t>支持优化理论服务产业发展</a:t>
                </a:r>
                <a:endParaRPr lang="en-US" altLang="zh-CN" sz="1500" b="1" kern="0" dirty="0">
                  <a:solidFill>
                    <a:srgbClr val="C00000"/>
                  </a:solidFill>
                  <a:latin typeface="微软雅黑" panose="020B0503020204020204" pitchFamily="34" charset="-122"/>
                  <a:ea typeface="微软雅黑" panose="020B0503020204020204" pitchFamily="34" charset="-122"/>
                </a:endParaRPr>
              </a:p>
            </p:txBody>
          </p:sp>
        </p:grpSp>
      </p:grpSp>
      <p:sp>
        <p:nvSpPr>
          <p:cNvPr id="16" name="右箭头 19"/>
          <p:cNvSpPr/>
          <p:nvPr/>
        </p:nvSpPr>
        <p:spPr>
          <a:xfrm>
            <a:off x="0" y="3910956"/>
            <a:ext cx="9108504" cy="578671"/>
          </a:xfrm>
          <a:prstGeom prst="right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25" name="组合 24"/>
          <p:cNvGrpSpPr/>
          <p:nvPr/>
        </p:nvGrpSpPr>
        <p:grpSpPr>
          <a:xfrm>
            <a:off x="1076242" y="4538771"/>
            <a:ext cx="2914520" cy="1169583"/>
            <a:chOff x="601895" y="5130385"/>
            <a:chExt cx="3886026" cy="1140517"/>
          </a:xfrm>
        </p:grpSpPr>
        <p:pic>
          <p:nvPicPr>
            <p:cNvPr id="26" name="图片 25" descr="f9dbdf0a9389f135cbf215c56b0f641"/>
            <p:cNvPicPr>
              <a:picLocks noChangeAspect="1"/>
            </p:cNvPicPr>
            <p:nvPr/>
          </p:nvPicPr>
          <p:blipFill rotWithShape="1">
            <a:blip r:embed="rId3"/>
            <a:srcRect l="22211" t="63069" r="22203" b="31206"/>
            <a:stretch>
              <a:fillRect/>
            </a:stretch>
          </p:blipFill>
          <p:spPr>
            <a:xfrm>
              <a:off x="692681" y="5880610"/>
              <a:ext cx="3645793" cy="363655"/>
            </a:xfrm>
            <a:prstGeom prst="rect">
              <a:avLst/>
            </a:prstGeom>
          </p:spPr>
        </p:pic>
        <p:sp>
          <p:nvSpPr>
            <p:cNvPr id="43" name="圆角矩形 74"/>
            <p:cNvSpPr/>
            <p:nvPr/>
          </p:nvSpPr>
          <p:spPr>
            <a:xfrm>
              <a:off x="877973" y="5130385"/>
              <a:ext cx="3404692" cy="656107"/>
            </a:xfrm>
            <a:prstGeom prst="round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kern="0" dirty="0">
                  <a:solidFill>
                    <a:schemeClr val="tx1"/>
                  </a:solidFill>
                  <a:latin typeface="微软雅黑" panose="020B0503020204020204" pitchFamily="34" charset="-122"/>
                  <a:ea typeface="微软雅黑" panose="020B0503020204020204" pitchFamily="34" charset="-122"/>
                </a:rPr>
                <a:t>国家国务院发布人工智能发展规划</a:t>
              </a:r>
              <a:endParaRPr lang="en-US" altLang="zh-CN" sz="1050" b="1" kern="0" dirty="0">
                <a:solidFill>
                  <a:schemeClr val="tx1"/>
                </a:solidFill>
                <a:latin typeface="微软雅黑" panose="020B0503020204020204" pitchFamily="34" charset="-122"/>
                <a:ea typeface="微软雅黑" panose="020B0503020204020204" pitchFamily="34" charset="-122"/>
              </a:endParaRPr>
            </a:p>
            <a:p>
              <a:pPr algn="ctr"/>
              <a:r>
                <a:rPr lang="zh-CN" altLang="en-US" sz="1050" b="1" kern="0" dirty="0">
                  <a:solidFill>
                    <a:schemeClr val="tx1"/>
                  </a:solidFill>
                  <a:latin typeface="微软雅黑" panose="020B0503020204020204" pitchFamily="34" charset="-122"/>
                  <a:ea typeface="微软雅黑" panose="020B0503020204020204" pitchFamily="34" charset="-122"/>
                </a:rPr>
                <a:t>重点突破面向自主无人系统的协同感知与交互、</a:t>
              </a:r>
              <a:r>
                <a:rPr lang="zh-CN" altLang="en-US" sz="1050" b="1" kern="0" dirty="0">
                  <a:solidFill>
                    <a:srgbClr val="C00000"/>
                  </a:solidFill>
                  <a:latin typeface="微软雅黑" panose="020B0503020204020204" pitchFamily="34" charset="-122"/>
                  <a:ea typeface="微软雅黑" panose="020B0503020204020204" pitchFamily="34" charset="-122"/>
                </a:rPr>
                <a:t>自主协同控制与优化决策</a:t>
              </a:r>
              <a:endParaRPr lang="en-US" altLang="zh-CN" sz="1050" b="1" kern="0" dirty="0">
                <a:solidFill>
                  <a:srgbClr val="C00000"/>
                </a:solidFill>
                <a:latin typeface="微软雅黑" panose="020B0503020204020204" pitchFamily="34" charset="-122"/>
                <a:ea typeface="微软雅黑" panose="020B0503020204020204" pitchFamily="34" charset="-122"/>
              </a:endParaRPr>
            </a:p>
          </p:txBody>
        </p:sp>
        <p:sp>
          <p:nvSpPr>
            <p:cNvPr id="44" name="矩形 43"/>
            <p:cNvSpPr/>
            <p:nvPr/>
          </p:nvSpPr>
          <p:spPr>
            <a:xfrm>
              <a:off x="601895" y="5822911"/>
              <a:ext cx="3886026" cy="447991"/>
            </a:xfrm>
            <a:prstGeom prst="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15"/>
            </a:p>
          </p:txBody>
        </p:sp>
      </p:grpSp>
      <p:grpSp>
        <p:nvGrpSpPr>
          <p:cNvPr id="52" name="组合 51"/>
          <p:cNvGrpSpPr/>
          <p:nvPr/>
        </p:nvGrpSpPr>
        <p:grpSpPr>
          <a:xfrm>
            <a:off x="138670" y="2980745"/>
            <a:ext cx="2010215" cy="864663"/>
            <a:chOff x="-28406" y="3223766"/>
            <a:chExt cx="2680287" cy="1152884"/>
          </a:xfrm>
        </p:grpSpPr>
        <p:grpSp>
          <p:nvGrpSpPr>
            <p:cNvPr id="66" name="组合 65"/>
            <p:cNvGrpSpPr/>
            <p:nvPr/>
          </p:nvGrpSpPr>
          <p:grpSpPr>
            <a:xfrm>
              <a:off x="-28406" y="3763809"/>
              <a:ext cx="2680287" cy="612841"/>
              <a:chOff x="3037871" y="4592322"/>
              <a:chExt cx="2680287" cy="612841"/>
            </a:xfrm>
          </p:grpSpPr>
          <p:sp>
            <p:nvSpPr>
              <p:cNvPr id="69" name="圆角矩形 100"/>
              <p:cNvSpPr/>
              <p:nvPr/>
            </p:nvSpPr>
            <p:spPr>
              <a:xfrm>
                <a:off x="3142883" y="4592322"/>
                <a:ext cx="2370258" cy="59917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0" name="矩形 69"/>
              <p:cNvSpPr/>
              <p:nvPr/>
            </p:nvSpPr>
            <p:spPr>
              <a:xfrm>
                <a:off x="3037871" y="4651166"/>
                <a:ext cx="2680287" cy="553997"/>
              </a:xfrm>
              <a:prstGeom prst="rect">
                <a:avLst/>
              </a:prstGeom>
              <a:noFill/>
            </p:spPr>
            <p:txBody>
              <a:bodyPr wrap="square">
                <a:spAutoFit/>
              </a:bodyPr>
              <a:lstStyle/>
              <a:p>
                <a:pPr algn="ctr"/>
                <a:r>
                  <a:rPr lang="zh-CN" altLang="en-US" sz="1050" b="1" kern="0" dirty="0">
                    <a:latin typeface="微软雅黑" panose="020B0503020204020204" pitchFamily="34" charset="-122"/>
                    <a:ea typeface="微软雅黑" panose="020B0503020204020204" pitchFamily="34" charset="-122"/>
                  </a:rPr>
                  <a:t>欧盟提出量子计划借助</a:t>
                </a:r>
                <a:endParaRPr lang="en-US" altLang="zh-CN" sz="1050" b="1" kern="0" dirty="0">
                  <a:latin typeface="微软雅黑" panose="020B0503020204020204" pitchFamily="34" charset="-122"/>
                  <a:ea typeface="微软雅黑" panose="020B0503020204020204" pitchFamily="34" charset="-122"/>
                </a:endParaRPr>
              </a:p>
              <a:p>
                <a:pPr algn="ctr"/>
                <a:r>
                  <a:rPr lang="zh-CN" altLang="en-US" sz="1050" b="1" kern="0" dirty="0">
                    <a:solidFill>
                      <a:srgbClr val="C00000"/>
                    </a:solidFill>
                    <a:latin typeface="微软雅黑" panose="020B0503020204020204" pitchFamily="34" charset="-122"/>
                    <a:ea typeface="微软雅黑" panose="020B0503020204020204" pitchFamily="34" charset="-122"/>
                  </a:rPr>
                  <a:t>优化算法</a:t>
                </a:r>
                <a:r>
                  <a:rPr lang="zh-CN" altLang="en-US" sz="1050" b="1" kern="0" dirty="0">
                    <a:latin typeface="微软雅黑" panose="020B0503020204020204" pitchFamily="34" charset="-122"/>
                    <a:ea typeface="微软雅黑" panose="020B0503020204020204" pitchFamily="34" charset="-122"/>
                  </a:rPr>
                  <a:t>提升电路设计能力</a:t>
                </a:r>
                <a:endParaRPr lang="en-US" altLang="zh-CN" sz="1050" b="1" kern="0" dirty="0">
                  <a:latin typeface="微软雅黑" panose="020B0503020204020204" pitchFamily="34" charset="-122"/>
                  <a:ea typeface="微软雅黑" panose="020B0503020204020204" pitchFamily="34" charset="-122"/>
                </a:endParaRPr>
              </a:p>
            </p:txBody>
          </p:sp>
        </p:grpSp>
        <p:pic>
          <p:nvPicPr>
            <p:cNvPr id="67" name="图片 66"/>
            <p:cNvPicPr>
              <a:picLocks noChangeAspect="1"/>
            </p:cNvPicPr>
            <p:nvPr/>
          </p:nvPicPr>
          <p:blipFill rotWithShape="1">
            <a:blip r:embed="rId4">
              <a:extLst>
                <a:ext uri="{28A0092B-C50C-407E-A947-70E740481C1C}">
                  <a14:useLocalDpi xmlns:a14="http://schemas.microsoft.com/office/drawing/2010/main" val="0"/>
                </a:ext>
              </a:extLst>
            </a:blip>
            <a:srcRect t="74837"/>
            <a:stretch>
              <a:fillRect/>
            </a:stretch>
          </p:blipFill>
          <p:spPr>
            <a:xfrm>
              <a:off x="12111" y="3223766"/>
              <a:ext cx="2611365" cy="495119"/>
            </a:xfrm>
            <a:prstGeom prst="rect">
              <a:avLst/>
            </a:prstGeom>
          </p:spPr>
        </p:pic>
        <p:sp>
          <p:nvSpPr>
            <p:cNvPr id="68" name="矩形 67"/>
            <p:cNvSpPr/>
            <p:nvPr/>
          </p:nvSpPr>
          <p:spPr>
            <a:xfrm>
              <a:off x="0" y="3237938"/>
              <a:ext cx="2623476" cy="517425"/>
            </a:xfrm>
            <a:prstGeom prst="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15"/>
            </a:p>
          </p:txBody>
        </p:sp>
      </p:grpSp>
      <p:sp>
        <p:nvSpPr>
          <p:cNvPr id="71" name="文本框 70"/>
          <p:cNvSpPr txBox="1"/>
          <p:nvPr/>
        </p:nvSpPr>
        <p:spPr>
          <a:xfrm>
            <a:off x="536798" y="4042446"/>
            <a:ext cx="1078888" cy="369332"/>
          </a:xfrm>
          <a:prstGeom prst="rect">
            <a:avLst/>
          </a:prstGeom>
          <a:noFill/>
          <a:ln w="38100">
            <a:noFill/>
            <a:prstDash val="sysDash"/>
          </a:ln>
        </p:spPr>
        <p:txBody>
          <a:bodyPr wrap="square">
            <a:spAutoFit/>
          </a:bodyPr>
          <a:lstStyle/>
          <a:p>
            <a:r>
              <a:rPr lang="en-US" altLang="zh-CN" sz="1800" b="1" kern="0" dirty="0">
                <a:solidFill>
                  <a:schemeClr val="bg1"/>
                </a:solidFill>
                <a:latin typeface="微软雅黑" panose="020B0503020204020204" pitchFamily="34" charset="-122"/>
                <a:ea typeface="微软雅黑" panose="020B0503020204020204" pitchFamily="34" charset="-122"/>
              </a:rPr>
              <a:t>2016</a:t>
            </a:r>
            <a:r>
              <a:rPr lang="zh-CN" altLang="en-US" sz="1800" b="1" kern="0" dirty="0">
                <a:solidFill>
                  <a:schemeClr val="bg1"/>
                </a:solidFill>
                <a:latin typeface="微软雅黑" panose="020B0503020204020204" pitchFamily="34" charset="-122"/>
                <a:ea typeface="微软雅黑" panose="020B0503020204020204" pitchFamily="34" charset="-122"/>
              </a:rPr>
              <a:t>年</a:t>
            </a:r>
            <a:endParaRPr lang="zh-CN" altLang="en-US" sz="1800" dirty="0">
              <a:solidFill>
                <a:schemeClr val="bg1"/>
              </a:solidFill>
            </a:endParaRPr>
          </a:p>
        </p:txBody>
      </p:sp>
      <p:sp>
        <p:nvSpPr>
          <p:cNvPr id="72" name="文本框 71"/>
          <p:cNvSpPr txBox="1"/>
          <p:nvPr/>
        </p:nvSpPr>
        <p:spPr>
          <a:xfrm>
            <a:off x="2127581" y="4008908"/>
            <a:ext cx="1021579" cy="369332"/>
          </a:xfrm>
          <a:prstGeom prst="rect">
            <a:avLst/>
          </a:prstGeom>
          <a:noFill/>
          <a:ln w="38100">
            <a:noFill/>
            <a:prstDash val="sysDash"/>
          </a:ln>
        </p:spPr>
        <p:txBody>
          <a:bodyPr wrap="square">
            <a:spAutoFit/>
          </a:bodyPr>
          <a:lstStyle/>
          <a:p>
            <a:r>
              <a:rPr lang="en-US" altLang="zh-CN" sz="1800" b="1" kern="0" dirty="0">
                <a:solidFill>
                  <a:schemeClr val="bg1"/>
                </a:solidFill>
                <a:latin typeface="微软雅黑" panose="020B0503020204020204" pitchFamily="34" charset="-122"/>
                <a:ea typeface="微软雅黑" panose="020B0503020204020204" pitchFamily="34" charset="-122"/>
              </a:rPr>
              <a:t>2017</a:t>
            </a:r>
            <a:r>
              <a:rPr lang="zh-CN" altLang="en-US" sz="1800" b="1" kern="0" dirty="0">
                <a:solidFill>
                  <a:schemeClr val="bg1"/>
                </a:solidFill>
                <a:latin typeface="微软雅黑" panose="020B0503020204020204" pitchFamily="34" charset="-122"/>
                <a:ea typeface="微软雅黑" panose="020B0503020204020204" pitchFamily="34" charset="-122"/>
              </a:rPr>
              <a:t>年</a:t>
            </a:r>
            <a:endParaRPr lang="zh-CN" altLang="en-US" sz="1800" dirty="0">
              <a:solidFill>
                <a:schemeClr val="bg1"/>
              </a:solidFill>
            </a:endParaRPr>
          </a:p>
        </p:txBody>
      </p:sp>
      <p:cxnSp>
        <p:nvCxnSpPr>
          <p:cNvPr id="84" name="直接连接符 83"/>
          <p:cNvCxnSpPr/>
          <p:nvPr/>
        </p:nvCxnSpPr>
        <p:spPr>
          <a:xfrm>
            <a:off x="1035363" y="3876972"/>
            <a:ext cx="0" cy="178103"/>
          </a:xfrm>
          <a:prstGeom prst="line">
            <a:avLst/>
          </a:prstGeom>
          <a:ln w="38100">
            <a:solidFill>
              <a:schemeClr val="tx2">
                <a:lumMod val="60000"/>
                <a:lumOff val="40000"/>
              </a:schemeClr>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2573777" y="4342537"/>
            <a:ext cx="0" cy="178103"/>
          </a:xfrm>
          <a:prstGeom prst="line">
            <a:avLst/>
          </a:prstGeom>
          <a:ln w="38100">
            <a:solidFill>
              <a:schemeClr val="tx2">
                <a:lumMod val="60000"/>
                <a:lumOff val="40000"/>
              </a:schemeClr>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3096066" y="2734219"/>
            <a:ext cx="2115070" cy="1658779"/>
            <a:chOff x="4766964" y="2582697"/>
            <a:chExt cx="2820093" cy="2211706"/>
          </a:xfrm>
        </p:grpSpPr>
        <p:grpSp>
          <p:nvGrpSpPr>
            <p:cNvPr id="45" name="组合 44"/>
            <p:cNvGrpSpPr/>
            <p:nvPr/>
          </p:nvGrpSpPr>
          <p:grpSpPr>
            <a:xfrm>
              <a:off x="4766964" y="2582697"/>
              <a:ext cx="2820093" cy="1421122"/>
              <a:chOff x="2971808" y="2855717"/>
              <a:chExt cx="2820093" cy="1421122"/>
            </a:xfrm>
          </p:grpSpPr>
          <p:grpSp>
            <p:nvGrpSpPr>
              <p:cNvPr id="46" name="组合 45"/>
              <p:cNvGrpSpPr/>
              <p:nvPr/>
            </p:nvGrpSpPr>
            <p:grpSpPr>
              <a:xfrm>
                <a:off x="2971808" y="3697687"/>
                <a:ext cx="2820093" cy="579152"/>
                <a:chOff x="3272946" y="4505791"/>
                <a:chExt cx="2820093" cy="579152"/>
              </a:xfrm>
            </p:grpSpPr>
            <p:sp>
              <p:nvSpPr>
                <p:cNvPr id="50" name="圆角矩形 90"/>
                <p:cNvSpPr/>
                <p:nvPr/>
              </p:nvSpPr>
              <p:spPr>
                <a:xfrm>
                  <a:off x="3536098" y="4505791"/>
                  <a:ext cx="2300112" cy="527093"/>
                </a:xfrm>
                <a:prstGeom prst="round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1" name="矩形 50"/>
                <p:cNvSpPr/>
                <p:nvPr/>
              </p:nvSpPr>
              <p:spPr>
                <a:xfrm>
                  <a:off x="3272946" y="4530946"/>
                  <a:ext cx="2820093" cy="553997"/>
                </a:xfrm>
                <a:prstGeom prst="rect">
                  <a:avLst/>
                </a:prstGeom>
              </p:spPr>
              <p:txBody>
                <a:bodyPr wrap="square">
                  <a:spAutoFit/>
                </a:bodyPr>
                <a:lstStyle/>
                <a:p>
                  <a:pPr algn="ctr"/>
                  <a:r>
                    <a:rPr lang="zh-CN" altLang="en-US" sz="1050" b="1" kern="0" dirty="0">
                      <a:latin typeface="微软雅黑" panose="020B0503020204020204" pitchFamily="34" charset="-122"/>
                      <a:ea typeface="微软雅黑" panose="020B0503020204020204" pitchFamily="34" charset="-122"/>
                    </a:rPr>
                    <a:t>欧洲绿色协议重点推动</a:t>
                  </a:r>
                  <a:endParaRPr lang="en-US" altLang="zh-CN" sz="1050" b="1" kern="0" dirty="0">
                    <a:latin typeface="微软雅黑" panose="020B0503020204020204" pitchFamily="34" charset="-122"/>
                    <a:ea typeface="微软雅黑" panose="020B0503020204020204" pitchFamily="34" charset="-122"/>
                  </a:endParaRPr>
                </a:p>
                <a:p>
                  <a:pPr algn="ctr"/>
                  <a:r>
                    <a:rPr lang="zh-CN" altLang="en-US" sz="1050" b="1" kern="0" dirty="0">
                      <a:solidFill>
                        <a:srgbClr val="C00000"/>
                      </a:solidFill>
                      <a:latin typeface="微软雅黑" panose="020B0503020204020204" pitchFamily="34" charset="-122"/>
                      <a:ea typeface="微软雅黑" panose="020B0503020204020204" pitchFamily="34" charset="-122"/>
                    </a:rPr>
                    <a:t>能源优化</a:t>
                  </a:r>
                  <a:r>
                    <a:rPr lang="zh-CN" altLang="en-US" sz="1050" b="1" kern="0" dirty="0">
                      <a:latin typeface="微软雅黑" panose="020B0503020204020204" pitchFamily="34" charset="-122"/>
                      <a:ea typeface="微软雅黑" panose="020B0503020204020204" pitchFamily="34" charset="-122"/>
                    </a:rPr>
                    <a:t>以实现气候中和</a:t>
                  </a:r>
                </a:p>
              </p:txBody>
            </p:sp>
          </p:grpSp>
          <p:grpSp>
            <p:nvGrpSpPr>
              <p:cNvPr id="47" name="组合 46"/>
              <p:cNvGrpSpPr/>
              <p:nvPr/>
            </p:nvGrpSpPr>
            <p:grpSpPr>
              <a:xfrm>
                <a:off x="3024069" y="2855717"/>
                <a:ext cx="2698917" cy="794982"/>
                <a:chOff x="1680225" y="2889392"/>
                <a:chExt cx="3561220" cy="832534"/>
              </a:xfrm>
            </p:grpSpPr>
            <p:pic>
              <p:nvPicPr>
                <p:cNvPr id="48" name="图片 47"/>
                <p:cNvPicPr>
                  <a:picLocks noChangeAspect="1"/>
                </p:cNvPicPr>
                <p:nvPr/>
              </p:nvPicPr>
              <p:blipFill rotWithShape="1">
                <a:blip r:embed="rId5">
                  <a:extLst>
                    <a:ext uri="{28A0092B-C50C-407E-A947-70E740481C1C}">
                      <a14:useLocalDpi xmlns:a14="http://schemas.microsoft.com/office/drawing/2010/main" val="0"/>
                    </a:ext>
                  </a:extLst>
                </a:blip>
                <a:srcRect b="49036"/>
                <a:stretch>
                  <a:fillRect/>
                </a:stretch>
              </p:blipFill>
              <p:spPr>
                <a:xfrm>
                  <a:off x="1680225" y="2889392"/>
                  <a:ext cx="3561058" cy="823813"/>
                </a:xfrm>
                <a:prstGeom prst="rect">
                  <a:avLst/>
                </a:prstGeom>
                <a:solidFill>
                  <a:schemeClr val="tx2">
                    <a:lumMod val="20000"/>
                    <a:lumOff val="80000"/>
                  </a:schemeClr>
                </a:solidFill>
                <a:ln>
                  <a:noFill/>
                </a:ln>
              </p:spPr>
            </p:pic>
            <p:sp>
              <p:nvSpPr>
                <p:cNvPr id="49" name="矩形 48"/>
                <p:cNvSpPr/>
                <p:nvPr/>
              </p:nvSpPr>
              <p:spPr>
                <a:xfrm>
                  <a:off x="1702201" y="3363871"/>
                  <a:ext cx="3539244" cy="358055"/>
                </a:xfrm>
                <a:prstGeom prst="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15"/>
                </a:p>
              </p:txBody>
            </p:sp>
          </p:grpSp>
        </p:grpSp>
        <p:sp>
          <p:nvSpPr>
            <p:cNvPr id="73" name="文本框 72"/>
            <p:cNvSpPr txBox="1"/>
            <p:nvPr/>
          </p:nvSpPr>
          <p:spPr>
            <a:xfrm>
              <a:off x="5680964" y="4301960"/>
              <a:ext cx="1351116" cy="492443"/>
            </a:xfrm>
            <a:prstGeom prst="rect">
              <a:avLst/>
            </a:prstGeom>
            <a:noFill/>
            <a:ln w="38100">
              <a:noFill/>
              <a:prstDash val="sysDash"/>
            </a:ln>
          </p:spPr>
          <p:txBody>
            <a:bodyPr wrap="square">
              <a:spAutoFit/>
            </a:bodyPr>
            <a:lstStyle/>
            <a:p>
              <a:r>
                <a:rPr lang="en-US" altLang="zh-CN" sz="1800" b="1" kern="0" dirty="0">
                  <a:solidFill>
                    <a:schemeClr val="bg1"/>
                  </a:solidFill>
                  <a:latin typeface="微软雅黑" panose="020B0503020204020204" pitchFamily="34" charset="-122"/>
                  <a:ea typeface="微软雅黑" panose="020B0503020204020204" pitchFamily="34" charset="-122"/>
                </a:rPr>
                <a:t>2019</a:t>
              </a:r>
              <a:r>
                <a:rPr lang="zh-CN" altLang="en-US" sz="1800" b="1" kern="0" dirty="0">
                  <a:solidFill>
                    <a:schemeClr val="bg1"/>
                  </a:solidFill>
                  <a:latin typeface="微软雅黑" panose="020B0503020204020204" pitchFamily="34" charset="-122"/>
                  <a:ea typeface="微软雅黑" panose="020B0503020204020204" pitchFamily="34" charset="-122"/>
                </a:rPr>
                <a:t>年</a:t>
              </a:r>
              <a:endParaRPr lang="zh-CN" altLang="en-US" sz="1800" dirty="0">
                <a:solidFill>
                  <a:schemeClr val="bg1"/>
                </a:solidFill>
              </a:endParaRPr>
            </a:p>
          </p:txBody>
        </p:sp>
        <p:cxnSp>
          <p:nvCxnSpPr>
            <p:cNvPr id="86" name="直接连接符 85"/>
            <p:cNvCxnSpPr/>
            <p:nvPr/>
          </p:nvCxnSpPr>
          <p:spPr>
            <a:xfrm>
              <a:off x="6164509" y="4028690"/>
              <a:ext cx="0" cy="237471"/>
            </a:xfrm>
            <a:prstGeom prst="line">
              <a:avLst/>
            </a:prstGeom>
            <a:ln w="38100">
              <a:solidFill>
                <a:schemeClr val="tx2">
                  <a:lumMod val="60000"/>
                  <a:lumOff val="40000"/>
                </a:schemeClr>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5080838" y="4046750"/>
            <a:ext cx="2015168" cy="1789779"/>
            <a:chOff x="6560632" y="4263303"/>
            <a:chExt cx="2686890" cy="1805016"/>
          </a:xfrm>
        </p:grpSpPr>
        <p:grpSp>
          <p:nvGrpSpPr>
            <p:cNvPr id="91" name="组合 90"/>
            <p:cNvGrpSpPr/>
            <p:nvPr/>
          </p:nvGrpSpPr>
          <p:grpSpPr>
            <a:xfrm>
              <a:off x="6560632" y="4884519"/>
              <a:ext cx="2686890" cy="1183800"/>
              <a:chOff x="6560632" y="4884519"/>
              <a:chExt cx="2686890" cy="1183800"/>
            </a:xfrm>
          </p:grpSpPr>
          <p:grpSp>
            <p:nvGrpSpPr>
              <p:cNvPr id="17" name="组合 16"/>
              <p:cNvGrpSpPr/>
              <p:nvPr/>
            </p:nvGrpSpPr>
            <p:grpSpPr>
              <a:xfrm>
                <a:off x="6560632" y="4884519"/>
                <a:ext cx="2682262" cy="570476"/>
                <a:chOff x="2484734" y="3137551"/>
                <a:chExt cx="2682262" cy="570476"/>
              </a:xfrm>
            </p:grpSpPr>
            <p:sp>
              <p:nvSpPr>
                <p:cNvPr id="22" name="圆角矩形 31"/>
                <p:cNvSpPr/>
                <p:nvPr/>
              </p:nvSpPr>
              <p:spPr>
                <a:xfrm>
                  <a:off x="2500623" y="3137551"/>
                  <a:ext cx="2592573" cy="556176"/>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3" name="矩形 22"/>
                <p:cNvSpPr/>
                <p:nvPr/>
              </p:nvSpPr>
              <p:spPr>
                <a:xfrm>
                  <a:off x="2484734" y="3154030"/>
                  <a:ext cx="2682262" cy="553997"/>
                </a:xfrm>
                <a:prstGeom prst="rect">
                  <a:avLst/>
                </a:prstGeom>
              </p:spPr>
              <p:txBody>
                <a:bodyPr wrap="square">
                  <a:spAutoFit/>
                </a:bodyPr>
                <a:lstStyle/>
                <a:p>
                  <a:pPr algn="ctr"/>
                  <a:r>
                    <a:rPr lang="zh-CN" altLang="en-US" sz="1050" b="1" kern="0" dirty="0">
                      <a:latin typeface="微软雅黑" panose="020B0503020204020204" pitchFamily="34" charset="-122"/>
                      <a:ea typeface="微软雅黑" panose="020B0503020204020204" pitchFamily="34" charset="-122"/>
                    </a:rPr>
                    <a:t>美国</a:t>
                  </a:r>
                  <a:r>
                    <a:rPr lang="en-US" altLang="zh-CN" sz="1050" b="1" kern="0" dirty="0">
                      <a:latin typeface="微软雅黑" panose="020B0503020204020204" pitchFamily="34" charset="-122"/>
                      <a:ea typeface="微软雅黑" panose="020B0503020204020204" pitchFamily="34" charset="-122"/>
                    </a:rPr>
                    <a:t>DARPA</a:t>
                  </a:r>
                  <a:r>
                    <a:rPr lang="zh-CN" altLang="en-US" sz="1050" b="1" kern="0" dirty="0">
                      <a:latin typeface="微软雅黑" panose="020B0503020204020204" pitchFamily="34" charset="-122"/>
                      <a:ea typeface="微软雅黑" panose="020B0503020204020204" pitchFamily="34" charset="-122"/>
                    </a:rPr>
                    <a:t>开展</a:t>
                  </a:r>
                  <a:r>
                    <a:rPr lang="zh-CN" altLang="en-US" sz="1050" b="1" kern="0" dirty="0">
                      <a:solidFill>
                        <a:srgbClr val="C00000"/>
                      </a:solidFill>
                      <a:latin typeface="微软雅黑" panose="020B0503020204020204" pitchFamily="34" charset="-122"/>
                      <a:ea typeface="微软雅黑" panose="020B0503020204020204" pitchFamily="34" charset="-122"/>
                    </a:rPr>
                    <a:t>优化算法</a:t>
                  </a:r>
                  <a:r>
                    <a:rPr lang="zh-CN" altLang="en-US" sz="1050" b="1" kern="0" dirty="0">
                      <a:latin typeface="微软雅黑" panose="020B0503020204020204" pitchFamily="34" charset="-122"/>
                      <a:ea typeface="微软雅黑" panose="020B0503020204020204" pitchFamily="34" charset="-122"/>
                    </a:rPr>
                    <a:t>专项研究，提高</a:t>
                  </a:r>
                  <a:r>
                    <a:rPr lang="en-US" altLang="zh-CN" sz="1050" b="1" kern="0" dirty="0">
                      <a:latin typeface="微软雅黑" panose="020B0503020204020204" pitchFamily="34" charset="-122"/>
                      <a:ea typeface="微软雅黑" panose="020B0503020204020204" pitchFamily="34" charset="-122"/>
                    </a:rPr>
                    <a:t>AI</a:t>
                  </a:r>
                  <a:r>
                    <a:rPr lang="zh-CN" altLang="en-US" sz="1050" b="1" kern="0" dirty="0">
                      <a:latin typeface="微软雅黑" panose="020B0503020204020204" pitchFamily="34" charset="-122"/>
                      <a:ea typeface="微软雅黑" panose="020B0503020204020204" pitchFamily="34" charset="-122"/>
                    </a:rPr>
                    <a:t>模型决策能力</a:t>
                  </a:r>
                  <a:endParaRPr lang="en-US" altLang="zh-CN" sz="1050" b="1" kern="0" dirty="0">
                    <a:latin typeface="微软雅黑" panose="020B0503020204020204" pitchFamily="34" charset="-122"/>
                    <a:ea typeface="微软雅黑" panose="020B0503020204020204" pitchFamily="34" charset="-122"/>
                  </a:endParaRPr>
                </a:p>
              </p:txBody>
            </p:sp>
          </p:grpSp>
          <p:pic>
            <p:nvPicPr>
              <p:cNvPr id="74" name="图片 73" descr="7929b020a3299b19573cb7c6a37e890"/>
              <p:cNvPicPr>
                <a:picLocks noChangeAspect="1"/>
              </p:cNvPicPr>
              <p:nvPr/>
            </p:nvPicPr>
            <p:blipFill>
              <a:blip r:embed="rId6"/>
              <a:srcRect b="30262"/>
              <a:stretch>
                <a:fillRect/>
              </a:stretch>
            </p:blipFill>
            <p:spPr>
              <a:xfrm>
                <a:off x="6602742" y="5412211"/>
                <a:ext cx="2640152" cy="656108"/>
              </a:xfrm>
              <a:prstGeom prst="rect">
                <a:avLst/>
              </a:prstGeom>
            </p:spPr>
          </p:pic>
          <p:sp>
            <p:nvSpPr>
              <p:cNvPr id="75" name="矩形 74"/>
              <p:cNvSpPr/>
              <p:nvPr/>
            </p:nvSpPr>
            <p:spPr>
              <a:xfrm>
                <a:off x="6565260" y="5579399"/>
                <a:ext cx="2682262" cy="297449"/>
              </a:xfrm>
              <a:prstGeom prst="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15"/>
              </a:p>
            </p:txBody>
          </p:sp>
        </p:grpSp>
        <p:sp>
          <p:nvSpPr>
            <p:cNvPr id="76" name="文本框 75"/>
            <p:cNvSpPr txBox="1"/>
            <p:nvPr/>
          </p:nvSpPr>
          <p:spPr>
            <a:xfrm>
              <a:off x="7197292" y="4263303"/>
              <a:ext cx="1318678" cy="372476"/>
            </a:xfrm>
            <a:prstGeom prst="rect">
              <a:avLst/>
            </a:prstGeom>
            <a:noFill/>
            <a:ln w="38100">
              <a:noFill/>
              <a:prstDash val="sysDash"/>
            </a:ln>
          </p:spPr>
          <p:txBody>
            <a:bodyPr wrap="square">
              <a:spAutoFit/>
            </a:bodyPr>
            <a:lstStyle/>
            <a:p>
              <a:r>
                <a:rPr lang="en-US" altLang="zh-CN" sz="1800" b="1" kern="0" dirty="0">
                  <a:solidFill>
                    <a:schemeClr val="bg1"/>
                  </a:solidFill>
                  <a:latin typeface="微软雅黑" panose="020B0503020204020204" pitchFamily="34" charset="-122"/>
                  <a:ea typeface="微软雅黑" panose="020B0503020204020204" pitchFamily="34" charset="-122"/>
                </a:rPr>
                <a:t>2021</a:t>
              </a:r>
              <a:r>
                <a:rPr lang="zh-CN" altLang="en-US" sz="1800" b="1" kern="0" dirty="0">
                  <a:solidFill>
                    <a:schemeClr val="bg1"/>
                  </a:solidFill>
                  <a:latin typeface="微软雅黑" panose="020B0503020204020204" pitchFamily="34" charset="-122"/>
                  <a:ea typeface="微软雅黑" panose="020B0503020204020204" pitchFamily="34" charset="-122"/>
                </a:rPr>
                <a:t>年</a:t>
              </a:r>
              <a:endParaRPr lang="zh-CN" altLang="en-US" sz="1800" dirty="0">
                <a:solidFill>
                  <a:schemeClr val="bg1"/>
                </a:solidFill>
              </a:endParaRPr>
            </a:p>
          </p:txBody>
        </p:sp>
        <p:cxnSp>
          <p:nvCxnSpPr>
            <p:cNvPr id="87" name="直接连接符 86"/>
            <p:cNvCxnSpPr/>
            <p:nvPr/>
          </p:nvCxnSpPr>
          <p:spPr>
            <a:xfrm flipH="1" flipV="1">
              <a:off x="7815577" y="4640602"/>
              <a:ext cx="91" cy="196098"/>
            </a:xfrm>
            <a:prstGeom prst="line">
              <a:avLst/>
            </a:prstGeom>
            <a:ln w="38100">
              <a:solidFill>
                <a:schemeClr val="tx2">
                  <a:lumMod val="60000"/>
                  <a:lumOff val="40000"/>
                </a:schemeClr>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0" name="组合 89"/>
          <p:cNvGrpSpPr/>
          <p:nvPr/>
        </p:nvGrpSpPr>
        <p:grpSpPr>
          <a:xfrm>
            <a:off x="6938600" y="2808201"/>
            <a:ext cx="2037098" cy="1624924"/>
            <a:chOff x="7986435" y="2847214"/>
            <a:chExt cx="2716130" cy="2166566"/>
          </a:xfrm>
        </p:grpSpPr>
        <p:sp>
          <p:nvSpPr>
            <p:cNvPr id="78" name="圆角矩形 31"/>
            <p:cNvSpPr/>
            <p:nvPr/>
          </p:nvSpPr>
          <p:spPr>
            <a:xfrm>
              <a:off x="8076907" y="3683428"/>
              <a:ext cx="2592573" cy="586286"/>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3" name="矩形 82"/>
            <p:cNvSpPr/>
            <p:nvPr/>
          </p:nvSpPr>
          <p:spPr>
            <a:xfrm>
              <a:off x="7986435" y="3366456"/>
              <a:ext cx="2649174" cy="262821"/>
            </a:xfrm>
            <a:prstGeom prst="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15"/>
            </a:p>
          </p:txBody>
        </p:sp>
        <p:grpSp>
          <p:nvGrpSpPr>
            <p:cNvPr id="89" name="组合 88"/>
            <p:cNvGrpSpPr/>
            <p:nvPr/>
          </p:nvGrpSpPr>
          <p:grpSpPr>
            <a:xfrm>
              <a:off x="7986435" y="2847214"/>
              <a:ext cx="2716130" cy="2166566"/>
              <a:chOff x="7986435" y="2847214"/>
              <a:chExt cx="2716130" cy="2166566"/>
            </a:xfrm>
          </p:grpSpPr>
          <p:sp>
            <p:nvSpPr>
              <p:cNvPr id="77" name="文本框 76"/>
              <p:cNvSpPr txBox="1"/>
              <p:nvPr/>
            </p:nvSpPr>
            <p:spPr>
              <a:xfrm>
                <a:off x="8702231" y="4521337"/>
                <a:ext cx="1318405" cy="492443"/>
              </a:xfrm>
              <a:prstGeom prst="rect">
                <a:avLst/>
              </a:prstGeom>
              <a:noFill/>
              <a:ln w="38100">
                <a:noFill/>
                <a:prstDash val="sysDash"/>
              </a:ln>
            </p:spPr>
            <p:txBody>
              <a:bodyPr wrap="square">
                <a:spAutoFit/>
              </a:bodyPr>
              <a:lstStyle/>
              <a:p>
                <a:r>
                  <a:rPr lang="en-US" altLang="zh-CN" sz="1800" b="1" kern="0" dirty="0">
                    <a:solidFill>
                      <a:schemeClr val="bg1"/>
                    </a:solidFill>
                    <a:latin typeface="微软雅黑" panose="020B0503020204020204" pitchFamily="34" charset="-122"/>
                    <a:ea typeface="微软雅黑" panose="020B0503020204020204" pitchFamily="34" charset="-122"/>
                  </a:rPr>
                  <a:t>2023</a:t>
                </a:r>
                <a:r>
                  <a:rPr lang="zh-CN" altLang="en-US" sz="1800" b="1" kern="0" dirty="0">
                    <a:solidFill>
                      <a:schemeClr val="bg1"/>
                    </a:solidFill>
                    <a:latin typeface="微软雅黑" panose="020B0503020204020204" pitchFamily="34" charset="-122"/>
                    <a:ea typeface="微软雅黑" panose="020B0503020204020204" pitchFamily="34" charset="-122"/>
                  </a:rPr>
                  <a:t>年</a:t>
                </a:r>
                <a:endParaRPr lang="zh-CN" altLang="en-US" sz="1800" dirty="0">
                  <a:solidFill>
                    <a:schemeClr val="bg1"/>
                  </a:solidFill>
                </a:endParaRPr>
              </a:p>
            </p:txBody>
          </p:sp>
          <p:sp>
            <p:nvSpPr>
              <p:cNvPr id="79" name="矩形 78"/>
              <p:cNvSpPr/>
              <p:nvPr/>
            </p:nvSpPr>
            <p:spPr>
              <a:xfrm>
                <a:off x="8020302" y="3699899"/>
                <a:ext cx="2682263" cy="769441"/>
              </a:xfrm>
              <a:prstGeom prst="rect">
                <a:avLst/>
              </a:prstGeom>
            </p:spPr>
            <p:txBody>
              <a:bodyPr wrap="square">
                <a:spAutoFit/>
              </a:bodyPr>
              <a:lstStyle/>
              <a:p>
                <a:pPr algn="ctr"/>
                <a:r>
                  <a:rPr lang="zh-CN" altLang="en-US" sz="1050" b="1" kern="0" dirty="0">
                    <a:latin typeface="微软雅黑" panose="020B0503020204020204" pitchFamily="34" charset="-122"/>
                    <a:ea typeface="微软雅黑" panose="020B0503020204020204" pitchFamily="34" charset="-122"/>
                  </a:rPr>
                  <a:t>美国国家人工智能战略</a:t>
                </a:r>
                <a:endParaRPr lang="en-US" altLang="zh-CN" sz="1050" b="1" kern="0" dirty="0">
                  <a:latin typeface="微软雅黑" panose="020B0503020204020204" pitchFamily="34" charset="-122"/>
                  <a:ea typeface="微软雅黑" panose="020B0503020204020204" pitchFamily="34" charset="-122"/>
                </a:endParaRPr>
              </a:p>
              <a:p>
                <a:pPr algn="ctr"/>
                <a:r>
                  <a:rPr lang="zh-CN" altLang="en-US" sz="1050" b="1" kern="0" dirty="0">
                    <a:latin typeface="微软雅黑" panose="020B0503020204020204" pitchFamily="34" charset="-122"/>
                    <a:ea typeface="微软雅黑" panose="020B0503020204020204" pitchFamily="34" charset="-122"/>
                  </a:rPr>
                  <a:t>增加在电力和农业方面</a:t>
                </a:r>
                <a:r>
                  <a:rPr lang="zh-CN" altLang="en-US" sz="1050" b="1" kern="0" dirty="0">
                    <a:solidFill>
                      <a:srgbClr val="C00000"/>
                    </a:solidFill>
                    <a:latin typeface="微软雅黑" panose="020B0503020204020204" pitchFamily="34" charset="-122"/>
                    <a:ea typeface="微软雅黑" panose="020B0503020204020204" pitchFamily="34" charset="-122"/>
                  </a:rPr>
                  <a:t>优化研究</a:t>
                </a:r>
              </a:p>
            </p:txBody>
          </p:sp>
          <p:grpSp>
            <p:nvGrpSpPr>
              <p:cNvPr id="80" name="组合 79"/>
              <p:cNvGrpSpPr/>
              <p:nvPr/>
            </p:nvGrpSpPr>
            <p:grpSpPr>
              <a:xfrm>
                <a:off x="7986435" y="2847214"/>
                <a:ext cx="2649178" cy="782063"/>
                <a:chOff x="6302446" y="2826753"/>
                <a:chExt cx="2956706" cy="630761"/>
              </a:xfrm>
            </p:grpSpPr>
            <p:pic>
              <p:nvPicPr>
                <p:cNvPr id="81" name="图片 80" descr="b436fc86f4d2d3483fa49cba6ff17c2"/>
                <p:cNvPicPr>
                  <a:picLocks noChangeAspect="1"/>
                </p:cNvPicPr>
                <p:nvPr/>
              </p:nvPicPr>
              <p:blipFill>
                <a:blip r:embed="rId7"/>
                <a:srcRect t="13914" b="65960"/>
                <a:stretch>
                  <a:fillRect/>
                </a:stretch>
              </p:blipFill>
              <p:spPr>
                <a:xfrm>
                  <a:off x="6302446" y="2826753"/>
                  <a:ext cx="2956702" cy="396396"/>
                </a:xfrm>
                <a:prstGeom prst="rect">
                  <a:avLst/>
                </a:prstGeom>
              </p:spPr>
            </p:pic>
            <p:pic>
              <p:nvPicPr>
                <p:cNvPr id="82" name="图片 81" descr="b436fc86f4d2d3483fa49cba6ff17c2"/>
                <p:cNvPicPr>
                  <a:picLocks noChangeAspect="1"/>
                </p:cNvPicPr>
                <p:nvPr/>
              </p:nvPicPr>
              <p:blipFill>
                <a:blip r:embed="rId7"/>
                <a:srcRect t="89601"/>
                <a:stretch>
                  <a:fillRect/>
                </a:stretch>
              </p:blipFill>
              <p:spPr>
                <a:xfrm>
                  <a:off x="6302757" y="3253264"/>
                  <a:ext cx="2956395" cy="204250"/>
                </a:xfrm>
                <a:prstGeom prst="rect">
                  <a:avLst/>
                </a:prstGeom>
              </p:spPr>
            </p:pic>
          </p:grpSp>
          <p:cxnSp>
            <p:nvCxnSpPr>
              <p:cNvPr id="88" name="直接连接符 87"/>
              <p:cNvCxnSpPr/>
              <p:nvPr/>
            </p:nvCxnSpPr>
            <p:spPr>
              <a:xfrm>
                <a:off x="9373192" y="4269714"/>
                <a:ext cx="0" cy="237471"/>
              </a:xfrm>
              <a:prstGeom prst="line">
                <a:avLst/>
              </a:prstGeom>
              <a:ln w="38100">
                <a:solidFill>
                  <a:schemeClr val="tx2">
                    <a:lumMod val="60000"/>
                    <a:lumOff val="40000"/>
                  </a:schemeClr>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2" name="第四部分的方法"/>
          <p:cNvGrpSpPr/>
          <p:nvPr/>
        </p:nvGrpSpPr>
        <p:grpSpPr>
          <a:xfrm>
            <a:off x="7052132" y="1563819"/>
            <a:ext cx="1992562" cy="1438672"/>
            <a:chOff x="9507896" y="2867540"/>
            <a:chExt cx="2656749" cy="1918229"/>
          </a:xfrm>
        </p:grpSpPr>
        <p:grpSp>
          <p:nvGrpSpPr>
            <p:cNvPr id="203" name="第三部分方法"/>
            <p:cNvGrpSpPr/>
            <p:nvPr/>
          </p:nvGrpSpPr>
          <p:grpSpPr>
            <a:xfrm>
              <a:off x="9507896" y="2867540"/>
              <a:ext cx="2656749" cy="1918229"/>
              <a:chOff x="9795518" y="3344019"/>
              <a:chExt cx="2656749" cy="1918229"/>
            </a:xfrm>
          </p:grpSpPr>
          <p:grpSp>
            <p:nvGrpSpPr>
              <p:cNvPr id="206" name="第二部分的方法"/>
              <p:cNvGrpSpPr/>
              <p:nvPr/>
            </p:nvGrpSpPr>
            <p:grpSpPr>
              <a:xfrm>
                <a:off x="9795518" y="3344019"/>
                <a:ext cx="2656749" cy="1918229"/>
                <a:chOff x="37964" y="2354746"/>
                <a:chExt cx="2656749" cy="1918229"/>
              </a:xfrm>
            </p:grpSpPr>
            <p:sp>
              <p:nvSpPr>
                <p:cNvPr id="208" name="!!矩形: 圆角 27"/>
                <p:cNvSpPr/>
                <p:nvPr/>
              </p:nvSpPr>
              <p:spPr>
                <a:xfrm>
                  <a:off x="158954" y="2383896"/>
                  <a:ext cx="2380022" cy="1405986"/>
                </a:xfrm>
                <a:prstGeom prst="roundRect">
                  <a:avLst>
                    <a:gd name="adj" fmla="val 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800">
                    <a:solidFill>
                      <a:prstClr val="white"/>
                    </a:solidFill>
                    <a:latin typeface="Calibri" panose="020F0502020204030204"/>
                    <a:ea typeface="等线" panose="02010600030101010101" pitchFamily="2" charset="-122"/>
                  </a:endParaRPr>
                </a:p>
              </p:txBody>
            </p:sp>
            <p:sp>
              <p:nvSpPr>
                <p:cNvPr id="209" name="矩形: 圆顶角 5"/>
                <p:cNvSpPr/>
                <p:nvPr/>
              </p:nvSpPr>
              <p:spPr>
                <a:xfrm>
                  <a:off x="158261" y="2381651"/>
                  <a:ext cx="2380023" cy="425212"/>
                </a:xfrm>
                <a:prstGeom prst="round2SameRect">
                  <a:avLst>
                    <a:gd name="adj1" fmla="val 33545"/>
                    <a:gd name="adj2" fmla="val 0"/>
                  </a:avLst>
                </a:prstGeom>
                <a:solidFill>
                  <a:srgbClr val="002060"/>
                </a:solidFill>
                <a:ln>
                  <a:solidFill>
                    <a:schemeClr val="accent5">
                      <a:lumMod val="75000"/>
                    </a:schemeClr>
                  </a:solidFill>
                </a:ln>
              </p:spPr>
              <p:txBody>
                <a:bodyPr wrap="square" lIns="68580" tIns="34290" rIns="68580" bIns="34290" rtlCol="0" anchor="ctr">
                  <a:noAutofit/>
                </a:bodyPr>
                <a:lstStyle/>
                <a:p>
                  <a:pPr algn="ctr"/>
                  <a:endParaRPr lang="zh-CN" altLang="en-US" sz="2700" b="1" dirty="0">
                    <a:ln w="6600">
                      <a:solidFill>
                        <a:schemeClr val="accent2"/>
                      </a:solidFill>
                      <a:prstDash val="solid"/>
                    </a:ln>
                    <a:solidFill>
                      <a:srgbClr val="C00000"/>
                    </a:solidFill>
                    <a:effectLst>
                      <a:outerShdw dist="38100" dir="2700000" algn="tl" rotWithShape="0">
                        <a:schemeClr val="accent2"/>
                      </a:outerShdw>
                    </a:effectLst>
                  </a:endParaRPr>
                </a:p>
              </p:txBody>
            </p:sp>
            <p:sp>
              <p:nvSpPr>
                <p:cNvPr id="210" name="矩形 209"/>
                <p:cNvSpPr/>
                <p:nvPr/>
              </p:nvSpPr>
              <p:spPr>
                <a:xfrm>
                  <a:off x="52357" y="2354746"/>
                  <a:ext cx="2642356" cy="448927"/>
                </a:xfrm>
                <a:prstGeom prst="rect">
                  <a:avLst/>
                </a:prstGeom>
              </p:spPr>
              <p:txBody>
                <a:bodyPr wrap="square">
                  <a:spAutoFit/>
                </a:bodyPr>
                <a:lstStyle/>
                <a:p>
                  <a:pPr algn="ctr">
                    <a:lnSpc>
                      <a:spcPct val="150000"/>
                    </a:lnSpc>
                  </a:pPr>
                  <a:r>
                    <a:rPr lang="zh-CN" altLang="en-US" sz="1200" b="1" dirty="0">
                      <a:solidFill>
                        <a:srgbClr val="FFFF00"/>
                      </a:solidFill>
                      <a:latin typeface="微软雅黑" panose="020B0503020204020204" pitchFamily="34" charset="-122"/>
                      <a:ea typeface="微软雅黑" panose="020B0503020204020204" pitchFamily="34" charset="-122"/>
                    </a:rPr>
                    <a:t>序列（逐步）二次规划法</a:t>
                  </a:r>
                </a:p>
              </p:txBody>
            </p:sp>
            <p:sp>
              <p:nvSpPr>
                <p:cNvPr id="211" name="文本框 210"/>
                <p:cNvSpPr txBox="1"/>
                <p:nvPr>
                  <p:custDataLst>
                    <p:tags r:id="rId28"/>
                  </p:custDataLst>
                </p:nvPr>
              </p:nvSpPr>
              <p:spPr>
                <a:xfrm>
                  <a:off x="37964" y="3854785"/>
                  <a:ext cx="2642356" cy="418190"/>
                </a:xfrm>
                <a:prstGeom prst="rect">
                  <a:avLst/>
                </a:prstGeom>
                <a:ln w="28575">
                  <a:noFill/>
                </a:ln>
              </p:spPr>
              <p:txBody>
                <a:bodyPr wrap="square" anchor="ctr" anchorCtr="0">
                  <a:noAutofit/>
                </a:bodyPr>
                <a:lstStyle/>
                <a:p>
                  <a:pPr lvl="0" algn="ctr">
                    <a:buClrTx/>
                    <a:buSzTx/>
                    <a:buFontTx/>
                  </a:pPr>
                  <a:r>
                    <a:rPr lang="zh-CN" altLang="en-US" sz="1200" b="1" dirty="0">
                      <a:solidFill>
                        <a:srgbClr val="0000FF"/>
                      </a:solidFill>
                      <a:latin typeface="微软雅黑" panose="020B0503020204020204" pitchFamily="34" charset="-122"/>
                      <a:ea typeface="微软雅黑" panose="020B0503020204020204" pitchFamily="34" charset="-122"/>
                      <a:sym typeface="+mn-ea"/>
                    </a:rPr>
                    <a:t>适用非线性规划</a:t>
                  </a:r>
                  <a:endParaRPr lang="en-US" altLang="zh-CN" sz="1200" b="1" dirty="0">
                    <a:solidFill>
                      <a:srgbClr val="0000FF"/>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200" b="1" dirty="0">
                      <a:solidFill>
                        <a:schemeClr val="accent6">
                          <a:lumMod val="75000"/>
                        </a:schemeClr>
                      </a:solidFill>
                      <a:latin typeface="微软雅黑" panose="020B0503020204020204" pitchFamily="34" charset="-122"/>
                      <a:ea typeface="微软雅黑" panose="020B0503020204020204" pitchFamily="34" charset="-122"/>
                      <a:sym typeface="+mn-ea"/>
                    </a:rPr>
                    <a:t>初始点不好，迭代发散</a:t>
                  </a:r>
                </a:p>
              </p:txBody>
            </p:sp>
          </p:grpSp>
          <p:pic>
            <p:nvPicPr>
              <p:cNvPr id="207" name="图片 206"/>
              <p:cNvPicPr>
                <a:picLocks noChangeAspect="1"/>
              </p:cNvPicPr>
              <p:nvPr/>
            </p:nvPicPr>
            <p:blipFill>
              <a:blip r:embed="rId31" cstate="print">
                <a:extLst>
                  <a:ext uri="{28A0092B-C50C-407E-A947-70E740481C1C}">
                    <a14:useLocalDpi xmlns:a14="http://schemas.microsoft.com/office/drawing/2010/main" val="0"/>
                  </a:ext>
                </a:extLst>
              </a:blip>
              <a:srcRect/>
              <a:stretch>
                <a:fillRect/>
              </a:stretch>
            </p:blipFill>
            <p:spPr>
              <a:xfrm>
                <a:off x="9943603" y="3892574"/>
                <a:ext cx="866497" cy="782343"/>
              </a:xfrm>
              <a:prstGeom prst="rect">
                <a:avLst/>
              </a:prstGeom>
            </p:spPr>
          </p:pic>
        </p:grpSp>
        <p:pic>
          <p:nvPicPr>
            <p:cNvPr id="204" name="图片 203"/>
            <p:cNvPicPr>
              <a:picLocks noChangeAspect="1"/>
            </p:cNvPicPr>
            <p:nvPr/>
          </p:nvPicPr>
          <p:blipFill>
            <a:blip r:embed="rId32"/>
            <a:stretch>
              <a:fillRect/>
            </a:stretch>
          </p:blipFill>
          <p:spPr>
            <a:xfrm>
              <a:off x="10527907" y="3490332"/>
              <a:ext cx="1435280" cy="299840"/>
            </a:xfrm>
            <a:prstGeom prst="rect">
              <a:avLst/>
            </a:prstGeom>
          </p:spPr>
        </p:pic>
        <p:pic>
          <p:nvPicPr>
            <p:cNvPr id="205" name="图片 204"/>
            <p:cNvPicPr>
              <a:picLocks noChangeAspect="1"/>
            </p:cNvPicPr>
            <p:nvPr/>
          </p:nvPicPr>
          <p:blipFill>
            <a:blip r:embed="rId33"/>
            <a:stretch>
              <a:fillRect/>
            </a:stretch>
          </p:blipFill>
          <p:spPr>
            <a:xfrm>
              <a:off x="10783107" y="3950042"/>
              <a:ext cx="806462" cy="173870"/>
            </a:xfrm>
            <a:prstGeom prst="rect">
              <a:avLst/>
            </a:prstGeom>
          </p:spPr>
        </p:pic>
      </p:grpSp>
      <p:grpSp>
        <p:nvGrpSpPr>
          <p:cNvPr id="236" name="第三部分的方法"/>
          <p:cNvGrpSpPr/>
          <p:nvPr/>
        </p:nvGrpSpPr>
        <p:grpSpPr>
          <a:xfrm>
            <a:off x="4990408" y="1882397"/>
            <a:ext cx="1716212" cy="1500505"/>
            <a:chOff x="6205795" y="1740267"/>
            <a:chExt cx="2288282" cy="2000673"/>
          </a:xfrm>
        </p:grpSpPr>
        <p:pic>
          <p:nvPicPr>
            <p:cNvPr id="232" name="图片 231"/>
            <p:cNvPicPr>
              <a:picLocks noChangeAspect="1"/>
            </p:cNvPicPr>
            <p:nvPr/>
          </p:nvPicPr>
          <p:blipFill>
            <a:blip r:embed="rId34"/>
            <a:stretch>
              <a:fillRect/>
            </a:stretch>
          </p:blipFill>
          <p:spPr>
            <a:xfrm>
              <a:off x="7208717" y="2906263"/>
              <a:ext cx="1097998" cy="288792"/>
            </a:xfrm>
            <a:prstGeom prst="rect">
              <a:avLst/>
            </a:prstGeom>
          </p:spPr>
        </p:pic>
        <p:pic>
          <p:nvPicPr>
            <p:cNvPr id="234" name="图片 233"/>
            <p:cNvPicPr>
              <a:picLocks noChangeAspect="1"/>
            </p:cNvPicPr>
            <p:nvPr/>
          </p:nvPicPr>
          <p:blipFill>
            <a:blip r:embed="rId35"/>
            <a:stretch>
              <a:fillRect/>
            </a:stretch>
          </p:blipFill>
          <p:spPr>
            <a:xfrm>
              <a:off x="7208717" y="2202428"/>
              <a:ext cx="1168564" cy="642489"/>
            </a:xfrm>
            <a:prstGeom prst="rect">
              <a:avLst/>
            </a:prstGeom>
          </p:spPr>
        </p:pic>
        <p:grpSp>
          <p:nvGrpSpPr>
            <p:cNvPr id="235" name="第三部分的方法"/>
            <p:cNvGrpSpPr/>
            <p:nvPr/>
          </p:nvGrpSpPr>
          <p:grpSpPr>
            <a:xfrm>
              <a:off x="6205795" y="1740267"/>
              <a:ext cx="2288282" cy="2000673"/>
              <a:chOff x="6096000" y="1735070"/>
              <a:chExt cx="2288282" cy="2000673"/>
            </a:xfrm>
          </p:grpSpPr>
          <p:grpSp>
            <p:nvGrpSpPr>
              <p:cNvPr id="2" name="第三部分方法"/>
              <p:cNvGrpSpPr/>
              <p:nvPr/>
            </p:nvGrpSpPr>
            <p:grpSpPr>
              <a:xfrm>
                <a:off x="6096000" y="1735070"/>
                <a:ext cx="2288282" cy="2000673"/>
                <a:chOff x="9362668" y="2949072"/>
                <a:chExt cx="2288282" cy="2000673"/>
              </a:xfrm>
            </p:grpSpPr>
            <p:grpSp>
              <p:nvGrpSpPr>
                <p:cNvPr id="7" name="第二部分的方法"/>
                <p:cNvGrpSpPr/>
                <p:nvPr/>
              </p:nvGrpSpPr>
              <p:grpSpPr>
                <a:xfrm>
                  <a:off x="9362668" y="2949072"/>
                  <a:ext cx="2288282" cy="2000673"/>
                  <a:chOff x="104263" y="2303140"/>
                  <a:chExt cx="2288282" cy="2000673"/>
                </a:xfrm>
              </p:grpSpPr>
              <p:sp>
                <p:nvSpPr>
                  <p:cNvPr id="9" name="!!矩形: 圆角 27"/>
                  <p:cNvSpPr/>
                  <p:nvPr/>
                </p:nvSpPr>
                <p:spPr>
                  <a:xfrm>
                    <a:off x="129760" y="2380046"/>
                    <a:ext cx="2184627" cy="1409836"/>
                  </a:xfrm>
                  <a:prstGeom prst="roundRect">
                    <a:avLst>
                      <a:gd name="adj" fmla="val 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800">
                      <a:solidFill>
                        <a:prstClr val="white"/>
                      </a:solidFill>
                      <a:latin typeface="Calibri" panose="020F0502020204030204"/>
                      <a:ea typeface="等线" panose="02010600030101010101" pitchFamily="2" charset="-122"/>
                    </a:endParaRPr>
                  </a:p>
                </p:txBody>
              </p:sp>
              <p:sp>
                <p:nvSpPr>
                  <p:cNvPr id="10" name="矩形: 圆顶角 5"/>
                  <p:cNvSpPr/>
                  <p:nvPr/>
                </p:nvSpPr>
                <p:spPr>
                  <a:xfrm>
                    <a:off x="129070" y="2381651"/>
                    <a:ext cx="2185318" cy="323848"/>
                  </a:xfrm>
                  <a:prstGeom prst="round2SameRect">
                    <a:avLst>
                      <a:gd name="adj1" fmla="val 33545"/>
                      <a:gd name="adj2" fmla="val 0"/>
                    </a:avLst>
                  </a:prstGeom>
                  <a:solidFill>
                    <a:srgbClr val="002060"/>
                  </a:solidFill>
                  <a:ln>
                    <a:solidFill>
                      <a:schemeClr val="accent5">
                        <a:lumMod val="75000"/>
                      </a:schemeClr>
                    </a:solidFill>
                  </a:ln>
                </p:spPr>
                <p:txBody>
                  <a:bodyPr wrap="square" lIns="68580" tIns="34290" rIns="68580" bIns="34290" rtlCol="0" anchor="ctr">
                    <a:noAutofit/>
                  </a:bodyPr>
                  <a:lstStyle/>
                  <a:p>
                    <a:pPr algn="ctr"/>
                    <a:endParaRPr lang="zh-CN" altLang="en-US" sz="2700" b="1" dirty="0">
                      <a:ln w="6600">
                        <a:solidFill>
                          <a:schemeClr val="accent2"/>
                        </a:solidFill>
                        <a:prstDash val="solid"/>
                      </a:ln>
                      <a:solidFill>
                        <a:srgbClr val="C00000"/>
                      </a:solidFill>
                      <a:effectLst>
                        <a:outerShdw dist="38100" dir="2700000" algn="tl" rotWithShape="0">
                          <a:schemeClr val="accent2"/>
                        </a:outerShdw>
                      </a:effectLst>
                    </a:endParaRPr>
                  </a:p>
                </p:txBody>
              </p:sp>
              <p:sp>
                <p:nvSpPr>
                  <p:cNvPr id="11" name="矩形 10"/>
                  <p:cNvSpPr/>
                  <p:nvPr/>
                </p:nvSpPr>
                <p:spPr>
                  <a:xfrm>
                    <a:off x="104263" y="2303140"/>
                    <a:ext cx="2288282" cy="448927"/>
                  </a:xfrm>
                  <a:prstGeom prst="rect">
                    <a:avLst/>
                  </a:prstGeom>
                </p:spPr>
                <p:txBody>
                  <a:bodyPr wrap="square">
                    <a:spAutoFit/>
                  </a:bodyPr>
                  <a:lstStyle/>
                  <a:p>
                    <a:pPr algn="ctr">
                      <a:lnSpc>
                        <a:spcPct val="150000"/>
                      </a:lnSpc>
                    </a:pPr>
                    <a:r>
                      <a:rPr lang="zh-CN" altLang="en-US" sz="1200" b="1" dirty="0">
                        <a:solidFill>
                          <a:srgbClr val="FFFF00"/>
                        </a:solidFill>
                        <a:latin typeface="微软雅黑" panose="020B0503020204020204" pitchFamily="34" charset="-122"/>
                        <a:ea typeface="微软雅黑" panose="020B0503020204020204" pitchFamily="34" charset="-122"/>
                      </a:rPr>
                      <a:t>单纯形法（迭代法）</a:t>
                    </a:r>
                  </a:p>
                </p:txBody>
              </p:sp>
              <p:sp>
                <p:nvSpPr>
                  <p:cNvPr id="12" name="文本框 11"/>
                  <p:cNvSpPr txBox="1"/>
                  <p:nvPr>
                    <p:custDataLst>
                      <p:tags r:id="rId27"/>
                    </p:custDataLst>
                  </p:nvPr>
                </p:nvSpPr>
                <p:spPr>
                  <a:xfrm>
                    <a:off x="128816" y="3885560"/>
                    <a:ext cx="2180166" cy="418253"/>
                  </a:xfrm>
                  <a:prstGeom prst="rect">
                    <a:avLst/>
                  </a:prstGeom>
                  <a:ln w="28575">
                    <a:noFill/>
                  </a:ln>
                </p:spPr>
                <p:txBody>
                  <a:bodyPr wrap="square" anchor="ctr" anchorCtr="0">
                    <a:noAutofit/>
                  </a:bodyPr>
                  <a:lstStyle/>
                  <a:p>
                    <a:pPr lvl="0" algn="ctr">
                      <a:buClrTx/>
                      <a:buSzTx/>
                      <a:buFontTx/>
                    </a:pPr>
                    <a:r>
                      <a:rPr lang="zh-CN" altLang="en-US" sz="1200" b="1" dirty="0">
                        <a:solidFill>
                          <a:srgbClr val="0000FF"/>
                        </a:solidFill>
                        <a:latin typeface="微软雅黑" panose="020B0503020204020204" pitchFamily="34" charset="-122"/>
                        <a:ea typeface="微软雅黑" panose="020B0503020204020204" pitchFamily="34" charset="-122"/>
                        <a:sym typeface="+mn-ea"/>
                      </a:rPr>
                      <a:t>适用线性规划</a:t>
                    </a:r>
                    <a:endParaRPr lang="en-US" altLang="zh-CN" sz="1200" b="1" dirty="0">
                      <a:solidFill>
                        <a:srgbClr val="0000FF"/>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200" b="1" dirty="0">
                        <a:solidFill>
                          <a:schemeClr val="accent6">
                            <a:lumMod val="75000"/>
                          </a:schemeClr>
                        </a:solidFill>
                        <a:latin typeface="微软雅黑" panose="020B0503020204020204" pitchFamily="34" charset="-122"/>
                        <a:ea typeface="微软雅黑" panose="020B0503020204020204" pitchFamily="34" charset="-122"/>
                        <a:sym typeface="+mn-ea"/>
                      </a:rPr>
                      <a:t>但收敛缓慢效率低下</a:t>
                    </a:r>
                  </a:p>
                </p:txBody>
              </p:sp>
            </p:grpSp>
            <p:grpSp>
              <p:nvGrpSpPr>
                <p:cNvPr id="4" name="组合 3"/>
                <p:cNvGrpSpPr/>
                <p:nvPr/>
              </p:nvGrpSpPr>
              <p:grpSpPr>
                <a:xfrm>
                  <a:off x="10196118" y="3711218"/>
                  <a:ext cx="1204683" cy="560712"/>
                  <a:chOff x="9359130" y="5292063"/>
                  <a:chExt cx="1714679" cy="811955"/>
                </a:xfrm>
              </p:grpSpPr>
              <p:pic>
                <p:nvPicPr>
                  <p:cNvPr id="5" name="图形 4"/>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r="28564"/>
                  <a:stretch>
                    <a:fillRect/>
                  </a:stretch>
                </p:blipFill>
                <p:spPr>
                  <a:xfrm>
                    <a:off x="9359130" y="5292063"/>
                    <a:ext cx="1714679" cy="419100"/>
                  </a:xfrm>
                  <a:prstGeom prst="rect">
                    <a:avLst/>
                  </a:prstGeom>
                </p:spPr>
              </p:pic>
              <p:pic>
                <p:nvPicPr>
                  <p:cNvPr id="6" name="图形 5"/>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70403" t="217" b="-1"/>
                  <a:stretch>
                    <a:fillRect/>
                  </a:stretch>
                </p:blipFill>
                <p:spPr>
                  <a:xfrm>
                    <a:off x="9622464" y="5685826"/>
                    <a:ext cx="710431" cy="418192"/>
                  </a:xfrm>
                  <a:prstGeom prst="rect">
                    <a:avLst/>
                  </a:prstGeom>
                </p:spPr>
              </p:pic>
            </p:grpSp>
          </p:grpSp>
          <p:pic>
            <p:nvPicPr>
              <p:cNvPr id="2050" name="Picture 2" descr="单纯形法线性规划_初始单纯形表-CSDN博客"/>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6137243" y="2214335"/>
                <a:ext cx="951265" cy="92928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3" name="第二部分方法"/>
          <p:cNvGrpSpPr/>
          <p:nvPr/>
        </p:nvGrpSpPr>
        <p:grpSpPr>
          <a:xfrm>
            <a:off x="2849026" y="2164053"/>
            <a:ext cx="1574801" cy="1372170"/>
            <a:chOff x="9526992" y="2663956"/>
            <a:chExt cx="2099734" cy="1829559"/>
          </a:xfrm>
        </p:grpSpPr>
        <p:pic>
          <p:nvPicPr>
            <p:cNvPr id="14" name="图片 13"/>
            <p:cNvPicPr>
              <a:picLocks noChangeAspect="1"/>
            </p:cNvPicPr>
            <p:nvPr/>
          </p:nvPicPr>
          <p:blipFill>
            <a:blip r:embed="rId39" cstate="print">
              <a:extLst>
                <a:ext uri="{28A0092B-C50C-407E-A947-70E740481C1C}">
                  <a14:useLocalDpi xmlns:a14="http://schemas.microsoft.com/office/drawing/2010/main" val="0"/>
                </a:ext>
              </a:extLst>
            </a:blip>
            <a:srcRect/>
            <a:stretch>
              <a:fillRect/>
            </a:stretch>
          </p:blipFill>
          <p:spPr>
            <a:xfrm>
              <a:off x="10486516" y="3651632"/>
              <a:ext cx="1045084" cy="242936"/>
            </a:xfrm>
            <a:prstGeom prst="rect">
              <a:avLst/>
            </a:prstGeom>
          </p:spPr>
        </p:pic>
        <p:grpSp>
          <p:nvGrpSpPr>
            <p:cNvPr id="15" name="第二部分方法"/>
            <p:cNvGrpSpPr/>
            <p:nvPr/>
          </p:nvGrpSpPr>
          <p:grpSpPr>
            <a:xfrm>
              <a:off x="9526992" y="2663956"/>
              <a:ext cx="2099734" cy="1829559"/>
              <a:chOff x="9526992" y="2663956"/>
              <a:chExt cx="2099734" cy="1829559"/>
            </a:xfrm>
          </p:grpSpPr>
          <p:grpSp>
            <p:nvGrpSpPr>
              <p:cNvPr id="16" name="第二部分的方法"/>
              <p:cNvGrpSpPr/>
              <p:nvPr/>
            </p:nvGrpSpPr>
            <p:grpSpPr>
              <a:xfrm>
                <a:off x="9526992" y="2663956"/>
                <a:ext cx="2099734" cy="1829559"/>
                <a:chOff x="129068" y="2432099"/>
                <a:chExt cx="2099734" cy="1829559"/>
              </a:xfrm>
            </p:grpSpPr>
            <p:sp>
              <p:nvSpPr>
                <p:cNvPr id="18" name="!!矩形: 圆角 27"/>
                <p:cNvSpPr/>
                <p:nvPr/>
              </p:nvSpPr>
              <p:spPr>
                <a:xfrm>
                  <a:off x="129760" y="2483952"/>
                  <a:ext cx="2053027" cy="1305930"/>
                </a:xfrm>
                <a:prstGeom prst="roundRect">
                  <a:avLst>
                    <a:gd name="adj" fmla="val 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800">
                    <a:solidFill>
                      <a:prstClr val="white"/>
                    </a:solidFill>
                    <a:latin typeface="Calibri" panose="020F0502020204030204"/>
                    <a:ea typeface="等线" panose="02010600030101010101" pitchFamily="2" charset="-122"/>
                  </a:endParaRPr>
                </a:p>
              </p:txBody>
            </p:sp>
            <p:sp>
              <p:nvSpPr>
                <p:cNvPr id="19" name="矩形: 圆顶角 5"/>
                <p:cNvSpPr/>
                <p:nvPr/>
              </p:nvSpPr>
              <p:spPr>
                <a:xfrm>
                  <a:off x="132698" y="2498194"/>
                  <a:ext cx="2053027" cy="362937"/>
                </a:xfrm>
                <a:prstGeom prst="round2SameRect">
                  <a:avLst>
                    <a:gd name="adj1" fmla="val 33545"/>
                    <a:gd name="adj2" fmla="val 0"/>
                  </a:avLst>
                </a:prstGeom>
                <a:solidFill>
                  <a:srgbClr val="002060"/>
                </a:solidFill>
                <a:ln>
                  <a:solidFill>
                    <a:schemeClr val="accent5">
                      <a:lumMod val="75000"/>
                    </a:schemeClr>
                  </a:solidFill>
                </a:ln>
              </p:spPr>
              <p:txBody>
                <a:bodyPr wrap="square" lIns="68580" tIns="34290" rIns="68580" bIns="34290" rtlCol="0" anchor="ctr">
                  <a:noAutofit/>
                </a:bodyPr>
                <a:lstStyle/>
                <a:p>
                  <a:pPr algn="ctr"/>
                  <a:endParaRPr lang="zh-CN" altLang="en-US" sz="2700" b="1" dirty="0">
                    <a:ln w="6600">
                      <a:solidFill>
                        <a:schemeClr val="accent2"/>
                      </a:solidFill>
                      <a:prstDash val="solid"/>
                    </a:ln>
                    <a:solidFill>
                      <a:srgbClr val="C00000"/>
                    </a:solidFill>
                    <a:effectLst>
                      <a:outerShdw dist="38100" dir="2700000" algn="tl" rotWithShape="0">
                        <a:schemeClr val="accent2"/>
                      </a:outerShdw>
                    </a:effectLst>
                  </a:endParaRPr>
                </a:p>
              </p:txBody>
            </p:sp>
            <p:sp>
              <p:nvSpPr>
                <p:cNvPr id="20" name="矩形 19"/>
                <p:cNvSpPr/>
                <p:nvPr/>
              </p:nvSpPr>
              <p:spPr>
                <a:xfrm>
                  <a:off x="156212" y="2432099"/>
                  <a:ext cx="2035442" cy="448927"/>
                </a:xfrm>
                <a:prstGeom prst="rect">
                  <a:avLst/>
                </a:prstGeom>
              </p:spPr>
              <p:txBody>
                <a:bodyPr wrap="square">
                  <a:spAutoFit/>
                </a:bodyPr>
                <a:lstStyle/>
                <a:p>
                  <a:pPr algn="ctr">
                    <a:lnSpc>
                      <a:spcPct val="150000"/>
                    </a:lnSpc>
                  </a:pPr>
                  <a:r>
                    <a:rPr lang="zh-CN" altLang="en-US" sz="1200" b="1" dirty="0">
                      <a:solidFill>
                        <a:srgbClr val="FFFF00"/>
                      </a:solidFill>
                      <a:latin typeface="微软雅黑" panose="020B0503020204020204" pitchFamily="34" charset="-122"/>
                      <a:ea typeface="微软雅黑" panose="020B0503020204020204" pitchFamily="34" charset="-122"/>
                    </a:rPr>
                    <a:t>变分法</a:t>
                  </a:r>
                </a:p>
              </p:txBody>
            </p:sp>
            <p:pic>
              <p:nvPicPr>
                <p:cNvPr id="21" name="图片 20"/>
                <p:cNvPicPr>
                  <a:picLocks noChangeAspect="1"/>
                </p:cNvPicPr>
                <p:nvPr/>
              </p:nvPicPr>
              <p:blipFill>
                <a:blip r:embed="rId40" cstate="print">
                  <a:extLst>
                    <a:ext uri="{28A0092B-C50C-407E-A947-70E740481C1C}">
                      <a14:useLocalDpi xmlns:a14="http://schemas.microsoft.com/office/drawing/2010/main" val="0"/>
                    </a:ext>
                  </a:extLst>
                </a:blip>
                <a:srcRect/>
                <a:stretch>
                  <a:fillRect/>
                </a:stretch>
              </p:blipFill>
              <p:spPr>
                <a:xfrm>
                  <a:off x="1088930" y="2949056"/>
                  <a:ext cx="1093504" cy="322891"/>
                </a:xfrm>
                <a:prstGeom prst="rect">
                  <a:avLst/>
                </a:prstGeom>
              </p:spPr>
            </p:pic>
            <p:sp>
              <p:nvSpPr>
                <p:cNvPr id="22" name="文本框 21"/>
                <p:cNvSpPr txBox="1"/>
                <p:nvPr>
                  <p:custDataLst>
                    <p:tags r:id="rId26"/>
                  </p:custDataLst>
                </p:nvPr>
              </p:nvSpPr>
              <p:spPr>
                <a:xfrm>
                  <a:off x="129068" y="3843467"/>
                  <a:ext cx="2099734" cy="418191"/>
                </a:xfrm>
                <a:prstGeom prst="rect">
                  <a:avLst/>
                </a:prstGeom>
                <a:ln w="28575">
                  <a:noFill/>
                </a:ln>
              </p:spPr>
              <p:txBody>
                <a:bodyPr wrap="square" anchor="ctr" anchorCtr="0">
                  <a:noAutofit/>
                </a:bodyPr>
                <a:lstStyle/>
                <a:p>
                  <a:pPr lvl="0" algn="ctr">
                    <a:buClrTx/>
                    <a:buSzTx/>
                    <a:buFontTx/>
                  </a:pPr>
                  <a:r>
                    <a:rPr lang="zh-CN" altLang="en-US" sz="1200" b="1" dirty="0">
                      <a:solidFill>
                        <a:srgbClr val="0000FF"/>
                      </a:solidFill>
                      <a:latin typeface="微软雅黑" panose="020B0503020204020204" pitchFamily="34" charset="-122"/>
                      <a:ea typeface="微软雅黑" panose="020B0503020204020204" pitchFamily="34" charset="-122"/>
                      <a:sym typeface="+mn-ea"/>
                    </a:rPr>
                    <a:t>解析法的泛函拓展</a:t>
                  </a:r>
                  <a:endParaRPr lang="en-US" altLang="zh-CN" sz="1200" b="1" dirty="0">
                    <a:solidFill>
                      <a:srgbClr val="0000FF"/>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200" b="1" dirty="0">
                      <a:solidFill>
                        <a:schemeClr val="accent6">
                          <a:lumMod val="75000"/>
                        </a:schemeClr>
                      </a:solidFill>
                      <a:latin typeface="微软雅黑" panose="020B0503020204020204" pitchFamily="34" charset="-122"/>
                      <a:ea typeface="微软雅黑" panose="020B0503020204020204" pitchFamily="34" charset="-122"/>
                      <a:sym typeface="+mn-ea"/>
                    </a:rPr>
                    <a:t>无法处理非光滑问题</a:t>
                  </a:r>
                </a:p>
              </p:txBody>
            </p:sp>
          </p:grpSp>
          <p:pic>
            <p:nvPicPr>
              <p:cNvPr id="17" name="Picture 2" descr="科普专题：比一比：谁会更快的从等高处下降至地面呢？-通识教育中心 - 厦门华厦学院"/>
              <p:cNvPicPr>
                <a:picLocks noChangeAspect="1" noChangeArrowheads="1" noCrop="1"/>
              </p:cNvPicPr>
              <p:nvPr/>
            </p:nvPicPr>
            <p:blipFill>
              <a:blip r:embed="rId41"/>
              <a:srcRect/>
              <a:stretch>
                <a:fillRect/>
              </a:stretch>
            </p:blipFill>
            <p:spPr bwMode="auto">
              <a:xfrm>
                <a:off x="9561910" y="3146036"/>
                <a:ext cx="906762" cy="779111"/>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3" name="第一部分的方法"/>
          <p:cNvGrpSpPr/>
          <p:nvPr/>
        </p:nvGrpSpPr>
        <p:grpSpPr>
          <a:xfrm>
            <a:off x="321391" y="2460304"/>
            <a:ext cx="1597448" cy="1458493"/>
            <a:chOff x="127662" y="2385401"/>
            <a:chExt cx="2129930" cy="1944657"/>
          </a:xfrm>
        </p:grpSpPr>
        <p:sp>
          <p:nvSpPr>
            <p:cNvPr id="24" name="!!矩形: 圆角 27"/>
            <p:cNvSpPr/>
            <p:nvPr/>
          </p:nvSpPr>
          <p:spPr>
            <a:xfrm>
              <a:off x="129760" y="2385401"/>
              <a:ext cx="2053027" cy="1508131"/>
            </a:xfrm>
            <a:prstGeom prst="roundRect">
              <a:avLst>
                <a:gd name="adj" fmla="val 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800">
                <a:solidFill>
                  <a:prstClr val="white"/>
                </a:solidFill>
                <a:latin typeface="Calibri" panose="020F0502020204030204"/>
                <a:ea typeface="等线" panose="02010600030101010101" pitchFamily="2" charset="-122"/>
              </a:endParaRPr>
            </a:p>
          </p:txBody>
        </p:sp>
        <p:sp>
          <p:nvSpPr>
            <p:cNvPr id="25" name="矩形: 圆顶角 5"/>
            <p:cNvSpPr/>
            <p:nvPr/>
          </p:nvSpPr>
          <p:spPr>
            <a:xfrm>
              <a:off x="127662" y="2385401"/>
              <a:ext cx="2053027" cy="493790"/>
            </a:xfrm>
            <a:prstGeom prst="round2SameRect">
              <a:avLst>
                <a:gd name="adj1" fmla="val 31947"/>
                <a:gd name="adj2" fmla="val 0"/>
              </a:avLst>
            </a:prstGeom>
            <a:solidFill>
              <a:srgbClr val="002060"/>
            </a:solidFill>
            <a:ln>
              <a:solidFill>
                <a:schemeClr val="accent5">
                  <a:lumMod val="75000"/>
                </a:schemeClr>
              </a:solidFill>
            </a:ln>
          </p:spPr>
          <p:txBody>
            <a:bodyPr wrap="square" lIns="68580" tIns="34290" rIns="68580" bIns="34290" rtlCol="0" anchor="ctr">
              <a:noAutofit/>
            </a:bodyPr>
            <a:lstStyle/>
            <a:p>
              <a:pPr algn="ctr"/>
              <a:endParaRPr lang="zh-CN" altLang="en-US" sz="2700" b="1" dirty="0">
                <a:ln w="6600">
                  <a:solidFill>
                    <a:schemeClr val="accent2"/>
                  </a:solidFill>
                  <a:prstDash val="solid"/>
                </a:ln>
                <a:solidFill>
                  <a:srgbClr val="C00000"/>
                </a:solidFill>
                <a:effectLst>
                  <a:outerShdw dist="38100" dir="2700000" algn="tl" rotWithShape="0">
                    <a:schemeClr val="accent2"/>
                  </a:outerShdw>
                </a:effectLst>
              </a:endParaRPr>
            </a:p>
          </p:txBody>
        </p:sp>
        <p:sp>
          <p:nvSpPr>
            <p:cNvPr id="26" name="矩形 25"/>
            <p:cNvSpPr/>
            <p:nvPr/>
          </p:nvSpPr>
          <p:spPr>
            <a:xfrm>
              <a:off x="129501" y="2385964"/>
              <a:ext cx="2035443" cy="448927"/>
            </a:xfrm>
            <a:prstGeom prst="rect">
              <a:avLst/>
            </a:prstGeom>
          </p:spPr>
          <p:txBody>
            <a:bodyPr wrap="square">
              <a:spAutoFit/>
            </a:bodyPr>
            <a:lstStyle/>
            <a:p>
              <a:pPr algn="ctr">
                <a:lnSpc>
                  <a:spcPct val="150000"/>
                </a:lnSpc>
              </a:pPr>
              <a:r>
                <a:rPr lang="zh-CN" altLang="en-US" sz="1200" b="1" dirty="0">
                  <a:solidFill>
                    <a:srgbClr val="FFFF00"/>
                  </a:solidFill>
                  <a:latin typeface="微软雅黑" panose="020B0503020204020204" pitchFamily="34" charset="-122"/>
                  <a:ea typeface="微软雅黑" panose="020B0503020204020204" pitchFamily="34" charset="-122"/>
                </a:rPr>
                <a:t>解析方法</a:t>
              </a:r>
            </a:p>
          </p:txBody>
        </p:sp>
        <p:pic>
          <p:nvPicPr>
            <p:cNvPr id="27" name="Picture 6"/>
            <p:cNvPicPr>
              <a:picLocks noChangeAspect="1" noChangeArrowheads="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158078" y="2928181"/>
              <a:ext cx="1000167" cy="891853"/>
            </a:xfrm>
            <a:prstGeom prst="rect">
              <a:avLst/>
            </a:prstGeom>
            <a:noFill/>
            <a:extLst>
              <a:ext uri="{909E8E84-426E-40DD-AFC4-6F175D3DCCD1}">
                <a14:hiddenFill xmlns:a14="http://schemas.microsoft.com/office/drawing/2010/main">
                  <a:solidFill>
                    <a:srgbClr val="FFFFFF"/>
                  </a:solidFill>
                </a14:hiddenFill>
              </a:ext>
            </a:extLst>
          </p:spPr>
        </p:pic>
        <p:pic>
          <p:nvPicPr>
            <p:cNvPr id="28" name="图片 27"/>
            <p:cNvPicPr>
              <a:picLocks noChangeAspect="1"/>
            </p:cNvPicPr>
            <p:nvPr/>
          </p:nvPicPr>
          <p:blipFill>
            <a:blip r:embed="rId43"/>
            <a:stretch>
              <a:fillRect/>
            </a:stretch>
          </p:blipFill>
          <p:spPr>
            <a:xfrm>
              <a:off x="1162178" y="3163210"/>
              <a:ext cx="1004508" cy="646392"/>
            </a:xfrm>
            <a:prstGeom prst="rect">
              <a:avLst/>
            </a:prstGeom>
          </p:spPr>
        </p:pic>
        <p:sp>
          <p:nvSpPr>
            <p:cNvPr id="29" name="文本框 28"/>
            <p:cNvSpPr txBox="1"/>
            <p:nvPr>
              <p:custDataLst>
                <p:tags r:id="rId25"/>
              </p:custDataLst>
            </p:nvPr>
          </p:nvSpPr>
          <p:spPr>
            <a:xfrm>
              <a:off x="149259" y="3992873"/>
              <a:ext cx="2108333" cy="337185"/>
            </a:xfrm>
            <a:prstGeom prst="rect">
              <a:avLst/>
            </a:prstGeom>
            <a:ln w="28575">
              <a:noFill/>
            </a:ln>
          </p:spPr>
          <p:txBody>
            <a:bodyPr wrap="square" anchor="ctr" anchorCtr="0">
              <a:noAutofit/>
            </a:bodyPr>
            <a:lstStyle/>
            <a:p>
              <a:pPr lvl="0" algn="ctr">
                <a:buClrTx/>
                <a:buSzTx/>
                <a:buFontTx/>
              </a:pPr>
              <a:r>
                <a:rPr lang="zh-CN" altLang="en-US" sz="1200" b="1" dirty="0">
                  <a:solidFill>
                    <a:srgbClr val="0000FF"/>
                  </a:solidFill>
                  <a:latin typeface="微软雅黑" panose="020B0503020204020204" pitchFamily="34" charset="-122"/>
                  <a:ea typeface="微软雅黑" panose="020B0503020204020204" pitchFamily="34" charset="-122"/>
                  <a:sym typeface="+mn-ea"/>
                </a:rPr>
                <a:t>求解精准</a:t>
              </a:r>
              <a:endParaRPr lang="en-US" altLang="zh-CN" sz="1200" b="1" dirty="0">
                <a:solidFill>
                  <a:srgbClr val="0000FF"/>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200" b="1" dirty="0">
                  <a:solidFill>
                    <a:schemeClr val="accent6">
                      <a:lumMod val="75000"/>
                    </a:schemeClr>
                  </a:solidFill>
                  <a:latin typeface="微软雅黑" panose="020B0503020204020204" pitchFamily="34" charset="-122"/>
                  <a:ea typeface="微软雅黑" panose="020B0503020204020204" pitchFamily="34" charset="-122"/>
                  <a:sym typeface="+mn-ea"/>
                </a:rPr>
                <a:t>只适用特定简单问题</a:t>
              </a:r>
            </a:p>
          </p:txBody>
        </p:sp>
      </p:grpSp>
      <p:sp>
        <p:nvSpPr>
          <p:cNvPr id="30" name="矩形 29"/>
          <p:cNvSpPr/>
          <p:nvPr/>
        </p:nvSpPr>
        <p:spPr>
          <a:xfrm>
            <a:off x="0" y="5950639"/>
            <a:ext cx="9144000" cy="46679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350"/>
              </a:spcBef>
              <a:defRPr/>
            </a:pPr>
            <a:r>
              <a:rPr lang="zh-CN" altLang="en-US" sz="2100" b="1" dirty="0">
                <a:solidFill>
                  <a:schemeClr val="bg1"/>
                </a:solidFill>
                <a:latin typeface="微软雅黑" panose="020B0503020204020204" pitchFamily="34" charset="-122"/>
                <a:ea typeface="微软雅黑" panose="020B0503020204020204" pitchFamily="34" charset="-122"/>
              </a:rPr>
              <a:t>优化理论与方法发展的</a:t>
            </a:r>
            <a:r>
              <a:rPr lang="zh-CN" altLang="en-US" sz="2100" b="1" dirty="0">
                <a:solidFill>
                  <a:srgbClr val="FFFF00"/>
                </a:solidFill>
                <a:latin typeface="微软雅黑" panose="020B0503020204020204" pitchFamily="34" charset="-122"/>
                <a:ea typeface="微软雅黑" panose="020B0503020204020204" pitchFamily="34" charset="-122"/>
              </a:rPr>
              <a:t>重要里程碑</a:t>
            </a:r>
          </a:p>
        </p:txBody>
      </p:sp>
      <p:sp>
        <p:nvSpPr>
          <p:cNvPr id="31" name="矩形 30"/>
          <p:cNvSpPr/>
          <p:nvPr/>
        </p:nvSpPr>
        <p:spPr>
          <a:xfrm>
            <a:off x="-61845" y="398049"/>
            <a:ext cx="6768465" cy="415498"/>
          </a:xfrm>
          <a:prstGeom prst="rect">
            <a:avLst/>
          </a:prstGeom>
          <a:noFill/>
          <a:scene3d>
            <a:camera prst="orthographicFront"/>
            <a:lightRig rig="threePt" dir="t"/>
          </a:scene3d>
          <a:sp3d>
            <a:bevelB w="762000"/>
          </a:sp3d>
        </p:spPr>
        <p:txBody>
          <a:bodyPr wrap="square" rtlCol="0">
            <a:spAutoFit/>
          </a:bodyPr>
          <a:lstStyle/>
          <a:p>
            <a:pPr marL="342900" indent="-342900">
              <a:buFont typeface="Wingdings" panose="05000000000000000000" charset="0"/>
              <a:buChar char="p"/>
            </a:pPr>
            <a:r>
              <a:rPr lang="zh-CN" altLang="en-US" sz="2100" b="1" kern="0" dirty="0">
                <a:solidFill>
                  <a:srgbClr val="002060"/>
                </a:solidFill>
                <a:latin typeface="微软雅黑" panose="020B0503020204020204" pitchFamily="34" charset="-122"/>
                <a:ea typeface="微软雅黑" panose="020B0503020204020204" pitchFamily="34" charset="-122"/>
                <a:sym typeface="+mn-ea"/>
              </a:rPr>
              <a:t>优化算法的发展是人类对复杂问题最优解的探索历程</a:t>
            </a:r>
          </a:p>
        </p:txBody>
      </p:sp>
      <p:sp>
        <p:nvSpPr>
          <p:cNvPr id="37" name="文本框 36"/>
          <p:cNvSpPr txBox="1"/>
          <p:nvPr/>
        </p:nvSpPr>
        <p:spPr>
          <a:xfrm>
            <a:off x="205973" y="4747366"/>
            <a:ext cx="2025961" cy="646331"/>
          </a:xfrm>
          <a:prstGeom prst="rect">
            <a:avLst/>
          </a:prstGeom>
          <a:noFill/>
          <a:ln w="38100">
            <a:noFill/>
            <a:prstDash val="sysDash"/>
          </a:ln>
        </p:spPr>
        <p:txBody>
          <a:bodyPr wrap="square" rtlCol="0">
            <a:spAutoFit/>
          </a:bodyPr>
          <a:lstStyle/>
          <a:p>
            <a:pPr algn="ctr"/>
            <a:r>
              <a:rPr lang="zh-CN" altLang="en-US" sz="1800" b="1" dirty="0">
                <a:solidFill>
                  <a:srgbClr val="171FC7"/>
                </a:solidFill>
                <a:latin typeface="微软雅黑" panose="020B0503020204020204" pitchFamily="34" charset="-122"/>
                <a:ea typeface="微软雅黑" panose="020B0503020204020204" pitchFamily="34" charset="-122"/>
              </a:rPr>
              <a:t>萌芽</a:t>
            </a:r>
            <a:endParaRPr lang="en-US" altLang="zh-CN" sz="1800" b="1" dirty="0">
              <a:solidFill>
                <a:srgbClr val="171FC7"/>
              </a:solidFill>
              <a:latin typeface="微软雅黑" panose="020B0503020204020204" pitchFamily="34" charset="-122"/>
              <a:ea typeface="微软雅黑" panose="020B0503020204020204" pitchFamily="34" charset="-122"/>
            </a:endParaRPr>
          </a:p>
          <a:p>
            <a:pPr algn="ctr"/>
            <a:r>
              <a:rPr lang="zh-CN" altLang="en-US" sz="1800" b="1" dirty="0">
                <a:solidFill>
                  <a:srgbClr val="171FC7"/>
                </a:solidFill>
                <a:latin typeface="微软雅黑" panose="020B0503020204020204" pitchFamily="34" charset="-122"/>
                <a:ea typeface="微软雅黑" panose="020B0503020204020204" pitchFamily="34" charset="-122"/>
              </a:rPr>
              <a:t>（古代</a:t>
            </a:r>
            <a:r>
              <a:rPr lang="en-US" altLang="zh-CN" sz="1800" b="1" dirty="0">
                <a:solidFill>
                  <a:srgbClr val="171FC7"/>
                </a:solidFill>
                <a:latin typeface="微软雅黑" panose="020B0503020204020204" pitchFamily="34" charset="-122"/>
                <a:ea typeface="微软雅黑" panose="020B0503020204020204" pitchFamily="34" charset="-122"/>
              </a:rPr>
              <a:t>-17</a:t>
            </a:r>
            <a:r>
              <a:rPr lang="zh-CN" altLang="en-US" sz="1800" b="1" dirty="0">
                <a:solidFill>
                  <a:srgbClr val="171FC7"/>
                </a:solidFill>
                <a:latin typeface="微软雅黑" panose="020B0503020204020204" pitchFamily="34" charset="-122"/>
                <a:ea typeface="微软雅黑" panose="020B0503020204020204" pitchFamily="34" charset="-122"/>
              </a:rPr>
              <a:t>世纪）</a:t>
            </a:r>
          </a:p>
        </p:txBody>
      </p:sp>
      <p:sp>
        <p:nvSpPr>
          <p:cNvPr id="38" name="文本框 37"/>
          <p:cNvSpPr txBox="1"/>
          <p:nvPr/>
        </p:nvSpPr>
        <p:spPr>
          <a:xfrm>
            <a:off x="2475179" y="4428095"/>
            <a:ext cx="2241149" cy="646331"/>
          </a:xfrm>
          <a:prstGeom prst="rect">
            <a:avLst/>
          </a:prstGeom>
          <a:noFill/>
          <a:ln w="38100">
            <a:noFill/>
            <a:prstDash val="sysDash"/>
          </a:ln>
        </p:spPr>
        <p:txBody>
          <a:bodyPr wrap="square" rtlCol="0">
            <a:spAutoFit/>
          </a:bodyPr>
          <a:lstStyle/>
          <a:p>
            <a:pPr algn="ctr"/>
            <a:r>
              <a:rPr lang="zh-CN" altLang="en-US" sz="1800" b="1" dirty="0">
                <a:solidFill>
                  <a:srgbClr val="171FC7"/>
                </a:solidFill>
                <a:latin typeface="微软雅黑" panose="020B0503020204020204" pitchFamily="34" charset="-122"/>
                <a:ea typeface="微软雅黑" panose="020B0503020204020204" pitchFamily="34" charset="-122"/>
              </a:rPr>
              <a:t>探索</a:t>
            </a:r>
            <a:endParaRPr lang="en-US" altLang="zh-CN" sz="1800" b="1" dirty="0">
              <a:solidFill>
                <a:srgbClr val="171FC7"/>
              </a:solidFill>
              <a:latin typeface="微软雅黑" panose="020B0503020204020204" pitchFamily="34" charset="-122"/>
              <a:ea typeface="微软雅黑" panose="020B0503020204020204" pitchFamily="34" charset="-122"/>
            </a:endParaRPr>
          </a:p>
          <a:p>
            <a:pPr algn="ctr"/>
            <a:r>
              <a:rPr lang="zh-CN" altLang="en-US" sz="1800" b="1" dirty="0">
                <a:solidFill>
                  <a:srgbClr val="171FC7"/>
                </a:solidFill>
                <a:latin typeface="微软雅黑" panose="020B0503020204020204" pitchFamily="34" charset="-122"/>
                <a:ea typeface="微软雅黑" panose="020B0503020204020204" pitchFamily="34" charset="-122"/>
              </a:rPr>
              <a:t>（</a:t>
            </a:r>
            <a:r>
              <a:rPr lang="en-US" altLang="zh-CN" sz="1800" b="1" dirty="0">
                <a:solidFill>
                  <a:srgbClr val="171FC7"/>
                </a:solidFill>
                <a:latin typeface="微软雅黑" panose="020B0503020204020204" pitchFamily="34" charset="-122"/>
                <a:ea typeface="微软雅黑" panose="020B0503020204020204" pitchFamily="34" charset="-122"/>
              </a:rPr>
              <a:t>17</a:t>
            </a:r>
            <a:r>
              <a:rPr lang="zh-CN" altLang="en-US" sz="1800" b="1" dirty="0">
                <a:solidFill>
                  <a:srgbClr val="171FC7"/>
                </a:solidFill>
                <a:latin typeface="微软雅黑" panose="020B0503020204020204" pitchFamily="34" charset="-122"/>
                <a:ea typeface="微软雅黑" panose="020B0503020204020204" pitchFamily="34" charset="-122"/>
              </a:rPr>
              <a:t>世纪</a:t>
            </a:r>
            <a:r>
              <a:rPr lang="en-US" altLang="zh-CN" sz="1800" b="1" dirty="0">
                <a:solidFill>
                  <a:srgbClr val="171FC7"/>
                </a:solidFill>
                <a:latin typeface="微软雅黑" panose="020B0503020204020204" pitchFamily="34" charset="-122"/>
                <a:ea typeface="微软雅黑" panose="020B0503020204020204" pitchFamily="34" charset="-122"/>
              </a:rPr>
              <a:t>-18</a:t>
            </a:r>
            <a:r>
              <a:rPr lang="zh-CN" altLang="en-US" sz="1800" b="1" dirty="0">
                <a:solidFill>
                  <a:srgbClr val="171FC7"/>
                </a:solidFill>
                <a:latin typeface="微软雅黑" panose="020B0503020204020204" pitchFamily="34" charset="-122"/>
                <a:ea typeface="微软雅黑" panose="020B0503020204020204" pitchFamily="34" charset="-122"/>
              </a:rPr>
              <a:t>世纪）</a:t>
            </a:r>
          </a:p>
        </p:txBody>
      </p:sp>
      <p:grpSp>
        <p:nvGrpSpPr>
          <p:cNvPr id="221" name="组合 220"/>
          <p:cNvGrpSpPr/>
          <p:nvPr/>
        </p:nvGrpSpPr>
        <p:grpSpPr>
          <a:xfrm>
            <a:off x="1" y="3412736"/>
            <a:ext cx="9108503" cy="1205506"/>
            <a:chOff x="1519390" y="3837546"/>
            <a:chExt cx="9165275" cy="1607341"/>
          </a:xfrm>
        </p:grpSpPr>
        <p:sp>
          <p:nvSpPr>
            <p:cNvPr id="32" name="矩形 31"/>
            <p:cNvSpPr/>
            <p:nvPr/>
          </p:nvSpPr>
          <p:spPr>
            <a:xfrm>
              <a:off x="1519390" y="5193918"/>
              <a:ext cx="2456284" cy="25096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3" name="矩形 32"/>
            <p:cNvSpPr/>
            <p:nvPr/>
          </p:nvSpPr>
          <p:spPr>
            <a:xfrm>
              <a:off x="3777196" y="4791772"/>
              <a:ext cx="2375954" cy="184192"/>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4" name="矩形 33"/>
            <p:cNvSpPr/>
            <p:nvPr/>
          </p:nvSpPr>
          <p:spPr>
            <a:xfrm>
              <a:off x="6157689" y="4353566"/>
              <a:ext cx="2380099" cy="19847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5" name="矩形 34"/>
            <p:cNvSpPr/>
            <p:nvPr/>
          </p:nvSpPr>
          <p:spPr>
            <a:xfrm rot="5400000">
              <a:off x="3579846" y="4996074"/>
              <a:ext cx="593179" cy="19847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6" name="矩形 35"/>
            <p:cNvSpPr/>
            <p:nvPr/>
          </p:nvSpPr>
          <p:spPr>
            <a:xfrm rot="5400000">
              <a:off x="5939141" y="4565528"/>
              <a:ext cx="622398" cy="19847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9" name="矩形 38"/>
            <p:cNvSpPr/>
            <p:nvPr/>
          </p:nvSpPr>
          <p:spPr>
            <a:xfrm>
              <a:off x="8373178" y="3837546"/>
              <a:ext cx="2311487" cy="184192"/>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40" name="矩形 39"/>
            <p:cNvSpPr/>
            <p:nvPr/>
          </p:nvSpPr>
          <p:spPr>
            <a:xfrm rot="5400000">
              <a:off x="8161215" y="4139801"/>
              <a:ext cx="622398" cy="19847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grpSp>
        <p:nvGrpSpPr>
          <p:cNvPr id="74" name="第一部分的人头"/>
          <p:cNvGrpSpPr/>
          <p:nvPr/>
        </p:nvGrpSpPr>
        <p:grpSpPr>
          <a:xfrm>
            <a:off x="216698" y="4007203"/>
            <a:ext cx="1846474" cy="724628"/>
            <a:chOff x="-8936" y="4625453"/>
            <a:chExt cx="2232173" cy="898644"/>
          </a:xfrm>
        </p:grpSpPr>
        <p:grpSp>
          <p:nvGrpSpPr>
            <p:cNvPr id="75" name="组合 74"/>
            <p:cNvGrpSpPr/>
            <p:nvPr/>
          </p:nvGrpSpPr>
          <p:grpSpPr>
            <a:xfrm>
              <a:off x="96309" y="4928658"/>
              <a:ext cx="2098045" cy="595439"/>
              <a:chOff x="96309" y="4928658"/>
              <a:chExt cx="2098045" cy="595439"/>
            </a:xfrm>
          </p:grpSpPr>
          <p:pic>
            <p:nvPicPr>
              <p:cNvPr id="80" name="图片 79"/>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96309"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1" name="图片 80"/>
              <p:cNvPicPr>
                <a:picLocks noChangeAspect="1"/>
              </p:cNvPicPr>
              <p:nvPr/>
            </p:nvPicPr>
            <p:blipFill>
              <a:blip r:embed="rId45" cstate="print">
                <a:extLst>
                  <a:ext uri="{28A0092B-C50C-407E-A947-70E740481C1C}">
                    <a14:useLocalDpi xmlns:a14="http://schemas.microsoft.com/office/drawing/2010/main" val="0"/>
                  </a:ext>
                </a:extLst>
              </a:blip>
              <a:srcRect t="11290" b="11290"/>
              <a:stretch>
                <a:fillRect/>
              </a:stretch>
            </p:blipFill>
            <p:spPr>
              <a:xfrm>
                <a:off x="842545"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2" name="图片 81"/>
              <p:cNvPicPr>
                <a:picLocks noChangeAspect="1"/>
              </p:cNvPicPr>
              <p:nvPr/>
            </p:nvPicPr>
            <p:blipFill>
              <a:blip r:embed="rId46" cstate="print">
                <a:extLst>
                  <a:ext uri="{28A0092B-C50C-407E-A947-70E740481C1C}">
                    <a14:useLocalDpi xmlns:a14="http://schemas.microsoft.com/office/drawing/2010/main" val="0"/>
                  </a:ext>
                </a:extLst>
              </a:blip>
              <a:srcRect t="10017" b="10017"/>
              <a:stretch>
                <a:fillRect/>
              </a:stretch>
            </p:blipFill>
            <p:spPr>
              <a:xfrm>
                <a:off x="1591810"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76" name="组合 75"/>
            <p:cNvGrpSpPr/>
            <p:nvPr/>
          </p:nvGrpSpPr>
          <p:grpSpPr>
            <a:xfrm>
              <a:off x="-8936" y="4625453"/>
              <a:ext cx="2232173" cy="297072"/>
              <a:chOff x="-8936" y="4625453"/>
              <a:chExt cx="2232173" cy="297072"/>
            </a:xfrm>
          </p:grpSpPr>
          <p:sp>
            <p:nvSpPr>
              <p:cNvPr id="77" name="文本框 76"/>
              <p:cNvSpPr txBox="1"/>
              <p:nvPr/>
            </p:nvSpPr>
            <p:spPr>
              <a:xfrm>
                <a:off x="-8936" y="4636260"/>
                <a:ext cx="889470" cy="286265"/>
              </a:xfrm>
              <a:prstGeom prst="rect">
                <a:avLst/>
              </a:prstGeom>
              <a:noFill/>
              <a:ln w="38100">
                <a:noFill/>
                <a:prstDash val="sysDash"/>
              </a:ln>
            </p:spPr>
            <p:txBody>
              <a:bodyPr wrap="square" rtlCol="0">
                <a:spAutoFit/>
              </a:bodyPr>
              <a:lstStyle/>
              <a:p>
                <a:r>
                  <a:rPr lang="zh-CN" altLang="en-US" sz="900" b="1" dirty="0">
                    <a:solidFill>
                      <a:schemeClr val="tx2">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公元前</a:t>
                </a:r>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300</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78" name="文本框 77"/>
              <p:cNvSpPr txBox="1"/>
              <p:nvPr/>
            </p:nvSpPr>
            <p:spPr>
              <a:xfrm>
                <a:off x="908576" y="4625453"/>
                <a:ext cx="541668" cy="286265"/>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1615</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79" name="文本框 78"/>
              <p:cNvSpPr txBox="1"/>
              <p:nvPr/>
            </p:nvSpPr>
            <p:spPr>
              <a:xfrm>
                <a:off x="1681569" y="4635728"/>
                <a:ext cx="541668" cy="286265"/>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1636</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grpSp>
      </p:grpSp>
      <p:grpSp>
        <p:nvGrpSpPr>
          <p:cNvPr id="83" name="第二部分的展开"/>
          <p:cNvGrpSpPr/>
          <p:nvPr/>
        </p:nvGrpSpPr>
        <p:grpSpPr>
          <a:xfrm>
            <a:off x="282142" y="1412776"/>
            <a:ext cx="8381238" cy="3073475"/>
            <a:chOff x="-3448019" y="1579003"/>
            <a:chExt cx="11174984" cy="4097966"/>
          </a:xfrm>
        </p:grpSpPr>
        <p:sp>
          <p:nvSpPr>
            <p:cNvPr id="84" name="文本框 83"/>
            <p:cNvSpPr txBox="1"/>
            <p:nvPr/>
          </p:nvSpPr>
          <p:spPr>
            <a:xfrm>
              <a:off x="1629193" y="5121829"/>
              <a:ext cx="662444"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1760</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nvGrpSpPr>
            <p:cNvPr id="85" name="组合 84"/>
            <p:cNvGrpSpPr/>
            <p:nvPr/>
          </p:nvGrpSpPr>
          <p:grpSpPr>
            <a:xfrm>
              <a:off x="-3448019" y="1579003"/>
              <a:ext cx="11174984" cy="4097966"/>
              <a:chOff x="-3448019" y="1579003"/>
              <a:chExt cx="11174984" cy="4097966"/>
            </a:xfrm>
          </p:grpSpPr>
          <p:grpSp>
            <p:nvGrpSpPr>
              <p:cNvPr id="86" name="组合 85"/>
              <p:cNvGrpSpPr/>
              <p:nvPr/>
            </p:nvGrpSpPr>
            <p:grpSpPr>
              <a:xfrm>
                <a:off x="-245728" y="5114383"/>
                <a:ext cx="1614640" cy="374094"/>
                <a:chOff x="-245728" y="5114383"/>
                <a:chExt cx="1614640" cy="374094"/>
              </a:xfrm>
            </p:grpSpPr>
            <p:sp>
              <p:nvSpPr>
                <p:cNvPr id="114" name="文本框 113"/>
                <p:cNvSpPr txBox="1"/>
                <p:nvPr/>
              </p:nvSpPr>
              <p:spPr>
                <a:xfrm>
                  <a:off x="-245728" y="5119146"/>
                  <a:ext cx="945878" cy="369331"/>
                </a:xfrm>
                <a:prstGeom prst="rect">
                  <a:avLst/>
                </a:prstGeom>
                <a:noFill/>
                <a:ln w="38100">
                  <a:noFill/>
                  <a:prstDash val="sysDash"/>
                </a:ln>
              </p:spPr>
              <p:txBody>
                <a:bodyPr wrap="square" rtlCol="0">
                  <a:spAutoFit/>
                </a:bodyPr>
                <a:lstStyle>
                  <a:defPPr>
                    <a:defRPr lang="zh-CN"/>
                  </a:defPPr>
                  <a:lvl1pPr>
                    <a:defRPr sz="1600" b="1">
                      <a:solidFill>
                        <a:schemeClr val="bg1"/>
                      </a:solidFill>
                      <a:latin typeface="Times New Roman" panose="02020603050405020304" pitchFamily="18" charset="0"/>
                      <a:cs typeface="Times New Roman" panose="02020603050405020304" pitchFamily="18" charset="0"/>
                    </a:defRPr>
                  </a:lvl1pPr>
                </a:lstStyle>
                <a:p>
                  <a:r>
                    <a:rPr lang="en-US" altLang="zh-CN" sz="1200" dirty="0"/>
                    <a:t>1696</a:t>
                  </a:r>
                  <a:endParaRPr lang="zh-CN" altLang="en-US" sz="1200" dirty="0"/>
                </a:p>
              </p:txBody>
            </p:sp>
            <p:sp>
              <p:nvSpPr>
                <p:cNvPr id="115" name="文本框 114"/>
                <p:cNvSpPr txBox="1"/>
                <p:nvPr/>
              </p:nvSpPr>
              <p:spPr>
                <a:xfrm>
                  <a:off x="663636" y="5114383"/>
                  <a:ext cx="705276"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1740</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grpSp>
            <p:nvGrpSpPr>
              <p:cNvPr id="87" name="组合 86"/>
              <p:cNvGrpSpPr/>
              <p:nvPr/>
            </p:nvGrpSpPr>
            <p:grpSpPr>
              <a:xfrm>
                <a:off x="-3448019" y="1579003"/>
                <a:ext cx="11174984" cy="4097966"/>
                <a:chOff x="-3448019" y="1579003"/>
                <a:chExt cx="11174984" cy="4097966"/>
              </a:xfrm>
            </p:grpSpPr>
            <p:grpSp>
              <p:nvGrpSpPr>
                <p:cNvPr id="88" name="组合 87"/>
                <p:cNvGrpSpPr/>
                <p:nvPr/>
              </p:nvGrpSpPr>
              <p:grpSpPr>
                <a:xfrm>
                  <a:off x="-3448019" y="1609293"/>
                  <a:ext cx="2816860" cy="4067676"/>
                  <a:chOff x="-3448019" y="1609293"/>
                  <a:chExt cx="2816860" cy="4067676"/>
                </a:xfrm>
              </p:grpSpPr>
              <p:sp>
                <p:nvSpPr>
                  <p:cNvPr id="107" name="等腰三角形 106"/>
                  <p:cNvSpPr/>
                  <p:nvPr/>
                </p:nvSpPr>
                <p:spPr>
                  <a:xfrm rot="8271381" flipH="1">
                    <a:off x="-1083914" y="2845184"/>
                    <a:ext cx="206095" cy="2831785"/>
                  </a:xfrm>
                  <a:prstGeom prst="triangle">
                    <a:avLst>
                      <a:gd name="adj" fmla="val 57731"/>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08" name="组合 107"/>
                  <p:cNvGrpSpPr/>
                  <p:nvPr/>
                </p:nvGrpSpPr>
                <p:grpSpPr>
                  <a:xfrm>
                    <a:off x="-3448019" y="1609293"/>
                    <a:ext cx="2816860" cy="1913436"/>
                    <a:chOff x="-3448019" y="1609293"/>
                    <a:chExt cx="2816860" cy="1913436"/>
                  </a:xfrm>
                </p:grpSpPr>
                <p:sp>
                  <p:nvSpPr>
                    <p:cNvPr id="109" name="矩形 108"/>
                    <p:cNvSpPr/>
                    <p:nvPr/>
                  </p:nvSpPr>
                  <p:spPr>
                    <a:xfrm>
                      <a:off x="-3448019" y="1609293"/>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0" name="矩形 109"/>
                    <p:cNvSpPr/>
                    <p:nvPr/>
                  </p:nvSpPr>
                  <p:spPr>
                    <a:xfrm>
                      <a:off x="-3448019" y="2890867"/>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1" name="图片 110"/>
                    <p:cNvPicPr>
                      <a:picLocks noChangeAspect="1"/>
                    </p:cNvPicPr>
                    <p:nvPr/>
                  </p:nvPicPr>
                  <p:blipFill>
                    <a:blip r:embed="rId47" cstate="print">
                      <a:extLst>
                        <a:ext uri="{28A0092B-C50C-407E-A947-70E740481C1C}">
                          <a14:useLocalDpi xmlns:a14="http://schemas.microsoft.com/office/drawing/2010/main" val="0"/>
                        </a:ext>
                      </a:extLst>
                    </a:blip>
                    <a:srcRect/>
                    <a:stretch>
                      <a:fillRect/>
                    </a:stretch>
                  </p:blipFill>
                  <p:spPr>
                    <a:xfrm>
                      <a:off x="-3343706" y="1685475"/>
                      <a:ext cx="893413" cy="1118924"/>
                    </a:xfrm>
                    <a:prstGeom prst="rect">
                      <a:avLst/>
                    </a:prstGeom>
                  </p:spPr>
                </p:pic>
                <p:sp>
                  <p:nvSpPr>
                    <p:cNvPr id="112" name="文本框 111"/>
                    <p:cNvSpPr txBox="1"/>
                    <p:nvPr>
                      <p:custDataLst>
                        <p:tags r:id="rId23"/>
                      </p:custDataLst>
                    </p:nvPr>
                  </p:nvSpPr>
                  <p:spPr>
                    <a:xfrm>
                      <a:off x="-2506141" y="1717600"/>
                      <a:ext cx="1874712" cy="1107996"/>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雅各布</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伯努利</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最早使用积分概念</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伯努利定理</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大数定律</a:t>
                      </a:r>
                    </a:p>
                  </p:txBody>
                </p:sp>
                <p:sp>
                  <p:nvSpPr>
                    <p:cNvPr id="113" name="文本框 112"/>
                    <p:cNvSpPr txBox="1"/>
                    <p:nvPr>
                      <p:custDataLst>
                        <p:tags r:id="rId24"/>
                      </p:custDataLst>
                    </p:nvPr>
                  </p:nvSpPr>
                  <p:spPr>
                    <a:xfrm>
                      <a:off x="-3405686" y="3057939"/>
                      <a:ext cx="2774527" cy="340589"/>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研究最速降线，提出</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变分学</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grpSp>
              <p:nvGrpSpPr>
                <p:cNvPr id="89" name="组合 88"/>
                <p:cNvGrpSpPr/>
                <p:nvPr/>
              </p:nvGrpSpPr>
              <p:grpSpPr>
                <a:xfrm>
                  <a:off x="756787" y="1579003"/>
                  <a:ext cx="3002109" cy="3891422"/>
                  <a:chOff x="756787" y="1579003"/>
                  <a:chExt cx="3002109" cy="3891422"/>
                </a:xfrm>
              </p:grpSpPr>
              <p:grpSp>
                <p:nvGrpSpPr>
                  <p:cNvPr id="99" name="组合 98"/>
                  <p:cNvGrpSpPr/>
                  <p:nvPr/>
                </p:nvGrpSpPr>
                <p:grpSpPr>
                  <a:xfrm>
                    <a:off x="756787" y="1579003"/>
                    <a:ext cx="3002109" cy="3891422"/>
                    <a:chOff x="756787" y="1579003"/>
                    <a:chExt cx="3002109" cy="3891422"/>
                  </a:xfrm>
                </p:grpSpPr>
                <p:sp>
                  <p:nvSpPr>
                    <p:cNvPr id="101" name="等腰三角形 100"/>
                    <p:cNvSpPr/>
                    <p:nvPr/>
                  </p:nvSpPr>
                  <p:spPr>
                    <a:xfrm rot="12435591" flipH="1">
                      <a:off x="1420848" y="3195712"/>
                      <a:ext cx="245889" cy="2274713"/>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02" name="组合 101"/>
                    <p:cNvGrpSpPr/>
                    <p:nvPr/>
                  </p:nvGrpSpPr>
                  <p:grpSpPr>
                    <a:xfrm>
                      <a:off x="756787" y="1579003"/>
                      <a:ext cx="3002109" cy="1913436"/>
                      <a:chOff x="-2248753" y="1574699"/>
                      <a:chExt cx="3002109" cy="1913436"/>
                    </a:xfrm>
                  </p:grpSpPr>
                  <p:sp>
                    <p:nvSpPr>
                      <p:cNvPr id="103" name="矩形 102"/>
                      <p:cNvSpPr/>
                      <p:nvPr/>
                    </p:nvSpPr>
                    <p:spPr>
                      <a:xfrm>
                        <a:off x="-2248753" y="1574699"/>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4" name="矩形 103"/>
                      <p:cNvSpPr/>
                      <p:nvPr/>
                    </p:nvSpPr>
                    <p:spPr>
                      <a:xfrm>
                        <a:off x="-2248753" y="2856273"/>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5" name="文本框 104"/>
                      <p:cNvSpPr txBox="1"/>
                      <p:nvPr>
                        <p:custDataLst>
                          <p:tags r:id="rId21"/>
                        </p:custDataLst>
                      </p:nvPr>
                    </p:nvSpPr>
                    <p:spPr>
                      <a:xfrm>
                        <a:off x="-1452165" y="1682162"/>
                        <a:ext cx="2205521"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莱昂哈德</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欧拉</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十八世纪</a:t>
                        </a:r>
                        <a:r>
                          <a:rPr lang="zh-CN" altLang="en-US" sz="1200" b="1" dirty="0">
                            <a:latin typeface="微软雅黑" panose="020B0503020204020204" pitchFamily="34" charset="-122"/>
                            <a:ea typeface="微软雅黑" panose="020B0503020204020204" pitchFamily="34" charset="-122"/>
                          </a:rPr>
                          <a:t>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定义自然对数的底数</a:t>
                        </a:r>
                        <a:endParaRPr lang="zh-CN" altLang="en-US" sz="1200" b="1" i="1" dirty="0">
                          <a:latin typeface="微软雅黑" panose="020B0503020204020204" pitchFamily="34" charset="-122"/>
                          <a:ea typeface="微软雅黑" panose="020B0503020204020204" pitchFamily="34" charset="-122"/>
                        </a:endParaRPr>
                      </a:p>
                    </p:txBody>
                  </p:sp>
                  <p:sp>
                    <p:nvSpPr>
                      <p:cNvPr id="106" name="文本框 105"/>
                      <p:cNvSpPr txBox="1"/>
                      <p:nvPr>
                        <p:custDataLst>
                          <p:tags r:id="rId22"/>
                        </p:custDataLst>
                      </p:nvPr>
                    </p:nvSpPr>
                    <p:spPr>
                      <a:xfrm>
                        <a:off x="-2191784" y="3023360"/>
                        <a:ext cx="2579096"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出版了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变分学</a:t>
                        </a: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著作</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100" name="图片 99"/>
                  <p:cNvPicPr>
                    <a:picLocks noChangeAspect="1"/>
                  </p:cNvPicPr>
                  <p:nvPr/>
                </p:nvPicPr>
                <p:blipFill>
                  <a:blip r:embed="rId48" cstate="print">
                    <a:extLst>
                      <a:ext uri="{28A0092B-C50C-407E-A947-70E740481C1C}">
                        <a14:useLocalDpi xmlns:a14="http://schemas.microsoft.com/office/drawing/2010/main" val="0"/>
                      </a:ext>
                    </a:extLst>
                  </a:blip>
                  <a:srcRect/>
                  <a:stretch>
                    <a:fillRect/>
                  </a:stretch>
                </p:blipFill>
                <p:spPr>
                  <a:xfrm>
                    <a:off x="815104" y="1623143"/>
                    <a:ext cx="928281" cy="1199340"/>
                  </a:xfrm>
                  <a:prstGeom prst="rect">
                    <a:avLst/>
                  </a:prstGeom>
                </p:spPr>
              </p:pic>
            </p:grpSp>
            <p:grpSp>
              <p:nvGrpSpPr>
                <p:cNvPr id="90" name="组合 89"/>
                <p:cNvGrpSpPr/>
                <p:nvPr/>
              </p:nvGrpSpPr>
              <p:grpSpPr>
                <a:xfrm>
                  <a:off x="1647505" y="1591661"/>
                  <a:ext cx="6079460" cy="2773049"/>
                  <a:chOff x="1647505" y="1591661"/>
                  <a:chExt cx="6079460" cy="2773049"/>
                </a:xfrm>
              </p:grpSpPr>
              <p:grpSp>
                <p:nvGrpSpPr>
                  <p:cNvPr id="91" name="组合 90"/>
                  <p:cNvGrpSpPr/>
                  <p:nvPr/>
                </p:nvGrpSpPr>
                <p:grpSpPr>
                  <a:xfrm>
                    <a:off x="1647505" y="1591661"/>
                    <a:ext cx="6079460" cy="2773049"/>
                    <a:chOff x="1647505" y="1591661"/>
                    <a:chExt cx="6079460" cy="2773049"/>
                  </a:xfrm>
                </p:grpSpPr>
                <p:sp>
                  <p:nvSpPr>
                    <p:cNvPr id="93" name="等腰三角形 92"/>
                    <p:cNvSpPr/>
                    <p:nvPr/>
                  </p:nvSpPr>
                  <p:spPr>
                    <a:xfrm rot="14484697">
                      <a:off x="3485585" y="2288172"/>
                      <a:ext cx="238458" cy="3914618"/>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94" name="组合 93"/>
                    <p:cNvGrpSpPr/>
                    <p:nvPr/>
                  </p:nvGrpSpPr>
                  <p:grpSpPr>
                    <a:xfrm>
                      <a:off x="4851620" y="1591661"/>
                      <a:ext cx="2875345" cy="1913436"/>
                      <a:chOff x="-1187273" y="1565539"/>
                      <a:chExt cx="2875345" cy="1913436"/>
                    </a:xfrm>
                  </p:grpSpPr>
                  <p:sp>
                    <p:nvSpPr>
                      <p:cNvPr id="95" name="矩形 94"/>
                      <p:cNvSpPr/>
                      <p:nvPr/>
                    </p:nvSpPr>
                    <p:spPr>
                      <a:xfrm>
                        <a:off x="-1187273" y="1565539"/>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6" name="矩形 95"/>
                      <p:cNvSpPr/>
                      <p:nvPr/>
                    </p:nvSpPr>
                    <p:spPr>
                      <a:xfrm>
                        <a:off x="-1187273" y="2847113"/>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7" name="文本框 96"/>
                      <p:cNvSpPr txBox="1"/>
                      <p:nvPr>
                        <p:custDataLst>
                          <p:tags r:id="rId19"/>
                        </p:custDataLst>
                      </p:nvPr>
                    </p:nvSpPr>
                    <p:spPr>
                      <a:xfrm>
                        <a:off x="-199326" y="1666144"/>
                        <a:ext cx="1887398"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约瑟夫</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拉格朗日</a:t>
                        </a: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十八世纪数学家</a:t>
                        </a: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拉格朗日中值定理</a:t>
                        </a:r>
                      </a:p>
                    </p:txBody>
                  </p:sp>
                  <p:sp>
                    <p:nvSpPr>
                      <p:cNvPr id="98" name="文本框 97"/>
                      <p:cNvSpPr txBox="1"/>
                      <p:nvPr>
                        <p:custDataLst>
                          <p:tags r:id="rId20"/>
                        </p:custDataLst>
                      </p:nvPr>
                    </p:nvSpPr>
                    <p:spPr>
                      <a:xfrm>
                        <a:off x="-1167730" y="3004942"/>
                        <a:ext cx="2719474"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极小曲面问题</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92" name="图片 91"/>
                  <p:cNvPicPr>
                    <a:picLocks noChangeAspect="1"/>
                  </p:cNvPicPr>
                  <p:nvPr/>
                </p:nvPicPr>
                <p:blipFill>
                  <a:blip r:embed="rId49">
                    <a:extLst>
                      <a:ext uri="{28A0092B-C50C-407E-A947-70E740481C1C}">
                        <a14:useLocalDpi xmlns:a14="http://schemas.microsoft.com/office/drawing/2010/main" val="0"/>
                      </a:ext>
                    </a:extLst>
                  </a:blip>
                  <a:srcRect/>
                  <a:stretch>
                    <a:fillRect/>
                  </a:stretch>
                </p:blipFill>
                <p:spPr>
                  <a:xfrm>
                    <a:off x="4988403" y="1647455"/>
                    <a:ext cx="831886" cy="1154096"/>
                  </a:xfrm>
                  <a:prstGeom prst="rect">
                    <a:avLst/>
                  </a:prstGeom>
                </p:spPr>
              </p:pic>
            </p:grpSp>
          </p:grpSp>
        </p:grpSp>
      </p:grpSp>
      <p:grpSp>
        <p:nvGrpSpPr>
          <p:cNvPr id="116" name="第二部分的人头"/>
          <p:cNvGrpSpPr/>
          <p:nvPr/>
        </p:nvGrpSpPr>
        <p:grpSpPr>
          <a:xfrm>
            <a:off x="2716520" y="3682390"/>
            <a:ext cx="1720013" cy="766286"/>
            <a:chOff x="96309" y="4625351"/>
            <a:chExt cx="2098045" cy="898746"/>
          </a:xfrm>
        </p:grpSpPr>
        <p:grpSp>
          <p:nvGrpSpPr>
            <p:cNvPr id="117" name="组合 116"/>
            <p:cNvGrpSpPr/>
            <p:nvPr/>
          </p:nvGrpSpPr>
          <p:grpSpPr>
            <a:xfrm>
              <a:off x="96309" y="4928658"/>
              <a:ext cx="2098045" cy="595439"/>
              <a:chOff x="96309" y="4928658"/>
              <a:chExt cx="2098045" cy="595439"/>
            </a:xfrm>
          </p:grpSpPr>
          <p:pic>
            <p:nvPicPr>
              <p:cNvPr id="122" name="图片 121"/>
              <p:cNvPicPr>
                <a:picLocks noChangeAspect="1"/>
              </p:cNvPicPr>
              <p:nvPr/>
            </p:nvPicPr>
            <p:blipFill>
              <a:blip r:embed="rId50" cstate="print">
                <a:extLst>
                  <a:ext uri="{28A0092B-C50C-407E-A947-70E740481C1C}">
                    <a14:useLocalDpi xmlns:a14="http://schemas.microsoft.com/office/drawing/2010/main" val="0"/>
                  </a:ext>
                </a:extLst>
              </a:blip>
              <a:srcRect t="10310" b="10310"/>
              <a:stretch>
                <a:fillRect/>
              </a:stretch>
            </p:blipFill>
            <p:spPr>
              <a:xfrm>
                <a:off x="96309"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3" name="图片 122"/>
              <p:cNvPicPr>
                <a:picLocks noChangeAspect="1"/>
              </p:cNvPicPr>
              <p:nvPr/>
            </p:nvPicPr>
            <p:blipFill>
              <a:blip r:embed="rId51" cstate="print">
                <a:extLst>
                  <a:ext uri="{28A0092B-C50C-407E-A947-70E740481C1C}">
                    <a14:useLocalDpi xmlns:a14="http://schemas.microsoft.com/office/drawing/2010/main" val="0"/>
                  </a:ext>
                </a:extLst>
              </a:blip>
              <a:srcRect t="11876" b="11876"/>
              <a:stretch>
                <a:fillRect/>
              </a:stretch>
            </p:blipFill>
            <p:spPr>
              <a:xfrm>
                <a:off x="842545"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4" name="图片 123"/>
              <p:cNvPicPr>
                <a:picLocks noChangeAspect="1"/>
              </p:cNvPicPr>
              <p:nvPr/>
            </p:nvPicPr>
            <p:blipFill>
              <a:blip r:embed="rId52" cstate="print">
                <a:extLst>
                  <a:ext uri="{28A0092B-C50C-407E-A947-70E740481C1C}">
                    <a14:useLocalDpi xmlns:a14="http://schemas.microsoft.com/office/drawing/2010/main" val="0"/>
                  </a:ext>
                </a:extLst>
              </a:blip>
              <a:srcRect t="14184" b="14184"/>
              <a:stretch>
                <a:fillRect/>
              </a:stretch>
            </p:blipFill>
            <p:spPr>
              <a:xfrm>
                <a:off x="1591810"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118" name="组合 117"/>
            <p:cNvGrpSpPr/>
            <p:nvPr/>
          </p:nvGrpSpPr>
          <p:grpSpPr>
            <a:xfrm>
              <a:off x="158756" y="4625351"/>
              <a:ext cx="1998078" cy="284721"/>
              <a:chOff x="158756" y="4625351"/>
              <a:chExt cx="1998078" cy="284721"/>
            </a:xfrm>
          </p:grpSpPr>
          <p:sp>
            <p:nvSpPr>
              <p:cNvPr id="119" name="文本框 118"/>
              <p:cNvSpPr txBox="1"/>
              <p:nvPr/>
            </p:nvSpPr>
            <p:spPr>
              <a:xfrm>
                <a:off x="158756" y="4635655"/>
                <a:ext cx="546892" cy="270734"/>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1696</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20" name="文本框 119"/>
              <p:cNvSpPr txBox="1"/>
              <p:nvPr/>
            </p:nvSpPr>
            <p:spPr>
              <a:xfrm>
                <a:off x="873717" y="4625351"/>
                <a:ext cx="541669" cy="270733"/>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1740</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21" name="文本框 120"/>
              <p:cNvSpPr txBox="1"/>
              <p:nvPr/>
            </p:nvSpPr>
            <p:spPr>
              <a:xfrm>
                <a:off x="1615165" y="4639339"/>
                <a:ext cx="541669" cy="270733"/>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1760</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grpSp>
      </p:grpSp>
      <p:grpSp>
        <p:nvGrpSpPr>
          <p:cNvPr id="125" name="第三部分的展开"/>
          <p:cNvGrpSpPr/>
          <p:nvPr/>
        </p:nvGrpSpPr>
        <p:grpSpPr>
          <a:xfrm>
            <a:off x="346277" y="1445706"/>
            <a:ext cx="8629265" cy="2586657"/>
            <a:chOff x="-3483009" y="1462889"/>
            <a:chExt cx="11505686" cy="3448875"/>
          </a:xfrm>
        </p:grpSpPr>
        <p:sp>
          <p:nvSpPr>
            <p:cNvPr id="126" name="文本框 125"/>
            <p:cNvSpPr txBox="1"/>
            <p:nvPr/>
          </p:nvSpPr>
          <p:spPr>
            <a:xfrm>
              <a:off x="4368998" y="4533106"/>
              <a:ext cx="684131"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1947</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nvGrpSpPr>
            <p:cNvPr id="127" name="组合 126"/>
            <p:cNvGrpSpPr/>
            <p:nvPr/>
          </p:nvGrpSpPr>
          <p:grpSpPr>
            <a:xfrm>
              <a:off x="-3483009" y="1462889"/>
              <a:ext cx="11505686" cy="3448875"/>
              <a:chOff x="-3483009" y="1462889"/>
              <a:chExt cx="11505686" cy="3448875"/>
            </a:xfrm>
          </p:grpSpPr>
          <p:grpSp>
            <p:nvGrpSpPr>
              <p:cNvPr id="128" name="组合 127"/>
              <p:cNvGrpSpPr/>
              <p:nvPr/>
            </p:nvGrpSpPr>
            <p:grpSpPr>
              <a:xfrm>
                <a:off x="2671095" y="4527620"/>
                <a:ext cx="1536825" cy="384144"/>
                <a:chOff x="2671095" y="4527620"/>
                <a:chExt cx="1536825" cy="384144"/>
              </a:xfrm>
            </p:grpSpPr>
            <p:sp>
              <p:nvSpPr>
                <p:cNvPr id="156" name="文本框 155"/>
                <p:cNvSpPr txBox="1"/>
                <p:nvPr/>
              </p:nvSpPr>
              <p:spPr>
                <a:xfrm>
                  <a:off x="2671095" y="4542432"/>
                  <a:ext cx="945878" cy="369332"/>
                </a:xfrm>
                <a:prstGeom prst="rect">
                  <a:avLst/>
                </a:prstGeom>
                <a:noFill/>
                <a:ln w="38100">
                  <a:noFill/>
                  <a:prstDash val="sysDash"/>
                </a:ln>
              </p:spPr>
              <p:txBody>
                <a:bodyPr wrap="square" rtlCol="0">
                  <a:spAutoFit/>
                </a:bodyPr>
                <a:lstStyle>
                  <a:defPPr>
                    <a:defRPr lang="zh-CN"/>
                  </a:defPPr>
                  <a:lvl1pPr>
                    <a:defRPr sz="1600" b="1">
                      <a:solidFill>
                        <a:schemeClr val="bg1"/>
                      </a:solidFill>
                      <a:latin typeface="Times New Roman" panose="02020603050405020304" pitchFamily="18" charset="0"/>
                      <a:cs typeface="Times New Roman" panose="02020603050405020304" pitchFamily="18" charset="0"/>
                    </a:defRPr>
                  </a:lvl1pPr>
                </a:lstStyle>
                <a:p>
                  <a:r>
                    <a:rPr lang="en-US" altLang="zh-CN" sz="1200" dirty="0"/>
                    <a:t>1847</a:t>
                  </a:r>
                  <a:endParaRPr lang="zh-CN" altLang="en-US" sz="1200" dirty="0"/>
                </a:p>
              </p:txBody>
            </p:sp>
            <p:sp>
              <p:nvSpPr>
                <p:cNvPr id="157" name="文本框 156"/>
                <p:cNvSpPr txBox="1"/>
                <p:nvPr/>
              </p:nvSpPr>
              <p:spPr>
                <a:xfrm>
                  <a:off x="3522805" y="4527620"/>
                  <a:ext cx="685115"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1939</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grpSp>
            <p:nvGrpSpPr>
              <p:cNvPr id="129" name="组合 128"/>
              <p:cNvGrpSpPr/>
              <p:nvPr/>
            </p:nvGrpSpPr>
            <p:grpSpPr>
              <a:xfrm>
                <a:off x="-3483009" y="1462889"/>
                <a:ext cx="11505686" cy="3393892"/>
                <a:chOff x="-3483009" y="1462889"/>
                <a:chExt cx="11505686" cy="3393892"/>
              </a:xfrm>
            </p:grpSpPr>
            <p:grpSp>
              <p:nvGrpSpPr>
                <p:cNvPr id="130" name="组合 129"/>
                <p:cNvGrpSpPr/>
                <p:nvPr/>
              </p:nvGrpSpPr>
              <p:grpSpPr>
                <a:xfrm>
                  <a:off x="-3483009" y="1462889"/>
                  <a:ext cx="6492168" cy="2608623"/>
                  <a:chOff x="-3483009" y="1462889"/>
                  <a:chExt cx="6492168" cy="2608623"/>
                </a:xfrm>
              </p:grpSpPr>
              <p:sp>
                <p:nvSpPr>
                  <p:cNvPr id="149" name="等腰三角形 148"/>
                  <p:cNvSpPr/>
                  <p:nvPr/>
                </p:nvSpPr>
                <p:spPr>
                  <a:xfrm rot="6635706" flipH="1">
                    <a:off x="772435" y="1834787"/>
                    <a:ext cx="260343" cy="4213106"/>
                  </a:xfrm>
                  <a:prstGeom prst="triangle">
                    <a:avLst>
                      <a:gd name="adj" fmla="val 57731"/>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50" name="组合 149"/>
                  <p:cNvGrpSpPr/>
                  <p:nvPr/>
                </p:nvGrpSpPr>
                <p:grpSpPr>
                  <a:xfrm>
                    <a:off x="-3483009" y="1462889"/>
                    <a:ext cx="2918460" cy="1913436"/>
                    <a:chOff x="-3483009" y="1462889"/>
                    <a:chExt cx="2918460" cy="1913436"/>
                  </a:xfrm>
                </p:grpSpPr>
                <p:sp>
                  <p:nvSpPr>
                    <p:cNvPr id="151" name="矩形 150"/>
                    <p:cNvSpPr/>
                    <p:nvPr/>
                  </p:nvSpPr>
                  <p:spPr>
                    <a:xfrm>
                      <a:off x="-3483009" y="1462889"/>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2" name="矩形 151"/>
                    <p:cNvSpPr/>
                    <p:nvPr/>
                  </p:nvSpPr>
                  <p:spPr>
                    <a:xfrm>
                      <a:off x="-3483009" y="2744463"/>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3" name="图片 152"/>
                    <p:cNvPicPr>
                      <a:picLocks noChangeAspect="1"/>
                    </p:cNvPicPr>
                    <p:nvPr/>
                  </p:nvPicPr>
                  <p:blipFill>
                    <a:blip r:embed="rId53" cstate="print">
                      <a:extLst>
                        <a:ext uri="{28A0092B-C50C-407E-A947-70E740481C1C}">
                          <a14:useLocalDpi xmlns:a14="http://schemas.microsoft.com/office/drawing/2010/main" val="0"/>
                        </a:ext>
                      </a:extLst>
                    </a:blip>
                    <a:srcRect/>
                    <a:stretch>
                      <a:fillRect/>
                    </a:stretch>
                  </p:blipFill>
                  <p:spPr>
                    <a:xfrm>
                      <a:off x="-3420890" y="1539071"/>
                      <a:ext cx="808471" cy="1118924"/>
                    </a:xfrm>
                    <a:prstGeom prst="rect">
                      <a:avLst/>
                    </a:prstGeom>
                  </p:spPr>
                </p:pic>
                <p:sp>
                  <p:nvSpPr>
                    <p:cNvPr id="154" name="文本框 153"/>
                    <p:cNvSpPr txBox="1"/>
                    <p:nvPr>
                      <p:custDataLst>
                        <p:tags r:id="rId17"/>
                      </p:custDataLst>
                    </p:nvPr>
                  </p:nvSpPr>
                  <p:spPr>
                    <a:xfrm>
                      <a:off x="-2734556" y="1604282"/>
                      <a:ext cx="2170007" cy="860213"/>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奥古斯丁</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路易</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柯西</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法国数学家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柯西不等式</a:t>
                      </a:r>
                      <a:endParaRPr lang="en-US" altLang="zh-CN" sz="1200" b="1" dirty="0">
                        <a:latin typeface="微软雅黑" panose="020B0503020204020204" pitchFamily="34" charset="-122"/>
                        <a:ea typeface="微软雅黑" panose="020B0503020204020204" pitchFamily="34" charset="-122"/>
                      </a:endParaRPr>
                    </a:p>
                  </p:txBody>
                </p:sp>
                <p:sp>
                  <p:nvSpPr>
                    <p:cNvPr id="155" name="文本框 154"/>
                    <p:cNvSpPr txBox="1"/>
                    <p:nvPr>
                      <p:custDataLst>
                        <p:tags r:id="rId18"/>
                      </p:custDataLst>
                    </p:nvPr>
                  </p:nvSpPr>
                  <p:spPr>
                    <a:xfrm>
                      <a:off x="-3440381" y="2911698"/>
                      <a:ext cx="2646447"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rPr>
                        <a:t>梯度下降法</a:t>
                      </a:r>
                    </a:p>
                  </p:txBody>
                </p:sp>
              </p:grpSp>
            </p:grpSp>
            <p:grpSp>
              <p:nvGrpSpPr>
                <p:cNvPr id="131" name="组合 130"/>
                <p:cNvGrpSpPr/>
                <p:nvPr/>
              </p:nvGrpSpPr>
              <p:grpSpPr>
                <a:xfrm>
                  <a:off x="725160" y="1495075"/>
                  <a:ext cx="3422973" cy="2414915"/>
                  <a:chOff x="725160" y="1495075"/>
                  <a:chExt cx="3422973" cy="2414915"/>
                </a:xfrm>
              </p:grpSpPr>
              <p:grpSp>
                <p:nvGrpSpPr>
                  <p:cNvPr id="141" name="组合 140"/>
                  <p:cNvGrpSpPr/>
                  <p:nvPr/>
                </p:nvGrpSpPr>
                <p:grpSpPr>
                  <a:xfrm>
                    <a:off x="725160" y="1495075"/>
                    <a:ext cx="3422973" cy="2414915"/>
                    <a:chOff x="725160" y="1495075"/>
                    <a:chExt cx="3422973" cy="2414915"/>
                  </a:xfrm>
                </p:grpSpPr>
                <p:sp>
                  <p:nvSpPr>
                    <p:cNvPr id="143" name="等腰三角形 142"/>
                    <p:cNvSpPr/>
                    <p:nvPr/>
                  </p:nvSpPr>
                  <p:spPr>
                    <a:xfrm rot="8022191" flipH="1">
                      <a:off x="2887832" y="2649689"/>
                      <a:ext cx="245889" cy="2274713"/>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44" name="组合 143"/>
                    <p:cNvGrpSpPr/>
                    <p:nvPr/>
                  </p:nvGrpSpPr>
                  <p:grpSpPr>
                    <a:xfrm>
                      <a:off x="725160" y="1495075"/>
                      <a:ext cx="3063734" cy="1912264"/>
                      <a:chOff x="-2280380" y="1490771"/>
                      <a:chExt cx="3063734" cy="1912264"/>
                    </a:xfrm>
                  </p:grpSpPr>
                  <p:sp>
                    <p:nvSpPr>
                      <p:cNvPr id="145" name="矩形 144"/>
                      <p:cNvSpPr/>
                      <p:nvPr/>
                    </p:nvSpPr>
                    <p:spPr>
                      <a:xfrm>
                        <a:off x="-2280380" y="1490771"/>
                        <a:ext cx="293031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6" name="矩形 145"/>
                      <p:cNvSpPr/>
                      <p:nvPr/>
                    </p:nvSpPr>
                    <p:spPr>
                      <a:xfrm>
                        <a:off x="-2279743" y="2771173"/>
                        <a:ext cx="2911591"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7" name="文本框 146"/>
                      <p:cNvSpPr txBox="1"/>
                      <p:nvPr>
                        <p:custDataLst>
                          <p:tags r:id="rId15"/>
                        </p:custDataLst>
                      </p:nvPr>
                    </p:nvSpPr>
                    <p:spPr>
                      <a:xfrm>
                        <a:off x="-1422167" y="1592346"/>
                        <a:ext cx="2205521"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列昂尼德</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坎托罗维奇</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苏联</a:t>
                        </a:r>
                        <a:r>
                          <a:rPr lang="zh-CN" altLang="en-US" sz="1200" b="1" dirty="0">
                            <a:latin typeface="微软雅黑" panose="020B0503020204020204" pitchFamily="34" charset="-122"/>
                            <a:ea typeface="微软雅黑" panose="020B0503020204020204" pitchFamily="34" charset="-122"/>
                          </a:rPr>
                          <a:t>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诺贝尔经济学奖</a:t>
                        </a:r>
                        <a:endParaRPr lang="zh-CN" altLang="en-US" sz="1200" b="1" i="1" dirty="0">
                          <a:latin typeface="微软雅黑" panose="020B0503020204020204" pitchFamily="34" charset="-122"/>
                          <a:ea typeface="微软雅黑" panose="020B0503020204020204" pitchFamily="34" charset="-122"/>
                        </a:endParaRPr>
                      </a:p>
                    </p:txBody>
                  </p:sp>
                  <p:sp>
                    <p:nvSpPr>
                      <p:cNvPr id="148" name="文本框 147"/>
                      <p:cNvSpPr txBox="1"/>
                      <p:nvPr>
                        <p:custDataLst>
                          <p:tags r:id="rId16"/>
                        </p:custDataLst>
                      </p:nvPr>
                    </p:nvSpPr>
                    <p:spPr>
                      <a:xfrm>
                        <a:off x="-2165113" y="2934312"/>
                        <a:ext cx="2720193"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线性规划模型及算法</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142" name="图片 141"/>
                  <p:cNvPicPr>
                    <a:picLocks noChangeAspect="1"/>
                  </p:cNvPicPr>
                  <p:nvPr/>
                </p:nvPicPr>
                <p:blipFill>
                  <a:blip r:embed="rId54" cstate="print">
                    <a:extLst>
                      <a:ext uri="{28A0092B-C50C-407E-A947-70E740481C1C}">
                        <a14:useLocalDpi xmlns:a14="http://schemas.microsoft.com/office/drawing/2010/main" val="0"/>
                      </a:ext>
                    </a:extLst>
                  </a:blip>
                  <a:srcRect/>
                  <a:stretch>
                    <a:fillRect/>
                  </a:stretch>
                </p:blipFill>
                <p:spPr>
                  <a:xfrm>
                    <a:off x="795671" y="1539900"/>
                    <a:ext cx="928281" cy="1195625"/>
                  </a:xfrm>
                  <a:prstGeom prst="rect">
                    <a:avLst/>
                  </a:prstGeom>
                </p:spPr>
              </p:pic>
            </p:grpSp>
            <p:grpSp>
              <p:nvGrpSpPr>
                <p:cNvPr id="132" name="组合 131"/>
                <p:cNvGrpSpPr/>
                <p:nvPr/>
              </p:nvGrpSpPr>
              <p:grpSpPr>
                <a:xfrm>
                  <a:off x="5032130" y="1483449"/>
                  <a:ext cx="2990547" cy="3373332"/>
                  <a:chOff x="5032130" y="1483449"/>
                  <a:chExt cx="2990547" cy="3373332"/>
                </a:xfrm>
              </p:grpSpPr>
              <p:grpSp>
                <p:nvGrpSpPr>
                  <p:cNvPr id="133" name="组合 132"/>
                  <p:cNvGrpSpPr/>
                  <p:nvPr/>
                </p:nvGrpSpPr>
                <p:grpSpPr>
                  <a:xfrm>
                    <a:off x="5032130" y="1483449"/>
                    <a:ext cx="2990547" cy="3373332"/>
                    <a:chOff x="5032130" y="1483449"/>
                    <a:chExt cx="2990547" cy="3373332"/>
                  </a:xfrm>
                </p:grpSpPr>
                <p:sp>
                  <p:nvSpPr>
                    <p:cNvPr id="135" name="等腰三角形 134"/>
                    <p:cNvSpPr/>
                    <p:nvPr/>
                  </p:nvSpPr>
                  <p:spPr>
                    <a:xfrm rot="13452047">
                      <a:off x="5032130" y="2839677"/>
                      <a:ext cx="238458" cy="2017104"/>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36" name="组合 135"/>
                    <p:cNvGrpSpPr/>
                    <p:nvPr/>
                  </p:nvGrpSpPr>
                  <p:grpSpPr>
                    <a:xfrm>
                      <a:off x="5121150" y="1483449"/>
                      <a:ext cx="2901527" cy="1913436"/>
                      <a:chOff x="-917743" y="1457327"/>
                      <a:chExt cx="2901527" cy="1913436"/>
                    </a:xfrm>
                  </p:grpSpPr>
                  <p:sp>
                    <p:nvSpPr>
                      <p:cNvPr id="137" name="矩形 136"/>
                      <p:cNvSpPr/>
                      <p:nvPr/>
                    </p:nvSpPr>
                    <p:spPr>
                      <a:xfrm>
                        <a:off x="-917743" y="1457327"/>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8" name="矩形 137"/>
                      <p:cNvSpPr/>
                      <p:nvPr/>
                    </p:nvSpPr>
                    <p:spPr>
                      <a:xfrm>
                        <a:off x="-913510" y="2738901"/>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9" name="文本框 138"/>
                      <p:cNvSpPr txBox="1"/>
                      <p:nvPr>
                        <p:custDataLst>
                          <p:tags r:id="rId13"/>
                        </p:custDataLst>
                      </p:nvPr>
                    </p:nvSpPr>
                    <p:spPr>
                      <a:xfrm>
                        <a:off x="-143889" y="1600414"/>
                        <a:ext cx="2127673" cy="860213"/>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乔治</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伯纳德</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丹齐格</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美国应用数学家</a:t>
                        </a:r>
                        <a:endParaRPr lang="en-US" altLang="zh-CN" sz="1200" b="1" dirty="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线性规划之父</a:t>
                        </a:r>
                      </a:p>
                    </p:txBody>
                  </p:sp>
                  <p:sp>
                    <p:nvSpPr>
                      <p:cNvPr id="140" name="文本框 139"/>
                      <p:cNvSpPr txBox="1"/>
                      <p:nvPr>
                        <p:custDataLst>
                          <p:tags r:id="rId14"/>
                        </p:custDataLst>
                      </p:nvPr>
                    </p:nvSpPr>
                    <p:spPr>
                      <a:xfrm>
                        <a:off x="-885500" y="2896730"/>
                        <a:ext cx="2719474"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单纯形法</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134" name="图片 133"/>
                  <p:cNvPicPr>
                    <a:picLocks noChangeAspect="1"/>
                  </p:cNvPicPr>
                  <p:nvPr/>
                </p:nvPicPr>
                <p:blipFill>
                  <a:blip r:embed="rId55" cstate="print">
                    <a:extLst>
                      <a:ext uri="{28A0092B-C50C-407E-A947-70E740481C1C}">
                        <a14:useLocalDpi xmlns:a14="http://schemas.microsoft.com/office/drawing/2010/main" val="0"/>
                      </a:ext>
                    </a:extLst>
                  </a:blip>
                  <a:srcRect/>
                  <a:stretch>
                    <a:fillRect/>
                  </a:stretch>
                </p:blipFill>
                <p:spPr>
                  <a:xfrm>
                    <a:off x="5183048" y="1539243"/>
                    <a:ext cx="825122" cy="1154096"/>
                  </a:xfrm>
                  <a:prstGeom prst="rect">
                    <a:avLst/>
                  </a:prstGeom>
                </p:spPr>
              </p:pic>
            </p:grpSp>
          </p:grpSp>
        </p:grpSp>
      </p:grpSp>
      <p:sp>
        <p:nvSpPr>
          <p:cNvPr id="158" name="文本框 157"/>
          <p:cNvSpPr txBox="1"/>
          <p:nvPr/>
        </p:nvSpPr>
        <p:spPr>
          <a:xfrm>
            <a:off x="4811849" y="4218857"/>
            <a:ext cx="2225223" cy="646331"/>
          </a:xfrm>
          <a:prstGeom prst="rect">
            <a:avLst/>
          </a:prstGeom>
          <a:noFill/>
          <a:ln w="38100">
            <a:noFill/>
            <a:prstDash val="sysDash"/>
          </a:ln>
        </p:spPr>
        <p:txBody>
          <a:bodyPr wrap="square" rtlCol="0">
            <a:spAutoFit/>
          </a:bodyPr>
          <a:lstStyle/>
          <a:p>
            <a:pPr algn="ctr"/>
            <a:r>
              <a:rPr lang="zh-CN" altLang="en-US" sz="1800" b="1" dirty="0">
                <a:solidFill>
                  <a:srgbClr val="171FC7"/>
                </a:solidFill>
                <a:latin typeface="微软雅黑" panose="020B0503020204020204" pitchFamily="34" charset="-122"/>
                <a:ea typeface="微软雅黑" panose="020B0503020204020204" pitchFamily="34" charset="-122"/>
              </a:rPr>
              <a:t>发展</a:t>
            </a:r>
            <a:endParaRPr lang="en-US" altLang="zh-CN" sz="1800" b="1" dirty="0">
              <a:solidFill>
                <a:srgbClr val="171FC7"/>
              </a:solidFill>
              <a:latin typeface="微软雅黑" panose="020B0503020204020204" pitchFamily="34" charset="-122"/>
              <a:ea typeface="微软雅黑" panose="020B0503020204020204" pitchFamily="34" charset="-122"/>
            </a:endParaRPr>
          </a:p>
          <a:p>
            <a:pPr algn="ctr"/>
            <a:r>
              <a:rPr lang="zh-CN" altLang="en-US" sz="1800" b="1" dirty="0">
                <a:solidFill>
                  <a:srgbClr val="171FC7"/>
                </a:solidFill>
                <a:latin typeface="微软雅黑" panose="020B0503020204020204" pitchFamily="34" charset="-122"/>
                <a:ea typeface="微软雅黑" panose="020B0503020204020204" pitchFamily="34" charset="-122"/>
              </a:rPr>
              <a:t>（</a:t>
            </a:r>
            <a:r>
              <a:rPr lang="en-US" altLang="zh-CN" sz="1800" b="1" dirty="0">
                <a:solidFill>
                  <a:srgbClr val="171FC7"/>
                </a:solidFill>
                <a:latin typeface="微软雅黑" panose="020B0503020204020204" pitchFamily="34" charset="-122"/>
                <a:ea typeface="微软雅黑" panose="020B0503020204020204" pitchFamily="34" charset="-122"/>
              </a:rPr>
              <a:t>19</a:t>
            </a:r>
            <a:r>
              <a:rPr lang="zh-CN" altLang="en-US" sz="1800" b="1" dirty="0">
                <a:solidFill>
                  <a:srgbClr val="171FC7"/>
                </a:solidFill>
                <a:latin typeface="微软雅黑" panose="020B0503020204020204" pitchFamily="34" charset="-122"/>
                <a:ea typeface="微软雅黑" panose="020B0503020204020204" pitchFamily="34" charset="-122"/>
              </a:rPr>
              <a:t>世纪</a:t>
            </a:r>
            <a:r>
              <a:rPr lang="en-US" altLang="zh-CN" sz="1800" b="1" dirty="0">
                <a:solidFill>
                  <a:srgbClr val="171FC7"/>
                </a:solidFill>
                <a:latin typeface="微软雅黑" panose="020B0503020204020204" pitchFamily="34" charset="-122"/>
                <a:ea typeface="微软雅黑" panose="020B0503020204020204" pitchFamily="34" charset="-122"/>
              </a:rPr>
              <a:t>-20</a:t>
            </a:r>
            <a:r>
              <a:rPr lang="zh-CN" altLang="en-US" sz="1800" b="1" dirty="0">
                <a:solidFill>
                  <a:srgbClr val="171FC7"/>
                </a:solidFill>
                <a:latin typeface="微软雅黑" panose="020B0503020204020204" pitchFamily="34" charset="-122"/>
                <a:ea typeface="微软雅黑" panose="020B0503020204020204" pitchFamily="34" charset="-122"/>
              </a:rPr>
              <a:t>世纪）</a:t>
            </a:r>
          </a:p>
        </p:txBody>
      </p:sp>
      <p:sp>
        <p:nvSpPr>
          <p:cNvPr id="159" name="文本框 158"/>
          <p:cNvSpPr txBox="1"/>
          <p:nvPr/>
        </p:nvSpPr>
        <p:spPr>
          <a:xfrm>
            <a:off x="7177402" y="3844502"/>
            <a:ext cx="1704410" cy="646331"/>
          </a:xfrm>
          <a:prstGeom prst="rect">
            <a:avLst/>
          </a:prstGeom>
          <a:noFill/>
          <a:ln w="38100">
            <a:noFill/>
            <a:prstDash val="sysDash"/>
          </a:ln>
        </p:spPr>
        <p:txBody>
          <a:bodyPr wrap="square" rtlCol="0">
            <a:spAutoFit/>
          </a:bodyPr>
          <a:lstStyle/>
          <a:p>
            <a:pPr algn="ctr"/>
            <a:r>
              <a:rPr lang="zh-CN" altLang="en-US" sz="1800" b="1" dirty="0">
                <a:solidFill>
                  <a:srgbClr val="171FC7"/>
                </a:solidFill>
                <a:latin typeface="微软雅黑" panose="020B0503020204020204" pitchFamily="34" charset="-122"/>
                <a:ea typeface="微软雅黑" panose="020B0503020204020204" pitchFamily="34" charset="-122"/>
              </a:rPr>
              <a:t>扩展</a:t>
            </a:r>
            <a:endParaRPr lang="en-US" altLang="zh-CN" sz="1800" b="1" dirty="0">
              <a:solidFill>
                <a:srgbClr val="171FC7"/>
              </a:solidFill>
              <a:latin typeface="微软雅黑" panose="020B0503020204020204" pitchFamily="34" charset="-122"/>
              <a:ea typeface="微软雅黑" panose="020B0503020204020204" pitchFamily="34" charset="-122"/>
            </a:endParaRPr>
          </a:p>
          <a:p>
            <a:pPr algn="ctr"/>
            <a:r>
              <a:rPr lang="zh-CN" altLang="en-US" sz="1800" b="1" dirty="0">
                <a:solidFill>
                  <a:srgbClr val="171FC7"/>
                </a:solidFill>
                <a:latin typeface="微软雅黑" panose="020B0503020204020204" pitchFamily="34" charset="-122"/>
                <a:ea typeface="微软雅黑" panose="020B0503020204020204" pitchFamily="34" charset="-122"/>
              </a:rPr>
              <a:t>（</a:t>
            </a:r>
            <a:r>
              <a:rPr lang="en-US" altLang="zh-CN" sz="1800" b="1" dirty="0">
                <a:solidFill>
                  <a:srgbClr val="171FC7"/>
                </a:solidFill>
                <a:latin typeface="微软雅黑" panose="020B0503020204020204" pitchFamily="34" charset="-122"/>
                <a:ea typeface="微软雅黑" panose="020B0503020204020204" pitchFamily="34" charset="-122"/>
              </a:rPr>
              <a:t>20</a:t>
            </a:r>
            <a:r>
              <a:rPr lang="zh-CN" altLang="en-US" sz="1800" b="1" dirty="0">
                <a:solidFill>
                  <a:srgbClr val="171FC7"/>
                </a:solidFill>
                <a:latin typeface="微软雅黑" panose="020B0503020204020204" pitchFamily="34" charset="-122"/>
                <a:ea typeface="微软雅黑" panose="020B0503020204020204" pitchFamily="34" charset="-122"/>
              </a:rPr>
              <a:t>世纪）</a:t>
            </a:r>
          </a:p>
        </p:txBody>
      </p:sp>
      <p:grpSp>
        <p:nvGrpSpPr>
          <p:cNvPr id="160" name="第四部分的展开"/>
          <p:cNvGrpSpPr/>
          <p:nvPr/>
        </p:nvGrpSpPr>
        <p:grpSpPr>
          <a:xfrm>
            <a:off x="395126" y="1548939"/>
            <a:ext cx="8384986" cy="2090984"/>
            <a:chOff x="-4362188" y="1724240"/>
            <a:chExt cx="11179980" cy="2787979"/>
          </a:xfrm>
        </p:grpSpPr>
        <p:sp>
          <p:nvSpPr>
            <p:cNvPr id="161" name="文本框 160"/>
            <p:cNvSpPr txBox="1"/>
            <p:nvPr/>
          </p:nvSpPr>
          <p:spPr>
            <a:xfrm>
              <a:off x="6144463" y="4142887"/>
              <a:ext cx="673329"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1963</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nvGrpSpPr>
            <p:cNvPr id="162" name="组合 161"/>
            <p:cNvGrpSpPr/>
            <p:nvPr/>
          </p:nvGrpSpPr>
          <p:grpSpPr>
            <a:xfrm>
              <a:off x="-4362188" y="1724240"/>
              <a:ext cx="11119058" cy="2776811"/>
              <a:chOff x="-4362188" y="1724240"/>
              <a:chExt cx="11119058" cy="2776811"/>
            </a:xfrm>
          </p:grpSpPr>
          <p:grpSp>
            <p:nvGrpSpPr>
              <p:cNvPr id="163" name="组合 162"/>
              <p:cNvGrpSpPr/>
              <p:nvPr/>
            </p:nvGrpSpPr>
            <p:grpSpPr>
              <a:xfrm>
                <a:off x="4780287" y="4130167"/>
                <a:ext cx="1361424" cy="370884"/>
                <a:chOff x="4780287" y="4130167"/>
                <a:chExt cx="1361424" cy="370884"/>
              </a:xfrm>
            </p:grpSpPr>
            <p:sp>
              <p:nvSpPr>
                <p:cNvPr id="191" name="文本框 190"/>
                <p:cNvSpPr txBox="1"/>
                <p:nvPr/>
              </p:nvSpPr>
              <p:spPr>
                <a:xfrm>
                  <a:off x="4780287" y="4131718"/>
                  <a:ext cx="945877" cy="369333"/>
                </a:xfrm>
                <a:prstGeom prst="rect">
                  <a:avLst/>
                </a:prstGeom>
                <a:noFill/>
                <a:ln w="38100">
                  <a:noFill/>
                  <a:prstDash val="sysDash"/>
                </a:ln>
              </p:spPr>
              <p:txBody>
                <a:bodyPr wrap="square" rtlCol="0">
                  <a:spAutoFit/>
                </a:bodyPr>
                <a:lstStyle>
                  <a:defPPr>
                    <a:defRPr lang="zh-CN"/>
                  </a:defPPr>
                  <a:lvl1pPr>
                    <a:defRPr sz="1600" b="1">
                      <a:solidFill>
                        <a:schemeClr val="bg1"/>
                      </a:solidFill>
                      <a:latin typeface="Times New Roman" panose="02020603050405020304" pitchFamily="18" charset="0"/>
                      <a:cs typeface="Times New Roman" panose="02020603050405020304" pitchFamily="18" charset="0"/>
                    </a:defRPr>
                  </a:lvl1pPr>
                </a:lstStyle>
                <a:p>
                  <a:r>
                    <a:rPr lang="en-US" altLang="zh-CN" sz="1200" dirty="0"/>
                    <a:t>1951</a:t>
                  </a:r>
                  <a:endParaRPr lang="zh-CN" altLang="en-US" sz="1200" dirty="0"/>
                </a:p>
              </p:txBody>
            </p:sp>
            <p:sp>
              <p:nvSpPr>
                <p:cNvPr id="192" name="文本框 191"/>
                <p:cNvSpPr txBox="1"/>
                <p:nvPr/>
              </p:nvSpPr>
              <p:spPr>
                <a:xfrm>
                  <a:off x="5463667" y="4130167"/>
                  <a:ext cx="678044"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cs typeface="Times New Roman" panose="02020603050405020304" pitchFamily="18" charset="0"/>
                    </a:rPr>
                    <a:t>1957</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grpSp>
          <p:grpSp>
            <p:nvGrpSpPr>
              <p:cNvPr id="164" name="组合 163"/>
              <p:cNvGrpSpPr/>
              <p:nvPr/>
            </p:nvGrpSpPr>
            <p:grpSpPr>
              <a:xfrm>
                <a:off x="-4362188" y="1724240"/>
                <a:ext cx="11119058" cy="2298237"/>
                <a:chOff x="-4362188" y="1724240"/>
                <a:chExt cx="11119058" cy="2298237"/>
              </a:xfrm>
            </p:grpSpPr>
            <p:grpSp>
              <p:nvGrpSpPr>
                <p:cNvPr id="165" name="组合 164"/>
                <p:cNvGrpSpPr/>
                <p:nvPr/>
              </p:nvGrpSpPr>
              <p:grpSpPr>
                <a:xfrm>
                  <a:off x="-4362188" y="1724240"/>
                  <a:ext cx="9309524" cy="2298237"/>
                  <a:chOff x="-4362188" y="1724240"/>
                  <a:chExt cx="9309524" cy="2298237"/>
                </a:xfrm>
              </p:grpSpPr>
              <p:sp>
                <p:nvSpPr>
                  <p:cNvPr id="184" name="等腰三角形 183"/>
                  <p:cNvSpPr/>
                  <p:nvPr/>
                </p:nvSpPr>
                <p:spPr>
                  <a:xfrm rot="5797815">
                    <a:off x="1234218" y="309359"/>
                    <a:ext cx="249566" cy="7176670"/>
                  </a:xfrm>
                  <a:prstGeom prst="triangle">
                    <a:avLst>
                      <a:gd name="adj" fmla="val 57731"/>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85" name="组合 184"/>
                  <p:cNvGrpSpPr/>
                  <p:nvPr/>
                </p:nvGrpSpPr>
                <p:grpSpPr>
                  <a:xfrm>
                    <a:off x="-4362188" y="1724240"/>
                    <a:ext cx="2981234" cy="1904795"/>
                    <a:chOff x="-4362188" y="1724240"/>
                    <a:chExt cx="2981234" cy="1904795"/>
                  </a:xfrm>
                </p:grpSpPr>
                <p:sp>
                  <p:nvSpPr>
                    <p:cNvPr id="186" name="矩形 185"/>
                    <p:cNvSpPr/>
                    <p:nvPr/>
                  </p:nvSpPr>
                  <p:spPr>
                    <a:xfrm>
                      <a:off x="-4245416" y="1724240"/>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7" name="矩形 186"/>
                    <p:cNvSpPr/>
                    <p:nvPr/>
                  </p:nvSpPr>
                  <p:spPr>
                    <a:xfrm>
                      <a:off x="-4245416" y="3005814"/>
                      <a:ext cx="2799279" cy="62322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88" name="图片 187"/>
                    <p:cNvPicPr>
                      <a:picLocks noChangeAspect="1"/>
                    </p:cNvPicPr>
                    <p:nvPr/>
                  </p:nvPicPr>
                  <p:blipFill>
                    <a:blip r:embed="rId56" cstate="print">
                      <a:extLst>
                        <a:ext uri="{28A0092B-C50C-407E-A947-70E740481C1C}">
                          <a14:useLocalDpi xmlns:a14="http://schemas.microsoft.com/office/drawing/2010/main" val="0"/>
                        </a:ext>
                      </a:extLst>
                    </a:blip>
                    <a:srcRect/>
                    <a:stretch>
                      <a:fillRect/>
                    </a:stretch>
                  </p:blipFill>
                  <p:spPr>
                    <a:xfrm>
                      <a:off x="-4182860" y="1804502"/>
                      <a:ext cx="848663" cy="1038300"/>
                    </a:xfrm>
                    <a:prstGeom prst="rect">
                      <a:avLst/>
                    </a:prstGeom>
                  </p:spPr>
                </p:pic>
                <p:sp>
                  <p:nvSpPr>
                    <p:cNvPr id="189" name="文本框 188"/>
                    <p:cNvSpPr txBox="1"/>
                    <p:nvPr>
                      <p:custDataLst>
                        <p:tags r:id="rId11"/>
                      </p:custDataLst>
                    </p:nvPr>
                  </p:nvSpPr>
                  <p:spPr>
                    <a:xfrm>
                      <a:off x="-3409402" y="1865665"/>
                      <a:ext cx="2028448"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哈里</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马科维茨</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美国经济学家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诺贝尔经济学奖</a:t>
                      </a:r>
                      <a:endParaRPr lang="en-US" altLang="zh-CN" sz="1200" b="1" dirty="0">
                        <a:latin typeface="微软雅黑" panose="020B0503020204020204" pitchFamily="34" charset="-122"/>
                        <a:ea typeface="微软雅黑" panose="020B0503020204020204" pitchFamily="34" charset="-122"/>
                      </a:endParaRPr>
                    </a:p>
                  </p:txBody>
                </p:sp>
                <p:sp>
                  <p:nvSpPr>
                    <p:cNvPr id="190" name="文本框 189"/>
                    <p:cNvSpPr txBox="1"/>
                    <p:nvPr>
                      <p:custDataLst>
                        <p:tags r:id="rId12"/>
                      </p:custDataLst>
                    </p:nvPr>
                  </p:nvSpPr>
                  <p:spPr>
                    <a:xfrm>
                      <a:off x="-4362188" y="3179660"/>
                      <a:ext cx="2929466" cy="367453"/>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rPr>
                        <a:t>二次规划投资组合模型</a:t>
                      </a:r>
                    </a:p>
                  </p:txBody>
                </p:sp>
              </p:grpSp>
            </p:grpSp>
            <p:grpSp>
              <p:nvGrpSpPr>
                <p:cNvPr id="166" name="组合 165"/>
                <p:cNvGrpSpPr/>
                <p:nvPr/>
              </p:nvGrpSpPr>
              <p:grpSpPr>
                <a:xfrm>
                  <a:off x="-236198" y="1750356"/>
                  <a:ext cx="6006579" cy="2213911"/>
                  <a:chOff x="-236198" y="1750356"/>
                  <a:chExt cx="6006579" cy="2213911"/>
                </a:xfrm>
              </p:grpSpPr>
              <p:grpSp>
                <p:nvGrpSpPr>
                  <p:cNvPr id="176" name="组合 175"/>
                  <p:cNvGrpSpPr/>
                  <p:nvPr/>
                </p:nvGrpSpPr>
                <p:grpSpPr>
                  <a:xfrm>
                    <a:off x="-236198" y="1750356"/>
                    <a:ext cx="6006579" cy="2213911"/>
                    <a:chOff x="-236198" y="1750356"/>
                    <a:chExt cx="6006579" cy="2213911"/>
                  </a:xfrm>
                </p:grpSpPr>
                <p:sp>
                  <p:nvSpPr>
                    <p:cNvPr id="178" name="等腰三角形 177"/>
                    <p:cNvSpPr/>
                    <p:nvPr/>
                  </p:nvSpPr>
                  <p:spPr>
                    <a:xfrm rot="6198692">
                      <a:off x="3695544" y="1889429"/>
                      <a:ext cx="195810" cy="3953865"/>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79" name="组合 178"/>
                    <p:cNvGrpSpPr/>
                    <p:nvPr/>
                  </p:nvGrpSpPr>
                  <p:grpSpPr>
                    <a:xfrm>
                      <a:off x="-236198" y="1750356"/>
                      <a:ext cx="3070618" cy="1866265"/>
                      <a:chOff x="-3241738" y="1746052"/>
                      <a:chExt cx="3070618" cy="1866265"/>
                    </a:xfrm>
                  </p:grpSpPr>
                  <p:sp>
                    <p:nvSpPr>
                      <p:cNvPr id="180" name="矩形 179"/>
                      <p:cNvSpPr/>
                      <p:nvPr/>
                    </p:nvSpPr>
                    <p:spPr>
                      <a:xfrm>
                        <a:off x="-3241738" y="1746052"/>
                        <a:ext cx="293031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1" name="矩形 180"/>
                      <p:cNvSpPr/>
                      <p:nvPr/>
                    </p:nvSpPr>
                    <p:spPr>
                      <a:xfrm>
                        <a:off x="-3241101" y="3026454"/>
                        <a:ext cx="2911591" cy="5858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2" name="文本框 181"/>
                      <p:cNvSpPr txBox="1"/>
                      <p:nvPr>
                        <p:custDataLst>
                          <p:tags r:id="rId9"/>
                        </p:custDataLst>
                      </p:nvPr>
                    </p:nvSpPr>
                    <p:spPr>
                      <a:xfrm>
                        <a:off x="-2514625" y="1871840"/>
                        <a:ext cx="2343505"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理查德</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贝尔曼</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美国应用数学家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美国国家工程院院士</a:t>
                        </a:r>
                        <a:endParaRPr lang="zh-CN" altLang="en-US" sz="1200" b="1" i="1" dirty="0">
                          <a:latin typeface="微软雅黑" panose="020B0503020204020204" pitchFamily="34" charset="-122"/>
                          <a:ea typeface="微软雅黑" panose="020B0503020204020204" pitchFamily="34" charset="-122"/>
                        </a:endParaRPr>
                      </a:p>
                    </p:txBody>
                  </p:sp>
                  <p:sp>
                    <p:nvSpPr>
                      <p:cNvPr id="183" name="文本框 182"/>
                      <p:cNvSpPr txBox="1"/>
                      <p:nvPr>
                        <p:custDataLst>
                          <p:tags r:id="rId10"/>
                        </p:custDataLst>
                      </p:nvPr>
                    </p:nvSpPr>
                    <p:spPr>
                      <a:xfrm>
                        <a:off x="-3126471" y="3189593"/>
                        <a:ext cx="2720193"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动态规划方程</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177" name="图片 176"/>
                  <p:cNvPicPr>
                    <a:picLocks noChangeAspect="1"/>
                  </p:cNvPicPr>
                  <p:nvPr/>
                </p:nvPicPr>
                <p:blipFill>
                  <a:blip r:embed="rId57" cstate="print">
                    <a:extLst>
                      <a:ext uri="{28A0092B-C50C-407E-A947-70E740481C1C}">
                        <a14:useLocalDpi xmlns:a14="http://schemas.microsoft.com/office/drawing/2010/main" val="0"/>
                      </a:ext>
                    </a:extLst>
                  </a:blip>
                  <a:srcRect/>
                  <a:stretch>
                    <a:fillRect/>
                  </a:stretch>
                </p:blipFill>
                <p:spPr>
                  <a:xfrm>
                    <a:off x="-123986" y="1791346"/>
                    <a:ext cx="801068" cy="1195625"/>
                  </a:xfrm>
                  <a:prstGeom prst="rect">
                    <a:avLst/>
                  </a:prstGeom>
                </p:spPr>
              </p:pic>
            </p:grpSp>
            <p:grpSp>
              <p:nvGrpSpPr>
                <p:cNvPr id="167" name="组合 166"/>
                <p:cNvGrpSpPr/>
                <p:nvPr/>
              </p:nvGrpSpPr>
              <p:grpSpPr>
                <a:xfrm>
                  <a:off x="3874221" y="1739270"/>
                  <a:ext cx="2882649" cy="2137115"/>
                  <a:chOff x="3874221" y="1739270"/>
                  <a:chExt cx="2882649" cy="2137115"/>
                </a:xfrm>
              </p:grpSpPr>
              <p:grpSp>
                <p:nvGrpSpPr>
                  <p:cNvPr id="168" name="组合 167"/>
                  <p:cNvGrpSpPr/>
                  <p:nvPr/>
                </p:nvGrpSpPr>
                <p:grpSpPr>
                  <a:xfrm>
                    <a:off x="3874221" y="1739270"/>
                    <a:ext cx="2882649" cy="2137115"/>
                    <a:chOff x="3874221" y="1739270"/>
                    <a:chExt cx="2882649" cy="2137115"/>
                  </a:xfrm>
                </p:grpSpPr>
                <p:sp>
                  <p:nvSpPr>
                    <p:cNvPr id="170" name="等腰三角形 169"/>
                    <p:cNvSpPr/>
                    <p:nvPr/>
                  </p:nvSpPr>
                  <p:spPr>
                    <a:xfrm rot="7734486">
                      <a:off x="5578164" y="2748604"/>
                      <a:ext cx="238458" cy="2017104"/>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71" name="组合 170"/>
                    <p:cNvGrpSpPr/>
                    <p:nvPr/>
                  </p:nvGrpSpPr>
                  <p:grpSpPr>
                    <a:xfrm>
                      <a:off x="3874221" y="1739270"/>
                      <a:ext cx="2882649" cy="1890441"/>
                      <a:chOff x="-2164672" y="1713148"/>
                      <a:chExt cx="2882649" cy="1890441"/>
                    </a:xfrm>
                  </p:grpSpPr>
                  <p:sp>
                    <p:nvSpPr>
                      <p:cNvPr id="172" name="矩形 171"/>
                      <p:cNvSpPr/>
                      <p:nvPr/>
                    </p:nvSpPr>
                    <p:spPr>
                      <a:xfrm>
                        <a:off x="-2164672" y="1713148"/>
                        <a:ext cx="288264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3" name="矩形 172"/>
                      <p:cNvSpPr/>
                      <p:nvPr/>
                    </p:nvSpPr>
                    <p:spPr>
                      <a:xfrm>
                        <a:off x="-2160439" y="2994722"/>
                        <a:ext cx="2878416" cy="6088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4" name="文本框 173"/>
                      <p:cNvSpPr txBox="1"/>
                      <p:nvPr>
                        <p:custDataLst>
                          <p:tags r:id="rId7"/>
                        </p:custDataLst>
                      </p:nvPr>
                    </p:nvSpPr>
                    <p:spPr>
                      <a:xfrm>
                        <a:off x="-1313135" y="1856095"/>
                        <a:ext cx="2027180"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罗伯特</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威尔逊</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美国经济学家</a:t>
                        </a:r>
                        <a:endParaRPr lang="en-US" altLang="zh-CN" sz="1200" b="1" dirty="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诺贝尔经济学奖</a:t>
                        </a:r>
                      </a:p>
                    </p:txBody>
                  </p:sp>
                  <p:sp>
                    <p:nvSpPr>
                      <p:cNvPr id="175" name="文本框 174"/>
                      <p:cNvSpPr txBox="1"/>
                      <p:nvPr>
                        <p:custDataLst>
                          <p:tags r:id="rId8"/>
                        </p:custDataLst>
                      </p:nvPr>
                    </p:nvSpPr>
                    <p:spPr>
                      <a:xfrm>
                        <a:off x="-2132429" y="3152550"/>
                        <a:ext cx="2719474"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序列二次规划法</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pic>
                <p:nvPicPr>
                  <p:cNvPr id="169" name="图片 168"/>
                  <p:cNvPicPr>
                    <a:picLocks noChangeAspect="1"/>
                  </p:cNvPicPr>
                  <p:nvPr/>
                </p:nvPicPr>
                <p:blipFill>
                  <a:blip r:embed="rId58" cstate="print">
                    <a:extLst>
                      <a:ext uri="{28A0092B-C50C-407E-A947-70E740481C1C}">
                        <a14:useLocalDpi xmlns:a14="http://schemas.microsoft.com/office/drawing/2010/main" val="0"/>
                      </a:ext>
                    </a:extLst>
                  </a:blip>
                  <a:srcRect/>
                  <a:stretch>
                    <a:fillRect/>
                  </a:stretch>
                </p:blipFill>
                <p:spPr>
                  <a:xfrm>
                    <a:off x="3964681" y="1795064"/>
                    <a:ext cx="836282" cy="1154096"/>
                  </a:xfrm>
                  <a:prstGeom prst="rect">
                    <a:avLst/>
                  </a:prstGeom>
                </p:spPr>
              </p:pic>
            </p:grpSp>
          </p:grpSp>
        </p:grpSp>
      </p:grpSp>
      <p:grpSp>
        <p:nvGrpSpPr>
          <p:cNvPr id="193" name="第四部分的人头"/>
          <p:cNvGrpSpPr/>
          <p:nvPr/>
        </p:nvGrpSpPr>
        <p:grpSpPr>
          <a:xfrm>
            <a:off x="7182658" y="2962310"/>
            <a:ext cx="1704410" cy="728866"/>
            <a:chOff x="96309" y="4625351"/>
            <a:chExt cx="2013962" cy="898746"/>
          </a:xfrm>
        </p:grpSpPr>
        <p:grpSp>
          <p:nvGrpSpPr>
            <p:cNvPr id="194" name="组合 193"/>
            <p:cNvGrpSpPr/>
            <p:nvPr/>
          </p:nvGrpSpPr>
          <p:grpSpPr>
            <a:xfrm>
              <a:off x="96309" y="4911726"/>
              <a:ext cx="2009152" cy="612371"/>
              <a:chOff x="96309" y="4911726"/>
              <a:chExt cx="2009152" cy="612371"/>
            </a:xfrm>
          </p:grpSpPr>
          <p:pic>
            <p:nvPicPr>
              <p:cNvPr id="199" name="图片 198"/>
              <p:cNvPicPr>
                <a:picLocks noChangeAspect="1"/>
              </p:cNvPicPr>
              <p:nvPr/>
            </p:nvPicPr>
            <p:blipFill>
              <a:blip r:embed="rId59" cstate="print">
                <a:extLst>
                  <a:ext uri="{28A0092B-C50C-407E-A947-70E740481C1C}">
                    <a14:useLocalDpi xmlns:a14="http://schemas.microsoft.com/office/drawing/2010/main" val="0"/>
                  </a:ext>
                </a:extLst>
              </a:blip>
              <a:srcRect t="9600" b="9600"/>
              <a:stretch>
                <a:fillRect/>
              </a:stretch>
            </p:blipFill>
            <p:spPr>
              <a:xfrm>
                <a:off x="96309"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0" name="图片 199"/>
              <p:cNvPicPr>
                <a:picLocks noChangeAspect="1"/>
              </p:cNvPicPr>
              <p:nvPr/>
            </p:nvPicPr>
            <p:blipFill>
              <a:blip r:embed="rId60" cstate="print">
                <a:extLst>
                  <a:ext uri="{28A0092B-C50C-407E-A947-70E740481C1C}">
                    <a14:useLocalDpi xmlns:a14="http://schemas.microsoft.com/office/drawing/2010/main" val="0"/>
                  </a:ext>
                </a:extLst>
              </a:blip>
              <a:srcRect t="16976" b="16976"/>
              <a:stretch>
                <a:fillRect/>
              </a:stretch>
            </p:blipFill>
            <p:spPr>
              <a:xfrm>
                <a:off x="817147" y="4915959"/>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1" name="图片 200"/>
              <p:cNvPicPr>
                <a:picLocks noChangeAspect="1"/>
              </p:cNvPicPr>
              <p:nvPr/>
            </p:nvPicPr>
            <p:blipFill>
              <a:blip r:embed="rId61" cstate="print">
                <a:extLst>
                  <a:ext uri="{28A0092B-C50C-407E-A947-70E740481C1C}">
                    <a14:useLocalDpi xmlns:a14="http://schemas.microsoft.com/office/drawing/2010/main" val="0"/>
                  </a:ext>
                </a:extLst>
              </a:blip>
              <a:srcRect t="13923" b="13923"/>
              <a:stretch>
                <a:fillRect/>
              </a:stretch>
            </p:blipFill>
            <p:spPr>
              <a:xfrm>
                <a:off x="1502917" y="4911726"/>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195" name="组合 194"/>
            <p:cNvGrpSpPr/>
            <p:nvPr/>
          </p:nvGrpSpPr>
          <p:grpSpPr>
            <a:xfrm>
              <a:off x="158756" y="4625351"/>
              <a:ext cx="1951515" cy="298620"/>
              <a:chOff x="158756" y="4625351"/>
              <a:chExt cx="1951515" cy="298620"/>
            </a:xfrm>
          </p:grpSpPr>
          <p:sp>
            <p:nvSpPr>
              <p:cNvPr id="196" name="文本框 195"/>
              <p:cNvSpPr txBox="1"/>
              <p:nvPr/>
            </p:nvSpPr>
            <p:spPr>
              <a:xfrm>
                <a:off x="158756" y="4635655"/>
                <a:ext cx="546892" cy="284634"/>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1951</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97" name="文本框 196"/>
              <p:cNvSpPr txBox="1"/>
              <p:nvPr/>
            </p:nvSpPr>
            <p:spPr>
              <a:xfrm>
                <a:off x="873717" y="4625351"/>
                <a:ext cx="541668" cy="284633"/>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1957</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98" name="文本框 197"/>
              <p:cNvSpPr txBox="1"/>
              <p:nvPr/>
            </p:nvSpPr>
            <p:spPr>
              <a:xfrm>
                <a:off x="1568603" y="4639338"/>
                <a:ext cx="541668" cy="284633"/>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1963</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grpSp>
      </p:grpSp>
      <p:grpSp>
        <p:nvGrpSpPr>
          <p:cNvPr id="212" name="第三部分的人头"/>
          <p:cNvGrpSpPr/>
          <p:nvPr/>
        </p:nvGrpSpPr>
        <p:grpSpPr>
          <a:xfrm>
            <a:off x="4961882" y="3394358"/>
            <a:ext cx="1721216" cy="733670"/>
            <a:chOff x="96309" y="4625351"/>
            <a:chExt cx="2013962" cy="898746"/>
          </a:xfrm>
        </p:grpSpPr>
        <p:grpSp>
          <p:nvGrpSpPr>
            <p:cNvPr id="213" name="组合 212"/>
            <p:cNvGrpSpPr/>
            <p:nvPr/>
          </p:nvGrpSpPr>
          <p:grpSpPr>
            <a:xfrm>
              <a:off x="96309" y="4911726"/>
              <a:ext cx="2009152" cy="612371"/>
              <a:chOff x="96309" y="4911726"/>
              <a:chExt cx="2009152" cy="612371"/>
            </a:xfrm>
          </p:grpSpPr>
          <p:pic>
            <p:nvPicPr>
              <p:cNvPr id="218" name="图片 217"/>
              <p:cNvPicPr>
                <a:picLocks noChangeAspect="1"/>
              </p:cNvPicPr>
              <p:nvPr/>
            </p:nvPicPr>
            <p:blipFill>
              <a:blip r:embed="rId62" cstate="print">
                <a:extLst>
                  <a:ext uri="{28A0092B-C50C-407E-A947-70E740481C1C}">
                    <a14:useLocalDpi xmlns:a14="http://schemas.microsoft.com/office/drawing/2010/main" val="0"/>
                  </a:ext>
                </a:extLst>
              </a:blip>
              <a:srcRect t="14090" b="14090"/>
              <a:stretch>
                <a:fillRect/>
              </a:stretch>
            </p:blipFill>
            <p:spPr>
              <a:xfrm>
                <a:off x="96309" y="4928658"/>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19" name="图片 218"/>
              <p:cNvPicPr>
                <a:picLocks noChangeAspect="1"/>
              </p:cNvPicPr>
              <p:nvPr/>
            </p:nvPicPr>
            <p:blipFill>
              <a:blip r:embed="rId63" cstate="print">
                <a:extLst>
                  <a:ext uri="{28A0092B-C50C-407E-A947-70E740481C1C}">
                    <a14:useLocalDpi xmlns:a14="http://schemas.microsoft.com/office/drawing/2010/main" val="0"/>
                  </a:ext>
                </a:extLst>
              </a:blip>
              <a:srcRect t="11682" b="11682"/>
              <a:stretch>
                <a:fillRect/>
              </a:stretch>
            </p:blipFill>
            <p:spPr>
              <a:xfrm>
                <a:off x="817147" y="4915959"/>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0" name="图片 219"/>
              <p:cNvPicPr>
                <a:picLocks noChangeAspect="1"/>
              </p:cNvPicPr>
              <p:nvPr/>
            </p:nvPicPr>
            <p:blipFill>
              <a:blip r:embed="rId64" cstate="print">
                <a:extLst>
                  <a:ext uri="{28A0092B-C50C-407E-A947-70E740481C1C}">
                    <a14:useLocalDpi xmlns:a14="http://schemas.microsoft.com/office/drawing/2010/main" val="0"/>
                  </a:ext>
                </a:extLst>
              </a:blip>
              <a:srcRect t="14707" b="14707"/>
              <a:stretch>
                <a:fillRect/>
              </a:stretch>
            </p:blipFill>
            <p:spPr>
              <a:xfrm>
                <a:off x="1502917" y="4911726"/>
                <a:ext cx="602544" cy="595439"/>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14" name="组合 213"/>
            <p:cNvGrpSpPr/>
            <p:nvPr/>
          </p:nvGrpSpPr>
          <p:grpSpPr>
            <a:xfrm>
              <a:off x="158756" y="4625351"/>
              <a:ext cx="1951515" cy="296757"/>
              <a:chOff x="158756" y="4625351"/>
              <a:chExt cx="1951515" cy="296757"/>
            </a:xfrm>
          </p:grpSpPr>
          <p:sp>
            <p:nvSpPr>
              <p:cNvPr id="215" name="文本框 214"/>
              <p:cNvSpPr txBox="1"/>
              <p:nvPr/>
            </p:nvSpPr>
            <p:spPr>
              <a:xfrm>
                <a:off x="158756" y="4635654"/>
                <a:ext cx="546892" cy="282769"/>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1847</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16" name="文本框 215"/>
              <p:cNvSpPr txBox="1"/>
              <p:nvPr/>
            </p:nvSpPr>
            <p:spPr>
              <a:xfrm>
                <a:off x="873716" y="4625351"/>
                <a:ext cx="541668" cy="282770"/>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1939</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17" name="文本框 216"/>
              <p:cNvSpPr txBox="1"/>
              <p:nvPr/>
            </p:nvSpPr>
            <p:spPr>
              <a:xfrm>
                <a:off x="1568603" y="4639338"/>
                <a:ext cx="541668" cy="282770"/>
              </a:xfrm>
              <a:prstGeom prst="rect">
                <a:avLst/>
              </a:prstGeom>
              <a:noFill/>
              <a:ln w="38100">
                <a:noFill/>
                <a:prstDash val="sysDash"/>
              </a:ln>
            </p:spPr>
            <p:txBody>
              <a:bodyPr wrap="square" rtlCol="0">
                <a:spAutoFit/>
              </a:bodyPr>
              <a:lstStyle/>
              <a:p>
                <a:r>
                  <a:rPr lang="en-US" altLang="zh-CN" sz="900" b="1" dirty="0">
                    <a:solidFill>
                      <a:schemeClr val="tx2">
                        <a:lumMod val="75000"/>
                      </a:schemeClr>
                    </a:solidFill>
                    <a:latin typeface="Times New Roman" panose="02020603050405020304" pitchFamily="18" charset="0"/>
                    <a:cs typeface="Times New Roman" panose="02020603050405020304" pitchFamily="18" charset="0"/>
                  </a:rPr>
                  <a:t>1947</a:t>
                </a:r>
                <a:endParaRPr lang="zh-CN" altLang="en-US" sz="900" b="1" dirty="0">
                  <a:solidFill>
                    <a:schemeClr val="tx2">
                      <a:lumMod val="75000"/>
                    </a:schemeClr>
                  </a:solidFill>
                  <a:latin typeface="Times New Roman" panose="02020603050405020304" pitchFamily="18" charset="0"/>
                  <a:cs typeface="Times New Roman" panose="02020603050405020304" pitchFamily="18" charset="0"/>
                </a:endParaRPr>
              </a:p>
            </p:txBody>
          </p:sp>
        </p:grpSp>
      </p:grpSp>
      <p:grpSp>
        <p:nvGrpSpPr>
          <p:cNvPr id="230" name="第一部分展开"/>
          <p:cNvGrpSpPr/>
          <p:nvPr/>
        </p:nvGrpSpPr>
        <p:grpSpPr>
          <a:xfrm>
            <a:off x="-27904" y="1456710"/>
            <a:ext cx="8731701" cy="3233147"/>
            <a:chOff x="32221" y="1228664"/>
            <a:chExt cx="11642268" cy="4310863"/>
          </a:xfrm>
        </p:grpSpPr>
        <p:grpSp>
          <p:nvGrpSpPr>
            <p:cNvPr id="229" name="第一部分展开"/>
            <p:cNvGrpSpPr/>
            <p:nvPr/>
          </p:nvGrpSpPr>
          <p:grpSpPr>
            <a:xfrm>
              <a:off x="841468" y="1228664"/>
              <a:ext cx="10833021" cy="4310863"/>
              <a:chOff x="841468" y="1228664"/>
              <a:chExt cx="10833021" cy="4310863"/>
            </a:xfrm>
          </p:grpSpPr>
          <p:grpSp>
            <p:nvGrpSpPr>
              <p:cNvPr id="225" name="组合 224"/>
              <p:cNvGrpSpPr/>
              <p:nvPr/>
            </p:nvGrpSpPr>
            <p:grpSpPr>
              <a:xfrm>
                <a:off x="841468" y="1246729"/>
                <a:ext cx="3081659" cy="4292798"/>
                <a:chOff x="841468" y="1246729"/>
                <a:chExt cx="3081659" cy="4292798"/>
              </a:xfrm>
            </p:grpSpPr>
            <p:sp>
              <p:nvSpPr>
                <p:cNvPr id="65" name="等腰三角形 64"/>
                <p:cNvSpPr/>
                <p:nvPr/>
              </p:nvSpPr>
              <p:spPr>
                <a:xfrm rot="13084351" flipH="1">
                  <a:off x="1326781" y="2436815"/>
                  <a:ext cx="286928" cy="3102712"/>
                </a:xfrm>
                <a:prstGeom prst="triangle">
                  <a:avLst>
                    <a:gd name="adj" fmla="val 57731"/>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66" name="组合 65"/>
                <p:cNvGrpSpPr/>
                <p:nvPr/>
              </p:nvGrpSpPr>
              <p:grpSpPr>
                <a:xfrm>
                  <a:off x="841468" y="1246729"/>
                  <a:ext cx="3081659" cy="1932109"/>
                  <a:chOff x="-696124" y="1285937"/>
                  <a:chExt cx="2799279" cy="1932109"/>
                </a:xfrm>
              </p:grpSpPr>
              <p:sp>
                <p:nvSpPr>
                  <p:cNvPr id="67" name="矩形 66"/>
                  <p:cNvSpPr/>
                  <p:nvPr/>
                </p:nvSpPr>
                <p:spPr>
                  <a:xfrm>
                    <a:off x="-696124" y="1285937"/>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8" name="矩形 67"/>
                  <p:cNvSpPr/>
                  <p:nvPr/>
                </p:nvSpPr>
                <p:spPr>
                  <a:xfrm>
                    <a:off x="-696124" y="2567512"/>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69" name="图片 68"/>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591811" y="1300554"/>
                    <a:ext cx="893413" cy="1212035"/>
                  </a:xfrm>
                  <a:prstGeom prst="rect">
                    <a:avLst/>
                  </a:prstGeom>
                </p:spPr>
              </p:pic>
              <p:sp>
                <p:nvSpPr>
                  <p:cNvPr id="70" name="文本框 69"/>
                  <p:cNvSpPr txBox="1"/>
                  <p:nvPr>
                    <p:custDataLst>
                      <p:tags r:id="rId5"/>
                    </p:custDataLst>
                  </p:nvPr>
                </p:nvSpPr>
                <p:spPr>
                  <a:xfrm>
                    <a:off x="348344" y="1391886"/>
                    <a:ext cx="1616076"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欧几里得</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希腊时代数学家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几何学之父</a:t>
                    </a:r>
                  </a:p>
                </p:txBody>
              </p:sp>
              <p:sp>
                <p:nvSpPr>
                  <p:cNvPr id="71" name="文本框 70"/>
                  <p:cNvSpPr txBox="1"/>
                  <p:nvPr>
                    <p:custDataLst>
                      <p:tags r:id="rId6"/>
                    </p:custDataLst>
                  </p:nvPr>
                </p:nvSpPr>
                <p:spPr>
                  <a:xfrm>
                    <a:off x="-633281" y="2602493"/>
                    <a:ext cx="2646448" cy="615553"/>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证明了在给定总边长下，正方形在矩形中</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面积最大</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grpSp>
            <p:nvGrpSpPr>
              <p:cNvPr id="226" name="组合 225"/>
              <p:cNvGrpSpPr/>
              <p:nvPr/>
            </p:nvGrpSpPr>
            <p:grpSpPr>
              <a:xfrm>
                <a:off x="1122608" y="1247480"/>
                <a:ext cx="6687175" cy="3043539"/>
                <a:chOff x="1122608" y="1247480"/>
                <a:chExt cx="6687175" cy="3043539"/>
              </a:xfrm>
            </p:grpSpPr>
            <p:sp>
              <p:nvSpPr>
                <p:cNvPr id="59" name="等腰三角形 58"/>
                <p:cNvSpPr/>
                <p:nvPr/>
              </p:nvSpPr>
              <p:spPr>
                <a:xfrm rot="14151571" flipH="1">
                  <a:off x="3103099" y="2064639"/>
                  <a:ext cx="245889" cy="4206872"/>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60" name="组合 59"/>
                <p:cNvGrpSpPr/>
                <p:nvPr/>
              </p:nvGrpSpPr>
              <p:grpSpPr>
                <a:xfrm>
                  <a:off x="4728124" y="1247480"/>
                  <a:ext cx="3081659" cy="1913436"/>
                  <a:chOff x="-473208" y="1336152"/>
                  <a:chExt cx="2799279" cy="1913436"/>
                </a:xfrm>
              </p:grpSpPr>
              <p:sp>
                <p:nvSpPr>
                  <p:cNvPr id="61" name="矩形 60"/>
                  <p:cNvSpPr/>
                  <p:nvPr/>
                </p:nvSpPr>
                <p:spPr>
                  <a:xfrm>
                    <a:off x="-473208" y="1336152"/>
                    <a:ext cx="2799279" cy="12959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2" name="矩形 61"/>
                  <p:cNvSpPr/>
                  <p:nvPr/>
                </p:nvSpPr>
                <p:spPr>
                  <a:xfrm>
                    <a:off x="-473208" y="2617726"/>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3" name="文本框 62"/>
                  <p:cNvSpPr txBox="1"/>
                  <p:nvPr>
                    <p:custDataLst>
                      <p:tags r:id="rId3"/>
                    </p:custDataLst>
                  </p:nvPr>
                </p:nvSpPr>
                <p:spPr>
                  <a:xfrm>
                    <a:off x="556361" y="1430584"/>
                    <a:ext cx="1754811" cy="861775"/>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约翰内斯</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开普勒</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十七世纪</a:t>
                    </a:r>
                    <a:r>
                      <a:rPr lang="zh-CN" altLang="en-US" sz="1200" b="1" dirty="0">
                        <a:latin typeface="微软雅黑" panose="020B0503020204020204" pitchFamily="34" charset="-122"/>
                        <a:ea typeface="微软雅黑" panose="020B0503020204020204" pitchFamily="34" charset="-122"/>
                      </a:rPr>
                      <a:t>数学家</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开普勒定律</a:t>
                    </a:r>
                  </a:p>
                </p:txBody>
              </p:sp>
              <p:sp>
                <p:nvSpPr>
                  <p:cNvPr id="64" name="文本框 63"/>
                  <p:cNvSpPr txBox="1"/>
                  <p:nvPr>
                    <p:custDataLst>
                      <p:tags r:id="rId4"/>
                    </p:custDataLst>
                  </p:nvPr>
                </p:nvSpPr>
                <p:spPr>
                  <a:xfrm>
                    <a:off x="-416239" y="2784813"/>
                    <a:ext cx="2646448" cy="369332"/>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提出了酒桶的</a:t>
                    </a:r>
                    <a:r>
                      <a:rPr lang="zh-CN" altLang="en-US" sz="1200" b="1" dirty="0">
                        <a:solidFill>
                          <a:srgbClr val="C00000"/>
                        </a:solidFill>
                        <a:latin typeface="微软雅黑" panose="020B0503020204020204" pitchFamily="34" charset="-122"/>
                        <a:ea typeface="微软雅黑" panose="020B0503020204020204" pitchFamily="34" charset="-122"/>
                      </a:rPr>
                      <a:t>最佳尺寸</a:t>
                    </a:r>
                  </a:p>
                </p:txBody>
              </p:sp>
            </p:grpSp>
            <p:pic>
              <p:nvPicPr>
                <p:cNvPr id="58" name="图片 57"/>
                <p:cNvPicPr>
                  <a:picLocks noChangeAspect="1"/>
                </p:cNvPicPr>
                <p:nvPr/>
              </p:nvPicPr>
              <p:blipFill>
                <a:blip r:embed="rId65" cstate="print">
                  <a:extLst>
                    <a:ext uri="{28A0092B-C50C-407E-A947-70E740481C1C}">
                      <a14:useLocalDpi xmlns:a14="http://schemas.microsoft.com/office/drawing/2010/main" val="0"/>
                    </a:ext>
                  </a:extLst>
                </a:blip>
                <a:stretch>
                  <a:fillRect/>
                </a:stretch>
              </p:blipFill>
              <p:spPr>
                <a:xfrm>
                  <a:off x="4774757" y="1291012"/>
                  <a:ext cx="1024890" cy="1199340"/>
                </a:xfrm>
                <a:prstGeom prst="rect">
                  <a:avLst/>
                </a:prstGeom>
              </p:spPr>
            </p:pic>
          </p:grpSp>
          <p:grpSp>
            <p:nvGrpSpPr>
              <p:cNvPr id="228" name="组合 227"/>
              <p:cNvGrpSpPr/>
              <p:nvPr/>
            </p:nvGrpSpPr>
            <p:grpSpPr>
              <a:xfrm>
                <a:off x="2119676" y="1228664"/>
                <a:ext cx="9554813" cy="2646691"/>
                <a:chOff x="2119676" y="1228664"/>
                <a:chExt cx="9554813" cy="2646691"/>
              </a:xfrm>
            </p:grpSpPr>
            <p:sp>
              <p:nvSpPr>
                <p:cNvPr id="51" name="等腰三角形 50"/>
                <p:cNvSpPr/>
                <p:nvPr/>
              </p:nvSpPr>
              <p:spPr>
                <a:xfrm rot="14947394">
                  <a:off x="5966275" y="-209702"/>
                  <a:ext cx="238458" cy="7931656"/>
                </a:xfrm>
                <a:prstGeom prst="triangle">
                  <a:avLst>
                    <a:gd name="adj" fmla="val 0"/>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227" name="组合 226"/>
                <p:cNvGrpSpPr/>
                <p:nvPr/>
              </p:nvGrpSpPr>
              <p:grpSpPr>
                <a:xfrm>
                  <a:off x="8614780" y="1228664"/>
                  <a:ext cx="3059709" cy="1912305"/>
                  <a:chOff x="8614780" y="1228664"/>
                  <a:chExt cx="3059709" cy="1912305"/>
                </a:xfrm>
              </p:grpSpPr>
              <p:grpSp>
                <p:nvGrpSpPr>
                  <p:cNvPr id="52" name="组合 51"/>
                  <p:cNvGrpSpPr/>
                  <p:nvPr/>
                </p:nvGrpSpPr>
                <p:grpSpPr>
                  <a:xfrm>
                    <a:off x="8614780" y="1228664"/>
                    <a:ext cx="3059709" cy="1912305"/>
                    <a:chOff x="-758034" y="1600373"/>
                    <a:chExt cx="2805650" cy="1942696"/>
                  </a:xfrm>
                </p:grpSpPr>
                <p:sp>
                  <p:nvSpPr>
                    <p:cNvPr id="53" name="矩形 52"/>
                    <p:cNvSpPr/>
                    <p:nvPr/>
                  </p:nvSpPr>
                  <p:spPr>
                    <a:xfrm>
                      <a:off x="-758034" y="1600373"/>
                      <a:ext cx="2799279" cy="13165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4" name="矩形 53"/>
                    <p:cNvSpPr/>
                    <p:nvPr/>
                  </p:nvSpPr>
                  <p:spPr>
                    <a:xfrm>
                      <a:off x="-751663" y="2911207"/>
                      <a:ext cx="2799279" cy="6318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5" name="文本框 54"/>
                    <p:cNvSpPr txBox="1"/>
                    <p:nvPr>
                      <p:custDataLst>
                        <p:tags r:id="rId1"/>
                      </p:custDataLst>
                    </p:nvPr>
                  </p:nvSpPr>
                  <p:spPr>
                    <a:xfrm>
                      <a:off x="236283" y="1726369"/>
                      <a:ext cx="1754810" cy="875470"/>
                    </a:xfrm>
                    <a:prstGeom prst="rect">
                      <a:avLst/>
                    </a:prstGeom>
                    <a:noFill/>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皮埃尔</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德</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费马</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费马引理</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费马数</a:t>
                      </a:r>
                    </a:p>
                  </p:txBody>
                </p:sp>
                <p:sp>
                  <p:nvSpPr>
                    <p:cNvPr id="56" name="文本框 55"/>
                    <p:cNvSpPr txBox="1"/>
                    <p:nvPr>
                      <p:custDataLst>
                        <p:tags r:id="rId2"/>
                      </p:custDataLst>
                    </p:nvPr>
                  </p:nvSpPr>
                  <p:spPr>
                    <a:xfrm>
                      <a:off x="-659180" y="2912055"/>
                      <a:ext cx="2577114" cy="625336"/>
                    </a:xfrm>
                    <a:prstGeom prst="rect">
                      <a:avLst/>
                    </a:prstGeom>
                    <a:no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发现了极值点处，函数</a:t>
                      </a:r>
                      <a:endParaRPr lang="en-US" altLang="zh-CN" sz="1200" b="1" dirty="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导数为零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pic>
                <p:nvPicPr>
                  <p:cNvPr id="50" name="图片 49"/>
                  <p:cNvPicPr>
                    <a:picLocks noChangeAspect="1"/>
                  </p:cNvPicPr>
                  <p:nvPr/>
                </p:nvPicPr>
                <p:blipFill>
                  <a:blip r:embed="rId66" cstate="print">
                    <a:extLst>
                      <a:ext uri="{28A0092B-C50C-407E-A947-70E740481C1C}">
                        <a14:useLocalDpi xmlns:a14="http://schemas.microsoft.com/office/drawing/2010/main" val="0"/>
                      </a:ext>
                    </a:extLst>
                  </a:blip>
                  <a:stretch>
                    <a:fillRect/>
                  </a:stretch>
                </p:blipFill>
                <p:spPr>
                  <a:xfrm>
                    <a:off x="8716521" y="1309927"/>
                    <a:ext cx="1027926" cy="1154096"/>
                  </a:xfrm>
                  <a:prstGeom prst="rect">
                    <a:avLst/>
                  </a:prstGeom>
                </p:spPr>
              </p:pic>
            </p:grpSp>
          </p:grpSp>
        </p:grpSp>
        <p:grpSp>
          <p:nvGrpSpPr>
            <p:cNvPr id="224" name="第一部分时间"/>
            <p:cNvGrpSpPr/>
            <p:nvPr/>
          </p:nvGrpSpPr>
          <p:grpSpPr>
            <a:xfrm>
              <a:off x="32221" y="5142696"/>
              <a:ext cx="3582931" cy="385292"/>
              <a:chOff x="32221" y="5142696"/>
              <a:chExt cx="3582931" cy="385292"/>
            </a:xfrm>
          </p:grpSpPr>
          <p:sp>
            <p:nvSpPr>
              <p:cNvPr id="72" name="文本框 71"/>
              <p:cNvSpPr txBox="1"/>
              <p:nvPr/>
            </p:nvSpPr>
            <p:spPr>
              <a:xfrm>
                <a:off x="32221" y="5142696"/>
                <a:ext cx="1492597" cy="369332"/>
              </a:xfrm>
              <a:prstGeom prst="rect">
                <a:avLst/>
              </a:prstGeom>
              <a:noFill/>
              <a:ln w="38100">
                <a:noFill/>
                <a:prstDash val="sysDash"/>
              </a:ln>
            </p:spPr>
            <p:txBody>
              <a:bodyPr wrap="square" rtlCol="0">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公元前</a:t>
                </a:r>
                <a:r>
                  <a:rPr lang="en-US" altLang="zh-CN" sz="1200" b="1" dirty="0">
                    <a:solidFill>
                      <a:schemeClr val="bg1"/>
                    </a:solidFill>
                    <a:latin typeface="Times New Roman" panose="02020603050405020304" pitchFamily="18" charset="0"/>
                    <a:cs typeface="Times New Roman" panose="02020603050405020304" pitchFamily="18" charset="0"/>
                  </a:rPr>
                  <a:t>300</a:t>
                </a:r>
                <a:endParaRPr lang="zh-CN" altLang="en-US" sz="1800" b="1" dirty="0">
                  <a:solidFill>
                    <a:schemeClr val="bg1"/>
                  </a:solidFill>
                  <a:latin typeface="Times New Roman" panose="02020603050405020304" pitchFamily="18" charset="0"/>
                  <a:cs typeface="Times New Roman" panose="02020603050405020304" pitchFamily="18" charset="0"/>
                </a:endParaRPr>
              </a:p>
            </p:txBody>
          </p:sp>
          <p:sp>
            <p:nvSpPr>
              <p:cNvPr id="222" name="文本框 221"/>
              <p:cNvSpPr txBox="1"/>
              <p:nvPr/>
            </p:nvSpPr>
            <p:spPr>
              <a:xfrm>
                <a:off x="1209993" y="5158656"/>
                <a:ext cx="1492597"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1615</a:t>
                </a:r>
                <a:endParaRPr lang="zh-CN" altLang="en-US" sz="1800" b="1" dirty="0">
                  <a:solidFill>
                    <a:schemeClr val="bg1"/>
                  </a:solidFill>
                  <a:latin typeface="Times New Roman" panose="02020603050405020304" pitchFamily="18" charset="0"/>
                  <a:cs typeface="Times New Roman" panose="02020603050405020304" pitchFamily="18" charset="0"/>
                </a:endParaRPr>
              </a:p>
            </p:txBody>
          </p:sp>
          <p:sp>
            <p:nvSpPr>
              <p:cNvPr id="223" name="文本框 222"/>
              <p:cNvSpPr txBox="1"/>
              <p:nvPr/>
            </p:nvSpPr>
            <p:spPr>
              <a:xfrm>
                <a:off x="2122555" y="5153864"/>
                <a:ext cx="1492597" cy="369332"/>
              </a:xfrm>
              <a:prstGeom prst="rect">
                <a:avLst/>
              </a:prstGeom>
              <a:noFill/>
              <a:ln w="38100">
                <a:noFill/>
                <a:prstDash val="sysDash"/>
              </a:ln>
            </p:spPr>
            <p:txBody>
              <a:bodyPr wrap="square" rtlCol="0">
                <a:spAutoFit/>
              </a:bodyPr>
              <a:lstStyle/>
              <a:p>
                <a:r>
                  <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1636</a:t>
                </a:r>
                <a:endParaRPr lang="zh-CN" altLang="en-US" sz="1800" b="1" dirty="0">
                  <a:solidFill>
                    <a:schemeClr val="bg1"/>
                  </a:solidFill>
                  <a:latin typeface="Times New Roman" panose="02020603050405020304" pitchFamily="18" charset="0"/>
                  <a:cs typeface="Times New Roman" panose="02020603050405020304" pitchFamily="18" charset="0"/>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3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3"/>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2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60"/>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158" grpId="0"/>
      <p:bldP spid="15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539552" y="1988840"/>
            <a:ext cx="7776864" cy="3513078"/>
          </a:xfrm>
          <a:prstGeom prst="rect">
            <a:avLst/>
          </a:prstGeom>
          <a:noFill/>
          <a:ln w="9525">
            <a:noFill/>
            <a:miter lim="800000"/>
          </a:ln>
          <a:effectLst/>
        </p:spPr>
        <p:txBody>
          <a:bodyPr wrap="square">
            <a:spAutoFit/>
          </a:bodyPr>
          <a:lstStyle/>
          <a:p>
            <a:pPr marL="914400" marR="0" lvl="2" indent="0" algn="just" defTabSz="914400" rtl="0" eaLnBrk="1" fontAlgn="base" latinLnBrk="0" hangingPunct="1">
              <a:lnSpc>
                <a:spcPct val="100000"/>
              </a:lnSpc>
              <a:spcBef>
                <a:spcPct val="0"/>
              </a:spcBef>
              <a:spcAft>
                <a:spcPct val="0"/>
              </a:spcAft>
              <a:buClr>
                <a:srgbClr val="FF0000"/>
              </a:buClr>
              <a:buSzTx/>
              <a:buFontTx/>
              <a:buNone/>
              <a:defRPr/>
            </a:pPr>
            <a:r>
              <a:rPr kumimoji="1" lang="zh-CN" altLang="en-US" sz="40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	         上	    中  	下	</a:t>
            </a:r>
          </a:p>
          <a:p>
            <a:pPr marR="0" defTabSz="914400" eaLnBrk="1" hangingPunct="1">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上</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中</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下	</a:t>
            </a:r>
          </a:p>
        </p:txBody>
      </p:sp>
      <p:sp>
        <p:nvSpPr>
          <p:cNvPr id="9219" name="Line 3"/>
          <p:cNvSpPr/>
          <p:nvPr/>
        </p:nvSpPr>
        <p:spPr>
          <a:xfrm>
            <a:off x="1835150" y="1700213"/>
            <a:ext cx="5562600" cy="0"/>
          </a:xfrm>
          <a:prstGeom prst="line">
            <a:avLst/>
          </a:prstGeom>
          <a:ln w="28575" cap="flat" cmpd="sng">
            <a:solidFill>
              <a:srgbClr val="FF0000"/>
            </a:solidFill>
            <a:prstDash val="solid"/>
            <a:headEnd type="none" w="med" len="med"/>
            <a:tailEnd type="none" w="med" len="med"/>
          </a:ln>
        </p:spPr>
      </p:sp>
      <p:sp>
        <p:nvSpPr>
          <p:cNvPr id="9220" name="Line 4"/>
          <p:cNvSpPr/>
          <p:nvPr/>
        </p:nvSpPr>
        <p:spPr>
          <a:xfrm>
            <a:off x="1835150" y="2781300"/>
            <a:ext cx="5562600" cy="0"/>
          </a:xfrm>
          <a:prstGeom prst="line">
            <a:avLst/>
          </a:prstGeom>
          <a:ln w="28575" cap="flat" cmpd="sng">
            <a:solidFill>
              <a:srgbClr val="FF0000"/>
            </a:solidFill>
            <a:prstDash val="solid"/>
            <a:headEnd type="none" w="med" len="med"/>
            <a:tailEnd type="none" w="med" len="med"/>
          </a:ln>
        </p:spPr>
      </p:sp>
      <p:sp>
        <p:nvSpPr>
          <p:cNvPr id="9221" name="Line 5"/>
          <p:cNvSpPr/>
          <p:nvPr/>
        </p:nvSpPr>
        <p:spPr>
          <a:xfrm>
            <a:off x="1908175" y="4797425"/>
            <a:ext cx="5562600" cy="0"/>
          </a:xfrm>
          <a:prstGeom prst="line">
            <a:avLst/>
          </a:prstGeom>
          <a:ln w="28575" cap="flat" cmpd="sng">
            <a:solidFill>
              <a:srgbClr val="FF0000"/>
            </a:solidFill>
            <a:prstDash val="solid"/>
            <a:headEnd type="none" w="med" len="med"/>
            <a:tailEnd type="none" w="med" len="med"/>
          </a:ln>
        </p:spPr>
      </p:sp>
      <p:sp>
        <p:nvSpPr>
          <p:cNvPr id="9222" name="Line 6"/>
          <p:cNvSpPr/>
          <p:nvPr/>
        </p:nvSpPr>
        <p:spPr>
          <a:xfrm>
            <a:off x="3276600" y="1628775"/>
            <a:ext cx="0" cy="4176713"/>
          </a:xfrm>
          <a:prstGeom prst="line">
            <a:avLst/>
          </a:prstGeom>
          <a:ln w="38100" cap="flat" cmpd="sng">
            <a:solidFill>
              <a:srgbClr val="FF0000"/>
            </a:solidFill>
            <a:prstDash val="solid"/>
            <a:headEnd type="none" w="med" len="med"/>
            <a:tailEnd type="none" w="med" len="med"/>
          </a:ln>
        </p:spPr>
      </p:sp>
      <p:sp>
        <p:nvSpPr>
          <p:cNvPr id="9223" name="Line 4"/>
          <p:cNvSpPr/>
          <p:nvPr/>
        </p:nvSpPr>
        <p:spPr>
          <a:xfrm>
            <a:off x="1908175" y="3789363"/>
            <a:ext cx="5562600" cy="0"/>
          </a:xfrm>
          <a:prstGeom prst="line">
            <a:avLst/>
          </a:prstGeom>
          <a:ln w="28575" cap="flat" cmpd="sng">
            <a:solidFill>
              <a:srgbClr val="FF0000"/>
            </a:solidFill>
            <a:prstDash val="solid"/>
            <a:headEnd type="none" w="med" len="med"/>
            <a:tailEnd type="none" w="med" len="med"/>
          </a:ln>
        </p:spPr>
      </p:sp>
      <p:sp>
        <p:nvSpPr>
          <p:cNvPr id="9224" name="Line 4"/>
          <p:cNvSpPr/>
          <p:nvPr/>
        </p:nvSpPr>
        <p:spPr>
          <a:xfrm>
            <a:off x="1835150" y="5805488"/>
            <a:ext cx="5562600" cy="0"/>
          </a:xfrm>
          <a:prstGeom prst="line">
            <a:avLst/>
          </a:prstGeom>
          <a:ln w="28575" cap="flat" cmpd="sng">
            <a:solidFill>
              <a:srgbClr val="FF0000"/>
            </a:solidFill>
            <a:prstDash val="solid"/>
            <a:headEnd type="none" w="med" len="med"/>
            <a:tailEnd type="none" w="med" len="med"/>
          </a:ln>
        </p:spPr>
      </p:sp>
      <p:sp>
        <p:nvSpPr>
          <p:cNvPr id="9225" name="Line 6"/>
          <p:cNvSpPr/>
          <p:nvPr/>
        </p:nvSpPr>
        <p:spPr>
          <a:xfrm>
            <a:off x="4500563" y="1628775"/>
            <a:ext cx="0" cy="4176713"/>
          </a:xfrm>
          <a:prstGeom prst="line">
            <a:avLst/>
          </a:prstGeom>
          <a:ln w="38100" cap="flat" cmpd="sng">
            <a:solidFill>
              <a:srgbClr val="FF0000"/>
            </a:solidFill>
            <a:prstDash val="solid"/>
            <a:headEnd type="none" w="med" len="med"/>
            <a:tailEnd type="none" w="med" len="med"/>
          </a:ln>
        </p:spPr>
      </p:sp>
      <p:sp>
        <p:nvSpPr>
          <p:cNvPr id="9226" name="Line 6"/>
          <p:cNvSpPr/>
          <p:nvPr/>
        </p:nvSpPr>
        <p:spPr>
          <a:xfrm>
            <a:off x="5940425" y="1700213"/>
            <a:ext cx="0" cy="4176712"/>
          </a:xfrm>
          <a:prstGeom prst="line">
            <a:avLst/>
          </a:prstGeom>
          <a:ln w="38100" cap="flat" cmpd="sng">
            <a:solidFill>
              <a:srgbClr val="FF0000"/>
            </a:solidFill>
            <a:prstDash val="solid"/>
            <a:headEnd type="none" w="med" len="med"/>
            <a:tailEnd type="none" w="med" len="med"/>
          </a:ln>
        </p:spPr>
      </p:sp>
      <p:sp>
        <p:nvSpPr>
          <p:cNvPr id="9227" name="Line 6"/>
          <p:cNvSpPr/>
          <p:nvPr/>
        </p:nvSpPr>
        <p:spPr>
          <a:xfrm>
            <a:off x="7380288" y="1700213"/>
            <a:ext cx="0" cy="4176712"/>
          </a:xfrm>
          <a:prstGeom prst="line">
            <a:avLst/>
          </a:prstGeom>
          <a:ln w="38100" cap="flat" cmpd="sng">
            <a:solidFill>
              <a:srgbClr val="FF0000"/>
            </a:solidFill>
            <a:prstDash val="solid"/>
            <a:headEnd type="none" w="med" len="med"/>
            <a:tailEnd type="none" w="med" len="med"/>
          </a:ln>
        </p:spPr>
      </p:sp>
      <p:sp>
        <p:nvSpPr>
          <p:cNvPr id="9228" name="Line 6"/>
          <p:cNvSpPr/>
          <p:nvPr/>
        </p:nvSpPr>
        <p:spPr>
          <a:xfrm>
            <a:off x="1835150" y="1628775"/>
            <a:ext cx="0" cy="4176713"/>
          </a:xfrm>
          <a:prstGeom prst="line">
            <a:avLst/>
          </a:prstGeom>
          <a:ln w="38100" cap="flat" cmpd="sng">
            <a:solidFill>
              <a:srgbClr val="FF0000"/>
            </a:solidFill>
            <a:prstDash val="solid"/>
            <a:headEnd type="none" w="med" len="med"/>
            <a:tailEnd type="none" w="med" len="med"/>
          </a:ln>
        </p:spPr>
      </p:sp>
      <p:sp>
        <p:nvSpPr>
          <p:cNvPr id="15" name="矩形 14"/>
          <p:cNvSpPr/>
          <p:nvPr/>
        </p:nvSpPr>
        <p:spPr>
          <a:xfrm>
            <a:off x="2411413" y="17732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齐王</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6" name="矩形 15"/>
          <p:cNvSpPr/>
          <p:nvPr/>
        </p:nvSpPr>
        <p:spPr>
          <a:xfrm>
            <a:off x="1908175" y="22050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田忌</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cxnSp>
        <p:nvCxnSpPr>
          <p:cNvPr id="9231" name="直接连接符 17"/>
          <p:cNvCxnSpPr>
            <a:stCxn id="9228" idx="0"/>
          </p:cNvCxnSpPr>
          <p:nvPr/>
        </p:nvCxnSpPr>
        <p:spPr>
          <a:xfrm>
            <a:off x="1835150" y="1628775"/>
            <a:ext cx="1440706" cy="1152153"/>
          </a:xfrm>
          <a:prstGeom prst="line">
            <a:avLst/>
          </a:prstGeom>
          <a:ln w="9525" cap="flat" cmpd="sng">
            <a:solidFill>
              <a:schemeClr val="tx1"/>
            </a:solidFill>
            <a:prstDash val="solid"/>
            <a:miter/>
            <a:headEnd type="none" w="med" len="med"/>
            <a:tailEnd type="none" w="med" len="med"/>
          </a:ln>
        </p:spPr>
      </p:cxnSp>
      <p:sp>
        <p:nvSpPr>
          <p:cNvPr id="19" name="五角星 18"/>
          <p:cNvSpPr/>
          <p:nvPr/>
        </p:nvSpPr>
        <p:spPr bwMode="auto">
          <a:xfrm>
            <a:off x="3708400" y="31416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0" name="五角星 19"/>
          <p:cNvSpPr/>
          <p:nvPr/>
        </p:nvSpPr>
        <p:spPr bwMode="auto">
          <a:xfrm>
            <a:off x="4859338" y="4149725"/>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1" name="五角星 20"/>
          <p:cNvSpPr/>
          <p:nvPr/>
        </p:nvSpPr>
        <p:spPr bwMode="auto">
          <a:xfrm>
            <a:off x="6300788" y="5157788"/>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2" name="五角星 21"/>
          <p:cNvSpPr/>
          <p:nvPr/>
        </p:nvSpPr>
        <p:spPr bwMode="auto">
          <a:xfrm>
            <a:off x="4859338" y="31416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3" name="五角星 22"/>
          <p:cNvSpPr/>
          <p:nvPr/>
        </p:nvSpPr>
        <p:spPr bwMode="auto">
          <a:xfrm>
            <a:off x="6300788" y="4076700"/>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4" name="五角星 23"/>
          <p:cNvSpPr/>
          <p:nvPr/>
        </p:nvSpPr>
        <p:spPr bwMode="auto">
          <a:xfrm>
            <a:off x="3492500" y="5013325"/>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9238" name="Text Box 2"/>
          <p:cNvSpPr txBox="1"/>
          <p:nvPr/>
        </p:nvSpPr>
        <p:spPr>
          <a:xfrm>
            <a:off x="143000" y="0"/>
            <a:ext cx="9001000" cy="1446212"/>
          </a:xfrm>
          <a:prstGeom prst="rect">
            <a:avLst/>
          </a:prstGeom>
          <a:noFill/>
          <a:ln w="9525">
            <a:noFill/>
          </a:ln>
        </p:spPr>
        <p:txBody>
          <a:bodyPr wrap="square">
            <a:spAutoFit/>
          </a:bodyPr>
          <a:lstStyle/>
          <a:p>
            <a:pPr lvl="2" algn="just" eaLnBrk="1" hangingPunct="1">
              <a:buClr>
                <a:srgbClr val="FF0000"/>
              </a:buClr>
              <a:buFont typeface="Wingdings" panose="05000000000000000000" pitchFamily="2" charset="2"/>
              <a:buChar char="v"/>
            </a:pPr>
            <a:r>
              <a:rPr lang="zh-CN" altLang="en-US" sz="4000" b="1" dirty="0">
                <a:solidFill>
                  <a:srgbClr val="FF0000"/>
                </a:solidFill>
                <a:latin typeface="微软雅黑" panose="020B0503020204020204" pitchFamily="34" charset="-122"/>
                <a:ea typeface="微软雅黑" panose="020B0503020204020204" pitchFamily="34" charset="-122"/>
              </a:rPr>
              <a:t>田忌赛马        </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史记</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孙子吴起列传第五</a:t>
            </a:r>
            <a:r>
              <a:rPr lang="en-US" altLang="zh-CN" sz="1800" b="1" dirty="0">
                <a:latin typeface="微软雅黑" panose="020B0503020204020204" pitchFamily="34" charset="-122"/>
                <a:ea typeface="微软雅黑" panose="020B0503020204020204" pitchFamily="34" charset="-122"/>
              </a:rPr>
              <a:t>》</a:t>
            </a:r>
            <a:endParaRPr lang="zh-CN" altLang="en-US" sz="1800" b="1" dirty="0">
              <a:solidFill>
                <a:srgbClr val="FF0000"/>
              </a:solidFill>
              <a:latin typeface="微软雅黑" panose="020B0503020204020204" pitchFamily="34" charset="-122"/>
              <a:ea typeface="微软雅黑" panose="020B0503020204020204" pitchFamily="34" charset="-122"/>
            </a:endParaRPr>
          </a:p>
          <a:p>
            <a:pPr algn="just" eaLnBrk="1" hangingPunct="1"/>
            <a:r>
              <a:rPr lang="zh-CN" altLang="en-US" b="1" dirty="0">
                <a:solidFill>
                  <a:srgbClr val="121224"/>
                </a:solidFill>
                <a:latin typeface="微软雅黑" panose="020B0503020204020204" pitchFamily="34" charset="-122"/>
                <a:ea typeface="微软雅黑" panose="020B0503020204020204" pitchFamily="34" charset="-122"/>
              </a:rPr>
              <a:t>齐王要与大臣田忌赛马，双方各出上、中、下马各一匹，对局三次，每次胜负</a:t>
            </a:r>
            <a:r>
              <a:rPr lang="en-US" altLang="zh-CN" b="1" dirty="0">
                <a:solidFill>
                  <a:srgbClr val="121224"/>
                </a:solidFill>
                <a:latin typeface="微软雅黑" panose="020B0503020204020204" pitchFamily="34" charset="-122"/>
                <a:ea typeface="微软雅黑" panose="020B0503020204020204" pitchFamily="34" charset="-122"/>
              </a:rPr>
              <a:t>1000</a:t>
            </a:r>
            <a:r>
              <a:rPr lang="zh-CN" altLang="en-US" b="1" dirty="0">
                <a:solidFill>
                  <a:srgbClr val="121224"/>
                </a:solidFill>
                <a:latin typeface="微软雅黑" panose="020B0503020204020204" pitchFamily="34" charset="-122"/>
                <a:ea typeface="微软雅黑" panose="020B0503020204020204" pitchFamily="34" charset="-122"/>
              </a:rPr>
              <a:t>金</a:t>
            </a:r>
            <a:endParaRPr lang="en-US" altLang="zh-CN" b="1" dirty="0">
              <a:solidFill>
                <a:srgbClr val="121224"/>
              </a:solidFill>
              <a:latin typeface="微软雅黑" panose="020B0503020204020204" pitchFamily="34" charset="-122"/>
              <a:ea typeface="微软雅黑" panose="020B0503020204020204" pitchFamily="34" charset="-122"/>
            </a:endParaRPr>
          </a:p>
        </p:txBody>
      </p:sp>
      <p:sp>
        <p:nvSpPr>
          <p:cNvPr id="26" name="矩形 25"/>
          <p:cNvSpPr/>
          <p:nvPr/>
        </p:nvSpPr>
        <p:spPr>
          <a:xfrm>
            <a:off x="0" y="5949950"/>
            <a:ext cx="8675688" cy="460375"/>
          </a:xfrm>
          <a:prstGeom prst="rect">
            <a:avLst/>
          </a:prstGeom>
          <a:noFill/>
          <a:ln w="9525">
            <a:noFill/>
          </a:ln>
        </p:spPr>
        <p:txBody>
          <a:bodyPr>
            <a:spAutoFit/>
          </a:bodyPr>
          <a:lstStyle/>
          <a:p>
            <a:pPr eaLnBrk="1" hangingPunct="1"/>
            <a:r>
              <a:rPr lang="zh-CN" altLang="en-US" b="1" dirty="0">
                <a:solidFill>
                  <a:srgbClr val="121224"/>
                </a:solidFill>
                <a:latin typeface="微软雅黑" panose="020B0503020204020204" pitchFamily="34" charset="-122"/>
                <a:ea typeface="微软雅黑" panose="020B0503020204020204" pitchFamily="34" charset="-122"/>
              </a:rPr>
              <a:t>田忌在好友、著名的军事谋略家孙膑的指导下</a:t>
            </a:r>
            <a:endParaRPr lang="zh-CN" altLang="en-US" dirty="0">
              <a:latin typeface="Tahoma" panose="020B0604030504040204" pitchFamily="34" charset="0"/>
              <a:ea typeface="微软雅黑" panose="020B0503020204020204" pitchFamily="34" charset="-122"/>
            </a:endParaRPr>
          </a:p>
        </p:txBody>
      </p:sp>
      <p:sp>
        <p:nvSpPr>
          <p:cNvPr id="27" name="矩形 26"/>
          <p:cNvSpPr/>
          <p:nvPr/>
        </p:nvSpPr>
        <p:spPr>
          <a:xfrm>
            <a:off x="34925" y="6396038"/>
            <a:ext cx="401955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最终净胜一局，赢得</a:t>
            </a:r>
            <a:r>
              <a:rPr kumimoji="1" lang="en-US" altLang="zh-CN"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1000</a:t>
            </a: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金</a:t>
            </a:r>
            <a:endPar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nodeType="clickEffect">
                                  <p:stCondLst>
                                    <p:cond delay="0"/>
                                  </p:stCondLst>
                                  <p:childTnLst>
                                    <p:animEffect transition="out" filter="blinds(horizontal)">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par>
                                <p:cTn id="19" presetID="3" presetClass="exit" presetSubtype="10" fill="hold" nodeType="withEffect">
                                  <p:stCondLst>
                                    <p:cond delay="0"/>
                                  </p:stCondLst>
                                  <p:childTnLst>
                                    <p:animEffect transition="out" filter="blinds(horizontal)">
                                      <p:cBhvr>
                                        <p:cTn id="20" dur="500"/>
                                        <p:tgtEl>
                                          <p:spTgt spid="20"/>
                                        </p:tgtEl>
                                      </p:cBhvr>
                                    </p:animEffect>
                                    <p:set>
                                      <p:cBhvr>
                                        <p:cTn id="21" dur="1" fill="hold">
                                          <p:stCondLst>
                                            <p:cond delay="499"/>
                                          </p:stCondLst>
                                        </p:cTn>
                                        <p:tgtEl>
                                          <p:spTgt spid="20"/>
                                        </p:tgtEl>
                                        <p:attrNameLst>
                                          <p:attrName>style.visibility</p:attrName>
                                        </p:attrNameLst>
                                      </p:cBhvr>
                                      <p:to>
                                        <p:strVal val="hidden"/>
                                      </p:to>
                                    </p:set>
                                  </p:childTnLst>
                                </p:cTn>
                              </p:par>
                              <p:par>
                                <p:cTn id="22" presetID="3" presetClass="exit" presetSubtype="10" fill="hold" nodeType="withEffect">
                                  <p:stCondLst>
                                    <p:cond delay="0"/>
                                  </p:stCondLst>
                                  <p:childTnLst>
                                    <p:animEffect transition="out" filter="blinds(horizontal)">
                                      <p:cBhvr>
                                        <p:cTn id="23" dur="500"/>
                                        <p:tgtEl>
                                          <p:spTgt spid="19"/>
                                        </p:tgtEl>
                                      </p:cBhvr>
                                    </p:animEffect>
                                    <p:set>
                                      <p:cBhvr>
                                        <p:cTn id="24" dur="1" fill="hold">
                                          <p:stCondLst>
                                            <p:cond delay="499"/>
                                          </p:stCondLst>
                                        </p:cTn>
                                        <p:tgtEl>
                                          <p:spTgt spid="1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blinds(horizontal)">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linds(horizontal)">
                                      <p:cBhvr>
                                        <p:cTn id="34" dur="500"/>
                                        <p:tgtEl>
                                          <p:spTgt spid="24"/>
                                        </p:tgtEl>
                                      </p:cBhvr>
                                    </p:animEffect>
                                  </p:childTnLst>
                                </p:cTn>
                              </p:par>
                              <p:par>
                                <p:cTn id="35" presetID="3" presetClass="entr" presetSubtype="1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par>
                                <p:cTn id="38" presetID="3" presetClass="entr" presetSubtype="1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linds(horizont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linds(horizontal)">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1188" y="2832100"/>
            <a:ext cx="8763000" cy="3476625"/>
          </a:xfrm>
          <a:prstGeom prst="rect">
            <a:avLst/>
          </a:prstGeom>
          <a:noFill/>
          <a:ln w="9525">
            <a:noFill/>
            <a:miter lim="800000"/>
          </a:ln>
          <a:effectLst/>
        </p:spPr>
        <p:txBody>
          <a:bodyPr>
            <a:spAutoFit/>
          </a:bodyPr>
          <a:lstStyle/>
          <a:p>
            <a:pPr marL="914400" marR="0" lvl="2" indent="0" algn="just" defTabSz="914400" rtl="0" eaLnBrk="1" fontAlgn="base" latinLnBrk="0" hangingPunct="1">
              <a:lnSpc>
                <a:spcPct val="100000"/>
              </a:lnSpc>
              <a:spcBef>
                <a:spcPct val="0"/>
              </a:spcBef>
              <a:spcAft>
                <a:spcPct val="0"/>
              </a:spcAft>
              <a:buClr>
                <a:srgbClr val="FF0000"/>
              </a:buClr>
              <a:buSzTx/>
              <a:buFontTx/>
              <a:buNone/>
              <a:defRPr/>
            </a:pPr>
            <a:r>
              <a:rPr kumimoji="1" lang="zh-CN" altLang="en-US" sz="40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	         上	    中  	下	</a:t>
            </a:r>
          </a:p>
          <a:p>
            <a:pPr marR="0" defTabSz="914400" eaLnBrk="1" hangingPunct="1">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上</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中</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下	</a:t>
            </a:r>
          </a:p>
        </p:txBody>
      </p:sp>
      <p:sp>
        <p:nvSpPr>
          <p:cNvPr id="10243" name="Line 3"/>
          <p:cNvSpPr/>
          <p:nvPr/>
        </p:nvSpPr>
        <p:spPr>
          <a:xfrm>
            <a:off x="1835150" y="2565400"/>
            <a:ext cx="5562600" cy="0"/>
          </a:xfrm>
          <a:prstGeom prst="line">
            <a:avLst/>
          </a:prstGeom>
          <a:ln w="28575" cap="flat" cmpd="sng">
            <a:solidFill>
              <a:srgbClr val="FF0000"/>
            </a:solidFill>
            <a:prstDash val="solid"/>
            <a:headEnd type="none" w="med" len="med"/>
            <a:tailEnd type="none" w="med" len="med"/>
          </a:ln>
        </p:spPr>
      </p:sp>
      <p:sp>
        <p:nvSpPr>
          <p:cNvPr id="10244" name="Line 4"/>
          <p:cNvSpPr/>
          <p:nvPr/>
        </p:nvSpPr>
        <p:spPr>
          <a:xfrm>
            <a:off x="1835150" y="3644900"/>
            <a:ext cx="5562600" cy="0"/>
          </a:xfrm>
          <a:prstGeom prst="line">
            <a:avLst/>
          </a:prstGeom>
          <a:ln w="28575" cap="flat" cmpd="sng">
            <a:solidFill>
              <a:srgbClr val="FF0000"/>
            </a:solidFill>
            <a:prstDash val="solid"/>
            <a:headEnd type="none" w="med" len="med"/>
            <a:tailEnd type="none" w="med" len="med"/>
          </a:ln>
        </p:spPr>
      </p:sp>
      <p:sp>
        <p:nvSpPr>
          <p:cNvPr id="10245" name="Line 5"/>
          <p:cNvSpPr/>
          <p:nvPr/>
        </p:nvSpPr>
        <p:spPr>
          <a:xfrm>
            <a:off x="1908175" y="5661025"/>
            <a:ext cx="5562600" cy="0"/>
          </a:xfrm>
          <a:prstGeom prst="line">
            <a:avLst/>
          </a:prstGeom>
          <a:ln w="28575" cap="flat" cmpd="sng">
            <a:solidFill>
              <a:srgbClr val="FF0000"/>
            </a:solidFill>
            <a:prstDash val="solid"/>
            <a:headEnd type="none" w="med" len="med"/>
            <a:tailEnd type="none" w="med" len="med"/>
          </a:ln>
        </p:spPr>
      </p:sp>
      <p:sp>
        <p:nvSpPr>
          <p:cNvPr id="10246" name="Line 6"/>
          <p:cNvSpPr/>
          <p:nvPr/>
        </p:nvSpPr>
        <p:spPr>
          <a:xfrm>
            <a:off x="3276600" y="2492375"/>
            <a:ext cx="0" cy="4176713"/>
          </a:xfrm>
          <a:prstGeom prst="line">
            <a:avLst/>
          </a:prstGeom>
          <a:ln w="38100" cap="flat" cmpd="sng">
            <a:solidFill>
              <a:srgbClr val="FF0000"/>
            </a:solidFill>
            <a:prstDash val="solid"/>
            <a:headEnd type="none" w="med" len="med"/>
            <a:tailEnd type="none" w="med" len="med"/>
          </a:ln>
        </p:spPr>
      </p:sp>
      <p:sp>
        <p:nvSpPr>
          <p:cNvPr id="10247" name="Line 4"/>
          <p:cNvSpPr/>
          <p:nvPr/>
        </p:nvSpPr>
        <p:spPr>
          <a:xfrm>
            <a:off x="1908175" y="4652963"/>
            <a:ext cx="5562600" cy="0"/>
          </a:xfrm>
          <a:prstGeom prst="line">
            <a:avLst/>
          </a:prstGeom>
          <a:ln w="28575" cap="flat" cmpd="sng">
            <a:solidFill>
              <a:srgbClr val="FF0000"/>
            </a:solidFill>
            <a:prstDash val="solid"/>
            <a:headEnd type="none" w="med" len="med"/>
            <a:tailEnd type="none" w="med" len="med"/>
          </a:ln>
        </p:spPr>
      </p:sp>
      <p:sp>
        <p:nvSpPr>
          <p:cNvPr id="10248" name="Line 4"/>
          <p:cNvSpPr/>
          <p:nvPr/>
        </p:nvSpPr>
        <p:spPr>
          <a:xfrm>
            <a:off x="1835150" y="6669088"/>
            <a:ext cx="5562600" cy="0"/>
          </a:xfrm>
          <a:prstGeom prst="line">
            <a:avLst/>
          </a:prstGeom>
          <a:ln w="28575" cap="flat" cmpd="sng">
            <a:solidFill>
              <a:srgbClr val="FF0000"/>
            </a:solidFill>
            <a:prstDash val="solid"/>
            <a:headEnd type="none" w="med" len="med"/>
            <a:tailEnd type="none" w="med" len="med"/>
          </a:ln>
        </p:spPr>
      </p:sp>
      <p:sp>
        <p:nvSpPr>
          <p:cNvPr id="10249" name="Line 6"/>
          <p:cNvSpPr/>
          <p:nvPr/>
        </p:nvSpPr>
        <p:spPr>
          <a:xfrm>
            <a:off x="4500563" y="2492375"/>
            <a:ext cx="0" cy="4176713"/>
          </a:xfrm>
          <a:prstGeom prst="line">
            <a:avLst/>
          </a:prstGeom>
          <a:ln w="38100" cap="flat" cmpd="sng">
            <a:solidFill>
              <a:srgbClr val="FF0000"/>
            </a:solidFill>
            <a:prstDash val="solid"/>
            <a:headEnd type="none" w="med" len="med"/>
            <a:tailEnd type="none" w="med" len="med"/>
          </a:ln>
        </p:spPr>
      </p:sp>
      <p:sp>
        <p:nvSpPr>
          <p:cNvPr id="10250" name="Line 6"/>
          <p:cNvSpPr/>
          <p:nvPr/>
        </p:nvSpPr>
        <p:spPr>
          <a:xfrm>
            <a:off x="5940425" y="2565400"/>
            <a:ext cx="0" cy="4176713"/>
          </a:xfrm>
          <a:prstGeom prst="line">
            <a:avLst/>
          </a:prstGeom>
          <a:ln w="38100" cap="flat" cmpd="sng">
            <a:solidFill>
              <a:srgbClr val="FF0000"/>
            </a:solidFill>
            <a:prstDash val="solid"/>
            <a:headEnd type="none" w="med" len="med"/>
            <a:tailEnd type="none" w="med" len="med"/>
          </a:ln>
        </p:spPr>
      </p:sp>
      <p:sp>
        <p:nvSpPr>
          <p:cNvPr id="10251" name="Line 6"/>
          <p:cNvSpPr/>
          <p:nvPr/>
        </p:nvSpPr>
        <p:spPr>
          <a:xfrm>
            <a:off x="7380288" y="2565400"/>
            <a:ext cx="0" cy="4176713"/>
          </a:xfrm>
          <a:prstGeom prst="line">
            <a:avLst/>
          </a:prstGeom>
          <a:ln w="38100" cap="flat" cmpd="sng">
            <a:solidFill>
              <a:srgbClr val="FF0000"/>
            </a:solidFill>
            <a:prstDash val="solid"/>
            <a:headEnd type="none" w="med" len="med"/>
            <a:tailEnd type="none" w="med" len="med"/>
          </a:ln>
        </p:spPr>
      </p:sp>
      <p:sp>
        <p:nvSpPr>
          <p:cNvPr id="10252" name="Line 6"/>
          <p:cNvSpPr/>
          <p:nvPr/>
        </p:nvSpPr>
        <p:spPr>
          <a:xfrm>
            <a:off x="1835150" y="2492375"/>
            <a:ext cx="0" cy="4176713"/>
          </a:xfrm>
          <a:prstGeom prst="line">
            <a:avLst/>
          </a:prstGeom>
          <a:ln w="38100" cap="flat" cmpd="sng">
            <a:solidFill>
              <a:srgbClr val="FF0000"/>
            </a:solidFill>
            <a:prstDash val="solid"/>
            <a:headEnd type="none" w="med" len="med"/>
            <a:tailEnd type="none" w="med" len="med"/>
          </a:ln>
        </p:spPr>
      </p:sp>
      <p:sp>
        <p:nvSpPr>
          <p:cNvPr id="15" name="矩形 14"/>
          <p:cNvSpPr/>
          <p:nvPr/>
        </p:nvSpPr>
        <p:spPr>
          <a:xfrm>
            <a:off x="2411413" y="26368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齐王</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6" name="矩形 15"/>
          <p:cNvSpPr/>
          <p:nvPr/>
        </p:nvSpPr>
        <p:spPr>
          <a:xfrm>
            <a:off x="1908175" y="30686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田忌</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cxnSp>
        <p:nvCxnSpPr>
          <p:cNvPr id="10255" name="直接连接符 17"/>
          <p:cNvCxnSpPr>
            <a:stCxn id="10252" idx="0"/>
          </p:cNvCxnSpPr>
          <p:nvPr/>
        </p:nvCxnSpPr>
        <p:spPr>
          <a:xfrm>
            <a:off x="1835150" y="2492375"/>
            <a:ext cx="1512888" cy="1223963"/>
          </a:xfrm>
          <a:prstGeom prst="line">
            <a:avLst/>
          </a:prstGeom>
          <a:ln w="9525" cap="flat" cmpd="sng">
            <a:solidFill>
              <a:schemeClr val="tx1"/>
            </a:solidFill>
            <a:prstDash val="solid"/>
            <a:miter/>
            <a:headEnd type="none" w="med" len="med"/>
            <a:tailEnd type="none" w="med" len="med"/>
          </a:ln>
        </p:spPr>
      </p:cxnSp>
      <p:sp>
        <p:nvSpPr>
          <p:cNvPr id="19" name="五角星 18"/>
          <p:cNvSpPr/>
          <p:nvPr/>
        </p:nvSpPr>
        <p:spPr bwMode="auto">
          <a:xfrm>
            <a:off x="3708400" y="40052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0" name="五角星 19"/>
          <p:cNvSpPr/>
          <p:nvPr/>
        </p:nvSpPr>
        <p:spPr bwMode="auto">
          <a:xfrm>
            <a:off x="4859338" y="5013325"/>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1" name="五角星 20"/>
          <p:cNvSpPr/>
          <p:nvPr/>
        </p:nvSpPr>
        <p:spPr bwMode="auto">
          <a:xfrm>
            <a:off x="6300788" y="6021388"/>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2" name="五角星 21"/>
          <p:cNvSpPr/>
          <p:nvPr/>
        </p:nvSpPr>
        <p:spPr bwMode="auto">
          <a:xfrm>
            <a:off x="4859338" y="4005263"/>
            <a:ext cx="576263" cy="431800"/>
          </a:xfrm>
          <a:prstGeom prst="star5">
            <a:avLst/>
          </a:prstGeom>
          <a:solidFill>
            <a:srgbClr val="0033CC"/>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3" name="五角星 22"/>
          <p:cNvSpPr/>
          <p:nvPr/>
        </p:nvSpPr>
        <p:spPr bwMode="auto">
          <a:xfrm>
            <a:off x="6300788" y="4941888"/>
            <a:ext cx="574675" cy="431800"/>
          </a:xfrm>
          <a:prstGeom prst="star5">
            <a:avLst/>
          </a:prstGeom>
          <a:solidFill>
            <a:srgbClr val="0033CC"/>
          </a:solidFill>
          <a:ln w="9525" cap="flat" cmpd="sng" algn="ctr">
            <a:solidFill>
              <a:srgbClr val="0033CC"/>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4" name="五角星 23"/>
          <p:cNvSpPr/>
          <p:nvPr/>
        </p:nvSpPr>
        <p:spPr bwMode="auto">
          <a:xfrm>
            <a:off x="3492500" y="5876925"/>
            <a:ext cx="574675" cy="431800"/>
          </a:xfrm>
          <a:prstGeom prst="star5">
            <a:avLst/>
          </a:prstGeom>
          <a:solidFill>
            <a:srgbClr val="0033CC"/>
          </a:solidFill>
          <a:ln w="9525" cap="flat" cmpd="sng" algn="ctr">
            <a:solidFill>
              <a:srgbClr val="0033CC"/>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10262" name="矩形 27"/>
          <p:cNvSpPr/>
          <p:nvPr/>
        </p:nvSpPr>
        <p:spPr>
          <a:xfrm>
            <a:off x="0" y="222250"/>
            <a:ext cx="9144000" cy="830263"/>
          </a:xfrm>
          <a:prstGeom prst="rect">
            <a:avLst/>
          </a:prstGeom>
          <a:noFill/>
          <a:ln w="9525">
            <a:noFill/>
          </a:ln>
        </p:spPr>
        <p:txBody>
          <a:bodyPr>
            <a:spAutoFit/>
          </a:bodyPr>
          <a:lstStyle/>
          <a:p>
            <a:pPr eaLnBrk="1" hangingPunct="1"/>
            <a:r>
              <a:rPr lang="zh-CN" altLang="en-US" b="1" dirty="0">
                <a:latin typeface="微软雅黑" panose="020B0503020204020204" pitchFamily="34" charset="-122"/>
                <a:ea typeface="微软雅黑" panose="020B0503020204020204" pitchFamily="34" charset="-122"/>
              </a:rPr>
              <a:t>孙膑运用了一种科学合理的思想方法，就是我国数学家华罗庚先生在</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统筹方法</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中所介绍的</a:t>
            </a:r>
            <a:r>
              <a:rPr lang="zh-CN" altLang="en-US" b="1" dirty="0">
                <a:solidFill>
                  <a:srgbClr val="FF0000"/>
                </a:solidFill>
                <a:latin typeface="微软雅黑" panose="020B0503020204020204" pitchFamily="34" charset="-122"/>
                <a:ea typeface="微软雅黑" panose="020B0503020204020204" pitchFamily="34" charset="-122"/>
              </a:rPr>
              <a:t>对策论</a:t>
            </a:r>
          </a:p>
        </p:txBody>
      </p:sp>
      <p:sp>
        <p:nvSpPr>
          <p:cNvPr id="29" name="矩形 28"/>
          <p:cNvSpPr/>
          <p:nvPr/>
        </p:nvSpPr>
        <p:spPr>
          <a:xfrm>
            <a:off x="0" y="1125538"/>
            <a:ext cx="9144000" cy="831850"/>
          </a:xfrm>
          <a:prstGeom prst="rect">
            <a:avLst/>
          </a:prstGeom>
          <a:noFill/>
          <a:ln w="9525">
            <a:noFill/>
          </a:ln>
        </p:spPr>
        <p:txBody>
          <a:bodyPr>
            <a:spAutoFit/>
          </a:bodyPr>
          <a:lstStyle/>
          <a:p>
            <a:pPr eaLnBrk="1" hangingPunct="1"/>
            <a:r>
              <a:rPr lang="zh-CN" altLang="en-US" b="1" dirty="0">
                <a:solidFill>
                  <a:srgbClr val="0033CC"/>
                </a:solidFill>
                <a:latin typeface="微软雅黑" panose="020B0503020204020204" pitchFamily="34" charset="-122"/>
                <a:ea typeface="微软雅黑" panose="020B0503020204020204" pitchFamily="34" charset="-122"/>
              </a:rPr>
              <a:t>田忌赛马的故事说明，在已有条件下，经过统筹安排，选择一个最好的方案，就会取得最好的效果</a:t>
            </a:r>
          </a:p>
        </p:txBody>
      </p:sp>
      <p:sp>
        <p:nvSpPr>
          <p:cNvPr id="2" name="矩形 1"/>
          <p:cNvSpPr/>
          <p:nvPr/>
        </p:nvSpPr>
        <p:spPr>
          <a:xfrm>
            <a:off x="5940425" y="1725613"/>
            <a:ext cx="3024188" cy="830262"/>
          </a:xfrm>
          <a:prstGeom prst="rect">
            <a:avLst/>
          </a:prstGeom>
          <a:noFill/>
          <a:ln w="9525">
            <a:noFill/>
          </a:ln>
        </p:spPr>
        <p:txBody>
          <a:bodyPr>
            <a:spAutoFit/>
          </a:bodyPr>
          <a:lstStyle/>
          <a:p>
            <a:r>
              <a:rPr lang="zh-CN" altLang="en-US" dirty="0">
                <a:solidFill>
                  <a:srgbClr val="FF0000"/>
                </a:solidFill>
                <a:latin typeface="微软雅黑" panose="020B0503020204020204" pitchFamily="34" charset="-122"/>
                <a:ea typeface="微软雅黑" panose="020B0503020204020204" pitchFamily="34" charset="-122"/>
              </a:rPr>
              <a:t>知已知彼 百战不殆？</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需要学好运筹学</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linds(horizontal)">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1"/>
          <p:cNvPicPr>
            <a:picLocks noChangeAspect="1"/>
          </p:cNvPicPr>
          <p:nvPr/>
        </p:nvPicPr>
        <p:blipFill>
          <a:blip r:embed="rId2"/>
          <a:stretch>
            <a:fillRect/>
          </a:stretch>
        </p:blipFill>
        <p:spPr>
          <a:xfrm>
            <a:off x="-26987" y="4210050"/>
            <a:ext cx="4281487" cy="2413000"/>
          </a:xfrm>
          <a:prstGeom prst="rect">
            <a:avLst/>
          </a:prstGeom>
          <a:noFill/>
          <a:ln w="9525">
            <a:noFill/>
          </a:ln>
        </p:spPr>
      </p:pic>
      <p:sp>
        <p:nvSpPr>
          <p:cNvPr id="11267" name="TextBox 1"/>
          <p:cNvSpPr/>
          <p:nvPr/>
        </p:nvSpPr>
        <p:spPr>
          <a:xfrm>
            <a:off x="1619250" y="549275"/>
            <a:ext cx="6480175" cy="368300"/>
          </a:xfrm>
          <a:prstGeom prst="rect">
            <a:avLst/>
          </a:prstGeom>
          <a:noFill/>
          <a:ln w="9525">
            <a:noFill/>
          </a:ln>
        </p:spPr>
        <p:txBody>
          <a:bodyPr>
            <a:spAutoFit/>
          </a:bodyPr>
          <a:lstStyle/>
          <a:p>
            <a:pPr algn="ctr" eaLnBrk="1" hangingPunct="1">
              <a:buFont typeface="Arial" panose="020B0604020202020204" pitchFamily="34" charset="0"/>
            </a:pPr>
            <a:r>
              <a:rPr lang="en-US" altLang="zh-CN"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AlphaGo</a:t>
            </a:r>
            <a:r>
              <a:rPr lang="zh-CN" altLang="en-US"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赢了人机大战（</a:t>
            </a:r>
            <a:r>
              <a:rPr lang="en-US" altLang="zh-CN"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1:4</a:t>
            </a:r>
            <a:r>
              <a:rPr lang="zh-CN" altLang="en-US"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rPr>
              <a:t>人工智能</a:t>
            </a:r>
            <a:endParaRPr lang="en-US" altLang="zh-CN" sz="1800" b="1" dirty="0">
              <a:solidFill>
                <a:srgbClr val="2D11FD"/>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1268" name="图片 4"/>
          <p:cNvPicPr>
            <a:picLocks noChangeAspect="1"/>
          </p:cNvPicPr>
          <p:nvPr/>
        </p:nvPicPr>
        <p:blipFill>
          <a:blip r:embed="rId3"/>
          <a:stretch>
            <a:fillRect/>
          </a:stretch>
        </p:blipFill>
        <p:spPr>
          <a:xfrm>
            <a:off x="4775200" y="1411288"/>
            <a:ext cx="3825875" cy="2544762"/>
          </a:xfrm>
          <a:prstGeom prst="rect">
            <a:avLst/>
          </a:prstGeom>
          <a:noFill/>
          <a:ln w="9525">
            <a:noFill/>
          </a:ln>
        </p:spPr>
      </p:pic>
      <p:pic>
        <p:nvPicPr>
          <p:cNvPr id="11269" name="Picture 5" descr="C:\Users\Administrator\Documents\Tencent Files\124558160\Image\Group\}J_)4VTLR9_{U@N)A2%IW1P.jpg"/>
          <p:cNvPicPr>
            <a:picLocks noChangeAspect="1"/>
          </p:cNvPicPr>
          <p:nvPr/>
        </p:nvPicPr>
        <p:blipFill>
          <a:blip r:embed="rId4"/>
          <a:stretch>
            <a:fillRect/>
          </a:stretch>
        </p:blipFill>
        <p:spPr>
          <a:xfrm>
            <a:off x="323850" y="1419225"/>
            <a:ext cx="3930650" cy="2657475"/>
          </a:xfrm>
          <a:prstGeom prst="rect">
            <a:avLst/>
          </a:prstGeom>
          <a:noFill/>
          <a:ln w="9525">
            <a:noFill/>
          </a:ln>
        </p:spPr>
      </p:pic>
      <p:pic>
        <p:nvPicPr>
          <p:cNvPr id="11270" name="Picture 6" descr="C:\Users\Administrator\Documents\Tencent Files\124558160\Image\Group\L3UCQF_28SXJU$WDH}RNRE9.jpg"/>
          <p:cNvPicPr>
            <a:picLocks noChangeAspect="1"/>
          </p:cNvPicPr>
          <p:nvPr/>
        </p:nvPicPr>
        <p:blipFill>
          <a:blip r:embed="rId5"/>
          <a:stretch>
            <a:fillRect/>
          </a:stretch>
        </p:blipFill>
        <p:spPr>
          <a:xfrm>
            <a:off x="4749800" y="4202113"/>
            <a:ext cx="3944938" cy="2540000"/>
          </a:xfrm>
          <a:prstGeom prst="rect">
            <a:avLst/>
          </a:prstGeom>
          <a:noFill/>
          <a:ln w="9525">
            <a:noFill/>
          </a:ln>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nvGraphicFramePr>
        <p:xfrm>
          <a:off x="1538288" y="2095500"/>
          <a:ext cx="5689600" cy="3960813"/>
        </p:xfrm>
        <a:graphic>
          <a:graphicData uri="http://schemas.openxmlformats.org/presentationml/2006/ole">
            <mc:AlternateContent xmlns:mc="http://schemas.openxmlformats.org/markup-compatibility/2006">
              <mc:Choice xmlns:v="urn:schemas-microsoft-com:vml" Requires="v">
                <p:oleObj spid="_x0000_s50240" r:id="rId3" imgW="4628515" imgH="3692525" progId="Word.Document.8">
                  <p:embed/>
                </p:oleObj>
              </mc:Choice>
              <mc:Fallback>
                <p:oleObj r:id="rId3" imgW="4628515" imgH="3692525" progId="Word.Document.8">
                  <p:embed/>
                  <p:pic>
                    <p:nvPicPr>
                      <p:cNvPr id="0" name="Object 2"/>
                      <p:cNvPicPr/>
                      <p:nvPr/>
                    </p:nvPicPr>
                    <p:blipFill>
                      <a:blip r:embed="rId4"/>
                      <a:stretch>
                        <a:fillRect/>
                      </a:stretch>
                    </p:blipFill>
                    <p:spPr>
                      <a:xfrm>
                        <a:off x="1538288" y="2095500"/>
                        <a:ext cx="5689600" cy="3960813"/>
                      </a:xfrm>
                      <a:prstGeom prst="rect">
                        <a:avLst/>
                      </a:prstGeom>
                      <a:noFill/>
                      <a:ln w="38100">
                        <a:noFill/>
                        <a:miter/>
                      </a:ln>
                    </p:spPr>
                  </p:pic>
                </p:oleObj>
              </mc:Fallback>
            </mc:AlternateContent>
          </a:graphicData>
        </a:graphic>
      </p:graphicFrame>
      <p:graphicFrame>
        <p:nvGraphicFramePr>
          <p:cNvPr id="23559" name="Object 7"/>
          <p:cNvGraphicFramePr>
            <a:graphicFrameLocks noChangeAspect="1"/>
          </p:cNvGraphicFramePr>
          <p:nvPr/>
        </p:nvGraphicFramePr>
        <p:xfrm>
          <a:off x="755650" y="4652963"/>
          <a:ext cx="7499350" cy="890587"/>
        </p:xfrm>
        <a:graphic>
          <a:graphicData uri="http://schemas.openxmlformats.org/presentationml/2006/ole">
            <mc:AlternateContent xmlns:mc="http://schemas.openxmlformats.org/markup-compatibility/2006">
              <mc:Choice xmlns:v="urn:schemas-microsoft-com:vml" Requires="v">
                <p:oleObj spid="_x0000_s50241" r:id="rId5" imgW="3022600" imgH="457200" progId="Equation.DSMT4">
                  <p:embed/>
                </p:oleObj>
              </mc:Choice>
              <mc:Fallback>
                <p:oleObj r:id="rId5" imgW="3022600" imgH="457200" progId="Equation.DSMT4">
                  <p:embed/>
                  <p:pic>
                    <p:nvPicPr>
                      <p:cNvPr id="0" name="Object 7"/>
                      <p:cNvPicPr/>
                      <p:nvPr/>
                    </p:nvPicPr>
                    <p:blipFill>
                      <a:blip r:embed="rId6"/>
                      <a:stretch>
                        <a:fillRect/>
                      </a:stretch>
                    </p:blipFill>
                    <p:spPr>
                      <a:xfrm>
                        <a:off x="755650" y="4652963"/>
                        <a:ext cx="7499350" cy="890587"/>
                      </a:xfrm>
                      <a:prstGeom prst="rect">
                        <a:avLst/>
                      </a:prstGeom>
                      <a:solidFill>
                        <a:srgbClr val="FF9900"/>
                      </a:solidFill>
                      <a:ln w="38100">
                        <a:noFill/>
                        <a:miter/>
                      </a:ln>
                    </p:spPr>
                  </p:pic>
                </p:oleObj>
              </mc:Fallback>
            </mc:AlternateContent>
          </a:graphicData>
        </a:graphic>
      </p:graphicFrame>
      <p:graphicFrame>
        <p:nvGraphicFramePr>
          <p:cNvPr id="2" name="Object 5"/>
          <p:cNvGraphicFramePr>
            <a:graphicFrameLocks noChangeAspect="1"/>
          </p:cNvGraphicFramePr>
          <p:nvPr/>
        </p:nvGraphicFramePr>
        <p:xfrm>
          <a:off x="755650" y="5734050"/>
          <a:ext cx="7499350" cy="890588"/>
        </p:xfrm>
        <a:graphic>
          <a:graphicData uri="http://schemas.openxmlformats.org/presentationml/2006/ole">
            <mc:AlternateContent xmlns:mc="http://schemas.openxmlformats.org/markup-compatibility/2006">
              <mc:Choice xmlns:v="urn:schemas-microsoft-com:vml" Requires="v">
                <p:oleObj spid="_x0000_s50242" r:id="rId7" imgW="3022600" imgH="457200" progId="Equation.DSMT4">
                  <p:embed/>
                </p:oleObj>
              </mc:Choice>
              <mc:Fallback>
                <p:oleObj r:id="rId7" imgW="3022600" imgH="457200" progId="Equation.DSMT4">
                  <p:embed/>
                  <p:pic>
                    <p:nvPicPr>
                      <p:cNvPr id="0" name="Object 5"/>
                      <p:cNvPicPr/>
                      <p:nvPr/>
                    </p:nvPicPr>
                    <p:blipFill>
                      <a:blip r:embed="rId8"/>
                      <a:stretch>
                        <a:fillRect/>
                      </a:stretch>
                    </p:blipFill>
                    <p:spPr>
                      <a:xfrm>
                        <a:off x="755650" y="5734050"/>
                        <a:ext cx="7499350" cy="890588"/>
                      </a:xfrm>
                      <a:prstGeom prst="rect">
                        <a:avLst/>
                      </a:prstGeom>
                      <a:solidFill>
                        <a:schemeClr val="accent1"/>
                      </a:solidFill>
                      <a:ln w="38100">
                        <a:noFill/>
                        <a:miter/>
                      </a:ln>
                    </p:spPr>
                  </p:pic>
                </p:oleObj>
              </mc:Fallback>
            </mc:AlternateContent>
          </a:graphicData>
        </a:graphic>
      </p:graphicFrame>
      <p:sp>
        <p:nvSpPr>
          <p:cNvPr id="12293" name="Rectangle 5"/>
          <p:cNvSpPr/>
          <p:nvPr/>
        </p:nvSpPr>
        <p:spPr>
          <a:xfrm>
            <a:off x="0" y="227013"/>
            <a:ext cx="9144000" cy="1689100"/>
          </a:xfrm>
          <a:prstGeom prst="rect">
            <a:avLst/>
          </a:prstGeom>
          <a:noFill/>
          <a:ln w="9525">
            <a:noFill/>
          </a:ln>
        </p:spPr>
        <p:txBody>
          <a:bodyPr anchor="ctr">
            <a:spAutoFit/>
          </a:bodyPr>
          <a:lstStyle/>
          <a:p>
            <a:pPr>
              <a:lnSpc>
                <a:spcPct val="150000"/>
              </a:lnSpc>
            </a:pPr>
            <a:r>
              <a:rPr lang="zh-CN" altLang="zh-CN" b="1" dirty="0">
                <a:latin typeface="微软雅黑" panose="020B0503020204020204" pitchFamily="34" charset="-122"/>
                <a:ea typeface="微软雅黑" panose="020B0503020204020204" pitchFamily="34" charset="-122"/>
              </a:rPr>
              <a:t>设要从甲地调出物质</a:t>
            </a:r>
            <a:r>
              <a:rPr lang="en-US" altLang="zh-CN" b="1" dirty="0">
                <a:latin typeface="微软雅黑" panose="020B0503020204020204" pitchFamily="34" charset="-122"/>
                <a:ea typeface="微软雅黑" panose="020B0503020204020204" pitchFamily="34" charset="-122"/>
              </a:rPr>
              <a:t>2000</a:t>
            </a:r>
            <a:r>
              <a:rPr lang="zh-CN" altLang="en-US" b="1" dirty="0">
                <a:latin typeface="微软雅黑" panose="020B0503020204020204" pitchFamily="34" charset="-122"/>
                <a:ea typeface="微软雅黑" panose="020B0503020204020204" pitchFamily="34" charset="-122"/>
              </a:rPr>
              <a:t>吨，从乙地调出物质</a:t>
            </a:r>
            <a:r>
              <a:rPr lang="en-US" altLang="zh-CN" b="1" dirty="0">
                <a:latin typeface="微软雅黑" panose="020B0503020204020204" pitchFamily="34" charset="-122"/>
                <a:ea typeface="微软雅黑" panose="020B0503020204020204" pitchFamily="34" charset="-122"/>
              </a:rPr>
              <a:t>1100</a:t>
            </a:r>
            <a:r>
              <a:rPr lang="zh-CN" altLang="en-US" b="1" dirty="0">
                <a:latin typeface="微软雅黑" panose="020B0503020204020204" pitchFamily="34" charset="-122"/>
                <a:ea typeface="微软雅黑" panose="020B0503020204020204" pitchFamily="34" charset="-122"/>
              </a:rPr>
              <a:t>吨，分别供给</a:t>
            </a:r>
            <a:r>
              <a:rPr lang="en-US" altLang="zh-CN" b="1" dirty="0">
                <a:latin typeface="微软雅黑" panose="020B0503020204020204" pitchFamily="34" charset="-122"/>
                <a:ea typeface="微软雅黑" panose="020B0503020204020204" pitchFamily="34" charset="-122"/>
              </a:rPr>
              <a:t>A</a:t>
            </a:r>
            <a:r>
              <a:rPr lang="zh-CN" altLang="en-US" b="1" dirty="0">
                <a:latin typeface="微软雅黑" panose="020B0503020204020204" pitchFamily="34" charset="-122"/>
                <a:ea typeface="微软雅黑" panose="020B0503020204020204" pitchFamily="34" charset="-122"/>
              </a:rPr>
              <a:t>地</a:t>
            </a:r>
            <a:r>
              <a:rPr lang="en-US" altLang="zh-CN" b="1" dirty="0">
                <a:latin typeface="微软雅黑" panose="020B0503020204020204" pitchFamily="34" charset="-122"/>
                <a:ea typeface="微软雅黑" panose="020B0503020204020204" pitchFamily="34" charset="-122"/>
              </a:rPr>
              <a:t>1700</a:t>
            </a:r>
            <a:r>
              <a:rPr lang="zh-CN" altLang="en-US" b="1" dirty="0">
                <a:latin typeface="微软雅黑" panose="020B0503020204020204" pitchFamily="34" charset="-122"/>
                <a:ea typeface="微软雅黑" panose="020B0503020204020204" pitchFamily="34" charset="-122"/>
              </a:rPr>
              <a:t>吨、</a:t>
            </a:r>
            <a:r>
              <a:rPr lang="en-US" altLang="zh-CN" b="1" dirty="0">
                <a:latin typeface="微软雅黑" panose="020B0503020204020204" pitchFamily="34" charset="-122"/>
                <a:ea typeface="微软雅黑" panose="020B0503020204020204" pitchFamily="34" charset="-122"/>
              </a:rPr>
              <a:t>B</a:t>
            </a:r>
            <a:r>
              <a:rPr lang="zh-CN" altLang="en-US" b="1" dirty="0">
                <a:latin typeface="微软雅黑" panose="020B0503020204020204" pitchFamily="34" charset="-122"/>
                <a:ea typeface="微软雅黑" panose="020B0503020204020204" pitchFamily="34" charset="-122"/>
              </a:rPr>
              <a:t>地</a:t>
            </a:r>
            <a:r>
              <a:rPr lang="en-US" altLang="zh-CN" b="1" dirty="0">
                <a:latin typeface="微软雅黑" panose="020B0503020204020204" pitchFamily="34" charset="-122"/>
                <a:ea typeface="微软雅黑" panose="020B0503020204020204" pitchFamily="34" charset="-122"/>
              </a:rPr>
              <a:t>1100</a:t>
            </a:r>
            <a:r>
              <a:rPr lang="zh-CN" altLang="en-US" b="1" dirty="0">
                <a:latin typeface="微软雅黑" panose="020B0503020204020204" pitchFamily="34" charset="-122"/>
                <a:ea typeface="微软雅黑" panose="020B0503020204020204" pitchFamily="34" charset="-122"/>
              </a:rPr>
              <a:t>吨、</a:t>
            </a:r>
            <a:r>
              <a:rPr lang="en-US" altLang="zh-CN" b="1" dirty="0">
                <a:latin typeface="微软雅黑" panose="020B0503020204020204" pitchFamily="34" charset="-122"/>
                <a:ea typeface="微软雅黑" panose="020B0503020204020204" pitchFamily="34" charset="-122"/>
              </a:rPr>
              <a:t>C</a:t>
            </a:r>
            <a:r>
              <a:rPr lang="zh-CN" altLang="en-US" b="1" dirty="0">
                <a:latin typeface="微软雅黑" panose="020B0503020204020204" pitchFamily="34" charset="-122"/>
                <a:ea typeface="微软雅黑" panose="020B0503020204020204" pitchFamily="34" charset="-122"/>
              </a:rPr>
              <a:t>地</a:t>
            </a:r>
            <a:r>
              <a:rPr lang="en-US" altLang="zh-CN" b="1" dirty="0">
                <a:latin typeface="微软雅黑" panose="020B0503020204020204" pitchFamily="34" charset="-122"/>
                <a:ea typeface="微软雅黑" panose="020B0503020204020204" pitchFamily="34" charset="-122"/>
              </a:rPr>
              <a:t>200</a:t>
            </a:r>
            <a:r>
              <a:rPr lang="zh-CN" altLang="en-US" b="1" dirty="0">
                <a:latin typeface="微软雅黑" panose="020B0503020204020204" pitchFamily="34" charset="-122"/>
                <a:ea typeface="微软雅黑" panose="020B0503020204020204" pitchFamily="34" charset="-122"/>
              </a:rPr>
              <a:t>吨、</a:t>
            </a:r>
            <a:r>
              <a:rPr lang="en-US" altLang="zh-CN" b="1" dirty="0">
                <a:latin typeface="微软雅黑" panose="020B0503020204020204" pitchFamily="34" charset="-122"/>
                <a:ea typeface="微软雅黑" panose="020B0503020204020204" pitchFamily="34" charset="-122"/>
              </a:rPr>
              <a:t>D</a:t>
            </a:r>
            <a:r>
              <a:rPr lang="zh-CN" altLang="en-US" b="1" dirty="0">
                <a:latin typeface="微软雅黑" panose="020B0503020204020204" pitchFamily="34" charset="-122"/>
                <a:ea typeface="微软雅黑" panose="020B0503020204020204" pitchFamily="34" charset="-122"/>
              </a:rPr>
              <a:t>地</a:t>
            </a:r>
            <a:r>
              <a:rPr lang="en-US" altLang="zh-CN" b="1" dirty="0">
                <a:latin typeface="微软雅黑" panose="020B0503020204020204" pitchFamily="34" charset="-122"/>
                <a:ea typeface="微软雅黑" panose="020B0503020204020204" pitchFamily="34" charset="-122"/>
              </a:rPr>
              <a:t>100</a:t>
            </a:r>
            <a:r>
              <a:rPr lang="zh-CN" altLang="en-US" b="1" dirty="0">
                <a:latin typeface="微软雅黑" panose="020B0503020204020204" pitchFamily="34" charset="-122"/>
                <a:ea typeface="微软雅黑" panose="020B0503020204020204" pitchFamily="34" charset="-122"/>
              </a:rPr>
              <a:t>吨。已知每吨运费</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单位百元</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如表所示：</a:t>
            </a:r>
            <a:endParaRPr lang="zh-CN" altLang="en-US" dirty="0">
              <a:latin typeface="微软雅黑" panose="020B0503020204020204" pitchFamily="34" charset="-122"/>
              <a:ea typeface="微软雅黑" panose="020B0503020204020204" pitchFamily="34" charset="-122"/>
            </a:endParaRPr>
          </a:p>
        </p:txBody>
      </p:sp>
      <p:sp>
        <p:nvSpPr>
          <p:cNvPr id="12294" name="矩形 5"/>
          <p:cNvSpPr/>
          <p:nvPr/>
        </p:nvSpPr>
        <p:spPr>
          <a:xfrm>
            <a:off x="0" y="3614738"/>
            <a:ext cx="8640763" cy="461962"/>
          </a:xfrm>
          <a:prstGeom prst="rect">
            <a:avLst/>
          </a:prstGeom>
          <a:noFill/>
          <a:ln w="9525">
            <a:noFill/>
          </a:ln>
        </p:spPr>
        <p:txBody>
          <a:bodyPr>
            <a:spAutoFit/>
          </a:bodyPr>
          <a:lstStyle/>
          <a:p>
            <a:pPr eaLnBrk="1" hangingPunct="1"/>
            <a:r>
              <a:rPr lang="zh-CN" altLang="zh-CN" b="1" dirty="0">
                <a:latin typeface="微软雅黑" panose="020B0503020204020204" pitchFamily="34" charset="-122"/>
                <a:ea typeface="微软雅黑" panose="020B0503020204020204" pitchFamily="34" charset="-122"/>
              </a:rPr>
              <a:t>假定运费与运量成正比，问怎样才能找出运费最省的调拨计划</a:t>
            </a:r>
            <a:r>
              <a:rPr lang="en-US" altLang="zh-CN" b="1"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p:txBody>
      </p:sp>
      <p:sp>
        <p:nvSpPr>
          <p:cNvPr id="7" name="椭圆 7"/>
          <p:cNvSpPr/>
          <p:nvPr/>
        </p:nvSpPr>
        <p:spPr>
          <a:xfrm>
            <a:off x="3652838" y="1906588"/>
            <a:ext cx="820737" cy="1757362"/>
          </a:xfrm>
          <a:prstGeom prst="ellipse">
            <a:avLst/>
          </a:prstGeom>
          <a:noFill/>
          <a:ln w="76200" cap="flat" cmpd="sng">
            <a:solidFill>
              <a:srgbClr val="FF99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8" name="椭圆 7"/>
          <p:cNvSpPr/>
          <p:nvPr/>
        </p:nvSpPr>
        <p:spPr>
          <a:xfrm>
            <a:off x="4679950" y="1906588"/>
            <a:ext cx="819150" cy="1757362"/>
          </a:xfrm>
          <a:prstGeom prst="ellipse">
            <a:avLst/>
          </a:prstGeom>
          <a:noFill/>
          <a:ln w="76200" cap="flat" cmpd="sng">
            <a:solidFill>
              <a:srgbClr val="FF99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3" name="文本框 2"/>
          <p:cNvSpPr txBox="1"/>
          <p:nvPr/>
        </p:nvSpPr>
        <p:spPr>
          <a:xfrm>
            <a:off x="3775075" y="1346200"/>
            <a:ext cx="576263" cy="461963"/>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26</a:t>
            </a:r>
            <a:endParaRPr kumimoji="1" lang="zh-CN" altLang="en-US" sz="24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10" name="文本框 9"/>
          <p:cNvSpPr txBox="1"/>
          <p:nvPr/>
        </p:nvSpPr>
        <p:spPr>
          <a:xfrm>
            <a:off x="4802188" y="1341438"/>
            <a:ext cx="576263" cy="460375"/>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rPr>
              <a:t>30</a:t>
            </a:r>
            <a:endParaRPr kumimoji="1" lang="zh-CN" altLang="en-US" sz="2400" b="1"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fade">
                                      <p:cBhvr>
                                        <p:cTn id="7" dur="1000"/>
                                        <p:tgtEl>
                                          <p:spTgt spid="23559"/>
                                        </p:tgtEl>
                                      </p:cBhvr>
                                    </p:animEffect>
                                    <p:anim calcmode="lin" valueType="num">
                                      <p:cBhvr>
                                        <p:cTn id="8" dur="1000" fill="hold"/>
                                        <p:tgtEl>
                                          <p:spTgt spid="23559"/>
                                        </p:tgtEl>
                                        <p:attrNameLst>
                                          <p:attrName>ppt_x</p:attrName>
                                        </p:attrNameLst>
                                      </p:cBhvr>
                                      <p:tavLst>
                                        <p:tav tm="0">
                                          <p:val>
                                            <p:strVal val="#ppt_x"/>
                                          </p:val>
                                        </p:tav>
                                        <p:tav tm="100000">
                                          <p:val>
                                            <p:strVal val="#ppt_x"/>
                                          </p:val>
                                        </p:tav>
                                      </p:tavLst>
                                    </p:anim>
                                    <p:anim calcmode="lin" valueType="num">
                                      <p:cBhvr>
                                        <p:cTn id="9" dur="1000" fill="hold"/>
                                        <p:tgtEl>
                                          <p:spTgt spid="235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3"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6"/>
          <p:cNvSpPr/>
          <p:nvPr/>
        </p:nvSpPr>
        <p:spPr>
          <a:xfrm>
            <a:off x="3203575" y="2852738"/>
            <a:ext cx="5689600" cy="1135062"/>
          </a:xfrm>
          <a:prstGeom prst="rect">
            <a:avLst/>
          </a:prstGeom>
          <a:solidFill>
            <a:srgbClr val="66FFFF"/>
          </a:solidFill>
          <a:ln w="9525">
            <a:noFill/>
          </a:ln>
        </p:spPr>
        <p:txBody>
          <a:bodyPr>
            <a:spAutoFit/>
          </a:bodyPr>
          <a:lstStyle/>
          <a:p>
            <a:pPr algn="just" eaLnBrk="1" hangingPunct="1">
              <a:lnSpc>
                <a:spcPct val="150000"/>
              </a:lnSpc>
              <a:buClr>
                <a:srgbClr val="00B050"/>
              </a:buClr>
            </a:pPr>
            <a:r>
              <a:rPr lang="zh-CN" altLang="en-US" b="1" dirty="0">
                <a:latin typeface="Times New Roman" panose="02020603050405020304" pitchFamily="18" charset="0"/>
                <a:ea typeface="微软雅黑" panose="020B0503020204020204" pitchFamily="34" charset="-122"/>
              </a:rPr>
              <a:t>美国科学院院士</a:t>
            </a:r>
            <a:r>
              <a:rPr lang="en-US" altLang="zh-CN" b="1" dirty="0">
                <a:latin typeface="Times New Roman" panose="02020603050405020304" pitchFamily="18" charset="0"/>
                <a:ea typeface="微软雅黑" panose="020B0503020204020204" pitchFamily="34" charset="-122"/>
              </a:rPr>
              <a:t>Dantzig</a:t>
            </a:r>
            <a:r>
              <a:rPr lang="zh-CN" altLang="en-US" b="1" dirty="0">
                <a:latin typeface="Times New Roman" panose="02020603050405020304" pitchFamily="18" charset="0"/>
                <a:ea typeface="微软雅黑" panose="020B0503020204020204" pitchFamily="34" charset="-122"/>
              </a:rPr>
              <a:t>（丹捷格）</a:t>
            </a:r>
            <a:r>
              <a:rPr lang="en-US" altLang="zh-CN" b="1" dirty="0">
                <a:latin typeface="Times New Roman" panose="02020603050405020304" pitchFamily="18" charset="0"/>
                <a:ea typeface="微软雅黑" panose="020B0503020204020204" pitchFamily="34" charset="-122"/>
              </a:rPr>
              <a:t>---</a:t>
            </a:r>
          </a:p>
          <a:p>
            <a:pPr algn="just" eaLnBrk="1" hangingPunct="1">
              <a:lnSpc>
                <a:spcPct val="150000"/>
              </a:lnSpc>
              <a:buClr>
                <a:srgbClr val="00B050"/>
              </a:buClr>
            </a:pPr>
            <a:r>
              <a:rPr lang="zh-CN" altLang="en-US" b="1" dirty="0">
                <a:latin typeface="Times New Roman" panose="02020603050405020304" pitchFamily="18" charset="0"/>
                <a:ea typeface="微软雅黑" panose="020B0503020204020204" pitchFamily="34" charset="-122"/>
              </a:rPr>
              <a:t>线性规划之父</a:t>
            </a:r>
            <a:endParaRPr lang="zh-CN" altLang="en-US" b="1" dirty="0">
              <a:solidFill>
                <a:srgbClr val="0033CC"/>
              </a:solidFill>
              <a:latin typeface="Times New Roman" panose="02020603050405020304" pitchFamily="18" charset="0"/>
              <a:ea typeface="微软雅黑" panose="020B0503020204020204" pitchFamily="34" charset="-122"/>
            </a:endParaRPr>
          </a:p>
        </p:txBody>
      </p:sp>
      <p:sp>
        <p:nvSpPr>
          <p:cNvPr id="13315" name="灯片编号占位符 1"/>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9</a:t>
            </a:fld>
            <a:endParaRPr lang="en-US" altLang="zh-CN" sz="1400" dirty="0">
              <a:ea typeface="微软雅黑" panose="020B0503020204020204" pitchFamily="34" charset="-122"/>
            </a:endParaRPr>
          </a:p>
        </p:txBody>
      </p:sp>
      <p:sp>
        <p:nvSpPr>
          <p:cNvPr id="13316" name="矩形 7"/>
          <p:cNvSpPr/>
          <p:nvPr/>
        </p:nvSpPr>
        <p:spPr>
          <a:xfrm>
            <a:off x="0" y="0"/>
            <a:ext cx="9144000" cy="2862263"/>
          </a:xfrm>
          <a:prstGeom prst="rect">
            <a:avLst/>
          </a:prstGeom>
          <a:noFill/>
          <a:ln w="9525" cap="flat" cmpd="sng">
            <a:solidFill>
              <a:srgbClr val="FF0000"/>
            </a:solidFill>
            <a:prstDash val="solid"/>
            <a:miter/>
            <a:headEnd type="none" w="med" len="med"/>
            <a:tailEnd type="none" w="med" len="med"/>
          </a:ln>
        </p:spPr>
        <p:txBody>
          <a:bodyPr>
            <a:spAutoFit/>
          </a:bodyPr>
          <a:lstStyle/>
          <a:p>
            <a:pPr algn="just" eaLnBrk="1" hangingPunct="1">
              <a:lnSpc>
                <a:spcPct val="150000"/>
              </a:lnSpc>
              <a:buClr>
                <a:srgbClr val="00B050"/>
              </a:buClr>
            </a:pPr>
            <a:r>
              <a:rPr lang="zh-CN" altLang="en-US" sz="2000" b="1" dirty="0">
                <a:latin typeface="Times New Roman" panose="02020603050405020304" pitchFamily="18" charset="0"/>
                <a:ea typeface="微软雅黑" panose="020B0503020204020204" pitchFamily="34" charset="-122"/>
              </a:rPr>
              <a:t>据说，一次上课，</a:t>
            </a:r>
            <a:r>
              <a:rPr lang="en-US" altLang="zh-CN" sz="2000" b="1" dirty="0">
                <a:latin typeface="Times New Roman" panose="02020603050405020304" pitchFamily="18" charset="0"/>
                <a:ea typeface="微软雅黑" panose="020B0503020204020204" pitchFamily="34" charset="-122"/>
              </a:rPr>
              <a:t>Dantzig (</a:t>
            </a:r>
            <a:r>
              <a:rPr lang="zh-CN" altLang="en-US" sz="2000" b="1" dirty="0">
                <a:latin typeface="Times New Roman" panose="02020603050405020304" pitchFamily="18" charset="0"/>
                <a:ea typeface="微软雅黑" panose="020B0503020204020204" pitchFamily="34" charset="-122"/>
              </a:rPr>
              <a:t>丹捷格</a:t>
            </a:r>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迟到了，仰头看去，黑板上留了几个题目，他就抄了一下，回家后埋头苦做。几个星期之后，疲惫的去找老师说，这件事情真的对不起，作业好像太难了，我所以现在才交，言下很是惭愧。几天之后，他的老师就把他召了过去，兴奋的告诉他说他太兴奋了。</a:t>
            </a:r>
            <a:r>
              <a:rPr lang="en-US" altLang="zh-CN" sz="2000" b="1" dirty="0">
                <a:latin typeface="Times New Roman" panose="02020603050405020304" pitchFamily="18" charset="0"/>
                <a:ea typeface="微软雅黑" panose="020B0503020204020204" pitchFamily="34" charset="-122"/>
              </a:rPr>
              <a:t>Dantzig</a:t>
            </a:r>
            <a:r>
              <a:rPr lang="zh-CN" altLang="en-US" sz="2000" b="1" dirty="0">
                <a:latin typeface="Times New Roman" panose="02020603050405020304" pitchFamily="18" charset="0"/>
                <a:ea typeface="微软雅黑" panose="020B0503020204020204" pitchFamily="34" charset="-122"/>
              </a:rPr>
              <a:t>很不解，后来才知道原来黑板上的题目根本就不是什么家庭作业，而是老师说的本领域的未解决的问题，他给出的那个解法也就是单纯形法。这个方法是上个世纪前十位的算法。</a:t>
            </a:r>
            <a:endParaRPr lang="zh-CN" altLang="en-US" sz="2000" b="1" dirty="0">
              <a:solidFill>
                <a:srgbClr val="0033CC"/>
              </a:solidFill>
              <a:latin typeface="Times New Roman" panose="02020603050405020304" pitchFamily="18" charset="0"/>
              <a:ea typeface="微软雅黑" panose="020B0503020204020204" pitchFamily="34" charset="-122"/>
            </a:endParaRPr>
          </a:p>
        </p:txBody>
      </p:sp>
      <p:sp>
        <p:nvSpPr>
          <p:cNvPr id="5" name="矩形 4"/>
          <p:cNvSpPr/>
          <p:nvPr/>
        </p:nvSpPr>
        <p:spPr>
          <a:xfrm>
            <a:off x="3132138" y="4149725"/>
            <a:ext cx="5327650" cy="830263"/>
          </a:xfrm>
          <a:prstGeom prst="rect">
            <a:avLst/>
          </a:prstGeom>
          <a:noFill/>
          <a:ln w="9525">
            <a:noFill/>
          </a:ln>
        </p:spPr>
        <p:txBody>
          <a:bodyPr>
            <a:spAutoFit/>
          </a:bodyPr>
          <a:lstStyle/>
          <a:p>
            <a:pPr eaLnBrk="1" hangingPunct="1"/>
            <a:r>
              <a:rPr lang="en-US" altLang="zh-CN" b="1" dirty="0">
                <a:latin typeface="Times New Roman" panose="02020603050405020304" pitchFamily="18" charset="0"/>
                <a:ea typeface="微软雅黑" panose="020B0503020204020204" pitchFamily="34" charset="-122"/>
              </a:rPr>
              <a:t>1946</a:t>
            </a:r>
            <a:r>
              <a:rPr lang="zh-CN" altLang="en-US" b="1" dirty="0">
                <a:latin typeface="Times New Roman" panose="02020603050405020304" pitchFamily="18" charset="0"/>
                <a:ea typeface="微软雅黑" panose="020B0503020204020204" pitchFamily="34" charset="-122"/>
              </a:rPr>
              <a:t>年在</a:t>
            </a:r>
            <a:r>
              <a:rPr lang="zh-CN" altLang="en-US" b="1" dirty="0">
                <a:latin typeface="Times New Roman" panose="02020603050405020304" pitchFamily="18" charset="0"/>
                <a:ea typeface="微软雅黑" panose="020B0503020204020204" pitchFamily="34" charset="-122"/>
                <a:hlinkClick r:id="rId2"/>
              </a:rPr>
              <a:t>加利福尼亚大学柏克莱分校</a:t>
            </a:r>
            <a:r>
              <a:rPr lang="zh-CN" altLang="en-US" b="1" dirty="0">
                <a:latin typeface="Times New Roman" panose="02020603050405020304" pitchFamily="18" charset="0"/>
                <a:ea typeface="微软雅黑" panose="020B0503020204020204" pitchFamily="34" charset="-122"/>
              </a:rPr>
              <a:t>获得博士学位</a:t>
            </a:r>
          </a:p>
        </p:txBody>
      </p:sp>
      <p:pic>
        <p:nvPicPr>
          <p:cNvPr id="13318" name="Picture 2"/>
          <p:cNvPicPr>
            <a:picLocks noChangeAspect="1"/>
          </p:cNvPicPr>
          <p:nvPr/>
        </p:nvPicPr>
        <p:blipFill>
          <a:blip r:embed="rId3"/>
          <a:stretch>
            <a:fillRect/>
          </a:stretch>
        </p:blipFill>
        <p:spPr>
          <a:xfrm>
            <a:off x="0" y="2981325"/>
            <a:ext cx="2552700" cy="3876675"/>
          </a:xfrm>
          <a:prstGeom prst="rect">
            <a:avLst/>
          </a:prstGeom>
          <a:noFill/>
          <a:ln w="9525">
            <a:noFill/>
          </a:ln>
        </p:spPr>
      </p:pic>
      <p:sp>
        <p:nvSpPr>
          <p:cNvPr id="9" name="矩形 8"/>
          <p:cNvSpPr/>
          <p:nvPr/>
        </p:nvSpPr>
        <p:spPr>
          <a:xfrm>
            <a:off x="3059113" y="5110163"/>
            <a:ext cx="5834062" cy="1631950"/>
          </a:xfrm>
          <a:prstGeom prst="rect">
            <a:avLst/>
          </a:prstGeom>
          <a:noFill/>
          <a:ln w="9525">
            <a:noFill/>
          </a:ln>
        </p:spPr>
        <p:txBody>
          <a:bodyPr>
            <a:spAutoFit/>
          </a:bodyPr>
          <a:lstStyle/>
          <a:p>
            <a:pPr eaLnBrk="1" hangingPunct="1"/>
            <a:r>
              <a:rPr lang="zh-CN" altLang="en-US" sz="2000" b="1" dirty="0">
                <a:latin typeface="微软雅黑" panose="020B0503020204020204" pitchFamily="34" charset="-122"/>
                <a:ea typeface="微软雅黑" panose="020B0503020204020204" pitchFamily="34" charset="-122"/>
                <a:hlinkClick r:id="rId4"/>
              </a:rPr>
              <a:t>乔治</a:t>
            </a:r>
            <a:r>
              <a:rPr lang="en-US" altLang="zh-CN" sz="2000" b="1" dirty="0">
                <a:latin typeface="微软雅黑" panose="020B0503020204020204" pitchFamily="34" charset="-122"/>
                <a:ea typeface="微软雅黑" panose="020B0503020204020204" pitchFamily="34" charset="-122"/>
                <a:hlinkClick r:id="rId4"/>
              </a:rPr>
              <a:t>·</a:t>
            </a:r>
            <a:r>
              <a:rPr lang="zh-CN" altLang="en-US" sz="2000" b="1" dirty="0">
                <a:latin typeface="微软雅黑" panose="020B0503020204020204" pitchFamily="34" charset="-122"/>
                <a:ea typeface="微软雅黑" panose="020B0503020204020204" pitchFamily="34" charset="-122"/>
                <a:hlinkClick r:id="rId4"/>
              </a:rPr>
              <a:t>伯纳德</a:t>
            </a:r>
            <a:r>
              <a:rPr lang="en-US" altLang="zh-CN" sz="2000" b="1" dirty="0">
                <a:latin typeface="微软雅黑" panose="020B0503020204020204" pitchFamily="34" charset="-122"/>
                <a:ea typeface="微软雅黑" panose="020B0503020204020204" pitchFamily="34" charset="-122"/>
                <a:hlinkClick r:id="rId4"/>
              </a:rPr>
              <a:t>·</a:t>
            </a:r>
            <a:r>
              <a:rPr lang="zh-CN" altLang="en-US" sz="2000" b="1" dirty="0">
                <a:latin typeface="微软雅黑" panose="020B0503020204020204" pitchFamily="34" charset="-122"/>
                <a:ea typeface="微软雅黑" panose="020B0503020204020204" pitchFamily="34" charset="-122"/>
                <a:hlinkClick r:id="rId4"/>
              </a:rPr>
              <a:t>丹齐格</a:t>
            </a:r>
            <a:r>
              <a:rPr lang="zh-CN" altLang="en-US" sz="2000" b="1" dirty="0">
                <a:latin typeface="微软雅黑" panose="020B0503020204020204" pitchFamily="34" charset="-122"/>
                <a:ea typeface="微软雅黑" panose="020B0503020204020204" pitchFamily="34" charset="-122"/>
              </a:rPr>
              <a:t>（全名：</a:t>
            </a:r>
            <a:r>
              <a:rPr lang="en-US" altLang="zh-CN" sz="2000" b="1" dirty="0">
                <a:latin typeface="微软雅黑" panose="020B0503020204020204" pitchFamily="34" charset="-122"/>
                <a:ea typeface="微软雅黑" panose="020B0503020204020204" pitchFamily="34" charset="-122"/>
              </a:rPr>
              <a:t>George Bernard Dantzig</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1914</a:t>
            </a:r>
            <a:r>
              <a:rPr lang="zh-CN" altLang="en-US" sz="2000" b="1" dirty="0">
                <a:latin typeface="微软雅黑" panose="020B0503020204020204" pitchFamily="34" charset="-122"/>
                <a:ea typeface="微软雅黑" panose="020B0503020204020204" pitchFamily="34" charset="-122"/>
              </a:rPr>
              <a:t>年</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月</a:t>
            </a:r>
            <a:r>
              <a:rPr lang="en-US" altLang="zh-CN" sz="2000" b="1" dirty="0">
                <a:latin typeface="微软雅黑" panose="020B0503020204020204" pitchFamily="34" charset="-122"/>
                <a:ea typeface="微软雅黑" panose="020B0503020204020204" pitchFamily="34" charset="-122"/>
              </a:rPr>
              <a:t>8</a:t>
            </a:r>
            <a:r>
              <a:rPr lang="zh-CN" altLang="en-US" sz="2000" b="1" dirty="0">
                <a:latin typeface="微软雅黑" panose="020B0503020204020204" pitchFamily="34" charset="-122"/>
                <a:ea typeface="微软雅黑" panose="020B0503020204020204" pitchFamily="34" charset="-122"/>
              </a:rPr>
              <a:t>日－</a:t>
            </a:r>
            <a:r>
              <a:rPr lang="en-US" altLang="zh-CN" sz="2000" b="1" dirty="0">
                <a:latin typeface="微软雅黑" panose="020B0503020204020204" pitchFamily="34" charset="-122"/>
                <a:ea typeface="微软雅黑" panose="020B0503020204020204" pitchFamily="34" charset="-122"/>
              </a:rPr>
              <a:t>2005</a:t>
            </a:r>
            <a:r>
              <a:rPr lang="zh-CN" altLang="en-US" sz="2000" b="1" dirty="0">
                <a:latin typeface="微软雅黑" panose="020B0503020204020204" pitchFamily="34" charset="-122"/>
                <a:ea typeface="微软雅黑" panose="020B0503020204020204" pitchFamily="34" charset="-122"/>
              </a:rPr>
              <a:t>年</a:t>
            </a:r>
            <a:r>
              <a:rPr lang="en-US" altLang="zh-CN" sz="2000" b="1" dirty="0">
                <a:latin typeface="微软雅黑" panose="020B0503020204020204" pitchFamily="34" charset="-122"/>
                <a:ea typeface="微软雅黑" panose="020B0503020204020204" pitchFamily="34" charset="-122"/>
              </a:rPr>
              <a:t>5</a:t>
            </a:r>
            <a:r>
              <a:rPr lang="zh-CN" altLang="en-US" sz="2000" b="1" dirty="0">
                <a:latin typeface="微软雅黑" panose="020B0503020204020204" pitchFamily="34" charset="-122"/>
                <a:ea typeface="微软雅黑" panose="020B0503020204020204" pitchFamily="34" charset="-122"/>
              </a:rPr>
              <a:t>月</a:t>
            </a:r>
            <a:r>
              <a:rPr lang="en-US" altLang="zh-CN" sz="2000" b="1" dirty="0">
                <a:latin typeface="微软雅黑" panose="020B0503020204020204" pitchFamily="34" charset="-122"/>
                <a:ea typeface="微软雅黑" panose="020B0503020204020204" pitchFamily="34" charset="-122"/>
              </a:rPr>
              <a:t>13</a:t>
            </a:r>
            <a:r>
              <a:rPr lang="zh-CN" altLang="en-US" sz="2000" b="1" dirty="0">
                <a:latin typeface="微软雅黑" panose="020B0503020204020204" pitchFamily="34" charset="-122"/>
                <a:ea typeface="微软雅黑" panose="020B0503020204020204" pitchFamily="34" charset="-122"/>
              </a:rPr>
              <a:t>日）生于美国</a:t>
            </a:r>
            <a:r>
              <a:rPr lang="zh-CN" altLang="en-US" sz="2000" b="1" dirty="0">
                <a:latin typeface="微软雅黑" panose="020B0503020204020204" pitchFamily="34" charset="-122"/>
                <a:ea typeface="微软雅黑" panose="020B0503020204020204" pitchFamily="34" charset="-122"/>
                <a:hlinkClick r:id="rId5"/>
              </a:rPr>
              <a:t>俄勒冈州</a:t>
            </a:r>
            <a:r>
              <a:rPr lang="zh-CN" altLang="en-US" sz="2000" b="1" dirty="0">
                <a:latin typeface="微软雅黑" panose="020B0503020204020204" pitchFamily="34" charset="-122"/>
                <a:ea typeface="微软雅黑" panose="020B0503020204020204" pitchFamily="34" charset="-122"/>
                <a:hlinkClick r:id="rId6"/>
              </a:rPr>
              <a:t>波特兰</a:t>
            </a:r>
            <a:r>
              <a:rPr lang="zh-CN" altLang="en-US"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hlinkClick r:id="rId7"/>
              </a:rPr>
              <a:t>数学家</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1947</a:t>
            </a:r>
            <a:r>
              <a:rPr lang="zh-CN" altLang="en-US" sz="2000" b="1" dirty="0">
                <a:latin typeface="微软雅黑" panose="020B0503020204020204" pitchFamily="34" charset="-122"/>
                <a:ea typeface="微软雅黑" panose="020B0503020204020204" pitchFamily="34" charset="-122"/>
              </a:rPr>
              <a:t>年提出了</a:t>
            </a:r>
            <a:r>
              <a:rPr lang="zh-CN" altLang="en-US" sz="2000" b="1" dirty="0">
                <a:latin typeface="微软雅黑" panose="020B0503020204020204" pitchFamily="34" charset="-122"/>
                <a:ea typeface="微软雅黑" panose="020B0503020204020204" pitchFamily="34" charset="-122"/>
                <a:hlinkClick r:id="rId8"/>
              </a:rPr>
              <a:t>单纯形法</a:t>
            </a:r>
            <a:r>
              <a:rPr lang="zh-CN" altLang="en-US" sz="2000" b="1" dirty="0">
                <a:latin typeface="微软雅黑" panose="020B0503020204020204" pitchFamily="34" charset="-122"/>
                <a:ea typeface="微软雅黑" panose="020B0503020204020204" pitchFamily="34" charset="-122"/>
              </a:rPr>
              <a:t>，被称为</a:t>
            </a:r>
            <a:r>
              <a:rPr lang="zh-CN" altLang="en-US" sz="2000" b="1" dirty="0">
                <a:latin typeface="微软雅黑" panose="020B0503020204020204" pitchFamily="34" charset="-122"/>
                <a:ea typeface="微软雅黑" panose="020B0503020204020204" pitchFamily="34" charset="-122"/>
                <a:hlinkClick r:id="rId9"/>
              </a:rPr>
              <a:t>线性规划</a:t>
            </a:r>
            <a:r>
              <a:rPr lang="zh-CN" altLang="en-US" sz="2000" b="1" dirty="0">
                <a:latin typeface="微软雅黑" panose="020B0503020204020204" pitchFamily="34" charset="-122"/>
                <a:ea typeface="微软雅黑" panose="020B0503020204020204" pitchFamily="34" charset="-122"/>
              </a:rPr>
              <a:t>之父。其为计算机科学、经济学、统计学做出了突出贡献</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DF5DB6D-2CE4-4CA6-ABD7-0F48BFAE0722}" type="slidenum">
              <a:rPr lang="en-US" altLang="zh-CN" smtClean="0"/>
              <a:t>10</a:t>
            </a:fld>
            <a:endParaRPr lang="en-US" altLang="zh-CN"/>
          </a:p>
        </p:txBody>
      </p:sp>
      <p:sp>
        <p:nvSpPr>
          <p:cNvPr id="3" name="TextBox 2"/>
          <p:cNvSpPr txBox="1"/>
          <p:nvPr/>
        </p:nvSpPr>
        <p:spPr>
          <a:xfrm>
            <a:off x="0" y="52705"/>
            <a:ext cx="6262370" cy="553085"/>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bg2">
                    <a:lumMod val="50000"/>
                  </a:schemeClr>
                </a:solidFill>
                <a:latin typeface="华文楷体" panose="02010600040101010101" pitchFamily="2" charset="-122"/>
                <a:ea typeface="华文楷体" panose="02010600040101010101" pitchFamily="2" charset="-122"/>
              </a:rPr>
              <a:t>	</a:t>
            </a:r>
            <a:r>
              <a:rPr lang="en-US" altLang="zh-CN" sz="2000" b="1" dirty="0">
                <a:solidFill>
                  <a:srgbClr val="4D4D4D"/>
                </a:solidFill>
                <a:latin typeface="Times New Roman" panose="02020603050405020304" pitchFamily="18" charset="0"/>
                <a:ea typeface="华文楷体" panose="02010600040101010101" pitchFamily="2" charset="-122"/>
                <a:cs typeface="Times New Roman" panose="02020603050405020304" pitchFamily="18" charset="0"/>
              </a:rPr>
              <a:t>https://wiki.mbalib.com/wiki/</a:t>
            </a:r>
            <a:r>
              <a:rPr lang="zh-CN" altLang="en-US" sz="2000" b="1" dirty="0">
                <a:solidFill>
                  <a:srgbClr val="4D4D4D"/>
                </a:solidFill>
                <a:latin typeface="Times New Roman" panose="02020603050405020304" pitchFamily="18" charset="0"/>
                <a:ea typeface="华文楷体" panose="02010600040101010101" pitchFamily="2" charset="-122"/>
                <a:cs typeface="Times New Roman" panose="02020603050405020304" pitchFamily="18" charset="0"/>
              </a:rPr>
              <a:t>运筹学</a:t>
            </a:r>
            <a:endParaRPr lang="en-US" altLang="zh-CN" sz="2000" b="1" dirty="0">
              <a:solidFill>
                <a:srgbClr val="4D4D4D"/>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5" name="对象 4"/>
          <p:cNvGraphicFramePr/>
          <p:nvPr/>
        </p:nvGraphicFramePr>
        <p:xfrm>
          <a:off x="6071870" y="0"/>
          <a:ext cx="3097530" cy="6858000"/>
        </p:xfrm>
        <a:graphic>
          <a:graphicData uri="http://schemas.openxmlformats.org/presentationml/2006/ole">
            <mc:AlternateContent xmlns:mc="http://schemas.openxmlformats.org/markup-compatibility/2006">
              <mc:Choice xmlns:v="urn:schemas-microsoft-com:vml" Requires="v">
                <p:oleObj spid="_x0000_s51264" r:id="rId3" imgW="2209800" imgH="6141720" progId="Paint.Picture">
                  <p:embed/>
                </p:oleObj>
              </mc:Choice>
              <mc:Fallback>
                <p:oleObj r:id="rId3" imgW="2209800" imgH="6141720" progId="Paint.Picture">
                  <p:embed/>
                  <p:pic>
                    <p:nvPicPr>
                      <p:cNvPr id="0" name="对象 4"/>
                      <p:cNvPicPr/>
                      <p:nvPr/>
                    </p:nvPicPr>
                    <p:blipFill>
                      <a:blip r:embed="rId4"/>
                      <a:stretch>
                        <a:fillRect/>
                      </a:stretch>
                    </p:blipFill>
                    <p:spPr>
                      <a:xfrm>
                        <a:off x="6071870" y="0"/>
                        <a:ext cx="3097530" cy="6858000"/>
                      </a:xfrm>
                      <a:prstGeom prst="rect">
                        <a:avLst/>
                      </a:prstGeom>
                    </p:spPr>
                  </p:pic>
                </p:oleObj>
              </mc:Fallback>
            </mc:AlternateContent>
          </a:graphicData>
        </a:graphic>
      </p:graphicFrame>
      <p:graphicFrame>
        <p:nvGraphicFramePr>
          <p:cNvPr id="4" name="对象 3"/>
          <p:cNvGraphicFramePr/>
          <p:nvPr/>
        </p:nvGraphicFramePr>
        <p:xfrm>
          <a:off x="2960370" y="571500"/>
          <a:ext cx="2840355" cy="6246495"/>
        </p:xfrm>
        <a:graphic>
          <a:graphicData uri="http://schemas.openxmlformats.org/presentationml/2006/ole">
            <mc:AlternateContent xmlns:mc="http://schemas.openxmlformats.org/markup-compatibility/2006">
              <mc:Choice xmlns:v="urn:schemas-microsoft-com:vml" Requires="v">
                <p:oleObj spid="_x0000_s51265" r:id="rId5" imgW="2148840" imgH="5745480" progId="Paint.Picture">
                  <p:embed/>
                </p:oleObj>
              </mc:Choice>
              <mc:Fallback>
                <p:oleObj r:id="rId5" imgW="2148840" imgH="5745480" progId="Paint.Picture">
                  <p:embed/>
                  <p:pic>
                    <p:nvPicPr>
                      <p:cNvPr id="0" name="对象 3"/>
                      <p:cNvPicPr/>
                      <p:nvPr/>
                    </p:nvPicPr>
                    <p:blipFill>
                      <a:blip r:embed="rId6"/>
                      <a:stretch>
                        <a:fillRect/>
                      </a:stretch>
                    </p:blipFill>
                    <p:spPr>
                      <a:xfrm>
                        <a:off x="2960370" y="571500"/>
                        <a:ext cx="2840355" cy="6246495"/>
                      </a:xfrm>
                      <a:prstGeom prst="rect">
                        <a:avLst/>
                      </a:prstGeom>
                    </p:spPr>
                  </p:pic>
                </p:oleObj>
              </mc:Fallback>
            </mc:AlternateContent>
          </a:graphicData>
        </a:graphic>
      </p:graphicFrame>
      <p:graphicFrame>
        <p:nvGraphicFramePr>
          <p:cNvPr id="11" name="对象 10"/>
          <p:cNvGraphicFramePr/>
          <p:nvPr/>
        </p:nvGraphicFramePr>
        <p:xfrm>
          <a:off x="97155" y="1795145"/>
          <a:ext cx="2642870" cy="4955540"/>
        </p:xfrm>
        <a:graphic>
          <a:graphicData uri="http://schemas.openxmlformats.org/presentationml/2006/ole">
            <mc:AlternateContent xmlns:mc="http://schemas.openxmlformats.org/markup-compatibility/2006">
              <mc:Choice xmlns:v="urn:schemas-microsoft-com:vml" Requires="v">
                <p:oleObj spid="_x0000_s51266" r:id="rId7" imgW="2106930" imgH="4511040" progId="Paint.Picture">
                  <p:embed/>
                </p:oleObj>
              </mc:Choice>
              <mc:Fallback>
                <p:oleObj r:id="rId7" imgW="2106930" imgH="4511040" progId="Paint.Picture">
                  <p:embed/>
                  <p:pic>
                    <p:nvPicPr>
                      <p:cNvPr id="0" name="对象 10"/>
                      <p:cNvPicPr/>
                      <p:nvPr/>
                    </p:nvPicPr>
                    <p:blipFill>
                      <a:blip r:embed="rId8"/>
                      <a:stretch>
                        <a:fillRect/>
                      </a:stretch>
                    </p:blipFill>
                    <p:spPr>
                      <a:xfrm>
                        <a:off x="97155" y="1795145"/>
                        <a:ext cx="2642870" cy="4955540"/>
                      </a:xfrm>
                      <a:prstGeom prst="rect">
                        <a:avLst/>
                      </a:prstGeom>
                    </p:spPr>
                  </p:pic>
                </p:oleObj>
              </mc:Fallback>
            </mc:AlternateContent>
          </a:graphicData>
        </a:graphic>
      </p:graphicFrame>
      <p:sp>
        <p:nvSpPr>
          <p:cNvPr id="13" name="椭圆 12"/>
          <p:cNvSpPr/>
          <p:nvPr/>
        </p:nvSpPr>
        <p:spPr>
          <a:xfrm>
            <a:off x="7551420" y="3780790"/>
            <a:ext cx="831215" cy="443865"/>
          </a:xfrm>
          <a:prstGeom prst="ellipse">
            <a:avLst/>
          </a:prstGeom>
          <a:noFill/>
          <a:ln w="76200" cap="flat" cmpd="sng">
            <a:solidFill>
              <a:srgbClr val="FF99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p:nvPr/>
        </p:nvSpPr>
        <p:spPr>
          <a:xfrm>
            <a:off x="323850" y="188913"/>
            <a:ext cx="8229600" cy="5399087"/>
          </a:xfrm>
          <a:prstGeom prst="rect">
            <a:avLst/>
          </a:prstGeom>
          <a:noFill/>
          <a:ln w="9525">
            <a:noFill/>
          </a:ln>
        </p:spPr>
        <p:txBody>
          <a:bodyPr>
            <a:spAutoFit/>
          </a:bodyPr>
          <a:lstStyle/>
          <a:p>
            <a:pPr algn="ctr" eaLnBrk="1" hangingPunct="1"/>
            <a:r>
              <a:rPr lang="zh-CN" altLang="en-US" sz="3200" b="1" dirty="0">
                <a:solidFill>
                  <a:srgbClr val="FF0000"/>
                </a:solidFill>
                <a:latin typeface="微软雅黑" panose="020B0503020204020204" pitchFamily="34" charset="-122"/>
                <a:ea typeface="微软雅黑" panose="020B0503020204020204" pitchFamily="34" charset="-122"/>
              </a:rPr>
              <a:t>运   筹   学</a:t>
            </a:r>
          </a:p>
          <a:p>
            <a:pPr algn="ctr" eaLnBrk="1" hangingPunct="1"/>
            <a:r>
              <a:rPr lang="zh-CN" altLang="en-US" sz="3200" b="1" dirty="0">
                <a:solidFill>
                  <a:srgbClr val="FF0000"/>
                </a:solidFill>
                <a:latin typeface="微软雅黑" panose="020B0503020204020204" pitchFamily="34" charset="-122"/>
                <a:ea typeface="微软雅黑" panose="020B0503020204020204" pitchFamily="34" charset="-122"/>
              </a:rPr>
              <a:t>（</a:t>
            </a:r>
            <a:r>
              <a:rPr lang="en-US" altLang="zh-CN" sz="3200" b="1" dirty="0">
                <a:solidFill>
                  <a:srgbClr val="FF0000"/>
                </a:solidFill>
                <a:latin typeface="微软雅黑" panose="020B0503020204020204" pitchFamily="34" charset="-122"/>
                <a:ea typeface="微软雅黑" panose="020B0503020204020204" pitchFamily="34" charset="-122"/>
              </a:rPr>
              <a:t>Operation  Research    OR</a:t>
            </a:r>
            <a:r>
              <a:rPr lang="zh-CN" altLang="en-US" sz="3200" b="1" dirty="0">
                <a:solidFill>
                  <a:srgbClr val="FF0000"/>
                </a:solidFill>
                <a:latin typeface="微软雅黑" panose="020B0503020204020204" pitchFamily="34" charset="-122"/>
                <a:ea typeface="微软雅黑" panose="020B0503020204020204" pitchFamily="34" charset="-122"/>
              </a:rPr>
              <a:t>）</a:t>
            </a:r>
            <a:endParaRPr lang="zh-CN" altLang="en-US" sz="3200" dirty="0">
              <a:solidFill>
                <a:srgbClr val="FF0000"/>
              </a:solidFill>
              <a:latin typeface="微软雅黑" panose="020B0503020204020204" pitchFamily="34" charset="-122"/>
              <a:ea typeface="微软雅黑" panose="020B0503020204020204" pitchFamily="34" charset="-122"/>
            </a:endParaRPr>
          </a:p>
          <a:p>
            <a:pPr algn="just" eaLnBrk="1" hangingPunct="1">
              <a:lnSpc>
                <a:spcPct val="130000"/>
              </a:lnSpc>
            </a:pPr>
            <a:r>
              <a:rPr lang="zh-CN" altLang="en-US" dirty="0">
                <a:solidFill>
                  <a:srgbClr val="3333FF"/>
                </a:solidFill>
                <a:latin typeface="微软雅黑" panose="020B0503020204020204" pitchFamily="34" charset="-122"/>
                <a:ea typeface="微软雅黑" panose="020B0503020204020204" pitchFamily="34" charset="-122"/>
              </a:rPr>
              <a:t>      </a:t>
            </a:r>
            <a:r>
              <a:rPr lang="zh-CN" altLang="en-US" b="1" dirty="0">
                <a:solidFill>
                  <a:srgbClr val="3333FF"/>
                </a:solidFill>
                <a:latin typeface="微软雅黑" panose="020B0503020204020204" pitchFamily="34" charset="-122"/>
                <a:ea typeface="微软雅黑" panose="020B0503020204020204" pitchFamily="34" charset="-122"/>
              </a:rPr>
              <a:t>由于运筹学研究的广泛性和复杂性，人们至今没有形成一个统一的定义。以下给出几种定义：</a:t>
            </a:r>
            <a:endParaRPr lang="en-US" altLang="zh-CN" b="1" dirty="0">
              <a:solidFill>
                <a:srgbClr val="3333FF"/>
              </a:solidFill>
              <a:latin typeface="微软雅黑" panose="020B0503020204020204" pitchFamily="34" charset="-122"/>
              <a:ea typeface="微软雅黑" panose="020B0503020204020204" pitchFamily="34" charset="-122"/>
            </a:endParaRPr>
          </a:p>
          <a:p>
            <a:pPr algn="just" eaLnBrk="1" hangingPunct="1">
              <a:lnSpc>
                <a:spcPct val="130000"/>
              </a:lnSpc>
            </a:pPr>
            <a:endParaRPr lang="zh-CN" altLang="en-US" b="1" dirty="0">
              <a:solidFill>
                <a:srgbClr val="3333FF"/>
              </a:solidFill>
              <a:latin typeface="微软雅黑" panose="020B0503020204020204" pitchFamily="34" charset="-122"/>
              <a:ea typeface="微软雅黑" panose="020B0503020204020204" pitchFamily="34" charset="-122"/>
            </a:endParaRPr>
          </a:p>
          <a:p>
            <a:pPr algn="just" eaLnBrk="1" hangingPunct="1">
              <a:lnSpc>
                <a:spcPct val="130000"/>
              </a:lnSpc>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为决策机构在对其控制下的业务活动进行决策时，提供以数量化为基础的科学方法</a:t>
            </a:r>
            <a:endParaRPr lang="en-US" altLang="zh-CN" b="1" dirty="0">
              <a:solidFill>
                <a:srgbClr val="3333FF"/>
              </a:solidFill>
              <a:latin typeface="微软雅黑" panose="020B0503020204020204" pitchFamily="34" charset="-122"/>
              <a:ea typeface="微软雅黑" panose="020B0503020204020204" pitchFamily="34" charset="-122"/>
            </a:endParaRPr>
          </a:p>
          <a:p>
            <a:pPr algn="just" eaLnBrk="1" hangingPunct="1">
              <a:lnSpc>
                <a:spcPct val="130000"/>
              </a:lnSpc>
              <a:buClr>
                <a:srgbClr val="FF0000"/>
              </a:buClr>
            </a:pPr>
            <a:endParaRPr lang="zh-CN" altLang="en-US" b="1" dirty="0">
              <a:solidFill>
                <a:srgbClr val="3333FF"/>
              </a:solidFill>
              <a:latin typeface="微软雅黑" panose="020B0503020204020204" pitchFamily="34" charset="-122"/>
              <a:ea typeface="微软雅黑" panose="020B0503020204020204" pitchFamily="34" charset="-122"/>
            </a:endParaRPr>
          </a:p>
          <a:p>
            <a:pPr algn="just" eaLnBrk="1" hangingPunct="1">
              <a:lnSpc>
                <a:spcPct val="130000"/>
              </a:lnSpc>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运筹学是一门应用科学，它广泛应用现有的科学技术知识和数学方法，解决实际中提出的专门问题，为决策者选择最优决策提供定量依据</a:t>
            </a:r>
            <a:endParaRPr lang="zh-CN" altLang="en-US" sz="4000" b="1" dirty="0">
              <a:solidFill>
                <a:srgbClr val="3333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xEl>
                                              <p:pRg st="6" end="6"/>
                                            </p:txEl>
                                          </p:spTgt>
                                        </p:tgtEl>
                                        <p:attrNameLst>
                                          <p:attrName>style.visibility</p:attrName>
                                        </p:attrNameLst>
                                      </p:cBhvr>
                                      <p:to>
                                        <p:strVal val="visible"/>
                                      </p:to>
                                    </p:set>
                                    <p:animEffect transition="in" filter="blinds(horizontal)">
                                      <p:cBhvr>
                                        <p:cTn id="7" dur="500"/>
                                        <p:tgtEl>
                                          <p:spTgt spid="205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p:cNvSpPr txBox="1"/>
          <p:nvPr/>
        </p:nvSpPr>
        <p:spPr>
          <a:xfrm>
            <a:off x="144463" y="188913"/>
            <a:ext cx="4643437" cy="584200"/>
          </a:xfrm>
          <a:prstGeom prst="rect">
            <a:avLst/>
          </a:prstGeom>
          <a:noFill/>
          <a:ln w="9525">
            <a:noFill/>
          </a:ln>
        </p:spPr>
        <p:txBody>
          <a:bodyPr>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运筹学发展简史</a:t>
            </a:r>
            <a:endParaRPr lang="en-US" altLang="zh-CN" sz="3200" b="1"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793750" y="1666875"/>
            <a:ext cx="7699375" cy="1200150"/>
          </a:xfrm>
          <a:prstGeom prst="rect">
            <a:avLst/>
          </a:prstGeom>
          <a:noFill/>
          <a:ln w="9525">
            <a:noFill/>
          </a:ln>
        </p:spPr>
        <p:txBody>
          <a:bodyPr>
            <a:spAutoFit/>
          </a:bodyPr>
          <a:lstStyle/>
          <a:p>
            <a:pPr eaLnBrk="1" hangingPunct="1">
              <a:lnSpc>
                <a:spcPct val="150000"/>
              </a:lnSpc>
              <a:buClr>
                <a:srgbClr val="00B050"/>
              </a:buClr>
            </a:pPr>
            <a:r>
              <a:rPr lang="en-US" altLang="zh-CN" b="1" dirty="0">
                <a:latin typeface="Times New Roman" panose="02020603050405020304" pitchFamily="18" charset="0"/>
                <a:ea typeface="微软雅黑" panose="020B0503020204020204" pitchFamily="34" charset="-122"/>
              </a:rPr>
              <a:t>1939</a:t>
            </a:r>
            <a:r>
              <a:rPr lang="zh-CN" altLang="en-US" b="1" dirty="0">
                <a:latin typeface="Times New Roman" panose="02020603050405020304" pitchFamily="18" charset="0"/>
                <a:ea typeface="微软雅黑" panose="020B0503020204020204" pitchFamily="34" charset="-122"/>
              </a:rPr>
              <a:t>年前苏联康托洛维奇（</a:t>
            </a:r>
            <a:r>
              <a:rPr lang="en-US" altLang="zh-CN" b="1" dirty="0">
                <a:latin typeface="Times New Roman" panose="02020603050405020304" pitchFamily="18" charset="0"/>
                <a:ea typeface="微软雅黑" panose="020B0503020204020204" pitchFamily="34" charset="-122"/>
              </a:rPr>
              <a:t>KOHTOPOBUZ</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生产组织与计划中的数学方法</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提出 “解乘数法”</a:t>
            </a:r>
            <a:endParaRPr lang="zh-CN" altLang="en-US" b="1" dirty="0">
              <a:solidFill>
                <a:srgbClr val="0033CC"/>
              </a:solidFill>
              <a:latin typeface="Times New Roman" panose="02020603050405020304" pitchFamily="18" charset="0"/>
              <a:ea typeface="华文楷体" panose="02010600040101010101" pitchFamily="2" charset="-122"/>
            </a:endParaRPr>
          </a:p>
        </p:txBody>
      </p:sp>
      <p:sp>
        <p:nvSpPr>
          <p:cNvPr id="15364" name="灯片编号占位符 1"/>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12</a:t>
            </a:fld>
            <a:endParaRPr lang="en-US" altLang="zh-CN" sz="1400" dirty="0">
              <a:ea typeface="微软雅黑" panose="020B0503020204020204" pitchFamily="34" charset="-122"/>
            </a:endParaRPr>
          </a:p>
        </p:txBody>
      </p:sp>
      <p:sp>
        <p:nvSpPr>
          <p:cNvPr id="15365" name="矩形 1"/>
          <p:cNvSpPr/>
          <p:nvPr/>
        </p:nvSpPr>
        <p:spPr>
          <a:xfrm>
            <a:off x="819150" y="906463"/>
            <a:ext cx="4287838" cy="584200"/>
          </a:xfrm>
          <a:prstGeom prst="rect">
            <a:avLst/>
          </a:prstGeom>
          <a:noFill/>
          <a:ln w="9525">
            <a:noFill/>
          </a:ln>
        </p:spPr>
        <p:txBody>
          <a:bodyPr wrap="none">
            <a:spAutoFit/>
          </a:bodyPr>
          <a:lstStyle/>
          <a:p>
            <a:pPr eaLnBrk="1" hangingPunct="1"/>
            <a:r>
              <a:rPr lang="zh-CN" altLang="en-US" sz="3200" b="1" dirty="0">
                <a:solidFill>
                  <a:srgbClr val="0000FF"/>
                </a:solidFill>
                <a:latin typeface="Tahoma" panose="020B0604030504040204" pitchFamily="34" charset="0"/>
                <a:ea typeface="微软雅黑" panose="020B0503020204020204" pitchFamily="34" charset="-122"/>
              </a:rPr>
              <a:t>线性规划理论的发展：</a:t>
            </a:r>
          </a:p>
        </p:txBody>
      </p:sp>
      <p:sp>
        <p:nvSpPr>
          <p:cNvPr id="3" name="矩形 2"/>
          <p:cNvSpPr/>
          <p:nvPr/>
        </p:nvSpPr>
        <p:spPr>
          <a:xfrm>
            <a:off x="2400300" y="3394075"/>
            <a:ext cx="6348413" cy="2678113"/>
          </a:xfrm>
          <a:prstGeom prst="rect">
            <a:avLst/>
          </a:prstGeom>
          <a:noFill/>
          <a:ln w="9525">
            <a:noFill/>
          </a:ln>
        </p:spPr>
        <p:txBody>
          <a:bodyPr>
            <a:spAutoFit/>
          </a:bodyPr>
          <a:lstStyle/>
          <a:p>
            <a:pPr algn="just" eaLnBrk="1" hangingPunct="1">
              <a:lnSpc>
                <a:spcPct val="150000"/>
              </a:lnSpc>
            </a:pPr>
            <a:r>
              <a:rPr lang="zh-CN" altLang="en-US" sz="2800" b="1" dirty="0">
                <a:latin typeface="Times New Roman" panose="02020603050405020304" pitchFamily="18" charset="0"/>
                <a:ea typeface="微软雅黑" panose="020B0503020204020204" pitchFamily="34" charset="-122"/>
              </a:rPr>
              <a:t>列奥尼德</a:t>
            </a:r>
            <a:r>
              <a:rPr lang="en-US" altLang="zh-CN" sz="2800" b="1" dirty="0">
                <a:latin typeface="Times New Roman" panose="02020603050405020304" pitchFamily="18" charset="0"/>
                <a:ea typeface="微软雅黑" panose="020B0503020204020204" pitchFamily="34" charset="-122"/>
              </a:rPr>
              <a:t>· </a:t>
            </a:r>
            <a:r>
              <a:rPr lang="zh-CN" altLang="en-US" sz="2800" b="1" dirty="0">
                <a:latin typeface="Times New Roman" panose="02020603050405020304" pitchFamily="18" charset="0"/>
                <a:ea typeface="微软雅黑" panose="020B0503020204020204" pitchFamily="34" charset="-122"/>
              </a:rPr>
              <a:t>康托罗维奇，前苏联人，由于在</a:t>
            </a:r>
            <a:r>
              <a:rPr lang="en-US" altLang="zh-CN" sz="2800" b="1" dirty="0">
                <a:latin typeface="Times New Roman" panose="02020603050405020304" pitchFamily="18" charset="0"/>
                <a:ea typeface="微软雅黑" panose="020B0503020204020204" pitchFamily="34" charset="-122"/>
              </a:rPr>
              <a:t>1939</a:t>
            </a:r>
            <a:r>
              <a:rPr lang="zh-CN" altLang="en-US" sz="2800" b="1" dirty="0">
                <a:latin typeface="Times New Roman" panose="02020603050405020304" pitchFamily="18" charset="0"/>
                <a:ea typeface="微软雅黑" panose="020B0503020204020204" pitchFamily="34" charset="-122"/>
              </a:rPr>
              <a:t>年创立了享誉全球的线性规划要点，对资源最优分配理论做出了贡献，而获得诺贝尔经济学奖</a:t>
            </a:r>
          </a:p>
        </p:txBody>
      </p:sp>
      <p:pic>
        <p:nvPicPr>
          <p:cNvPr id="58370" name="Picture 2" descr="http://s7.sinaimg.cn/orignal/43af69214d7901dda3f96"/>
          <p:cNvPicPr>
            <a:picLocks noChangeAspect="1"/>
          </p:cNvPicPr>
          <p:nvPr/>
        </p:nvPicPr>
        <p:blipFill>
          <a:blip r:embed="rId2"/>
          <a:stretch>
            <a:fillRect/>
          </a:stretch>
        </p:blipFill>
        <p:spPr>
          <a:xfrm>
            <a:off x="323850" y="3357563"/>
            <a:ext cx="1951038" cy="27527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8370"/>
                                        </p:tgtEl>
                                        <p:attrNameLst>
                                          <p:attrName>style.visibility</p:attrName>
                                        </p:attrNameLst>
                                      </p:cBhvr>
                                      <p:to>
                                        <p:strVal val="visible"/>
                                      </p:to>
                                    </p:set>
                                    <p:animEffect transition="in" filter="fade">
                                      <p:cBhvr>
                                        <p:cTn id="12" dur="1000"/>
                                        <p:tgtEl>
                                          <p:spTgt spid="58370"/>
                                        </p:tgtEl>
                                      </p:cBhvr>
                                    </p:animEffect>
                                    <p:anim calcmode="lin" valueType="num">
                                      <p:cBhvr>
                                        <p:cTn id="13" dur="1000" fill="hold"/>
                                        <p:tgtEl>
                                          <p:spTgt spid="58370"/>
                                        </p:tgtEl>
                                        <p:attrNameLst>
                                          <p:attrName>ppt_x</p:attrName>
                                        </p:attrNameLst>
                                      </p:cBhvr>
                                      <p:tavLst>
                                        <p:tav tm="0">
                                          <p:val>
                                            <p:strVal val="#ppt_x"/>
                                          </p:val>
                                        </p:tav>
                                        <p:tav tm="100000">
                                          <p:val>
                                            <p:strVal val="#ppt_x"/>
                                          </p:val>
                                        </p:tav>
                                      </p:tavLst>
                                    </p:anim>
                                    <p:anim calcmode="lin" valueType="num">
                                      <p:cBhvr>
                                        <p:cTn id="14" dur="1000" fill="hold"/>
                                        <p:tgtEl>
                                          <p:spTgt spid="5837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6"/>
          <p:cNvSpPr/>
          <p:nvPr/>
        </p:nvSpPr>
        <p:spPr>
          <a:xfrm>
            <a:off x="250825" y="476250"/>
            <a:ext cx="8497888" cy="1754188"/>
          </a:xfrm>
          <a:prstGeom prst="rect">
            <a:avLst/>
          </a:prstGeom>
          <a:solidFill>
            <a:srgbClr val="CC99FF"/>
          </a:solidFill>
          <a:ln w="9525">
            <a:noFill/>
          </a:ln>
        </p:spPr>
        <p:txBody>
          <a:bodyPr>
            <a:spAutoFit/>
          </a:bodyPr>
          <a:lstStyle/>
          <a:p>
            <a:pPr algn="just" eaLnBrk="1" hangingPunct="1">
              <a:lnSpc>
                <a:spcPct val="150000"/>
              </a:lnSpc>
              <a:buClr>
                <a:srgbClr val="00B050"/>
              </a:buClr>
            </a:pPr>
            <a:r>
              <a:rPr lang="en-US" altLang="zh-CN" b="1" dirty="0">
                <a:solidFill>
                  <a:srgbClr val="FFFFFF"/>
                </a:solidFill>
                <a:latin typeface="微软雅黑" panose="020B0503020204020204" pitchFamily="34" charset="-122"/>
                <a:ea typeface="微软雅黑" panose="020B0503020204020204" pitchFamily="34" charset="-122"/>
              </a:rPr>
              <a:t>1960</a:t>
            </a:r>
            <a:r>
              <a:rPr lang="zh-CN" altLang="en-US" b="1" dirty="0">
                <a:solidFill>
                  <a:srgbClr val="FFFFFF"/>
                </a:solidFill>
                <a:latin typeface="微软雅黑" panose="020B0503020204020204" pitchFamily="34" charset="-122"/>
                <a:ea typeface="微软雅黑" panose="020B0503020204020204" pitchFamily="34" charset="-122"/>
              </a:rPr>
              <a:t>年，“最佳资源利用的经济计算”康托洛维奇和库普曼斯</a:t>
            </a:r>
            <a:r>
              <a:rPr lang="en-US" altLang="zh-CN" b="1" dirty="0">
                <a:solidFill>
                  <a:srgbClr val="FFFFFF"/>
                </a:solidFill>
                <a:latin typeface="微软雅黑" panose="020B0503020204020204" pitchFamily="34" charset="-122"/>
                <a:ea typeface="微软雅黑" panose="020B0503020204020204" pitchFamily="34" charset="-122"/>
              </a:rPr>
              <a:t>(Koopmans)</a:t>
            </a:r>
            <a:r>
              <a:rPr lang="zh-CN" altLang="en-US" b="1" dirty="0">
                <a:solidFill>
                  <a:srgbClr val="FFFFFF"/>
                </a:solidFill>
                <a:latin typeface="微软雅黑" panose="020B0503020204020204" pitchFamily="34" charset="-122"/>
                <a:ea typeface="微软雅黑" panose="020B0503020204020204" pitchFamily="34" charset="-122"/>
              </a:rPr>
              <a:t>。两人因对资源最优分配理论的贡献而获得</a:t>
            </a:r>
            <a:r>
              <a:rPr lang="en-US" altLang="zh-CN" b="1" dirty="0">
                <a:solidFill>
                  <a:srgbClr val="FFFFFF"/>
                </a:solidFill>
                <a:latin typeface="微软雅黑" panose="020B0503020204020204" pitchFamily="34" charset="-122"/>
                <a:ea typeface="微软雅黑" panose="020B0503020204020204" pitchFamily="34" charset="-122"/>
              </a:rPr>
              <a:t>1975</a:t>
            </a:r>
            <a:r>
              <a:rPr lang="zh-CN" altLang="en-US" b="1" dirty="0">
                <a:solidFill>
                  <a:srgbClr val="FFFFFF"/>
                </a:solidFill>
                <a:latin typeface="微软雅黑" panose="020B0503020204020204" pitchFamily="34" charset="-122"/>
                <a:ea typeface="微软雅黑" panose="020B0503020204020204" pitchFamily="34" charset="-122"/>
              </a:rPr>
              <a:t>年诺贝尔经济学奖。</a:t>
            </a:r>
          </a:p>
        </p:txBody>
      </p:sp>
      <p:sp>
        <p:nvSpPr>
          <p:cNvPr id="16387" name="灯片编号占位符 1"/>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13</a:t>
            </a:fld>
            <a:endParaRPr lang="en-US" altLang="zh-CN" sz="1400" dirty="0">
              <a:ea typeface="微软雅黑" panose="020B0503020204020204" pitchFamily="34" charset="-122"/>
            </a:endParaRPr>
          </a:p>
        </p:txBody>
      </p:sp>
      <p:sp>
        <p:nvSpPr>
          <p:cNvPr id="16388" name="矩形 2"/>
          <p:cNvSpPr/>
          <p:nvPr/>
        </p:nvSpPr>
        <p:spPr>
          <a:xfrm>
            <a:off x="2843213" y="3716338"/>
            <a:ext cx="5627687" cy="1955800"/>
          </a:xfrm>
          <a:prstGeom prst="rect">
            <a:avLst/>
          </a:prstGeom>
          <a:noFill/>
          <a:ln w="9525">
            <a:noFill/>
          </a:ln>
        </p:spPr>
        <p:txBody>
          <a:bodyPr>
            <a:spAutoFit/>
          </a:bodyPr>
          <a:lstStyle/>
          <a:p>
            <a:pPr algn="just" eaLnBrk="1" hangingPunct="1">
              <a:lnSpc>
                <a:spcPct val="150000"/>
              </a:lnSpc>
            </a:pPr>
            <a:r>
              <a:rPr lang="zh-CN" altLang="en-US" sz="2800" b="1" dirty="0">
                <a:latin typeface="微软雅黑" panose="020B0503020204020204" pitchFamily="34" charset="-122"/>
                <a:ea typeface="微软雅黑" panose="020B0503020204020204" pitchFamily="34" charset="-122"/>
              </a:rPr>
              <a:t>佳林</a:t>
            </a: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库普曼斯，美国人，他将数理统计学成功运用于经济计量学，对资源最优分配理论做出了贡献</a:t>
            </a:r>
          </a:p>
        </p:txBody>
      </p:sp>
      <p:pic>
        <p:nvPicPr>
          <p:cNvPr id="16389" name="Picture 2" descr="http://lib.gdufs.edu.cn/uploads/20100720153052218.jpg"/>
          <p:cNvPicPr>
            <a:picLocks noChangeAspect="1"/>
          </p:cNvPicPr>
          <p:nvPr/>
        </p:nvPicPr>
        <p:blipFill>
          <a:blip r:embed="rId2"/>
          <a:stretch>
            <a:fillRect/>
          </a:stretch>
        </p:blipFill>
        <p:spPr>
          <a:xfrm>
            <a:off x="425450" y="3394075"/>
            <a:ext cx="1914525" cy="2693988"/>
          </a:xfrm>
          <a:prstGeom prst="rect">
            <a:avLst/>
          </a:prstGeom>
          <a:noFill/>
          <a:ln w="9525">
            <a:noFill/>
          </a:ln>
        </p:spPr>
      </p:pic>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
          <p:cNvSpPr/>
          <p:nvPr/>
        </p:nvSpPr>
        <p:spPr>
          <a:xfrm>
            <a:off x="395288" y="44450"/>
            <a:ext cx="8280400" cy="1754188"/>
          </a:xfrm>
          <a:prstGeom prst="rect">
            <a:avLst/>
          </a:prstGeom>
          <a:solidFill>
            <a:srgbClr val="66FFFF"/>
          </a:solidFill>
          <a:ln w="9525">
            <a:noFill/>
          </a:ln>
        </p:spPr>
        <p:txBody>
          <a:bodyPr>
            <a:spAutoFit/>
          </a:bodyPr>
          <a:lstStyle/>
          <a:p>
            <a:pPr algn="just" eaLnBrk="1" hangingPunct="1">
              <a:lnSpc>
                <a:spcPct val="150000"/>
              </a:lnSpc>
              <a:buClr>
                <a:srgbClr val="00B050"/>
              </a:buClr>
            </a:pPr>
            <a:r>
              <a:rPr lang="zh-CN" altLang="en-US" b="1" dirty="0">
                <a:latin typeface="Times New Roman" panose="02020603050405020304" pitchFamily="18" charset="0"/>
                <a:ea typeface="微软雅黑" panose="020B0503020204020204" pitchFamily="34" charset="-122"/>
              </a:rPr>
              <a:t>从</a:t>
            </a:r>
            <a:r>
              <a:rPr lang="en-US" altLang="zh-CN" b="1" dirty="0">
                <a:latin typeface="Times New Roman" panose="02020603050405020304" pitchFamily="18" charset="0"/>
                <a:ea typeface="微软雅黑" panose="020B0503020204020204" pitchFamily="34" charset="-122"/>
              </a:rPr>
              <a:t>1964</a:t>
            </a:r>
            <a:r>
              <a:rPr lang="zh-CN" altLang="en-US" b="1" dirty="0">
                <a:latin typeface="Times New Roman" panose="02020603050405020304" pitchFamily="18" charset="0"/>
                <a:ea typeface="微软雅黑" panose="020B0503020204020204" pitchFamily="34" charset="-122"/>
              </a:rPr>
              <a:t>年诺贝尔奖设经济学奖后，到</a:t>
            </a:r>
            <a:r>
              <a:rPr lang="en-US" altLang="zh-CN" b="1" dirty="0">
                <a:latin typeface="Times New Roman" panose="02020603050405020304" pitchFamily="18" charset="0"/>
                <a:ea typeface="微软雅黑" panose="020B0503020204020204" pitchFamily="34" charset="-122"/>
              </a:rPr>
              <a:t>1992</a:t>
            </a:r>
            <a:r>
              <a:rPr lang="zh-CN" altLang="en-US" b="1" dirty="0">
                <a:latin typeface="Times New Roman" panose="02020603050405020304" pitchFamily="18" charset="0"/>
                <a:ea typeface="微软雅黑" panose="020B0503020204020204" pitchFamily="34" charset="-122"/>
              </a:rPr>
              <a:t>年</a:t>
            </a:r>
            <a:r>
              <a:rPr lang="en-US" altLang="zh-CN" b="1" dirty="0">
                <a:latin typeface="Times New Roman" panose="02020603050405020304" pitchFamily="18" charset="0"/>
                <a:ea typeface="微软雅黑" panose="020B0503020204020204" pitchFamily="34" charset="-122"/>
              </a:rPr>
              <a:t>28</a:t>
            </a:r>
            <a:r>
              <a:rPr lang="zh-CN" altLang="en-US" b="1" dirty="0">
                <a:latin typeface="Times New Roman" panose="02020603050405020304" pitchFamily="18" charset="0"/>
                <a:ea typeface="微软雅黑" panose="020B0503020204020204" pitchFamily="34" charset="-122"/>
              </a:rPr>
              <a:t>年间的</a:t>
            </a:r>
            <a:r>
              <a:rPr lang="en-US" altLang="zh-CN" b="1" dirty="0">
                <a:latin typeface="Times New Roman" panose="02020603050405020304" pitchFamily="18" charset="0"/>
                <a:ea typeface="微软雅黑" panose="020B0503020204020204" pitchFamily="34" charset="-122"/>
              </a:rPr>
              <a:t>32</a:t>
            </a:r>
            <a:r>
              <a:rPr lang="zh-CN" altLang="en-US" b="1" dirty="0">
                <a:latin typeface="Times New Roman" panose="02020603050405020304" pitchFamily="18" charset="0"/>
                <a:ea typeface="微软雅黑" panose="020B0503020204020204" pitchFamily="34" charset="-122"/>
              </a:rPr>
              <a:t>名获奖者中有</a:t>
            </a:r>
            <a:r>
              <a:rPr lang="en-US" altLang="zh-CN" b="1" dirty="0">
                <a:latin typeface="Times New Roman" panose="02020603050405020304" pitchFamily="18" charset="0"/>
                <a:ea typeface="微软雅黑" panose="020B0503020204020204" pitchFamily="34" charset="-122"/>
              </a:rPr>
              <a:t>13</a:t>
            </a:r>
            <a:r>
              <a:rPr lang="zh-CN" altLang="en-US" b="1" dirty="0">
                <a:latin typeface="Times New Roman" panose="02020603050405020304" pitchFamily="18" charset="0"/>
                <a:ea typeface="微软雅黑" panose="020B0503020204020204" pitchFamily="34" charset="-122"/>
              </a:rPr>
              <a:t>人</a:t>
            </a:r>
            <a:r>
              <a:rPr lang="en-US" altLang="zh-CN" b="1" dirty="0">
                <a:latin typeface="Times New Roman" panose="02020603050405020304" pitchFamily="18" charset="0"/>
                <a:ea typeface="微软雅黑" panose="020B0503020204020204" pitchFamily="34" charset="-122"/>
              </a:rPr>
              <a:t>(40%)</a:t>
            </a:r>
            <a:r>
              <a:rPr lang="zh-CN" altLang="en-US" b="1" dirty="0">
                <a:latin typeface="Times New Roman" panose="02020603050405020304" pitchFamily="18" charset="0"/>
                <a:ea typeface="微软雅黑" panose="020B0503020204020204" pitchFamily="34" charset="-122"/>
              </a:rPr>
              <a:t>从事过与线性规划有关的研究工作，其中著名的有</a:t>
            </a:r>
            <a:r>
              <a:rPr lang="en-US" altLang="zh-CN" b="1" dirty="0">
                <a:latin typeface="Times New Roman" panose="02020603050405020304" pitchFamily="18" charset="0"/>
                <a:ea typeface="微软雅黑" panose="020B0503020204020204" pitchFamily="34" charset="-122"/>
              </a:rPr>
              <a:t>Simon</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Samuelson</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Leontief</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Arrow</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Miller</a:t>
            </a:r>
            <a:r>
              <a:rPr lang="zh-CN" altLang="en-US" b="1" dirty="0">
                <a:latin typeface="Times New Roman" panose="02020603050405020304" pitchFamily="18" charset="0"/>
                <a:ea typeface="微软雅黑" panose="020B0503020204020204" pitchFamily="34" charset="-122"/>
              </a:rPr>
              <a:t>等</a:t>
            </a:r>
            <a:endParaRPr lang="zh-CN" altLang="en-US" b="1" dirty="0">
              <a:solidFill>
                <a:srgbClr val="0033CC"/>
              </a:solidFill>
              <a:latin typeface="Times New Roman" panose="02020603050405020304" pitchFamily="18" charset="0"/>
              <a:ea typeface="微软雅黑" panose="020B0503020204020204" pitchFamily="34" charset="-122"/>
            </a:endParaRPr>
          </a:p>
        </p:txBody>
      </p:sp>
      <p:sp>
        <p:nvSpPr>
          <p:cNvPr id="17411" name="灯片编号占位符 1"/>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14</a:t>
            </a:fld>
            <a:endParaRPr lang="en-US" altLang="zh-CN" sz="1400" dirty="0">
              <a:ea typeface="微软雅黑" panose="020B0503020204020204" pitchFamily="34" charset="-122"/>
            </a:endParaRPr>
          </a:p>
        </p:txBody>
      </p:sp>
      <p:sp>
        <p:nvSpPr>
          <p:cNvPr id="8" name="矩形 7"/>
          <p:cNvSpPr/>
          <p:nvPr/>
        </p:nvSpPr>
        <p:spPr>
          <a:xfrm>
            <a:off x="117475" y="2128838"/>
            <a:ext cx="8569325" cy="4424362"/>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algn="just" eaLnBrk="1" hangingPunct="1">
              <a:lnSpc>
                <a:spcPct val="170000"/>
              </a:lnSpc>
              <a:buClr>
                <a:srgbClr val="00B050"/>
              </a:buClr>
              <a:buFont typeface="Wingdings" panose="05000000000000000000" pitchFamily="2" charset="2"/>
              <a:buChar char="u"/>
            </a:pPr>
            <a:r>
              <a:rPr lang="zh-CN" altLang="en-US" sz="1800" b="1" dirty="0">
                <a:latin typeface="Times New Roman" panose="02020603050405020304" pitchFamily="18" charset="0"/>
                <a:ea typeface="微软雅黑" panose="020B0503020204020204" pitchFamily="34" charset="-122"/>
              </a:rPr>
              <a:t>保罗</a:t>
            </a:r>
            <a:r>
              <a:rPr lang="en-US" altLang="zh-CN" sz="1800" b="1" dirty="0">
                <a:latin typeface="Times New Roman" panose="02020603050405020304" pitchFamily="18" charset="0"/>
                <a:ea typeface="微软雅黑" panose="020B0503020204020204" pitchFamily="34" charset="-122"/>
              </a:rPr>
              <a:t>-</a:t>
            </a:r>
            <a:r>
              <a:rPr lang="zh-CN" altLang="en-US" sz="1800" b="1" dirty="0">
                <a:latin typeface="Times New Roman" panose="02020603050405020304" pitchFamily="18" charset="0"/>
                <a:ea typeface="微软雅黑" panose="020B0503020204020204" pitchFamily="34" charset="-122"/>
              </a:rPr>
              <a:t>萨缪尔逊</a:t>
            </a:r>
            <a:r>
              <a:rPr lang="en-US" altLang="zh-CN" sz="1800"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Paul A Samuelson</a:t>
            </a:r>
            <a:r>
              <a:rPr lang="en-US" altLang="zh-CN" sz="1800" b="1" dirty="0">
                <a:latin typeface="Times New Roman" panose="02020603050405020304" pitchFamily="18" charset="0"/>
                <a:ea typeface="微软雅黑" panose="020B0503020204020204" pitchFamily="34" charset="-122"/>
              </a:rPr>
              <a:t>)(1915</a:t>
            </a:r>
            <a:r>
              <a:rPr lang="zh-CN" altLang="en-US" sz="1800" b="1" dirty="0">
                <a:latin typeface="Times New Roman" panose="02020603050405020304" pitchFamily="18" charset="0"/>
                <a:ea typeface="微软雅黑" panose="020B0503020204020204" pitchFamily="34" charset="-122"/>
              </a:rPr>
              <a:t>年</a:t>
            </a:r>
            <a:r>
              <a:rPr lang="en-US" altLang="zh-CN" sz="1800" b="1" dirty="0">
                <a:latin typeface="Times New Roman" panose="02020603050405020304" pitchFamily="18" charset="0"/>
                <a:ea typeface="微软雅黑" panose="020B0503020204020204" pitchFamily="34" charset="-122"/>
              </a:rPr>
              <a:t>5</a:t>
            </a:r>
            <a:r>
              <a:rPr lang="zh-CN" altLang="en-US" sz="1800" b="1" dirty="0">
                <a:latin typeface="Times New Roman" panose="02020603050405020304" pitchFamily="18" charset="0"/>
                <a:ea typeface="微软雅黑" panose="020B0503020204020204" pitchFamily="34" charset="-122"/>
              </a:rPr>
              <a:t>月</a:t>
            </a:r>
            <a:r>
              <a:rPr lang="en-US" altLang="zh-CN" sz="1800" b="1" dirty="0">
                <a:latin typeface="Times New Roman" panose="02020603050405020304" pitchFamily="18" charset="0"/>
                <a:ea typeface="微软雅黑" panose="020B0503020204020204" pitchFamily="34" charset="-122"/>
              </a:rPr>
              <a:t>15</a:t>
            </a:r>
            <a:r>
              <a:rPr lang="zh-CN" altLang="en-US" sz="1800" b="1" dirty="0">
                <a:latin typeface="Times New Roman" panose="02020603050405020304" pitchFamily="18" charset="0"/>
                <a:ea typeface="微软雅黑" panose="020B0503020204020204" pitchFamily="34" charset="-122"/>
              </a:rPr>
              <a:t>日</a:t>
            </a:r>
            <a:r>
              <a:rPr lang="en-US" altLang="zh-CN" sz="1800" b="1" dirty="0">
                <a:latin typeface="Times New Roman" panose="02020603050405020304" pitchFamily="18" charset="0"/>
                <a:ea typeface="微软雅黑" panose="020B0503020204020204" pitchFamily="34" charset="-122"/>
              </a:rPr>
              <a:t>-2009</a:t>
            </a:r>
            <a:r>
              <a:rPr lang="zh-CN" altLang="en-US" sz="1800" b="1" dirty="0">
                <a:latin typeface="Times New Roman" panose="02020603050405020304" pitchFamily="18" charset="0"/>
                <a:ea typeface="微软雅黑" panose="020B0503020204020204" pitchFamily="34" charset="-122"/>
              </a:rPr>
              <a:t>年</a:t>
            </a:r>
            <a:r>
              <a:rPr lang="en-US" altLang="zh-CN" sz="1800" b="1" dirty="0">
                <a:latin typeface="Times New Roman" panose="02020603050405020304" pitchFamily="18" charset="0"/>
                <a:ea typeface="微软雅黑" panose="020B0503020204020204" pitchFamily="34" charset="-122"/>
              </a:rPr>
              <a:t>12</a:t>
            </a:r>
            <a:r>
              <a:rPr lang="zh-CN" altLang="en-US" sz="1800" b="1" dirty="0">
                <a:latin typeface="Times New Roman" panose="02020603050405020304" pitchFamily="18" charset="0"/>
                <a:ea typeface="微软雅黑" panose="020B0503020204020204" pitchFamily="34" charset="-122"/>
              </a:rPr>
              <a:t>月</a:t>
            </a:r>
            <a:r>
              <a:rPr lang="en-US" altLang="zh-CN" sz="1800" b="1" dirty="0">
                <a:latin typeface="Times New Roman" panose="02020603050405020304" pitchFamily="18" charset="0"/>
                <a:ea typeface="微软雅黑" panose="020B0503020204020204" pitchFamily="34" charset="-122"/>
              </a:rPr>
              <a:t>13</a:t>
            </a:r>
            <a:r>
              <a:rPr lang="zh-CN" altLang="en-US" sz="1800" b="1" dirty="0">
                <a:latin typeface="Times New Roman" panose="02020603050405020304" pitchFamily="18" charset="0"/>
                <a:ea typeface="微软雅黑" panose="020B0503020204020204" pitchFamily="34" charset="-122"/>
              </a:rPr>
              <a:t>日</a:t>
            </a:r>
            <a:r>
              <a:rPr lang="en-US" altLang="zh-CN" sz="1800" b="1" dirty="0">
                <a:latin typeface="Times New Roman" panose="02020603050405020304" pitchFamily="18" charset="0"/>
                <a:ea typeface="微软雅黑" panose="020B0503020204020204" pitchFamily="34" charset="-122"/>
              </a:rPr>
              <a:t>), </a:t>
            </a:r>
            <a:r>
              <a:rPr lang="zh-CN" altLang="en-US" sz="1800" b="1" dirty="0">
                <a:latin typeface="Times New Roman" panose="02020603050405020304" pitchFamily="18" charset="0"/>
                <a:ea typeface="微软雅黑" panose="020B0503020204020204" pitchFamily="34" charset="-122"/>
              </a:rPr>
              <a:t>他发展了数理和动态经济理论，将经济科学提高到新的水平。他的研究涉及经济学的全部领域。</a:t>
            </a:r>
            <a:r>
              <a:rPr lang="zh-CN" altLang="en-US" sz="1800" dirty="0">
                <a:latin typeface="Tahoma" panose="020B0604030504040204" pitchFamily="34" charset="0"/>
                <a:ea typeface="微软雅黑" panose="020B0503020204020204" pitchFamily="34" charset="-122"/>
              </a:rPr>
              <a:t> </a:t>
            </a:r>
            <a:r>
              <a:rPr lang="en-US" altLang="zh-CN" sz="1800" b="1" dirty="0">
                <a:latin typeface="Times New Roman" panose="02020603050405020304" pitchFamily="18" charset="0"/>
                <a:ea typeface="微软雅黑" panose="020B0503020204020204" pitchFamily="34" charset="-122"/>
              </a:rPr>
              <a:t>1970</a:t>
            </a:r>
            <a:r>
              <a:rPr lang="zh-CN" altLang="en-US" sz="1800" b="1" dirty="0">
                <a:latin typeface="Times New Roman" panose="02020603050405020304" pitchFamily="18" charset="0"/>
                <a:ea typeface="微软雅黑" panose="020B0503020204020204" pitchFamily="34" charset="-122"/>
              </a:rPr>
              <a:t>年，</a:t>
            </a:r>
            <a:r>
              <a:rPr lang="en-US" altLang="zh-CN" sz="1800" b="1" dirty="0">
                <a:latin typeface="Times New Roman" panose="02020603050405020304" pitchFamily="18" charset="0"/>
                <a:ea typeface="微软雅黑" panose="020B0503020204020204" pitchFamily="34" charset="-122"/>
              </a:rPr>
              <a:t>55</a:t>
            </a:r>
            <a:r>
              <a:rPr lang="zh-CN" altLang="en-US" sz="1800" b="1" dirty="0">
                <a:latin typeface="Times New Roman" panose="02020603050405020304" pitchFamily="18" charset="0"/>
                <a:ea typeface="微软雅黑" panose="020B0503020204020204" pitchFamily="34" charset="-122"/>
              </a:rPr>
              <a:t>岁的萨缪尔森成为第一个获得</a:t>
            </a:r>
            <a:r>
              <a:rPr lang="zh-CN" altLang="en-US" sz="1800" b="1" dirty="0">
                <a:latin typeface="Times New Roman" panose="02020603050405020304" pitchFamily="18" charset="0"/>
                <a:ea typeface="微软雅黑" panose="020B0503020204020204" pitchFamily="34" charset="-122"/>
                <a:hlinkClick r:id="rId2"/>
              </a:rPr>
              <a:t>诺贝尔经济学奖</a:t>
            </a:r>
            <a:r>
              <a:rPr lang="zh-CN" altLang="en-US" sz="1800" b="1" dirty="0">
                <a:latin typeface="Times New Roman" panose="02020603050405020304" pitchFamily="18" charset="0"/>
                <a:ea typeface="微软雅黑" panose="020B0503020204020204" pitchFamily="34" charset="-122"/>
              </a:rPr>
              <a:t>的美国人</a:t>
            </a:r>
            <a:endParaRPr lang="en-US" altLang="zh-CN" sz="1800" b="1" dirty="0">
              <a:latin typeface="Times New Roman" panose="02020603050405020304" pitchFamily="18" charset="0"/>
              <a:ea typeface="微软雅黑" panose="020B0503020204020204" pitchFamily="34" charset="-122"/>
            </a:endParaRPr>
          </a:p>
          <a:p>
            <a:pPr marL="342900" indent="-342900" algn="just" eaLnBrk="1" hangingPunct="1">
              <a:lnSpc>
                <a:spcPct val="170000"/>
              </a:lnSpc>
              <a:buClr>
                <a:srgbClr val="00B050"/>
              </a:buClr>
              <a:buFont typeface="Wingdings" panose="05000000000000000000" pitchFamily="2" charset="2"/>
              <a:buChar char="u"/>
            </a:pPr>
            <a:r>
              <a:rPr lang="zh-CN" altLang="en-US" sz="1800" b="1" dirty="0">
                <a:latin typeface="Times New Roman" panose="02020603050405020304" pitchFamily="18" charset="0"/>
                <a:ea typeface="微软雅黑" panose="020B0503020204020204" pitchFamily="34" charset="-122"/>
              </a:rPr>
              <a:t>华西里</a:t>
            </a:r>
            <a:r>
              <a:rPr lang="en-US" altLang="zh-CN" sz="1800" b="1" dirty="0">
                <a:latin typeface="Times New Roman" panose="02020603050405020304" pitchFamily="18" charset="0"/>
                <a:ea typeface="微软雅黑" panose="020B0503020204020204" pitchFamily="34" charset="-122"/>
              </a:rPr>
              <a:t>· </a:t>
            </a:r>
            <a:r>
              <a:rPr lang="zh-CN" altLang="en-US" sz="1800" b="1" dirty="0">
                <a:latin typeface="Times New Roman" panose="02020603050405020304" pitchFamily="18" charset="0"/>
                <a:ea typeface="微软雅黑" panose="020B0503020204020204" pitchFamily="34" charset="-122"/>
              </a:rPr>
              <a:t>列昂惕夫（</a:t>
            </a:r>
            <a:r>
              <a:rPr lang="en-US" altLang="zh-CN" sz="1800" b="1" dirty="0">
                <a:latin typeface="Times New Roman" panose="02020603050405020304" pitchFamily="18" charset="0"/>
                <a:ea typeface="微软雅黑" panose="020B0503020204020204" pitchFamily="34" charset="-122"/>
              </a:rPr>
              <a:t>Wassily Leontief</a:t>
            </a:r>
            <a:r>
              <a:rPr lang="zh-CN" altLang="en-US" sz="1800" b="1" dirty="0">
                <a:latin typeface="Times New Roman" panose="02020603050405020304" pitchFamily="18" charset="0"/>
                <a:ea typeface="微软雅黑" panose="020B0503020204020204" pitchFamily="34" charset="-122"/>
              </a:rPr>
              <a:t>），美国人，他发展了投入产出方法，该方法在许多重要的经济问题中得到运用。曾获</a:t>
            </a:r>
            <a:r>
              <a:rPr lang="en-US" altLang="zh-CN" sz="1800" b="1" dirty="0">
                <a:latin typeface="Times New Roman" panose="02020603050405020304" pitchFamily="18" charset="0"/>
                <a:ea typeface="微软雅黑" panose="020B0503020204020204" pitchFamily="34" charset="-122"/>
              </a:rPr>
              <a:t>1973</a:t>
            </a:r>
            <a:r>
              <a:rPr lang="zh-CN" altLang="en-US" sz="1800" b="1" dirty="0">
                <a:latin typeface="Times New Roman" panose="02020603050405020304" pitchFamily="18" charset="0"/>
                <a:ea typeface="微软雅黑" panose="020B0503020204020204" pitchFamily="34" charset="-122"/>
              </a:rPr>
              <a:t>年诺贝尔经济科学奖</a:t>
            </a:r>
            <a:endParaRPr lang="en-US" altLang="zh-CN" sz="1800" b="1" dirty="0">
              <a:latin typeface="Times New Roman" panose="02020603050405020304" pitchFamily="18" charset="0"/>
              <a:ea typeface="微软雅黑" panose="020B0503020204020204" pitchFamily="34" charset="-122"/>
            </a:endParaRPr>
          </a:p>
          <a:p>
            <a:pPr marL="342900" indent="-342900" algn="just" eaLnBrk="1" hangingPunct="1">
              <a:lnSpc>
                <a:spcPct val="170000"/>
              </a:lnSpc>
              <a:buClr>
                <a:srgbClr val="00B050"/>
              </a:buClr>
              <a:buFont typeface="Wingdings" panose="05000000000000000000" pitchFamily="2" charset="2"/>
              <a:buChar char="u"/>
            </a:pPr>
            <a:r>
              <a:rPr lang="zh-CN" altLang="en-US" sz="1800" b="1" dirty="0">
                <a:latin typeface="Times New Roman" panose="02020603050405020304" pitchFamily="18" charset="0"/>
                <a:ea typeface="微软雅黑" panose="020B0503020204020204" pitchFamily="34" charset="-122"/>
              </a:rPr>
              <a:t>肯尼斯</a:t>
            </a:r>
            <a:r>
              <a:rPr lang="en-US" altLang="zh-CN" sz="1800" b="1" dirty="0">
                <a:latin typeface="Times New Roman" panose="02020603050405020304" pitchFamily="18" charset="0"/>
                <a:ea typeface="微软雅黑" panose="020B0503020204020204" pitchFamily="34" charset="-122"/>
              </a:rPr>
              <a:t>-J-</a:t>
            </a:r>
            <a:r>
              <a:rPr lang="zh-CN" altLang="en-US" sz="1800" b="1" dirty="0">
                <a:latin typeface="Times New Roman" panose="02020603050405020304" pitchFamily="18" charset="0"/>
                <a:ea typeface="微软雅黑" panose="020B0503020204020204" pitchFamily="34" charset="-122"/>
              </a:rPr>
              <a:t>阿罗（</a:t>
            </a:r>
            <a:r>
              <a:rPr lang="en-US" altLang="zh-CN" sz="1800" b="1" dirty="0">
                <a:latin typeface="Times New Roman" panose="02020603050405020304" pitchFamily="18" charset="0"/>
                <a:ea typeface="微软雅黑" panose="020B0503020204020204" pitchFamily="34" charset="-122"/>
              </a:rPr>
              <a:t>Kenneth J. Arrow</a:t>
            </a:r>
            <a:r>
              <a:rPr lang="zh-CN" altLang="en-US" sz="1800" b="1" dirty="0">
                <a:latin typeface="Times New Roman" panose="02020603050405020304" pitchFamily="18" charset="0"/>
                <a:ea typeface="微软雅黑" panose="020B0503020204020204" pitchFamily="34" charset="-122"/>
              </a:rPr>
              <a:t>），美国人，因与约翰</a:t>
            </a:r>
            <a:r>
              <a:rPr lang="en-US" altLang="zh-CN" sz="1800" b="1" dirty="0">
                <a:latin typeface="Times New Roman" panose="02020603050405020304" pitchFamily="18" charset="0"/>
                <a:ea typeface="微软雅黑" panose="020B0503020204020204" pitchFamily="34" charset="-122"/>
              </a:rPr>
              <a:t>-</a:t>
            </a:r>
            <a:r>
              <a:rPr lang="zh-CN" altLang="en-US" sz="1800" b="1" dirty="0">
                <a:latin typeface="Times New Roman" panose="02020603050405020304" pitchFamily="18" charset="0"/>
                <a:ea typeface="微软雅黑" panose="020B0503020204020204" pitchFamily="34" charset="-122"/>
              </a:rPr>
              <a:t>希克斯（</a:t>
            </a:r>
            <a:r>
              <a:rPr lang="en-US" altLang="zh-CN" sz="1800" b="1" dirty="0">
                <a:latin typeface="Times New Roman" panose="02020603050405020304" pitchFamily="18" charset="0"/>
                <a:ea typeface="微软雅黑" panose="020B0503020204020204" pitchFamily="34" charset="-122"/>
              </a:rPr>
              <a:t>JOHN R. HICKS</a:t>
            </a:r>
            <a:r>
              <a:rPr lang="zh-CN" altLang="en-US" sz="1800" b="1" dirty="0">
                <a:latin typeface="Times New Roman" panose="02020603050405020304" pitchFamily="18" charset="0"/>
                <a:ea typeface="微软雅黑" panose="020B0503020204020204" pitchFamily="34" charset="-122"/>
              </a:rPr>
              <a:t>）共同深入研究了经济均衡理论和福利理论获得</a:t>
            </a:r>
            <a:r>
              <a:rPr lang="en-US" altLang="zh-CN" sz="1800" b="1" dirty="0">
                <a:latin typeface="Times New Roman" panose="02020603050405020304" pitchFamily="18" charset="0"/>
                <a:ea typeface="微软雅黑" panose="020B0503020204020204" pitchFamily="34" charset="-122"/>
              </a:rPr>
              <a:t>1972</a:t>
            </a:r>
            <a:r>
              <a:rPr lang="zh-CN" altLang="en-US" sz="1800" b="1" dirty="0">
                <a:latin typeface="Times New Roman" panose="02020603050405020304" pitchFamily="18" charset="0"/>
                <a:ea typeface="微软雅黑" panose="020B0503020204020204" pitchFamily="34" charset="-122"/>
              </a:rPr>
              <a:t>年诺贝尔经济学奖</a:t>
            </a:r>
            <a:endParaRPr lang="en-US" altLang="zh-CN" sz="1800" b="1" dirty="0">
              <a:latin typeface="Times New Roman" panose="02020603050405020304" pitchFamily="18" charset="0"/>
              <a:ea typeface="微软雅黑" panose="020B0503020204020204" pitchFamily="34" charset="-122"/>
            </a:endParaRPr>
          </a:p>
          <a:p>
            <a:pPr marL="342900" indent="-342900" algn="just" eaLnBrk="1" hangingPunct="1">
              <a:lnSpc>
                <a:spcPct val="170000"/>
              </a:lnSpc>
              <a:buClr>
                <a:srgbClr val="00B050"/>
              </a:buClr>
              <a:buFont typeface="Wingdings" panose="05000000000000000000" pitchFamily="2" charset="2"/>
              <a:buChar char="u"/>
            </a:pPr>
            <a:r>
              <a:rPr lang="zh-CN" altLang="en-US" sz="1800" b="1" dirty="0">
                <a:latin typeface="Times New Roman" panose="02020603050405020304" pitchFamily="18" charset="0"/>
                <a:ea typeface="微软雅黑" panose="020B0503020204020204" pitchFamily="34" charset="-122"/>
              </a:rPr>
              <a:t>牟顿</a:t>
            </a:r>
            <a:r>
              <a:rPr lang="en-US" altLang="zh-CN" sz="1800" b="1" dirty="0">
                <a:latin typeface="Times New Roman" panose="02020603050405020304" pitchFamily="18" charset="0"/>
                <a:ea typeface="微软雅黑" panose="020B0503020204020204" pitchFamily="34" charset="-122"/>
              </a:rPr>
              <a:t>-</a:t>
            </a:r>
            <a:r>
              <a:rPr lang="zh-CN" altLang="en-US" sz="1800" b="1" dirty="0">
                <a:latin typeface="Times New Roman" panose="02020603050405020304" pitchFamily="18" charset="0"/>
                <a:ea typeface="微软雅黑" panose="020B0503020204020204" pitchFamily="34" charset="-122"/>
              </a:rPr>
              <a:t>米勒（</a:t>
            </a:r>
            <a:r>
              <a:rPr lang="en-US" altLang="zh-CN" sz="1800" b="1" dirty="0">
                <a:latin typeface="Times New Roman" panose="02020603050405020304" pitchFamily="18" charset="0"/>
                <a:ea typeface="微软雅黑" panose="020B0503020204020204" pitchFamily="34" charset="-122"/>
              </a:rPr>
              <a:t>Merton M. Miller</a:t>
            </a:r>
            <a:r>
              <a:rPr lang="zh-CN" altLang="en-US" sz="1800" b="1" dirty="0">
                <a:latin typeface="Times New Roman" panose="02020603050405020304" pitchFamily="18" charset="0"/>
                <a:ea typeface="微软雅黑" panose="020B0503020204020204" pitchFamily="34" charset="-122"/>
              </a:rPr>
              <a:t>），</a:t>
            </a:r>
            <a:r>
              <a:rPr lang="en-US" altLang="zh-CN" sz="1800" b="1" dirty="0">
                <a:latin typeface="Times New Roman" panose="02020603050405020304" pitchFamily="18" charset="0"/>
                <a:ea typeface="微软雅黑" panose="020B0503020204020204" pitchFamily="34" charset="-122"/>
              </a:rPr>
              <a:t>1923-2000</a:t>
            </a:r>
            <a:r>
              <a:rPr lang="zh-CN" altLang="en-US" sz="1800" b="1" dirty="0">
                <a:latin typeface="Times New Roman" panose="02020603050405020304" pitchFamily="18" charset="0"/>
                <a:ea typeface="微软雅黑" panose="020B0503020204020204" pitchFamily="34" charset="-122"/>
              </a:rPr>
              <a:t>，美国人，由于他在金融经济学方面做出了开创性工作，于</a:t>
            </a:r>
            <a:r>
              <a:rPr lang="en-US" altLang="zh-CN" sz="1800" b="1" dirty="0">
                <a:latin typeface="Times New Roman" panose="02020603050405020304" pitchFamily="18" charset="0"/>
                <a:ea typeface="微软雅黑" panose="020B0503020204020204" pitchFamily="34" charset="-122"/>
              </a:rPr>
              <a:t>1990</a:t>
            </a:r>
            <a:r>
              <a:rPr lang="zh-CN" altLang="en-US" sz="1800" b="1" dirty="0">
                <a:latin typeface="Times New Roman" panose="02020603050405020304" pitchFamily="18" charset="0"/>
                <a:ea typeface="微软雅黑" panose="020B0503020204020204" pitchFamily="34" charset="-122"/>
              </a:rPr>
              <a:t>年获得诺贝尔经济奖</a:t>
            </a:r>
            <a:endParaRPr lang="zh-CN" altLang="en-US" sz="1800" b="1" dirty="0">
              <a:solidFill>
                <a:srgbClr val="0033CC"/>
              </a:solidFill>
              <a:latin typeface="Times New Roman" panose="02020603050405020304" pitchFamily="18"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wipe(down)">
                                      <p:cBhvr>
                                        <p:cTn id="24"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p:nvPr/>
        </p:nvSpPr>
        <p:spPr>
          <a:xfrm>
            <a:off x="250825" y="333375"/>
            <a:ext cx="8534400" cy="4647426"/>
          </a:xfrm>
          <a:prstGeom prst="rect">
            <a:avLst/>
          </a:prstGeom>
          <a:noFill/>
          <a:ln w="9525">
            <a:noFill/>
          </a:ln>
        </p:spPr>
        <p:txBody>
          <a:bodyPr>
            <a:spAutoFit/>
          </a:bodyPr>
          <a:lstStyle/>
          <a:p>
            <a:pPr algn="ctr" eaLnBrk="1" hangingPunct="1"/>
            <a:endParaRPr lang="zh-CN" altLang="en-US" sz="3200" b="1" dirty="0">
              <a:solidFill>
                <a:srgbClr val="FF0000"/>
              </a:solidFill>
              <a:latin typeface="微软雅黑" panose="020B0503020204020204" pitchFamily="34" charset="-122"/>
              <a:ea typeface="微软雅黑" panose="020B0503020204020204" pitchFamily="34" charset="-122"/>
            </a:endParaRPr>
          </a:p>
          <a:p>
            <a:pPr algn="just" eaLnBrk="1" hangingPunct="1"/>
            <a:r>
              <a:rPr lang="zh-CN" altLang="en-US" b="1" dirty="0">
                <a:solidFill>
                  <a:srgbClr val="000000"/>
                </a:solidFill>
                <a:latin typeface="微软雅黑" panose="020B0503020204020204" pitchFamily="34" charset="-122"/>
                <a:ea typeface="微软雅黑" panose="020B0503020204020204" pitchFamily="34" charset="-122"/>
              </a:rPr>
              <a:t>运筹学（</a:t>
            </a:r>
            <a:r>
              <a:rPr lang="en-US" altLang="zh-CN" b="1" dirty="0">
                <a:solidFill>
                  <a:srgbClr val="000000"/>
                </a:solidFill>
                <a:latin typeface="微软雅黑" panose="020B0503020204020204" pitchFamily="34" charset="-122"/>
                <a:ea typeface="微软雅黑" panose="020B0503020204020204" pitchFamily="34" charset="-122"/>
              </a:rPr>
              <a:t>Operational Research)</a:t>
            </a:r>
            <a:r>
              <a:rPr lang="zh-CN" altLang="en-US" b="1" dirty="0">
                <a:solidFill>
                  <a:srgbClr val="000000"/>
                </a:solidFill>
                <a:latin typeface="微软雅黑" panose="020B0503020204020204" pitchFamily="34" charset="-122"/>
                <a:ea typeface="微软雅黑" panose="020B0503020204020204" pitchFamily="34" charset="-122"/>
              </a:rPr>
              <a:t>产生于</a:t>
            </a:r>
            <a:r>
              <a:rPr lang="en-US" altLang="zh-CN" b="1" dirty="0">
                <a:solidFill>
                  <a:srgbClr val="000000"/>
                </a:solidFill>
                <a:latin typeface="微软雅黑" panose="020B0503020204020204" pitchFamily="34" charset="-122"/>
                <a:ea typeface="微软雅黑" panose="020B0503020204020204" pitchFamily="34" charset="-122"/>
              </a:rPr>
              <a:t>20</a:t>
            </a:r>
            <a:r>
              <a:rPr lang="zh-CN" altLang="en-US" b="1" dirty="0">
                <a:solidFill>
                  <a:srgbClr val="000000"/>
                </a:solidFill>
                <a:latin typeface="微软雅黑" panose="020B0503020204020204" pitchFamily="34" charset="-122"/>
                <a:ea typeface="微软雅黑" panose="020B0503020204020204" pitchFamily="34" charset="-122"/>
              </a:rPr>
              <a:t>世纪</a:t>
            </a:r>
            <a:r>
              <a:rPr lang="en-US" altLang="zh-CN" b="1" dirty="0">
                <a:solidFill>
                  <a:srgbClr val="000000"/>
                </a:solidFill>
                <a:latin typeface="微软雅黑" panose="020B0503020204020204" pitchFamily="34" charset="-122"/>
                <a:ea typeface="微软雅黑" panose="020B0503020204020204" pitchFamily="34" charset="-122"/>
              </a:rPr>
              <a:t>30</a:t>
            </a:r>
            <a:r>
              <a:rPr lang="zh-CN" altLang="en-US" b="1" dirty="0">
                <a:solidFill>
                  <a:srgbClr val="000000"/>
                </a:solidFill>
                <a:latin typeface="微软雅黑" panose="020B0503020204020204" pitchFamily="34" charset="-122"/>
                <a:ea typeface="微软雅黑" panose="020B0503020204020204" pitchFamily="34" charset="-122"/>
              </a:rPr>
              <a:t>年代末，主要研究解决短期的和战术性的问题</a:t>
            </a:r>
            <a:endParaRPr lang="zh-CN" altLang="en-US" b="1" dirty="0">
              <a:latin typeface="微软雅黑" panose="020B0503020204020204" pitchFamily="34" charset="-122"/>
              <a:ea typeface="微软雅黑" panose="020B0503020204020204" pitchFamily="34" charset="-122"/>
            </a:endParaRPr>
          </a:p>
          <a:p>
            <a:pPr algn="just" eaLnBrk="1" hangingPunct="1"/>
            <a:endParaRPr lang="zh-CN" altLang="en-US"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b="1" dirty="0">
                <a:solidFill>
                  <a:srgbClr val="000000"/>
                </a:solidFill>
                <a:latin typeface="微软雅黑" panose="020B0503020204020204" pitchFamily="34" charset="-122"/>
                <a:ea typeface="微软雅黑" panose="020B0503020204020204" pitchFamily="34" charset="-122"/>
              </a:rPr>
              <a:t>二战后，以兰德公司（</a:t>
            </a:r>
            <a:r>
              <a:rPr lang="en-US" altLang="zh-CN" b="1" dirty="0">
                <a:solidFill>
                  <a:srgbClr val="000000"/>
                </a:solidFill>
                <a:latin typeface="微软雅黑" panose="020B0503020204020204" pitchFamily="34" charset="-122"/>
                <a:ea typeface="微软雅黑" panose="020B0503020204020204" pitchFamily="34" charset="-122"/>
              </a:rPr>
              <a:t>Rand</a:t>
            </a:r>
            <a:r>
              <a:rPr lang="zh-CN" altLang="en-US" b="1" dirty="0">
                <a:solidFill>
                  <a:srgbClr val="000000"/>
                </a:solidFill>
                <a:latin typeface="微软雅黑" panose="020B0503020204020204" pitchFamily="34" charset="-122"/>
                <a:ea typeface="微软雅黑" panose="020B0503020204020204" pitchFamily="34" charset="-122"/>
              </a:rPr>
              <a:t>）为代表，着重研究战略性问题</a:t>
            </a:r>
          </a:p>
          <a:p>
            <a:pPr algn="just" eaLnBrk="1" hangingPunct="1"/>
            <a:endParaRPr lang="zh-CN" altLang="en-US" b="1" dirty="0">
              <a:solidFill>
                <a:srgbClr val="000000"/>
              </a:solidFill>
              <a:latin typeface="微软雅黑" panose="020B0503020204020204" pitchFamily="34" charset="-122"/>
              <a:ea typeface="微软雅黑" panose="020B0503020204020204" pitchFamily="34" charset="-122"/>
            </a:endParaRPr>
          </a:p>
          <a:p>
            <a:pPr algn="just" eaLnBrk="1" hangingPunct="1"/>
            <a:r>
              <a:rPr lang="en-US" altLang="zh-CN" b="1" dirty="0">
                <a:solidFill>
                  <a:srgbClr val="000000"/>
                </a:solidFill>
                <a:latin typeface="微软雅黑" panose="020B0503020204020204" pitchFamily="34" charset="-122"/>
                <a:ea typeface="微软雅黑" panose="020B0503020204020204" pitchFamily="34" charset="-122"/>
              </a:rPr>
              <a:t>1947</a:t>
            </a:r>
            <a:r>
              <a:rPr lang="zh-CN" altLang="en-US" b="1" dirty="0">
                <a:solidFill>
                  <a:srgbClr val="000000"/>
                </a:solidFill>
                <a:latin typeface="微软雅黑" panose="020B0503020204020204" pitchFamily="34" charset="-122"/>
                <a:ea typeface="微软雅黑" panose="020B0503020204020204" pitchFamily="34" charset="-122"/>
              </a:rPr>
              <a:t>年</a:t>
            </a:r>
            <a:r>
              <a:rPr lang="en-US" altLang="zh-CN" b="1" dirty="0">
                <a:solidFill>
                  <a:srgbClr val="000000"/>
                </a:solidFill>
                <a:latin typeface="微软雅黑" panose="020B0503020204020204" pitchFamily="34" charset="-122"/>
                <a:ea typeface="微软雅黑" panose="020B0503020204020204" pitchFamily="34" charset="-122"/>
              </a:rPr>
              <a:t>G.B.Dantzig</a:t>
            </a:r>
            <a:r>
              <a:rPr lang="zh-CN" altLang="en-US" b="1" dirty="0">
                <a:solidFill>
                  <a:srgbClr val="000000"/>
                </a:solidFill>
                <a:latin typeface="微软雅黑" panose="020B0503020204020204" pitchFamily="34" charset="-122"/>
                <a:ea typeface="微软雅黑" panose="020B0503020204020204" pitchFamily="34" charset="-122"/>
              </a:rPr>
              <a:t>提出了线性规划问题及单纯形法求解。</a:t>
            </a:r>
            <a:r>
              <a:rPr lang="zh-CN" altLang="en-US" b="1" dirty="0">
                <a:solidFill>
                  <a:srgbClr val="0000FF"/>
                </a:solidFill>
                <a:latin typeface="微软雅黑" panose="020B0503020204020204" pitchFamily="34" charset="-122"/>
                <a:ea typeface="微软雅黑" panose="020B0503020204020204" pitchFamily="34" charset="-122"/>
              </a:rPr>
              <a:t>理论上更加成熟，实际应用更加深入、广泛</a:t>
            </a:r>
          </a:p>
          <a:p>
            <a:pPr algn="just" eaLnBrk="1" hangingPunct="1"/>
            <a:endParaRPr lang="zh-CN" altLang="en-US" b="1" dirty="0">
              <a:solidFill>
                <a:srgbClr val="000000"/>
              </a:solidFill>
              <a:latin typeface="微软雅黑" panose="020B0503020204020204" pitchFamily="34" charset="-122"/>
              <a:ea typeface="微软雅黑" panose="020B0503020204020204" pitchFamily="34" charset="-122"/>
            </a:endParaRPr>
          </a:p>
          <a:p>
            <a:pPr algn="just" eaLnBrk="1" hangingPunct="1"/>
            <a:r>
              <a:rPr lang="en-US" altLang="zh-CN" b="1" dirty="0">
                <a:solidFill>
                  <a:srgbClr val="000000"/>
                </a:solidFill>
                <a:latin typeface="微软雅黑" panose="020B0503020204020204" pitchFamily="34" charset="-122"/>
                <a:ea typeface="微软雅黑" panose="020B0503020204020204" pitchFamily="34" charset="-122"/>
              </a:rPr>
              <a:t>1959</a:t>
            </a:r>
            <a:r>
              <a:rPr lang="zh-CN" altLang="en-US" b="1" dirty="0">
                <a:solidFill>
                  <a:srgbClr val="000000"/>
                </a:solidFill>
                <a:latin typeface="微软雅黑" panose="020B0503020204020204" pitchFamily="34" charset="-122"/>
                <a:ea typeface="微软雅黑" panose="020B0503020204020204" pitchFamily="34" charset="-122"/>
              </a:rPr>
              <a:t>年成立国际运筹学联合会</a:t>
            </a:r>
            <a:endParaRPr lang="en-US" altLang="zh-CN" b="1" dirty="0">
              <a:solidFill>
                <a:srgbClr val="000000"/>
              </a:solidFill>
              <a:latin typeface="微软雅黑" panose="020B0503020204020204" pitchFamily="34" charset="-122"/>
              <a:ea typeface="微软雅黑" panose="020B0503020204020204" pitchFamily="34" charset="-122"/>
            </a:endParaRPr>
          </a:p>
          <a:p>
            <a:pPr algn="just" eaLnBrk="1" hangingPunct="1"/>
            <a:r>
              <a:rPr lang="zh-CN" altLang="en-US" b="1" dirty="0">
                <a:solidFill>
                  <a:srgbClr val="000000"/>
                </a:solidFill>
                <a:latin typeface="微软雅黑" panose="020B0503020204020204" pitchFamily="34" charset="-122"/>
                <a:ea typeface="微软雅黑" panose="020B0503020204020204" pitchFamily="34" charset="-122"/>
              </a:rPr>
              <a:t>我国</a:t>
            </a:r>
            <a:r>
              <a:rPr lang="en-US" altLang="zh-CN" b="1" dirty="0">
                <a:solidFill>
                  <a:srgbClr val="000000"/>
                </a:solidFill>
                <a:latin typeface="微软雅黑" panose="020B0503020204020204" pitchFamily="34" charset="-122"/>
                <a:ea typeface="微软雅黑" panose="020B0503020204020204" pitchFamily="34" charset="-122"/>
              </a:rPr>
              <a:t>1980</a:t>
            </a:r>
            <a:r>
              <a:rPr lang="zh-CN" altLang="en-US" b="1" dirty="0">
                <a:solidFill>
                  <a:srgbClr val="000000"/>
                </a:solidFill>
                <a:latin typeface="微软雅黑" panose="020B0503020204020204" pitchFamily="34" charset="-122"/>
                <a:ea typeface="微软雅黑" panose="020B0503020204020204" pitchFamily="34" charset="-122"/>
              </a:rPr>
              <a:t>年成立运筹学会，</a:t>
            </a:r>
            <a:r>
              <a:rPr lang="en-US" altLang="zh-CN" b="1" dirty="0">
                <a:solidFill>
                  <a:srgbClr val="000000"/>
                </a:solidFill>
                <a:latin typeface="微软雅黑" panose="020B0503020204020204" pitchFamily="34" charset="-122"/>
                <a:ea typeface="微软雅黑" panose="020B0503020204020204" pitchFamily="34" charset="-122"/>
              </a:rPr>
              <a:t>1982</a:t>
            </a:r>
            <a:r>
              <a:rPr lang="zh-CN" altLang="en-US" b="1" dirty="0">
                <a:solidFill>
                  <a:srgbClr val="000000"/>
                </a:solidFill>
                <a:latin typeface="微软雅黑" panose="020B0503020204020204" pitchFamily="34" charset="-122"/>
                <a:ea typeface="微软雅黑" panose="020B0503020204020204" pitchFamily="34" charset="-122"/>
              </a:rPr>
              <a:t>年加入国际运筹学联合会</a:t>
            </a:r>
            <a:endParaRPr lang="en-US" altLang="zh-CN" b="1" dirty="0">
              <a:solidFill>
                <a:srgbClr val="000000"/>
              </a:solidFill>
              <a:latin typeface="微软雅黑" panose="020B0503020204020204" pitchFamily="34" charset="-122"/>
              <a:ea typeface="微软雅黑" panose="020B0503020204020204" pitchFamily="34" charset="-122"/>
            </a:endParaRPr>
          </a:p>
          <a:p>
            <a:pPr eaLnBrk="1" hangingPunct="1"/>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1314">
                                            <p:txEl>
                                              <p:pRg st="3" end="3"/>
                                            </p:txEl>
                                          </p:spTgt>
                                        </p:tgtEl>
                                        <p:attrNameLst>
                                          <p:attrName>style.visibility</p:attrName>
                                        </p:attrNameLst>
                                      </p:cBhvr>
                                      <p:to>
                                        <p:strVal val="visible"/>
                                      </p:to>
                                    </p:set>
                                    <p:animEffect transition="in" filter="blinds(horizontal)">
                                      <p:cBhvr>
                                        <p:cTn id="7" dur="500"/>
                                        <p:tgtEl>
                                          <p:spTgt spid="14131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1314">
                                            <p:txEl>
                                              <p:pRg st="5" end="5"/>
                                            </p:txEl>
                                          </p:spTgt>
                                        </p:tgtEl>
                                        <p:attrNameLst>
                                          <p:attrName>style.visibility</p:attrName>
                                        </p:attrNameLst>
                                      </p:cBhvr>
                                      <p:to>
                                        <p:strVal val="visible"/>
                                      </p:to>
                                    </p:set>
                                    <p:animEffect transition="in" filter="blinds(horizontal)">
                                      <p:cBhvr>
                                        <p:cTn id="12" dur="500"/>
                                        <p:tgtEl>
                                          <p:spTgt spid="14131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1314">
                                            <p:txEl>
                                              <p:pRg st="7" end="7"/>
                                            </p:txEl>
                                          </p:spTgt>
                                        </p:tgtEl>
                                        <p:attrNameLst>
                                          <p:attrName>style.visibility</p:attrName>
                                        </p:attrNameLst>
                                      </p:cBhvr>
                                      <p:to>
                                        <p:strVal val="visible"/>
                                      </p:to>
                                    </p:set>
                                    <p:animEffect transition="in" filter="blinds(horizontal)">
                                      <p:cBhvr>
                                        <p:cTn id="17" dur="500"/>
                                        <p:tgtEl>
                                          <p:spTgt spid="14131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1314">
                                            <p:txEl>
                                              <p:pRg st="8" end="8"/>
                                            </p:txEl>
                                          </p:spTgt>
                                        </p:tgtEl>
                                        <p:attrNameLst>
                                          <p:attrName>style.visibility</p:attrName>
                                        </p:attrNameLst>
                                      </p:cBhvr>
                                      <p:to>
                                        <p:strVal val="visible"/>
                                      </p:to>
                                    </p:set>
                                    <p:animEffect transition="in" filter="blinds(horizontal)">
                                      <p:cBhvr>
                                        <p:cTn id="22" dur="500"/>
                                        <p:tgtEl>
                                          <p:spTgt spid="1413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050"/>
          <p:cNvSpPr txBox="1"/>
          <p:nvPr/>
        </p:nvSpPr>
        <p:spPr>
          <a:xfrm>
            <a:off x="323850" y="0"/>
            <a:ext cx="8820150" cy="2800350"/>
          </a:xfrm>
          <a:prstGeom prst="rect">
            <a:avLst/>
          </a:prstGeom>
          <a:noFill/>
          <a:ln w="9525">
            <a:noFill/>
          </a:ln>
        </p:spPr>
        <p:txBody>
          <a:bodyPr>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运筹学包含的分支</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数学规划（线性规划、整数规划、目标规划、非线性规划、</a:t>
            </a:r>
            <a:endParaRPr lang="en-US" altLang="zh-CN" b="1" dirty="0">
              <a:solidFill>
                <a:srgbClr val="3333FF"/>
              </a:solidFill>
              <a:latin typeface="微软雅黑" panose="020B0503020204020204" pitchFamily="34" charset="-122"/>
              <a:ea typeface="微软雅黑" panose="020B0503020204020204" pitchFamily="34" charset="-122"/>
            </a:endParaRPr>
          </a:p>
          <a:p>
            <a:pPr algn="just" eaLnBrk="1" hangingPunct="1">
              <a:spcBef>
                <a:spcPct val="50000"/>
              </a:spcBef>
              <a:buClr>
                <a:srgbClr val="FF0000"/>
              </a:buClr>
            </a:pPr>
            <a:r>
              <a:rPr lang="en-US" altLang="zh-CN" b="1" dirty="0">
                <a:solidFill>
                  <a:srgbClr val="3333FF"/>
                </a:solidFill>
                <a:latin typeface="微软雅黑" panose="020B0503020204020204" pitchFamily="34" charset="-122"/>
                <a:ea typeface="微软雅黑" panose="020B0503020204020204" pitchFamily="34" charset="-122"/>
              </a:rPr>
              <a:t>                    </a:t>
            </a:r>
            <a:r>
              <a:rPr lang="zh-CN" altLang="en-US" b="1" dirty="0">
                <a:solidFill>
                  <a:srgbClr val="3333FF"/>
                </a:solidFill>
                <a:latin typeface="微软雅黑" panose="020B0503020204020204" pitchFamily="34" charset="-122"/>
                <a:ea typeface="微软雅黑" panose="020B0503020204020204" pitchFamily="34" charset="-122"/>
              </a:rPr>
              <a:t>动态规划、网络规划）</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图论与网络流</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决策分析</a:t>
            </a:r>
          </a:p>
        </p:txBody>
      </p:sp>
      <p:sp>
        <p:nvSpPr>
          <p:cNvPr id="22531" name="Text Box 2051"/>
          <p:cNvSpPr txBox="1"/>
          <p:nvPr/>
        </p:nvSpPr>
        <p:spPr>
          <a:xfrm>
            <a:off x="323850" y="2852738"/>
            <a:ext cx="7391400" cy="3232150"/>
          </a:xfrm>
          <a:prstGeom prst="rect">
            <a:avLst/>
          </a:prstGeom>
          <a:noFill/>
          <a:ln w="9525">
            <a:noFill/>
          </a:ln>
        </p:spPr>
        <p:txBody>
          <a:bodyPr>
            <a:spAutoFit/>
          </a:bodyPr>
          <a:lstStyle/>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排队论</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可靠性数学理论</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库存论</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对策论</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搜索论</a:t>
            </a:r>
          </a:p>
          <a:p>
            <a:pPr algn="just" eaLnBrk="1" hangingPunct="1">
              <a:spcBef>
                <a:spcPct val="50000"/>
              </a:spcBef>
              <a:buClr>
                <a:srgbClr val="FF0000"/>
              </a:buClr>
              <a:buFont typeface="Wingdings" panose="05000000000000000000" pitchFamily="2" charset="2"/>
              <a:buChar char="v"/>
            </a:pPr>
            <a:r>
              <a:rPr lang="zh-CN" altLang="en-US" b="1" dirty="0">
                <a:solidFill>
                  <a:srgbClr val="3333FF"/>
                </a:solidFill>
                <a:latin typeface="微软雅黑" panose="020B0503020204020204" pitchFamily="34" charset="-122"/>
                <a:ea typeface="微软雅黑" panose="020B0503020204020204" pitchFamily="34" charset="-122"/>
              </a:rPr>
              <a:t>计算机模拟等</a:t>
            </a:r>
          </a:p>
        </p:txBody>
      </p:sp>
      <p:sp>
        <p:nvSpPr>
          <p:cNvPr id="22532" name="Text Box 2052"/>
          <p:cNvSpPr txBox="1"/>
          <p:nvPr/>
        </p:nvSpPr>
        <p:spPr>
          <a:xfrm>
            <a:off x="3419475" y="3500438"/>
            <a:ext cx="5543550" cy="1631950"/>
          </a:xfrm>
          <a:prstGeom prst="rect">
            <a:avLst/>
          </a:prstGeom>
          <a:noFill/>
          <a:ln w="9525" cap="flat" cmpd="sng">
            <a:solidFill>
              <a:srgbClr val="080808"/>
            </a:solidFill>
            <a:prstDash val="solid"/>
            <a:miter/>
            <a:headEnd type="none" w="med" len="med"/>
            <a:tailEnd type="none" w="med" len="med"/>
          </a:ln>
        </p:spPr>
        <p:txBody>
          <a:bodyPr>
            <a:spAutoFit/>
          </a:bodyPr>
          <a:lstStyle/>
          <a:p>
            <a:pPr eaLnBrk="1" hangingPunct="1">
              <a:spcBef>
                <a:spcPct val="50000"/>
              </a:spcBef>
            </a:pPr>
            <a:r>
              <a:rPr lang="zh-CN" altLang="en-US" sz="2000" b="1" dirty="0">
                <a:solidFill>
                  <a:srgbClr val="800000"/>
                </a:solidFill>
                <a:latin typeface="微软雅黑" panose="020B0503020204020204" pitchFamily="34" charset="-122"/>
                <a:ea typeface="微软雅黑" panose="020B0503020204020204" pitchFamily="34" charset="-122"/>
              </a:rPr>
              <a:t>运用概率统计和运筹学的理论和方法对产品（单元或系统）的可靠性作定量研究。它是可靠性理论的基础之一。可靠性是指产品在一定条件下完成其预定功能的能力，丧失功能称为失效。可靠性理论是以产品的寿命特征为研究对象的</a:t>
            </a:r>
          </a:p>
        </p:txBody>
      </p:sp>
      <p:sp>
        <p:nvSpPr>
          <p:cNvPr id="22533" name="Line 2053"/>
          <p:cNvSpPr/>
          <p:nvPr/>
        </p:nvSpPr>
        <p:spPr>
          <a:xfrm>
            <a:off x="2843213" y="3716338"/>
            <a:ext cx="576262" cy="0"/>
          </a:xfrm>
          <a:prstGeom prst="line">
            <a:avLst/>
          </a:prstGeom>
          <a:ln w="9525" cap="flat" cmpd="sng">
            <a:solidFill>
              <a:schemeClr val="tx1"/>
            </a:solidFill>
            <a:prstDash val="solid"/>
            <a:headEnd type="none" w="med" len="med"/>
            <a:tailEnd type="triangle" w="med" len="med"/>
          </a:ln>
        </p:spPr>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304800" y="152400"/>
            <a:ext cx="8153400" cy="900113"/>
          </a:xfrm>
          <a:prstGeom prst="rect">
            <a:avLst/>
          </a:prstGeom>
          <a:ln>
            <a:noFill/>
            <a:miter lim="800000"/>
          </a:ln>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运筹学解决问题的思路</a:t>
            </a:r>
          </a:p>
        </p:txBody>
      </p:sp>
      <p:sp>
        <p:nvSpPr>
          <p:cNvPr id="11267" name="Rectangle 3"/>
          <p:cNvSpPr>
            <a:spLocks noGrp="1"/>
          </p:cNvSpPr>
          <p:nvPr>
            <p:ph idx="1"/>
          </p:nvPr>
        </p:nvSpPr>
        <p:spPr>
          <a:xfrm>
            <a:off x="395536" y="836712"/>
            <a:ext cx="8583613" cy="5544616"/>
          </a:xfrm>
          <a:prstGeom prst="rect">
            <a:avLst/>
          </a:prstGeom>
          <a:noFill/>
          <a:ln>
            <a:noFill/>
          </a:ln>
        </p:spPr>
        <p:txBody>
          <a:bodyPr/>
          <a:lstStyle/>
          <a:p>
            <a:pPr>
              <a:lnSpc>
                <a:spcPct val="125000"/>
              </a:lnSpc>
              <a:buSzPct val="60000"/>
            </a:pPr>
            <a:r>
              <a:rPr lang="zh-CN" altLang="en-US" sz="2400" b="1" dirty="0">
                <a:latin typeface="微软雅黑" panose="020B0503020204020204" pitchFamily="34" charset="-122"/>
              </a:rPr>
              <a:t>明确</a:t>
            </a:r>
            <a:r>
              <a:rPr kumimoji="1" lang="zh-CN" altLang="en-US" sz="2400" b="1" dirty="0">
                <a:latin typeface="微软雅黑" panose="020B0503020204020204" pitchFamily="34" charset="-122"/>
                <a:ea typeface="微软雅黑" panose="020B0503020204020204" pitchFamily="34" charset="-122"/>
                <a:cs typeface="+mn-cs"/>
              </a:rPr>
              <a:t>问题和收集数据</a:t>
            </a:r>
            <a:r>
              <a:rPr kumimoji="1" lang="en-US" altLang="zh-CN" sz="2400" b="1" dirty="0">
                <a:latin typeface="微软雅黑" panose="020B0503020204020204" pitchFamily="34" charset="-122"/>
                <a:ea typeface="微软雅黑" panose="020B0503020204020204" pitchFamily="34" charset="-122"/>
                <a:cs typeface="+mn-cs"/>
              </a:rPr>
              <a:t>——</a:t>
            </a:r>
            <a:r>
              <a:rPr kumimoji="1" lang="zh-CN" altLang="en-US" sz="2400" b="1" dirty="0">
                <a:latin typeface="微软雅黑" panose="020B0503020204020204" pitchFamily="34" charset="-122"/>
                <a:ea typeface="微软雅黑" panose="020B0503020204020204" pitchFamily="34" charset="-122"/>
                <a:cs typeface="+mn-cs"/>
              </a:rPr>
              <a:t>用自然语言描述问题，定义问题，确定参数，收集数据</a:t>
            </a:r>
          </a:p>
          <a:p>
            <a:pPr>
              <a:lnSpc>
                <a:spcPct val="125000"/>
              </a:lnSpc>
              <a:buSzPct val="60000"/>
            </a:pPr>
            <a:r>
              <a:rPr kumimoji="1" lang="zh-CN" altLang="en-US" sz="2400" b="1" dirty="0">
                <a:latin typeface="微软雅黑" panose="020B0503020204020204" pitchFamily="34" charset="-122"/>
                <a:ea typeface="微软雅黑" panose="020B0503020204020204" pitchFamily="34" charset="-122"/>
                <a:cs typeface="+mn-cs"/>
              </a:rPr>
              <a:t>建立数学模型</a:t>
            </a:r>
            <a:r>
              <a:rPr kumimoji="1" lang="en-US" altLang="zh-CN" sz="2400" b="1" dirty="0">
                <a:latin typeface="微软雅黑" panose="020B0503020204020204" pitchFamily="34" charset="-122"/>
                <a:ea typeface="微软雅黑" panose="020B0503020204020204" pitchFamily="34" charset="-122"/>
                <a:cs typeface="+mn-cs"/>
              </a:rPr>
              <a:t>——</a:t>
            </a:r>
            <a:r>
              <a:rPr kumimoji="1" lang="zh-CN" altLang="en-US" sz="2400" b="1" dirty="0">
                <a:latin typeface="微软雅黑" panose="020B0503020204020204" pitchFamily="34" charset="-122"/>
                <a:ea typeface="微软雅黑" panose="020B0503020204020204" pitchFamily="34" charset="-122"/>
                <a:cs typeface="+mn-cs"/>
              </a:rPr>
              <a:t>用变量、函数、方程描述问题</a:t>
            </a:r>
          </a:p>
          <a:p>
            <a:pPr>
              <a:lnSpc>
                <a:spcPct val="125000"/>
              </a:lnSpc>
              <a:buSzPct val="60000"/>
            </a:pPr>
            <a:r>
              <a:rPr kumimoji="1" lang="zh-CN" altLang="en-US" sz="2400" b="1" dirty="0">
                <a:latin typeface="微软雅黑" panose="020B0503020204020204" pitchFamily="34" charset="-122"/>
                <a:ea typeface="微软雅黑" panose="020B0503020204020204" pitchFamily="34" charset="-122"/>
                <a:cs typeface="+mn-cs"/>
              </a:rPr>
              <a:t>开发相应计算机程序，根据模型求解问题的解决方案求解</a:t>
            </a:r>
            <a:r>
              <a:rPr kumimoji="1" lang="en-US" altLang="zh-CN" sz="2400" b="1" dirty="0">
                <a:latin typeface="微软雅黑" panose="020B0503020204020204" pitchFamily="34" charset="-122"/>
                <a:ea typeface="微软雅黑" panose="020B0503020204020204" pitchFamily="34" charset="-122"/>
                <a:cs typeface="+mn-cs"/>
              </a:rPr>
              <a:t>——</a:t>
            </a:r>
            <a:r>
              <a:rPr kumimoji="1" lang="zh-CN" altLang="en-US" sz="2400" b="1" dirty="0">
                <a:latin typeface="微软雅黑" panose="020B0503020204020204" pitchFamily="34" charset="-122"/>
                <a:ea typeface="微软雅黑" panose="020B0503020204020204" pitchFamily="34" charset="-122"/>
                <a:cs typeface="+mn-cs"/>
              </a:rPr>
              <a:t>主要用数学方法求出模型的最优解、次优解、满意解，复杂模型求解要用计算机</a:t>
            </a:r>
          </a:p>
          <a:p>
            <a:pPr>
              <a:lnSpc>
                <a:spcPct val="125000"/>
              </a:lnSpc>
              <a:buSzPct val="60000"/>
            </a:pPr>
            <a:r>
              <a:rPr kumimoji="1" lang="zh-CN" altLang="en-US" sz="2400" b="1" dirty="0">
                <a:latin typeface="微软雅黑" panose="020B0503020204020204" pitchFamily="34" charset="-122"/>
                <a:ea typeface="微软雅黑" panose="020B0503020204020204" pitchFamily="34" charset="-122"/>
                <a:cs typeface="+mn-cs"/>
              </a:rPr>
              <a:t>模型验证</a:t>
            </a:r>
            <a:r>
              <a:rPr kumimoji="1" lang="en-US" altLang="zh-CN" sz="2400" b="1" dirty="0">
                <a:latin typeface="微软雅黑" panose="020B0503020204020204" pitchFamily="34" charset="-122"/>
                <a:ea typeface="微软雅黑" panose="020B0503020204020204" pitchFamily="34" charset="-122"/>
                <a:cs typeface="+mn-cs"/>
              </a:rPr>
              <a:t>——</a:t>
            </a:r>
            <a:r>
              <a:rPr kumimoji="1" lang="zh-CN" altLang="en-US" sz="2400" b="1" dirty="0">
                <a:latin typeface="微软雅黑" panose="020B0503020204020204" pitchFamily="34" charset="-122"/>
                <a:ea typeface="微软雅黑" panose="020B0503020204020204" pitchFamily="34" charset="-122"/>
                <a:cs typeface="+mn-cs"/>
              </a:rPr>
              <a:t>检查模型和求解步骤有无错误，检查解是否反映现实问题，测试和改进模型以提高其有效性</a:t>
            </a:r>
            <a:endParaRPr kumimoji="1" lang="en-US" altLang="zh-CN" sz="2400" b="1" dirty="0">
              <a:latin typeface="微软雅黑" panose="020B0503020204020204" pitchFamily="34" charset="-122"/>
              <a:ea typeface="微软雅黑" panose="020B0503020204020204" pitchFamily="34" charset="-122"/>
              <a:cs typeface="+mn-cs"/>
            </a:endParaRPr>
          </a:p>
          <a:p>
            <a:pPr>
              <a:lnSpc>
                <a:spcPct val="125000"/>
              </a:lnSpc>
              <a:buSzPct val="60000"/>
            </a:pPr>
            <a:r>
              <a:rPr lang="zh-CN" altLang="en-US" sz="2400" b="1" dirty="0">
                <a:latin typeface="微软雅黑" panose="020B0503020204020204" pitchFamily="34" charset="-122"/>
              </a:rPr>
              <a:t>做好应用准备</a:t>
            </a:r>
            <a:r>
              <a:rPr lang="en-US" altLang="zh-CN" sz="2400" b="1" dirty="0">
                <a:latin typeface="微软雅黑" panose="020B0503020204020204" pitchFamily="34" charset="-122"/>
              </a:rPr>
              <a:t>-</a:t>
            </a:r>
            <a:r>
              <a:rPr lang="zh-CN" altLang="en-US" sz="2400" b="1" dirty="0">
                <a:latin typeface="微软雅黑" panose="020B0503020204020204" pitchFamily="34" charset="-122"/>
              </a:rPr>
              <a:t>制作文档系统，接口程序等</a:t>
            </a:r>
            <a:endParaRPr kumimoji="1" lang="zh-CN" altLang="en-US" sz="2400" b="1" dirty="0">
              <a:latin typeface="微软雅黑" panose="020B0503020204020204" pitchFamily="34" charset="-122"/>
              <a:ea typeface="微软雅黑" panose="020B0503020204020204" pitchFamily="34" charset="-122"/>
              <a:cs typeface="+mn-cs"/>
            </a:endParaRPr>
          </a:p>
          <a:p>
            <a:pPr>
              <a:lnSpc>
                <a:spcPct val="125000"/>
              </a:lnSpc>
              <a:buSzPct val="60000"/>
            </a:pPr>
            <a:r>
              <a:rPr kumimoji="1" lang="zh-CN" altLang="en-US" sz="2400" b="1" dirty="0">
                <a:latin typeface="微软雅黑" panose="020B0503020204020204" pitchFamily="34" charset="-122"/>
                <a:ea typeface="微软雅黑" panose="020B0503020204020204" pitchFamily="34" charset="-122"/>
                <a:cs typeface="+mn-cs"/>
              </a:rPr>
              <a:t>决策实施</a:t>
            </a:r>
            <a:r>
              <a:rPr kumimoji="1" lang="en-US" altLang="zh-CN" sz="2400" b="1" dirty="0">
                <a:latin typeface="微软雅黑" panose="020B0503020204020204" pitchFamily="34" charset="-122"/>
                <a:ea typeface="微软雅黑" panose="020B0503020204020204" pitchFamily="34" charset="-122"/>
                <a:cs typeface="+mn-cs"/>
              </a:rPr>
              <a:t>——</a:t>
            </a:r>
            <a:r>
              <a:rPr kumimoji="1" lang="zh-CN" altLang="en-US" sz="2400" b="1" dirty="0">
                <a:latin typeface="微软雅黑" panose="020B0503020204020204" pitchFamily="34" charset="-122"/>
                <a:ea typeface="微软雅黑" panose="020B0503020204020204" pitchFamily="34" charset="-122"/>
                <a:cs typeface="+mn-cs"/>
              </a:rPr>
              <a:t>决策者根据自己的经验和偏好，对方案进行选择和修改，作出实施的决定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idx="1"/>
          </p:nvPr>
        </p:nvSpPr>
        <p:spPr>
          <a:xfrm>
            <a:off x="0" y="1123950"/>
            <a:ext cx="9174480" cy="5761355"/>
          </a:xfrm>
          <a:prstGeom prst="rect">
            <a:avLst/>
          </a:prstGeom>
          <a:solidFill>
            <a:srgbClr val="FFFFFF"/>
          </a:solidFill>
          <a:ln>
            <a:noFill/>
          </a:ln>
        </p:spPr>
        <p:txBody>
          <a:bodyPr/>
          <a:lstStyle/>
          <a:p>
            <a:pPr eaLnBrk="1" hangingPunct="1">
              <a:lnSpc>
                <a:spcPct val="80000"/>
              </a:lnSpc>
              <a:buSzPct val="60000"/>
            </a:pP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教材：</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运筹学</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，清华大学出版社（第</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5</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版）</a:t>
            </a:r>
          </a:p>
          <a:p>
            <a:pPr eaLnBrk="1" hangingPunct="1">
              <a:lnSpc>
                <a:spcPct val="60000"/>
              </a:lnSpc>
              <a:spcBef>
                <a:spcPct val="0"/>
              </a:spcBef>
              <a:buSzPct val="60000"/>
              <a:buNone/>
            </a:pPr>
            <a:endParaRPr kumimoji="1" lang="zh-CN" altLang="en-US" sz="2800" b="1" dirty="0">
              <a:solidFill>
                <a:schemeClr val="bg2"/>
              </a:solidFill>
              <a:latin typeface="微软雅黑" panose="020B0503020204020204" pitchFamily="34" charset="-122"/>
              <a:ea typeface="微软雅黑" panose="020B0503020204020204" pitchFamily="34" charset="-122"/>
              <a:cs typeface="+mn-cs"/>
            </a:endParaRPr>
          </a:p>
          <a:p>
            <a:pPr>
              <a:lnSpc>
                <a:spcPct val="80000"/>
              </a:lnSpc>
              <a:buSzPct val="60000"/>
            </a:pPr>
            <a:r>
              <a:rPr kumimoji="1" lang="zh-CN" altLang="en-US" sz="2800" b="1" dirty="0">
                <a:solidFill>
                  <a:schemeClr val="bg2"/>
                </a:solidFill>
                <a:latin typeface="微软雅黑" panose="020B0503020204020204" pitchFamily="34" charset="-122"/>
                <a:ea typeface="微软雅黑" panose="020B0503020204020204" pitchFamily="34" charset="-122"/>
                <a:cs typeface="+mn-cs"/>
              </a:rPr>
              <a:t>参考书：</a:t>
            </a:r>
          </a:p>
          <a:p>
            <a:pPr>
              <a:lnSpc>
                <a:spcPct val="80000"/>
              </a:lnSpc>
              <a:buSzPct val="60000"/>
              <a:buChar char="Ø"/>
            </a:pP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焦宝聪、陈兰平，运筹学的思想方法及应用，北京大学出版社</a:t>
            </a:r>
            <a:r>
              <a:rPr kumimoji="1" lang="en-US" altLang="zh-CN" sz="2000" b="1" dirty="0">
                <a:solidFill>
                  <a:schemeClr val="folHlink"/>
                </a:solidFill>
                <a:latin typeface="微软雅黑" panose="020B0503020204020204" pitchFamily="34" charset="-122"/>
                <a:ea typeface="微软雅黑" panose="020B0503020204020204" pitchFamily="34" charset="-122"/>
                <a:cs typeface="+mn-cs"/>
              </a:rPr>
              <a:t>,</a:t>
            </a: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北京，</a:t>
            </a:r>
            <a:r>
              <a:rPr kumimoji="1" lang="en-US" altLang="zh-CN" sz="2000" b="1" dirty="0">
                <a:solidFill>
                  <a:schemeClr val="folHlink"/>
                </a:solidFill>
                <a:latin typeface="微软雅黑" panose="020B0503020204020204" pitchFamily="34" charset="-122"/>
                <a:ea typeface="微软雅黑" panose="020B0503020204020204" pitchFamily="34" charset="-122"/>
                <a:cs typeface="+mn-cs"/>
              </a:rPr>
              <a:t>2008</a:t>
            </a: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年</a:t>
            </a:r>
          </a:p>
          <a:p>
            <a:pPr>
              <a:lnSpc>
                <a:spcPct val="80000"/>
              </a:lnSpc>
              <a:buSzPct val="60000"/>
              <a:buChar char="Ø"/>
            </a:pP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韩中庚，实用运筹学模型、方法与计算， 清华大学出版社，北京，</a:t>
            </a:r>
            <a:r>
              <a:rPr kumimoji="1" lang="en-US" altLang="zh-CN" sz="2000" b="1" dirty="0">
                <a:solidFill>
                  <a:schemeClr val="folHlink"/>
                </a:solidFill>
                <a:latin typeface="微软雅黑" panose="020B0503020204020204" pitchFamily="34" charset="-122"/>
                <a:ea typeface="微软雅黑" panose="020B0503020204020204" pitchFamily="34" charset="-122"/>
                <a:cs typeface="+mn-cs"/>
              </a:rPr>
              <a:t>2007</a:t>
            </a: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年</a:t>
            </a:r>
          </a:p>
          <a:p>
            <a:pPr>
              <a:lnSpc>
                <a:spcPct val="80000"/>
              </a:lnSpc>
              <a:buSzPct val="60000"/>
              <a:buChar char="Ø"/>
            </a:pP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胡运权，运筹学习题集，清华大学出版社，北京，</a:t>
            </a:r>
            <a:r>
              <a:rPr kumimoji="1" lang="en-US" altLang="zh-CN" sz="2000" b="1" dirty="0">
                <a:solidFill>
                  <a:schemeClr val="folHlink"/>
                </a:solidFill>
                <a:latin typeface="微软雅黑" panose="020B0503020204020204" pitchFamily="34" charset="-122"/>
                <a:ea typeface="微软雅黑" panose="020B0503020204020204" pitchFamily="34" charset="-122"/>
                <a:cs typeface="+mn-cs"/>
              </a:rPr>
              <a:t>2010</a:t>
            </a:r>
            <a:r>
              <a:rPr kumimoji="1" lang="zh-CN" altLang="en-US" sz="2000" b="1" dirty="0">
                <a:solidFill>
                  <a:schemeClr val="folHlink"/>
                </a:solidFill>
                <a:latin typeface="微软雅黑" panose="020B0503020204020204" pitchFamily="34" charset="-122"/>
                <a:ea typeface="微软雅黑" panose="020B0503020204020204" pitchFamily="34" charset="-122"/>
                <a:cs typeface="+mn-cs"/>
              </a:rPr>
              <a:t>年</a:t>
            </a:r>
          </a:p>
          <a:p>
            <a:pPr>
              <a:lnSpc>
                <a:spcPct val="70000"/>
              </a:lnSpc>
              <a:spcBef>
                <a:spcPct val="0"/>
              </a:spcBef>
              <a:buSzPct val="60000"/>
              <a:buNone/>
            </a:pPr>
            <a:endParaRPr kumimoji="1" lang="zh-CN" altLang="en-US" sz="2800" b="1" dirty="0">
              <a:solidFill>
                <a:schemeClr val="bg2"/>
              </a:solidFill>
              <a:latin typeface="微软雅黑" panose="020B0503020204020204" pitchFamily="34" charset="-122"/>
              <a:ea typeface="微软雅黑" panose="020B0503020204020204" pitchFamily="34" charset="-122"/>
              <a:cs typeface="+mn-cs"/>
            </a:endParaRPr>
          </a:p>
          <a:p>
            <a:pPr eaLnBrk="1" hangingPunct="1"/>
            <a:r>
              <a:rPr kumimoji="1" lang="zh-CN" altLang="en-US" sz="2800" b="1" dirty="0">
                <a:solidFill>
                  <a:schemeClr val="bg2"/>
                </a:solidFill>
                <a:latin typeface="微软雅黑" panose="020B0503020204020204" pitchFamily="34" charset="-122"/>
                <a:ea typeface="微软雅黑" panose="020B0503020204020204" pitchFamily="34" charset="-122"/>
                <a:cs typeface="+mn-cs"/>
              </a:rPr>
              <a:t>四次作业：第</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8</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10</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12</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14</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周周一 </a:t>
            </a:r>
            <a:r>
              <a:rPr lang="en-US" altLang="zh-CN" sz="2800" b="1" dirty="0">
                <a:solidFill>
                  <a:schemeClr val="bg2"/>
                </a:solidFill>
                <a:latin typeface="微软雅黑" panose="020B0503020204020204" pitchFamily="34" charset="-122"/>
              </a:rPr>
              <a:t>(10</a:t>
            </a:r>
            <a:r>
              <a:rPr lang="zh-CN" altLang="en-US" sz="2800" b="1" dirty="0">
                <a:solidFill>
                  <a:schemeClr val="bg2"/>
                </a:solidFill>
                <a:latin typeface="微软雅黑" panose="020B0503020204020204" pitchFamily="34" charset="-122"/>
              </a:rPr>
              <a:t>月</a:t>
            </a:r>
            <a:r>
              <a:rPr lang="en-US" altLang="zh-CN" sz="2800" b="1" dirty="0">
                <a:solidFill>
                  <a:schemeClr val="bg2"/>
                </a:solidFill>
                <a:latin typeface="微软雅黑" panose="020B0503020204020204" pitchFamily="34" charset="-122"/>
              </a:rPr>
              <a:t>20</a:t>
            </a:r>
            <a:r>
              <a:rPr lang="zh-CN" altLang="en-US" sz="2800" b="1" dirty="0">
                <a:solidFill>
                  <a:schemeClr val="bg2"/>
                </a:solidFill>
                <a:latin typeface="微软雅黑" panose="020B0503020204020204" pitchFamily="34" charset="-122"/>
              </a:rPr>
              <a:t>日， </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11</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月</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3</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日，</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11</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月</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17</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日，</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12</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月</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1</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日，。。。</a:t>
            </a:r>
            <a:r>
              <a:rPr kumimoji="1" lang="en-US" altLang="zh-CN" sz="2800" b="1" dirty="0">
                <a:solidFill>
                  <a:schemeClr val="bg2"/>
                </a:solidFill>
                <a:latin typeface="微软雅黑" panose="020B0503020204020204" pitchFamily="34" charset="-122"/>
                <a:ea typeface="微软雅黑" panose="020B0503020204020204" pitchFamily="34" charset="-122"/>
                <a:cs typeface="+mn-cs"/>
              </a:rPr>
              <a:t>)</a:t>
            </a:r>
            <a:r>
              <a:rPr lang="zh-CN" altLang="en-US" sz="2800" b="1" dirty="0">
                <a:solidFill>
                  <a:schemeClr val="bg2"/>
                </a:solidFill>
                <a:latin typeface="微软雅黑" panose="020B0503020204020204" pitchFamily="34" charset="-122"/>
              </a:rPr>
              <a:t> </a:t>
            </a:r>
            <a:r>
              <a:rPr lang="zh-CN" altLang="en-US" sz="2800" b="1" dirty="0">
                <a:solidFill>
                  <a:srgbClr val="FF0000"/>
                </a:solidFill>
                <a:latin typeface="微软雅黑" panose="020B0503020204020204" pitchFamily="34" charset="-122"/>
              </a:rPr>
              <a:t>（作业占</a:t>
            </a:r>
            <a:r>
              <a:rPr kumimoji="1" lang="en-US" altLang="zh-CN" sz="2800" b="1" dirty="0">
                <a:solidFill>
                  <a:srgbClr val="FF0000"/>
                </a:solidFill>
                <a:latin typeface="微软雅黑" panose="020B0503020204020204" pitchFamily="34" charset="-122"/>
                <a:ea typeface="微软雅黑" panose="020B0503020204020204" pitchFamily="34" charset="-122"/>
                <a:cs typeface="+mn-cs"/>
              </a:rPr>
              <a:t>30%</a:t>
            </a:r>
            <a:r>
              <a:rPr kumimoji="1" lang="zh-CN" altLang="en-US" sz="2800" b="1" dirty="0">
                <a:solidFill>
                  <a:srgbClr val="FF0000"/>
                </a:solidFill>
                <a:latin typeface="微软雅黑" panose="020B0503020204020204" pitchFamily="34" charset="-122"/>
                <a:ea typeface="微软雅黑" panose="020B0503020204020204" pitchFamily="34" charset="-122"/>
                <a:cs typeface="+mn-cs"/>
              </a:rPr>
              <a:t>）</a:t>
            </a:r>
            <a:endParaRPr kumimoji="1" lang="zh-CN" altLang="en-US" sz="2800" b="1" dirty="0">
              <a:solidFill>
                <a:schemeClr val="bg2"/>
              </a:solidFill>
              <a:latin typeface="微软雅黑" panose="020B0503020204020204" pitchFamily="34" charset="-122"/>
              <a:ea typeface="微软雅黑" panose="020B0503020204020204" pitchFamily="34" charset="-122"/>
              <a:cs typeface="+mn-cs"/>
            </a:endParaRPr>
          </a:p>
          <a:p>
            <a:pPr eaLnBrk="1" hangingPunct="1"/>
            <a:r>
              <a:rPr kumimoji="1" lang="zh-CN" altLang="en-US" sz="2800" b="1" dirty="0">
                <a:solidFill>
                  <a:schemeClr val="bg2"/>
                </a:solidFill>
                <a:latin typeface="微软雅黑" panose="020B0503020204020204" pitchFamily="34" charset="-122"/>
                <a:ea typeface="微软雅黑" panose="020B0503020204020204" pitchFamily="34" charset="-122"/>
                <a:cs typeface="+mn-cs"/>
              </a:rPr>
              <a:t>考试：</a:t>
            </a:r>
            <a:r>
              <a:rPr lang="zh-CN" altLang="en-US" b="1" dirty="0"/>
              <a:t>第</a:t>
            </a:r>
            <a:r>
              <a:rPr lang="en-US" altLang="zh-CN" b="1" dirty="0"/>
              <a:t>20</a:t>
            </a:r>
            <a:r>
              <a:rPr lang="zh-CN" altLang="en-US" b="1" dirty="0"/>
              <a:t>周周一（</a:t>
            </a:r>
            <a:r>
              <a:rPr lang="en-US" altLang="zh-CN" b="1" dirty="0"/>
              <a:t>2026</a:t>
            </a:r>
            <a:r>
              <a:rPr lang="zh-CN" altLang="en-US" b="1" dirty="0"/>
              <a:t>年</a:t>
            </a:r>
            <a:r>
              <a:rPr lang="en-US" altLang="zh-CN" b="1" dirty="0"/>
              <a:t>1</a:t>
            </a:r>
            <a:r>
              <a:rPr lang="zh-CN" altLang="en-US" b="1" dirty="0"/>
              <a:t>月</a:t>
            </a:r>
            <a:r>
              <a:rPr lang="en-US" altLang="zh-CN" b="1" dirty="0"/>
              <a:t>12</a:t>
            </a:r>
            <a:r>
              <a:rPr lang="zh-CN" altLang="en-US" b="1" dirty="0"/>
              <a:t>日）上午</a:t>
            </a:r>
            <a:endParaRPr lang="en-US" altLang="zh-CN" b="1" dirty="0"/>
          </a:p>
          <a:p>
            <a:pPr marL="0" indent="0" eaLnBrk="1" hangingPunct="1">
              <a:buNone/>
            </a:pPr>
            <a:r>
              <a:rPr kumimoji="1" lang="en-US" altLang="zh-CN" sz="2800" b="1" dirty="0">
                <a:solidFill>
                  <a:schemeClr val="bg2"/>
                </a:solidFill>
                <a:latin typeface="微软雅黑" panose="020B0503020204020204" pitchFamily="34" charset="-122"/>
                <a:ea typeface="微软雅黑" panose="020B0503020204020204" pitchFamily="34" charset="-122"/>
                <a:cs typeface="+mn-cs"/>
              </a:rPr>
              <a:t>              </a:t>
            </a:r>
            <a:r>
              <a:rPr kumimoji="1" lang="zh-CN" altLang="en-US" sz="2800" b="1" dirty="0">
                <a:solidFill>
                  <a:schemeClr val="bg2"/>
                </a:solidFill>
                <a:latin typeface="微软雅黑" panose="020B0503020204020204" pitchFamily="34" charset="-122"/>
                <a:ea typeface="微软雅黑" panose="020B0503020204020204" pitchFamily="34" charset="-122"/>
                <a:cs typeface="+mn-cs"/>
              </a:rPr>
              <a:t>（闭卷笔试</a:t>
            </a:r>
            <a:r>
              <a:rPr kumimoji="1" lang="zh-CN" altLang="en-US" sz="2800" b="1" dirty="0">
                <a:latin typeface="微软雅黑" panose="020B0503020204020204" pitchFamily="34" charset="-122"/>
                <a:ea typeface="微软雅黑" panose="020B0503020204020204" pitchFamily="34" charset="-122"/>
                <a:cs typeface="+mn-cs"/>
              </a:rPr>
              <a:t>）</a:t>
            </a:r>
            <a:r>
              <a:rPr kumimoji="1" lang="zh-CN" altLang="en-US" sz="2800" b="1" dirty="0">
                <a:solidFill>
                  <a:srgbClr val="FF0000"/>
                </a:solidFill>
                <a:latin typeface="微软雅黑" panose="020B0503020204020204" pitchFamily="34" charset="-122"/>
                <a:ea typeface="微软雅黑" panose="020B0503020204020204" pitchFamily="34" charset="-122"/>
                <a:cs typeface="+mn-cs"/>
              </a:rPr>
              <a:t>（占</a:t>
            </a:r>
            <a:r>
              <a:rPr kumimoji="1" lang="en-US" altLang="zh-CN" sz="2800" b="1" dirty="0">
                <a:solidFill>
                  <a:srgbClr val="FF0000"/>
                </a:solidFill>
                <a:latin typeface="微软雅黑" panose="020B0503020204020204" pitchFamily="34" charset="-122"/>
                <a:ea typeface="微软雅黑" panose="020B0503020204020204" pitchFamily="34" charset="-122"/>
                <a:cs typeface="+mn-cs"/>
              </a:rPr>
              <a:t>70%</a:t>
            </a:r>
            <a:r>
              <a:rPr kumimoji="1" lang="zh-CN" altLang="en-US" sz="2800" b="1" dirty="0">
                <a:solidFill>
                  <a:srgbClr val="FF0000"/>
                </a:solidFill>
                <a:latin typeface="微软雅黑" panose="020B0503020204020204" pitchFamily="34" charset="-122"/>
                <a:ea typeface="微软雅黑" panose="020B0503020204020204" pitchFamily="34" charset="-122"/>
                <a:cs typeface="+mn-cs"/>
              </a:rPr>
              <a:t>）</a:t>
            </a:r>
          </a:p>
          <a:p>
            <a:pPr eaLnBrk="1" hangingPunct="1">
              <a:buSzPct val="60000"/>
              <a:buNone/>
            </a:pPr>
            <a:r>
              <a:rPr kumimoji="1" lang="en-US" altLang="zh-CN" sz="2800" b="1" dirty="0">
                <a:solidFill>
                  <a:srgbClr val="FF0000"/>
                </a:solidFill>
                <a:latin typeface="微软雅黑" panose="020B0503020204020204" pitchFamily="34" charset="-122"/>
                <a:ea typeface="微软雅黑" panose="020B0503020204020204" pitchFamily="34" charset="-122"/>
                <a:cs typeface="+mn-cs"/>
              </a:rPr>
              <a:t> </a:t>
            </a:r>
            <a:endParaRPr kumimoji="1" lang="zh-CN" altLang="en-US" sz="2800" b="1" dirty="0">
              <a:solidFill>
                <a:srgbClr val="FF0000"/>
              </a:solidFill>
              <a:latin typeface="微软雅黑" panose="020B0503020204020204" pitchFamily="34" charset="-122"/>
              <a:ea typeface="微软雅黑" panose="020B0503020204020204" pitchFamily="34" charset="-122"/>
              <a:cs typeface="+mn-cs"/>
            </a:endParaRPr>
          </a:p>
        </p:txBody>
      </p:sp>
      <p:sp>
        <p:nvSpPr>
          <p:cNvPr id="7171" name="Text Box 4"/>
          <p:cNvSpPr txBox="1">
            <a:spLocks noChangeArrowheads="1"/>
          </p:cNvSpPr>
          <p:nvPr/>
        </p:nvSpPr>
        <p:spPr bwMode="auto">
          <a:xfrm>
            <a:off x="1367644" y="260648"/>
            <a:ext cx="6408712" cy="584775"/>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wrap="square">
            <a:spAutoFit/>
          </a:bodyPr>
          <a:lstStyle/>
          <a:p>
            <a:pPr lvl="0" eaLnBrk="1" hangingPunct="1">
              <a:defRPr/>
            </a:pPr>
            <a:r>
              <a:rPr kumimoji="1" lang="en-US" altLang="zh-CN" sz="3200" b="1" i="0" u="none" strike="noStrike" kern="1200" cap="none" spc="0" normalizeH="0" baseline="0" noProof="0" dirty="0">
                <a:ln>
                  <a:noFill/>
                </a:ln>
                <a:solidFill>
                  <a:schemeClr val="lt1"/>
                </a:solidFill>
                <a:effectLst/>
                <a:highlight>
                  <a:srgbClr val="000080"/>
                </a:highlight>
                <a:uLnTx/>
                <a:uFillTx/>
                <a:latin typeface="+mn-lt"/>
                <a:ea typeface="微软雅黑" panose="020B0503020204020204" pitchFamily="34" charset="-122"/>
                <a:cs typeface="+mn-cs"/>
              </a:rPr>
              <a:t>《</a:t>
            </a:r>
            <a:r>
              <a:rPr kumimoji="1" lang="zh-CN" altLang="zh-CN" sz="3200" b="1" dirty="0">
                <a:highlight>
                  <a:srgbClr val="000080"/>
                </a:highlight>
                <a:ea typeface="微软雅黑" panose="020B0503020204020204" pitchFamily="34" charset="-122"/>
              </a:rPr>
              <a:t>最优化理论与方法</a:t>
            </a:r>
            <a:r>
              <a:rPr kumimoji="1" lang="en-US" altLang="zh-CN" sz="3200" b="1" i="0" u="none" strike="noStrike" kern="1200" cap="none" spc="0" normalizeH="0" baseline="0" noProof="0" dirty="0">
                <a:ln>
                  <a:noFill/>
                </a:ln>
                <a:solidFill>
                  <a:schemeClr val="lt1"/>
                </a:solidFill>
                <a:effectLst/>
                <a:highlight>
                  <a:srgbClr val="000080"/>
                </a:highlight>
                <a:uLnTx/>
                <a:uFillTx/>
                <a:latin typeface="+mn-lt"/>
                <a:ea typeface="微软雅黑" panose="020B0503020204020204" pitchFamily="34" charset="-122"/>
                <a:cs typeface="+mn-cs"/>
              </a:rPr>
              <a:t>》</a:t>
            </a:r>
            <a:r>
              <a:rPr kumimoji="1" lang="zh-CN" altLang="en-US" sz="3200" b="1" i="0" u="none" strike="noStrike" kern="1200" cap="none" spc="0" normalizeH="0" baseline="0" noProof="0" dirty="0">
                <a:ln>
                  <a:noFill/>
                </a:ln>
                <a:solidFill>
                  <a:schemeClr val="lt1"/>
                </a:solidFill>
                <a:effectLst/>
                <a:highlight>
                  <a:srgbClr val="000080"/>
                </a:highlight>
                <a:uLnTx/>
                <a:uFillTx/>
                <a:latin typeface="+mn-lt"/>
                <a:ea typeface="微软雅黑" panose="020B0503020204020204" pitchFamily="34" charset="-122"/>
                <a:cs typeface="+mn-cs"/>
              </a:rPr>
              <a:t>课程介绍</a:t>
            </a:r>
          </a:p>
        </p:txBody>
      </p:sp>
      <p:sp>
        <p:nvSpPr>
          <p:cNvPr id="2" name="灯片编号占位符 1"/>
          <p:cNvSpPr>
            <a:spLocks noGrp="1"/>
          </p:cNvSpPr>
          <p:nvPr>
            <p:ph type="sldNum" sz="quarter" idx="12"/>
          </p:nvPr>
        </p:nvSpPr>
        <p:spPr>
          <a:xfrm>
            <a:off x="7243577"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0">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0">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8268"/>
            <a:ext cx="9144000" cy="6101844"/>
          </a:xfrm>
          <a:prstGeom prst="rect">
            <a:avLst/>
          </a:prstGeom>
        </p:spPr>
      </p:pic>
      <p:sp>
        <p:nvSpPr>
          <p:cNvPr id="6146" name="Rectangle 2"/>
          <p:cNvSpPr>
            <a:spLocks noGrp="1"/>
          </p:cNvSpPr>
          <p:nvPr>
            <p:ph type="title"/>
          </p:nvPr>
        </p:nvSpPr>
        <p:spPr>
          <a:xfrm>
            <a:off x="107950" y="0"/>
            <a:ext cx="2232025" cy="711200"/>
          </a:xfrm>
          <a:prstGeom prst="rect">
            <a:avLst/>
          </a:prstGeom>
          <a:solidFill>
            <a:srgbClr val="FFFFFF"/>
          </a:solidFill>
          <a:ln>
            <a:noFill/>
          </a:ln>
        </p:spPr>
        <p:txBody>
          <a:bodyPr anchor="b"/>
          <a:lstStyle/>
          <a:p>
            <a:pPr eaLnBrk="1" hangingPunct="1"/>
            <a:r>
              <a:rPr kumimoji="1" lang="zh-CN" altLang="en-US" sz="4000" b="1" dirty="0">
                <a:latin typeface="+mj-lt"/>
                <a:ea typeface="微软雅黑" panose="020B0503020204020204" pitchFamily="34" charset="-122"/>
                <a:cs typeface="+mj-cs"/>
              </a:rPr>
              <a:t>教学课表</a:t>
            </a:r>
          </a:p>
        </p:txBody>
      </p:sp>
      <p:sp>
        <p:nvSpPr>
          <p:cNvPr id="2" name="灯片编号占位符 1"/>
          <p:cNvSpPr>
            <a:spLocks noGrp="1"/>
          </p:cNvSpPr>
          <p:nvPr>
            <p:ph type="sldNum" sz="quarter" idx="12"/>
          </p:nvPr>
        </p:nvSpPr>
        <p:spPr>
          <a:xfrm>
            <a:off x="7239000" y="644076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19</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矩形 5"/>
          <p:cNvSpPr/>
          <p:nvPr/>
        </p:nvSpPr>
        <p:spPr bwMode="auto">
          <a:xfrm>
            <a:off x="683568" y="1868202"/>
            <a:ext cx="2304256" cy="71120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2" name="矩形 11"/>
          <p:cNvSpPr/>
          <p:nvPr/>
        </p:nvSpPr>
        <p:spPr bwMode="auto">
          <a:xfrm>
            <a:off x="683568" y="3277670"/>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3" name="矩形 12"/>
          <p:cNvSpPr/>
          <p:nvPr/>
        </p:nvSpPr>
        <p:spPr bwMode="auto">
          <a:xfrm>
            <a:off x="683568" y="4653136"/>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6" name="矩形 15"/>
          <p:cNvSpPr/>
          <p:nvPr/>
        </p:nvSpPr>
        <p:spPr bwMode="auto">
          <a:xfrm>
            <a:off x="658633" y="6034243"/>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3"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56A9BBC-1A94-45BA-9D4B-45481B980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92" y="711200"/>
            <a:ext cx="9144000" cy="5906954"/>
          </a:xfrm>
          <a:prstGeom prst="rect">
            <a:avLst/>
          </a:prstGeom>
        </p:spPr>
      </p:pic>
      <p:sp>
        <p:nvSpPr>
          <p:cNvPr id="6146" name="Rectangle 2"/>
          <p:cNvSpPr>
            <a:spLocks noGrp="1"/>
          </p:cNvSpPr>
          <p:nvPr>
            <p:ph type="title"/>
          </p:nvPr>
        </p:nvSpPr>
        <p:spPr>
          <a:xfrm>
            <a:off x="107950" y="0"/>
            <a:ext cx="2232025" cy="711200"/>
          </a:xfrm>
          <a:prstGeom prst="rect">
            <a:avLst/>
          </a:prstGeom>
          <a:solidFill>
            <a:srgbClr val="FFFFFF"/>
          </a:solidFill>
          <a:ln>
            <a:noFill/>
          </a:ln>
        </p:spPr>
        <p:txBody>
          <a:bodyPr anchor="b"/>
          <a:lstStyle/>
          <a:p>
            <a:pPr eaLnBrk="1" hangingPunct="1"/>
            <a:r>
              <a:rPr kumimoji="1" lang="zh-CN" altLang="en-US" sz="4000" b="1" dirty="0">
                <a:latin typeface="+mj-lt"/>
                <a:ea typeface="微软雅黑" panose="020B0503020204020204" pitchFamily="34" charset="-122"/>
                <a:cs typeface="+mj-cs"/>
              </a:rPr>
              <a:t>教学课表</a:t>
            </a:r>
          </a:p>
        </p:txBody>
      </p:sp>
      <p:sp>
        <p:nvSpPr>
          <p:cNvPr id="2" name="灯片编号占位符 1"/>
          <p:cNvSpPr>
            <a:spLocks noGrp="1"/>
          </p:cNvSpPr>
          <p:nvPr>
            <p:ph type="sldNum" sz="quarter" idx="12"/>
          </p:nvPr>
        </p:nvSpPr>
        <p:spPr>
          <a:xfrm>
            <a:off x="7239000" y="644076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矩形 5"/>
          <p:cNvSpPr/>
          <p:nvPr/>
        </p:nvSpPr>
        <p:spPr bwMode="auto">
          <a:xfrm>
            <a:off x="683568" y="1868202"/>
            <a:ext cx="2304256" cy="71120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2" name="矩形 11"/>
          <p:cNvSpPr/>
          <p:nvPr/>
        </p:nvSpPr>
        <p:spPr bwMode="auto">
          <a:xfrm>
            <a:off x="683568" y="3140968"/>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3" name="矩形 12"/>
          <p:cNvSpPr/>
          <p:nvPr/>
        </p:nvSpPr>
        <p:spPr bwMode="auto">
          <a:xfrm>
            <a:off x="683568" y="4509120"/>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
        <p:nvSpPr>
          <p:cNvPr id="16" name="矩形 15"/>
          <p:cNvSpPr/>
          <p:nvPr/>
        </p:nvSpPr>
        <p:spPr bwMode="auto">
          <a:xfrm>
            <a:off x="658633" y="5877272"/>
            <a:ext cx="2304256" cy="720080"/>
          </a:xfrm>
          <a:prstGeom prst="rect">
            <a:avLst/>
          </a:prstGeom>
          <a:noFill/>
          <a:ln w="76200"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highlight>
                <a:srgbClr val="FFFFFF"/>
              </a:highligh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4922315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3"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p:nvPr/>
        </p:nvSpPr>
        <p:spPr>
          <a:xfrm>
            <a:off x="1295400" y="1556792"/>
            <a:ext cx="7848600" cy="4608513"/>
          </a:xfrm>
          <a:prstGeom prst="rect">
            <a:avLst/>
          </a:prstGeom>
          <a:noFill/>
          <a:ln w="9525">
            <a:noFill/>
          </a:ln>
        </p:spPr>
        <p:txBody>
          <a:bodyPr/>
          <a:lstStyle/>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1</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线性规划的数学模型</a:t>
            </a:r>
          </a:p>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2</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线性规划的标准型</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marL="273050" indent="-273050">
              <a:lnSpc>
                <a:spcPct val="130000"/>
              </a:lnSpc>
              <a:spcBef>
                <a:spcPts val="600"/>
              </a:spcBef>
              <a:buClr>
                <a:schemeClr val="accent1"/>
              </a:buClr>
              <a:buSzPct val="70000"/>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3</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线性规划的图解法</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4</a:t>
            </a:r>
            <a:r>
              <a:rPr lang="zh-CN" altLang="en-US" sz="2800" b="1" dirty="0">
                <a:solidFill>
                  <a:schemeClr val="folHlink"/>
                </a:solidFill>
                <a:latin typeface="微软雅黑" panose="020B0503020204020204" pitchFamily="34" charset="-122"/>
                <a:ea typeface="微软雅黑" panose="020B0503020204020204" pitchFamily="34" charset="-122"/>
              </a:rPr>
              <a:t>节   线性规划问题解的性质</a:t>
            </a:r>
          </a:p>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5</a:t>
            </a:r>
            <a:r>
              <a:rPr lang="zh-CN" altLang="en-US" sz="2800" b="1" dirty="0">
                <a:solidFill>
                  <a:schemeClr val="folHlink"/>
                </a:solidFill>
                <a:latin typeface="微软雅黑" panose="020B0503020204020204" pitchFamily="34" charset="-122"/>
                <a:ea typeface="微软雅黑" panose="020B0503020204020204" pitchFamily="34" charset="-122"/>
              </a:rPr>
              <a:t>节   求解线性规划的单纯形法</a:t>
            </a:r>
          </a:p>
          <a:p>
            <a:pPr marL="273050" indent="-273050">
              <a:lnSpc>
                <a:spcPct val="130000"/>
              </a:lnSpc>
              <a:spcBef>
                <a:spcPts val="600"/>
              </a:spcBef>
              <a:buClr>
                <a:schemeClr val="accent1"/>
              </a:buClr>
              <a:buSzPct val="70000"/>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6</a:t>
            </a:r>
            <a:r>
              <a:rPr lang="zh-CN" altLang="en-US" sz="2800" b="1" dirty="0">
                <a:solidFill>
                  <a:schemeClr val="folHlink"/>
                </a:solidFill>
                <a:latin typeface="微软雅黑" panose="020B0503020204020204" pitchFamily="34" charset="-122"/>
                <a:ea typeface="微软雅黑" panose="020B0503020204020204" pitchFamily="34" charset="-122"/>
              </a:rPr>
              <a:t>节   求解线性规划的人工变量法</a:t>
            </a:r>
          </a:p>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7</a:t>
            </a:r>
            <a:r>
              <a:rPr lang="zh-CN" altLang="en-US" sz="2800" b="1" dirty="0">
                <a:solidFill>
                  <a:schemeClr val="folHlink"/>
                </a:solidFill>
                <a:latin typeface="微软雅黑" panose="020B0503020204020204" pitchFamily="34" charset="-122"/>
                <a:ea typeface="微软雅黑" panose="020B0503020204020204" pitchFamily="34" charset="-122"/>
              </a:rPr>
              <a:t>节   利用</a:t>
            </a:r>
            <a:r>
              <a:rPr lang="en-US" altLang="zh-CN" sz="2800" b="1" dirty="0">
                <a:solidFill>
                  <a:schemeClr val="folHlink"/>
                </a:solidFill>
                <a:latin typeface="微软雅黑" panose="020B0503020204020204" pitchFamily="34" charset="-122"/>
                <a:ea typeface="微软雅黑" panose="020B0503020204020204" pitchFamily="34" charset="-122"/>
              </a:rPr>
              <a:t>Excel</a:t>
            </a:r>
            <a:r>
              <a:rPr lang="zh-CN" altLang="en-US" sz="2800" b="1" dirty="0">
                <a:solidFill>
                  <a:schemeClr val="folHlink"/>
                </a:solidFill>
                <a:latin typeface="微软雅黑" panose="020B0503020204020204" pitchFamily="34" charset="-122"/>
                <a:ea typeface="微软雅黑" panose="020B0503020204020204" pitchFamily="34" charset="-122"/>
              </a:rPr>
              <a:t>求解线性规划问题</a:t>
            </a:r>
          </a:p>
          <a:p>
            <a:pPr marL="273050" indent="-273050">
              <a:lnSpc>
                <a:spcPct val="13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8</a:t>
            </a:r>
            <a:r>
              <a:rPr lang="zh-CN" altLang="en-US" sz="2800" b="1" dirty="0">
                <a:solidFill>
                  <a:schemeClr val="folHlink"/>
                </a:solidFill>
                <a:latin typeface="微软雅黑" panose="020B0503020204020204" pitchFamily="34" charset="-122"/>
                <a:ea typeface="微软雅黑" panose="020B0503020204020204" pitchFamily="34" charset="-122"/>
              </a:rPr>
              <a:t>节   线性规划在管理中的应用</a:t>
            </a:r>
          </a:p>
        </p:txBody>
      </p:sp>
      <p:sp>
        <p:nvSpPr>
          <p:cNvPr id="24579" name="Rectangle 6"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a typeface="微软雅黑" panose="020B0503020204020204" pitchFamily="34" charset="-122"/>
            </a:endParaRPr>
          </a:p>
        </p:txBody>
      </p:sp>
      <p:pic>
        <p:nvPicPr>
          <p:cNvPr id="24580" name="Picture 10"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4581" name="Text Box 11"/>
          <p:cNvSpPr txBox="1"/>
          <p:nvPr/>
        </p:nvSpPr>
        <p:spPr>
          <a:xfrm>
            <a:off x="1116013" y="549275"/>
            <a:ext cx="6624637" cy="579438"/>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2</a:t>
            </a:r>
            <a:r>
              <a:rPr lang="zh-CN" altLang="en-US" sz="3200" b="1" dirty="0">
                <a:solidFill>
                  <a:srgbClr val="FF0000"/>
                </a:solidFill>
                <a:latin typeface="微软雅黑" panose="020B0503020204020204" pitchFamily="34" charset="-122"/>
                <a:ea typeface="微软雅黑" panose="020B0503020204020204" pitchFamily="34" charset="-122"/>
              </a:rPr>
              <a:t>章  线性规划</a:t>
            </a:r>
          </a:p>
        </p:txBody>
      </p:sp>
      <p:sp>
        <p:nvSpPr>
          <p:cNvPr id="2" name="灯片编号占位符 1"/>
          <p:cNvSpPr>
            <a:spLocks noGrp="1"/>
          </p:cNvSpPr>
          <p:nvPr>
            <p:ph type="sldNum" sz="quarter" idx="12"/>
          </p:nvPr>
        </p:nvSpPr>
        <p:spPr>
          <a:xfrm>
            <a:off x="7203860" y="6382616"/>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5603"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5604" name="Text Box 4"/>
          <p:cNvSpPr txBox="1"/>
          <p:nvPr/>
        </p:nvSpPr>
        <p:spPr>
          <a:xfrm>
            <a:off x="1763713" y="549275"/>
            <a:ext cx="5976937"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3</a:t>
            </a:r>
            <a:r>
              <a:rPr lang="zh-CN" altLang="en-US" sz="3200" b="1" dirty="0">
                <a:solidFill>
                  <a:srgbClr val="FF0000"/>
                </a:solidFill>
                <a:latin typeface="微软雅黑" panose="020B0503020204020204" pitchFamily="34" charset="-122"/>
                <a:ea typeface="微软雅黑" panose="020B0503020204020204" pitchFamily="34" charset="-122"/>
              </a:rPr>
              <a:t>章  对偶理论和敏感性分析</a:t>
            </a:r>
          </a:p>
        </p:txBody>
      </p:sp>
      <p:sp>
        <p:nvSpPr>
          <p:cNvPr id="25605" name="Rectangle 3"/>
          <p:cNvSpPr txBox="1"/>
          <p:nvPr/>
        </p:nvSpPr>
        <p:spPr>
          <a:xfrm>
            <a:off x="611188" y="1844675"/>
            <a:ext cx="8280400" cy="46482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1</a:t>
            </a:r>
            <a:r>
              <a:rPr lang="zh-CN" altLang="en-US" sz="3200" b="1" dirty="0">
                <a:solidFill>
                  <a:srgbClr val="0000FF"/>
                </a:solidFill>
                <a:latin typeface="微软雅黑" panose="020B0503020204020204" pitchFamily="34" charset="-122"/>
                <a:ea typeface="微软雅黑" panose="020B0503020204020204" pitchFamily="34" charset="-122"/>
              </a:rPr>
              <a:t>节  对偶线性规划问题</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spcBef>
                <a:spcPts val="600"/>
              </a:spcBef>
              <a:buClr>
                <a:schemeClr val="accent1"/>
              </a:buClr>
              <a:buSzPct val="70000"/>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2</a:t>
            </a:r>
            <a:r>
              <a:rPr lang="zh-CN" altLang="en-US" sz="3200" b="1" dirty="0">
                <a:solidFill>
                  <a:srgbClr val="0000FF"/>
                </a:solidFill>
                <a:latin typeface="微软雅黑" panose="020B0503020204020204" pitchFamily="34" charset="-122"/>
                <a:ea typeface="微软雅黑" panose="020B0503020204020204" pitchFamily="34" charset="-122"/>
              </a:rPr>
              <a:t>节  对偶问题的基本性质</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3</a:t>
            </a:r>
            <a:r>
              <a:rPr lang="zh-CN" altLang="en-US" sz="3200" b="1" dirty="0">
                <a:solidFill>
                  <a:srgbClr val="0000FF"/>
                </a:solidFill>
                <a:latin typeface="微软雅黑" panose="020B0503020204020204" pitchFamily="34" charset="-122"/>
                <a:ea typeface="微软雅黑" panose="020B0503020204020204" pitchFamily="34" charset="-122"/>
              </a:rPr>
              <a:t>节  对偶解的经济意义</a:t>
            </a:r>
            <a:r>
              <a:rPr lang="en-US" altLang="zh-CN" sz="3200" b="1" dirty="0">
                <a:solidFill>
                  <a:srgbClr val="0000FF"/>
                </a:solidFill>
                <a:latin typeface="微软雅黑" panose="020B0503020204020204" pitchFamily="34" charset="-122"/>
                <a:ea typeface="微软雅黑" panose="020B0503020204020204" pitchFamily="34" charset="-122"/>
              </a:rPr>
              <a:t>--</a:t>
            </a:r>
            <a:r>
              <a:rPr lang="zh-CN" altLang="en-US" sz="3200" b="1" dirty="0">
                <a:solidFill>
                  <a:srgbClr val="0000FF"/>
                </a:solidFill>
                <a:latin typeface="微软雅黑" panose="020B0503020204020204" pitchFamily="34" charset="-122"/>
                <a:ea typeface="微软雅黑" panose="020B0503020204020204" pitchFamily="34" charset="-122"/>
              </a:rPr>
              <a:t>影子价格</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4</a:t>
            </a:r>
            <a:r>
              <a:rPr lang="zh-CN" altLang="en-US" sz="3200" b="1" dirty="0">
                <a:solidFill>
                  <a:srgbClr val="0000FF"/>
                </a:solidFill>
                <a:latin typeface="微软雅黑" panose="020B0503020204020204" pitchFamily="34" charset="-122"/>
                <a:ea typeface="微软雅黑" panose="020B0503020204020204" pitchFamily="34" charset="-122"/>
              </a:rPr>
              <a:t>节  对偶单纯形法</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5</a:t>
            </a:r>
            <a:r>
              <a:rPr lang="zh-CN" altLang="en-US" sz="3200" b="1" dirty="0">
                <a:solidFill>
                  <a:srgbClr val="0000FF"/>
                </a:solidFill>
                <a:latin typeface="微软雅黑" panose="020B0503020204020204" pitchFamily="34" charset="-122"/>
                <a:ea typeface="微软雅黑" panose="020B0503020204020204" pitchFamily="34" charset="-122"/>
              </a:rPr>
              <a:t>节  线性规划的敏感性分析</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6</a:t>
            </a:r>
            <a:r>
              <a:rPr lang="zh-CN" altLang="en-US" sz="3200" b="1" dirty="0">
                <a:solidFill>
                  <a:srgbClr val="0000FF"/>
                </a:solidFill>
                <a:latin typeface="微软雅黑" panose="020B0503020204020204" pitchFamily="34" charset="-122"/>
                <a:ea typeface="微软雅黑" panose="020B0503020204020204" pitchFamily="34" charset="-122"/>
              </a:rPr>
              <a:t>节  参数线性规划</a:t>
            </a:r>
          </a:p>
        </p:txBody>
      </p:sp>
      <p:sp>
        <p:nvSpPr>
          <p:cNvPr id="2" name="灯片编号占位符 1"/>
          <p:cNvSpPr>
            <a:spLocks noGrp="1"/>
          </p:cNvSpPr>
          <p:nvPr>
            <p:ph type="sldNum" sz="quarter" idx="12"/>
          </p:nvPr>
        </p:nvSpPr>
        <p:spPr>
          <a:xfrm>
            <a:off x="7239000" y="6382616"/>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22</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6627"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6628" name="Text Box 4"/>
          <p:cNvSpPr txBox="1"/>
          <p:nvPr/>
        </p:nvSpPr>
        <p:spPr>
          <a:xfrm>
            <a:off x="2700338" y="549275"/>
            <a:ext cx="3600450"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4</a:t>
            </a:r>
            <a:r>
              <a:rPr lang="zh-CN" altLang="en-US" sz="3200" b="1" dirty="0">
                <a:solidFill>
                  <a:srgbClr val="FF0000"/>
                </a:solidFill>
                <a:latin typeface="微软雅黑" panose="020B0503020204020204" pitchFamily="34" charset="-122"/>
                <a:ea typeface="微软雅黑" panose="020B0503020204020204" pitchFamily="34" charset="-122"/>
              </a:rPr>
              <a:t>章  运输问题</a:t>
            </a:r>
          </a:p>
        </p:txBody>
      </p:sp>
      <p:sp>
        <p:nvSpPr>
          <p:cNvPr id="26629" name="Rectangle 3"/>
          <p:cNvSpPr txBox="1"/>
          <p:nvPr/>
        </p:nvSpPr>
        <p:spPr>
          <a:xfrm>
            <a:off x="611188" y="1844675"/>
            <a:ext cx="8280400" cy="46482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1</a:t>
            </a:r>
            <a:r>
              <a:rPr lang="zh-CN" altLang="en-US" sz="3200" b="1" dirty="0">
                <a:solidFill>
                  <a:srgbClr val="0000FF"/>
                </a:solidFill>
                <a:latin typeface="微软雅黑" panose="020B0503020204020204" pitchFamily="34" charset="-122"/>
                <a:ea typeface="微软雅黑" panose="020B0503020204020204" pitchFamily="34" charset="-122"/>
              </a:rPr>
              <a:t>节  运输问题的数学模型</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2</a:t>
            </a:r>
            <a:r>
              <a:rPr lang="zh-CN" altLang="en-US" sz="3200" b="1" dirty="0">
                <a:solidFill>
                  <a:srgbClr val="0000FF"/>
                </a:solidFill>
                <a:latin typeface="微软雅黑" panose="020B0503020204020204" pitchFamily="34" charset="-122"/>
                <a:ea typeface="微软雅黑" panose="020B0503020204020204" pitchFamily="34" charset="-122"/>
              </a:rPr>
              <a:t>节  表上作业法</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3</a:t>
            </a:r>
            <a:r>
              <a:rPr lang="zh-CN" altLang="en-US" sz="3200" b="1" dirty="0">
                <a:solidFill>
                  <a:srgbClr val="0000FF"/>
                </a:solidFill>
                <a:latin typeface="微软雅黑" panose="020B0503020204020204" pitchFamily="34" charset="-122"/>
                <a:ea typeface="微软雅黑" panose="020B0503020204020204" pitchFamily="34" charset="-122"/>
              </a:rPr>
              <a:t>节  产销不平衡的运输问题</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lgn="just">
              <a:spcBef>
                <a:spcPts val="600"/>
              </a:spcBef>
              <a:buClr>
                <a:schemeClr val="accent1"/>
              </a:buClr>
              <a:buSzPct val="70000"/>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4</a:t>
            </a:r>
            <a:r>
              <a:rPr lang="zh-CN" altLang="en-US" sz="3200" b="1" dirty="0">
                <a:solidFill>
                  <a:srgbClr val="0000FF"/>
                </a:solidFill>
                <a:latin typeface="微软雅黑" panose="020B0503020204020204" pitchFamily="34" charset="-122"/>
                <a:ea typeface="微软雅黑" panose="020B0503020204020204" pitchFamily="34" charset="-122"/>
              </a:rPr>
              <a:t>节  转运问题</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5</a:t>
            </a:r>
            <a:r>
              <a:rPr lang="zh-CN" altLang="en-US" sz="3200" b="1" dirty="0">
                <a:solidFill>
                  <a:srgbClr val="0000FF"/>
                </a:solidFill>
                <a:latin typeface="微软雅黑" panose="020B0503020204020204" pitchFamily="34" charset="-122"/>
                <a:ea typeface="微软雅黑" panose="020B0503020204020204" pitchFamily="34" charset="-122"/>
              </a:rPr>
              <a:t>节  应用举例及计算机解法</a:t>
            </a:r>
          </a:p>
        </p:txBody>
      </p:sp>
      <p:sp>
        <p:nvSpPr>
          <p:cNvPr id="2" name="灯片编号占位符 1"/>
          <p:cNvSpPr>
            <a:spLocks noGrp="1"/>
          </p:cNvSpPr>
          <p:nvPr>
            <p:ph type="sldNum" sz="quarter" idx="12"/>
          </p:nvPr>
        </p:nvSpPr>
        <p:spPr>
          <a:xfrm>
            <a:off x="7239000" y="6408737"/>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23</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7651"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7652"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5</a:t>
            </a:r>
            <a:r>
              <a:rPr lang="zh-CN" altLang="en-US" sz="3200" b="1" dirty="0">
                <a:solidFill>
                  <a:srgbClr val="FF0000"/>
                </a:solidFill>
                <a:latin typeface="微软雅黑" panose="020B0503020204020204" pitchFamily="34" charset="-122"/>
                <a:ea typeface="微软雅黑" panose="020B0503020204020204" pitchFamily="34" charset="-122"/>
              </a:rPr>
              <a:t>章  线性目标规划</a:t>
            </a:r>
          </a:p>
        </p:txBody>
      </p:sp>
      <p:sp>
        <p:nvSpPr>
          <p:cNvPr id="27653" name="Rectangle 3"/>
          <p:cNvSpPr txBox="1"/>
          <p:nvPr/>
        </p:nvSpPr>
        <p:spPr>
          <a:xfrm>
            <a:off x="611188" y="1844675"/>
            <a:ext cx="8280400"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1</a:t>
            </a:r>
            <a:r>
              <a:rPr lang="zh-CN" altLang="en-US" sz="3200" b="1" dirty="0">
                <a:solidFill>
                  <a:srgbClr val="0000FF"/>
                </a:solidFill>
                <a:latin typeface="微软雅黑" panose="020B0503020204020204" pitchFamily="34" charset="-122"/>
                <a:ea typeface="微软雅黑" panose="020B0503020204020204" pitchFamily="34" charset="-122"/>
              </a:rPr>
              <a:t>节   目标规划的数学模型</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2</a:t>
            </a:r>
            <a:r>
              <a:rPr lang="zh-CN" altLang="en-US" sz="3200" b="1" dirty="0">
                <a:solidFill>
                  <a:srgbClr val="0000FF"/>
                </a:solidFill>
                <a:latin typeface="微软雅黑" panose="020B0503020204020204" pitchFamily="34" charset="-122"/>
                <a:ea typeface="微软雅黑" panose="020B0503020204020204" pitchFamily="34" charset="-122"/>
              </a:rPr>
              <a:t>节   目标规划的图解法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3</a:t>
            </a:r>
            <a:r>
              <a:rPr lang="zh-CN" altLang="en-US" sz="3200" b="1" dirty="0">
                <a:solidFill>
                  <a:srgbClr val="0000FF"/>
                </a:solidFill>
                <a:latin typeface="微软雅黑" panose="020B0503020204020204" pitchFamily="34" charset="-122"/>
                <a:ea typeface="微软雅黑" panose="020B0503020204020204" pitchFamily="34" charset="-122"/>
              </a:rPr>
              <a:t>节   目标规划的单纯形法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4</a:t>
            </a:r>
            <a:r>
              <a:rPr lang="zh-CN" altLang="en-US" sz="3200" b="1" dirty="0">
                <a:solidFill>
                  <a:srgbClr val="0000FF"/>
                </a:solidFill>
                <a:latin typeface="微软雅黑" panose="020B0503020204020204" pitchFamily="34" charset="-122"/>
                <a:ea typeface="微软雅黑" panose="020B0503020204020204" pitchFamily="34" charset="-122"/>
              </a:rPr>
              <a:t>节   应用举例及计算机解法</a:t>
            </a:r>
          </a:p>
        </p:txBody>
      </p:sp>
      <p:sp>
        <p:nvSpPr>
          <p:cNvPr id="2" name="灯片编号占位符 1"/>
          <p:cNvSpPr>
            <a:spLocks noGrp="1"/>
          </p:cNvSpPr>
          <p:nvPr>
            <p:ph type="sldNum" sz="quarter" idx="12"/>
          </p:nvPr>
        </p:nvSpPr>
        <p:spPr>
          <a:xfrm>
            <a:off x="7239000" y="6408737"/>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6</a:t>
            </a:r>
            <a:r>
              <a:rPr lang="zh-CN" altLang="en-US" sz="3200" b="1" dirty="0">
                <a:solidFill>
                  <a:srgbClr val="FF0000"/>
                </a:solidFill>
                <a:latin typeface="微软雅黑" panose="020B0503020204020204" pitchFamily="34" charset="-122"/>
                <a:ea typeface="微软雅黑" panose="020B0503020204020204" pitchFamily="34" charset="-122"/>
              </a:rPr>
              <a:t>章  整数规划</a:t>
            </a:r>
          </a:p>
        </p:txBody>
      </p:sp>
      <p:sp>
        <p:nvSpPr>
          <p:cNvPr id="28677" name="Rectangle 3"/>
          <p:cNvSpPr txBox="1"/>
          <p:nvPr/>
        </p:nvSpPr>
        <p:spPr>
          <a:xfrm>
            <a:off x="646489" y="1628800"/>
            <a:ext cx="8280400" cy="4648200"/>
          </a:xfrm>
          <a:prstGeom prst="rect">
            <a:avLst/>
          </a:prstGeom>
          <a:noFill/>
          <a:ln w="9525">
            <a:noFill/>
          </a:ln>
        </p:spPr>
        <p:txBody>
          <a:bodyPr/>
          <a:lstStyle/>
          <a:p>
            <a:pPr marL="273050" indent="-273050">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1</a:t>
            </a:r>
            <a:r>
              <a:rPr lang="zh-CN" altLang="en-US" sz="3200" b="1" dirty="0">
                <a:solidFill>
                  <a:srgbClr val="0000FF"/>
                </a:solidFill>
                <a:latin typeface="微软雅黑" panose="020B0503020204020204" pitchFamily="34" charset="-122"/>
                <a:ea typeface="微软雅黑" panose="020B0503020204020204" pitchFamily="34" charset="-122"/>
              </a:rPr>
              <a:t>节   整数规划问题的提出</a:t>
            </a: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2</a:t>
            </a:r>
            <a:r>
              <a:rPr lang="zh-CN" altLang="en-US" sz="3200" b="1" dirty="0">
                <a:solidFill>
                  <a:srgbClr val="0000FF"/>
                </a:solidFill>
                <a:latin typeface="微软雅黑" panose="020B0503020204020204" pitchFamily="34" charset="-122"/>
                <a:ea typeface="微软雅黑" panose="020B0503020204020204" pitchFamily="34" charset="-122"/>
              </a:rPr>
              <a:t>节   分支定界法</a:t>
            </a: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3</a:t>
            </a:r>
            <a:r>
              <a:rPr lang="zh-CN" altLang="en-US" sz="3200" b="1" dirty="0">
                <a:solidFill>
                  <a:srgbClr val="0000FF"/>
                </a:solidFill>
                <a:latin typeface="微软雅黑" panose="020B0503020204020204" pitchFamily="34" charset="-122"/>
                <a:ea typeface="微软雅黑" panose="020B0503020204020204" pitchFamily="34" charset="-122"/>
              </a:rPr>
              <a:t>节   割平面解法</a:t>
            </a: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4</a:t>
            </a:r>
            <a:r>
              <a:rPr lang="zh-CN" altLang="en-US" sz="3200" b="1" dirty="0">
                <a:solidFill>
                  <a:srgbClr val="0000FF"/>
                </a:solidFill>
                <a:latin typeface="微软雅黑" panose="020B0503020204020204" pitchFamily="34" charset="-122"/>
                <a:ea typeface="微软雅黑" panose="020B0503020204020204" pitchFamily="34" charset="-122"/>
              </a:rPr>
              <a:t>节   </a:t>
            </a:r>
            <a:r>
              <a:rPr lang="en-US" altLang="zh-CN" sz="3200" b="1" dirty="0">
                <a:solidFill>
                  <a:srgbClr val="0000FF"/>
                </a:solidFill>
                <a:latin typeface="微软雅黑" panose="020B0503020204020204" pitchFamily="34" charset="-122"/>
                <a:ea typeface="微软雅黑" panose="020B0503020204020204" pitchFamily="34" charset="-122"/>
              </a:rPr>
              <a:t>0-1</a:t>
            </a:r>
            <a:r>
              <a:rPr lang="zh-CN" altLang="en-US" sz="3200" b="1" dirty="0">
                <a:solidFill>
                  <a:srgbClr val="0000FF"/>
                </a:solidFill>
                <a:latin typeface="微软雅黑" panose="020B0503020204020204" pitchFamily="34" charset="-122"/>
                <a:ea typeface="微软雅黑" panose="020B0503020204020204" pitchFamily="34" charset="-122"/>
              </a:rPr>
              <a:t>型整数规划</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5</a:t>
            </a:r>
            <a:r>
              <a:rPr lang="zh-CN" altLang="en-US" sz="3200" b="1" dirty="0">
                <a:solidFill>
                  <a:srgbClr val="0000FF"/>
                </a:solidFill>
                <a:latin typeface="微软雅黑" panose="020B0503020204020204" pitchFamily="34" charset="-122"/>
                <a:ea typeface="微软雅黑" panose="020B0503020204020204" pitchFamily="34" charset="-122"/>
              </a:rPr>
              <a:t>节   指派问题</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6</a:t>
            </a:r>
            <a:r>
              <a:rPr lang="zh-CN" altLang="en-US" sz="3200" b="1" dirty="0">
                <a:solidFill>
                  <a:srgbClr val="0000FF"/>
                </a:solidFill>
                <a:latin typeface="微软雅黑" panose="020B0503020204020204" pitchFamily="34" charset="-122"/>
                <a:ea typeface="微软雅黑" panose="020B0503020204020204" pitchFamily="34" charset="-122"/>
              </a:rPr>
              <a:t>节   整数规划的建模和应用</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lgn="just">
              <a:lnSpc>
                <a:spcPct val="13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7</a:t>
            </a:r>
            <a:r>
              <a:rPr lang="zh-CN" altLang="en-US" sz="3200" b="1" dirty="0">
                <a:solidFill>
                  <a:srgbClr val="0000FF"/>
                </a:solidFill>
                <a:latin typeface="微软雅黑" panose="020B0503020204020204" pitchFamily="34" charset="-122"/>
                <a:ea typeface="微软雅黑" panose="020B0503020204020204" pitchFamily="34" charset="-122"/>
              </a:rPr>
              <a:t>节   利用</a:t>
            </a:r>
            <a:r>
              <a:rPr lang="en-US" altLang="zh-CN" sz="3200" b="1" dirty="0">
                <a:solidFill>
                  <a:srgbClr val="0000FF"/>
                </a:solidFill>
                <a:latin typeface="微软雅黑" panose="020B0503020204020204" pitchFamily="34" charset="-122"/>
                <a:ea typeface="微软雅黑" panose="020B0503020204020204" pitchFamily="34" charset="-122"/>
              </a:rPr>
              <a:t>Excel</a:t>
            </a:r>
            <a:r>
              <a:rPr lang="zh-CN" altLang="en-US" sz="3200" b="1" dirty="0">
                <a:solidFill>
                  <a:srgbClr val="0000FF"/>
                </a:solidFill>
                <a:latin typeface="微软雅黑" panose="020B0503020204020204" pitchFamily="34" charset="-122"/>
                <a:ea typeface="微软雅黑" panose="020B0503020204020204" pitchFamily="34" charset="-122"/>
              </a:rPr>
              <a:t>求解整数规划问题</a:t>
            </a:r>
            <a:endParaRPr lang="en-US" altLang="zh-CN" sz="3200" b="1" dirty="0">
              <a:solidFill>
                <a:srgbClr val="0000FF"/>
              </a:solidFill>
              <a:latin typeface="微软雅黑" panose="020B0503020204020204" pitchFamily="34" charset="-122"/>
              <a:ea typeface="微软雅黑" panose="020B0503020204020204" pitchFamily="34" charset="-122"/>
            </a:endParaRPr>
          </a:p>
          <a:p>
            <a:pPr marL="273050" indent="-273050" algn="just">
              <a:lnSpc>
                <a:spcPct val="150000"/>
              </a:lnSpc>
              <a:spcBef>
                <a:spcPts val="600"/>
              </a:spcBef>
              <a:buClr>
                <a:schemeClr val="accent1"/>
              </a:buClr>
              <a:buSzPct val="70000"/>
              <a:buFont typeface="Wingdings" panose="05000000000000000000" pitchFamily="2" charset="2"/>
            </a:pPr>
            <a:endParaRPr lang="zh-CN" altLang="en-US" sz="3200" b="1" dirty="0">
              <a:solidFill>
                <a:srgbClr val="0000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7239000" y="6391852"/>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7</a:t>
            </a:r>
            <a:r>
              <a:rPr lang="zh-CN" altLang="en-US" sz="3200" b="1" dirty="0">
                <a:solidFill>
                  <a:srgbClr val="FF0000"/>
                </a:solidFill>
                <a:latin typeface="微软雅黑" panose="020B0503020204020204" pitchFamily="34" charset="-122"/>
                <a:ea typeface="微软雅黑" panose="020B0503020204020204" pitchFamily="34" charset="-122"/>
              </a:rPr>
              <a:t>章  非线性规划</a:t>
            </a:r>
          </a:p>
        </p:txBody>
      </p:sp>
      <p:sp>
        <p:nvSpPr>
          <p:cNvPr id="28677" name="Rectangle 3"/>
          <p:cNvSpPr txBox="1"/>
          <p:nvPr/>
        </p:nvSpPr>
        <p:spPr>
          <a:xfrm>
            <a:off x="1187624" y="2105026"/>
            <a:ext cx="8280400"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1</a:t>
            </a:r>
            <a:r>
              <a:rPr lang="zh-CN" altLang="en-US" sz="3200" b="1" dirty="0">
                <a:solidFill>
                  <a:srgbClr val="0000FF"/>
                </a:solidFill>
                <a:latin typeface="微软雅黑" panose="020B0503020204020204" pitchFamily="34" charset="-122"/>
                <a:ea typeface="微软雅黑" panose="020B0503020204020204" pitchFamily="34" charset="-122"/>
              </a:rPr>
              <a:t>节   非线性规划的基本概念</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2</a:t>
            </a:r>
            <a:r>
              <a:rPr lang="zh-CN" altLang="en-US" sz="3200" b="1" dirty="0">
                <a:solidFill>
                  <a:srgbClr val="0000FF"/>
                </a:solidFill>
                <a:latin typeface="微软雅黑" panose="020B0503020204020204" pitchFamily="34" charset="-122"/>
                <a:ea typeface="微软雅黑" panose="020B0503020204020204" pitchFamily="34" charset="-122"/>
              </a:rPr>
              <a:t>节   无约束极值问题</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anose="020B0503020204020204" pitchFamily="34" charset="-122"/>
                <a:ea typeface="微软雅黑" panose="020B0503020204020204" pitchFamily="34" charset="-122"/>
              </a:rPr>
              <a:t>第</a:t>
            </a:r>
            <a:r>
              <a:rPr lang="en-US" altLang="zh-CN" sz="3200" b="1" dirty="0">
                <a:solidFill>
                  <a:srgbClr val="0000FF"/>
                </a:solidFill>
                <a:latin typeface="微软雅黑" panose="020B0503020204020204" pitchFamily="34" charset="-122"/>
                <a:ea typeface="微软雅黑" panose="020B0503020204020204" pitchFamily="34" charset="-122"/>
              </a:rPr>
              <a:t>3</a:t>
            </a:r>
            <a:r>
              <a:rPr lang="zh-CN" altLang="en-US" sz="3200" b="1" dirty="0">
                <a:solidFill>
                  <a:srgbClr val="0000FF"/>
                </a:solidFill>
                <a:latin typeface="微软雅黑" panose="020B0503020204020204" pitchFamily="34" charset="-122"/>
                <a:ea typeface="微软雅黑" panose="020B0503020204020204" pitchFamily="34" charset="-122"/>
              </a:rPr>
              <a:t>节   约束极值问题</a:t>
            </a:r>
          </a:p>
        </p:txBody>
      </p:sp>
      <p:sp>
        <p:nvSpPr>
          <p:cNvPr id="2" name="灯片编号占位符 1"/>
          <p:cNvSpPr>
            <a:spLocks noGrp="1"/>
          </p:cNvSpPr>
          <p:nvPr>
            <p:ph type="sldNum" sz="quarter" idx="12"/>
          </p:nvPr>
        </p:nvSpPr>
        <p:spPr>
          <a:xfrm>
            <a:off x="7239000" y="637338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26</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88716" y="390922"/>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323528" y="-27384"/>
            <a:ext cx="8281988" cy="1700213"/>
          </a:xfrm>
          <a:prstGeom prst="rect">
            <a:avLst/>
          </a:prstGeom>
          <a:noFill/>
          <a:ln w="9525">
            <a:noFill/>
          </a:ln>
        </p:spPr>
      </p:pic>
      <p:sp>
        <p:nvSpPr>
          <p:cNvPr id="28676" name="Text Box 4"/>
          <p:cNvSpPr txBox="1"/>
          <p:nvPr/>
        </p:nvSpPr>
        <p:spPr>
          <a:xfrm>
            <a:off x="1188716" y="454412"/>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8</a:t>
            </a:r>
            <a:r>
              <a:rPr lang="zh-CN" altLang="en-US" sz="3200" b="1" dirty="0">
                <a:solidFill>
                  <a:srgbClr val="FF0000"/>
                </a:solidFill>
                <a:latin typeface="微软雅黑" panose="020B0503020204020204" pitchFamily="34" charset="-122"/>
                <a:ea typeface="微软雅黑" panose="020B0503020204020204" pitchFamily="34" charset="-122"/>
              </a:rPr>
              <a:t>篇  动态规划</a:t>
            </a:r>
          </a:p>
        </p:txBody>
      </p:sp>
      <p:pic>
        <p:nvPicPr>
          <p:cNvPr id="7" name="Picture 3" descr="卷轴2"/>
          <p:cNvPicPr>
            <a:picLocks noChangeAspect="1"/>
          </p:cNvPicPr>
          <p:nvPr/>
        </p:nvPicPr>
        <p:blipFill>
          <a:blip r:embed="rId3"/>
          <a:stretch>
            <a:fillRect/>
          </a:stretch>
        </p:blipFill>
        <p:spPr>
          <a:xfrm>
            <a:off x="323528" y="1628800"/>
            <a:ext cx="8281988" cy="1700213"/>
          </a:xfrm>
          <a:prstGeom prst="rect">
            <a:avLst/>
          </a:prstGeom>
          <a:noFill/>
          <a:ln w="9525">
            <a:noFill/>
          </a:ln>
        </p:spPr>
      </p:pic>
      <p:sp>
        <p:nvSpPr>
          <p:cNvPr id="8" name="Rectangle 2" descr="信纸"/>
          <p:cNvSpPr/>
          <p:nvPr/>
        </p:nvSpPr>
        <p:spPr>
          <a:xfrm>
            <a:off x="1188716" y="2030447"/>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sp>
        <p:nvSpPr>
          <p:cNvPr id="9" name="Text Box 4"/>
          <p:cNvSpPr txBox="1"/>
          <p:nvPr/>
        </p:nvSpPr>
        <p:spPr>
          <a:xfrm>
            <a:off x="1188716" y="2157467"/>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9</a:t>
            </a:r>
            <a:r>
              <a:rPr lang="zh-CN" altLang="en-US" sz="3200" b="1" dirty="0">
                <a:solidFill>
                  <a:srgbClr val="FF0000"/>
                </a:solidFill>
                <a:latin typeface="微软雅黑" panose="020B0503020204020204" pitchFamily="34" charset="-122"/>
                <a:ea typeface="微软雅黑" panose="020B0503020204020204" pitchFamily="34" charset="-122"/>
              </a:rPr>
              <a:t>篇  图与网络</a:t>
            </a:r>
          </a:p>
        </p:txBody>
      </p:sp>
      <p:sp>
        <p:nvSpPr>
          <p:cNvPr id="10" name="Rectangle 3"/>
          <p:cNvSpPr txBox="1"/>
          <p:nvPr/>
        </p:nvSpPr>
        <p:spPr>
          <a:xfrm>
            <a:off x="1" y="3415816"/>
            <a:ext cx="9144000" cy="900202"/>
          </a:xfrm>
          <a:prstGeom prst="rect">
            <a:avLst/>
          </a:prstGeom>
          <a:noFill/>
          <a:ln w="9525">
            <a:noFill/>
          </a:ln>
        </p:spPr>
        <p:txBody>
          <a:bodyPr/>
          <a:lstStyle/>
          <a:p>
            <a:pPr marL="273050" indent="-273050" algn="ctr">
              <a:lnSpc>
                <a:spcPct val="150000"/>
              </a:lnSpc>
              <a:spcBef>
                <a:spcPts val="600"/>
              </a:spcBef>
              <a:buClr>
                <a:schemeClr val="accent1"/>
              </a:buClr>
              <a:buSzPct val="70000"/>
              <a:buFont typeface="Wingdings" panose="05000000000000000000" pitchFamily="2" charset="2"/>
            </a:pPr>
            <a:r>
              <a:rPr lang="zh-CN" altLang="en-US" b="1" dirty="0">
                <a:solidFill>
                  <a:srgbClr val="0000FF"/>
                </a:solidFill>
                <a:latin typeface="微软雅黑" panose="020B0503020204020204" pitchFamily="34" charset="-122"/>
                <a:ea typeface="微软雅黑" panose="020B0503020204020204" pitchFamily="34" charset="-122"/>
              </a:rPr>
              <a:t>沈吟东教授</a:t>
            </a:r>
            <a:endParaRPr lang="en-US" altLang="zh-CN" b="1" dirty="0">
              <a:solidFill>
                <a:srgbClr val="0000FF"/>
              </a:solidFill>
              <a:latin typeface="微软雅黑" panose="020B0503020204020204" pitchFamily="34" charset="-122"/>
              <a:ea typeface="微软雅黑" panose="020B0503020204020204" pitchFamily="34" charset="-122"/>
            </a:endParaRPr>
          </a:p>
          <a:p>
            <a:pPr marL="273050" indent="-273050">
              <a:lnSpc>
                <a:spcPct val="150000"/>
              </a:lnSpc>
              <a:spcBef>
                <a:spcPts val="600"/>
              </a:spcBef>
              <a:buClr>
                <a:schemeClr val="accent1"/>
              </a:buClr>
              <a:buSzPct val="70000"/>
              <a:buFont typeface="Wingdings" panose="05000000000000000000" pitchFamily="2" charset="2"/>
            </a:pPr>
            <a:r>
              <a:rPr lang="zh-CN" altLang="en-US" sz="2000" b="1" dirty="0">
                <a:solidFill>
                  <a:srgbClr val="0000FF"/>
                </a:solidFill>
                <a:latin typeface="微软雅黑" panose="020B0503020204020204" pitchFamily="34" charset="-122"/>
                <a:ea typeface="微软雅黑" panose="020B0503020204020204" pitchFamily="34" charset="-122"/>
              </a:rPr>
              <a:t>第一部分是动态规划，包含动态规划原理及动态规划应用，其中，动态规划原理主要介绍动态规划的主要模型及构成，动态规划应用包括资源分配问题，生产与存储问题，排序问题，设备更新问题及货郎担问题</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273050" indent="-273050">
              <a:lnSpc>
                <a:spcPct val="150000"/>
              </a:lnSpc>
              <a:spcBef>
                <a:spcPts val="600"/>
              </a:spcBef>
              <a:buClr>
                <a:schemeClr val="accent1"/>
              </a:buClr>
              <a:buSzPct val="70000"/>
              <a:buFont typeface="Wingdings" panose="05000000000000000000" pitchFamily="2" charset="2"/>
            </a:pPr>
            <a:r>
              <a:rPr lang="zh-CN" altLang="en-US" sz="2000" b="1" dirty="0">
                <a:solidFill>
                  <a:srgbClr val="0000FF"/>
                </a:solidFill>
                <a:latin typeface="微软雅黑" panose="020B0503020204020204" pitchFamily="34" charset="-122"/>
                <a:ea typeface="微软雅黑" panose="020B0503020204020204" pitchFamily="34" charset="-122"/>
              </a:rPr>
              <a:t>第二部分是图论与网络优化技术，包括图论基础及图论在网络优化中的应用。重点介绍最短路问题，网络最大流问题，最小费用最大流问题和中国邮递员问题</a:t>
            </a:r>
          </a:p>
        </p:txBody>
      </p:sp>
      <p:sp>
        <p:nvSpPr>
          <p:cNvPr id="2" name="灯片编号占位符 1"/>
          <p:cNvSpPr>
            <a:spLocks noGrp="1"/>
          </p:cNvSpPr>
          <p:nvPr>
            <p:ph type="sldNum" sz="quarter" idx="12"/>
          </p:nvPr>
        </p:nvSpPr>
        <p:spPr>
          <a:xfrm>
            <a:off x="7239000" y="6404472"/>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4099"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2</a:t>
            </a:r>
            <a:r>
              <a:rPr kumimoji="0" lang="zh-CN" altLang="en-US" sz="3200" b="1">
                <a:solidFill>
                  <a:srgbClr val="FF0000"/>
                </a:solidFill>
                <a:latin typeface="微软雅黑" panose="020B0503020204020204" pitchFamily="34" charset="-122"/>
                <a:ea typeface="微软雅黑" panose="020B0503020204020204" pitchFamily="34" charset="-122"/>
              </a:rPr>
              <a:t>章  线性规划</a:t>
            </a:r>
          </a:p>
        </p:txBody>
      </p:sp>
      <p:sp>
        <p:nvSpPr>
          <p:cNvPr id="4101" name="Rectangle 3"/>
          <p:cNvSpPr txBox="1">
            <a:spLocks noChangeArrowheads="1"/>
          </p:cNvSpPr>
          <p:nvPr/>
        </p:nvSpPr>
        <p:spPr bwMode="auto">
          <a:xfrm>
            <a:off x="1295400" y="1557338"/>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a:solidFill>
                  <a:srgbClr val="FF0000"/>
                </a:solidFill>
                <a:latin typeface="微软雅黑" panose="020B0503020204020204" pitchFamily="34" charset="-122"/>
                <a:ea typeface="微软雅黑" panose="020B0503020204020204" pitchFamily="34" charset="-122"/>
              </a:rPr>
              <a:t>第</a:t>
            </a:r>
            <a:r>
              <a:rPr lang="en-US" altLang="zh-CN" sz="2800" b="1">
                <a:solidFill>
                  <a:srgbClr val="FF0000"/>
                </a:solidFill>
                <a:latin typeface="微软雅黑" panose="020B0503020204020204" pitchFamily="34" charset="-122"/>
                <a:ea typeface="微软雅黑" panose="020B0503020204020204" pitchFamily="34" charset="-122"/>
              </a:rPr>
              <a:t>1</a:t>
            </a:r>
            <a:r>
              <a:rPr lang="zh-CN" altLang="en-US" sz="2800" b="1">
                <a:solidFill>
                  <a:srgbClr val="FF0000"/>
                </a:solidFill>
                <a:latin typeface="微软雅黑" panose="020B0503020204020204" pitchFamily="34" charset="-122"/>
                <a:ea typeface="微软雅黑" panose="020B0503020204020204" pitchFamily="34" charset="-122"/>
              </a:rPr>
              <a:t>节   线性规划的数学模型</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2</a:t>
            </a:r>
            <a:r>
              <a:rPr lang="zh-CN" altLang="en-US" sz="2800" b="1">
                <a:solidFill>
                  <a:schemeClr val="folHlink"/>
                </a:solidFill>
                <a:latin typeface="微软雅黑" panose="020B0503020204020204" pitchFamily="34" charset="-122"/>
                <a:ea typeface="微软雅黑" panose="020B0503020204020204" pitchFamily="34" charset="-122"/>
              </a:rPr>
              <a:t>节   线性规划的标准型</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3</a:t>
            </a:r>
            <a:r>
              <a:rPr lang="zh-CN" altLang="en-US" sz="2800" b="1">
                <a:solidFill>
                  <a:schemeClr val="folHlink"/>
                </a:solidFill>
                <a:latin typeface="微软雅黑" panose="020B0503020204020204" pitchFamily="34" charset="-122"/>
                <a:ea typeface="微软雅黑" panose="020B0503020204020204" pitchFamily="34" charset="-122"/>
              </a:rPr>
              <a:t>节   线性规划的图解法</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4</a:t>
            </a:r>
            <a:r>
              <a:rPr lang="zh-CN" altLang="en-US" sz="2800" b="1">
                <a:solidFill>
                  <a:schemeClr val="folHlink"/>
                </a:solidFill>
                <a:latin typeface="微软雅黑" panose="020B0503020204020204" pitchFamily="34" charset="-122"/>
                <a:ea typeface="微软雅黑" panose="020B0503020204020204" pitchFamily="34" charset="-122"/>
              </a:rPr>
              <a:t>节   线性规划问题解的性质</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5</a:t>
            </a:r>
            <a:r>
              <a:rPr lang="zh-CN" altLang="en-US" sz="2800" b="1">
                <a:solidFill>
                  <a:schemeClr val="folHlink"/>
                </a:solidFill>
                <a:latin typeface="微软雅黑" panose="020B0503020204020204" pitchFamily="34" charset="-122"/>
                <a:ea typeface="微软雅黑" panose="020B0503020204020204" pitchFamily="34" charset="-122"/>
              </a:rPr>
              <a:t>节   求解线性规划的单纯形法</a:t>
            </a: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6</a:t>
            </a:r>
            <a:r>
              <a:rPr lang="zh-CN" altLang="en-US" sz="2800" b="1">
                <a:solidFill>
                  <a:schemeClr val="folHlink"/>
                </a:solidFill>
                <a:latin typeface="微软雅黑" panose="020B0503020204020204" pitchFamily="34" charset="-122"/>
                <a:ea typeface="微软雅黑" panose="020B0503020204020204" pitchFamily="34" charset="-122"/>
              </a:rPr>
              <a:t>节   求解线性规划的人工变量法</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7</a:t>
            </a:r>
            <a:r>
              <a:rPr lang="zh-CN" altLang="en-US" sz="2800" b="1">
                <a:solidFill>
                  <a:schemeClr val="folHlink"/>
                </a:solidFill>
                <a:latin typeface="微软雅黑" panose="020B0503020204020204" pitchFamily="34" charset="-122"/>
                <a:ea typeface="微软雅黑" panose="020B0503020204020204" pitchFamily="34" charset="-122"/>
              </a:rPr>
              <a:t>节   利用</a:t>
            </a:r>
            <a:r>
              <a:rPr lang="en-US" altLang="zh-CN" sz="2800" b="1">
                <a:solidFill>
                  <a:schemeClr val="folHlink"/>
                </a:solidFill>
                <a:latin typeface="微软雅黑" panose="020B0503020204020204" pitchFamily="34" charset="-122"/>
                <a:ea typeface="微软雅黑" panose="020B0503020204020204" pitchFamily="34" charset="-122"/>
              </a:rPr>
              <a:t>Excel</a:t>
            </a:r>
            <a:r>
              <a:rPr lang="zh-CN" altLang="en-US" sz="2800" b="1">
                <a:solidFill>
                  <a:schemeClr val="folHlink"/>
                </a:solidFill>
                <a:latin typeface="微软雅黑" panose="020B0503020204020204" pitchFamily="34" charset="-122"/>
                <a:ea typeface="微软雅黑" panose="020B0503020204020204" pitchFamily="34" charset="-122"/>
              </a:rPr>
              <a:t>求解线性规划问题</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8</a:t>
            </a:r>
            <a:r>
              <a:rPr lang="zh-CN" altLang="en-US" sz="2800" b="1">
                <a:solidFill>
                  <a:schemeClr val="folHlink"/>
                </a:solidFill>
                <a:latin typeface="微软雅黑" panose="020B0503020204020204" pitchFamily="34" charset="-122"/>
                <a:ea typeface="微软雅黑" panose="020B0503020204020204" pitchFamily="34" charset="-122"/>
              </a:rPr>
              <a:t>节   线性规划在管理中的应用</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28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4294967295"/>
          </p:nvPr>
        </p:nvSpPr>
        <p:spPr bwMode="auto">
          <a:xfrm>
            <a:off x="17463" y="76200"/>
            <a:ext cx="9126537" cy="19367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0"/>
              </a:spcBef>
              <a:buFont typeface="Wingdings" panose="05000000000000000000" pitchFamily="2" charset="2"/>
              <a:buNone/>
            </a:pPr>
            <a:r>
              <a:rPr lang="zh-CN" altLang="en-US" sz="2400" b="1">
                <a:solidFill>
                  <a:srgbClr val="FF0000"/>
                </a:solidFill>
                <a:latin typeface="微软雅黑" panose="020B0503020204020204" pitchFamily="34" charset="-122"/>
                <a:ea typeface="微软雅黑" panose="020B0503020204020204" pitchFamily="34" charset="-122"/>
              </a:rPr>
              <a:t>例 </a:t>
            </a:r>
            <a:r>
              <a:rPr lang="en-US" altLang="zh-CN" sz="2400" b="1">
                <a:solidFill>
                  <a:srgbClr val="FF0000"/>
                </a:solidFill>
                <a:latin typeface="微软雅黑" panose="020B0503020204020204" pitchFamily="34" charset="-122"/>
                <a:ea typeface="微软雅黑" panose="020B0503020204020204" pitchFamily="34" charset="-122"/>
              </a:rPr>
              <a:t>2-1 </a:t>
            </a:r>
            <a:r>
              <a:rPr lang="zh-CN" altLang="en-US" sz="2400" b="1">
                <a:latin typeface="微软雅黑" panose="020B0503020204020204" pitchFamily="34" charset="-122"/>
                <a:ea typeface="微软雅黑" panose="020B0503020204020204" pitchFamily="34" charset="-122"/>
              </a:rPr>
              <a:t>某厂在计划期内要安排生产</a:t>
            </a:r>
            <a:r>
              <a:rPr lang="en-US" altLang="zh-CN" sz="2400" b="1">
                <a:latin typeface="微软雅黑" panose="020B0503020204020204" pitchFamily="34" charset="-122"/>
                <a:ea typeface="微软雅黑" panose="020B0503020204020204" pitchFamily="34" charset="-122"/>
              </a:rPr>
              <a:t>I</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II</a:t>
            </a:r>
            <a:r>
              <a:rPr lang="zh-CN" altLang="en-US" sz="2400" b="1">
                <a:latin typeface="微软雅黑" panose="020B0503020204020204" pitchFamily="34" charset="-122"/>
                <a:ea typeface="微软雅黑" panose="020B0503020204020204" pitchFamily="34" charset="-122"/>
              </a:rPr>
              <a:t>两种产品，需要用到劳动力、设备以及</a:t>
            </a:r>
            <a:r>
              <a:rPr lang="en-US" altLang="zh-CN" sz="2400" b="1">
                <a:latin typeface="微软雅黑" panose="020B0503020204020204" pitchFamily="34" charset="-122"/>
                <a:ea typeface="微软雅黑" panose="020B0503020204020204" pitchFamily="34" charset="-122"/>
              </a:rPr>
              <a:t>A</a:t>
            </a:r>
            <a:r>
              <a:rPr lang="zh-CN" altLang="en-US" sz="2400" b="1">
                <a:latin typeface="微软雅黑" panose="020B0503020204020204" pitchFamily="34" charset="-122"/>
                <a:ea typeface="微软雅黑" panose="020B0503020204020204" pitchFamily="34" charset="-122"/>
              </a:rPr>
              <a:t>和</a:t>
            </a:r>
            <a:r>
              <a:rPr lang="en-US" altLang="zh-CN" sz="2400" b="1">
                <a:latin typeface="微软雅黑" panose="020B0503020204020204" pitchFamily="34" charset="-122"/>
                <a:ea typeface="微软雅黑" panose="020B0503020204020204" pitchFamily="34" charset="-122"/>
              </a:rPr>
              <a:t>B</a:t>
            </a:r>
            <a:r>
              <a:rPr lang="zh-CN" altLang="en-US" sz="2400" b="1">
                <a:latin typeface="微软雅黑" panose="020B0503020204020204" pitchFamily="34" charset="-122"/>
                <a:ea typeface="微软雅黑" panose="020B0503020204020204" pitchFamily="34" charset="-122"/>
              </a:rPr>
              <a:t>两种原材料。已知生产单位产品的利润与所需各种资源的消耗量如下表所示。</a:t>
            </a:r>
            <a:endParaRPr lang="en-US" altLang="zh-CN" sz="2400" b="1">
              <a:latin typeface="微软雅黑" panose="020B0503020204020204" pitchFamily="34" charset="-122"/>
              <a:ea typeface="微软雅黑" panose="020B0503020204020204" pitchFamily="34" charset="-122"/>
            </a:endParaRPr>
          </a:p>
          <a:p>
            <a:pPr eaLnBrk="1" hangingPunct="1">
              <a:lnSpc>
                <a:spcPct val="150000"/>
              </a:lnSpc>
              <a:spcBef>
                <a:spcPct val="0"/>
              </a:spcBef>
              <a:buFont typeface="Arial" panose="020B0604020202020204" pitchFamily="34" charset="0"/>
              <a:buChar char="•"/>
            </a:pPr>
            <a:r>
              <a:rPr lang="zh-CN" altLang="en-US" sz="2400" b="1">
                <a:latin typeface="微软雅黑" panose="020B0503020204020204" pitchFamily="34" charset="-122"/>
                <a:ea typeface="微软雅黑" panose="020B0503020204020204" pitchFamily="34" charset="-122"/>
              </a:rPr>
              <a:t>请问：</a:t>
            </a:r>
            <a:r>
              <a:rPr lang="zh-CN" altLang="en-US" sz="2400" b="1">
                <a:solidFill>
                  <a:srgbClr val="0000FF"/>
                </a:solidFill>
                <a:latin typeface="微软雅黑" panose="020B0503020204020204" pitchFamily="34" charset="-122"/>
                <a:ea typeface="微软雅黑" panose="020B0503020204020204" pitchFamily="34" charset="-122"/>
              </a:rPr>
              <a:t>应如何安排生产能使该厂获利最大？</a:t>
            </a:r>
            <a:endParaRPr lang="en-US" altLang="zh-CN" sz="2400" b="1">
              <a:solidFill>
                <a:srgbClr val="0000FF"/>
              </a:solidFill>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Char char="•"/>
            </a:pPr>
            <a:endParaRPr lang="zh-CN" altLang="en-US" sz="2400">
              <a:latin typeface="微软雅黑" panose="020B0503020204020204" pitchFamily="34" charset="-122"/>
            </a:endParaRPr>
          </a:p>
        </p:txBody>
      </p:sp>
      <p:graphicFrame>
        <p:nvGraphicFramePr>
          <p:cNvPr id="2" name="表格 1"/>
          <p:cNvGraphicFramePr>
            <a:graphicFrameLocks noGrp="1"/>
          </p:cNvGraphicFramePr>
          <p:nvPr/>
        </p:nvGraphicFramePr>
        <p:xfrm>
          <a:off x="250825" y="2781300"/>
          <a:ext cx="8713788" cy="2663826"/>
        </p:xfrm>
        <a:graphic>
          <a:graphicData uri="http://schemas.openxmlformats.org/drawingml/2006/table">
            <a:tbl>
              <a:tblPr/>
              <a:tblGrid>
                <a:gridCol w="2178447">
                  <a:extLst>
                    <a:ext uri="{9D8B030D-6E8A-4147-A177-3AD203B41FA5}">
                      <a16:colId xmlns:a16="http://schemas.microsoft.com/office/drawing/2014/main" val="20000"/>
                    </a:ext>
                  </a:extLst>
                </a:gridCol>
                <a:gridCol w="2178447">
                  <a:extLst>
                    <a:ext uri="{9D8B030D-6E8A-4147-A177-3AD203B41FA5}">
                      <a16:colId xmlns:a16="http://schemas.microsoft.com/office/drawing/2014/main" val="20001"/>
                    </a:ext>
                  </a:extLst>
                </a:gridCol>
                <a:gridCol w="2178447">
                  <a:extLst>
                    <a:ext uri="{9D8B030D-6E8A-4147-A177-3AD203B41FA5}">
                      <a16:colId xmlns:a16="http://schemas.microsoft.com/office/drawing/2014/main" val="20002"/>
                    </a:ext>
                  </a:extLst>
                </a:gridCol>
                <a:gridCol w="2178447">
                  <a:extLst>
                    <a:ext uri="{9D8B030D-6E8A-4147-A177-3AD203B41FA5}">
                      <a16:colId xmlns:a16="http://schemas.microsoft.com/office/drawing/2014/main" val="20003"/>
                    </a:ext>
                  </a:extLst>
                </a:gridCol>
              </a:tblGrid>
              <a:tr h="443971">
                <a:tc>
                  <a:txBody>
                    <a:bodyPr/>
                    <a:lstStyle/>
                    <a:p>
                      <a:endParaRPr lang="zh-CN" sz="900" b="1"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II</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资源限额</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劳动力</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360</a:t>
                      </a:r>
                      <a:r>
                        <a:rPr lang="zh-CN" sz="2000" b="1" kern="100" dirty="0">
                          <a:effectLst/>
                          <a:latin typeface="Times New Roman" panose="02020603050405020304" pitchFamily="18" charset="0"/>
                          <a:ea typeface="微软雅黑" panose="020B0503020204020204" pitchFamily="34" charset="-122"/>
                        </a:rPr>
                        <a:t>工时</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设备</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5</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台时</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A</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250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B</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6</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单位利润（元）</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sz="2000" b="1"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160"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CBB0D9C3-68E7-4BCC-B613-524924FEE7AD}" type="slidenum">
              <a:rPr kumimoji="0" lang="en-US" altLang="zh-CN" sz="1000">
                <a:latin typeface="Arial" panose="020B0604020202020204" pitchFamily="34" charset="0"/>
                <a:ea typeface="微软雅黑" panose="020B0503020204020204" pitchFamily="34" charset="-122"/>
              </a:rPr>
              <a:t>29</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3" name="Object 9"/>
          <p:cNvGraphicFramePr>
            <a:graphicFrameLocks noChangeAspect="1"/>
          </p:cNvGraphicFramePr>
          <p:nvPr/>
        </p:nvGraphicFramePr>
        <p:xfrm>
          <a:off x="3419475" y="3333750"/>
          <a:ext cx="2387600" cy="2039938"/>
        </p:xfrm>
        <a:graphic>
          <a:graphicData uri="http://schemas.openxmlformats.org/presentationml/2006/ole">
            <mc:AlternateContent xmlns:mc="http://schemas.openxmlformats.org/markup-compatibility/2006">
              <mc:Choice xmlns:v="urn:schemas-microsoft-com:vml" Requires="v">
                <p:oleObj spid="_x0000_s7344" name="Equation" r:id="rId3" imgW="1016000" imgH="914400" progId="Equation.DSMT4">
                  <p:embed/>
                </p:oleObj>
              </mc:Choice>
              <mc:Fallback>
                <p:oleObj name="Equation" r:id="rId3" imgW="1016000" imgH="914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3333750"/>
                        <a:ext cx="2387600" cy="203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10"/>
          <p:cNvGraphicFramePr>
            <a:graphicFrameLocks noChangeAspect="1"/>
          </p:cNvGraphicFramePr>
          <p:nvPr/>
        </p:nvGraphicFramePr>
        <p:xfrm>
          <a:off x="3779838" y="5827713"/>
          <a:ext cx="1423987" cy="546100"/>
        </p:xfrm>
        <a:graphic>
          <a:graphicData uri="http://schemas.openxmlformats.org/presentationml/2006/ole">
            <mc:AlternateContent xmlns:mc="http://schemas.openxmlformats.org/markup-compatibility/2006">
              <mc:Choice xmlns:v="urn:schemas-microsoft-com:vml" Requires="v">
                <p:oleObj spid="_x0000_s7345" name="Equation" r:id="rId5" imgW="584200" imgH="228600" progId="Equation.DSMT4">
                  <p:embed/>
                </p:oleObj>
              </mc:Choice>
              <mc:Fallback>
                <p:oleObj name="Equation" r:id="rId5" imgW="5842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5827713"/>
                        <a:ext cx="14239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48" name="组合 5"/>
          <p:cNvGrpSpPr/>
          <p:nvPr/>
        </p:nvGrpSpPr>
        <p:grpSpPr bwMode="auto">
          <a:xfrm>
            <a:off x="195263" y="2257425"/>
            <a:ext cx="9178925" cy="544513"/>
            <a:chOff x="-1006508" y="2206481"/>
            <a:chExt cx="9179698" cy="543859"/>
          </a:xfrm>
        </p:grpSpPr>
        <p:graphicFrame>
          <p:nvGraphicFramePr>
            <p:cNvPr id="6192" name="Object 8"/>
            <p:cNvGraphicFramePr>
              <a:graphicFrameLocks noChangeAspect="1"/>
            </p:cNvGraphicFramePr>
            <p:nvPr/>
          </p:nvGraphicFramePr>
          <p:xfrm>
            <a:off x="-729053" y="2206481"/>
            <a:ext cx="980573" cy="543859"/>
          </p:xfrm>
          <a:graphic>
            <a:graphicData uri="http://schemas.openxmlformats.org/presentationml/2006/ole">
              <mc:AlternateContent xmlns:mc="http://schemas.openxmlformats.org/markup-compatibility/2006">
                <mc:Choice xmlns:v="urn:schemas-microsoft-com:vml" Requires="v">
                  <p:oleObj spid="_x0000_s7346" name="Equation" r:id="rId7" imgW="381000" imgH="228600" progId="Equation.DSMT4">
                    <p:embed/>
                  </p:oleObj>
                </mc:Choice>
                <mc:Fallback>
                  <p:oleObj name="Equation" r:id="rId7" imgW="381000" imgH="2286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9053" y="2206481"/>
                          <a:ext cx="980573" cy="54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93" name="Rectangle 12"/>
            <p:cNvSpPr>
              <a:spLocks noChangeArrowheads="1"/>
            </p:cNvSpPr>
            <p:nvPr/>
          </p:nvSpPr>
          <p:spPr bwMode="auto">
            <a:xfrm>
              <a:off x="-1006508" y="2266156"/>
              <a:ext cx="9179698" cy="46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设         分别表示计划生产</a:t>
              </a:r>
              <a:r>
                <a:rPr lang="en-US" altLang="zh-CN" b="1">
                  <a:solidFill>
                    <a:srgbClr val="0000FF"/>
                  </a:solidFill>
                  <a:latin typeface="微软雅黑" panose="020B0503020204020204" pitchFamily="34" charset="-122"/>
                  <a:ea typeface="微软雅黑" panose="020B0503020204020204" pitchFamily="34" charset="-122"/>
                </a:rPr>
                <a:t>I</a:t>
              </a:r>
              <a:r>
                <a:rPr lang="zh-CN" altLang="en-US" b="1">
                  <a:solidFill>
                    <a:srgbClr val="0000FF"/>
                  </a:solidFill>
                  <a:latin typeface="微软雅黑" panose="020B0503020204020204" pitchFamily="34" charset="-122"/>
                  <a:ea typeface="微软雅黑" panose="020B0503020204020204" pitchFamily="34" charset="-122"/>
                </a:rPr>
                <a:t>，</a:t>
              </a:r>
              <a:r>
                <a:rPr lang="en-US" altLang="zh-CN" b="1">
                  <a:solidFill>
                    <a:srgbClr val="0000FF"/>
                  </a:solidFill>
                  <a:latin typeface="微软雅黑" panose="020B0503020204020204" pitchFamily="34" charset="-122"/>
                  <a:ea typeface="微软雅黑" panose="020B0503020204020204" pitchFamily="34" charset="-122"/>
                </a:rPr>
                <a:t>II</a:t>
              </a:r>
              <a:r>
                <a:rPr lang="zh-CN" altLang="en-US" b="1">
                  <a:solidFill>
                    <a:srgbClr val="0000FF"/>
                  </a:solidFill>
                  <a:latin typeface="微软雅黑" panose="020B0503020204020204" pitchFamily="34" charset="-122"/>
                  <a:ea typeface="微软雅黑" panose="020B0503020204020204" pitchFamily="34" charset="-122"/>
                </a:rPr>
                <a:t>产品的数量，称它们为决策变量</a:t>
              </a:r>
            </a:p>
          </p:txBody>
        </p:sp>
      </p:grpSp>
      <p:sp>
        <p:nvSpPr>
          <p:cNvPr id="12" name="Rectangle 12"/>
          <p:cNvSpPr>
            <a:spLocks noChangeArrowheads="1"/>
          </p:cNvSpPr>
          <p:nvPr/>
        </p:nvSpPr>
        <p:spPr bwMode="auto">
          <a:xfrm>
            <a:off x="228600" y="5362575"/>
            <a:ext cx="3876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生产的产品不能是负值，即</a:t>
            </a:r>
          </a:p>
        </p:txBody>
      </p:sp>
      <p:sp>
        <p:nvSpPr>
          <p:cNvPr id="13" name="Rectangle 12"/>
          <p:cNvSpPr>
            <a:spLocks noChangeArrowheads="1"/>
          </p:cNvSpPr>
          <p:nvPr/>
        </p:nvSpPr>
        <p:spPr bwMode="auto">
          <a:xfrm>
            <a:off x="250825" y="6346825"/>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如何安排生产，使利润最大，这是目标</a:t>
            </a:r>
          </a:p>
        </p:txBody>
      </p:sp>
      <p:grpSp>
        <p:nvGrpSpPr>
          <p:cNvPr id="5" name="组合 4"/>
          <p:cNvGrpSpPr/>
          <p:nvPr/>
        </p:nvGrpSpPr>
        <p:grpSpPr bwMode="auto">
          <a:xfrm>
            <a:off x="195263" y="2792413"/>
            <a:ext cx="8267700" cy="547687"/>
            <a:chOff x="-36233" y="1525916"/>
            <a:chExt cx="8268691" cy="547098"/>
          </a:xfrm>
        </p:grpSpPr>
        <p:sp>
          <p:nvSpPr>
            <p:cNvPr id="6190" name="Rectangle 12"/>
            <p:cNvSpPr>
              <a:spLocks noChangeArrowheads="1"/>
            </p:cNvSpPr>
            <p:nvPr/>
          </p:nvSpPr>
          <p:spPr bwMode="auto">
            <a:xfrm>
              <a:off x="-36233" y="1583839"/>
              <a:ext cx="8268691" cy="46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           的数量，受资源拥有量限制，这是约束条件，即</a:t>
              </a:r>
            </a:p>
          </p:txBody>
        </p:sp>
        <p:graphicFrame>
          <p:nvGraphicFramePr>
            <p:cNvPr id="6191" name="Object 10"/>
            <p:cNvGraphicFramePr>
              <a:graphicFrameLocks noChangeAspect="1"/>
            </p:cNvGraphicFramePr>
            <p:nvPr/>
          </p:nvGraphicFramePr>
          <p:xfrm>
            <a:off x="734079" y="1525916"/>
            <a:ext cx="936104" cy="547098"/>
          </p:xfrm>
          <a:graphic>
            <a:graphicData uri="http://schemas.openxmlformats.org/presentationml/2006/ole">
              <mc:AlternateContent xmlns:mc="http://schemas.openxmlformats.org/markup-compatibility/2006">
                <mc:Choice xmlns:v="urn:schemas-microsoft-com:vml" Requires="v">
                  <p:oleObj spid="_x0000_s7347" name="Equation" r:id="rId9" imgW="342900" imgH="228600" progId="Equation.DSMT4">
                    <p:embed/>
                  </p:oleObj>
                </mc:Choice>
                <mc:Fallback>
                  <p:oleObj name="Equation" r:id="rId9" imgW="342900" imgH="228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4079" y="1525916"/>
                          <a:ext cx="936104" cy="5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表格 16"/>
          <p:cNvGraphicFramePr>
            <a:graphicFrameLocks noGrp="1"/>
          </p:cNvGraphicFramePr>
          <p:nvPr/>
        </p:nvGraphicFramePr>
        <p:xfrm>
          <a:off x="250825" y="44450"/>
          <a:ext cx="8713788" cy="2178051"/>
        </p:xfrm>
        <a:graphic>
          <a:graphicData uri="http://schemas.openxmlformats.org/drawingml/2006/table">
            <a:tbl>
              <a:tblPr/>
              <a:tblGrid>
                <a:gridCol w="2178447">
                  <a:extLst>
                    <a:ext uri="{9D8B030D-6E8A-4147-A177-3AD203B41FA5}">
                      <a16:colId xmlns:a16="http://schemas.microsoft.com/office/drawing/2014/main" val="20000"/>
                    </a:ext>
                  </a:extLst>
                </a:gridCol>
                <a:gridCol w="2178447">
                  <a:extLst>
                    <a:ext uri="{9D8B030D-6E8A-4147-A177-3AD203B41FA5}">
                      <a16:colId xmlns:a16="http://schemas.microsoft.com/office/drawing/2014/main" val="20001"/>
                    </a:ext>
                  </a:extLst>
                </a:gridCol>
                <a:gridCol w="2178447">
                  <a:extLst>
                    <a:ext uri="{9D8B030D-6E8A-4147-A177-3AD203B41FA5}">
                      <a16:colId xmlns:a16="http://schemas.microsoft.com/office/drawing/2014/main" val="20002"/>
                    </a:ext>
                  </a:extLst>
                </a:gridCol>
                <a:gridCol w="2178447">
                  <a:extLst>
                    <a:ext uri="{9D8B030D-6E8A-4147-A177-3AD203B41FA5}">
                      <a16:colId xmlns:a16="http://schemas.microsoft.com/office/drawing/2014/main" val="20003"/>
                    </a:ext>
                  </a:extLst>
                </a:gridCol>
              </a:tblGrid>
              <a:tr h="359103">
                <a:tc>
                  <a:txBody>
                    <a:bodyPr/>
                    <a:lstStyle/>
                    <a:p>
                      <a:endParaRPr lang="zh-CN" sz="900" b="1"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II</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资源限额</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劳动力</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360</a:t>
                      </a:r>
                      <a:r>
                        <a:rPr lang="zh-CN" sz="2000" b="1" kern="100" dirty="0">
                          <a:effectLst/>
                          <a:latin typeface="Times New Roman" panose="02020603050405020304" pitchFamily="18" charset="0"/>
                          <a:ea typeface="微软雅黑" panose="020B0503020204020204" pitchFamily="34" charset="-122"/>
                        </a:rPr>
                        <a:t>工时</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设备</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5</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台时</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A</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250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B</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6</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2536">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单位利润（元）</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sz="2000" b="1"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189"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6A287BE-4295-43FB-AEF9-0D62DF73DB71}" type="slidenum">
              <a:rPr kumimoji="0" lang="en-US" altLang="zh-CN" sz="1000">
                <a:latin typeface="Arial" panose="020B0604020202020204" pitchFamily="34" charset="0"/>
                <a:ea typeface="微软雅黑" panose="020B0503020204020204" pitchFamily="34" charset="-122"/>
              </a:rPr>
              <a:t>30</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9"/>
          <p:cNvGraphicFramePr>
            <a:graphicFrameLocks noChangeAspect="1"/>
          </p:cNvGraphicFramePr>
          <p:nvPr/>
        </p:nvGraphicFramePr>
        <p:xfrm>
          <a:off x="3419475" y="530225"/>
          <a:ext cx="2387600" cy="2039938"/>
        </p:xfrm>
        <a:graphic>
          <a:graphicData uri="http://schemas.openxmlformats.org/presentationml/2006/ole">
            <mc:AlternateContent xmlns:mc="http://schemas.openxmlformats.org/markup-compatibility/2006">
              <mc:Choice xmlns:v="urn:schemas-microsoft-com:vml" Requires="v">
                <p:oleObj spid="_x0000_s8368" name="Equation" r:id="rId3" imgW="1016000" imgH="914400" progId="Equation.DSMT4">
                  <p:embed/>
                </p:oleObj>
              </mc:Choice>
              <mc:Fallback>
                <p:oleObj name="Equation" r:id="rId3" imgW="1016000" imgH="914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530225"/>
                        <a:ext cx="2387600" cy="203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10"/>
          <p:cNvGraphicFramePr>
            <a:graphicFrameLocks noChangeAspect="1"/>
          </p:cNvGraphicFramePr>
          <p:nvPr/>
        </p:nvGraphicFramePr>
        <p:xfrm>
          <a:off x="3708400" y="2970213"/>
          <a:ext cx="1423988" cy="546100"/>
        </p:xfrm>
        <a:graphic>
          <a:graphicData uri="http://schemas.openxmlformats.org/presentationml/2006/ole">
            <mc:AlternateContent xmlns:mc="http://schemas.openxmlformats.org/markup-compatibility/2006">
              <mc:Choice xmlns:v="urn:schemas-microsoft-com:vml" Requires="v">
                <p:oleObj spid="_x0000_s8369" name="Equation" r:id="rId5" imgW="584200" imgH="228600" progId="Equation.DSMT4">
                  <p:embed/>
                </p:oleObj>
              </mc:Choice>
              <mc:Fallback>
                <p:oleObj name="Equation" r:id="rId5" imgW="5842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2970213"/>
                        <a:ext cx="142398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2" name="Rectangle 12"/>
          <p:cNvSpPr>
            <a:spLocks noChangeArrowheads="1"/>
          </p:cNvSpPr>
          <p:nvPr/>
        </p:nvSpPr>
        <p:spPr bwMode="auto">
          <a:xfrm>
            <a:off x="-1588" y="2492375"/>
            <a:ext cx="387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生产的产品不能是负值，即</a:t>
            </a:r>
          </a:p>
        </p:txBody>
      </p:sp>
      <p:sp>
        <p:nvSpPr>
          <p:cNvPr id="7173" name="Rectangle 12"/>
          <p:cNvSpPr>
            <a:spLocks noChangeArrowheads="1"/>
          </p:cNvSpPr>
          <p:nvPr/>
        </p:nvSpPr>
        <p:spPr bwMode="auto">
          <a:xfrm>
            <a:off x="4763" y="3532188"/>
            <a:ext cx="541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如何安排生产，使利润最大，这是目标</a:t>
            </a:r>
          </a:p>
        </p:txBody>
      </p:sp>
      <p:grpSp>
        <p:nvGrpSpPr>
          <p:cNvPr id="7174" name="组合 4"/>
          <p:cNvGrpSpPr/>
          <p:nvPr/>
        </p:nvGrpSpPr>
        <p:grpSpPr bwMode="auto">
          <a:xfrm>
            <a:off x="-1588" y="0"/>
            <a:ext cx="8177213" cy="547688"/>
            <a:chOff x="-36233" y="1525916"/>
            <a:chExt cx="8177319" cy="547098"/>
          </a:xfrm>
        </p:grpSpPr>
        <p:sp>
          <p:nvSpPr>
            <p:cNvPr id="7183" name="Rectangle 12"/>
            <p:cNvSpPr>
              <a:spLocks noChangeArrowheads="1"/>
            </p:cNvSpPr>
            <p:nvPr/>
          </p:nvSpPr>
          <p:spPr bwMode="auto">
            <a:xfrm>
              <a:off x="-36233" y="1583839"/>
              <a:ext cx="8177319" cy="46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          的数量，受资源拥有量限制，这是约束条件，即</a:t>
              </a:r>
            </a:p>
          </p:txBody>
        </p:sp>
        <p:graphicFrame>
          <p:nvGraphicFramePr>
            <p:cNvPr id="7184" name="Object 10"/>
            <p:cNvGraphicFramePr>
              <a:graphicFrameLocks noChangeAspect="1"/>
            </p:cNvGraphicFramePr>
            <p:nvPr/>
          </p:nvGraphicFramePr>
          <p:xfrm>
            <a:off x="673759" y="1525916"/>
            <a:ext cx="936104" cy="547098"/>
          </p:xfrm>
          <a:graphic>
            <a:graphicData uri="http://schemas.openxmlformats.org/presentationml/2006/ole">
              <mc:AlternateContent xmlns:mc="http://schemas.openxmlformats.org/markup-compatibility/2006">
                <mc:Choice xmlns:v="urn:schemas-microsoft-com:vml" Requires="v">
                  <p:oleObj spid="_x0000_s8370" name="Equation" r:id="rId7" imgW="342900" imgH="228600" progId="Equation.DSMT4">
                    <p:embed/>
                  </p:oleObj>
                </mc:Choice>
                <mc:Fallback>
                  <p:oleObj name="Equation" r:id="rId7" imgW="3429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3759" y="1525916"/>
                          <a:ext cx="936104" cy="5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5" name="Rectangle 7"/>
          <p:cNvSpPr>
            <a:spLocks noChangeArrowheads="1"/>
          </p:cNvSpPr>
          <p:nvPr/>
        </p:nvSpPr>
        <p:spPr bwMode="auto">
          <a:xfrm>
            <a:off x="-1588" y="4135438"/>
            <a:ext cx="3657601"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FF0000"/>
                </a:solidFill>
                <a:latin typeface="微软雅黑" panose="020B0503020204020204" pitchFamily="34" charset="-122"/>
                <a:ea typeface="微软雅黑" panose="020B0503020204020204" pitchFamily="34" charset="-122"/>
              </a:rPr>
              <a:t>得到本问题的数学模型为</a:t>
            </a:r>
            <a:r>
              <a:rPr lang="en-US" altLang="zh-CN" b="1">
                <a:solidFill>
                  <a:srgbClr val="FF0000"/>
                </a:solidFill>
                <a:latin typeface="微软雅黑" panose="020B0503020204020204" pitchFamily="34" charset="-122"/>
                <a:ea typeface="微软雅黑" panose="020B0503020204020204" pitchFamily="34" charset="-122"/>
              </a:rPr>
              <a:t>:</a:t>
            </a:r>
          </a:p>
        </p:txBody>
      </p:sp>
      <p:graphicFrame>
        <p:nvGraphicFramePr>
          <p:cNvPr id="7176" name="对象 6"/>
          <p:cNvGraphicFramePr>
            <a:graphicFrameLocks noChangeAspect="1"/>
          </p:cNvGraphicFramePr>
          <p:nvPr/>
        </p:nvGraphicFramePr>
        <p:xfrm>
          <a:off x="3400425" y="4192588"/>
          <a:ext cx="3051175" cy="2979737"/>
        </p:xfrm>
        <a:graphic>
          <a:graphicData uri="http://schemas.openxmlformats.org/presentationml/2006/ole">
            <mc:AlternateContent xmlns:mc="http://schemas.openxmlformats.org/markup-compatibility/2006">
              <mc:Choice xmlns:v="urn:schemas-microsoft-com:vml" Requires="v">
                <p:oleObj spid="_x0000_s8371" name="Equation" r:id="rId9" imgW="1612900" imgH="1574800" progId="Equation.DSMT4">
                  <p:embed/>
                </p:oleObj>
              </mc:Choice>
              <mc:Fallback>
                <p:oleObj name="Equation" r:id="rId9" imgW="1612900" imgH="1574800" progId="Equation.DSMT4">
                  <p:embed/>
                  <p:pic>
                    <p:nvPicPr>
                      <p:cNvPr id="0" name="对象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0425" y="4192588"/>
                        <a:ext cx="3051175"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7"/>
          <p:cNvSpPr>
            <a:spLocks noChangeArrowheads="1"/>
          </p:cNvSpPr>
          <p:nvPr/>
        </p:nvSpPr>
        <p:spPr bwMode="auto">
          <a:xfrm>
            <a:off x="6188075" y="45735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劳动力</a:t>
            </a:r>
            <a:endParaRPr lang="en-US" altLang="zh-CN" sz="2000" b="1">
              <a:latin typeface="微软雅黑" panose="020B0503020204020204" pitchFamily="34" charset="-122"/>
              <a:ea typeface="微软雅黑" panose="020B0503020204020204" pitchFamily="34" charset="-122"/>
            </a:endParaRPr>
          </a:p>
        </p:txBody>
      </p:sp>
      <p:sp>
        <p:nvSpPr>
          <p:cNvPr id="15" name="Rectangle 7"/>
          <p:cNvSpPr>
            <a:spLocks noChangeArrowheads="1"/>
          </p:cNvSpPr>
          <p:nvPr/>
        </p:nvSpPr>
        <p:spPr bwMode="auto">
          <a:xfrm>
            <a:off x="6226175" y="4976813"/>
            <a:ext cx="696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设备</a:t>
            </a:r>
            <a:endParaRPr lang="en-US" altLang="zh-CN" sz="2000" b="1">
              <a:latin typeface="微软雅黑" panose="020B0503020204020204" pitchFamily="34" charset="-122"/>
              <a:ea typeface="微软雅黑" panose="020B0503020204020204" pitchFamily="34" charset="-122"/>
            </a:endParaRPr>
          </a:p>
        </p:txBody>
      </p:sp>
      <p:sp>
        <p:nvSpPr>
          <p:cNvPr id="16" name="Rectangle 7"/>
          <p:cNvSpPr>
            <a:spLocks noChangeArrowheads="1"/>
          </p:cNvSpPr>
          <p:nvPr/>
        </p:nvSpPr>
        <p:spPr bwMode="auto">
          <a:xfrm>
            <a:off x="6226175" y="5857875"/>
            <a:ext cx="1125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原材料</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17" name="Rectangle 7"/>
          <p:cNvSpPr>
            <a:spLocks noChangeArrowheads="1"/>
          </p:cNvSpPr>
          <p:nvPr/>
        </p:nvSpPr>
        <p:spPr bwMode="auto">
          <a:xfrm>
            <a:off x="6240463" y="63817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非负性</a:t>
            </a:r>
            <a:endParaRPr lang="en-US" altLang="zh-CN" sz="2000" b="1">
              <a:latin typeface="微软雅黑" panose="020B0503020204020204" pitchFamily="34" charset="-122"/>
              <a:ea typeface="微软雅黑" panose="020B0503020204020204" pitchFamily="34" charset="-122"/>
            </a:endParaRPr>
          </a:p>
        </p:txBody>
      </p:sp>
      <p:sp>
        <p:nvSpPr>
          <p:cNvPr id="18" name="Rectangle 7"/>
          <p:cNvSpPr>
            <a:spLocks noChangeArrowheads="1"/>
          </p:cNvSpPr>
          <p:nvPr/>
        </p:nvSpPr>
        <p:spPr bwMode="auto">
          <a:xfrm>
            <a:off x="6210300" y="5378450"/>
            <a:ext cx="113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原材料</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7182"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85503C85-DC72-4FDE-855D-7A13CB6AEAEB}" type="slidenum">
              <a:rPr kumimoji="0" lang="en-US" altLang="zh-CN" sz="1000">
                <a:latin typeface="Arial" panose="020B0604020202020204" pitchFamily="34" charset="0"/>
                <a:ea typeface="微软雅黑" panose="020B0503020204020204" pitchFamily="34" charset="-122"/>
              </a:rPr>
              <a:t>31</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fade">
                                      <p:cBhvr>
                                        <p:cTn id="7" dur="500"/>
                                        <p:tgtEl>
                                          <p:spTgt spid="7175"/>
                                        </p:tgtEl>
                                      </p:cBhvr>
                                    </p:animEffect>
                                  </p:childTnLst>
                                </p:cTn>
                              </p:par>
                              <p:par>
                                <p:cTn id="8" presetID="10" presetClass="entr" presetSubtype="0" fill="hold" nodeType="withEffect">
                                  <p:stCondLst>
                                    <p:cond delay="0"/>
                                  </p:stCondLst>
                                  <p:childTnLst>
                                    <p:set>
                                      <p:cBhvr>
                                        <p:cTn id="9" dur="1" fill="hold">
                                          <p:stCondLst>
                                            <p:cond delay="0"/>
                                          </p:stCondLst>
                                        </p:cTn>
                                        <p:tgtEl>
                                          <p:spTgt spid="7176"/>
                                        </p:tgtEl>
                                        <p:attrNameLst>
                                          <p:attrName>style.visibility</p:attrName>
                                        </p:attrNameLst>
                                      </p:cBhvr>
                                      <p:to>
                                        <p:strVal val="visible"/>
                                      </p:to>
                                    </p:set>
                                    <p:animEffect transition="in" filter="fade">
                                      <p:cBhvr>
                                        <p:cTn id="10" dur="500"/>
                                        <p:tgtEl>
                                          <p:spTgt spid="717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11" grpId="0"/>
      <p:bldP spid="15" grpId="0"/>
      <p:bldP spid="16" grpId="0"/>
      <p:bldP spid="17" grpId="0"/>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4294967295"/>
          </p:nvPr>
        </p:nvSpPr>
        <p:spPr bwMode="auto">
          <a:xfrm>
            <a:off x="72199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EAE00724-C14C-4464-8E3F-0FF95170DE95}" type="slidenum">
              <a:rPr kumimoji="0" lang="en-US" altLang="zh-CN" sz="1000">
                <a:latin typeface="Arial" panose="020B0604020202020204" pitchFamily="34" charset="0"/>
                <a:ea typeface="微软雅黑" panose="020B0503020204020204" pitchFamily="34" charset="-122"/>
              </a:rPr>
              <a:t>32</a:t>
            </a:fld>
            <a:endParaRPr kumimoji="0" lang="en-US" altLang="zh-CN" sz="1000">
              <a:latin typeface="Arial" panose="020B0604020202020204" pitchFamily="34" charset="0"/>
              <a:ea typeface="微软雅黑" panose="020B0503020204020204" pitchFamily="34" charset="-122"/>
            </a:endParaRPr>
          </a:p>
        </p:txBody>
      </p:sp>
      <p:sp>
        <p:nvSpPr>
          <p:cNvPr id="8195" name="Rectangle 7"/>
          <p:cNvSpPr>
            <a:spLocks noChangeArrowheads="1"/>
          </p:cNvSpPr>
          <p:nvPr/>
        </p:nvSpPr>
        <p:spPr bwMode="auto">
          <a:xfrm>
            <a:off x="107950" y="115888"/>
            <a:ext cx="2338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资源配置问题</a:t>
            </a:r>
            <a:endParaRPr lang="en-US" altLang="zh-CN" sz="2800" b="1">
              <a:solidFill>
                <a:srgbClr val="FF0000"/>
              </a:solidFill>
              <a:latin typeface="Arial" panose="020B0604020202020204" pitchFamily="34" charset="0"/>
              <a:ea typeface="微软雅黑" panose="020B0503020204020204" pitchFamily="34" charset="-122"/>
            </a:endParaRPr>
          </a:p>
        </p:txBody>
      </p:sp>
      <p:sp>
        <p:nvSpPr>
          <p:cNvPr id="9" name="Rectangle 3"/>
          <p:cNvSpPr txBox="1">
            <a:spLocks noChangeArrowheads="1"/>
          </p:cNvSpPr>
          <p:nvPr/>
        </p:nvSpPr>
        <p:spPr bwMode="auto">
          <a:xfrm>
            <a:off x="0" y="660400"/>
            <a:ext cx="9144000" cy="1012825"/>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在</a:t>
            </a:r>
            <a:r>
              <a:rPr lang="zh-CN" altLang="en-US" sz="2400" b="1" kern="0" dirty="0">
                <a:solidFill>
                  <a:srgbClr val="FF0000"/>
                </a:solidFill>
                <a:latin typeface="微软雅黑" panose="020B0503020204020204" pitchFamily="34" charset="-122"/>
                <a:ea typeface="微软雅黑" panose="020B0503020204020204" pitchFamily="34" charset="-122"/>
              </a:rPr>
              <a:t>例</a:t>
            </a:r>
            <a:r>
              <a:rPr lang="en-US" altLang="zh-CN" sz="2400" b="1" kern="0" dirty="0">
                <a:solidFill>
                  <a:srgbClr val="FF0000"/>
                </a:solidFill>
                <a:latin typeface="微软雅黑" panose="020B0503020204020204" pitchFamily="34" charset="-122"/>
                <a:ea typeface="微软雅黑" panose="020B0503020204020204" pitchFamily="34" charset="-122"/>
              </a:rPr>
              <a:t>2-1</a:t>
            </a:r>
            <a:r>
              <a:rPr lang="zh-CN" altLang="en-US" sz="2400" b="1" kern="0" dirty="0">
                <a:latin typeface="微软雅黑" panose="020B0503020204020204" pitchFamily="34" charset="-122"/>
                <a:ea typeface="微软雅黑" panose="020B0503020204020204" pitchFamily="34" charset="-122"/>
              </a:rPr>
              <a:t>中，确定产品</a:t>
            </a:r>
            <a:r>
              <a:rPr lang="en-US" altLang="zh-CN" sz="2400" b="1" kern="0" dirty="0">
                <a:latin typeface="微软雅黑" panose="020B0503020204020204" pitchFamily="34" charset="-122"/>
                <a:ea typeface="微软雅黑" panose="020B0503020204020204" pitchFamily="34" charset="-122"/>
              </a:rPr>
              <a:t>Ⅰ</a:t>
            </a:r>
            <a:r>
              <a:rPr lang="zh-CN" altLang="en-US" sz="2400" b="1" kern="0" dirty="0">
                <a:latin typeface="微软雅黑" panose="020B0503020204020204" pitchFamily="34" charset="-122"/>
                <a:ea typeface="微软雅黑" panose="020B0503020204020204" pitchFamily="34" charset="-122"/>
              </a:rPr>
              <a:t>和</a:t>
            </a:r>
            <a:r>
              <a:rPr lang="en-US" altLang="zh-CN" sz="2400" b="1" kern="0" dirty="0">
                <a:latin typeface="微软雅黑" panose="020B0503020204020204" pitchFamily="34" charset="-122"/>
                <a:ea typeface="微软雅黑" panose="020B0503020204020204" pitchFamily="34" charset="-122"/>
              </a:rPr>
              <a:t>Ⅱ</a:t>
            </a:r>
            <a:r>
              <a:rPr lang="zh-CN" altLang="en-US" sz="2400" b="1" kern="0" dirty="0">
                <a:latin typeface="微软雅黑" panose="020B0503020204020204" pitchFamily="34" charset="-122"/>
                <a:ea typeface="微软雅黑" panose="020B0503020204020204" pitchFamily="34" charset="-122"/>
              </a:rPr>
              <a:t>的产量等价于要确定把多少资源</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分配</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到不同的产品中，因此我们称之为</a:t>
            </a:r>
            <a:r>
              <a:rPr lang="zh-CN" altLang="en-US" sz="2400" b="1" kern="0" dirty="0">
                <a:latin typeface="+mn-ea"/>
              </a:rPr>
              <a:t>“</a:t>
            </a:r>
            <a:r>
              <a:rPr lang="zh-CN" altLang="en-US" sz="2400" b="1" kern="0" dirty="0">
                <a:solidFill>
                  <a:srgbClr val="0000FF"/>
                </a:solidFill>
                <a:latin typeface="微软雅黑" panose="020B0503020204020204" pitchFamily="34" charset="-122"/>
                <a:ea typeface="微软雅黑" panose="020B0503020204020204" pitchFamily="34" charset="-122"/>
              </a:rPr>
              <a:t>资源配置问题</a:t>
            </a:r>
            <a:r>
              <a:rPr lang="zh-CN" altLang="en-US" sz="2400" b="1" kern="0" dirty="0">
                <a:latin typeface="+mn-ea"/>
              </a:rPr>
              <a:t>”</a:t>
            </a:r>
            <a:r>
              <a:rPr lang="en-US" altLang="zh-CN" sz="2400" b="1" kern="0" dirty="0">
                <a:latin typeface="微软雅黑" panose="020B0503020204020204" pitchFamily="34" charset="-122"/>
                <a:ea typeface="微软雅黑" panose="020B0503020204020204" pitchFamily="34" charset="-122"/>
              </a:rPr>
              <a:t>(</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Resource Allocation Problem</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sp>
        <p:nvSpPr>
          <p:cNvPr id="10" name="Rectangle 3"/>
          <p:cNvSpPr txBox="1">
            <a:spLocks noChangeArrowheads="1"/>
          </p:cNvSpPr>
          <p:nvPr/>
        </p:nvSpPr>
        <p:spPr bwMode="auto">
          <a:xfrm>
            <a:off x="0" y="1720850"/>
            <a:ext cx="9144000" cy="446088"/>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85725" indent="0" algn="just" eaLnBrk="1" hangingPunct="1">
              <a:spcBef>
                <a:spcPct val="0"/>
              </a:spcBef>
              <a:buFont typeface="Wingdings" panose="05000000000000000000" pitchFamily="2" charset="2"/>
              <a:buNone/>
              <a:defRPr/>
            </a:pPr>
            <a:r>
              <a:rPr lang="zh-CN" altLang="en-US" sz="2400" b="1" kern="0" dirty="0">
                <a:solidFill>
                  <a:srgbClr val="0000FF"/>
                </a:solidFill>
                <a:latin typeface="微软雅黑" panose="020B0503020204020204" pitchFamily="34" charset="-122"/>
                <a:ea typeface="微软雅黑" panose="020B0503020204020204" pitchFamily="34" charset="-122"/>
              </a:rPr>
              <a:t>一般的资源配置问题是为了通过资源分配来实现整体利益的最大化</a:t>
            </a:r>
            <a:endParaRPr lang="zh-CN" altLang="en-US" sz="2400" kern="0" dirty="0">
              <a:latin typeface="微软雅黑" panose="020B0503020204020204" pitchFamily="34" charset="-122"/>
            </a:endParaRPr>
          </a:p>
        </p:txBody>
      </p:sp>
      <p:grpSp>
        <p:nvGrpSpPr>
          <p:cNvPr id="5" name="组合 4"/>
          <p:cNvGrpSpPr/>
          <p:nvPr/>
        </p:nvGrpSpPr>
        <p:grpSpPr bwMode="auto">
          <a:xfrm>
            <a:off x="0" y="1751013"/>
            <a:ext cx="9144000" cy="2238375"/>
            <a:chOff x="0" y="2595970"/>
            <a:chExt cx="9144000" cy="2238474"/>
          </a:xfrm>
        </p:grpSpPr>
        <p:graphicFrame>
          <p:nvGraphicFramePr>
            <p:cNvPr id="8201" name="对象 6"/>
            <p:cNvGraphicFramePr>
              <a:graphicFrameLocks noChangeAspect="1"/>
            </p:cNvGraphicFramePr>
            <p:nvPr/>
          </p:nvGraphicFramePr>
          <p:xfrm>
            <a:off x="6146800" y="2595970"/>
            <a:ext cx="914400" cy="198438"/>
          </p:xfrm>
          <a:graphic>
            <a:graphicData uri="http://schemas.openxmlformats.org/presentationml/2006/ole">
              <mc:AlternateContent xmlns:mc="http://schemas.openxmlformats.org/markup-compatibility/2006">
                <mc:Choice xmlns:v="urn:schemas-microsoft-com:vml" Requires="v">
                  <p:oleObj spid="_x0000_s9704" name="Equation" r:id="rId3" imgW="434975" imgH="676910" progId="Equation.DSMT4">
                    <p:embed/>
                  </p:oleObj>
                </mc:Choice>
                <mc:Fallback>
                  <p:oleObj name="Equation" r:id="rId3" imgW="434975" imgH="676910" progId="Equation.DSMT4">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259597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2" name="对象 1"/>
            <p:cNvGraphicFramePr>
              <a:graphicFrameLocks noChangeAspect="1"/>
            </p:cNvGraphicFramePr>
            <p:nvPr/>
          </p:nvGraphicFramePr>
          <p:xfrm>
            <a:off x="2555810" y="2956560"/>
            <a:ext cx="360006" cy="526212"/>
          </p:xfrm>
          <a:graphic>
            <a:graphicData uri="http://schemas.openxmlformats.org/presentationml/2006/ole">
              <mc:AlternateContent xmlns:mc="http://schemas.openxmlformats.org/markup-compatibility/2006">
                <mc:Choice xmlns:v="urn:schemas-microsoft-com:vml" Requires="v">
                  <p:oleObj spid="_x0000_s9705" name="Equation" r:id="rId5" imgW="165100" imgH="241300" progId="Equation.DSMT4">
                    <p:embed/>
                  </p:oleObj>
                </mc:Choice>
                <mc:Fallback>
                  <p:oleObj name="Equation" r:id="rId5" imgW="165100" imgH="2413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10" y="2956560"/>
                          <a:ext cx="360006" cy="52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3" name="对象 2"/>
            <p:cNvGraphicFramePr>
              <a:graphicFrameLocks noChangeAspect="1"/>
            </p:cNvGraphicFramePr>
            <p:nvPr/>
          </p:nvGraphicFramePr>
          <p:xfrm>
            <a:off x="4223857" y="2985602"/>
            <a:ext cx="1788303" cy="452777"/>
          </p:xfrm>
          <a:graphic>
            <a:graphicData uri="http://schemas.openxmlformats.org/presentationml/2006/ole">
              <mc:AlternateContent xmlns:mc="http://schemas.openxmlformats.org/markup-compatibility/2006">
                <mc:Choice xmlns:v="urn:schemas-microsoft-com:vml" Requires="v">
                  <p:oleObj spid="_x0000_s9706" name="Equation" r:id="rId7" imgW="1002665" imgH="254000" progId="Equation.DSMT4">
                    <p:embed/>
                  </p:oleObj>
                </mc:Choice>
                <mc:Fallback>
                  <p:oleObj name="Equation" r:id="rId7" imgW="1002665" imgH="254000"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3857" y="2985602"/>
                          <a:ext cx="1788303" cy="45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4" name="对象 5"/>
            <p:cNvGraphicFramePr>
              <a:graphicFrameLocks noChangeAspect="1"/>
            </p:cNvGraphicFramePr>
            <p:nvPr/>
          </p:nvGraphicFramePr>
          <p:xfrm>
            <a:off x="4183393" y="3868911"/>
            <a:ext cx="1828767" cy="479999"/>
          </p:xfrm>
          <a:graphic>
            <a:graphicData uri="http://schemas.openxmlformats.org/presentationml/2006/ole">
              <mc:AlternateContent xmlns:mc="http://schemas.openxmlformats.org/markup-compatibility/2006">
                <mc:Choice xmlns:v="urn:schemas-microsoft-com:vml" Requires="v">
                  <p:oleObj spid="_x0000_s9707" name="Equation" r:id="rId9" imgW="965200" imgH="254000" progId="Equation.DSMT4">
                    <p:embed/>
                  </p:oleObj>
                </mc:Choice>
                <mc:Fallback>
                  <p:oleObj name="Equation" r:id="rId9" imgW="965200" imgH="254000" progId="Equation.DSMT4">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83393" y="3868911"/>
                          <a:ext cx="1828767" cy="47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5" name="对象 6"/>
            <p:cNvGraphicFramePr>
              <a:graphicFrameLocks noChangeAspect="1"/>
            </p:cNvGraphicFramePr>
            <p:nvPr/>
          </p:nvGraphicFramePr>
          <p:xfrm>
            <a:off x="1601585" y="3370962"/>
            <a:ext cx="378127" cy="552698"/>
          </p:xfrm>
          <a:graphic>
            <a:graphicData uri="http://schemas.openxmlformats.org/presentationml/2006/ole">
              <mc:AlternateContent xmlns:mc="http://schemas.openxmlformats.org/markup-compatibility/2006">
                <mc:Choice xmlns:v="urn:schemas-microsoft-com:vml" Requires="v">
                  <p:oleObj spid="_x0000_s9708" name="Equation" r:id="rId11" imgW="165100" imgH="241300" progId="Equation.DSMT4">
                    <p:embed/>
                  </p:oleObj>
                </mc:Choice>
                <mc:Fallback>
                  <p:oleObj name="Equation" r:id="rId11" imgW="165100" imgH="241300" progId="Equation.DSMT4">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1585" y="3370962"/>
                          <a:ext cx="378127" cy="55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6" name="对象 7"/>
            <p:cNvGraphicFramePr>
              <a:graphicFrameLocks noChangeAspect="1"/>
            </p:cNvGraphicFramePr>
            <p:nvPr/>
          </p:nvGraphicFramePr>
          <p:xfrm>
            <a:off x="7883475" y="3871579"/>
            <a:ext cx="288925" cy="474662"/>
          </p:xfrm>
          <a:graphic>
            <a:graphicData uri="http://schemas.openxmlformats.org/presentationml/2006/ole">
              <mc:AlternateContent xmlns:mc="http://schemas.openxmlformats.org/markup-compatibility/2006">
                <mc:Choice xmlns:v="urn:schemas-microsoft-com:vml" Requires="v">
                  <p:oleObj spid="_x0000_s9709" name="Equation" r:id="rId13" imgW="139700" imgH="228600" progId="Equation.DSMT4">
                    <p:embed/>
                  </p:oleObj>
                </mc:Choice>
                <mc:Fallback>
                  <p:oleObj name="Equation" r:id="rId13" imgW="139700" imgH="228600" progId="Equation.DSMT4">
                    <p:embed/>
                    <p:pic>
                      <p:nvPicPr>
                        <p:cNvPr id="0"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83475" y="3871579"/>
                          <a:ext cx="2889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7" name="对象 10"/>
            <p:cNvGraphicFramePr>
              <a:graphicFrameLocks noChangeAspect="1"/>
            </p:cNvGraphicFramePr>
            <p:nvPr/>
          </p:nvGraphicFramePr>
          <p:xfrm>
            <a:off x="996435" y="4281746"/>
            <a:ext cx="407213" cy="552698"/>
          </p:xfrm>
          <a:graphic>
            <a:graphicData uri="http://schemas.openxmlformats.org/presentationml/2006/ole">
              <mc:AlternateContent xmlns:mc="http://schemas.openxmlformats.org/markup-compatibility/2006">
                <mc:Choice xmlns:v="urn:schemas-microsoft-com:vml" Requires="v">
                  <p:oleObj spid="_x0000_s9710" name="Equation" r:id="rId15" imgW="177800" imgH="241300" progId="Equation.DSMT4">
                    <p:embed/>
                  </p:oleObj>
                </mc:Choice>
                <mc:Fallback>
                  <p:oleObj name="Equation" r:id="rId15" imgW="177800" imgH="241300" progId="Equation.DSMT4">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6435" y="4281746"/>
                          <a:ext cx="407213" cy="55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8" name="对象 11"/>
            <p:cNvGraphicFramePr>
              <a:graphicFrameLocks noChangeAspect="1"/>
            </p:cNvGraphicFramePr>
            <p:nvPr/>
          </p:nvGraphicFramePr>
          <p:xfrm>
            <a:off x="3531561" y="4353754"/>
            <a:ext cx="248351" cy="372562"/>
          </p:xfrm>
          <a:graphic>
            <a:graphicData uri="http://schemas.openxmlformats.org/presentationml/2006/ole">
              <mc:AlternateContent xmlns:mc="http://schemas.openxmlformats.org/markup-compatibility/2006">
                <mc:Choice xmlns:v="urn:schemas-microsoft-com:vml" Requires="v">
                  <p:oleObj spid="_x0000_s9711" name="Equation" r:id="rId17" imgW="127000" imgH="190500" progId="Equation.DSMT4">
                    <p:embed/>
                  </p:oleObj>
                </mc:Choice>
                <mc:Fallback>
                  <p:oleObj name="Equation" r:id="rId17" imgW="127000" imgH="190500" progId="Equation.DSMT4">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31561" y="4353754"/>
                          <a:ext cx="248351" cy="37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9" name="对象 12"/>
            <p:cNvGraphicFramePr>
              <a:graphicFrameLocks noChangeAspect="1"/>
            </p:cNvGraphicFramePr>
            <p:nvPr/>
          </p:nvGraphicFramePr>
          <p:xfrm>
            <a:off x="5660160" y="4340025"/>
            <a:ext cx="207984" cy="386291"/>
          </p:xfrm>
          <a:graphic>
            <a:graphicData uri="http://schemas.openxmlformats.org/presentationml/2006/ole">
              <mc:AlternateContent xmlns:mc="http://schemas.openxmlformats.org/markup-compatibility/2006">
                <mc:Choice xmlns:v="urn:schemas-microsoft-com:vml" Requires="v">
                  <p:oleObj spid="_x0000_s9712" name="Equation" r:id="rId19" imgW="88900" imgH="164465" progId="Equation.DSMT4">
                    <p:embed/>
                  </p:oleObj>
                </mc:Choice>
                <mc:Fallback>
                  <p:oleObj name="Equation" r:id="rId19" imgW="88900" imgH="164465" progId="Equation.DSMT4">
                    <p:embed/>
                    <p:pic>
                      <p:nvPicPr>
                        <p:cNvPr id="0" name="对象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60160" y="4340025"/>
                          <a:ext cx="207984" cy="38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0" name="对象 13"/>
            <p:cNvGraphicFramePr>
              <a:graphicFrameLocks noChangeAspect="1"/>
            </p:cNvGraphicFramePr>
            <p:nvPr/>
          </p:nvGraphicFramePr>
          <p:xfrm>
            <a:off x="1321133" y="3989035"/>
            <a:ext cx="370547" cy="313569"/>
          </p:xfrm>
          <a:graphic>
            <a:graphicData uri="http://schemas.openxmlformats.org/presentationml/2006/ole">
              <mc:AlternateContent xmlns:mc="http://schemas.openxmlformats.org/markup-compatibility/2006">
                <mc:Choice xmlns:v="urn:schemas-microsoft-com:vml" Requires="v">
                  <p:oleObj spid="_x0000_s9713" name="Equation" r:id="rId21" imgW="165100" imgH="139700" progId="Equation.DSMT4">
                    <p:embed/>
                  </p:oleObj>
                </mc:Choice>
                <mc:Fallback>
                  <p:oleObj name="Equation" r:id="rId21" imgW="165100" imgH="139700" progId="Equation.DSMT4">
                    <p:embed/>
                    <p:pic>
                      <p:nvPicPr>
                        <p:cNvPr id="0" name="对象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21133" y="3989035"/>
                          <a:ext cx="370547" cy="31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文本框 22"/>
            <p:cNvSpPr txBox="1"/>
            <p:nvPr/>
          </p:nvSpPr>
          <p:spPr>
            <a:xfrm>
              <a:off x="0" y="2969048"/>
              <a:ext cx="9144000" cy="1828881"/>
            </a:xfrm>
            <a:prstGeom prst="rect">
              <a:avLst/>
            </a:prstGeom>
            <a:noFill/>
          </p:spPr>
          <p:txBody>
            <a:bodyPr>
              <a:spAutoFit/>
            </a:bodyPr>
            <a:lstStyle/>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假设用决策变量    表示产品                   的产量，每种产品的单位贡献为   </a:t>
              </a:r>
              <a:endParaRPr lang="en-US" altLang="zh-CN" b="1" kern="0" dirty="0">
                <a:solidFill>
                  <a:schemeClr val="bg2"/>
                </a:solidFill>
                <a:latin typeface="微软雅黑" panose="020B0503020204020204" pitchFamily="34" charset="-122"/>
                <a:ea typeface="微软雅黑" panose="020B0503020204020204" pitchFamily="34" charset="-122"/>
              </a:endParaRPr>
            </a:p>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设共有 </a:t>
              </a:r>
              <a:r>
                <a:rPr lang="en-US" altLang="zh-CN" b="1" kern="0" dirty="0">
                  <a:solidFill>
                    <a:schemeClr val="bg2"/>
                  </a:solidFill>
                  <a:latin typeface="微软雅黑" panose="020B0503020204020204" pitchFamily="34" charset="-122"/>
                  <a:ea typeface="微软雅黑" panose="020B0503020204020204" pitchFamily="34" charset="-122"/>
                </a:rPr>
                <a:t>   </a:t>
              </a:r>
              <a:r>
                <a:rPr lang="zh-CN" altLang="en-US" b="1" kern="0" dirty="0">
                  <a:solidFill>
                    <a:schemeClr val="bg2"/>
                  </a:solidFill>
                  <a:latin typeface="微软雅黑" panose="020B0503020204020204" pitchFamily="34" charset="-122"/>
                  <a:ea typeface="微软雅黑" panose="020B0503020204020204" pitchFamily="34" charset="-122"/>
                </a:rPr>
                <a:t>种资源，其中资源</a:t>
              </a:r>
              <a:r>
                <a:rPr lang="en-US" altLang="zh-CN" b="1" kern="0" dirty="0">
                  <a:solidFill>
                    <a:schemeClr val="bg2"/>
                  </a:solidFill>
                  <a:latin typeface="微软雅黑" panose="020B0503020204020204" pitchFamily="34" charset="-122"/>
                  <a:ea typeface="微软雅黑" panose="020B0503020204020204" pitchFamily="34" charset="-122"/>
                </a:rPr>
                <a:t>                     </a:t>
              </a:r>
              <a:r>
                <a:rPr lang="zh-CN" altLang="en-US" b="1" kern="0" dirty="0">
                  <a:solidFill>
                    <a:schemeClr val="bg2"/>
                  </a:solidFill>
                  <a:latin typeface="微软雅黑" panose="020B0503020204020204" pitchFamily="34" charset="-122"/>
                  <a:ea typeface="微软雅黑" panose="020B0503020204020204" pitchFamily="34" charset="-122"/>
                </a:rPr>
                <a:t>的可用数量为   </a:t>
              </a:r>
              <a:endParaRPr lang="en-US" altLang="zh-CN" b="1" kern="0" dirty="0">
                <a:solidFill>
                  <a:schemeClr val="bg2"/>
                </a:solidFill>
                <a:latin typeface="微软雅黑" panose="020B0503020204020204" pitchFamily="34" charset="-122"/>
                <a:ea typeface="微软雅黑" panose="020B0503020204020204" pitchFamily="34" charset="-122"/>
              </a:endParaRPr>
            </a:p>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系数    表示每单位产品   所消耗的资源   的数量 </a:t>
              </a:r>
              <a:endParaRPr lang="zh-CN" altLang="en-US" kern="0" dirty="0">
                <a:solidFill>
                  <a:schemeClr val="bg2"/>
                </a:solidFill>
                <a:latin typeface="微软雅黑" panose="020B0503020204020204" pitchFamily="34" charset="-122"/>
              </a:endParaRPr>
            </a:p>
          </p:txBody>
        </p:sp>
      </p:grpSp>
      <p:graphicFrame>
        <p:nvGraphicFramePr>
          <p:cNvPr id="26" name="对象 12"/>
          <p:cNvGraphicFramePr>
            <a:graphicFrameLocks noChangeAspect="1"/>
          </p:cNvGraphicFramePr>
          <p:nvPr/>
        </p:nvGraphicFramePr>
        <p:xfrm>
          <a:off x="2725738" y="4292600"/>
          <a:ext cx="3730625" cy="2517775"/>
        </p:xfrm>
        <a:graphic>
          <a:graphicData uri="http://schemas.openxmlformats.org/presentationml/2006/ole">
            <mc:AlternateContent xmlns:mc="http://schemas.openxmlformats.org/markup-compatibility/2006">
              <mc:Choice xmlns:v="urn:schemas-microsoft-com:vml" Requires="v">
                <p:oleObj spid="_x0000_s9714" name="Equation" r:id="rId23" imgW="2070100" imgH="1397000" progId="Equation.DSMT4">
                  <p:embed/>
                </p:oleObj>
              </mc:Choice>
              <mc:Fallback>
                <p:oleObj name="Equation" r:id="rId23" imgW="2070100" imgH="1397000" progId="Equation.DSMT4">
                  <p:embed/>
                  <p:pic>
                    <p:nvPicPr>
                      <p:cNvPr id="0" name="对象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25738" y="4292600"/>
                        <a:ext cx="373062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p:nvPr/>
        </p:nvSpPr>
        <p:spPr>
          <a:xfrm>
            <a:off x="0" y="3903663"/>
            <a:ext cx="9144000" cy="461962"/>
          </a:xfrm>
          <a:prstGeom prst="rect">
            <a:avLst/>
          </a:prstGeom>
        </p:spPr>
        <p:txBody>
          <a:bodyPr>
            <a:spAutoFit/>
          </a:bodyPr>
          <a:lstStyle/>
          <a:p>
            <a:pPr>
              <a:defRPr/>
            </a:pPr>
            <a:r>
              <a:rPr lang="zh-CN" altLang="en-US" b="1" kern="0" dirty="0">
                <a:solidFill>
                  <a:srgbClr val="006600"/>
                </a:solidFill>
                <a:latin typeface="微软雅黑" panose="020B0503020204020204" pitchFamily="34" charset="-122"/>
                <a:ea typeface="微软雅黑" panose="020B0503020204020204" pitchFamily="34" charset="-122"/>
              </a:rPr>
              <a:t>考虑到所有可用资源的限制，资源配置问题的一般模型为： </a:t>
            </a:r>
            <a:endParaRPr lang="zh-CN" altLang="en-US" dirty="0">
              <a:solidFill>
                <a:srgbClr val="0066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6"/>
          <p:cNvSpPr>
            <a:spLocks noGrp="1"/>
          </p:cNvSpPr>
          <p:nvPr>
            <p:ph type="sldNum" sz="quarter" idx="4294967295"/>
          </p:nvPr>
        </p:nvSpPr>
        <p:spPr bwMode="auto">
          <a:xfrm>
            <a:off x="7239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B5ACA102-35C6-4C27-BE84-2814E5357CAE}" type="slidenum">
              <a:rPr kumimoji="0" lang="en-US" altLang="zh-CN" sz="1000">
                <a:latin typeface="Arial" panose="020B0604020202020204" pitchFamily="34" charset="0"/>
                <a:ea typeface="微软雅黑" panose="020B0503020204020204" pitchFamily="34" charset="-122"/>
              </a:rPr>
              <a:t>33</a:t>
            </a:fld>
            <a:endParaRPr kumimoji="0" lang="en-US" altLang="zh-CN" sz="1000" dirty="0">
              <a:latin typeface="Arial" panose="020B0604020202020204" pitchFamily="34" charset="0"/>
              <a:ea typeface="微软雅黑" panose="020B0503020204020204" pitchFamily="34" charset="-122"/>
            </a:endParaRPr>
          </a:p>
        </p:txBody>
      </p:sp>
      <p:sp>
        <p:nvSpPr>
          <p:cNvPr id="74755" name="Rectangle 3"/>
          <p:cNvSpPr>
            <a:spLocks noGrp="1" noChangeArrowheads="1"/>
          </p:cNvSpPr>
          <p:nvPr>
            <p:ph type="body" sz="half" idx="4294967295"/>
          </p:nvPr>
        </p:nvSpPr>
        <p:spPr>
          <a:xfrm>
            <a:off x="0" y="188913"/>
            <a:ext cx="9144000" cy="2676525"/>
          </a:xfrm>
        </p:spPr>
        <p:txBody>
          <a:bodyPr/>
          <a:lstStyle/>
          <a:p>
            <a:pPr marL="0" indent="0" algn="just" eaLnBrk="1" hangingPunct="1">
              <a:lnSpc>
                <a:spcPct val="120000"/>
              </a:lnSpc>
              <a:spcBef>
                <a:spcPct val="0"/>
              </a:spcBef>
              <a:buFont typeface="Wingdings" panose="05000000000000000000" pitchFamily="2" charset="2"/>
              <a:buNone/>
              <a:defRPr/>
            </a:pPr>
            <a:r>
              <a:rPr lang="zh-CN" altLang="en-US" sz="2400" b="1" dirty="0">
                <a:solidFill>
                  <a:srgbClr val="FF0000"/>
                </a:solidFill>
                <a:latin typeface="微软雅黑" panose="020B0503020204020204" pitchFamily="34" charset="-122"/>
                <a:ea typeface="微软雅黑" panose="020B0503020204020204" pitchFamily="34" charset="-122"/>
              </a:rPr>
              <a:t>例 </a:t>
            </a:r>
            <a:r>
              <a:rPr lang="en-US" altLang="zh-CN" sz="2400" b="1" kern="100" dirty="0">
                <a:solidFill>
                  <a:srgbClr val="FF0000"/>
                </a:solidFill>
                <a:latin typeface="微软雅黑" panose="020B0503020204020204" pitchFamily="34" charset="-122"/>
                <a:ea typeface="微软雅黑" panose="020B0503020204020204" pitchFamily="34" charset="-122"/>
              </a:rPr>
              <a:t>2-2</a:t>
            </a: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zh-CN" sz="2400" b="1" kern="100" dirty="0">
                <a:latin typeface="微软雅黑" panose="020B0503020204020204" pitchFamily="34" charset="-122"/>
                <a:ea typeface="微软雅黑" panose="020B0503020204020204" pitchFamily="34" charset="-122"/>
              </a:rPr>
              <a:t>小王决定回老家创业养猪</a:t>
            </a:r>
            <a:r>
              <a:rPr lang="zh-CN" altLang="en-US" sz="2400" b="1" kern="100" dirty="0">
                <a:latin typeface="微软雅黑" panose="020B0503020204020204" pitchFamily="34" charset="-122"/>
                <a:ea typeface="微软雅黑" panose="020B0503020204020204" pitchFamily="34" charset="-122"/>
              </a:rPr>
              <a:t>，他</a:t>
            </a:r>
            <a:r>
              <a:rPr lang="zh-CN" altLang="zh-CN" sz="2400" b="1" kern="100" dirty="0">
                <a:latin typeface="微软雅黑" panose="020B0503020204020204" pitchFamily="34" charset="-122"/>
                <a:ea typeface="微软雅黑" panose="020B0503020204020204" pitchFamily="34" charset="-122"/>
              </a:rPr>
              <a:t>面临的第一个问题是如何搭配一个成本低廉的</a:t>
            </a:r>
            <a:r>
              <a:rPr lang="zh-CN" altLang="en-US" sz="2400" b="1" kern="100" dirty="0">
                <a:latin typeface="微软雅黑" panose="020B0503020204020204" pitchFamily="34" charset="-122"/>
                <a:ea typeface="微软雅黑" panose="020B0503020204020204" pitchFamily="34" charset="-122"/>
              </a:rPr>
              <a:t>饲料</a:t>
            </a:r>
            <a:r>
              <a:rPr lang="zh-CN" altLang="zh-CN" sz="2400" b="1" kern="100" dirty="0">
                <a:latin typeface="微软雅黑" panose="020B0503020204020204" pitchFamily="34" charset="-122"/>
                <a:ea typeface="微软雅黑" panose="020B0503020204020204" pitchFamily="34" charset="-122"/>
              </a:rPr>
              <a:t>混合配方。已知可选的猪饲料包括</a:t>
            </a:r>
            <a:r>
              <a:rPr lang="zh-CN" altLang="zh-CN" sz="2400" b="1" kern="100" dirty="0">
                <a:solidFill>
                  <a:srgbClr val="0000FF"/>
                </a:solidFill>
                <a:latin typeface="微软雅黑" panose="020B0503020204020204" pitchFamily="34" charset="-122"/>
                <a:ea typeface="微软雅黑" panose="020B0503020204020204" pitchFamily="34" charset="-122"/>
              </a:rPr>
              <a:t>玉米、槽料和苜蓿</a:t>
            </a:r>
            <a:r>
              <a:rPr lang="zh-CN" altLang="en-US" sz="2400" b="1" kern="100" dirty="0">
                <a:latin typeface="微软雅黑" panose="020B0503020204020204" pitchFamily="34" charset="-122"/>
                <a:ea typeface="微软雅黑" panose="020B0503020204020204" pitchFamily="34" charset="-122"/>
              </a:rPr>
              <a:t>。</a:t>
            </a:r>
            <a:r>
              <a:rPr lang="zh-CN" altLang="zh-CN" sz="2400" b="1" kern="100" dirty="0">
                <a:latin typeface="微软雅黑" panose="020B0503020204020204" pitchFamily="34" charset="-122"/>
                <a:ea typeface="微软雅黑" panose="020B0503020204020204" pitchFamily="34" charset="-122"/>
              </a:rPr>
              <a:t>经咨询专家，</a:t>
            </a:r>
            <a:r>
              <a:rPr lang="zh-CN" altLang="zh-CN" sz="2400" b="1" kern="100" dirty="0">
                <a:solidFill>
                  <a:srgbClr val="191919"/>
                </a:solidFill>
                <a:latin typeface="微软雅黑" panose="020B0503020204020204" pitchFamily="34" charset="-122"/>
                <a:ea typeface="微软雅黑" panose="020B0503020204020204" pitchFamily="34" charset="-122"/>
              </a:rPr>
              <a:t>小王决定重点保证饲料在</a:t>
            </a:r>
            <a:r>
              <a:rPr lang="zh-CN" altLang="zh-CN" sz="2400" b="1" kern="100" dirty="0">
                <a:solidFill>
                  <a:srgbClr val="0000FF"/>
                </a:solidFill>
                <a:latin typeface="微软雅黑" panose="020B0503020204020204" pitchFamily="34" charset="-122"/>
                <a:ea typeface="微软雅黑" panose="020B0503020204020204" pitchFamily="34" charset="-122"/>
              </a:rPr>
              <a:t>碳水化合物</a:t>
            </a:r>
            <a:r>
              <a:rPr lang="zh-CN" altLang="zh-CN" sz="2400" b="1" kern="100" dirty="0">
                <a:solidFill>
                  <a:srgbClr val="191919"/>
                </a:solidFill>
                <a:latin typeface="微软雅黑" panose="020B0503020204020204" pitchFamily="34" charset="-122"/>
                <a:ea typeface="微软雅黑" panose="020B0503020204020204" pitchFamily="34" charset="-122"/>
              </a:rPr>
              <a:t>和</a:t>
            </a:r>
            <a:r>
              <a:rPr lang="zh-CN" altLang="zh-CN" sz="2400" b="1" kern="100" dirty="0">
                <a:solidFill>
                  <a:srgbClr val="0000FF"/>
                </a:solidFill>
                <a:latin typeface="微软雅黑" panose="020B0503020204020204" pitchFamily="34" charset="-122"/>
                <a:ea typeface="微软雅黑" panose="020B0503020204020204" pitchFamily="34" charset="-122"/>
              </a:rPr>
              <a:t>蛋白质</a:t>
            </a:r>
            <a:r>
              <a:rPr lang="zh-CN" altLang="zh-CN" sz="2400" b="1" kern="100" dirty="0">
                <a:solidFill>
                  <a:srgbClr val="191919"/>
                </a:solidFill>
                <a:latin typeface="微软雅黑" panose="020B0503020204020204" pitchFamily="34" charset="-122"/>
                <a:ea typeface="微软雅黑" panose="020B0503020204020204" pitchFamily="34" charset="-122"/>
              </a:rPr>
              <a:t>方面的要求。</a:t>
            </a:r>
            <a:r>
              <a:rPr lang="zh-CN" altLang="zh-CN" sz="2400" b="1" kern="100" dirty="0">
                <a:latin typeface="微软雅黑" panose="020B0503020204020204" pitchFamily="34" charset="-122"/>
                <a:ea typeface="微软雅黑" panose="020B0503020204020204" pitchFamily="34" charset="-122"/>
              </a:rPr>
              <a:t>各种饲料（每公斤）对应的碳水化合物和蛋白质含量、以及价格如下表示；表的最后一列也给出了科学养猪中对每公斤饲料所含最低营养成分的要求。</a:t>
            </a:r>
            <a:endParaRPr lang="en-US" altLang="zh-CN" sz="2400" b="1" kern="100" dirty="0">
              <a:latin typeface="微软雅黑" panose="020B0503020204020204" pitchFamily="34" charset="-122"/>
              <a:ea typeface="微软雅黑" panose="020B0503020204020204" pitchFamily="34" charset="-122"/>
            </a:endParaRPr>
          </a:p>
          <a:p>
            <a:pPr indent="0" algn="just" eaLnBrk="1" hangingPunct="1">
              <a:lnSpc>
                <a:spcPct val="150000"/>
              </a:lnSpc>
              <a:spcBef>
                <a:spcPct val="0"/>
              </a:spcBef>
              <a:buFont typeface="Wingdings" panose="05000000000000000000" pitchFamily="2" charset="2"/>
              <a:buNone/>
              <a:defRPr/>
            </a:pPr>
            <a:endParaRPr lang="zh-CN" altLang="en-US" sz="2800" dirty="0"/>
          </a:p>
        </p:txBody>
      </p:sp>
      <p:sp>
        <p:nvSpPr>
          <p:cNvPr id="9220" name="Rectangle 8"/>
          <p:cNvSpPr>
            <a:spLocks noChangeArrowheads="1"/>
          </p:cNvSpPr>
          <p:nvPr/>
        </p:nvSpPr>
        <p:spPr bwMode="auto">
          <a:xfrm>
            <a:off x="614363" y="6048375"/>
            <a:ext cx="8353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20000"/>
              </a:spcBef>
              <a:buClr>
                <a:schemeClr val="bg1"/>
              </a:buClr>
              <a:buSzPct val="100000"/>
              <a:buFont typeface="Wingdings" panose="05000000000000000000" pitchFamily="2" charset="2"/>
              <a:buNone/>
            </a:pPr>
            <a:r>
              <a:rPr lang="zh-CN" altLang="en-US" b="1" u="sng" dirty="0">
                <a:solidFill>
                  <a:srgbClr val="FF0000"/>
                </a:solidFill>
                <a:latin typeface="微软雅黑" panose="020B0503020204020204" pitchFamily="34" charset="-122"/>
                <a:ea typeface="微软雅黑" panose="020B0503020204020204" pitchFamily="34" charset="-122"/>
              </a:rPr>
              <a:t>小王应该如何调配混合饲料</a:t>
            </a:r>
            <a:r>
              <a:rPr lang="zh-CN" altLang="en-US" b="1" u="sng" dirty="0">
                <a:solidFill>
                  <a:srgbClr val="FF0000"/>
                </a:solidFill>
                <a:latin typeface="Arial" panose="020B0604020202020204" pitchFamily="34" charset="0"/>
                <a:ea typeface="楷体" panose="02010609060101010101" pitchFamily="49" charset="-122"/>
              </a:rPr>
              <a:t>？</a:t>
            </a:r>
          </a:p>
        </p:txBody>
      </p:sp>
      <p:graphicFrame>
        <p:nvGraphicFramePr>
          <p:cNvPr id="3" name="表格 2"/>
          <p:cNvGraphicFramePr>
            <a:graphicFrameLocks noGrp="1"/>
          </p:cNvGraphicFramePr>
          <p:nvPr/>
        </p:nvGraphicFramePr>
        <p:xfrm>
          <a:off x="614363" y="3744913"/>
          <a:ext cx="7661276" cy="2173290"/>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396">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9630">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9630">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9630">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矩形 1"/>
          <p:cNvSpPr/>
          <p:nvPr/>
        </p:nvSpPr>
        <p:spPr>
          <a:xfrm>
            <a:off x="541338" y="3181350"/>
            <a:ext cx="7854950" cy="500063"/>
          </a:xfrm>
          <a:prstGeom prst="rect">
            <a:avLst/>
          </a:prstGeom>
        </p:spPr>
        <p:txBody>
          <a:bodyPr wrap="none">
            <a:spAutoFit/>
          </a:bodyPr>
          <a:lstStyle/>
          <a:p>
            <a:pPr algn="ctr" eaLnBrk="1" hangingPunct="1">
              <a:lnSpc>
                <a:spcPct val="150000"/>
              </a:lnSpc>
              <a:defRPr/>
            </a:pPr>
            <a:r>
              <a:rPr lang="zh-CN" altLang="en-US" sz="2000" b="1" kern="100" dirty="0">
                <a:latin typeface="微软雅黑" panose="020B0503020204020204" pitchFamily="34" charset="-122"/>
                <a:ea typeface="微软雅黑" panose="020B0503020204020204" pitchFamily="34" charset="-122"/>
              </a:rPr>
              <a:t>表</a:t>
            </a:r>
            <a:r>
              <a:rPr lang="en-US" altLang="zh-CN" sz="2000" b="1" kern="100" dirty="0">
                <a:latin typeface="微软雅黑" panose="020B0503020204020204" pitchFamily="34" charset="-122"/>
                <a:ea typeface="微软雅黑" panose="020B0503020204020204" pitchFamily="34" charset="-122"/>
              </a:rPr>
              <a:t>2-1 </a:t>
            </a:r>
            <a:r>
              <a:rPr lang="zh-CN" altLang="zh-CN" sz="2000" b="1" kern="100" dirty="0">
                <a:latin typeface="微软雅黑" panose="020B0503020204020204" pitchFamily="34" charset="-122"/>
                <a:ea typeface="微软雅黑" panose="020B0503020204020204" pitchFamily="34" charset="-122"/>
              </a:rPr>
              <a:t>玉米、槽料和苜蓿对应的碳水化合物和蛋白质含量、以及价格</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6"/>
          <p:cNvSpPr>
            <a:spLocks noGrp="1"/>
          </p:cNvSpPr>
          <p:nvPr>
            <p:ph type="sldNum" sz="quarter" idx="4294967295"/>
          </p:nvPr>
        </p:nvSpPr>
        <p:spPr bwMode="auto">
          <a:xfrm>
            <a:off x="7204674" y="640715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DBE02E2E-CBBC-4C5C-983F-15F1363C6902}" type="slidenum">
              <a:rPr kumimoji="0" lang="en-US" altLang="zh-CN" sz="1000">
                <a:latin typeface="Arial" panose="020B0604020202020204" pitchFamily="34" charset="0"/>
                <a:ea typeface="微软雅黑" panose="020B0503020204020204" pitchFamily="34" charset="-122"/>
              </a:rPr>
              <a:t>34</a:t>
            </a:fld>
            <a:endParaRPr kumimoji="0" lang="en-US" altLang="zh-CN" sz="1000" dirty="0">
              <a:latin typeface="Arial" panose="020B0604020202020204" pitchFamily="34" charset="0"/>
              <a:ea typeface="微软雅黑" panose="020B0503020204020204" pitchFamily="34" charset="-122"/>
            </a:endParaRPr>
          </a:p>
        </p:txBody>
      </p:sp>
      <p:sp>
        <p:nvSpPr>
          <p:cNvPr id="10243" name="文本框 4"/>
          <p:cNvSpPr txBox="1">
            <a:spLocks noChangeArrowheads="1"/>
          </p:cNvSpPr>
          <p:nvPr/>
        </p:nvSpPr>
        <p:spPr bwMode="auto">
          <a:xfrm>
            <a:off x="1828800" y="4057650"/>
            <a:ext cx="7567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ea typeface="微软雅黑" panose="020B0503020204020204" pitchFamily="34" charset="-122"/>
            </a:endParaRPr>
          </a:p>
        </p:txBody>
      </p:sp>
      <p:grpSp>
        <p:nvGrpSpPr>
          <p:cNvPr id="14" name="组合 13"/>
          <p:cNvGrpSpPr/>
          <p:nvPr/>
        </p:nvGrpSpPr>
        <p:grpSpPr bwMode="auto">
          <a:xfrm>
            <a:off x="1450975" y="2924175"/>
            <a:ext cx="8886825" cy="531813"/>
            <a:chOff x="658168" y="1252267"/>
            <a:chExt cx="8888320" cy="531341"/>
          </a:xfrm>
        </p:grpSpPr>
        <p:sp>
          <p:nvSpPr>
            <p:cNvPr id="9" name="Rectangle 3"/>
            <p:cNvSpPr txBox="1">
              <a:spLocks noChangeArrowheads="1"/>
            </p:cNvSpPr>
            <p:nvPr/>
          </p:nvSpPr>
          <p:spPr bwMode="auto">
            <a:xfrm>
              <a:off x="832822" y="1252267"/>
              <a:ext cx="8713666"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en-US" sz="2400" b="1" kern="0" dirty="0">
                  <a:solidFill>
                    <a:schemeClr val="accent1">
                      <a:lumMod val="50000"/>
                    </a:schemeClr>
                  </a:solidFill>
                  <a:latin typeface="微软雅黑" panose="020B0503020204020204" pitchFamily="34" charset="-122"/>
                  <a:ea typeface="微软雅黑" panose="020B0503020204020204" pitchFamily="34" charset="-122"/>
                </a:rPr>
                <a:t>槽料</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4" name="对象 4"/>
            <p:cNvGraphicFramePr>
              <a:graphicFrameLocks noChangeAspect="1"/>
            </p:cNvGraphicFramePr>
            <p:nvPr/>
          </p:nvGraphicFramePr>
          <p:xfrm>
            <a:off x="658168" y="1296667"/>
            <a:ext cx="558800" cy="381000"/>
          </p:xfrm>
          <a:graphic>
            <a:graphicData uri="http://schemas.openxmlformats.org/presentationml/2006/ole">
              <mc:AlternateContent xmlns:mc="http://schemas.openxmlformats.org/markup-compatibility/2006">
                <mc:Choice xmlns:v="urn:schemas-microsoft-com:vml" Requires="v">
                  <p:oleObj spid="_x0000_s10552" name="Equation" r:id="rId3" imgW="558800" imgH="381000" progId="Equation.DSMT4">
                    <p:embed/>
                  </p:oleObj>
                </mc:Choice>
                <mc:Fallback>
                  <p:oleObj name="Equation" r:id="rId3" imgW="558800" imgH="3810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168" y="1296667"/>
                          <a:ext cx="558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5" name="组合 14"/>
          <p:cNvGrpSpPr/>
          <p:nvPr/>
        </p:nvGrpSpPr>
        <p:grpSpPr bwMode="auto">
          <a:xfrm>
            <a:off x="1476375" y="2349500"/>
            <a:ext cx="8861425" cy="530225"/>
            <a:chOff x="683568" y="768075"/>
            <a:chExt cx="8862920" cy="531341"/>
          </a:xfrm>
        </p:grpSpPr>
        <p:sp>
          <p:nvSpPr>
            <p:cNvPr id="8" name="Rectangle 3"/>
            <p:cNvSpPr txBox="1">
              <a:spLocks noChangeArrowheads="1"/>
            </p:cNvSpPr>
            <p:nvPr/>
          </p:nvSpPr>
          <p:spPr bwMode="auto">
            <a:xfrm>
              <a:off x="832818" y="768075"/>
              <a:ext cx="8713670"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en-US" sz="2400" b="1" kern="0" dirty="0">
                  <a:solidFill>
                    <a:schemeClr val="accent1">
                      <a:lumMod val="50000"/>
                    </a:schemeClr>
                  </a:solidFill>
                  <a:latin typeface="微软雅黑" panose="020B0503020204020204" pitchFamily="34" charset="-122"/>
                  <a:ea typeface="微软雅黑" panose="020B0503020204020204" pitchFamily="34" charset="-122"/>
                </a:rPr>
                <a:t>玉米</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2" name="对象 6"/>
            <p:cNvGraphicFramePr>
              <a:graphicFrameLocks noChangeAspect="1"/>
            </p:cNvGraphicFramePr>
            <p:nvPr/>
          </p:nvGraphicFramePr>
          <p:xfrm>
            <a:off x="683568" y="786570"/>
            <a:ext cx="533400" cy="381000"/>
          </p:xfrm>
          <a:graphic>
            <a:graphicData uri="http://schemas.openxmlformats.org/presentationml/2006/ole">
              <mc:AlternateContent xmlns:mc="http://schemas.openxmlformats.org/markup-compatibility/2006">
                <mc:Choice xmlns:v="urn:schemas-microsoft-com:vml" Requires="v">
                  <p:oleObj spid="_x0000_s10553" name="Equation" r:id="rId5" imgW="533400" imgH="381000" progId="Equation.DSMT4">
                    <p:embed/>
                  </p:oleObj>
                </mc:Choice>
                <mc:Fallback>
                  <p:oleObj name="Equation" r:id="rId5" imgW="533400" imgH="381000" progId="Equation.DSMT4">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78657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 name="组合 12"/>
          <p:cNvGrpSpPr/>
          <p:nvPr/>
        </p:nvGrpSpPr>
        <p:grpSpPr bwMode="auto">
          <a:xfrm>
            <a:off x="1450975" y="3473450"/>
            <a:ext cx="8878888" cy="531813"/>
            <a:chOff x="658168" y="1753165"/>
            <a:chExt cx="8879122" cy="531341"/>
          </a:xfrm>
        </p:grpSpPr>
        <p:sp>
          <p:nvSpPr>
            <p:cNvPr id="10" name="Rectangle 3"/>
            <p:cNvSpPr txBox="1">
              <a:spLocks noChangeArrowheads="1"/>
            </p:cNvSpPr>
            <p:nvPr/>
          </p:nvSpPr>
          <p:spPr bwMode="auto">
            <a:xfrm>
              <a:off x="824860" y="1753165"/>
              <a:ext cx="8712430"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zh-CN" sz="2400" b="1" kern="100" dirty="0">
                  <a:solidFill>
                    <a:schemeClr val="accent1">
                      <a:lumMod val="50000"/>
                    </a:schemeClr>
                  </a:solidFill>
                  <a:latin typeface="Times New Roman" panose="02020603050405020304" pitchFamily="18" charset="0"/>
                  <a:ea typeface="微软雅黑" panose="020B0503020204020204" pitchFamily="34" charset="-122"/>
                </a:rPr>
                <a:t>苜蓿</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0" name="对象 10"/>
            <p:cNvGraphicFramePr>
              <a:graphicFrameLocks noChangeAspect="1"/>
            </p:cNvGraphicFramePr>
            <p:nvPr/>
          </p:nvGraphicFramePr>
          <p:xfrm>
            <a:off x="658168" y="1799002"/>
            <a:ext cx="558800" cy="381000"/>
          </p:xfrm>
          <a:graphic>
            <a:graphicData uri="http://schemas.openxmlformats.org/presentationml/2006/ole">
              <mc:AlternateContent xmlns:mc="http://schemas.openxmlformats.org/markup-compatibility/2006">
                <mc:Choice xmlns:v="urn:schemas-microsoft-com:vml" Requires="v">
                  <p:oleObj spid="_x0000_s10554" name="Equation" r:id="rId7" imgW="558800" imgH="381000" progId="Equation.DSMT4">
                    <p:embed/>
                  </p:oleObj>
                </mc:Choice>
                <mc:Fallback>
                  <p:oleObj name="Equation" r:id="rId7" imgW="558800" imgH="381000" progId="Equation.DSMT4">
                    <p:embed/>
                    <p:pic>
                      <p:nvPicPr>
                        <p:cNvPr id="0"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168" y="1799002"/>
                          <a:ext cx="558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 name="Rectangle 3"/>
          <p:cNvSpPr txBox="1">
            <a:spLocks noChangeArrowheads="1"/>
          </p:cNvSpPr>
          <p:nvPr/>
        </p:nvSpPr>
        <p:spPr bwMode="auto">
          <a:xfrm>
            <a:off x="106363" y="2366963"/>
            <a:ext cx="963612" cy="514350"/>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设：</a:t>
            </a:r>
            <a:endParaRPr lang="zh-CN" altLang="en-US" sz="2400" b="1" kern="0" dirty="0">
              <a:latin typeface="微软雅黑" panose="020B0503020204020204" pitchFamily="34" charset="-122"/>
            </a:endParaRPr>
          </a:p>
        </p:txBody>
      </p:sp>
      <p:grpSp>
        <p:nvGrpSpPr>
          <p:cNvPr id="22" name="组合 21"/>
          <p:cNvGrpSpPr/>
          <p:nvPr/>
        </p:nvGrpSpPr>
        <p:grpSpPr bwMode="auto">
          <a:xfrm>
            <a:off x="307975" y="3971925"/>
            <a:ext cx="8712200" cy="531813"/>
            <a:chOff x="833520" y="768075"/>
            <a:chExt cx="8712968" cy="531341"/>
          </a:xfrm>
        </p:grpSpPr>
        <p:sp>
          <p:nvSpPr>
            <p:cNvPr id="23" name="Rectangle 3"/>
            <p:cNvSpPr txBox="1">
              <a:spLocks noChangeArrowheads="1"/>
            </p:cNvSpPr>
            <p:nvPr/>
          </p:nvSpPr>
          <p:spPr bwMode="auto">
            <a:xfrm>
              <a:off x="833520" y="768075"/>
              <a:ext cx="8712968"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如果用   表示每公斤</a:t>
              </a:r>
              <a:r>
                <a:rPr lang="zh-CN" altLang="en-US" sz="2400" b="1" kern="0" dirty="0">
                  <a:solidFill>
                    <a:srgbClr val="0000FF"/>
                  </a:solidFill>
                  <a:latin typeface="微软雅黑" panose="020B0503020204020204" pitchFamily="34" charset="-122"/>
                  <a:ea typeface="微软雅黑" panose="020B0503020204020204" pitchFamily="34" charset="-122"/>
                </a:rPr>
                <a:t>混合饲料的总成本</a:t>
              </a:r>
              <a:r>
                <a:rPr lang="zh-CN" altLang="en-US" sz="2400" b="1" kern="0" dirty="0">
                  <a:latin typeface="微软雅黑" panose="020B0503020204020204" pitchFamily="34" charset="-122"/>
                  <a:ea typeface="微软雅黑" panose="020B0503020204020204" pitchFamily="34" charset="-122"/>
                </a:rPr>
                <a:t>，则其表达式为：</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88" name="对象 23"/>
            <p:cNvGraphicFramePr>
              <a:graphicFrameLocks noChangeAspect="1"/>
            </p:cNvGraphicFramePr>
            <p:nvPr/>
          </p:nvGraphicFramePr>
          <p:xfrm>
            <a:off x="2241649" y="938495"/>
            <a:ext cx="190500" cy="190500"/>
          </p:xfrm>
          <a:graphic>
            <a:graphicData uri="http://schemas.openxmlformats.org/presentationml/2006/ole">
              <mc:AlternateContent xmlns:mc="http://schemas.openxmlformats.org/markup-compatibility/2006">
                <mc:Choice xmlns:v="urn:schemas-microsoft-com:vml" Requires="v">
                  <p:oleObj spid="_x0000_s10555" name="Equation" r:id="rId9" imgW="190500" imgH="190500" progId="Equation.DSMT4">
                    <p:embed/>
                  </p:oleObj>
                </mc:Choice>
                <mc:Fallback>
                  <p:oleObj name="Equation" r:id="rId9" imgW="190500" imgH="190500" progId="Equation.DSMT4">
                    <p:embed/>
                    <p:pic>
                      <p:nvPicPr>
                        <p:cNvPr id="0" name="对象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1649" y="938495"/>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 name="对象 15"/>
          <p:cNvGraphicFramePr>
            <a:graphicFrameLocks noChangeAspect="1"/>
          </p:cNvGraphicFramePr>
          <p:nvPr/>
        </p:nvGraphicFramePr>
        <p:xfrm>
          <a:off x="3495675" y="4452938"/>
          <a:ext cx="2717800" cy="381000"/>
        </p:xfrm>
        <a:graphic>
          <a:graphicData uri="http://schemas.openxmlformats.org/presentationml/2006/ole">
            <mc:AlternateContent xmlns:mc="http://schemas.openxmlformats.org/markup-compatibility/2006">
              <mc:Choice xmlns:v="urn:schemas-microsoft-com:vml" Requires="v">
                <p:oleObj spid="_x0000_s10556" name="Equation" r:id="rId11" imgW="2717800" imgH="381000" progId="Equation.DSMT4">
                  <p:embed/>
                </p:oleObj>
              </mc:Choice>
              <mc:Fallback>
                <p:oleObj name="Equation" r:id="rId11" imgW="2717800" imgH="381000"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5675" y="4452938"/>
                        <a:ext cx="2717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3"/>
          <p:cNvSpPr txBox="1">
            <a:spLocks noChangeArrowheads="1"/>
          </p:cNvSpPr>
          <p:nvPr/>
        </p:nvSpPr>
        <p:spPr bwMode="auto">
          <a:xfrm>
            <a:off x="307975" y="4805363"/>
            <a:ext cx="8712200"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混合饲料中的</a:t>
            </a:r>
            <a:r>
              <a:rPr lang="zh-CN" altLang="en-US" sz="2400" b="1" kern="0" dirty="0">
                <a:solidFill>
                  <a:srgbClr val="0000FF"/>
                </a:solidFill>
                <a:latin typeface="微软雅黑" panose="020B0503020204020204" pitchFamily="34" charset="-122"/>
                <a:ea typeface="微软雅黑" panose="020B0503020204020204" pitchFamily="34" charset="-122"/>
              </a:rPr>
              <a:t>碳水化合物</a:t>
            </a:r>
            <a:r>
              <a:rPr lang="zh-CN" altLang="en-US" sz="2400" b="1" kern="0" dirty="0">
                <a:latin typeface="微软雅黑" panose="020B0503020204020204" pitchFamily="34" charset="-122"/>
                <a:ea typeface="微软雅黑" panose="020B0503020204020204" pitchFamily="34" charset="-122"/>
              </a:rPr>
              <a:t>总含量不低于</a:t>
            </a:r>
            <a:r>
              <a:rPr lang="en-US" altLang="zh-CN" sz="2400" b="1" kern="0" dirty="0">
                <a:solidFill>
                  <a:srgbClr val="0000FF"/>
                </a:solidFill>
                <a:latin typeface="微软雅黑" panose="020B0503020204020204" pitchFamily="34" charset="-122"/>
                <a:ea typeface="微软雅黑" panose="020B0503020204020204" pitchFamily="34" charset="-122"/>
              </a:rPr>
              <a:t>60</a:t>
            </a:r>
            <a:r>
              <a:rPr lang="zh-CN" altLang="en-US" sz="2400" b="1" kern="0" dirty="0">
                <a:latin typeface="微软雅黑" panose="020B0503020204020204" pitchFamily="34" charset="-122"/>
                <a:ea typeface="微软雅黑" panose="020B0503020204020204" pitchFamily="34" charset="-122"/>
              </a:rPr>
              <a:t>单位：</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1" name="对象 30"/>
          <p:cNvGraphicFramePr>
            <a:graphicFrameLocks noChangeAspect="1"/>
          </p:cNvGraphicFramePr>
          <p:nvPr/>
        </p:nvGraphicFramePr>
        <p:xfrm>
          <a:off x="3394075" y="5289550"/>
          <a:ext cx="2921000" cy="381000"/>
        </p:xfrm>
        <a:graphic>
          <a:graphicData uri="http://schemas.openxmlformats.org/presentationml/2006/ole">
            <mc:AlternateContent xmlns:mc="http://schemas.openxmlformats.org/markup-compatibility/2006">
              <mc:Choice xmlns:v="urn:schemas-microsoft-com:vml" Requires="v">
                <p:oleObj spid="_x0000_s10557" name="Equation" r:id="rId13" imgW="2921000" imgH="381000" progId="Equation.DSMT4">
                  <p:embed/>
                </p:oleObj>
              </mc:Choice>
              <mc:Fallback>
                <p:oleObj name="Equation" r:id="rId13" imgW="2921000" imgH="381000" progId="Equation.DSMT4">
                  <p:embed/>
                  <p:pic>
                    <p:nvPicPr>
                      <p:cNvPr id="0" name="对象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94075" y="5289550"/>
                        <a:ext cx="292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Rectangle 3"/>
          <p:cNvSpPr txBox="1">
            <a:spLocks noChangeArrowheads="1"/>
          </p:cNvSpPr>
          <p:nvPr/>
        </p:nvSpPr>
        <p:spPr bwMode="auto">
          <a:xfrm>
            <a:off x="307975" y="5716588"/>
            <a:ext cx="8712200"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混合饲料中的</a:t>
            </a:r>
            <a:r>
              <a:rPr lang="zh-CN" altLang="en-US" sz="2400" b="1" kern="0" dirty="0">
                <a:solidFill>
                  <a:srgbClr val="0000FF"/>
                </a:solidFill>
                <a:latin typeface="微软雅黑" panose="020B0503020204020204" pitchFamily="34" charset="-122"/>
                <a:ea typeface="微软雅黑" panose="020B0503020204020204" pitchFamily="34" charset="-122"/>
              </a:rPr>
              <a:t>蛋白质</a:t>
            </a:r>
            <a:r>
              <a:rPr lang="zh-CN" altLang="en-US" sz="2400" b="1" kern="0" dirty="0">
                <a:latin typeface="微软雅黑" panose="020B0503020204020204" pitchFamily="34" charset="-122"/>
                <a:ea typeface="微软雅黑" panose="020B0503020204020204" pitchFamily="34" charset="-122"/>
              </a:rPr>
              <a:t>总含量不低于</a:t>
            </a:r>
            <a:r>
              <a:rPr lang="en-US" altLang="zh-CN" sz="2400" b="1" kern="0" dirty="0">
                <a:solidFill>
                  <a:srgbClr val="0000FF"/>
                </a:solidFill>
                <a:latin typeface="微软雅黑" panose="020B0503020204020204" pitchFamily="34" charset="-122"/>
                <a:ea typeface="微软雅黑" panose="020B0503020204020204" pitchFamily="34" charset="-122"/>
              </a:rPr>
              <a:t>55</a:t>
            </a:r>
            <a:r>
              <a:rPr lang="zh-CN" altLang="en-US" sz="2400" b="1" kern="0" dirty="0">
                <a:latin typeface="微软雅黑" panose="020B0503020204020204" pitchFamily="34" charset="-122"/>
                <a:ea typeface="微软雅黑" panose="020B0503020204020204" pitchFamily="34" charset="-122"/>
              </a:rPr>
              <a:t>单位：</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9" name="对象 38"/>
          <p:cNvGraphicFramePr>
            <a:graphicFrameLocks noChangeAspect="1"/>
          </p:cNvGraphicFramePr>
          <p:nvPr/>
        </p:nvGraphicFramePr>
        <p:xfrm>
          <a:off x="3373438" y="6216650"/>
          <a:ext cx="2908300" cy="381000"/>
        </p:xfrm>
        <a:graphic>
          <a:graphicData uri="http://schemas.openxmlformats.org/presentationml/2006/ole">
            <mc:AlternateContent xmlns:mc="http://schemas.openxmlformats.org/markup-compatibility/2006">
              <mc:Choice xmlns:v="urn:schemas-microsoft-com:vml" Requires="v">
                <p:oleObj spid="_x0000_s10558" name="Equation" r:id="rId15" imgW="2908300" imgH="381000" progId="Equation.DSMT4">
                  <p:embed/>
                </p:oleObj>
              </mc:Choice>
              <mc:Fallback>
                <p:oleObj name="Equation" r:id="rId15" imgW="2908300" imgH="381000" progId="Equation.DSMT4">
                  <p:embed/>
                  <p:pic>
                    <p:nvPicPr>
                      <p:cNvPr id="0" name="对象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73438" y="6216650"/>
                        <a:ext cx="2908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表格 49"/>
          <p:cNvGraphicFramePr>
            <a:graphicFrameLocks noGrp="1"/>
          </p:cNvGraphicFramePr>
          <p:nvPr/>
        </p:nvGraphicFramePr>
        <p:xfrm>
          <a:off x="539750" y="68263"/>
          <a:ext cx="7661276" cy="2174875"/>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794">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inVertical)">
                                      <p:cBhvr>
                                        <p:cTn id="23" dur="500"/>
                                        <p:tgtEl>
                                          <p:spTgt spid="16"/>
                                        </p:tgtEl>
                                      </p:cBhvr>
                                    </p:animEffect>
                                  </p:childTnLst>
                                </p:cTn>
                              </p:par>
                              <p:par>
                                <p:cTn id="24" presetID="16" presetClass="entr" presetSubtype="21"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up)">
                                      <p:cBhvr>
                                        <p:cTn id="39" dur="500"/>
                                        <p:tgtEl>
                                          <p:spTgt spid="38"/>
                                        </p:tgtEl>
                                      </p:cBhvr>
                                    </p:animEffect>
                                  </p:childTnLst>
                                </p:cTn>
                              </p:par>
                              <p:par>
                                <p:cTn id="40" presetID="22" presetClass="entr" presetSubtype="1"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up)">
                                      <p:cBhvr>
                                        <p:cTn id="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P spid="3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4294967295"/>
          </p:nvPr>
        </p:nvSpPr>
        <p:spPr bwMode="auto">
          <a:xfrm>
            <a:off x="7239000" y="6391266"/>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7A589D7-569B-4389-995C-002FAE75291E}" type="slidenum">
              <a:rPr kumimoji="0" lang="en-US" altLang="zh-CN" sz="1000">
                <a:latin typeface="Arial" panose="020B0604020202020204" pitchFamily="34" charset="0"/>
                <a:ea typeface="微软雅黑" panose="020B0503020204020204" pitchFamily="34" charset="-122"/>
              </a:rPr>
              <a:t>35</a:t>
            </a:fld>
            <a:endParaRPr kumimoji="0" lang="en-US" altLang="zh-CN" sz="1000" dirty="0">
              <a:latin typeface="Arial" panose="020B0604020202020204" pitchFamily="34" charset="0"/>
              <a:ea typeface="微软雅黑" panose="020B0503020204020204" pitchFamily="34" charset="-122"/>
            </a:endParaRPr>
          </a:p>
        </p:txBody>
      </p:sp>
      <p:sp>
        <p:nvSpPr>
          <p:cNvPr id="12292" name="Rectangle 9"/>
          <p:cNvSpPr>
            <a:spLocks noChangeArrowheads="1"/>
          </p:cNvSpPr>
          <p:nvPr/>
        </p:nvSpPr>
        <p:spPr bwMode="auto">
          <a:xfrm>
            <a:off x="19050" y="3795713"/>
            <a:ext cx="4908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得到本问题的数学模型为：</a:t>
            </a:r>
          </a:p>
        </p:txBody>
      </p:sp>
      <p:graphicFrame>
        <p:nvGraphicFramePr>
          <p:cNvPr id="11268" name="对象 3"/>
          <p:cNvGraphicFramePr>
            <a:graphicFrameLocks noChangeAspect="1"/>
          </p:cNvGraphicFramePr>
          <p:nvPr/>
        </p:nvGraphicFramePr>
        <p:xfrm>
          <a:off x="7350125" y="4287838"/>
          <a:ext cx="914400" cy="198437"/>
        </p:xfrm>
        <a:graphic>
          <a:graphicData uri="http://schemas.openxmlformats.org/presentationml/2006/ole">
            <mc:AlternateContent xmlns:mc="http://schemas.openxmlformats.org/markup-compatibility/2006">
              <mc:Choice xmlns:v="urn:schemas-microsoft-com:vml" Requires="v">
                <p:oleObj spid="_x0000_s11752" name="Equation" r:id="rId3" imgW="434975" imgH="676910" progId="Equation.DSMT4">
                  <p:embed/>
                </p:oleObj>
              </mc:Choice>
              <mc:Fallback>
                <p:oleObj name="Equation" r:id="rId3" imgW="434975" imgH="67691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125" y="4287838"/>
                        <a:ext cx="9144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9" name="对象 4"/>
          <p:cNvGraphicFramePr>
            <a:graphicFrameLocks noChangeAspect="1"/>
          </p:cNvGraphicFramePr>
          <p:nvPr/>
        </p:nvGraphicFramePr>
        <p:xfrm>
          <a:off x="7350125" y="4287838"/>
          <a:ext cx="914400" cy="198437"/>
        </p:xfrm>
        <a:graphic>
          <a:graphicData uri="http://schemas.openxmlformats.org/presentationml/2006/ole">
            <mc:AlternateContent xmlns:mc="http://schemas.openxmlformats.org/markup-compatibility/2006">
              <mc:Choice xmlns:v="urn:schemas-microsoft-com:vml" Requires="v">
                <p:oleObj spid="_x0000_s11753" name="Equation" r:id="rId5" imgW="434975" imgH="676910" progId="Equation.DSMT4">
                  <p:embed/>
                </p:oleObj>
              </mc:Choice>
              <mc:Fallback>
                <p:oleObj name="Equation" r:id="rId5" imgW="434975" imgH="67691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125" y="4287838"/>
                        <a:ext cx="9144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p:cNvSpPr txBox="1">
            <a:spLocks noChangeArrowheads="1"/>
          </p:cNvSpPr>
          <p:nvPr/>
        </p:nvSpPr>
        <p:spPr bwMode="auto">
          <a:xfrm>
            <a:off x="228600" y="4857750"/>
            <a:ext cx="2052638"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solidFill>
                  <a:srgbClr val="006600"/>
                </a:solidFill>
                <a:latin typeface="微软雅黑" panose="020B0503020204020204" pitchFamily="34" charset="-122"/>
                <a:ea typeface="微软雅黑" panose="020B0503020204020204" pitchFamily="34" charset="-122"/>
              </a:rPr>
              <a:t>约束条件：</a:t>
            </a:r>
            <a:endParaRPr lang="zh-CN" altLang="en-US" sz="2400" b="1" kern="0" dirty="0">
              <a:solidFill>
                <a:srgbClr val="006600"/>
              </a:solidFill>
              <a:latin typeface="微软雅黑" panose="020B0503020204020204" pitchFamily="34" charset="-122"/>
            </a:endParaRPr>
          </a:p>
        </p:txBody>
      </p:sp>
      <p:sp>
        <p:nvSpPr>
          <p:cNvPr id="11" name="Rectangle 3"/>
          <p:cNvSpPr txBox="1">
            <a:spLocks noChangeArrowheads="1"/>
          </p:cNvSpPr>
          <p:nvPr/>
        </p:nvSpPr>
        <p:spPr bwMode="auto">
          <a:xfrm>
            <a:off x="1892300" y="4876800"/>
            <a:ext cx="2211388" cy="530225"/>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碳水化合物：</a:t>
            </a:r>
            <a:endParaRPr lang="zh-CN" altLang="en-US" sz="2400" b="1" kern="0" dirty="0">
              <a:latin typeface="微软雅黑" panose="020B0503020204020204" pitchFamily="34" charset="-122"/>
            </a:endParaRPr>
          </a:p>
        </p:txBody>
      </p:sp>
      <p:sp>
        <p:nvSpPr>
          <p:cNvPr id="12" name="Rectangle 3"/>
          <p:cNvSpPr txBox="1">
            <a:spLocks noChangeArrowheads="1"/>
          </p:cNvSpPr>
          <p:nvPr/>
        </p:nvSpPr>
        <p:spPr bwMode="auto">
          <a:xfrm>
            <a:off x="1897063" y="5343525"/>
            <a:ext cx="2211387"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蛋白质：</a:t>
            </a:r>
            <a:endParaRPr lang="zh-CN" altLang="en-US" sz="2400" b="1" kern="0" dirty="0">
              <a:latin typeface="微软雅黑" panose="020B0503020204020204" pitchFamily="34" charset="-122"/>
            </a:endParaRPr>
          </a:p>
        </p:txBody>
      </p:sp>
      <p:sp>
        <p:nvSpPr>
          <p:cNvPr id="13" name="Rectangle 3"/>
          <p:cNvSpPr txBox="1">
            <a:spLocks noChangeArrowheads="1"/>
          </p:cNvSpPr>
          <p:nvPr/>
        </p:nvSpPr>
        <p:spPr bwMode="auto">
          <a:xfrm>
            <a:off x="1892300" y="5875338"/>
            <a:ext cx="2211388"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百分比：</a:t>
            </a:r>
            <a:endParaRPr lang="zh-CN" altLang="en-US" sz="2400" b="1" kern="0" dirty="0">
              <a:latin typeface="微软雅黑" panose="020B0503020204020204" pitchFamily="34" charset="-122"/>
            </a:endParaRPr>
          </a:p>
        </p:txBody>
      </p:sp>
      <p:sp>
        <p:nvSpPr>
          <p:cNvPr id="14" name="Rectangle 3"/>
          <p:cNvSpPr txBox="1">
            <a:spLocks noChangeArrowheads="1"/>
          </p:cNvSpPr>
          <p:nvPr/>
        </p:nvSpPr>
        <p:spPr bwMode="auto">
          <a:xfrm>
            <a:off x="1900238" y="6332538"/>
            <a:ext cx="2211387"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非负性：</a:t>
            </a:r>
            <a:endParaRPr lang="zh-CN" altLang="en-US" sz="2400" b="1" kern="0" dirty="0">
              <a:latin typeface="微软雅黑" panose="020B0503020204020204" pitchFamily="34" charset="-122"/>
            </a:endParaRPr>
          </a:p>
        </p:txBody>
      </p:sp>
      <p:graphicFrame>
        <p:nvGraphicFramePr>
          <p:cNvPr id="5" name="对象 4"/>
          <p:cNvGraphicFramePr>
            <a:graphicFrameLocks noChangeAspect="1"/>
          </p:cNvGraphicFramePr>
          <p:nvPr/>
        </p:nvGraphicFramePr>
        <p:xfrm>
          <a:off x="2617788" y="4397375"/>
          <a:ext cx="3302000" cy="381000"/>
        </p:xfrm>
        <a:graphic>
          <a:graphicData uri="http://schemas.openxmlformats.org/presentationml/2006/ole">
            <mc:AlternateContent xmlns:mc="http://schemas.openxmlformats.org/markup-compatibility/2006">
              <mc:Choice xmlns:v="urn:schemas-microsoft-com:vml" Requires="v">
                <p:oleObj spid="_x0000_s11754" name="Equation" r:id="rId6" imgW="3302000" imgH="381000" progId="Equation.DSMT4">
                  <p:embed/>
                </p:oleObj>
              </mc:Choice>
              <mc:Fallback>
                <p:oleObj name="Equation" r:id="rId6" imgW="3302000" imgH="381000" progId="Equation.DSMT4">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7788" y="4397375"/>
                        <a:ext cx="330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4268788" y="4894263"/>
          <a:ext cx="2921000" cy="381000"/>
        </p:xfrm>
        <a:graphic>
          <a:graphicData uri="http://schemas.openxmlformats.org/presentationml/2006/ole">
            <mc:AlternateContent xmlns:mc="http://schemas.openxmlformats.org/markup-compatibility/2006">
              <mc:Choice xmlns:v="urn:schemas-microsoft-com:vml" Requires="v">
                <p:oleObj spid="_x0000_s11755" name="Equation" r:id="rId8" imgW="2921000" imgH="381000" progId="Equation.DSMT4">
                  <p:embed/>
                </p:oleObj>
              </mc:Choice>
              <mc:Fallback>
                <p:oleObj name="Equation" r:id="rId8" imgW="2921000" imgH="381000" progId="Equation.DSMT4">
                  <p:embed/>
                  <p:pic>
                    <p:nvPicPr>
                      <p:cNvPr id="0" name="对象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8788" y="4894263"/>
                        <a:ext cx="292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3556000" y="5405438"/>
          <a:ext cx="2908300" cy="381000"/>
        </p:xfrm>
        <a:graphic>
          <a:graphicData uri="http://schemas.openxmlformats.org/presentationml/2006/ole">
            <mc:AlternateContent xmlns:mc="http://schemas.openxmlformats.org/markup-compatibility/2006">
              <mc:Choice xmlns:v="urn:schemas-microsoft-com:vml" Requires="v">
                <p:oleObj spid="_x0000_s11756" name="Equation" r:id="rId10" imgW="2908300" imgH="381000" progId="Equation.DSMT4">
                  <p:embed/>
                </p:oleObj>
              </mc:Choice>
              <mc:Fallback>
                <p:oleObj name="Equation" r:id="rId10" imgW="2908300" imgH="381000" progId="Equation.DSMT4">
                  <p:embed/>
                  <p:pic>
                    <p:nvPicPr>
                      <p:cNvPr id="0" name="对象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56000" y="5405438"/>
                        <a:ext cx="2908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3559175" y="5897563"/>
          <a:ext cx="1803400" cy="381000"/>
        </p:xfrm>
        <a:graphic>
          <a:graphicData uri="http://schemas.openxmlformats.org/presentationml/2006/ole">
            <mc:AlternateContent xmlns:mc="http://schemas.openxmlformats.org/markup-compatibility/2006">
              <mc:Choice xmlns:v="urn:schemas-microsoft-com:vml" Requires="v">
                <p:oleObj spid="_x0000_s11757" name="Equation" r:id="rId12" imgW="1803400" imgH="381000" progId="Equation.DSMT4">
                  <p:embed/>
                </p:oleObj>
              </mc:Choice>
              <mc:Fallback>
                <p:oleObj name="Equation" r:id="rId12" imgW="1803400" imgH="381000" progId="Equation.DSMT4">
                  <p:embed/>
                  <p:pic>
                    <p:nvPicPr>
                      <p:cNvPr id="0" name="对象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9175" y="5897563"/>
                        <a:ext cx="180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p:cNvGraphicFramePr>
            <a:graphicFrameLocks noChangeAspect="1"/>
          </p:cNvGraphicFramePr>
          <p:nvPr/>
        </p:nvGraphicFramePr>
        <p:xfrm>
          <a:off x="3556000" y="6369050"/>
          <a:ext cx="1524000" cy="381000"/>
        </p:xfrm>
        <a:graphic>
          <a:graphicData uri="http://schemas.openxmlformats.org/presentationml/2006/ole">
            <mc:AlternateContent xmlns:mc="http://schemas.openxmlformats.org/markup-compatibility/2006">
              <mc:Choice xmlns:v="urn:schemas-microsoft-com:vml" Requires="v">
                <p:oleObj spid="_x0000_s11758" name="Equation" r:id="rId14" imgW="1524000" imgH="381000" progId="Equation.DSMT4">
                  <p:embed/>
                </p:oleObj>
              </mc:Choice>
              <mc:Fallback>
                <p:oleObj name="Equation" r:id="rId14" imgW="1524000" imgH="381000" progId="Equation.DSMT4">
                  <p:embed/>
                  <p:pic>
                    <p:nvPicPr>
                      <p:cNvPr id="0" name="对象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56000" y="6369050"/>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a:spLocks noChangeArrowheads="1"/>
          </p:cNvSpPr>
          <p:nvPr/>
        </p:nvSpPr>
        <p:spPr bwMode="auto">
          <a:xfrm>
            <a:off x="2401888" y="4518025"/>
            <a:ext cx="144462" cy="1524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4" name="Rectangle 3"/>
          <p:cNvSpPr txBox="1">
            <a:spLocks noChangeArrowheads="1"/>
          </p:cNvSpPr>
          <p:nvPr/>
        </p:nvSpPr>
        <p:spPr bwMode="auto">
          <a:xfrm>
            <a:off x="128588" y="2266950"/>
            <a:ext cx="871220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混合饲料中三种饲料的</a:t>
            </a:r>
            <a:r>
              <a:rPr lang="zh-CN" altLang="en-US" sz="2400" b="1" kern="0" dirty="0">
                <a:solidFill>
                  <a:srgbClr val="0000FF"/>
                </a:solidFill>
                <a:latin typeface="微软雅黑" panose="020B0503020204020204" pitchFamily="34" charset="-122"/>
                <a:ea typeface="微软雅黑" panose="020B0503020204020204" pitchFamily="34" charset="-122"/>
              </a:rPr>
              <a:t>总含量之合</a:t>
            </a:r>
            <a:r>
              <a:rPr lang="zh-CN" altLang="en-US" sz="2400" b="1" kern="0" dirty="0">
                <a:latin typeface="微软雅黑" panose="020B0503020204020204" pitchFamily="34" charset="-122"/>
                <a:ea typeface="微软雅黑" panose="020B0503020204020204" pitchFamily="34" charset="-122"/>
              </a:rPr>
              <a:t>应该刚好</a:t>
            </a:r>
            <a:r>
              <a:rPr lang="zh-CN" altLang="en-US" sz="2400" b="1" kern="0" dirty="0">
                <a:solidFill>
                  <a:srgbClr val="0000FF"/>
                </a:solidFill>
                <a:latin typeface="微软雅黑" panose="020B0503020204020204" pitchFamily="34" charset="-122"/>
                <a:ea typeface="微软雅黑" panose="020B0503020204020204" pitchFamily="34" charset="-122"/>
              </a:rPr>
              <a:t>等于</a:t>
            </a:r>
            <a:r>
              <a:rPr lang="en-US" altLang="zh-CN" sz="2400" b="1" kern="0" dirty="0">
                <a:solidFill>
                  <a:srgbClr val="0000FF"/>
                </a:solidFill>
                <a:latin typeface="微软雅黑" panose="020B0503020204020204" pitchFamily="34" charset="-122"/>
                <a:ea typeface="微软雅黑" panose="020B0503020204020204" pitchFamily="34" charset="-122"/>
              </a:rPr>
              <a:t>1</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5" name="对象 34"/>
          <p:cNvGraphicFramePr>
            <a:graphicFrameLocks noChangeAspect="1"/>
          </p:cNvGraphicFramePr>
          <p:nvPr/>
        </p:nvGraphicFramePr>
        <p:xfrm>
          <a:off x="3670300" y="2681288"/>
          <a:ext cx="1803400" cy="381000"/>
        </p:xfrm>
        <a:graphic>
          <a:graphicData uri="http://schemas.openxmlformats.org/presentationml/2006/ole">
            <mc:AlternateContent xmlns:mc="http://schemas.openxmlformats.org/markup-compatibility/2006">
              <mc:Choice xmlns:v="urn:schemas-microsoft-com:vml" Requires="v">
                <p:oleObj spid="_x0000_s11759" name="Equation" r:id="rId16" imgW="1803400" imgH="381000" progId="Equation.DSMT4">
                  <p:embed/>
                </p:oleObj>
              </mc:Choice>
              <mc:Fallback>
                <p:oleObj name="Equation" r:id="rId16" imgW="1803400" imgH="381000" progId="Equation.DSMT4">
                  <p:embed/>
                  <p:pic>
                    <p:nvPicPr>
                      <p:cNvPr id="0" name="对象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70300" y="2681288"/>
                        <a:ext cx="180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6" name="组合 35"/>
          <p:cNvGrpSpPr/>
          <p:nvPr/>
        </p:nvGrpSpPr>
        <p:grpSpPr bwMode="auto">
          <a:xfrm>
            <a:off x="128588" y="3117850"/>
            <a:ext cx="8712200" cy="530225"/>
            <a:chOff x="-279316" y="5888508"/>
            <a:chExt cx="8712968" cy="531341"/>
          </a:xfrm>
        </p:grpSpPr>
        <p:grpSp>
          <p:nvGrpSpPr>
            <p:cNvPr id="11317" name="组合 36"/>
            <p:cNvGrpSpPr/>
            <p:nvPr/>
          </p:nvGrpSpPr>
          <p:grpSpPr bwMode="auto">
            <a:xfrm>
              <a:off x="-279316" y="5888508"/>
              <a:ext cx="8712968" cy="531341"/>
              <a:chOff x="833520" y="768075"/>
              <a:chExt cx="8712968" cy="531341"/>
            </a:xfrm>
          </p:grpSpPr>
          <p:sp>
            <p:nvSpPr>
              <p:cNvPr id="40" name="Rectangle 3"/>
              <p:cNvSpPr txBox="1">
                <a:spLocks noChangeArrowheads="1"/>
              </p:cNvSpPr>
              <p:nvPr/>
            </p:nvSpPr>
            <p:spPr bwMode="auto">
              <a:xfrm>
                <a:off x="833520" y="768075"/>
                <a:ext cx="8712968"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各种饲料的含量必须为</a:t>
                </a:r>
                <a:r>
                  <a:rPr lang="zh-CN" altLang="en-US" sz="2400" b="1" kern="0" dirty="0">
                    <a:solidFill>
                      <a:srgbClr val="0000FF"/>
                    </a:solidFill>
                    <a:latin typeface="微软雅黑" panose="020B0503020204020204" pitchFamily="34" charset="-122"/>
                    <a:ea typeface="微软雅黑" panose="020B0503020204020204" pitchFamily="34" charset="-122"/>
                  </a:rPr>
                  <a:t>非负</a:t>
                </a:r>
                <a:r>
                  <a:rPr lang="zh-CN" altLang="en-US" sz="2400" b="1" kern="0" dirty="0">
                    <a:latin typeface="微软雅黑" panose="020B0503020204020204" pitchFamily="34" charset="-122"/>
                    <a:ea typeface="微软雅黑" panose="020B0503020204020204" pitchFamily="34" charset="-122"/>
                  </a:rPr>
                  <a:t>：  </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  </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 </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1321" name="对象 40"/>
              <p:cNvGraphicFramePr>
                <a:graphicFrameLocks noChangeAspect="1"/>
              </p:cNvGraphicFramePr>
              <p:nvPr/>
            </p:nvGraphicFramePr>
            <p:xfrm>
              <a:off x="6002956" y="807887"/>
              <a:ext cx="762000" cy="381000"/>
            </p:xfrm>
            <a:graphic>
              <a:graphicData uri="http://schemas.openxmlformats.org/presentationml/2006/ole">
                <mc:AlternateContent xmlns:mc="http://schemas.openxmlformats.org/markup-compatibility/2006">
                  <mc:Choice xmlns:v="urn:schemas-microsoft-com:vml" Requires="v">
                    <p:oleObj spid="_x0000_s11760" name="Equation" r:id="rId17" imgW="761365" imgH="381000" progId="Equation.DSMT4">
                      <p:embed/>
                    </p:oleObj>
                  </mc:Choice>
                  <mc:Fallback>
                    <p:oleObj name="Equation" r:id="rId17" imgW="761365" imgH="381000" progId="Equation.DSMT4">
                      <p:embed/>
                      <p:pic>
                        <p:nvPicPr>
                          <p:cNvPr id="0" name="对象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02956" y="807887"/>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1318" name="对象 37"/>
            <p:cNvGraphicFramePr>
              <a:graphicFrameLocks noChangeAspect="1"/>
            </p:cNvGraphicFramePr>
            <p:nvPr/>
          </p:nvGraphicFramePr>
          <p:xfrm>
            <a:off x="4034700" y="5914094"/>
            <a:ext cx="266700" cy="381000"/>
          </p:xfrm>
          <a:graphic>
            <a:graphicData uri="http://schemas.openxmlformats.org/presentationml/2006/ole">
              <mc:AlternateContent xmlns:mc="http://schemas.openxmlformats.org/markup-compatibility/2006">
                <mc:Choice xmlns:v="urn:schemas-microsoft-com:vml" Requires="v">
                  <p:oleObj spid="_x0000_s11761" name="Equation" r:id="rId19" imgW="266700" imgH="381000" progId="Equation.DSMT4">
                    <p:embed/>
                  </p:oleObj>
                </mc:Choice>
                <mc:Fallback>
                  <p:oleObj name="Equation" r:id="rId19" imgW="266700" imgH="381000" progId="Equation.DSMT4">
                    <p:embed/>
                    <p:pic>
                      <p:nvPicPr>
                        <p:cNvPr id="0" name="对象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34700" y="5914094"/>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19" name="对象 38"/>
            <p:cNvGraphicFramePr>
              <a:graphicFrameLocks noChangeAspect="1"/>
            </p:cNvGraphicFramePr>
            <p:nvPr/>
          </p:nvGraphicFramePr>
          <p:xfrm>
            <a:off x="4469171" y="5928320"/>
            <a:ext cx="292100" cy="381000"/>
          </p:xfrm>
          <a:graphic>
            <a:graphicData uri="http://schemas.openxmlformats.org/presentationml/2006/ole">
              <mc:AlternateContent xmlns:mc="http://schemas.openxmlformats.org/markup-compatibility/2006">
                <mc:Choice xmlns:v="urn:schemas-microsoft-com:vml" Requires="v">
                  <p:oleObj spid="_x0000_s11762" name="Equation" r:id="rId21" imgW="292100" imgH="381000" progId="Equation.DSMT4">
                    <p:embed/>
                  </p:oleObj>
                </mc:Choice>
                <mc:Fallback>
                  <p:oleObj name="Equation" r:id="rId21" imgW="292100" imgH="381000" progId="Equation.DSMT4">
                    <p:embed/>
                    <p:pic>
                      <p:nvPicPr>
                        <p:cNvPr id="0" name="对象 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69171" y="5928320"/>
                          <a:ext cx="292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2" name="表格 41"/>
          <p:cNvGraphicFramePr>
            <a:graphicFrameLocks noGrp="1"/>
          </p:cNvGraphicFramePr>
          <p:nvPr/>
        </p:nvGraphicFramePr>
        <p:xfrm>
          <a:off x="539750" y="68263"/>
          <a:ext cx="7661276" cy="2174875"/>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794">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par>
                                <p:cTn id="8" presetID="22" presetClass="entr" presetSubtype="1"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up)">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barn(inVertical)">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292"/>
                                        </p:tgtEl>
                                        <p:attrNameLst>
                                          <p:attrName>style.visibility</p:attrName>
                                        </p:attrNameLst>
                                      </p:cBhvr>
                                      <p:to>
                                        <p:strVal val="visible"/>
                                      </p:to>
                                    </p:set>
                                    <p:animEffect transition="in" filter="fade">
                                      <p:cBhvr>
                                        <p:cTn id="20" dur="500"/>
                                        <p:tgtEl>
                                          <p:spTgt spid="12292"/>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10" grpId="0"/>
      <p:bldP spid="11" grpId="0"/>
      <p:bldP spid="12" grpId="0"/>
      <p:bldP spid="13" grpId="0"/>
      <p:bldP spid="14" grpId="0"/>
      <p:bldP spid="16" grpId="0" animBg="1"/>
      <p:bldP spid="3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4294967295"/>
          </p:nvPr>
        </p:nvSpPr>
        <p:spPr bwMode="auto">
          <a:xfrm>
            <a:off x="7239000" y="6388881"/>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ED072BC4-DDCD-4048-804A-8BBD358CEF0E}" type="slidenum">
              <a:rPr kumimoji="0" lang="en-US" altLang="zh-CN" sz="1000">
                <a:latin typeface="Arial" panose="020B0604020202020204" pitchFamily="34" charset="0"/>
                <a:ea typeface="微软雅黑" panose="020B0503020204020204" pitchFamily="34" charset="-122"/>
              </a:rPr>
              <a:t>36</a:t>
            </a:fld>
            <a:endParaRPr kumimoji="0" lang="en-US" altLang="zh-CN" sz="1000" dirty="0">
              <a:latin typeface="Arial" panose="020B0604020202020204" pitchFamily="34" charset="0"/>
              <a:ea typeface="微软雅黑" panose="020B0503020204020204" pitchFamily="34" charset="-122"/>
            </a:endParaRPr>
          </a:p>
        </p:txBody>
      </p:sp>
      <p:sp>
        <p:nvSpPr>
          <p:cNvPr id="12291" name="文本框 5"/>
          <p:cNvSpPr txBox="1">
            <a:spLocks noChangeArrowheads="1"/>
          </p:cNvSpPr>
          <p:nvPr/>
        </p:nvSpPr>
        <p:spPr bwMode="auto">
          <a:xfrm>
            <a:off x="0" y="636588"/>
            <a:ext cx="8964613"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20000"/>
              </a:lnSpc>
            </a:pPr>
            <a:r>
              <a:rPr lang="zh-CN" altLang="en-US" b="1" dirty="0">
                <a:solidFill>
                  <a:srgbClr val="FF0000"/>
                </a:solidFill>
                <a:ea typeface="微软雅黑" panose="020B0503020204020204" pitchFamily="34" charset="-122"/>
              </a:rPr>
              <a:t>例</a:t>
            </a:r>
            <a:r>
              <a:rPr lang="en-US" altLang="zh-CN" b="1" dirty="0">
                <a:solidFill>
                  <a:srgbClr val="FF0000"/>
                </a:solidFill>
                <a:ea typeface="微软雅黑" panose="020B0503020204020204" pitchFamily="34" charset="-122"/>
              </a:rPr>
              <a:t>2-</a:t>
            </a:r>
            <a:r>
              <a:rPr lang="zh-CN" altLang="en-US" b="1" dirty="0">
                <a:solidFill>
                  <a:srgbClr val="FF0000"/>
                </a:solidFill>
                <a:ea typeface="微软雅黑" panose="020B0503020204020204" pitchFamily="34" charset="-122"/>
              </a:rPr>
              <a:t>2</a:t>
            </a:r>
            <a:r>
              <a:rPr lang="zh-CN" altLang="en-US" b="1" dirty="0">
                <a:ea typeface="微软雅黑" panose="020B0503020204020204" pitchFamily="34" charset="-122"/>
              </a:rPr>
              <a:t>优化的目标是混合饲料成本的最小化。但是优化模型需要在成本和效果 (元素含量) 之间进行平衡</a:t>
            </a:r>
            <a:endParaRPr lang="en-US" altLang="zh-CN" b="1" dirty="0">
              <a:ea typeface="微软雅黑" panose="020B0503020204020204" pitchFamily="34" charset="-122"/>
            </a:endParaRPr>
          </a:p>
          <a:p>
            <a:pPr algn="just">
              <a:lnSpc>
                <a:spcPct val="120000"/>
              </a:lnSpc>
            </a:pPr>
            <a:r>
              <a:rPr lang="zh-CN" altLang="en-US" b="1" dirty="0">
                <a:ea typeface="微软雅黑" panose="020B0503020204020204" pitchFamily="34" charset="-122"/>
              </a:rPr>
              <a:t>我们把该类线性规划问题称为</a:t>
            </a:r>
            <a:r>
              <a:rPr lang="zh-CN" altLang="en-US" b="1" dirty="0">
                <a:latin typeface="仿宋" panose="02010609060101010101" pitchFamily="49" charset="-122"/>
                <a:ea typeface="仿宋" panose="02010609060101010101" pitchFamily="49" charset="-122"/>
              </a:rPr>
              <a:t>“</a:t>
            </a:r>
            <a:r>
              <a:rPr lang="zh-CN" altLang="en-US" b="1" dirty="0">
                <a:solidFill>
                  <a:srgbClr val="0000FF"/>
                </a:solidFill>
                <a:ea typeface="微软雅黑" panose="020B0503020204020204" pitchFamily="34" charset="-122"/>
              </a:rPr>
              <a:t>成本一收益平衡问题</a:t>
            </a:r>
            <a:r>
              <a:rPr lang="zh-CN" altLang="en-US" b="1" dirty="0">
                <a:latin typeface="仿宋" panose="02010609060101010101" pitchFamily="49" charset="-122"/>
                <a:ea typeface="仿宋" panose="02010609060101010101" pitchFamily="49" charset="-122"/>
              </a:rPr>
              <a:t>”</a:t>
            </a:r>
          </a:p>
        </p:txBody>
      </p:sp>
      <p:graphicFrame>
        <p:nvGraphicFramePr>
          <p:cNvPr id="13318" name="对象 6"/>
          <p:cNvGraphicFramePr>
            <a:graphicFrameLocks noChangeAspect="1"/>
          </p:cNvGraphicFramePr>
          <p:nvPr/>
        </p:nvGraphicFramePr>
        <p:xfrm>
          <a:off x="2411413" y="2178050"/>
          <a:ext cx="4543425" cy="2847975"/>
        </p:xfrm>
        <a:graphic>
          <a:graphicData uri="http://schemas.openxmlformats.org/presentationml/2006/ole">
            <mc:AlternateContent xmlns:mc="http://schemas.openxmlformats.org/markup-compatibility/2006">
              <mc:Choice xmlns:v="urn:schemas-microsoft-com:vml" Requires="v">
                <p:oleObj spid="_x0000_s12732" name="Equation" r:id="rId3" imgW="2082800" imgH="1397000" progId="Equation.DSMT4">
                  <p:embed/>
                </p:oleObj>
              </mc:Choice>
              <mc:Fallback>
                <p:oleObj name="Equation" r:id="rId3" imgW="2082800" imgH="1397000" progId="Equation.DSMT4">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178050"/>
                        <a:ext cx="454342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3" name="Rectangle 9"/>
          <p:cNvSpPr>
            <a:spLocks noChangeArrowheads="1"/>
          </p:cNvSpPr>
          <p:nvPr/>
        </p:nvSpPr>
        <p:spPr bwMode="auto">
          <a:xfrm>
            <a:off x="-252413" y="114300"/>
            <a:ext cx="42370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成本</a:t>
            </a:r>
            <a:r>
              <a:rPr lang="en-US" altLang="zh-CN" sz="2800" b="1">
                <a:solidFill>
                  <a:srgbClr val="FF0000"/>
                </a:solidFill>
                <a:latin typeface="Arial" panose="020B0604020202020204" pitchFamily="34" charset="0"/>
                <a:ea typeface="微软雅黑" panose="020B0503020204020204" pitchFamily="34" charset="-122"/>
              </a:rPr>
              <a:t>——</a:t>
            </a:r>
            <a:r>
              <a:rPr lang="zh-CN" altLang="en-US" sz="2800" b="1">
                <a:solidFill>
                  <a:srgbClr val="FF0000"/>
                </a:solidFill>
                <a:latin typeface="Arial" panose="020B0604020202020204" pitchFamily="34" charset="0"/>
                <a:ea typeface="微软雅黑" panose="020B0503020204020204" pitchFamily="34" charset="-122"/>
              </a:rPr>
              <a:t>收益平衡问题</a:t>
            </a:r>
          </a:p>
        </p:txBody>
      </p:sp>
      <p:sp>
        <p:nvSpPr>
          <p:cNvPr id="4" name="矩形 3"/>
          <p:cNvSpPr>
            <a:spLocks noChangeArrowheads="1"/>
          </p:cNvSpPr>
          <p:nvPr/>
        </p:nvSpPr>
        <p:spPr bwMode="auto">
          <a:xfrm>
            <a:off x="141288" y="2144713"/>
            <a:ext cx="2143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其一般形式为:</a:t>
            </a:r>
            <a:endParaRPr lang="zh-CN" altLang="en-US"/>
          </a:p>
        </p:txBody>
      </p:sp>
      <p:grpSp>
        <p:nvGrpSpPr>
          <p:cNvPr id="21" name="组合 20"/>
          <p:cNvGrpSpPr/>
          <p:nvPr/>
        </p:nvGrpSpPr>
        <p:grpSpPr bwMode="auto">
          <a:xfrm>
            <a:off x="-36513" y="4941888"/>
            <a:ext cx="9109076" cy="1939925"/>
            <a:chOff x="141288" y="4832789"/>
            <a:chExt cx="9109075" cy="1940359"/>
          </a:xfrm>
        </p:grpSpPr>
        <p:sp>
          <p:nvSpPr>
            <p:cNvPr id="22" name="Rectangle 3"/>
            <p:cNvSpPr txBox="1">
              <a:spLocks noChangeArrowheads="1"/>
            </p:cNvSpPr>
            <p:nvPr/>
          </p:nvSpPr>
          <p:spPr bwMode="auto">
            <a:xfrm>
              <a:off x="141288" y="4835965"/>
              <a:ext cx="9109075" cy="193718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其中，决策变量    表示原料  的用量</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目标函数系数   表示原料  的单位成本</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约束条件右边项   表示效果指标   的最低要求</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系数    表示每单位原料   所贡献的指标   的数量</a:t>
              </a:r>
              <a:endParaRPr lang="zh-CN" altLang="en-US" sz="2400" kern="0" dirty="0">
                <a:latin typeface="微软雅黑" panose="020B0503020204020204" pitchFamily="34" charset="-122"/>
              </a:endParaRPr>
            </a:p>
          </p:txBody>
        </p:sp>
        <p:graphicFrame>
          <p:nvGraphicFramePr>
            <p:cNvPr id="12297" name="对象 1"/>
            <p:cNvGraphicFramePr>
              <a:graphicFrameLocks noChangeAspect="1"/>
            </p:cNvGraphicFramePr>
            <p:nvPr/>
          </p:nvGraphicFramePr>
          <p:xfrm>
            <a:off x="2345347" y="4832789"/>
            <a:ext cx="354445" cy="526412"/>
          </p:xfrm>
          <a:graphic>
            <a:graphicData uri="http://schemas.openxmlformats.org/presentationml/2006/ole">
              <mc:AlternateContent xmlns:mc="http://schemas.openxmlformats.org/markup-compatibility/2006">
                <mc:Choice xmlns:v="urn:schemas-microsoft-com:vml" Requires="v">
                  <p:oleObj spid="_x0000_s12733" name="Equation" r:id="rId5" imgW="165100" imgH="241300" progId="Equation.DSMT4">
                    <p:embed/>
                  </p:oleObj>
                </mc:Choice>
                <mc:Fallback>
                  <p:oleObj name="Equation" r:id="rId5" imgW="165100" imgH="2413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5347" y="4832789"/>
                          <a:ext cx="354445" cy="52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8" name="对象 2"/>
            <p:cNvGraphicFramePr>
              <a:graphicFrameLocks noChangeAspect="1"/>
            </p:cNvGraphicFramePr>
            <p:nvPr/>
          </p:nvGraphicFramePr>
          <p:xfrm>
            <a:off x="6377949" y="6237312"/>
            <a:ext cx="210275" cy="393046"/>
          </p:xfrm>
          <a:graphic>
            <a:graphicData uri="http://schemas.openxmlformats.org/presentationml/2006/ole">
              <mc:AlternateContent xmlns:mc="http://schemas.openxmlformats.org/markup-compatibility/2006">
                <mc:Choice xmlns:v="urn:schemas-microsoft-com:vml" Requires="v">
                  <p:oleObj spid="_x0000_s12734" name="Equation" r:id="rId7" imgW="88900" imgH="164465" progId="Equation.DSMT4">
                    <p:embed/>
                  </p:oleObj>
                </mc:Choice>
                <mc:Fallback>
                  <p:oleObj name="Equation" r:id="rId7" imgW="88900" imgH="164465"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7949" y="6237312"/>
                          <a:ext cx="210275" cy="39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9" name="对象 5"/>
            <p:cNvGraphicFramePr>
              <a:graphicFrameLocks noChangeAspect="1"/>
            </p:cNvGraphicFramePr>
            <p:nvPr/>
          </p:nvGraphicFramePr>
          <p:xfrm>
            <a:off x="5404555" y="5812428"/>
            <a:ext cx="210275" cy="392618"/>
          </p:xfrm>
          <a:graphic>
            <a:graphicData uri="http://schemas.openxmlformats.org/presentationml/2006/ole">
              <mc:AlternateContent xmlns:mc="http://schemas.openxmlformats.org/markup-compatibility/2006">
                <mc:Choice xmlns:v="urn:schemas-microsoft-com:vml" Requires="v">
                  <p:oleObj spid="_x0000_s12735" name="Equation" r:id="rId9" imgW="88900" imgH="164465" progId="Equation.DSMT4">
                    <p:embed/>
                  </p:oleObj>
                </mc:Choice>
                <mc:Fallback>
                  <p:oleObj name="Equation" r:id="rId9" imgW="88900" imgH="164465" progId="Equation.DSMT4">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04555" y="5812428"/>
                          <a:ext cx="210275" cy="39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0" name="对象 6"/>
            <p:cNvGraphicFramePr>
              <a:graphicFrameLocks noChangeAspect="1"/>
            </p:cNvGraphicFramePr>
            <p:nvPr/>
          </p:nvGraphicFramePr>
          <p:xfrm>
            <a:off x="2915816" y="5280976"/>
            <a:ext cx="372286" cy="552908"/>
          </p:xfrm>
          <a:graphic>
            <a:graphicData uri="http://schemas.openxmlformats.org/presentationml/2006/ole">
              <mc:AlternateContent xmlns:mc="http://schemas.openxmlformats.org/markup-compatibility/2006">
                <mc:Choice xmlns:v="urn:schemas-microsoft-com:vml" Requires="v">
                  <p:oleObj spid="_x0000_s12736" name="Equation" r:id="rId11" imgW="165100" imgH="241300" progId="Equation.DSMT4">
                    <p:embed/>
                  </p:oleObj>
                </mc:Choice>
                <mc:Fallback>
                  <p:oleObj name="Equation" r:id="rId11" imgW="165100" imgH="241300" progId="Equation.DSMT4">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5816" y="5280976"/>
                          <a:ext cx="372286" cy="55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1" name="对象 7"/>
            <p:cNvGraphicFramePr>
              <a:graphicFrameLocks noChangeAspect="1"/>
            </p:cNvGraphicFramePr>
            <p:nvPr/>
          </p:nvGraphicFramePr>
          <p:xfrm>
            <a:off x="3276280" y="5805264"/>
            <a:ext cx="284462" cy="474842"/>
          </p:xfrm>
          <a:graphic>
            <a:graphicData uri="http://schemas.openxmlformats.org/presentationml/2006/ole">
              <mc:AlternateContent xmlns:mc="http://schemas.openxmlformats.org/markup-compatibility/2006">
                <mc:Choice xmlns:v="urn:schemas-microsoft-com:vml" Requires="v">
                  <p:oleObj spid="_x0000_s12737" name="Equation" r:id="rId13" imgW="139700" imgH="228600" progId="Equation.DSMT4">
                    <p:embed/>
                  </p:oleObj>
                </mc:Choice>
                <mc:Fallback>
                  <p:oleObj name="Equation" r:id="rId13" imgW="139700" imgH="228600" progId="Equation.DSMT4">
                    <p:embed/>
                    <p:pic>
                      <p:nvPicPr>
                        <p:cNvPr id="0"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280" y="5805264"/>
                          <a:ext cx="284462" cy="474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2" name="对象 10"/>
            <p:cNvGraphicFramePr>
              <a:graphicFrameLocks noChangeAspect="1"/>
            </p:cNvGraphicFramePr>
            <p:nvPr/>
          </p:nvGraphicFramePr>
          <p:xfrm>
            <a:off x="1722805" y="6165304"/>
            <a:ext cx="400923" cy="552908"/>
          </p:xfrm>
          <a:graphic>
            <a:graphicData uri="http://schemas.openxmlformats.org/presentationml/2006/ole">
              <mc:AlternateContent xmlns:mc="http://schemas.openxmlformats.org/markup-compatibility/2006">
                <mc:Choice xmlns:v="urn:schemas-microsoft-com:vml" Requires="v">
                  <p:oleObj spid="_x0000_s12738" name="Equation" r:id="rId15" imgW="177800" imgH="241300" progId="Equation.DSMT4">
                    <p:embed/>
                  </p:oleObj>
                </mc:Choice>
                <mc:Fallback>
                  <p:oleObj name="Equation" r:id="rId15" imgW="177800" imgH="241300" progId="Equation.DSMT4">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22805" y="6165304"/>
                          <a:ext cx="400923" cy="55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3" name="对象 11"/>
            <p:cNvGraphicFramePr>
              <a:graphicFrameLocks noChangeAspect="1"/>
            </p:cNvGraphicFramePr>
            <p:nvPr/>
          </p:nvGraphicFramePr>
          <p:xfrm>
            <a:off x="3925209" y="4949242"/>
            <a:ext cx="286751" cy="372704"/>
          </p:xfrm>
          <a:graphic>
            <a:graphicData uri="http://schemas.openxmlformats.org/presentationml/2006/ole">
              <mc:AlternateContent xmlns:mc="http://schemas.openxmlformats.org/markup-compatibility/2006">
                <mc:Choice xmlns:v="urn:schemas-microsoft-com:vml" Requires="v">
                  <p:oleObj spid="_x0000_s12739" name="Equation" r:id="rId17" imgW="127000" imgH="190500" progId="Equation.DSMT4">
                    <p:embed/>
                  </p:oleObj>
                </mc:Choice>
                <mc:Fallback>
                  <p:oleObj name="Equation" r:id="rId17" imgW="127000" imgH="190500" progId="Equation.DSMT4">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25209" y="4949242"/>
                          <a:ext cx="286751" cy="37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4" name="对象 12"/>
            <p:cNvGraphicFramePr>
              <a:graphicFrameLocks noChangeAspect="1"/>
            </p:cNvGraphicFramePr>
            <p:nvPr/>
          </p:nvGraphicFramePr>
          <p:xfrm>
            <a:off x="4423884" y="5373216"/>
            <a:ext cx="292132" cy="446258"/>
          </p:xfrm>
          <a:graphic>
            <a:graphicData uri="http://schemas.openxmlformats.org/presentationml/2006/ole">
              <mc:AlternateContent xmlns:mc="http://schemas.openxmlformats.org/markup-compatibility/2006">
                <mc:Choice xmlns:v="urn:schemas-microsoft-com:vml" Requires="v">
                  <p:oleObj spid="_x0000_s12740" name="Equation" r:id="rId19" imgW="127000" imgH="190500" progId="Equation.DSMT4">
                    <p:embed/>
                  </p:oleObj>
                </mc:Choice>
                <mc:Fallback>
                  <p:oleObj name="Equation" r:id="rId19" imgW="127000" imgH="190500" progId="Equation.DSMT4">
                    <p:embed/>
                    <p:pic>
                      <p:nvPicPr>
                        <p:cNvPr id="0" name="对象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23884" y="5373216"/>
                          <a:ext cx="292132" cy="44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5" name="对象 13"/>
            <p:cNvGraphicFramePr>
              <a:graphicFrameLocks noChangeAspect="1"/>
            </p:cNvGraphicFramePr>
            <p:nvPr/>
          </p:nvGraphicFramePr>
          <p:xfrm>
            <a:off x="4254483" y="6228952"/>
            <a:ext cx="281019" cy="425612"/>
          </p:xfrm>
          <a:graphic>
            <a:graphicData uri="http://schemas.openxmlformats.org/presentationml/2006/ole">
              <mc:AlternateContent xmlns:mc="http://schemas.openxmlformats.org/markup-compatibility/2006">
                <mc:Choice xmlns:v="urn:schemas-microsoft-com:vml" Requires="v">
                  <p:oleObj spid="_x0000_s12741" name="Equation" r:id="rId21" imgW="127000" imgH="190500" progId="Equation.DSMT4">
                    <p:embed/>
                  </p:oleObj>
                </mc:Choice>
                <mc:Fallback>
                  <p:oleObj name="Equation" r:id="rId21" imgW="127000" imgH="190500" progId="Equation.DSMT4">
                    <p:embed/>
                    <p:pic>
                      <p:nvPicPr>
                        <p:cNvPr id="0" name="对象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54483" y="6228952"/>
                          <a:ext cx="281019" cy="42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3318"/>
                                        </p:tgtEl>
                                        <p:attrNameLst>
                                          <p:attrName>style.visibility</p:attrName>
                                        </p:attrNameLst>
                                      </p:cBhvr>
                                      <p:to>
                                        <p:strVal val="visible"/>
                                      </p:to>
                                    </p:set>
                                    <p:animEffect transition="in" filter="wipe(up)">
                                      <p:cBhvr>
                                        <p:cTn id="11" dur="500"/>
                                        <p:tgtEl>
                                          <p:spTgt spid="1331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4294967295"/>
          </p:nvPr>
        </p:nvSpPr>
        <p:spPr bwMode="auto">
          <a:xfrm>
            <a:off x="7239000" y="6428184"/>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D5AB06E6-4ED5-4A45-89B2-CA7A736F5D6E}" type="slidenum">
              <a:rPr kumimoji="0" lang="en-US" altLang="zh-CN" sz="1000">
                <a:latin typeface="Arial" panose="020B0604020202020204" pitchFamily="34" charset="0"/>
                <a:ea typeface="微软雅黑" panose="020B0503020204020204" pitchFamily="34" charset="-122"/>
              </a:rPr>
              <a:t>37</a:t>
            </a:fld>
            <a:endParaRPr kumimoji="0" lang="en-US" altLang="zh-CN" sz="1000" dirty="0">
              <a:latin typeface="Arial" panose="020B0604020202020204" pitchFamily="34" charset="0"/>
              <a:ea typeface="微软雅黑" panose="020B0503020204020204" pitchFamily="34" charset="-122"/>
            </a:endParaRPr>
          </a:p>
        </p:txBody>
      </p:sp>
      <p:sp>
        <p:nvSpPr>
          <p:cNvPr id="195589" name="Rectangle 5"/>
          <p:cNvSpPr>
            <a:spLocks noChangeArrowheads="1"/>
          </p:cNvSpPr>
          <p:nvPr/>
        </p:nvSpPr>
        <p:spPr bwMode="auto">
          <a:xfrm>
            <a:off x="287338" y="712788"/>
            <a:ext cx="8497887" cy="3744912"/>
          </a:xfrm>
          <a:prstGeom prst="rect">
            <a:avLst/>
          </a:prstGeom>
          <a:noFill/>
          <a:ln>
            <a:noFill/>
          </a:ln>
          <a:effectLst/>
        </p:spPr>
        <p:txBody>
          <a:bodyPr/>
          <a:lstStyle>
            <a:lvl1pPr marL="609600" indent="-609600">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990600" indent="-533400">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371600" indent="-457200">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752600" indent="-381000">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209800" indent="-38100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决策变量</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Decision Variable</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即规划问题中需要确定的能用数量表示的量</a:t>
            </a:r>
          </a:p>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目标函数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Objective Function</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它是关于决策变量的函数</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也是决策者优化的目标</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一般追求最大（用</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表示）或者最小（用</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表示）</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约束条件</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Constraint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即决策变量需要满足的限制条件（如可用资源的限制</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需要满足的服务率的要求等）</a:t>
            </a:r>
            <a:r>
              <a:rPr lang="zh-CN" altLang="zh-CN" sz="24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通常表达为关于决策变量的等式或者不等式</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16" name="Rectangle 8"/>
          <p:cNvSpPr>
            <a:spLocks noChangeArrowheads="1"/>
          </p:cNvSpPr>
          <p:nvPr/>
        </p:nvSpPr>
        <p:spPr bwMode="auto">
          <a:xfrm>
            <a:off x="3175" y="188913"/>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latin typeface="Arial" panose="020B0604020202020204" pitchFamily="34" charset="0"/>
                <a:ea typeface="微软雅黑" panose="020B0503020204020204" pitchFamily="34" charset="-122"/>
              </a:rPr>
              <a:t>上述两个问题具有</a:t>
            </a:r>
            <a:r>
              <a:rPr lang="zh-CN" altLang="en-US" sz="2800" b="1">
                <a:solidFill>
                  <a:srgbClr val="FF0000"/>
                </a:solidFill>
                <a:latin typeface="Arial" panose="020B0604020202020204" pitchFamily="34" charset="0"/>
                <a:ea typeface="微软雅黑" panose="020B0503020204020204" pitchFamily="34" charset="-122"/>
              </a:rPr>
              <a:t>三个共同要素：</a:t>
            </a:r>
          </a:p>
        </p:txBody>
      </p:sp>
      <p:sp>
        <p:nvSpPr>
          <p:cNvPr id="13317" name="文本框 10"/>
          <p:cNvSpPr txBox="1">
            <a:spLocks noChangeArrowheads="1"/>
          </p:cNvSpPr>
          <p:nvPr/>
        </p:nvSpPr>
        <p:spPr bwMode="auto">
          <a:xfrm>
            <a:off x="19050" y="6021388"/>
            <a:ext cx="9251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buClr>
                <a:schemeClr val="bg1"/>
              </a:buClr>
              <a:buSzPct val="100000"/>
              <a:buFont typeface="Wingdings" panose="05000000000000000000" pitchFamily="2" charset="2"/>
              <a:buNone/>
            </a:pPr>
            <a:r>
              <a:rPr lang="zh-CN" altLang="en-US" b="1" dirty="0">
                <a:solidFill>
                  <a:srgbClr val="008000"/>
                </a:solidFill>
                <a:latin typeface="微软雅黑" panose="020B0503020204020204" pitchFamily="34" charset="-122"/>
                <a:ea typeface="微软雅黑" panose="020B0503020204020204" pitchFamily="34" charset="-122"/>
              </a:rPr>
              <a:t>我们称这类规划模型称为</a:t>
            </a:r>
            <a:r>
              <a:rPr lang="zh-CN" altLang="en-US" b="1" dirty="0">
                <a:solidFill>
                  <a:srgbClr val="008000"/>
                </a:solidFill>
                <a:latin typeface="宋体" panose="02010600030101010101" pitchFamily="2" charset="-122"/>
              </a:rPr>
              <a:t>“</a:t>
            </a:r>
            <a:r>
              <a:rPr lang="zh-CN" altLang="en-US" b="1" dirty="0">
                <a:solidFill>
                  <a:srgbClr val="0000FF"/>
                </a:solidFill>
                <a:latin typeface="微软雅黑" panose="020B0503020204020204" pitchFamily="34" charset="-122"/>
                <a:ea typeface="微软雅黑" panose="020B0503020204020204" pitchFamily="34" charset="-122"/>
              </a:rPr>
              <a:t>线性规划</a:t>
            </a:r>
            <a:r>
              <a:rPr lang="zh-CN" altLang="en-US" b="1" dirty="0">
                <a:solidFill>
                  <a:srgbClr val="008000"/>
                </a:solidFill>
                <a:latin typeface="宋体" panose="02010600030101010101" pitchFamily="2" charset="-122"/>
              </a:rPr>
              <a:t>”</a:t>
            </a:r>
            <a:r>
              <a:rPr lang="zh-CN" altLang="en-US" b="1" dirty="0">
                <a:solidFill>
                  <a:srgbClr val="008000"/>
                </a:solidFill>
                <a:latin typeface="微软雅黑" panose="020B0503020204020204" pitchFamily="34" charset="-122"/>
                <a:ea typeface="微软雅黑" panose="020B0503020204020204" pitchFamily="34" charset="-122"/>
              </a:rPr>
              <a:t>（</a:t>
            </a:r>
            <a:r>
              <a:rPr lang="en-US" altLang="zh-CN" b="1" dirty="0">
                <a:solidFill>
                  <a:srgbClr val="008000"/>
                </a:solidFill>
                <a:latin typeface="微软雅黑" panose="020B0503020204020204" pitchFamily="34" charset="-122"/>
                <a:ea typeface="微软雅黑" panose="020B0503020204020204" pitchFamily="34" charset="-122"/>
              </a:rPr>
              <a:t>Linear Programming</a:t>
            </a:r>
            <a:r>
              <a:rPr lang="zh-CN" altLang="en-US" b="1" dirty="0">
                <a:solidFill>
                  <a:srgbClr val="008000"/>
                </a:solidFill>
                <a:latin typeface="微软雅黑" panose="020B0503020204020204" pitchFamily="34" charset="-122"/>
                <a:ea typeface="微软雅黑" panose="020B0503020204020204" pitchFamily="34" charset="-122"/>
              </a:rPr>
              <a:t>）</a:t>
            </a:r>
          </a:p>
        </p:txBody>
      </p:sp>
      <p:sp>
        <p:nvSpPr>
          <p:cNvPr id="13318" name="文本框 10"/>
          <p:cNvSpPr txBox="1">
            <a:spLocks noChangeArrowheads="1"/>
          </p:cNvSpPr>
          <p:nvPr/>
        </p:nvSpPr>
        <p:spPr bwMode="auto">
          <a:xfrm>
            <a:off x="0" y="4824413"/>
            <a:ext cx="89455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buClr>
                <a:schemeClr val="bg1"/>
              </a:buClr>
              <a:buSzPct val="100000"/>
              <a:buFont typeface="Wingdings" panose="05000000000000000000" pitchFamily="2" charset="2"/>
              <a:buNone/>
            </a:pPr>
            <a:r>
              <a:rPr lang="zh-CN" altLang="en-US" b="1" dirty="0">
                <a:solidFill>
                  <a:srgbClr val="FF0000"/>
                </a:solidFill>
                <a:latin typeface="微软雅黑" panose="020B0503020204020204" pitchFamily="34" charset="-122"/>
                <a:ea typeface="微软雅黑" panose="020B0503020204020204" pitchFamily="34" charset="-122"/>
              </a:rPr>
              <a:t>例</a:t>
            </a:r>
            <a:r>
              <a:rPr lang="en-US" altLang="zh-CN" b="1" dirty="0">
                <a:solidFill>
                  <a:srgbClr val="FF0000"/>
                </a:solidFill>
                <a:latin typeface="微软雅黑" panose="020B0503020204020204" pitchFamily="34" charset="-122"/>
                <a:ea typeface="微软雅黑" panose="020B0503020204020204" pitchFamily="34" charset="-122"/>
              </a:rPr>
              <a:t>2-1</a:t>
            </a:r>
            <a:r>
              <a:rPr lang="zh-CN" altLang="en-US" b="1" dirty="0">
                <a:solidFill>
                  <a:srgbClr val="008000"/>
                </a:solidFill>
                <a:latin typeface="微软雅黑" panose="020B0503020204020204" pitchFamily="34" charset="-122"/>
                <a:ea typeface="微软雅黑" panose="020B0503020204020204" pitchFamily="34" charset="-122"/>
              </a:rPr>
              <a:t>和</a:t>
            </a:r>
            <a:r>
              <a:rPr lang="zh-CN" altLang="en-US" b="1" dirty="0">
                <a:solidFill>
                  <a:srgbClr val="FF0000"/>
                </a:solidFill>
                <a:latin typeface="微软雅黑" panose="020B0503020204020204" pitchFamily="34" charset="-122"/>
                <a:ea typeface="微软雅黑" panose="020B0503020204020204" pitchFamily="34" charset="-122"/>
              </a:rPr>
              <a:t>例</a:t>
            </a:r>
            <a:r>
              <a:rPr lang="en-US" altLang="zh-CN" b="1" dirty="0">
                <a:solidFill>
                  <a:srgbClr val="FF0000"/>
                </a:solidFill>
                <a:latin typeface="微软雅黑" panose="020B0503020204020204" pitchFamily="34" charset="-122"/>
                <a:ea typeface="微软雅黑" panose="020B0503020204020204" pitchFamily="34" charset="-122"/>
              </a:rPr>
              <a:t>2-2</a:t>
            </a:r>
            <a:r>
              <a:rPr lang="zh-CN" altLang="en-US" b="1" dirty="0">
                <a:solidFill>
                  <a:srgbClr val="008000"/>
                </a:solidFill>
                <a:latin typeface="微软雅黑" panose="020B0503020204020204" pitchFamily="34" charset="-122"/>
                <a:ea typeface="微软雅黑" panose="020B0503020204020204" pitchFamily="34" charset="-122"/>
              </a:rPr>
              <a:t>中决策变量的取值都是</a:t>
            </a:r>
            <a:r>
              <a:rPr lang="zh-CN" altLang="en-US" b="1" dirty="0">
                <a:solidFill>
                  <a:srgbClr val="0000FF"/>
                </a:solidFill>
                <a:latin typeface="微软雅黑" panose="020B0503020204020204" pitchFamily="34" charset="-122"/>
                <a:ea typeface="微软雅黑" panose="020B0503020204020204" pitchFamily="34" charset="-122"/>
              </a:rPr>
              <a:t>连续</a:t>
            </a:r>
            <a:r>
              <a:rPr lang="zh-CN" altLang="en-US" b="1" dirty="0">
                <a:solidFill>
                  <a:srgbClr val="008000"/>
                </a:solidFill>
                <a:latin typeface="微软雅黑" panose="020B0503020204020204" pitchFamily="34" charset="-122"/>
                <a:ea typeface="微软雅黑" panose="020B0503020204020204" pitchFamily="34" charset="-122"/>
              </a:rPr>
              <a:t>的（而不是离散点）、目标函数和约束条件都是关于决策变量的</a:t>
            </a:r>
            <a:r>
              <a:rPr lang="zh-CN" altLang="en-US" b="1" dirty="0">
                <a:solidFill>
                  <a:srgbClr val="0000FF"/>
                </a:solidFill>
                <a:latin typeface="微软雅黑" panose="020B0503020204020204" pitchFamily="34" charset="-122"/>
                <a:ea typeface="微软雅黑" panose="020B0503020204020204" pitchFamily="34" charset="-122"/>
              </a:rPr>
              <a:t>线性表达式</a:t>
            </a:r>
            <a:endParaRPr lang="en-US" altLang="zh-CN" b="1" dirty="0">
              <a:solidFill>
                <a:srgbClr val="008000"/>
              </a:solidFill>
              <a:latin typeface="微软雅黑" panose="020B0503020204020204" pitchFamily="34" charset="-122"/>
              <a:ea typeface="微软雅黑" panose="020B0503020204020204" pitchFamily="34" charset="-122"/>
            </a:endParaRPr>
          </a:p>
        </p:txBody>
      </p:sp>
    </p:spTree>
  </p:cSld>
  <p:clrMapOvr>
    <a:masterClrMapping/>
  </p:clrMapOvr>
  <p:transition spd="slow">
    <p:comb/>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4294967295"/>
          </p:nvPr>
        </p:nvSpPr>
        <p:spPr bwMode="auto">
          <a:xfrm>
            <a:off x="7239000" y="6403388"/>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9BF19796-607F-48DB-BDD1-32D2DE22A9EA}" type="slidenum">
              <a:rPr kumimoji="0" lang="en-US" altLang="zh-CN" sz="1000">
                <a:latin typeface="Arial" panose="020B0604020202020204" pitchFamily="34" charset="0"/>
                <a:ea typeface="微软雅黑" panose="020B0503020204020204" pitchFamily="34" charset="-122"/>
              </a:rPr>
              <a:t>38</a:t>
            </a:fld>
            <a:endParaRPr kumimoji="0" lang="en-US" altLang="zh-CN" sz="1000" dirty="0">
              <a:latin typeface="Arial" panose="020B0604020202020204" pitchFamily="34" charset="0"/>
              <a:ea typeface="微软雅黑" panose="020B0503020204020204" pitchFamily="34" charset="-122"/>
            </a:endParaRPr>
          </a:p>
        </p:txBody>
      </p:sp>
      <p:sp>
        <p:nvSpPr>
          <p:cNvPr id="14339" name="Rectangle 8"/>
          <p:cNvSpPr>
            <a:spLocks noChangeArrowheads="1"/>
          </p:cNvSpPr>
          <p:nvPr/>
        </p:nvSpPr>
        <p:spPr bwMode="auto">
          <a:xfrm>
            <a:off x="395288" y="476250"/>
            <a:ext cx="451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线性规划模型的隐含假设：</a:t>
            </a:r>
          </a:p>
        </p:txBody>
      </p:sp>
      <p:sp>
        <p:nvSpPr>
          <p:cNvPr id="5" name="Rectangle 5"/>
          <p:cNvSpPr>
            <a:spLocks noChangeArrowheads="1"/>
          </p:cNvSpPr>
          <p:nvPr/>
        </p:nvSpPr>
        <p:spPr bwMode="auto">
          <a:xfrm>
            <a:off x="0" y="1174750"/>
            <a:ext cx="9144000" cy="4508500"/>
          </a:xfrm>
          <a:prstGeom prst="rect">
            <a:avLst/>
          </a:prstGeom>
          <a:noFill/>
          <a:ln>
            <a:noFill/>
          </a:ln>
          <a:effectLst/>
        </p:spPr>
        <p:txBody>
          <a:bodyPr/>
          <a:lstStyle>
            <a:lvl1pPr marL="609600" indent="-609600">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990600" indent="-533400">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371600" indent="-457200">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752600" indent="-381000">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209800" indent="-38100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274320" indent="-274320" algn="just" eaLnBrk="1" hangingPunct="1">
              <a:lnSpc>
                <a:spcPct val="150000"/>
              </a:lnSpc>
              <a:spcBef>
                <a:spcPts val="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比例性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决策变量对目标函数或者约束条件的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影响是成比例关系</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的，如价格每增加</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单位，会导致需求的减少量是一个常数</a:t>
            </a:r>
            <a:r>
              <a:rPr lang="en-US" altLang="zh-CN" sz="2400" b="1" i="1" kern="1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。用经济学的术语来讲，就是决策变量所对应的边际影响（收益、成本等）是一个常数。</a:t>
            </a:r>
            <a:endPar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50000"/>
              </a:lnSpc>
              <a:spcBef>
                <a:spcPts val="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可加性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如生产多种产品时</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总利润是各种产品</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利润之和</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，总成本也是各种资源的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成本之和</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50000"/>
              </a:lnSpc>
              <a:spcBef>
                <a:spcPts val="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连续性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zh-CN"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决策变量</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可以取某区间的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连续值</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，其取值可以为小数、分数或者实数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50000"/>
              </a:lnSpc>
              <a:spcBef>
                <a:spcPts val="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确定性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线性函数中的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参数都是确定</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的常数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4294967295"/>
          </p:nvPr>
        </p:nvSpPr>
        <p:spPr bwMode="auto">
          <a:xfrm>
            <a:off x="7236296" y="6428184"/>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1D0D5D2D-1CF3-4D87-8C0B-44F5F647889D}" type="slidenum">
              <a:rPr kumimoji="0" lang="en-US" altLang="zh-CN" sz="1000">
                <a:latin typeface="Arial" panose="020B0604020202020204" pitchFamily="34" charset="0"/>
                <a:ea typeface="微软雅黑" panose="020B0503020204020204" pitchFamily="34" charset="-122"/>
              </a:rPr>
              <a:t>39</a:t>
            </a:fld>
            <a:endParaRPr kumimoji="0" lang="en-US" altLang="zh-CN" sz="1000" dirty="0">
              <a:latin typeface="Arial" panose="020B0604020202020204" pitchFamily="34" charset="0"/>
              <a:ea typeface="微软雅黑" panose="020B0503020204020204" pitchFamily="34" charset="-122"/>
            </a:endParaRPr>
          </a:p>
        </p:txBody>
      </p:sp>
      <p:sp>
        <p:nvSpPr>
          <p:cNvPr id="15363" name="Rectangle 6"/>
          <p:cNvSpPr>
            <a:spLocks noChangeArrowheads="1"/>
          </p:cNvSpPr>
          <p:nvPr/>
        </p:nvSpPr>
        <p:spPr bwMode="auto">
          <a:xfrm>
            <a:off x="2235200" y="65088"/>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solidFill>
                  <a:srgbClr val="0000FF"/>
                </a:solidFill>
                <a:latin typeface="Arial" panose="020B0604020202020204" pitchFamily="34" charset="0"/>
                <a:ea typeface="微软雅黑" panose="020B0503020204020204" pitchFamily="34" charset="-122"/>
              </a:rPr>
              <a:t>线性规划模型的一般形式</a:t>
            </a:r>
          </a:p>
        </p:txBody>
      </p:sp>
      <p:graphicFrame>
        <p:nvGraphicFramePr>
          <p:cNvPr id="15364" name="对象 3"/>
          <p:cNvGraphicFramePr>
            <a:graphicFrameLocks noChangeAspect="1"/>
          </p:cNvGraphicFramePr>
          <p:nvPr/>
        </p:nvGraphicFramePr>
        <p:xfrm>
          <a:off x="2235200" y="533400"/>
          <a:ext cx="4673600" cy="2425700"/>
        </p:xfrm>
        <a:graphic>
          <a:graphicData uri="http://schemas.openxmlformats.org/presentationml/2006/ole">
            <mc:AlternateContent xmlns:mc="http://schemas.openxmlformats.org/markup-compatibility/2006">
              <mc:Choice xmlns:v="urn:schemas-microsoft-com:vml" Requires="v">
                <p:oleObj spid="_x0000_s13448" name="Equation" r:id="rId3" imgW="2692400" imgH="1397000" progId="Equation.DSMT4">
                  <p:embed/>
                </p:oleObj>
              </mc:Choice>
              <mc:Fallback>
                <p:oleObj name="Equation" r:id="rId3" imgW="2692400" imgH="13970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200" y="533400"/>
                        <a:ext cx="46736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7"/>
          <p:cNvSpPr>
            <a:spLocks noChangeArrowheads="1"/>
          </p:cNvSpPr>
          <p:nvPr/>
        </p:nvSpPr>
        <p:spPr bwMode="auto">
          <a:xfrm>
            <a:off x="177800" y="33338"/>
            <a:ext cx="901700" cy="523875"/>
          </a:xfrm>
          <a:prstGeom prst="rect">
            <a:avLst/>
          </a:prstGeom>
          <a:noFill/>
          <a:ln>
            <a:noFill/>
          </a:ln>
          <a:effectLst/>
        </p:spPr>
        <p:txBody>
          <a:bodyPr wrap="none">
            <a:spAutoFit/>
          </a:bodyPr>
          <a:lstStyle/>
          <a:p>
            <a:pPr eaLnBrk="1" hangingPunct="1">
              <a:spcBef>
                <a:spcPct val="20000"/>
              </a:spcBef>
              <a:buClr>
                <a:schemeClr val="bg1"/>
              </a:buClr>
              <a:buSzPct val="100000"/>
              <a:buFont typeface="Wingdings" panose="05000000000000000000" pitchFamily="2" charset="2"/>
              <a:buNone/>
              <a:defRPr/>
            </a:pPr>
            <a:r>
              <a:rPr lang="zh-CN" altLang="en-US" sz="28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总结</a:t>
            </a:r>
            <a:endParaRPr lang="en-US" altLang="zh-CN" sz="2800" b="1" dirty="0">
              <a:solidFill>
                <a:srgbClr val="FF0000"/>
              </a:solidFill>
              <a:ea typeface="微软雅黑" panose="020B0503020204020204" pitchFamily="34" charset="-122"/>
              <a:cs typeface="Times New Roman" panose="02020603050405020304" pitchFamily="18" charset="0"/>
            </a:endParaRPr>
          </a:p>
        </p:txBody>
      </p:sp>
      <p:graphicFrame>
        <p:nvGraphicFramePr>
          <p:cNvPr id="2" name="对象 1"/>
          <p:cNvGraphicFramePr>
            <a:graphicFrameLocks noChangeAspect="1"/>
          </p:cNvGraphicFramePr>
          <p:nvPr/>
        </p:nvGraphicFramePr>
        <p:xfrm>
          <a:off x="3336925" y="3427413"/>
          <a:ext cx="2470150" cy="2079625"/>
        </p:xfrm>
        <a:graphic>
          <a:graphicData uri="http://schemas.openxmlformats.org/presentationml/2006/ole">
            <mc:AlternateContent xmlns:mc="http://schemas.openxmlformats.org/markup-compatibility/2006">
              <mc:Choice xmlns:v="urn:schemas-microsoft-com:vml" Requires="v">
                <p:oleObj spid="_x0000_s13449" name="Equation" r:id="rId5" imgW="1358900" imgH="1143000" progId="Equation.DSMT4">
                  <p:embed/>
                </p:oleObj>
              </mc:Choice>
              <mc:Fallback>
                <p:oleObj name="Equation" r:id="rId5" imgW="1358900" imgH="11430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6925" y="3427413"/>
                        <a:ext cx="2470150" cy="2079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1501775" y="5865813"/>
          <a:ext cx="6299200" cy="969962"/>
        </p:xfrm>
        <a:graphic>
          <a:graphicData uri="http://schemas.openxmlformats.org/presentationml/2006/ole">
            <mc:AlternateContent xmlns:mc="http://schemas.openxmlformats.org/markup-compatibility/2006">
              <mc:Choice xmlns:v="urn:schemas-microsoft-com:vml" Requires="v">
                <p:oleObj spid="_x0000_s13450" name="Equation" r:id="rId7" imgW="2794000" imgH="482600" progId="Equation.DSMT4">
                  <p:embed/>
                </p:oleObj>
              </mc:Choice>
              <mc:Fallback>
                <p:oleObj name="Equation" r:id="rId7" imgW="2794000" imgH="482600" progId="Equation.DSMT4">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1775" y="5865813"/>
                        <a:ext cx="6299200" cy="969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p:cNvSpPr txBox="1">
            <a:spLocks noChangeArrowheads="1"/>
          </p:cNvSpPr>
          <p:nvPr/>
        </p:nvSpPr>
        <p:spPr bwMode="auto">
          <a:xfrm>
            <a:off x="179388" y="5334000"/>
            <a:ext cx="2270125"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solidFill>
                  <a:srgbClr val="FF0000"/>
                </a:solidFill>
                <a:latin typeface="微软雅黑" panose="020B0503020204020204" pitchFamily="34" charset="-122"/>
                <a:ea typeface="微软雅黑" panose="020B0503020204020204" pitchFamily="34" charset="-122"/>
              </a:rPr>
              <a:t>或者矩阵形式</a:t>
            </a:r>
          </a:p>
        </p:txBody>
      </p:sp>
      <p:sp>
        <p:nvSpPr>
          <p:cNvPr id="10" name="Rectangle 3"/>
          <p:cNvSpPr txBox="1">
            <a:spLocks noChangeArrowheads="1"/>
          </p:cNvSpPr>
          <p:nvPr/>
        </p:nvSpPr>
        <p:spPr bwMode="auto">
          <a:xfrm>
            <a:off x="-180975" y="2959100"/>
            <a:ext cx="295275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solidFill>
                  <a:srgbClr val="0000FF"/>
                </a:solidFill>
                <a:latin typeface="微软雅黑" panose="020B0503020204020204" pitchFamily="34" charset="-122"/>
                <a:ea typeface="微软雅黑" panose="020B0503020204020204" pitchFamily="34" charset="-122"/>
              </a:rPr>
              <a:t>求和形式</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4294967295"/>
          </p:nvPr>
        </p:nvSpPr>
        <p:spPr bwMode="auto">
          <a:xfrm>
            <a:off x="7252739" y="6405039"/>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32F38233-8DF9-4382-8DB6-3D4FE4C6ACDE}" type="slidenum">
              <a:rPr kumimoji="0" lang="en-US" altLang="zh-CN" sz="1000">
                <a:latin typeface="Arial" panose="020B0604020202020204" pitchFamily="34" charset="0"/>
                <a:ea typeface="微软雅黑" panose="020B0503020204020204" pitchFamily="34" charset="-122"/>
              </a:rPr>
              <a:t>40</a:t>
            </a:fld>
            <a:endParaRPr kumimoji="0" lang="en-US" altLang="zh-CN" sz="1000" dirty="0">
              <a:latin typeface="Arial" panose="020B0604020202020204" pitchFamily="34" charset="0"/>
              <a:ea typeface="微软雅黑" panose="020B0503020204020204" pitchFamily="34" charset="-122"/>
            </a:endParaRPr>
          </a:p>
        </p:txBody>
      </p:sp>
      <p:sp>
        <p:nvSpPr>
          <p:cNvPr id="16387" name="文本框 1"/>
          <p:cNvSpPr txBox="1">
            <a:spLocks noChangeArrowheads="1"/>
          </p:cNvSpPr>
          <p:nvPr/>
        </p:nvSpPr>
        <p:spPr bwMode="auto">
          <a:xfrm>
            <a:off x="171450" y="3038475"/>
            <a:ext cx="936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其中</a:t>
            </a:r>
          </a:p>
        </p:txBody>
      </p:sp>
      <p:graphicFrame>
        <p:nvGraphicFramePr>
          <p:cNvPr id="16388" name="对象 3"/>
          <p:cNvGraphicFramePr>
            <a:graphicFrameLocks noChangeAspect="1"/>
          </p:cNvGraphicFramePr>
          <p:nvPr/>
        </p:nvGraphicFramePr>
        <p:xfrm>
          <a:off x="1101725" y="2897188"/>
          <a:ext cx="2876550" cy="1971675"/>
        </p:xfrm>
        <a:graphic>
          <a:graphicData uri="http://schemas.openxmlformats.org/presentationml/2006/ole">
            <mc:AlternateContent xmlns:mc="http://schemas.openxmlformats.org/markup-compatibility/2006">
              <mc:Choice xmlns:v="urn:schemas-microsoft-com:vml" Requires="v">
                <p:oleObj spid="_x0000_s14648" name="Equation" r:id="rId3" imgW="1346200" imgH="1079500" progId="Equation.DSMT4">
                  <p:embed/>
                </p:oleObj>
              </mc:Choice>
              <mc:Fallback>
                <p:oleObj name="Equation" r:id="rId3" imgW="1346200" imgH="10795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1725" y="2897188"/>
                        <a:ext cx="287655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9" name="对象 4"/>
          <p:cNvGraphicFramePr>
            <a:graphicFrameLocks noChangeAspect="1"/>
          </p:cNvGraphicFramePr>
          <p:nvPr/>
        </p:nvGraphicFramePr>
        <p:xfrm>
          <a:off x="4176713" y="3038475"/>
          <a:ext cx="4854575" cy="1778000"/>
        </p:xfrm>
        <a:graphic>
          <a:graphicData uri="http://schemas.openxmlformats.org/presentationml/2006/ole">
            <mc:AlternateContent xmlns:mc="http://schemas.openxmlformats.org/markup-compatibility/2006">
              <mc:Choice xmlns:v="urn:schemas-microsoft-com:vml" Requires="v">
                <p:oleObj spid="_x0000_s14649" name="Equation" r:id="rId5" imgW="2565400" imgH="939800" progId="Equation.DSMT4">
                  <p:embed/>
                </p:oleObj>
              </mc:Choice>
              <mc:Fallback>
                <p:oleObj name="Equation" r:id="rId5" imgW="2565400" imgH="939800"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6713" y="3038475"/>
                        <a:ext cx="485457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对象 14"/>
          <p:cNvGraphicFramePr>
            <a:graphicFrameLocks noChangeAspect="1"/>
          </p:cNvGraphicFramePr>
          <p:nvPr/>
        </p:nvGraphicFramePr>
        <p:xfrm>
          <a:off x="3132138" y="131763"/>
          <a:ext cx="2390775" cy="1828800"/>
        </p:xfrm>
        <a:graphic>
          <a:graphicData uri="http://schemas.openxmlformats.org/presentationml/2006/ole">
            <mc:AlternateContent xmlns:mc="http://schemas.openxmlformats.org/markup-compatibility/2006">
              <mc:Choice xmlns:v="urn:schemas-microsoft-com:vml" Requires="v">
                <p:oleObj spid="_x0000_s14650" name="Equation" r:id="rId7" imgW="2477770" imgH="1897380" progId="Equation.DSMT4">
                  <p:embed/>
                </p:oleObj>
              </mc:Choice>
              <mc:Fallback>
                <p:oleObj name="Equation" r:id="rId7" imgW="2477770" imgH="1897380" progId="Equation.DSMT4">
                  <p:embed/>
                  <p:pic>
                    <p:nvPicPr>
                      <p:cNvPr id="0" name="对象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131763"/>
                        <a:ext cx="2390775" cy="1828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对象 15"/>
          <p:cNvGraphicFramePr>
            <a:graphicFrameLocks noChangeAspect="1"/>
          </p:cNvGraphicFramePr>
          <p:nvPr/>
        </p:nvGraphicFramePr>
        <p:xfrm>
          <a:off x="1619250" y="1927225"/>
          <a:ext cx="6299200" cy="969963"/>
        </p:xfrm>
        <a:graphic>
          <a:graphicData uri="http://schemas.openxmlformats.org/presentationml/2006/ole">
            <mc:AlternateContent xmlns:mc="http://schemas.openxmlformats.org/markup-compatibility/2006">
              <mc:Choice xmlns:v="urn:schemas-microsoft-com:vml" Requires="v">
                <p:oleObj spid="_x0000_s14651" name="Equation" r:id="rId9" imgW="2794000" imgH="482600" progId="Equation.DSMT4">
                  <p:embed/>
                </p:oleObj>
              </mc:Choice>
              <mc:Fallback>
                <p:oleObj name="Equation" r:id="rId9" imgW="2794000" imgH="482600" progId="Equation.DSMT4">
                  <p:embed/>
                  <p:pic>
                    <p:nvPicPr>
                      <p:cNvPr id="0"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250" y="1927225"/>
                        <a:ext cx="6299200" cy="969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3"/>
          <p:cNvSpPr txBox="1">
            <a:spLocks noChangeArrowheads="1"/>
          </p:cNvSpPr>
          <p:nvPr/>
        </p:nvSpPr>
        <p:spPr bwMode="auto">
          <a:xfrm>
            <a:off x="188913" y="1647825"/>
            <a:ext cx="901700" cy="52546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solidFill>
                  <a:srgbClr val="FF0000"/>
                </a:solidFill>
                <a:latin typeface="微软雅黑" panose="020B0503020204020204" pitchFamily="34" charset="-122"/>
                <a:ea typeface="微软雅黑" panose="020B0503020204020204" pitchFamily="34" charset="-122"/>
              </a:rPr>
              <a:t>或者</a:t>
            </a:r>
          </a:p>
        </p:txBody>
      </p:sp>
      <p:sp>
        <p:nvSpPr>
          <p:cNvPr id="18" name="Rectangle 3"/>
          <p:cNvSpPr txBox="1">
            <a:spLocks noChangeArrowheads="1"/>
          </p:cNvSpPr>
          <p:nvPr/>
        </p:nvSpPr>
        <p:spPr bwMode="auto">
          <a:xfrm>
            <a:off x="-180975" y="34925"/>
            <a:ext cx="295275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800" b="1" kern="0" dirty="0">
                <a:solidFill>
                  <a:srgbClr val="0000FF"/>
                </a:solidFill>
                <a:latin typeface="微软雅黑" panose="020B0503020204020204" pitchFamily="34" charset="-122"/>
                <a:ea typeface="微软雅黑" panose="020B0503020204020204" pitchFamily="34" charset="-122"/>
              </a:rPr>
              <a:t>矩阵形式</a:t>
            </a:r>
          </a:p>
        </p:txBody>
      </p:sp>
      <p:grpSp>
        <p:nvGrpSpPr>
          <p:cNvPr id="19" name="组合 18"/>
          <p:cNvGrpSpPr/>
          <p:nvPr/>
        </p:nvGrpSpPr>
        <p:grpSpPr bwMode="auto">
          <a:xfrm>
            <a:off x="0" y="4876800"/>
            <a:ext cx="9144000" cy="1936750"/>
            <a:chOff x="1" y="2460625"/>
            <a:chExt cx="9144000" cy="1936750"/>
          </a:xfrm>
        </p:grpSpPr>
        <p:sp>
          <p:nvSpPr>
            <p:cNvPr id="20" name="Rectangle 3"/>
            <p:cNvSpPr txBox="1">
              <a:spLocks noChangeArrowheads="1"/>
            </p:cNvSpPr>
            <p:nvPr/>
          </p:nvSpPr>
          <p:spPr bwMode="auto">
            <a:xfrm>
              <a:off x="1" y="2460625"/>
              <a:ext cx="9144000" cy="1936750"/>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称向量</a:t>
              </a:r>
              <a:r>
                <a:rPr lang="en-US" altLang="zh-CN" sz="2400" b="1" i="1" kern="0" dirty="0">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2400" b="1" kern="0" dirty="0">
                  <a:latin typeface="微软雅黑" panose="020B0503020204020204" pitchFamily="34" charset="-122"/>
                  <a:ea typeface="微软雅黑" panose="020B0503020204020204" pitchFamily="34" charset="-122"/>
                </a:rPr>
                <a:t>为</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目标函数</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系数</a:t>
              </a:r>
              <a:endParaRPr lang="en-US" altLang="zh-CN" sz="2400" b="1" kern="0" dirty="0">
                <a:latin typeface="微软雅黑" panose="020B0503020204020204" pitchFamily="34" charset="-122"/>
                <a:ea typeface="微软雅黑" panose="020B0503020204020204" pitchFamily="34" charset="-122"/>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向量   为</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约束条件右边项</a:t>
              </a:r>
              <a:r>
                <a:rPr lang="zh-CN" altLang="en-US" sz="2400" b="1" kern="0" dirty="0">
                  <a:latin typeface="+mn-ea"/>
                </a:rPr>
                <a:t>”</a:t>
              </a:r>
              <a:endParaRPr lang="en-US" altLang="zh-CN" sz="2400" b="1" kern="0" dirty="0">
                <a:latin typeface="微软雅黑" panose="020B0503020204020204" pitchFamily="34" charset="-122"/>
                <a:ea typeface="微软雅黑" panose="020B0503020204020204" pitchFamily="34" charset="-122"/>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矩阵</a:t>
              </a:r>
              <a:r>
                <a:rPr lang="en-US" altLang="zh-CN" sz="2400" b="1" i="1" kern="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1" kern="0" dirty="0">
                  <a:latin typeface="微软雅黑" panose="020B0503020204020204" pitchFamily="34" charset="-122"/>
                  <a:ea typeface="微软雅黑" panose="020B0503020204020204" pitchFamily="34" charset="-122"/>
                </a:rPr>
                <a:t>为约束条件的</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系数矩阵</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或</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技术系数矩阵</a:t>
              </a:r>
              <a:r>
                <a:rPr lang="zh-CN" altLang="en-US" sz="2400" b="1" kern="0" dirty="0">
                  <a:latin typeface="+mn-ea"/>
                </a:rPr>
                <a:t>”</a:t>
              </a:r>
              <a:endParaRPr lang="en-US" altLang="zh-CN" sz="2400" b="1" kern="0" dirty="0">
                <a:latin typeface="+mn-ea"/>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向量    则对应于系数矩阵中决策变量    的</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列向量</a:t>
              </a:r>
              <a:r>
                <a:rPr lang="zh-CN" altLang="en-US" sz="2400" b="1" kern="0" dirty="0">
                  <a:latin typeface="+mn-ea"/>
                </a:rPr>
                <a:t>”</a:t>
              </a:r>
              <a:endParaRPr lang="en-US" altLang="zh-CN" sz="2400" b="1" kern="0" dirty="0">
                <a:latin typeface="微软雅黑" panose="020B0503020204020204" pitchFamily="34" charset="-122"/>
                <a:ea typeface="微软雅黑" panose="020B0503020204020204" pitchFamily="34" charset="-122"/>
              </a:endParaRPr>
            </a:p>
          </p:txBody>
        </p:sp>
        <p:graphicFrame>
          <p:nvGraphicFramePr>
            <p:cNvPr id="16396" name="对象 10"/>
            <p:cNvGraphicFramePr>
              <a:graphicFrameLocks noChangeAspect="1"/>
            </p:cNvGraphicFramePr>
            <p:nvPr/>
          </p:nvGraphicFramePr>
          <p:xfrm>
            <a:off x="1403648" y="3828868"/>
            <a:ext cx="324496" cy="480541"/>
          </p:xfrm>
          <a:graphic>
            <a:graphicData uri="http://schemas.openxmlformats.org/presentationml/2006/ole">
              <mc:AlternateContent xmlns:mc="http://schemas.openxmlformats.org/markup-compatibility/2006">
                <mc:Choice xmlns:v="urn:schemas-microsoft-com:vml" Requires="v">
                  <p:oleObj spid="_x0000_s14652" name="Equation" r:id="rId11" imgW="165100" imgH="241300" progId="Equation.DSMT4">
                    <p:embed/>
                  </p:oleObj>
                </mc:Choice>
                <mc:Fallback>
                  <p:oleObj name="Equation" r:id="rId11" imgW="165100" imgH="241300" progId="Equation.DSMT4">
                    <p:embed/>
                    <p:pic>
                      <p:nvPicPr>
                        <p:cNvPr id="0"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648" y="3828868"/>
                          <a:ext cx="324496" cy="480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7" name="对象 11"/>
            <p:cNvGraphicFramePr>
              <a:graphicFrameLocks noChangeAspect="1"/>
            </p:cNvGraphicFramePr>
            <p:nvPr/>
          </p:nvGraphicFramePr>
          <p:xfrm>
            <a:off x="1403648" y="2996952"/>
            <a:ext cx="287331" cy="347663"/>
          </p:xfrm>
          <a:graphic>
            <a:graphicData uri="http://schemas.openxmlformats.org/presentationml/2006/ole">
              <mc:AlternateContent xmlns:mc="http://schemas.openxmlformats.org/markup-compatibility/2006">
                <mc:Choice xmlns:v="urn:schemas-microsoft-com:vml" Requires="v">
                  <p:oleObj spid="_x0000_s14653" name="Equation" r:id="rId13" imgW="127000" imgH="177165" progId="Equation.DSMT4">
                    <p:embed/>
                  </p:oleObj>
                </mc:Choice>
                <mc:Fallback>
                  <p:oleObj name="Equation" r:id="rId13" imgW="127000" imgH="177165" progId="Equation.DSMT4">
                    <p:embed/>
                    <p:pic>
                      <p:nvPicPr>
                        <p:cNvPr id="0"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3648" y="2996952"/>
                          <a:ext cx="287331"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8" name="对象 13"/>
            <p:cNvGraphicFramePr>
              <a:graphicFrameLocks noChangeAspect="1"/>
            </p:cNvGraphicFramePr>
            <p:nvPr/>
          </p:nvGraphicFramePr>
          <p:xfrm>
            <a:off x="5724128" y="3753346"/>
            <a:ext cx="365116" cy="539750"/>
          </p:xfrm>
          <a:graphic>
            <a:graphicData uri="http://schemas.openxmlformats.org/presentationml/2006/ole">
              <mc:AlternateContent xmlns:mc="http://schemas.openxmlformats.org/markup-compatibility/2006">
                <mc:Choice xmlns:v="urn:schemas-microsoft-com:vml" Requires="v">
                  <p:oleObj spid="_x0000_s14654" name="Equation" r:id="rId15" imgW="165100" imgH="241300" progId="Equation.DSMT4">
                    <p:embed/>
                  </p:oleObj>
                </mc:Choice>
                <mc:Fallback>
                  <p:oleObj name="Equation" r:id="rId15" imgW="165100" imgH="241300" progId="Equation.DSMT4">
                    <p:embed/>
                    <p:pic>
                      <p:nvPicPr>
                        <p:cNvPr id="0" name="对象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24128" y="3753346"/>
                          <a:ext cx="36511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2</a:t>
            </a:r>
            <a:r>
              <a:rPr kumimoji="0" lang="zh-CN" altLang="en-US" sz="3200" b="1">
                <a:solidFill>
                  <a:srgbClr val="FF0000"/>
                </a:solidFill>
                <a:latin typeface="微软雅黑" panose="020B0503020204020204" pitchFamily="34" charset="-122"/>
                <a:ea typeface="微软雅黑" panose="020B0503020204020204" pitchFamily="34" charset="-122"/>
              </a:rPr>
              <a:t>章  线性规划</a:t>
            </a:r>
          </a:p>
        </p:txBody>
      </p:sp>
      <p:sp>
        <p:nvSpPr>
          <p:cNvPr id="5125" name="Rectangle 3"/>
          <p:cNvSpPr txBox="1">
            <a:spLocks noChangeArrowheads="1"/>
          </p:cNvSpPr>
          <p:nvPr/>
        </p:nvSpPr>
        <p:spPr bwMode="auto">
          <a:xfrm>
            <a:off x="1295400" y="1557338"/>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1</a:t>
            </a:r>
            <a:r>
              <a:rPr lang="zh-CN" altLang="en-US" sz="2800" b="1">
                <a:solidFill>
                  <a:schemeClr val="folHlink"/>
                </a:solidFill>
                <a:latin typeface="微软雅黑" panose="020B0503020204020204" pitchFamily="34" charset="-122"/>
                <a:ea typeface="微软雅黑" panose="020B0503020204020204" pitchFamily="34" charset="-122"/>
              </a:rPr>
              <a:t>节   线性规划的数学模型</a:t>
            </a:r>
          </a:p>
          <a:p>
            <a:pPr>
              <a:lnSpc>
                <a:spcPct val="130000"/>
              </a:lnSpc>
              <a:spcBef>
                <a:spcPts val="600"/>
              </a:spcBef>
              <a:buClr>
                <a:schemeClr val="accent1"/>
              </a:buClr>
              <a:buSzPct val="70000"/>
              <a:buFont typeface="Wingdings" panose="05000000000000000000" pitchFamily="2" charset="2"/>
              <a:buNone/>
            </a:pPr>
            <a:r>
              <a:rPr lang="zh-CN" altLang="en-US" sz="2800" b="1">
                <a:solidFill>
                  <a:srgbClr val="FF0000"/>
                </a:solidFill>
                <a:latin typeface="微软雅黑" panose="020B0503020204020204" pitchFamily="34" charset="-122"/>
                <a:ea typeface="微软雅黑" panose="020B0503020204020204" pitchFamily="34" charset="-122"/>
              </a:rPr>
              <a:t>第</a:t>
            </a:r>
            <a:r>
              <a:rPr lang="en-US" altLang="zh-CN" sz="2800" b="1">
                <a:solidFill>
                  <a:srgbClr val="FF0000"/>
                </a:solidFill>
                <a:latin typeface="微软雅黑" panose="020B0503020204020204" pitchFamily="34" charset="-122"/>
                <a:ea typeface="微软雅黑" panose="020B0503020204020204" pitchFamily="34" charset="-122"/>
              </a:rPr>
              <a:t>2</a:t>
            </a:r>
            <a:r>
              <a:rPr lang="zh-CN" altLang="en-US" sz="2800" b="1">
                <a:solidFill>
                  <a:srgbClr val="FF0000"/>
                </a:solidFill>
                <a:latin typeface="微软雅黑" panose="020B0503020204020204" pitchFamily="34" charset="-122"/>
                <a:ea typeface="微软雅黑" panose="020B0503020204020204" pitchFamily="34" charset="-122"/>
              </a:rPr>
              <a:t>节   线性规划的标准型</a:t>
            </a:r>
            <a:endParaRPr lang="en-US" altLang="zh-CN" sz="2800" b="1">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3</a:t>
            </a:r>
            <a:r>
              <a:rPr lang="zh-CN" altLang="en-US" sz="2800" b="1">
                <a:solidFill>
                  <a:schemeClr val="folHlink"/>
                </a:solidFill>
                <a:latin typeface="微软雅黑" panose="020B0503020204020204" pitchFamily="34" charset="-122"/>
                <a:ea typeface="微软雅黑" panose="020B0503020204020204" pitchFamily="34" charset="-122"/>
              </a:rPr>
              <a:t>节   线性规划的图解法</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4</a:t>
            </a:r>
            <a:r>
              <a:rPr lang="zh-CN" altLang="en-US" sz="2800" b="1">
                <a:solidFill>
                  <a:schemeClr val="folHlink"/>
                </a:solidFill>
                <a:latin typeface="微软雅黑" panose="020B0503020204020204" pitchFamily="34" charset="-122"/>
                <a:ea typeface="微软雅黑" panose="020B0503020204020204" pitchFamily="34" charset="-122"/>
              </a:rPr>
              <a:t>节   线性规划问题解的性质</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5</a:t>
            </a:r>
            <a:r>
              <a:rPr lang="zh-CN" altLang="en-US" sz="2800" b="1">
                <a:solidFill>
                  <a:schemeClr val="folHlink"/>
                </a:solidFill>
                <a:latin typeface="微软雅黑" panose="020B0503020204020204" pitchFamily="34" charset="-122"/>
                <a:ea typeface="微软雅黑" panose="020B0503020204020204" pitchFamily="34" charset="-122"/>
              </a:rPr>
              <a:t>节   求解线性规划的单纯形法</a:t>
            </a: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6</a:t>
            </a:r>
            <a:r>
              <a:rPr lang="zh-CN" altLang="en-US" sz="2800" b="1">
                <a:solidFill>
                  <a:schemeClr val="folHlink"/>
                </a:solidFill>
                <a:latin typeface="微软雅黑" panose="020B0503020204020204" pitchFamily="34" charset="-122"/>
                <a:ea typeface="微软雅黑" panose="020B0503020204020204" pitchFamily="34" charset="-122"/>
              </a:rPr>
              <a:t>节   求解线性规划的人工变量法</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7</a:t>
            </a:r>
            <a:r>
              <a:rPr lang="zh-CN" altLang="en-US" sz="2800" b="1">
                <a:solidFill>
                  <a:schemeClr val="folHlink"/>
                </a:solidFill>
                <a:latin typeface="微软雅黑" panose="020B0503020204020204" pitchFamily="34" charset="-122"/>
                <a:ea typeface="微软雅黑" panose="020B0503020204020204" pitchFamily="34" charset="-122"/>
              </a:rPr>
              <a:t>节   利用</a:t>
            </a:r>
            <a:r>
              <a:rPr lang="en-US" altLang="zh-CN" sz="2800" b="1">
                <a:solidFill>
                  <a:schemeClr val="folHlink"/>
                </a:solidFill>
                <a:latin typeface="微软雅黑" panose="020B0503020204020204" pitchFamily="34" charset="-122"/>
                <a:ea typeface="微软雅黑" panose="020B0503020204020204" pitchFamily="34" charset="-122"/>
              </a:rPr>
              <a:t>Excel</a:t>
            </a:r>
            <a:r>
              <a:rPr lang="zh-CN" altLang="en-US" sz="2800" b="1">
                <a:solidFill>
                  <a:schemeClr val="folHlink"/>
                </a:solidFill>
                <a:latin typeface="微软雅黑" panose="020B0503020204020204" pitchFamily="34" charset="-122"/>
                <a:ea typeface="微软雅黑" panose="020B0503020204020204" pitchFamily="34" charset="-122"/>
              </a:rPr>
              <a:t>求解线性规划问题</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8</a:t>
            </a:r>
            <a:r>
              <a:rPr lang="zh-CN" altLang="en-US" sz="2800" b="1">
                <a:solidFill>
                  <a:schemeClr val="folHlink"/>
                </a:solidFill>
                <a:latin typeface="微软雅黑" panose="020B0503020204020204" pitchFamily="34" charset="-122"/>
                <a:ea typeface="微软雅黑" panose="020B0503020204020204" pitchFamily="34" charset="-122"/>
              </a:rPr>
              <a:t>节   线性规划在管理中的应用</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41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0" y="683419"/>
            <a:ext cx="914400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10000"/>
              </a:lnSpc>
            </a:pPr>
            <a:r>
              <a:rPr kumimoji="0" lang="zh-CN" altLang="en-US" sz="2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目标函数有的要求</a:t>
            </a:r>
            <a:r>
              <a:rPr kumimoji="0" lang="en-US" altLang="zh-CN" sz="2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max</a:t>
            </a:r>
            <a:r>
              <a:rPr kumimoji="0" lang="en-US" altLang="zh-CN" sz="2200" b="1" dirty="0">
                <a:solidFill>
                  <a:srgbClr val="FF0000"/>
                </a:solidFill>
                <a:latin typeface="宋体" panose="02010600030101010101" pitchFamily="2" charset="-122"/>
                <a:cs typeface="Times New Roman" panose="02020603050405020304" pitchFamily="18" charset="0"/>
              </a:rPr>
              <a:t>, </a:t>
            </a:r>
            <a:r>
              <a:rPr kumimoji="0" lang="zh-CN" altLang="en-US" sz="2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有的要求</a:t>
            </a:r>
            <a:r>
              <a:rPr kumimoji="0" lang="en-US" altLang="zh-CN" sz="2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min</a:t>
            </a:r>
          </a:p>
          <a:p>
            <a:pPr eaLnBrk="1" hangingPunct="1">
              <a:lnSpc>
                <a:spcPct val="110000"/>
              </a:lnSpc>
            </a:pP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约束条件可以是</a:t>
            </a:r>
            <a:r>
              <a:rPr kumimoji="0" lang="zh-CN" altLang="en-US" sz="2200" b="1" dirty="0">
                <a:solidFill>
                  <a:srgbClr val="006600"/>
                </a:solidFill>
                <a:latin typeface="宋体" panose="02010600030101010101" pitchFamily="2" charset="-122"/>
                <a:cs typeface="Times New Roman" panose="02020603050405020304" pitchFamily="18" charset="0"/>
              </a:rPr>
              <a:t>“</a:t>
            </a: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200" b="1" dirty="0">
                <a:solidFill>
                  <a:srgbClr val="006600"/>
                </a:solidFill>
                <a:latin typeface="宋体" panose="02010600030101010101" pitchFamily="2" charset="-122"/>
                <a:cs typeface="Times New Roman" panose="02020603050405020304" pitchFamily="18" charset="0"/>
              </a:rPr>
              <a:t>”</a:t>
            </a:r>
            <a:r>
              <a:rPr kumimoji="0" lang="en-US" altLang="zh-CN" sz="2200" b="1" dirty="0">
                <a:solidFill>
                  <a:srgbClr val="006600"/>
                </a:solidFill>
                <a:latin typeface="宋体" panose="02010600030101010101" pitchFamily="2" charset="-122"/>
                <a:cs typeface="Times New Roman" panose="02020603050405020304" pitchFamily="18" charset="0"/>
              </a:rPr>
              <a:t>,</a:t>
            </a:r>
            <a:r>
              <a:rPr kumimoji="0" lang="en-US" altLang="zh-CN"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也可以是</a:t>
            </a:r>
            <a:r>
              <a:rPr kumimoji="0" lang="zh-CN" altLang="en-US" sz="2200" b="1" dirty="0">
                <a:solidFill>
                  <a:srgbClr val="006600"/>
                </a:solidFill>
                <a:latin typeface="宋体" panose="02010600030101010101" pitchFamily="2" charset="-122"/>
                <a:cs typeface="Times New Roman" panose="02020603050405020304" pitchFamily="18" charset="0"/>
              </a:rPr>
              <a:t>“</a:t>
            </a: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200" b="1" dirty="0">
                <a:solidFill>
                  <a:srgbClr val="006600"/>
                </a:solidFill>
                <a:latin typeface="宋体" panose="02010600030101010101" pitchFamily="2" charset="-122"/>
                <a:cs typeface="Times New Roman" panose="02020603050405020304" pitchFamily="18" charset="0"/>
              </a:rPr>
              <a:t>”</a:t>
            </a: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形式的不等式</a:t>
            </a:r>
            <a:r>
              <a:rPr kumimoji="0" lang="zh-CN" altLang="en-US" sz="2200" b="1" dirty="0">
                <a:solidFill>
                  <a:srgbClr val="006600"/>
                </a:solidFill>
                <a:latin typeface="宋体" panose="02010600030101010101" pitchFamily="2" charset="-122"/>
                <a:cs typeface="Times New Roman" panose="02020603050405020304" pitchFamily="18" charset="0"/>
              </a:rPr>
              <a:t>，</a:t>
            </a:r>
            <a:r>
              <a:rPr kumimoji="0" lang="zh-CN" altLang="en-US"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rPr>
              <a:t>还可以是等式</a:t>
            </a:r>
            <a:endParaRPr kumimoji="0" lang="en-US" altLang="zh-CN" sz="2200" b="1" dirty="0">
              <a:solidFill>
                <a:srgbClr val="0066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10000"/>
              </a:lnSpc>
            </a:pP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决策变量一般是非负约束</a:t>
            </a:r>
            <a:r>
              <a:rPr kumimoji="0" lang="en-US" altLang="zh-CN" sz="2200" b="1" dirty="0">
                <a:solidFill>
                  <a:schemeClr val="folHlink"/>
                </a:solidFill>
                <a:latin typeface="宋体" panose="02010600030101010101" pitchFamily="2" charset="-122"/>
                <a:cs typeface="Times New Roman" panose="02020603050405020304" pitchFamily="18" charset="0"/>
              </a:rPr>
              <a:t>, </a:t>
            </a: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但也允许在</a:t>
            </a:r>
            <a:r>
              <a:rPr kumimoji="0" lang="en-US" altLang="zh-CN"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200" b="1" dirty="0">
                <a:solidFill>
                  <a:schemeClr val="folHlink"/>
                </a:solidFill>
                <a:latin typeface="宋体" panose="02010600030101010101" pitchFamily="2" charset="-122"/>
                <a:cs typeface="Times New Roman" panose="02020603050405020304" pitchFamily="18" charset="0"/>
              </a:rPr>
              <a:t>,</a:t>
            </a: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范围内取值</a:t>
            </a:r>
            <a:r>
              <a:rPr kumimoji="0" lang="en-US" altLang="zh-CN" sz="2200" b="1" dirty="0">
                <a:solidFill>
                  <a:schemeClr val="folHlink"/>
                </a:solidFill>
                <a:latin typeface="宋体" panose="02010600030101010101" pitchFamily="2" charset="-122"/>
                <a:cs typeface="Times New Roman" panose="02020603050405020304" pitchFamily="18" charset="0"/>
              </a:rPr>
              <a:t>, </a:t>
            </a:r>
            <a:r>
              <a:rPr kumimoji="0" lang="zh-CN" altLang="en-US"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即无约束</a:t>
            </a:r>
            <a:endParaRPr kumimoji="0" lang="en-US" altLang="zh-CN" sz="22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9573" name="Rectangle 5"/>
          <p:cNvSpPr>
            <a:spLocks noChangeArrowheads="1"/>
          </p:cNvSpPr>
          <p:nvPr/>
        </p:nvSpPr>
        <p:spPr bwMode="auto">
          <a:xfrm>
            <a:off x="195263" y="2746375"/>
            <a:ext cx="1811337" cy="830263"/>
          </a:xfrm>
          <a:prstGeom prst="rect">
            <a:avLst/>
          </a:prstGeom>
          <a:noFill/>
          <a:ln w="76200">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solidFill>
                  <a:srgbClr val="006600"/>
                </a:solidFill>
                <a:latin typeface="微软雅黑" panose="020B0503020204020204" pitchFamily="34" charset="-122"/>
                <a:ea typeface="微软雅黑" panose="020B0503020204020204" pitchFamily="34" charset="-122"/>
              </a:rPr>
              <a:t>这里规定的</a:t>
            </a:r>
          </a:p>
          <a:p>
            <a:pPr eaLnBrk="1" hangingPunct="1"/>
            <a:r>
              <a:rPr kumimoji="0" lang="zh-CN" altLang="en-US" b="1">
                <a:solidFill>
                  <a:srgbClr val="006600"/>
                </a:solidFill>
                <a:latin typeface="微软雅黑" panose="020B0503020204020204" pitchFamily="34" charset="-122"/>
                <a:ea typeface="微软雅黑" panose="020B0503020204020204" pitchFamily="34" charset="-122"/>
              </a:rPr>
              <a:t>标准型式为</a:t>
            </a:r>
            <a:r>
              <a:rPr kumimoji="0" lang="en-US" altLang="zh-CN" b="1">
                <a:solidFill>
                  <a:srgbClr val="006600"/>
                </a:solidFill>
                <a:latin typeface="微软雅黑" panose="020B0503020204020204" pitchFamily="34" charset="-122"/>
                <a:ea typeface="微软雅黑" panose="020B0503020204020204" pitchFamily="34" charset="-122"/>
              </a:rPr>
              <a:t>:</a:t>
            </a:r>
            <a:endParaRPr kumimoji="0" lang="zh-CN" altLang="en-US" b="1">
              <a:solidFill>
                <a:srgbClr val="006600"/>
              </a:solidFill>
              <a:latin typeface="微软雅黑" panose="020B0503020204020204" pitchFamily="34" charset="-122"/>
              <a:ea typeface="微软雅黑" panose="020B0503020204020204" pitchFamily="34" charset="-122"/>
            </a:endParaRPr>
          </a:p>
        </p:txBody>
      </p:sp>
      <p:sp>
        <p:nvSpPr>
          <p:cNvPr id="109574" name="Rectangle 6"/>
          <p:cNvSpPr>
            <a:spLocks noChangeArrowheads="1"/>
          </p:cNvSpPr>
          <p:nvPr/>
        </p:nvSpPr>
        <p:spPr bwMode="auto">
          <a:xfrm>
            <a:off x="755650" y="6237288"/>
            <a:ext cx="6584950" cy="4572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solidFill>
                  <a:schemeClr val="hlink"/>
                </a:solidFill>
                <a:ea typeface="微软雅黑" panose="020B0503020204020204" pitchFamily="34" charset="-122"/>
              </a:rPr>
              <a:t>特点：目标函数求极大</a:t>
            </a:r>
            <a:r>
              <a:rPr lang="zh-CN" altLang="en-US" b="1" dirty="0">
                <a:solidFill>
                  <a:schemeClr val="hlink"/>
                </a:solidFill>
                <a:latin typeface="宋体" panose="02010600030101010101" pitchFamily="2" charset="-122"/>
              </a:rPr>
              <a:t>；</a:t>
            </a:r>
            <a:r>
              <a:rPr lang="zh-CN" altLang="en-US" b="1" dirty="0">
                <a:solidFill>
                  <a:schemeClr val="hlink"/>
                </a:solidFill>
                <a:ea typeface="微软雅黑" panose="020B0503020204020204" pitchFamily="34" charset="-122"/>
              </a:rPr>
              <a:t>等式约束</a:t>
            </a:r>
            <a:r>
              <a:rPr lang="zh-CN" altLang="en-US" b="1" dirty="0">
                <a:solidFill>
                  <a:schemeClr val="hlink"/>
                </a:solidFill>
                <a:latin typeface="宋体" panose="02010600030101010101" pitchFamily="2" charset="-122"/>
              </a:rPr>
              <a:t>；</a:t>
            </a:r>
            <a:r>
              <a:rPr lang="zh-CN" altLang="en-US" b="1" dirty="0">
                <a:solidFill>
                  <a:schemeClr val="hlink"/>
                </a:solidFill>
                <a:ea typeface="微软雅黑" panose="020B0503020204020204" pitchFamily="34" charset="-122"/>
              </a:rPr>
              <a:t>变量非负</a:t>
            </a:r>
          </a:p>
        </p:txBody>
      </p:sp>
      <p:sp>
        <p:nvSpPr>
          <p:cNvPr id="2" name="矩形 1"/>
          <p:cNvSpPr>
            <a:spLocks noChangeArrowheads="1"/>
          </p:cNvSpPr>
          <p:nvPr/>
        </p:nvSpPr>
        <p:spPr bwMode="auto">
          <a:xfrm>
            <a:off x="2246313" y="2590800"/>
            <a:ext cx="6286500" cy="3384550"/>
          </a:xfrm>
          <a:prstGeom prst="rect">
            <a:avLst/>
          </a:prstGeom>
          <a:noFill/>
          <a:ln w="9525" algn="ctr">
            <a:solidFill>
              <a:schemeClr val="tx1"/>
            </a:solidFill>
            <a:prstDash val="lgDashDot"/>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4" name="对象 3"/>
          <p:cNvGraphicFramePr>
            <a:graphicFrameLocks noChangeAspect="1"/>
          </p:cNvGraphicFramePr>
          <p:nvPr/>
        </p:nvGraphicFramePr>
        <p:xfrm>
          <a:off x="2359025" y="2593975"/>
          <a:ext cx="533400" cy="381000"/>
        </p:xfrm>
        <a:graphic>
          <a:graphicData uri="http://schemas.openxmlformats.org/presentationml/2006/ole">
            <mc:AlternateContent xmlns:mc="http://schemas.openxmlformats.org/markup-compatibility/2006">
              <mc:Choice xmlns:v="urn:schemas-microsoft-com:vml" Requires="v">
                <p:oleObj spid="_x0000_s15496" name="Equation" r:id="rId3" imgW="533400" imgH="381000" progId="Equation.DSMT4">
                  <p:embed/>
                </p:oleObj>
              </mc:Choice>
              <mc:Fallback>
                <p:oleObj name="Equation" r:id="rId3" imgW="533400" imgH="3810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025" y="2593975"/>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3879850" y="3011488"/>
          <a:ext cx="3492500" cy="381000"/>
        </p:xfrm>
        <a:graphic>
          <a:graphicData uri="http://schemas.openxmlformats.org/presentationml/2006/ole">
            <mc:AlternateContent xmlns:mc="http://schemas.openxmlformats.org/markup-compatibility/2006">
              <mc:Choice xmlns:v="urn:schemas-microsoft-com:vml" Requires="v">
                <p:oleObj spid="_x0000_s15497" name="Equation" r:id="rId5" imgW="3492500" imgH="381000" progId="Equation.DSMT4">
                  <p:embed/>
                </p:oleObj>
              </mc:Choice>
              <mc:Fallback>
                <p:oleObj name="Equation" r:id="rId5" imgW="3492500" imgH="3810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9850" y="3011488"/>
                        <a:ext cx="3492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3802063" y="3517900"/>
          <a:ext cx="3733800" cy="2286000"/>
        </p:xfrm>
        <a:graphic>
          <a:graphicData uri="http://schemas.openxmlformats.org/presentationml/2006/ole">
            <mc:AlternateContent xmlns:mc="http://schemas.openxmlformats.org/markup-compatibility/2006">
              <mc:Choice xmlns:v="urn:schemas-microsoft-com:vml" Requires="v">
                <p:oleObj spid="_x0000_s15498" name="Equation" r:id="rId7" imgW="3733800" imgH="2286000" progId="Equation.DSMT4">
                  <p:embed/>
                </p:oleObj>
              </mc:Choice>
              <mc:Fallback>
                <p:oleObj name="Equation" r:id="rId7" imgW="3733800" imgH="22860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02063" y="3517900"/>
                        <a:ext cx="3733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a:spLocks noChangeArrowheads="1"/>
          </p:cNvSpPr>
          <p:nvPr/>
        </p:nvSpPr>
        <p:spPr bwMode="auto">
          <a:xfrm>
            <a:off x="2324100" y="4400550"/>
            <a:ext cx="1724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约束条件：</a:t>
            </a:r>
          </a:p>
        </p:txBody>
      </p:sp>
      <p:sp>
        <p:nvSpPr>
          <p:cNvPr id="13" name="矩形 12"/>
          <p:cNvSpPr>
            <a:spLocks noChangeArrowheads="1"/>
          </p:cNvSpPr>
          <p:nvPr/>
        </p:nvSpPr>
        <p:spPr bwMode="auto">
          <a:xfrm>
            <a:off x="2246313" y="29749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目标函数：</a:t>
            </a:r>
          </a:p>
        </p:txBody>
      </p:sp>
      <p:sp>
        <p:nvSpPr>
          <p:cNvPr id="9" name="矩形 8"/>
          <p:cNvSpPr>
            <a:spLocks noChangeArrowheads="1"/>
          </p:cNvSpPr>
          <p:nvPr/>
        </p:nvSpPr>
        <p:spPr bwMode="auto">
          <a:xfrm>
            <a:off x="107950" y="2103438"/>
            <a:ext cx="81819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1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将这些多种形式的数学模型统一变换为标准型式</a:t>
            </a:r>
          </a:p>
        </p:txBody>
      </p:sp>
      <p:sp>
        <p:nvSpPr>
          <p:cNvPr id="6157" name="矩形 9"/>
          <p:cNvSpPr>
            <a:spLocks noChangeArrowheads="1"/>
          </p:cNvSpPr>
          <p:nvPr/>
        </p:nvSpPr>
        <p:spPr bwMode="auto">
          <a:xfrm>
            <a:off x="195263" y="160338"/>
            <a:ext cx="69659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1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由</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节可知</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线性规划问题有各种不同的形式</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58"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B041C86D-D899-4869-A9AB-1336692C0BB0}" type="slidenum">
              <a:rPr kumimoji="0" lang="en-US" altLang="zh-CN" sz="1000">
                <a:latin typeface="Arial" panose="020B0604020202020204" pitchFamily="34" charset="0"/>
                <a:ea typeface="微软雅黑" panose="020B0503020204020204" pitchFamily="34" charset="-122"/>
              </a:rPr>
              <a:t>42</a:t>
            </a:fld>
            <a:endParaRPr kumimoji="0" lang="en-US" altLang="zh-CN" sz="1000" dirty="0">
              <a:latin typeface="Arial" panose="020B0604020202020204" pitchFamily="34" charset="0"/>
              <a:ea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9573"/>
                                        </p:tgtEl>
                                        <p:attrNameLst>
                                          <p:attrName>style.visibility</p:attrName>
                                        </p:attrNameLst>
                                      </p:cBhvr>
                                      <p:to>
                                        <p:strVal val="visible"/>
                                      </p:to>
                                    </p:set>
                                    <p:animEffect transition="in" filter="blinds(horizontal)">
                                      <p:cBhvr>
                                        <p:cTn id="27" dur="500"/>
                                        <p:tgtEl>
                                          <p:spTgt spid="109573"/>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par>
                                <p:cTn id="32" presetID="10"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par>
                                <p:cTn id="41" presetID="16" presetClass="entr" presetSubtype="21"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arn(inVertical)">
                                      <p:cBhvr>
                                        <p:cTn id="43" dur="500"/>
                                        <p:tgtEl>
                                          <p:spTgt spid="7"/>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arn(inVertical)">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09574"/>
                                        </p:tgtEl>
                                        <p:attrNameLst>
                                          <p:attrName>style.visibility</p:attrName>
                                        </p:attrNameLst>
                                      </p:cBhvr>
                                      <p:to>
                                        <p:strVal val="visible"/>
                                      </p:to>
                                    </p:set>
                                    <p:animEffect transition="in" filter="blinds(horizontal)">
                                      <p:cBhvr>
                                        <p:cTn id="51" dur="500"/>
                                        <p:tgtEl>
                                          <p:spTgt spid="109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animBg="1"/>
      <p:bldP spid="109574" grpId="0" animBg="1"/>
      <p:bldP spid="2" grpId="0" animBg="1"/>
      <p:bldP spid="12" grpId="0"/>
      <p:bldP spid="13"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0" y="2565400"/>
            <a:ext cx="4206875" cy="2192338"/>
          </a:xfrm>
          <a:prstGeom prst="rect">
            <a:avLst/>
          </a:prstGeom>
          <a:noFill/>
          <a:ln w="76200">
            <a:solidFill>
              <a:schemeClr val="accent2"/>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20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在标准型式中规定各约束条件右端项</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b</a:t>
            </a:r>
            <a:r>
              <a:rPr kumimoji="0" lang="en-US" altLang="zh-CN" b="1" i="1" baseline="-25000">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&gt;0</a:t>
            </a:r>
          </a:p>
          <a:p>
            <a:pPr eaLnBrk="1" hangingPunct="1">
              <a:lnSpc>
                <a:spcPct val="20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否则等式两端乘以</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p>
        </p:txBody>
      </p:sp>
      <p:sp>
        <p:nvSpPr>
          <p:cNvPr id="2" name="矩形 1"/>
          <p:cNvSpPr>
            <a:spLocks noChangeArrowheads="1"/>
          </p:cNvSpPr>
          <p:nvPr/>
        </p:nvSpPr>
        <p:spPr bwMode="auto">
          <a:xfrm>
            <a:off x="4284663" y="1350963"/>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800" b="1">
                <a:latin typeface="微软雅黑" panose="020B0503020204020204" pitchFamily="34" charset="-122"/>
                <a:ea typeface="微软雅黑" panose="020B0503020204020204" pitchFamily="34" charset="-122"/>
              </a:rPr>
              <a:t>用矩阵表示为：</a:t>
            </a:r>
          </a:p>
        </p:txBody>
      </p:sp>
      <p:sp>
        <p:nvSpPr>
          <p:cNvPr id="7172" name="矩形 12"/>
          <p:cNvSpPr>
            <a:spLocks noChangeArrowheads="1"/>
          </p:cNvSpPr>
          <p:nvPr/>
        </p:nvSpPr>
        <p:spPr bwMode="auto">
          <a:xfrm>
            <a:off x="0" y="0"/>
            <a:ext cx="4259263" cy="2436813"/>
          </a:xfrm>
          <a:prstGeom prst="rect">
            <a:avLst/>
          </a:prstGeom>
          <a:solidFill>
            <a:srgbClr val="ED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7173" name="对象 13"/>
          <p:cNvGraphicFramePr>
            <a:graphicFrameLocks noChangeAspect="1"/>
          </p:cNvGraphicFramePr>
          <p:nvPr/>
        </p:nvGraphicFramePr>
        <p:xfrm>
          <a:off x="60325" y="100013"/>
          <a:ext cx="533400" cy="381000"/>
        </p:xfrm>
        <a:graphic>
          <a:graphicData uri="http://schemas.openxmlformats.org/presentationml/2006/ole">
            <mc:AlternateContent xmlns:mc="http://schemas.openxmlformats.org/markup-compatibility/2006">
              <mc:Choice xmlns:v="urn:schemas-microsoft-com:vml" Requires="v">
                <p:oleObj spid="_x0000_s16861" name="Equation" r:id="rId3" imgW="533400" imgH="381000" progId="Equation.DSMT4">
                  <p:embed/>
                </p:oleObj>
              </mc:Choice>
              <mc:Fallback>
                <p:oleObj name="Equation" r:id="rId3" imgW="533400" imgH="381000" progId="Equation.DSMT4">
                  <p:embed/>
                  <p:pic>
                    <p:nvPicPr>
                      <p:cNvPr id="0"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 y="100013"/>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4" name="对象 14"/>
          <p:cNvGraphicFramePr>
            <a:graphicFrameLocks noChangeAspect="1"/>
          </p:cNvGraphicFramePr>
          <p:nvPr/>
        </p:nvGraphicFramePr>
        <p:xfrm>
          <a:off x="1295400" y="307975"/>
          <a:ext cx="1955800" cy="825500"/>
        </p:xfrm>
        <a:graphic>
          <a:graphicData uri="http://schemas.openxmlformats.org/presentationml/2006/ole">
            <mc:AlternateContent xmlns:mc="http://schemas.openxmlformats.org/markup-compatibility/2006">
              <mc:Choice xmlns:v="urn:schemas-microsoft-com:vml" Requires="v">
                <p:oleObj spid="_x0000_s16862" name="Equation" r:id="rId5" imgW="1955800" imgH="825500" progId="Equation.DSMT4">
                  <p:embed/>
                </p:oleObj>
              </mc:Choice>
              <mc:Fallback>
                <p:oleObj name="Equation" r:id="rId5" imgW="1955800" imgH="825500" progId="Equation.DSMT4">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307975"/>
                        <a:ext cx="19558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5" name="对象 15"/>
          <p:cNvGraphicFramePr>
            <a:graphicFrameLocks noChangeAspect="1"/>
          </p:cNvGraphicFramePr>
          <p:nvPr/>
        </p:nvGraphicFramePr>
        <p:xfrm>
          <a:off x="1185863" y="1154113"/>
          <a:ext cx="3073400" cy="1282700"/>
        </p:xfrm>
        <a:graphic>
          <a:graphicData uri="http://schemas.openxmlformats.org/presentationml/2006/ole">
            <mc:AlternateContent xmlns:mc="http://schemas.openxmlformats.org/markup-compatibility/2006">
              <mc:Choice xmlns:v="urn:schemas-microsoft-com:vml" Requires="v">
                <p:oleObj spid="_x0000_s16863" name="Equation" r:id="rId7" imgW="3073400" imgH="1282700" progId="Equation.DSMT4">
                  <p:embed/>
                </p:oleObj>
              </mc:Choice>
              <mc:Fallback>
                <p:oleObj name="Equation" r:id="rId7" imgW="3073400" imgH="1282700" progId="Equation.DSMT4">
                  <p:embed/>
                  <p:pic>
                    <p:nvPicPr>
                      <p:cNvPr id="0"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863" y="1154113"/>
                        <a:ext cx="30734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6" name="矩形 16"/>
          <p:cNvSpPr>
            <a:spLocks noChangeArrowheads="1"/>
          </p:cNvSpPr>
          <p:nvPr/>
        </p:nvSpPr>
        <p:spPr bwMode="auto">
          <a:xfrm>
            <a:off x="-36513" y="1563688"/>
            <a:ext cx="1466851"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约束条件：</a:t>
            </a:r>
          </a:p>
        </p:txBody>
      </p:sp>
      <p:sp>
        <p:nvSpPr>
          <p:cNvPr id="7177" name="矩形 17"/>
          <p:cNvSpPr>
            <a:spLocks noChangeArrowheads="1"/>
          </p:cNvSpPr>
          <p:nvPr/>
        </p:nvSpPr>
        <p:spPr bwMode="auto">
          <a:xfrm>
            <a:off x="-39688" y="465138"/>
            <a:ext cx="1517651"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目标函数</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9" name="矩形 18"/>
          <p:cNvSpPr>
            <a:spLocks noChangeArrowheads="1"/>
          </p:cNvSpPr>
          <p:nvPr/>
        </p:nvSpPr>
        <p:spPr bwMode="auto">
          <a:xfrm>
            <a:off x="4286250" y="1868488"/>
            <a:ext cx="4849813" cy="4989512"/>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3" name="对象 2"/>
          <p:cNvGraphicFramePr>
            <a:graphicFrameLocks noChangeAspect="1"/>
          </p:cNvGraphicFramePr>
          <p:nvPr/>
        </p:nvGraphicFramePr>
        <p:xfrm>
          <a:off x="4410075" y="1919288"/>
          <a:ext cx="546100" cy="419100"/>
        </p:xfrm>
        <a:graphic>
          <a:graphicData uri="http://schemas.openxmlformats.org/presentationml/2006/ole">
            <mc:AlternateContent xmlns:mc="http://schemas.openxmlformats.org/markup-compatibility/2006">
              <mc:Choice xmlns:v="urn:schemas-microsoft-com:vml" Requires="v">
                <p:oleObj spid="_x0000_s16864" name="Equation" r:id="rId9" imgW="546100" imgH="419100" progId="Equation.DSMT4">
                  <p:embed/>
                </p:oleObj>
              </mc:Choice>
              <mc:Fallback>
                <p:oleObj name="Equation" r:id="rId9" imgW="546100" imgH="419100" progId="Equation.DSMT4">
                  <p:embed/>
                  <p:pic>
                    <p:nvPicPr>
                      <p:cNvPr id="0"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0075" y="1919288"/>
                        <a:ext cx="546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6505575" y="1952625"/>
          <a:ext cx="1282700" cy="292100"/>
        </p:xfrm>
        <a:graphic>
          <a:graphicData uri="http://schemas.openxmlformats.org/presentationml/2006/ole">
            <mc:AlternateContent xmlns:mc="http://schemas.openxmlformats.org/markup-compatibility/2006">
              <mc:Choice xmlns:v="urn:schemas-microsoft-com:vml" Requires="v">
                <p:oleObj spid="_x0000_s16865" name="Equation" r:id="rId11" imgW="1282700" imgH="292100" progId="Equation.DSMT4">
                  <p:embed/>
                </p:oleObj>
              </mc:Choice>
              <mc:Fallback>
                <p:oleObj name="Equation" r:id="rId11" imgW="1282700" imgH="292100" progId="Equation.DSMT4">
                  <p:embed/>
                  <p:pic>
                    <p:nvPicPr>
                      <p:cNvPr id="0" name="对象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05575" y="1952625"/>
                        <a:ext cx="1282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a:spLocks noChangeArrowheads="1"/>
          </p:cNvSpPr>
          <p:nvPr/>
        </p:nvSpPr>
        <p:spPr bwMode="auto">
          <a:xfrm>
            <a:off x="5140325" y="18875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目标函数：</a:t>
            </a:r>
          </a:p>
        </p:txBody>
      </p:sp>
      <p:graphicFrame>
        <p:nvGraphicFramePr>
          <p:cNvPr id="23" name="对象 22"/>
          <p:cNvGraphicFramePr>
            <a:graphicFrameLocks noChangeAspect="1"/>
          </p:cNvGraphicFramePr>
          <p:nvPr/>
        </p:nvGraphicFramePr>
        <p:xfrm>
          <a:off x="5694363" y="2389188"/>
          <a:ext cx="927100" cy="736600"/>
        </p:xfrm>
        <a:graphic>
          <a:graphicData uri="http://schemas.openxmlformats.org/presentationml/2006/ole">
            <mc:AlternateContent xmlns:mc="http://schemas.openxmlformats.org/markup-compatibility/2006">
              <mc:Choice xmlns:v="urn:schemas-microsoft-com:vml" Requires="v">
                <p:oleObj spid="_x0000_s16866" name="Equation" r:id="rId13" imgW="927100" imgH="736600" progId="Equation.DSMT4">
                  <p:embed/>
                </p:oleObj>
              </mc:Choice>
              <mc:Fallback>
                <p:oleObj name="Equation" r:id="rId13" imgW="927100" imgH="736600" progId="Equation.DSMT4">
                  <p:embed/>
                  <p:pic>
                    <p:nvPicPr>
                      <p:cNvPr id="0" name="对象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94363" y="2389188"/>
                        <a:ext cx="9271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a:spLocks noChangeArrowheads="1"/>
          </p:cNvSpPr>
          <p:nvPr/>
        </p:nvSpPr>
        <p:spPr bwMode="auto">
          <a:xfrm>
            <a:off x="4330700" y="25161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约束条件：</a:t>
            </a:r>
          </a:p>
        </p:txBody>
      </p:sp>
      <p:graphicFrame>
        <p:nvGraphicFramePr>
          <p:cNvPr id="25" name="对象 24"/>
          <p:cNvGraphicFramePr>
            <a:graphicFrameLocks noChangeAspect="1"/>
          </p:cNvGraphicFramePr>
          <p:nvPr/>
        </p:nvGraphicFramePr>
        <p:xfrm>
          <a:off x="5508625" y="3390900"/>
          <a:ext cx="3632200" cy="1117600"/>
        </p:xfrm>
        <a:graphic>
          <a:graphicData uri="http://schemas.openxmlformats.org/presentationml/2006/ole">
            <mc:AlternateContent xmlns:mc="http://schemas.openxmlformats.org/markup-compatibility/2006">
              <mc:Choice xmlns:v="urn:schemas-microsoft-com:vml" Requires="v">
                <p:oleObj spid="_x0000_s16867" name="Equation" r:id="rId15" imgW="3632200" imgH="1117600" progId="Equation.DSMT4">
                  <p:embed/>
                </p:oleObj>
              </mc:Choice>
              <mc:Fallback>
                <p:oleObj name="Equation" r:id="rId15" imgW="3632200" imgH="1117600" progId="Equation.DSMT4">
                  <p:embed/>
                  <p:pic>
                    <p:nvPicPr>
                      <p:cNvPr id="0" name="对象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08625" y="3390900"/>
                        <a:ext cx="3632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矩形 25"/>
          <p:cNvSpPr>
            <a:spLocks noChangeArrowheads="1"/>
          </p:cNvSpPr>
          <p:nvPr/>
        </p:nvSpPr>
        <p:spPr bwMode="auto">
          <a:xfrm>
            <a:off x="4289425" y="37226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系数矩阵：</a:t>
            </a:r>
          </a:p>
        </p:txBody>
      </p:sp>
      <p:graphicFrame>
        <p:nvGraphicFramePr>
          <p:cNvPr id="27" name="对象 26"/>
          <p:cNvGraphicFramePr>
            <a:graphicFrameLocks noChangeAspect="1"/>
          </p:cNvGraphicFramePr>
          <p:nvPr/>
        </p:nvGraphicFramePr>
        <p:xfrm>
          <a:off x="5334000" y="4652963"/>
          <a:ext cx="914400" cy="1117600"/>
        </p:xfrm>
        <a:graphic>
          <a:graphicData uri="http://schemas.openxmlformats.org/presentationml/2006/ole">
            <mc:AlternateContent xmlns:mc="http://schemas.openxmlformats.org/markup-compatibility/2006">
              <mc:Choice xmlns:v="urn:schemas-microsoft-com:vml" Requires="v">
                <p:oleObj spid="_x0000_s16868" name="Equation" r:id="rId17" imgW="914400" imgH="1117600" progId="Equation.DSMT4">
                  <p:embed/>
                </p:oleObj>
              </mc:Choice>
              <mc:Fallback>
                <p:oleObj name="Equation" r:id="rId17" imgW="914400" imgH="1117600" progId="Equation.DSMT4">
                  <p:embed/>
                  <p:pic>
                    <p:nvPicPr>
                      <p:cNvPr id="0" name="对象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34000" y="4652963"/>
                        <a:ext cx="9144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矩形 27"/>
          <p:cNvSpPr>
            <a:spLocks noChangeArrowheads="1"/>
          </p:cNvSpPr>
          <p:nvPr/>
        </p:nvSpPr>
        <p:spPr bwMode="auto">
          <a:xfrm>
            <a:off x="4276725" y="49895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零向量：</a:t>
            </a:r>
          </a:p>
        </p:txBody>
      </p:sp>
      <p:graphicFrame>
        <p:nvGraphicFramePr>
          <p:cNvPr id="29" name="对象 28"/>
          <p:cNvGraphicFramePr>
            <a:graphicFrameLocks noChangeAspect="1"/>
          </p:cNvGraphicFramePr>
          <p:nvPr/>
        </p:nvGraphicFramePr>
        <p:xfrm>
          <a:off x="7616825" y="4652963"/>
          <a:ext cx="1003300" cy="1117600"/>
        </p:xfrm>
        <a:graphic>
          <a:graphicData uri="http://schemas.openxmlformats.org/presentationml/2006/ole">
            <mc:AlternateContent xmlns:mc="http://schemas.openxmlformats.org/markup-compatibility/2006">
              <mc:Choice xmlns:v="urn:schemas-microsoft-com:vml" Requires="v">
                <p:oleObj spid="_x0000_s16869" name="Equation" r:id="rId19" imgW="1002665" imgH="1116965" progId="Equation.DSMT4">
                  <p:embed/>
                </p:oleObj>
              </mc:Choice>
              <mc:Fallback>
                <p:oleObj name="Equation" r:id="rId19" imgW="1002665" imgH="1116965" progId="Equation.DSMT4">
                  <p:embed/>
                  <p:pic>
                    <p:nvPicPr>
                      <p:cNvPr id="0" name="对象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16825" y="4652963"/>
                        <a:ext cx="10033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矩形 29"/>
          <p:cNvSpPr>
            <a:spLocks noChangeArrowheads="1"/>
          </p:cNvSpPr>
          <p:nvPr/>
        </p:nvSpPr>
        <p:spPr bwMode="auto">
          <a:xfrm>
            <a:off x="6329363" y="498951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资源向量：</a:t>
            </a:r>
          </a:p>
        </p:txBody>
      </p:sp>
      <p:graphicFrame>
        <p:nvGraphicFramePr>
          <p:cNvPr id="31" name="对象 30"/>
          <p:cNvGraphicFramePr>
            <a:graphicFrameLocks noChangeAspect="1"/>
          </p:cNvGraphicFramePr>
          <p:nvPr/>
        </p:nvGraphicFramePr>
        <p:xfrm>
          <a:off x="6157913" y="5835650"/>
          <a:ext cx="2006600" cy="431800"/>
        </p:xfrm>
        <a:graphic>
          <a:graphicData uri="http://schemas.openxmlformats.org/presentationml/2006/ole">
            <mc:AlternateContent xmlns:mc="http://schemas.openxmlformats.org/markup-compatibility/2006">
              <mc:Choice xmlns:v="urn:schemas-microsoft-com:vml" Requires="v">
                <p:oleObj spid="_x0000_s16870" name="Equation" r:id="rId21" imgW="2006600" imgH="431800" progId="Equation.DSMT4">
                  <p:embed/>
                </p:oleObj>
              </mc:Choice>
              <mc:Fallback>
                <p:oleObj name="Equation" r:id="rId21" imgW="2006600" imgH="431800" progId="Equation.DSMT4">
                  <p:embed/>
                  <p:pic>
                    <p:nvPicPr>
                      <p:cNvPr id="0" name="对象 3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57913" y="5835650"/>
                        <a:ext cx="2006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矩形 31"/>
          <p:cNvSpPr>
            <a:spLocks noChangeArrowheads="1"/>
          </p:cNvSpPr>
          <p:nvPr/>
        </p:nvSpPr>
        <p:spPr bwMode="auto">
          <a:xfrm>
            <a:off x="4348163" y="5867400"/>
            <a:ext cx="198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决策变量向量：</a:t>
            </a:r>
          </a:p>
        </p:txBody>
      </p:sp>
      <p:graphicFrame>
        <p:nvGraphicFramePr>
          <p:cNvPr id="33" name="对象 32"/>
          <p:cNvGraphicFramePr>
            <a:graphicFrameLocks noChangeAspect="1"/>
          </p:cNvGraphicFramePr>
          <p:nvPr/>
        </p:nvGraphicFramePr>
        <p:xfrm>
          <a:off x="5661025" y="6353175"/>
          <a:ext cx="1739900" cy="381000"/>
        </p:xfrm>
        <a:graphic>
          <a:graphicData uri="http://schemas.openxmlformats.org/presentationml/2006/ole">
            <mc:AlternateContent xmlns:mc="http://schemas.openxmlformats.org/markup-compatibility/2006">
              <mc:Choice xmlns:v="urn:schemas-microsoft-com:vml" Requires="v">
                <p:oleObj spid="_x0000_s16871" name="Equation" r:id="rId23" imgW="1739900" imgH="381000" progId="Equation.DSMT4">
                  <p:embed/>
                </p:oleObj>
              </mc:Choice>
              <mc:Fallback>
                <p:oleObj name="Equation" r:id="rId23" imgW="1739900" imgH="381000" progId="Equation.DSMT4">
                  <p:embed/>
                  <p:pic>
                    <p:nvPicPr>
                      <p:cNvPr id="0" name="对象 3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661025" y="6353175"/>
                        <a:ext cx="1739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矩形 33"/>
          <p:cNvSpPr>
            <a:spLocks noChangeArrowheads="1"/>
          </p:cNvSpPr>
          <p:nvPr/>
        </p:nvSpPr>
        <p:spPr bwMode="auto">
          <a:xfrm>
            <a:off x="4364038" y="63420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价值向量：</a:t>
            </a:r>
          </a:p>
        </p:txBody>
      </p:sp>
      <p:sp>
        <p:nvSpPr>
          <p:cNvPr id="7194"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CFD5812B-DD39-4A32-AE8F-1B60085A80AC}" type="slidenum">
              <a:rPr kumimoji="0" lang="en-US" altLang="zh-CN" sz="1000">
                <a:latin typeface="Arial" panose="020B0604020202020204" pitchFamily="34" charset="0"/>
                <a:ea typeface="微软雅黑" panose="020B0503020204020204" pitchFamily="34" charset="-122"/>
              </a:rPr>
              <a:t>43</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10"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22" grpId="0"/>
      <p:bldP spid="24" grpId="0"/>
      <p:bldP spid="26" grpId="0"/>
      <p:bldP spid="28" grpId="0"/>
      <p:bldP spid="30" grpId="0"/>
      <p:bldP spid="32" grpId="0"/>
      <p:bldP spid="3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1"/>
          <p:cNvSpPr>
            <a:spLocks noChangeArrowheads="1"/>
          </p:cNvSpPr>
          <p:nvPr/>
        </p:nvSpPr>
        <p:spPr bwMode="auto">
          <a:xfrm>
            <a:off x="180975" y="325438"/>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800" b="1">
                <a:solidFill>
                  <a:schemeClr val="folHlink"/>
                </a:solidFill>
                <a:latin typeface="微软雅黑" panose="020B0503020204020204" pitchFamily="34" charset="-122"/>
                <a:ea typeface="微软雅黑" panose="020B0503020204020204" pitchFamily="34" charset="-122"/>
              </a:rPr>
              <a:t>如何变换为标准型：</a:t>
            </a:r>
          </a:p>
        </p:txBody>
      </p:sp>
      <p:sp>
        <p:nvSpPr>
          <p:cNvPr id="4" name="矩形 3"/>
          <p:cNvSpPr/>
          <p:nvPr/>
        </p:nvSpPr>
        <p:spPr>
          <a:xfrm>
            <a:off x="180975" y="2997200"/>
            <a:ext cx="8785225" cy="340360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gn="just" eaLnBrk="1" hangingPunct="1">
              <a:lnSpc>
                <a:spcPct val="150000"/>
              </a:lnSpc>
              <a:defRPr/>
            </a:pPr>
            <a:r>
              <a:rPr kumimoji="0"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约束方程为不等式 </a:t>
            </a:r>
          </a:p>
          <a:p>
            <a:pPr algn="just" eaLnBrk="1" hangingPunct="1">
              <a:lnSpc>
                <a:spcPct val="150000"/>
              </a:lnSpc>
              <a:defRPr/>
            </a:pP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dirty="0" err="1">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约束方程为</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不等式</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则可在</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不等式的左端加入非负松弛变量</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把原</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不等式变为等式</a:t>
            </a:r>
          </a:p>
          <a:p>
            <a:pPr algn="just" eaLnBrk="1" hangingPunct="1">
              <a:lnSpc>
                <a:spcPct val="150000"/>
              </a:lnSpc>
              <a:defRPr/>
            </a:pP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(ii) </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约束方程为</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不等式</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则可在</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不等式的左端减去一个非负剩余变量</a:t>
            </a:r>
            <a:r>
              <a:rPr kumimoji="0" lang="en-US" altLang="zh-CN"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也可称松弛变量</a:t>
            </a:r>
            <a:r>
              <a:rPr kumimoji="0" lang="en-US" altLang="zh-CN"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solidFill>
                  <a:schemeClr val="folHlink"/>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把不等式约束条件变为等式约束条件</a:t>
            </a:r>
          </a:p>
        </p:txBody>
      </p:sp>
      <p:grpSp>
        <p:nvGrpSpPr>
          <p:cNvPr id="8196" name="组合 6"/>
          <p:cNvGrpSpPr/>
          <p:nvPr/>
        </p:nvGrpSpPr>
        <p:grpSpPr bwMode="auto">
          <a:xfrm>
            <a:off x="107950" y="849313"/>
            <a:ext cx="8731250" cy="1754187"/>
            <a:chOff x="107504" y="849313"/>
            <a:chExt cx="8731250" cy="1754187"/>
          </a:xfrm>
        </p:grpSpPr>
        <p:sp>
          <p:nvSpPr>
            <p:cNvPr id="3" name="矩形 2"/>
            <p:cNvSpPr/>
            <p:nvPr/>
          </p:nvSpPr>
          <p:spPr>
            <a:xfrm>
              <a:off x="107504" y="849313"/>
              <a:ext cx="8731250" cy="1754187"/>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marL="457200" indent="-457200" algn="just" eaLnBrk="1" hangingPunct="1">
                <a:lnSpc>
                  <a:spcPct val="150000"/>
                </a:lnSpc>
                <a:buFontTx/>
                <a:buAutoNum type="arabicParenBoth"/>
                <a:defRPr/>
              </a:pP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若要求目标函数实现最小化</a:t>
              </a:r>
              <a:r>
                <a:rPr kumimoji="0"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a:t>
              </a:r>
              <a:endParaRPr kumimoji="0"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defRPr/>
              </a:pP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这时只需将目标函数最小化变换求目标函数最大化</a:t>
              </a:r>
              <a:r>
                <a:rPr kumimoji="0"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即令     </a:t>
              </a:r>
              <a:r>
                <a:rPr kumimoji="0" lang="en-US" altLang="zh-CN"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于是得到 </a:t>
              </a:r>
              <a:r>
                <a:rPr kumimoji="0"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。这就同标准型的目标函数的形式一致了</a:t>
              </a:r>
            </a:p>
          </p:txBody>
        </p:sp>
        <p:graphicFrame>
          <p:nvGraphicFramePr>
            <p:cNvPr id="8199" name="对象 1"/>
            <p:cNvGraphicFramePr>
              <a:graphicFrameLocks noChangeAspect="1"/>
            </p:cNvGraphicFramePr>
            <p:nvPr/>
          </p:nvGraphicFramePr>
          <p:xfrm>
            <a:off x="5004048" y="1052736"/>
            <a:ext cx="1511300" cy="279400"/>
          </p:xfrm>
          <a:graphic>
            <a:graphicData uri="http://schemas.openxmlformats.org/presentationml/2006/ole">
              <mc:AlternateContent xmlns:mc="http://schemas.openxmlformats.org/markup-compatibility/2006">
                <mc:Choice xmlns:v="urn:schemas-microsoft-com:vml" Requires="v">
                  <p:oleObj spid="_x0000_s17541" name="Equation" r:id="rId3" imgW="1511300" imgH="279400" progId="Equation.DSMT4">
                    <p:embed/>
                  </p:oleObj>
                </mc:Choice>
                <mc:Fallback>
                  <p:oleObj name="Equation" r:id="rId3" imgW="1511300" imgH="2794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1052736"/>
                          <a:ext cx="15113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0" name="对象 4"/>
            <p:cNvGraphicFramePr>
              <a:graphicFrameLocks noChangeAspect="1"/>
            </p:cNvGraphicFramePr>
            <p:nvPr/>
          </p:nvGraphicFramePr>
          <p:xfrm>
            <a:off x="1475656" y="2132856"/>
            <a:ext cx="1625600" cy="292100"/>
          </p:xfrm>
          <a:graphic>
            <a:graphicData uri="http://schemas.openxmlformats.org/presentationml/2006/ole">
              <mc:AlternateContent xmlns:mc="http://schemas.openxmlformats.org/markup-compatibility/2006">
                <mc:Choice xmlns:v="urn:schemas-microsoft-com:vml" Requires="v">
                  <p:oleObj spid="_x0000_s17542" name="Equation" r:id="rId5" imgW="1625600" imgH="292100" progId="Equation.DSMT4">
                    <p:embed/>
                  </p:oleObj>
                </mc:Choice>
                <mc:Fallback>
                  <p:oleObj name="Equation" r:id="rId5" imgW="1625600" imgH="292100"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5656" y="2132856"/>
                          <a:ext cx="16256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1" name="对象 5"/>
            <p:cNvGraphicFramePr>
              <a:graphicFrameLocks noChangeAspect="1"/>
            </p:cNvGraphicFramePr>
            <p:nvPr/>
          </p:nvGraphicFramePr>
          <p:xfrm>
            <a:off x="7812360" y="1586706"/>
            <a:ext cx="876300" cy="279400"/>
          </p:xfrm>
          <a:graphic>
            <a:graphicData uri="http://schemas.openxmlformats.org/presentationml/2006/ole">
              <mc:AlternateContent xmlns:mc="http://schemas.openxmlformats.org/markup-compatibility/2006">
                <mc:Choice xmlns:v="urn:schemas-microsoft-com:vml" Requires="v">
                  <p:oleObj spid="_x0000_s17543" name="Equation" r:id="rId7" imgW="876300" imgH="279400" progId="Equation.DSMT4">
                    <p:embed/>
                  </p:oleObj>
                </mc:Choice>
                <mc:Fallback>
                  <p:oleObj name="Equation" r:id="rId7" imgW="876300" imgH="279400" progId="Equation.DSMT4">
                    <p:embed/>
                    <p:pic>
                      <p:nvPicPr>
                        <p:cNvPr id="0"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360" y="1586706"/>
                          <a:ext cx="8763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197"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FF654797-6F3F-4BCC-BD96-DBC0D1F59E64}" type="slidenum">
              <a:rPr kumimoji="0" lang="en-US" altLang="zh-CN" sz="1000">
                <a:latin typeface="Arial" panose="020B0604020202020204" pitchFamily="34" charset="0"/>
                <a:ea typeface="微软雅黑" panose="020B0503020204020204" pitchFamily="34" charset="-122"/>
              </a:rPr>
              <a:t>44</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arn(inVertical)">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blinds(horizontal)">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blinds(horizontal)">
                                      <p:cBhvr>
                                        <p:cTn id="2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1"/>
          <p:cNvSpPr>
            <a:spLocks noChangeArrowheads="1"/>
          </p:cNvSpPr>
          <p:nvPr/>
        </p:nvSpPr>
        <p:spPr bwMode="auto">
          <a:xfrm>
            <a:off x="0" y="0"/>
            <a:ext cx="6419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b="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2-3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将如下的线性规划问题转换为标准型：</a:t>
            </a:r>
          </a:p>
        </p:txBody>
      </p:sp>
      <p:sp>
        <p:nvSpPr>
          <p:cNvPr id="3" name="矩形 2"/>
          <p:cNvSpPr>
            <a:spLocks noChangeArrowheads="1"/>
          </p:cNvSpPr>
          <p:nvPr/>
        </p:nvSpPr>
        <p:spPr bwMode="auto">
          <a:xfrm>
            <a:off x="323850" y="3357563"/>
            <a:ext cx="4033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上述数学模型</a:t>
            </a:r>
            <a:r>
              <a:rPr kumimoji="0" lang="en-US" altLang="zh-CN" b="1">
                <a:latin typeface="仿宋" panose="02010609060101010101" pitchFamily="49" charset="-122"/>
                <a:ea typeface="仿宋" panose="02010609060101010101" pitchFamily="49" charset="-122"/>
                <a:cs typeface="Times New Roman" panose="02020603050405020304" pitchFamily="18" charset="0"/>
              </a:rPr>
              <a:t>,</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加松驰变量后</a:t>
            </a:r>
          </a:p>
        </p:txBody>
      </p:sp>
      <p:graphicFrame>
        <p:nvGraphicFramePr>
          <p:cNvPr id="55298" name="Object 2"/>
          <p:cNvGraphicFramePr>
            <a:graphicFrameLocks noChangeAspect="1"/>
          </p:cNvGraphicFramePr>
          <p:nvPr/>
        </p:nvGraphicFramePr>
        <p:xfrm>
          <a:off x="484188" y="3962400"/>
          <a:ext cx="7720012" cy="2863850"/>
        </p:xfrm>
        <a:graphic>
          <a:graphicData uri="http://schemas.openxmlformats.org/presentationml/2006/ole">
            <mc:AlternateContent xmlns:mc="http://schemas.openxmlformats.org/markup-compatibility/2006">
              <mc:Choice xmlns:v="urn:schemas-microsoft-com:vml" Requires="v">
                <p:oleObj spid="_x0000_s18522" name="Equation" r:id="rId3" imgW="3390900" imgH="1168400" progId="Equation.DSMT4">
                  <p:embed/>
                </p:oleObj>
              </mc:Choice>
              <mc:Fallback>
                <p:oleObj name="Equation" r:id="rId3" imgW="3390900" imgH="1168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88" y="3962400"/>
                        <a:ext cx="7720012"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1" name="Object 3"/>
          <p:cNvGraphicFramePr>
            <a:graphicFrameLocks noChangeAspect="1"/>
          </p:cNvGraphicFramePr>
          <p:nvPr/>
        </p:nvGraphicFramePr>
        <p:xfrm>
          <a:off x="323850" y="573088"/>
          <a:ext cx="2895600" cy="2563812"/>
        </p:xfrm>
        <a:graphic>
          <a:graphicData uri="http://schemas.openxmlformats.org/presentationml/2006/ole">
            <mc:AlternateContent xmlns:mc="http://schemas.openxmlformats.org/markup-compatibility/2006">
              <mc:Choice xmlns:v="urn:schemas-microsoft-com:vml" Requires="v">
                <p:oleObj spid="_x0000_s18523" name="Equation" r:id="rId5" imgW="1104900" imgH="1168400" progId="Equation.DSMT4">
                  <p:embed/>
                </p:oleObj>
              </mc:Choice>
              <mc:Fallback>
                <p:oleObj name="Equation" r:id="rId5" imgW="1104900" imgH="11684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573088"/>
                        <a:ext cx="2895600" cy="256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1"/>
          <p:cNvSpPr>
            <a:spLocks noChangeArrowheads="1"/>
          </p:cNvSpPr>
          <p:nvPr/>
        </p:nvSpPr>
        <p:spPr bwMode="auto">
          <a:xfrm>
            <a:off x="3563938" y="765175"/>
            <a:ext cx="5472112" cy="1200150"/>
          </a:xfrm>
          <a:prstGeom prst="rect">
            <a:avLst/>
          </a:prstGeom>
          <a:noFill/>
          <a:ln w="9525">
            <a:solidFill>
              <a:schemeClr val="tx1"/>
            </a:solidFill>
            <a:prstDash val="lgDashDotDot"/>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所加松弛变量</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3</a:t>
            </a:r>
            <a:r>
              <a:rPr kumimoji="0" lang="en-US" altLang="zh-CN"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5</a:t>
            </a:r>
            <a:r>
              <a:rPr kumimoji="0" lang="en-US" altLang="zh-CN" b="1"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表示没有被利用的资源。当然也没有利润</a:t>
            </a:r>
            <a:r>
              <a:rPr kumimoji="0" lang="en-US" altLang="zh-CN" b="1" dirty="0">
                <a:solidFill>
                  <a:srgbClr val="0066FF"/>
                </a:solidFill>
                <a:latin typeface="宋体" panose="02010600030101010101" pitchFamily="2" charset="-122"/>
                <a:cs typeface="Times New Roman" panose="02020603050405020304" pitchFamily="18" charset="0"/>
              </a:rPr>
              <a:t>, </a:t>
            </a:r>
            <a:r>
              <a:rPr kumimoji="0" lang="zh-CN" altLang="en-US" b="1"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在目标函数中其系数应为零</a:t>
            </a:r>
            <a:r>
              <a:rPr kumimoji="0" lang="en-US" altLang="zh-CN" b="1" dirty="0">
                <a:solidFill>
                  <a:srgbClr val="0066FF"/>
                </a:solidFill>
                <a:latin typeface="宋体" panose="02010600030101010101" pitchFamily="2" charset="-122"/>
                <a:cs typeface="Times New Roman" panose="02020603050405020304" pitchFamily="18" charset="0"/>
              </a:rPr>
              <a:t>, </a:t>
            </a:r>
            <a:r>
              <a:rPr kumimoji="0" lang="zh-CN" altLang="en-US" b="1"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即</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c</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3</a:t>
            </a:r>
            <a:r>
              <a:rPr kumimoji="0" lang="en-US" altLang="zh-CN"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c</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b="1"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c</a:t>
            </a:r>
            <a:r>
              <a:rPr kumimoji="0" lang="en-US" altLang="zh-CN" b="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5</a:t>
            </a:r>
            <a:r>
              <a:rPr kumimoji="0" lang="en-US" altLang="zh-CN"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 = 0</a:t>
            </a:r>
            <a:endParaRPr kumimoji="0" lang="zh-CN" altLang="en-US"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223"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B6A411FB-832C-484C-A822-0AE94C43E6E3}" type="slidenum">
              <a:rPr kumimoji="0" lang="en-US" altLang="zh-CN" sz="1000">
                <a:latin typeface="Arial" panose="020B0604020202020204" pitchFamily="34" charset="0"/>
                <a:ea typeface="微软雅黑" panose="020B0503020204020204" pitchFamily="34" charset="-122"/>
              </a:rPr>
              <a:t>45</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5298"/>
                                        </p:tgtEl>
                                        <p:attrNameLst>
                                          <p:attrName>style.visibility</p:attrName>
                                        </p:attrNameLst>
                                      </p:cBhvr>
                                      <p:to>
                                        <p:strVal val="visible"/>
                                      </p:to>
                                    </p:set>
                                    <p:animEffect transition="in" filter="fade">
                                      <p:cBhvr>
                                        <p:cTn id="12" dur="1000"/>
                                        <p:tgtEl>
                                          <p:spTgt spid="55298"/>
                                        </p:tgtEl>
                                      </p:cBhvr>
                                    </p:animEffect>
                                    <p:anim calcmode="lin" valueType="num">
                                      <p:cBhvr>
                                        <p:cTn id="13" dur="1000" fill="hold"/>
                                        <p:tgtEl>
                                          <p:spTgt spid="55298"/>
                                        </p:tgtEl>
                                        <p:attrNameLst>
                                          <p:attrName>ppt_x</p:attrName>
                                        </p:attrNameLst>
                                      </p:cBhvr>
                                      <p:tavLst>
                                        <p:tav tm="0">
                                          <p:val>
                                            <p:strVal val="#ppt_x"/>
                                          </p:val>
                                        </p:tav>
                                        <p:tav tm="100000">
                                          <p:val>
                                            <p:strVal val="#ppt_x"/>
                                          </p:val>
                                        </p:tav>
                                      </p:tavLst>
                                    </p:anim>
                                    <p:anim calcmode="lin" valueType="num">
                                      <p:cBhvr>
                                        <p:cTn id="14" dur="1000" fill="hold"/>
                                        <p:tgtEl>
                                          <p:spTgt spid="5529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250825" y="1516063"/>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chemeClr val="hlink"/>
                </a:solidFill>
                <a:latin typeface="微软雅黑" panose="020B0503020204020204" pitchFamily="34" charset="-122"/>
                <a:ea typeface="微软雅黑" panose="020B0503020204020204" pitchFamily="34" charset="-122"/>
              </a:rPr>
              <a:t>任何形式的数学模型都可化为标准型</a:t>
            </a:r>
            <a:r>
              <a:rPr kumimoji="0" lang="zh-CN" altLang="en-US" b="1" dirty="0">
                <a:solidFill>
                  <a:schemeClr val="hlink"/>
                </a:solidFill>
                <a:latin typeface="宋体" panose="02010600030101010101" pitchFamily="2" charset="-122"/>
              </a:rPr>
              <a:t>，</a:t>
            </a:r>
            <a:r>
              <a:rPr kumimoji="0" lang="zh-CN" altLang="en-US" b="1" dirty="0">
                <a:solidFill>
                  <a:schemeClr val="hlink"/>
                </a:solidFill>
                <a:latin typeface="微软雅黑" panose="020B0503020204020204" pitchFamily="34" charset="-122"/>
                <a:ea typeface="微软雅黑" panose="020B0503020204020204" pitchFamily="34" charset="-122"/>
              </a:rPr>
              <a:t>下面举例说明</a:t>
            </a:r>
          </a:p>
        </p:txBody>
      </p:sp>
      <p:sp>
        <p:nvSpPr>
          <p:cNvPr id="7" name="矩形 6"/>
          <p:cNvSpPr>
            <a:spLocks noChangeArrowheads="1"/>
          </p:cNvSpPr>
          <p:nvPr/>
        </p:nvSpPr>
        <p:spPr bwMode="auto">
          <a:xfrm>
            <a:off x="250825" y="2219325"/>
            <a:ext cx="6535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zh-CN" altLang="en-US" b="1">
                <a:solidFill>
                  <a:srgbClr val="FF0000"/>
                </a:solidFill>
                <a:latin typeface="微软雅黑" panose="020B0503020204020204" pitchFamily="34" charset="-122"/>
                <a:ea typeface="微软雅黑" panose="020B0503020204020204" pitchFamily="34" charset="-122"/>
              </a:rPr>
              <a:t>例</a:t>
            </a:r>
            <a:r>
              <a:rPr kumimoji="0" lang="en-US" altLang="zh-CN" b="1">
                <a:solidFill>
                  <a:srgbClr val="FF0000"/>
                </a:solidFill>
                <a:latin typeface="微软雅黑" panose="020B0503020204020204" pitchFamily="34" charset="-122"/>
                <a:ea typeface="微软雅黑" panose="020B0503020204020204" pitchFamily="34" charset="-122"/>
              </a:rPr>
              <a:t>2-4  </a:t>
            </a:r>
            <a:r>
              <a:rPr kumimoji="0" lang="zh-CN" altLang="en-US" b="1">
                <a:solidFill>
                  <a:schemeClr val="folHlink"/>
                </a:solidFill>
                <a:latin typeface="微软雅黑" panose="020B0503020204020204" pitchFamily="34" charset="-122"/>
                <a:ea typeface="微软雅黑" panose="020B0503020204020204" pitchFamily="34" charset="-122"/>
              </a:rPr>
              <a:t>将下述线性规划问题化为标准型</a:t>
            </a:r>
            <a:endParaRPr kumimoji="0" lang="en-US" altLang="zh-CN" b="1">
              <a:solidFill>
                <a:schemeClr val="folHlink"/>
              </a:solidFill>
              <a:latin typeface="微软雅黑" panose="020B0503020204020204" pitchFamily="34" charset="-122"/>
              <a:ea typeface="微软雅黑" panose="020B0503020204020204" pitchFamily="34" charset="-122"/>
            </a:endParaRPr>
          </a:p>
        </p:txBody>
      </p:sp>
      <p:grpSp>
        <p:nvGrpSpPr>
          <p:cNvPr id="10244" name="组合 2"/>
          <p:cNvGrpSpPr/>
          <p:nvPr/>
        </p:nvGrpSpPr>
        <p:grpSpPr bwMode="auto">
          <a:xfrm>
            <a:off x="250825" y="255588"/>
            <a:ext cx="8351838" cy="1179512"/>
            <a:chOff x="323850" y="260350"/>
            <a:chExt cx="8351838" cy="1179210"/>
          </a:xfrm>
        </p:grpSpPr>
        <p:sp>
          <p:nvSpPr>
            <p:cNvPr id="10249" name="矩形 2"/>
            <p:cNvSpPr>
              <a:spLocks noChangeArrowheads="1"/>
            </p:cNvSpPr>
            <p:nvPr/>
          </p:nvSpPr>
          <p:spPr bwMode="auto">
            <a:xfrm>
              <a:off x="323850" y="260350"/>
              <a:ext cx="8351838" cy="113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(3)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若存在取值无约束的变量</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可令                      </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50000"/>
                </a:lnSpc>
              </a:pP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      其中                      </a:t>
              </a:r>
            </a:p>
          </p:txBody>
        </p:sp>
        <p:graphicFrame>
          <p:nvGraphicFramePr>
            <p:cNvPr id="10250" name="Object 2"/>
            <p:cNvGraphicFramePr>
              <a:graphicFrameLocks noChangeAspect="1"/>
            </p:cNvGraphicFramePr>
            <p:nvPr/>
          </p:nvGraphicFramePr>
          <p:xfrm>
            <a:off x="5220072" y="316555"/>
            <a:ext cx="1639887" cy="546100"/>
          </p:xfrm>
          <a:graphic>
            <a:graphicData uri="http://schemas.openxmlformats.org/presentationml/2006/ole">
              <mc:AlternateContent xmlns:mc="http://schemas.openxmlformats.org/markup-compatibility/2006">
                <mc:Choice xmlns:v="urn:schemas-microsoft-com:vml" Requires="v">
                  <p:oleObj spid="_x0000_s19675" name="Equation" r:id="rId3" imgW="736600" imgH="241300" progId="Equation.DSMT4">
                    <p:embed/>
                  </p:oleObj>
                </mc:Choice>
                <mc:Fallback>
                  <p:oleObj name="Equation" r:id="rId3" imgW="736600" imgH="2413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316555"/>
                          <a:ext cx="16398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1" name="Object 3"/>
            <p:cNvGraphicFramePr>
              <a:graphicFrameLocks noChangeAspect="1"/>
            </p:cNvGraphicFramePr>
            <p:nvPr/>
          </p:nvGraphicFramePr>
          <p:xfrm>
            <a:off x="1504950" y="896635"/>
            <a:ext cx="1524000" cy="542925"/>
          </p:xfrm>
          <a:graphic>
            <a:graphicData uri="http://schemas.openxmlformats.org/presentationml/2006/ole">
              <mc:AlternateContent xmlns:mc="http://schemas.openxmlformats.org/markup-compatibility/2006">
                <mc:Choice xmlns:v="urn:schemas-microsoft-com:vml" Requires="v">
                  <p:oleObj spid="_x0000_s19676" r:id="rId5" imgW="685800" imgH="241300" progId="Equation.3">
                    <p:embed/>
                  </p:oleObj>
                </mc:Choice>
                <mc:Fallback>
                  <p:oleObj r:id="rId5" imgW="6858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4950" y="896635"/>
                          <a:ext cx="15240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2" name="对象 1"/>
            <p:cNvGraphicFramePr>
              <a:graphicFrameLocks noChangeAspect="1"/>
            </p:cNvGraphicFramePr>
            <p:nvPr/>
          </p:nvGraphicFramePr>
          <p:xfrm>
            <a:off x="4239259" y="435895"/>
            <a:ext cx="279400" cy="381000"/>
          </p:xfrm>
          <a:graphic>
            <a:graphicData uri="http://schemas.openxmlformats.org/presentationml/2006/ole">
              <mc:AlternateContent xmlns:mc="http://schemas.openxmlformats.org/markup-compatibility/2006">
                <mc:Choice xmlns:v="urn:schemas-microsoft-com:vml" Requires="v">
                  <p:oleObj spid="_x0000_s19677" name="Equation" r:id="rId7" imgW="279400" imgH="381000" progId="Equation.DSMT4">
                    <p:embed/>
                  </p:oleObj>
                </mc:Choice>
                <mc:Fallback>
                  <p:oleObj name="Equation" r:id="rId7" imgW="279400" imgH="381000" progId="Equation.DSMT4">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9259" y="435895"/>
                          <a:ext cx="279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 name="对象 3"/>
          <p:cNvGraphicFramePr>
            <a:graphicFrameLocks noChangeAspect="1"/>
          </p:cNvGraphicFramePr>
          <p:nvPr/>
        </p:nvGraphicFramePr>
        <p:xfrm>
          <a:off x="2843213" y="2997200"/>
          <a:ext cx="3867150" cy="3162300"/>
        </p:xfrm>
        <a:graphic>
          <a:graphicData uri="http://schemas.openxmlformats.org/presentationml/2006/ole">
            <mc:AlternateContent xmlns:mc="http://schemas.openxmlformats.org/markup-compatibility/2006">
              <mc:Choice xmlns:v="urn:schemas-microsoft-com:vml" Requires="v">
                <p:oleObj spid="_x0000_s19678" name="Equation" r:id="rId9" imgW="2794000" imgH="2286000" progId="Equation.DSMT4">
                  <p:embed/>
                </p:oleObj>
              </mc:Choice>
              <mc:Fallback>
                <p:oleObj name="Equation" r:id="rId9" imgW="2794000" imgH="2286000" progId="Equation.DSMT4">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3213" y="2997200"/>
                        <a:ext cx="38671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nvSpPr>
        <p:spPr bwMode="auto">
          <a:xfrm>
            <a:off x="5203825" y="5635625"/>
            <a:ext cx="1744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zh-CN" altLang="en-US" b="1">
                <a:latin typeface="微软雅黑" panose="020B0503020204020204" pitchFamily="34" charset="-122"/>
                <a:ea typeface="微软雅黑" panose="020B0503020204020204" pitchFamily="34" charset="-122"/>
              </a:rPr>
              <a:t>为无约束</a:t>
            </a:r>
            <a:endParaRPr kumimoji="0" lang="en-US" altLang="zh-CN" b="1">
              <a:latin typeface="微软雅黑" panose="020B0503020204020204" pitchFamily="34" charset="-122"/>
              <a:ea typeface="微软雅黑" panose="020B0503020204020204" pitchFamily="34" charset="-122"/>
            </a:endParaRPr>
          </a:p>
        </p:txBody>
      </p:sp>
      <p:graphicFrame>
        <p:nvGraphicFramePr>
          <p:cNvPr id="5" name="对象 4"/>
          <p:cNvGraphicFramePr>
            <a:graphicFrameLocks noChangeAspect="1"/>
          </p:cNvGraphicFramePr>
          <p:nvPr/>
        </p:nvGraphicFramePr>
        <p:xfrm>
          <a:off x="4816475" y="5500688"/>
          <a:ext cx="460375" cy="658812"/>
        </p:xfrm>
        <a:graphic>
          <a:graphicData uri="http://schemas.openxmlformats.org/presentationml/2006/ole">
            <mc:AlternateContent xmlns:mc="http://schemas.openxmlformats.org/markup-compatibility/2006">
              <mc:Choice xmlns:v="urn:schemas-microsoft-com:vml" Requires="v">
                <p:oleObj spid="_x0000_s19679" name="Equation" r:id="rId11" imgW="266700" imgH="381000" progId="Equation.DSMT4">
                  <p:embed/>
                </p:oleObj>
              </mc:Choice>
              <mc:Fallback>
                <p:oleObj name="Equation" r:id="rId11" imgW="266700" imgH="381000" progId="Equation.DSMT4">
                  <p:embed/>
                  <p:pic>
                    <p:nvPicPr>
                      <p:cNvPr id="0" name="对象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6475" y="5500688"/>
                        <a:ext cx="460375"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B6088517-84F7-4980-A80E-15FFF89D7774}" type="slidenum">
              <a:rPr kumimoji="0" lang="en-US" altLang="zh-CN" sz="1000">
                <a:latin typeface="Arial" panose="020B0604020202020204" pitchFamily="34" charset="0"/>
                <a:ea typeface="微软雅黑" panose="020B0503020204020204" pitchFamily="34" charset="-122"/>
              </a:rPr>
              <a:t>46</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8"/>
          <p:cNvSpPr>
            <a:spLocks noChangeArrowheads="1"/>
          </p:cNvSpPr>
          <p:nvPr/>
        </p:nvSpPr>
        <p:spPr bwMode="auto">
          <a:xfrm>
            <a:off x="5508625" y="4763"/>
            <a:ext cx="3635375" cy="243522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 name="矩形 1"/>
          <p:cNvSpPr>
            <a:spLocks noChangeArrowheads="1"/>
          </p:cNvSpPr>
          <p:nvPr/>
        </p:nvSpPr>
        <p:spPr bwMode="auto">
          <a:xfrm>
            <a:off x="74613" y="204946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solidFill>
                  <a:schemeClr val="folHlink"/>
                </a:solidFill>
                <a:latin typeface="微软雅黑" panose="020B0503020204020204" pitchFamily="34" charset="-122"/>
                <a:ea typeface="微软雅黑" panose="020B0503020204020204" pitchFamily="34" charset="-122"/>
              </a:rPr>
              <a:t>处理的步骤：</a:t>
            </a:r>
          </a:p>
        </p:txBody>
      </p:sp>
      <p:sp>
        <p:nvSpPr>
          <p:cNvPr id="3" name="矩形 2"/>
          <p:cNvSpPr>
            <a:spLocks noChangeArrowheads="1"/>
          </p:cNvSpPr>
          <p:nvPr/>
        </p:nvSpPr>
        <p:spPr bwMode="auto">
          <a:xfrm>
            <a:off x="107950" y="2492375"/>
            <a:ext cx="9144000" cy="15700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(1)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用</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替换</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其中</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5</a:t>
            </a:r>
            <a:r>
              <a:rPr kumimoji="0" lang="en-US" altLang="zh-CN" b="1" i="1" baseline="-3000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≥0</a:t>
            </a:r>
            <a:endParaRPr kumimoji="0" lang="zh-CN" altLang="en-US" b="1">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在第一个约束不等式≤号的左端</a:t>
            </a:r>
            <a:r>
              <a:rPr kumimoji="0" lang="zh-CN" altLang="en-US" b="1">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加入</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松弛变量</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6</a:t>
            </a:r>
            <a:endParaRPr kumimoji="0" lang="zh-CN" altLang="en-US" b="1">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(3)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在第二个约束不等式≥号的左端</a:t>
            </a:r>
            <a:r>
              <a:rPr kumimoji="0" lang="zh-CN" altLang="en-US" b="1">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减去</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剩余变量</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7</a:t>
            </a:r>
            <a:endParaRPr kumimoji="0" lang="zh-CN" altLang="en-US" b="1">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(4)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令</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z′= -z</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把求</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min z </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改为求</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max z′</a:t>
            </a:r>
            <a:r>
              <a:rPr kumimoji="0" lang="zh-CN" altLang="en-US" b="1">
                <a:latin typeface="仿宋" panose="02010609060101010101" pitchFamily="49" charset="-122"/>
                <a:ea typeface="仿宋" panose="02010609060101010101" pitchFamily="49" charset="-122"/>
                <a:cs typeface="Times New Roman" panose="02020603050405020304" pitchFamily="18" charset="0"/>
              </a:rPr>
              <a:t>，</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即可得到该问题的标准型</a:t>
            </a:r>
          </a:p>
        </p:txBody>
      </p:sp>
      <p:graphicFrame>
        <p:nvGraphicFramePr>
          <p:cNvPr id="61442" name="Object 2"/>
          <p:cNvGraphicFramePr>
            <a:graphicFrameLocks noChangeAspect="1"/>
          </p:cNvGraphicFramePr>
          <p:nvPr/>
        </p:nvGraphicFramePr>
        <p:xfrm>
          <a:off x="1803400" y="4089400"/>
          <a:ext cx="6327775" cy="2768600"/>
        </p:xfrm>
        <a:graphic>
          <a:graphicData uri="http://schemas.openxmlformats.org/presentationml/2006/ole">
            <mc:AlternateContent xmlns:mc="http://schemas.openxmlformats.org/markup-compatibility/2006">
              <mc:Choice xmlns:v="urn:schemas-microsoft-com:vml" Requires="v">
                <p:oleObj spid="_x0000_s20613" name="Equation" r:id="rId3" imgW="2463800" imgH="1193800" progId="Equation.DSMT4">
                  <p:embed/>
                </p:oleObj>
              </mc:Choice>
              <mc:Fallback>
                <p:oleObj name="Equation" r:id="rId3" imgW="2463800" imgH="11938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089400"/>
                        <a:ext cx="6327775"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0" name="对象 5"/>
          <p:cNvGraphicFramePr>
            <a:graphicFrameLocks noChangeAspect="1"/>
          </p:cNvGraphicFramePr>
          <p:nvPr/>
        </p:nvGraphicFramePr>
        <p:xfrm>
          <a:off x="6216650" y="0"/>
          <a:ext cx="2917825" cy="2406650"/>
        </p:xfrm>
        <a:graphic>
          <a:graphicData uri="http://schemas.openxmlformats.org/presentationml/2006/ole">
            <mc:AlternateContent xmlns:mc="http://schemas.openxmlformats.org/markup-compatibility/2006">
              <mc:Choice xmlns:v="urn:schemas-microsoft-com:vml" Requires="v">
                <p:oleObj spid="_x0000_s20614" name="Equation" r:id="rId5" imgW="2108200" imgH="1739900" progId="Equation.DSMT4">
                  <p:embed/>
                </p:oleObj>
              </mc:Choice>
              <mc:Fallback>
                <p:oleObj name="Equation" r:id="rId5" imgW="2108200" imgH="17399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6650" y="0"/>
                        <a:ext cx="2917825"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1" name="矩形 6"/>
          <p:cNvSpPr>
            <a:spLocks noChangeArrowheads="1"/>
          </p:cNvSpPr>
          <p:nvPr/>
        </p:nvSpPr>
        <p:spPr bwMode="auto">
          <a:xfrm>
            <a:off x="7921625" y="1970088"/>
            <a:ext cx="17462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zh-CN" altLang="en-US" sz="2000" b="1">
                <a:latin typeface="微软雅黑" panose="020B0503020204020204" pitchFamily="34" charset="-122"/>
                <a:ea typeface="微软雅黑" panose="020B0503020204020204" pitchFamily="34" charset="-122"/>
              </a:rPr>
              <a:t>为无约束</a:t>
            </a:r>
            <a:endParaRPr kumimoji="0" lang="en-US" altLang="zh-CN" sz="2000" b="1">
              <a:latin typeface="微软雅黑" panose="020B0503020204020204" pitchFamily="34" charset="-122"/>
              <a:ea typeface="微软雅黑" panose="020B0503020204020204" pitchFamily="34" charset="-122"/>
            </a:endParaRPr>
          </a:p>
        </p:txBody>
      </p:sp>
      <p:graphicFrame>
        <p:nvGraphicFramePr>
          <p:cNvPr id="11272" name="对象 7"/>
          <p:cNvGraphicFramePr>
            <a:graphicFrameLocks noChangeAspect="1"/>
          </p:cNvGraphicFramePr>
          <p:nvPr/>
        </p:nvGraphicFramePr>
        <p:xfrm>
          <a:off x="7654925" y="1954213"/>
          <a:ext cx="266700" cy="381000"/>
        </p:xfrm>
        <a:graphic>
          <a:graphicData uri="http://schemas.openxmlformats.org/presentationml/2006/ole">
            <mc:AlternateContent xmlns:mc="http://schemas.openxmlformats.org/markup-compatibility/2006">
              <mc:Choice xmlns:v="urn:schemas-microsoft-com:vml" Requires="v">
                <p:oleObj spid="_x0000_s20615" name="Equation" r:id="rId7" imgW="266700" imgH="381000" progId="Equation.DSMT4">
                  <p:embed/>
                </p:oleObj>
              </mc:Choice>
              <mc:Fallback>
                <p:oleObj name="Equation" r:id="rId7" imgW="266700" imgH="38100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4925" y="1954213"/>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3" name="灯片编号占位符 5"/>
          <p:cNvSpPr txBox="1"/>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F06A45B2-CAB2-4928-8C7C-7B2CBD28011C}" type="slidenum">
              <a:rPr kumimoji="0" lang="en-US" altLang="zh-CN" sz="1000">
                <a:latin typeface="Arial" panose="020B0604020202020204" pitchFamily="34" charset="0"/>
                <a:ea typeface="微软雅黑" panose="020B0503020204020204" pitchFamily="34" charset="-122"/>
              </a:rPr>
              <a:t>47</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dissolv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dissolv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dissolv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dissolv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1442"/>
                                        </p:tgtEl>
                                        <p:attrNameLst>
                                          <p:attrName>style.visibility</p:attrName>
                                        </p:attrNameLst>
                                      </p:cBhvr>
                                      <p:to>
                                        <p:strVal val="visible"/>
                                      </p:to>
                                    </p:set>
                                    <p:animEffect transition="in" filter="fade">
                                      <p:cBhvr>
                                        <p:cTn id="31" dur="1000"/>
                                        <p:tgtEl>
                                          <p:spTgt spid="61442"/>
                                        </p:tgtEl>
                                      </p:cBhvr>
                                    </p:animEffect>
                                    <p:anim calcmode="lin" valueType="num">
                                      <p:cBhvr>
                                        <p:cTn id="32" dur="1000" fill="hold"/>
                                        <p:tgtEl>
                                          <p:spTgt spid="61442"/>
                                        </p:tgtEl>
                                        <p:attrNameLst>
                                          <p:attrName>ppt_x</p:attrName>
                                        </p:attrNameLst>
                                      </p:cBhvr>
                                      <p:tavLst>
                                        <p:tav tm="0">
                                          <p:val>
                                            <p:strVal val="#ppt_x"/>
                                          </p:val>
                                        </p:tav>
                                        <p:tav tm="100000">
                                          <p:val>
                                            <p:strVal val="#ppt_x"/>
                                          </p:val>
                                        </p:tav>
                                      </p:tavLst>
                                    </p:anim>
                                    <p:anim calcmode="lin" valueType="num">
                                      <p:cBhvr>
                                        <p:cTn id="33" dur="1000" fill="hold"/>
                                        <p:tgtEl>
                                          <p:spTgt spid="614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2</a:t>
            </a:r>
            <a:r>
              <a:rPr kumimoji="0" lang="zh-CN" altLang="en-US" sz="3200" b="1">
                <a:solidFill>
                  <a:srgbClr val="FF0000"/>
                </a:solidFill>
                <a:latin typeface="微软雅黑" panose="020B0503020204020204" pitchFamily="34" charset="-122"/>
                <a:ea typeface="微软雅黑" panose="020B0503020204020204" pitchFamily="34" charset="-122"/>
              </a:rPr>
              <a:t>章  线性规划</a:t>
            </a:r>
          </a:p>
        </p:txBody>
      </p:sp>
      <p:sp>
        <p:nvSpPr>
          <p:cNvPr id="5125" name="Rectangle 3"/>
          <p:cNvSpPr txBox="1">
            <a:spLocks noChangeArrowheads="1"/>
          </p:cNvSpPr>
          <p:nvPr/>
        </p:nvSpPr>
        <p:spPr bwMode="auto">
          <a:xfrm>
            <a:off x="1295400" y="1557338"/>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1</a:t>
            </a:r>
            <a:r>
              <a:rPr lang="zh-CN" altLang="en-US" sz="2800" b="1">
                <a:solidFill>
                  <a:schemeClr val="folHlink"/>
                </a:solidFill>
                <a:latin typeface="微软雅黑" panose="020B0503020204020204" pitchFamily="34" charset="-122"/>
                <a:ea typeface="微软雅黑" panose="020B0503020204020204" pitchFamily="34" charset="-122"/>
              </a:rPr>
              <a:t>节   线性规划的数学模型</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2</a:t>
            </a:r>
            <a:r>
              <a:rPr lang="zh-CN" altLang="en-US" sz="2800" b="1">
                <a:solidFill>
                  <a:schemeClr val="folHlink"/>
                </a:solidFill>
                <a:latin typeface="微软雅黑" panose="020B0503020204020204" pitchFamily="34" charset="-122"/>
                <a:ea typeface="微软雅黑" panose="020B0503020204020204" pitchFamily="34" charset="-122"/>
              </a:rPr>
              <a:t>节   线性规划的标准型</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pPr>
            <a:r>
              <a:rPr lang="zh-CN" altLang="en-US" sz="2800" b="1">
                <a:solidFill>
                  <a:srgbClr val="FF0000"/>
                </a:solidFill>
                <a:latin typeface="微软雅黑" panose="020B0503020204020204" pitchFamily="34" charset="-122"/>
                <a:ea typeface="微软雅黑" panose="020B0503020204020204" pitchFamily="34" charset="-122"/>
              </a:rPr>
              <a:t>第</a:t>
            </a:r>
            <a:r>
              <a:rPr lang="en-US" altLang="zh-CN" sz="2800" b="1">
                <a:solidFill>
                  <a:srgbClr val="FF0000"/>
                </a:solidFill>
                <a:latin typeface="微软雅黑" panose="020B0503020204020204" pitchFamily="34" charset="-122"/>
                <a:ea typeface="微软雅黑" panose="020B0503020204020204" pitchFamily="34" charset="-122"/>
              </a:rPr>
              <a:t>3</a:t>
            </a:r>
            <a:r>
              <a:rPr lang="zh-CN" altLang="en-US" sz="2800" b="1">
                <a:solidFill>
                  <a:srgbClr val="FF0000"/>
                </a:solidFill>
                <a:latin typeface="微软雅黑" panose="020B0503020204020204" pitchFamily="34" charset="-122"/>
                <a:ea typeface="微软雅黑" panose="020B0503020204020204" pitchFamily="34" charset="-122"/>
              </a:rPr>
              <a:t>节   线性规划的图解法</a:t>
            </a:r>
            <a:endParaRPr lang="en-US" altLang="zh-CN" sz="2800" b="1">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4</a:t>
            </a:r>
            <a:r>
              <a:rPr lang="zh-CN" altLang="en-US" sz="2800" b="1">
                <a:solidFill>
                  <a:schemeClr val="folHlink"/>
                </a:solidFill>
                <a:latin typeface="微软雅黑" panose="020B0503020204020204" pitchFamily="34" charset="-122"/>
                <a:ea typeface="微软雅黑" panose="020B0503020204020204" pitchFamily="34" charset="-122"/>
              </a:rPr>
              <a:t>节   线性规划问题解的性质</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5</a:t>
            </a:r>
            <a:r>
              <a:rPr lang="zh-CN" altLang="en-US" sz="2800" b="1">
                <a:solidFill>
                  <a:schemeClr val="folHlink"/>
                </a:solidFill>
                <a:latin typeface="微软雅黑" panose="020B0503020204020204" pitchFamily="34" charset="-122"/>
                <a:ea typeface="微软雅黑" panose="020B0503020204020204" pitchFamily="34" charset="-122"/>
              </a:rPr>
              <a:t>节   求解线性规划的单纯形法</a:t>
            </a: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6</a:t>
            </a:r>
            <a:r>
              <a:rPr lang="zh-CN" altLang="en-US" sz="2800" b="1">
                <a:solidFill>
                  <a:schemeClr val="folHlink"/>
                </a:solidFill>
                <a:latin typeface="微软雅黑" panose="020B0503020204020204" pitchFamily="34" charset="-122"/>
                <a:ea typeface="微软雅黑" panose="020B0503020204020204" pitchFamily="34" charset="-122"/>
              </a:rPr>
              <a:t>节   求解线性规划的人工变量法</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7</a:t>
            </a:r>
            <a:r>
              <a:rPr lang="zh-CN" altLang="en-US" sz="2800" b="1">
                <a:solidFill>
                  <a:schemeClr val="folHlink"/>
                </a:solidFill>
                <a:latin typeface="微软雅黑" panose="020B0503020204020204" pitchFamily="34" charset="-122"/>
                <a:ea typeface="微软雅黑" panose="020B0503020204020204" pitchFamily="34" charset="-122"/>
              </a:rPr>
              <a:t>节   利用</a:t>
            </a:r>
            <a:r>
              <a:rPr lang="en-US" altLang="zh-CN" sz="2800" b="1">
                <a:solidFill>
                  <a:schemeClr val="folHlink"/>
                </a:solidFill>
                <a:latin typeface="微软雅黑" panose="020B0503020204020204" pitchFamily="34" charset="-122"/>
                <a:ea typeface="微软雅黑" panose="020B0503020204020204" pitchFamily="34" charset="-122"/>
              </a:rPr>
              <a:t>Excel</a:t>
            </a:r>
            <a:r>
              <a:rPr lang="zh-CN" altLang="en-US" sz="2800" b="1">
                <a:solidFill>
                  <a:schemeClr val="folHlink"/>
                </a:solidFill>
                <a:latin typeface="微软雅黑" panose="020B0503020204020204" pitchFamily="34" charset="-122"/>
                <a:ea typeface="微软雅黑" panose="020B0503020204020204" pitchFamily="34" charset="-122"/>
              </a:rPr>
              <a:t>求解线性规划问题</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8</a:t>
            </a:r>
            <a:r>
              <a:rPr lang="zh-CN" altLang="en-US" sz="2800" b="1">
                <a:solidFill>
                  <a:schemeClr val="folHlink"/>
                </a:solidFill>
                <a:latin typeface="微软雅黑" panose="020B0503020204020204" pitchFamily="34" charset="-122"/>
                <a:ea typeface="微软雅黑" panose="020B0503020204020204" pitchFamily="34" charset="-122"/>
              </a:rPr>
              <a:t>节   线性规划在管理中的应用</a:t>
            </a:r>
          </a:p>
        </p:txBody>
      </p:sp>
      <p:sp>
        <p:nvSpPr>
          <p:cNvPr id="2" name="灯片编号占位符 1"/>
          <p:cNvSpPr>
            <a:spLocks noGrp="1"/>
          </p:cNvSpPr>
          <p:nvPr>
            <p:ph type="sldNum" sz="quarter" idx="12"/>
          </p:nvPr>
        </p:nvSpPr>
        <p:spPr>
          <a:xfrm>
            <a:off x="7239000" y="6428184"/>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48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ChangeArrowheads="1"/>
          </p:cNvSpPr>
          <p:nvPr/>
        </p:nvSpPr>
        <p:spPr bwMode="auto">
          <a:xfrm>
            <a:off x="5030788" y="1641475"/>
            <a:ext cx="4113212" cy="16033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1" name="矩形 10"/>
          <p:cNvSpPr>
            <a:spLocks noChangeArrowheads="1"/>
          </p:cNvSpPr>
          <p:nvPr/>
        </p:nvSpPr>
        <p:spPr bwMode="auto">
          <a:xfrm>
            <a:off x="5030788" y="1235075"/>
            <a:ext cx="4113212" cy="4064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 name="Rectangle 3"/>
          <p:cNvSpPr txBox="1">
            <a:spLocks noChangeArrowheads="1"/>
          </p:cNvSpPr>
          <p:nvPr/>
        </p:nvSpPr>
        <p:spPr bwMode="auto">
          <a:xfrm>
            <a:off x="0" y="836613"/>
            <a:ext cx="9144000" cy="4064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pP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2-5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用图解法求解如下资源配置问题：</a:t>
            </a:r>
          </a:p>
        </p:txBody>
      </p:sp>
      <p:sp>
        <p:nvSpPr>
          <p:cNvPr id="6" name="矩形 5"/>
          <p:cNvSpPr>
            <a:spLocks noChangeArrowheads="1"/>
          </p:cNvSpPr>
          <p:nvPr/>
        </p:nvSpPr>
        <p:spPr bwMode="auto">
          <a:xfrm>
            <a:off x="101600" y="1928813"/>
            <a:ext cx="4643438"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在以</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为坐标轴的直角坐标系中</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非负条件</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是指第一象限。例</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2-5</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的每个约束条件都代表一个半平面</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如约束条件</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+ 2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8</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是代表以直线</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+ 2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 8</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为边界的左下方的半平面</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若同时满足</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dirty="0">
                <a:ea typeface="微软雅黑" panose="020B0503020204020204" pitchFamily="34" charset="-122"/>
                <a:cs typeface="Times New Roman" panose="02020603050405020304" pitchFamily="18" charset="0"/>
              </a:rPr>
              <a:t>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≥0 ,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+ 2</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8 , 4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≤16</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和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4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≤12</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的约束条件的点</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必然落在</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b="1" i="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坐标轴和由这三个半平面交成的区域内</a:t>
            </a:r>
          </a:p>
        </p:txBody>
      </p:sp>
      <p:sp>
        <p:nvSpPr>
          <p:cNvPr id="6150" name="Rectangle 7"/>
          <p:cNvSpPr>
            <a:spLocks noChangeArrowheads="1"/>
          </p:cNvSpPr>
          <p:nvPr/>
        </p:nvSpPr>
        <p:spPr bwMode="auto">
          <a:xfrm>
            <a:off x="0" y="20638"/>
            <a:ext cx="9144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二维空间</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平面</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线性规划问题</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可用作图法直观地来表述它的求解</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kumimoji="0" lang="zh-CN" altLang="en-US" b="1" dirty="0">
                <a:ea typeface="微软雅黑" panose="020B0503020204020204" pitchFamily="34" charset="-122"/>
                <a:cs typeface="Times New Roman" panose="02020603050405020304" pitchFamily="18" charset="0"/>
              </a:rPr>
              <a:t>图解法简单直观</a:t>
            </a:r>
            <a:r>
              <a:rPr kumimoji="0" lang="zh-CN" altLang="en-US" b="1" dirty="0">
                <a:latin typeface="宋体" panose="02010600030101010101" pitchFamily="2" charset="-122"/>
                <a:cs typeface="Times New Roman" panose="02020603050405020304" pitchFamily="18" charset="0"/>
              </a:rPr>
              <a:t>，</a:t>
            </a:r>
            <a:r>
              <a:rPr kumimoji="0" lang="zh-CN" altLang="en-US" b="1" dirty="0">
                <a:ea typeface="微软雅黑" panose="020B0503020204020204" pitchFamily="34" charset="-122"/>
                <a:cs typeface="Times New Roman" panose="02020603050405020304" pitchFamily="18" charset="0"/>
              </a:rPr>
              <a:t>有助于了解线性规划问题求解的基本原理</a:t>
            </a:r>
          </a:p>
        </p:txBody>
      </p:sp>
      <p:pic>
        <p:nvPicPr>
          <p:cNvPr id="4" name="Picture 4" descr="D:\OR-第三版校对稿\3nd运筹学-图及txt文件\tp\1g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025" y="3443288"/>
            <a:ext cx="4500563" cy="301625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12" name="对象 11"/>
          <p:cNvGraphicFramePr>
            <a:graphicFrameLocks noChangeAspect="1"/>
          </p:cNvGraphicFramePr>
          <p:nvPr/>
        </p:nvGraphicFramePr>
        <p:xfrm>
          <a:off x="6732588" y="1263650"/>
          <a:ext cx="2108200" cy="381000"/>
        </p:xfrm>
        <a:graphic>
          <a:graphicData uri="http://schemas.openxmlformats.org/presentationml/2006/ole">
            <mc:AlternateContent xmlns:mc="http://schemas.openxmlformats.org/markup-compatibility/2006">
              <mc:Choice xmlns:v="urn:schemas-microsoft-com:vml" Requires="v">
                <p:oleObj spid="_x0000_s21592" name="Equation" r:id="rId4" imgW="2108200" imgH="381000" progId="Equation.DSMT4">
                  <p:embed/>
                </p:oleObj>
              </mc:Choice>
              <mc:Fallback>
                <p:oleObj name="Equation" r:id="rId4" imgW="2108200" imgH="381000" progId="Equation.DSMT4">
                  <p:embed/>
                  <p:pic>
                    <p:nvPicPr>
                      <p:cNvPr id="0"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88" y="1263650"/>
                        <a:ext cx="210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a:spLocks noChangeArrowheads="1"/>
          </p:cNvSpPr>
          <p:nvPr/>
        </p:nvSpPr>
        <p:spPr bwMode="auto">
          <a:xfrm>
            <a:off x="5170488" y="12096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目标函数：</a:t>
            </a:r>
          </a:p>
        </p:txBody>
      </p:sp>
      <p:graphicFrame>
        <p:nvGraphicFramePr>
          <p:cNvPr id="15" name="对象 14"/>
          <p:cNvGraphicFramePr>
            <a:graphicFrameLocks noChangeAspect="1"/>
          </p:cNvGraphicFramePr>
          <p:nvPr/>
        </p:nvGraphicFramePr>
        <p:xfrm>
          <a:off x="6786563" y="1689100"/>
          <a:ext cx="1612900" cy="1524000"/>
        </p:xfrm>
        <a:graphic>
          <a:graphicData uri="http://schemas.openxmlformats.org/presentationml/2006/ole">
            <mc:AlternateContent xmlns:mc="http://schemas.openxmlformats.org/markup-compatibility/2006">
              <mc:Choice xmlns:v="urn:schemas-microsoft-com:vml" Requires="v">
                <p:oleObj spid="_x0000_s21593" name="Equation" r:id="rId6" imgW="1612900" imgH="1524000" progId="Equation.DSMT4">
                  <p:embed/>
                </p:oleObj>
              </mc:Choice>
              <mc:Fallback>
                <p:oleObj name="Equation" r:id="rId6" imgW="1612900" imgH="1524000" progId="Equation.DSMT4">
                  <p:embed/>
                  <p:pic>
                    <p:nvPicPr>
                      <p:cNvPr id="0" name="对象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6563" y="1689100"/>
                        <a:ext cx="16129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a:spLocks noChangeArrowheads="1"/>
          </p:cNvSpPr>
          <p:nvPr/>
        </p:nvSpPr>
        <p:spPr bwMode="auto">
          <a:xfrm>
            <a:off x="5426075" y="2328863"/>
            <a:ext cx="1468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约束条件：</a:t>
            </a:r>
          </a:p>
        </p:txBody>
      </p:sp>
      <p:sp>
        <p:nvSpPr>
          <p:cNvPr id="6156" name="灯片编号占位符 1"/>
          <p:cNvSpPr>
            <a:spLocks noGrp="1" noChangeArrowheads="1"/>
          </p:cNvSpPr>
          <p:nvPr>
            <p:ph type="sldNum" sz="quarter" idx="12"/>
          </p:nvPr>
        </p:nvSpPr>
        <p:spPr>
          <a:xfrm>
            <a:off x="7239000" y="641826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E6E83F60-C3B6-44D3-BF03-D4F94AE5821A}" type="slidenum">
              <a:rPr kumimoji="0" lang="en-US" altLang="zh-CN" sz="1400" smtClean="0">
                <a:ea typeface="微软雅黑" panose="020B0503020204020204" pitchFamily="34" charset="-122"/>
              </a:rPr>
              <a:t>49</a:t>
            </a:fld>
            <a:endParaRPr kumimoji="0" lang="en-US" altLang="zh-CN" sz="140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dissolve">
                                      <p:cBhvr>
                                        <p:cTn id="31" dur="500"/>
                                        <p:tgtEl>
                                          <p:spTgt spid="6">
                                            <p:txEl>
                                              <p:pRg st="0" end="0"/>
                                            </p:txEl>
                                          </p:spTgt>
                                        </p:tgtEl>
                                      </p:cBhvr>
                                    </p:animEffect>
                                  </p:childTnLst>
                                </p:cTn>
                              </p:par>
                            </p:childTnLst>
                          </p:cTn>
                        </p:par>
                        <p:par>
                          <p:cTn id="32" fill="hold">
                            <p:stCondLst>
                              <p:cond delay="500"/>
                            </p:stCondLst>
                            <p:childTnLst>
                              <p:par>
                                <p:cTn id="33" presetID="3" presetClass="entr" presetSubtype="10"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animEffect transition="in" filter="dissolve">
                                      <p:cBhvr>
                                        <p:cTn id="4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animBg="1"/>
      <p:bldP spid="3" grpId="0" animBg="1"/>
      <p:bldP spid="13" grpId="0"/>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4" descr="D:\OR-第三版校对稿\3nd运筹学-图及txt文件\tp\1g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8913"/>
            <a:ext cx="5334000" cy="357505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0" y="4365625"/>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2-5</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中所有约束条件为半平面交成的区域</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见上图</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中的阴影部分</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阴影区域中的每一个点</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包括边界点</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都是这个线性规划问题的解</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称</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可行解</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p>
          <a:p>
            <a:pPr algn="just" eaLnBrk="1" hangingPunct="1"/>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因而此区域是例</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2-5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的线性规划问题的解集合</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称它为</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可行域</a:t>
            </a:r>
            <a:endPar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72" name="矩形 4"/>
          <p:cNvSpPr>
            <a:spLocks noChangeArrowheads="1"/>
          </p:cNvSpPr>
          <p:nvPr/>
        </p:nvSpPr>
        <p:spPr bwMode="auto">
          <a:xfrm>
            <a:off x="5961063" y="787400"/>
            <a:ext cx="2714625" cy="2514600"/>
          </a:xfrm>
          <a:prstGeom prst="rect">
            <a:avLst/>
          </a:prstGeom>
          <a:noFill/>
          <a:ln w="19050">
            <a:solidFill>
              <a:srgbClr val="FF66FF"/>
            </a:solidFill>
            <a:prstDash val="lgDashDot"/>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7173" name="对象 5"/>
          <p:cNvGraphicFramePr>
            <a:graphicFrameLocks noChangeAspect="1"/>
          </p:cNvGraphicFramePr>
          <p:nvPr/>
        </p:nvGraphicFramePr>
        <p:xfrm>
          <a:off x="6148388" y="906463"/>
          <a:ext cx="2171700" cy="381000"/>
        </p:xfrm>
        <a:graphic>
          <a:graphicData uri="http://schemas.openxmlformats.org/presentationml/2006/ole">
            <mc:AlternateContent xmlns:mc="http://schemas.openxmlformats.org/markup-compatibility/2006">
              <mc:Choice xmlns:v="urn:schemas-microsoft-com:vml" Requires="v">
                <p:oleObj spid="_x0000_s22616" name="Equation" r:id="rId4" imgW="2171700" imgH="381000" progId="Equation.DSMT4">
                  <p:embed/>
                </p:oleObj>
              </mc:Choice>
              <mc:Fallback>
                <p:oleObj name="Equation" r:id="rId4" imgW="2171700" imgH="3810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8388" y="906463"/>
                        <a:ext cx="2171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4" name="对象 6"/>
          <p:cNvGraphicFramePr>
            <a:graphicFrameLocks noChangeAspect="1"/>
          </p:cNvGraphicFramePr>
          <p:nvPr/>
        </p:nvGraphicFramePr>
        <p:xfrm>
          <a:off x="6175375" y="1412875"/>
          <a:ext cx="1917700" cy="1828800"/>
        </p:xfrm>
        <a:graphic>
          <a:graphicData uri="http://schemas.openxmlformats.org/presentationml/2006/ole">
            <mc:AlternateContent xmlns:mc="http://schemas.openxmlformats.org/markup-compatibility/2006">
              <mc:Choice xmlns:v="urn:schemas-microsoft-com:vml" Requires="v">
                <p:oleObj spid="_x0000_s22617" name="Equation" r:id="rId6" imgW="1917700" imgH="1828800" progId="Equation.DSMT4">
                  <p:embed/>
                </p:oleObj>
              </mc:Choice>
              <mc:Fallback>
                <p:oleObj name="Equation" r:id="rId6" imgW="1917700" imgH="1828800" progId="Equation.DSMT4">
                  <p:embed/>
                  <p:pic>
                    <p:nvPicPr>
                      <p:cNvPr id="0"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5375" y="1412875"/>
                        <a:ext cx="19177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5"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C08DAB89-59EB-4E26-BD34-5A315383032A}" type="slidenum">
              <a:rPr kumimoji="0" lang="en-US" altLang="zh-CN" sz="1400" smtClean="0">
                <a:ea typeface="微软雅黑" panose="020B0503020204020204" pitchFamily="34" charset="-122"/>
              </a:rPr>
              <a:t>50</a:t>
            </a:fld>
            <a:endParaRPr kumimoji="0" lang="en-US" altLang="zh-CN" sz="1400">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linds(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blinds(horizontal)">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descr="D:\OR-第三版校对稿\3nd运筹学-图及txt文件\tp\1g3.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
            <a:ext cx="4495800"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Line 10"/>
          <p:cNvSpPr>
            <a:spLocks noChangeShapeType="1"/>
          </p:cNvSpPr>
          <p:nvPr/>
        </p:nvSpPr>
        <p:spPr bwMode="auto">
          <a:xfrm flipH="1">
            <a:off x="2693988" y="2133600"/>
            <a:ext cx="1517650" cy="612775"/>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9155" name="Object 3"/>
          <p:cNvGraphicFramePr>
            <a:graphicFrameLocks noChangeAspect="1"/>
          </p:cNvGraphicFramePr>
          <p:nvPr/>
        </p:nvGraphicFramePr>
        <p:xfrm>
          <a:off x="5076825" y="404813"/>
          <a:ext cx="2438400" cy="474662"/>
        </p:xfrm>
        <a:graphic>
          <a:graphicData uri="http://schemas.openxmlformats.org/presentationml/2006/ole">
            <mc:AlternateContent xmlns:mc="http://schemas.openxmlformats.org/markup-compatibility/2006">
              <mc:Choice xmlns:v="urn:schemas-microsoft-com:vml" Requires="v">
                <p:oleObj spid="_x0000_s24072" name="Equation" r:id="rId4" imgW="1104265" imgH="215900" progId="Equation.DSMT4">
                  <p:embed/>
                </p:oleObj>
              </mc:Choice>
              <mc:Fallback>
                <p:oleObj name="Equation" r:id="rId4" imgW="1104265" imgH="2159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404813"/>
                        <a:ext cx="2438400" cy="474662"/>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6"/>
          <p:cNvSpPr txBox="1">
            <a:spLocks noChangeArrowheads="1"/>
          </p:cNvSpPr>
          <p:nvPr/>
        </p:nvSpPr>
        <p:spPr bwMode="auto">
          <a:xfrm>
            <a:off x="3635375" y="404813"/>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a:solidFill>
                  <a:srgbClr val="FF0000"/>
                </a:solidFill>
                <a:latin typeface="微软雅黑" panose="020B0503020204020204" pitchFamily="34" charset="-122"/>
                <a:ea typeface="微软雅黑" panose="020B0503020204020204" pitchFamily="34" charset="-122"/>
              </a:rPr>
              <a:t>目标函数</a:t>
            </a:r>
          </a:p>
        </p:txBody>
      </p:sp>
      <p:sp>
        <p:nvSpPr>
          <p:cNvPr id="7" name="Line 5"/>
          <p:cNvSpPr>
            <a:spLocks noChangeShapeType="1"/>
          </p:cNvSpPr>
          <p:nvPr/>
        </p:nvSpPr>
        <p:spPr bwMode="auto">
          <a:xfrm flipV="1">
            <a:off x="1676400" y="692150"/>
            <a:ext cx="2032000" cy="679450"/>
          </a:xfrm>
          <a:prstGeom prst="line">
            <a:avLst/>
          </a:prstGeom>
          <a:noFill/>
          <a:ln w="9525">
            <a:solidFill>
              <a:schemeClr val="hlink"/>
            </a:solidFill>
            <a:round/>
            <a:head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a:spLocks noChangeArrowheads="1"/>
          </p:cNvSpPr>
          <p:nvPr/>
        </p:nvSpPr>
        <p:spPr bwMode="auto">
          <a:xfrm>
            <a:off x="3892550" y="2276475"/>
            <a:ext cx="5251450" cy="4572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目标值在（</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b="1" dirty="0">
                <a:latin typeface="宋体" panose="02010600030101010101" pitchFamily="2"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）点</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达到最大值</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14</a:t>
            </a:r>
            <a:endPar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a:spLocks noChangeArrowheads="1"/>
          </p:cNvSpPr>
          <p:nvPr/>
        </p:nvSpPr>
        <p:spPr bwMode="auto">
          <a:xfrm>
            <a:off x="152400" y="3213100"/>
            <a:ext cx="89916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再分析目标函数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宋体" panose="02010600030101010101" pitchFamily="2"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在这坐标平面上</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它可表示以</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z</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为参数、       为斜率的一族平行线</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p>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同一直线上的点具有相同的目标函数值</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因而称它为</a:t>
            </a:r>
            <a:r>
              <a:rPr kumimoji="0" lang="zh-CN" altLang="en-US" b="1" dirty="0">
                <a:latin typeface="宋体" panose="02010600030101010101" pitchFamily="2" charset="-122"/>
                <a:cs typeface="Times New Roman" panose="02020603050405020304" pitchFamily="18" charset="0"/>
              </a:rPr>
              <a:t>“</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等值线</a:t>
            </a:r>
            <a:r>
              <a:rPr kumimoji="0" lang="zh-CN" altLang="en-US" b="1" dirty="0">
                <a:latin typeface="宋体" panose="02010600030101010101" pitchFamily="2" charset="-122"/>
                <a:cs typeface="Times New Roman" panose="02020603050405020304" pitchFamily="18" charset="0"/>
              </a:rPr>
              <a:t>”</a:t>
            </a:r>
            <a:endParaRPr kumimoji="0" lang="en-US" altLang="zh-CN" b="1" dirty="0">
              <a:latin typeface="宋体" panose="02010600030101010101" pitchFamily="2" charset="-122"/>
              <a:cs typeface="Times New Roman" panose="02020603050405020304" pitchFamily="18" charset="0"/>
            </a:endParaRPr>
          </a:p>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当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值由小变大时</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直线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沿其法线方向向右上方移动</a:t>
            </a:r>
          </a:p>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当移动到  </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点时</a:t>
            </a:r>
            <a:r>
              <a:rPr kumimoji="0" lang="en-US" altLang="zh-CN" b="1" dirty="0">
                <a:latin typeface="宋体" panose="02010600030101010101" pitchFamily="2"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使</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值在可行域边界上实现最大化</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见上图</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b="1" dirty="0">
                <a:latin typeface="宋体" panose="02010600030101010101" pitchFamily="2"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这就得到了</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2-5</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的最优解</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点的坐标为</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b="1" dirty="0">
                <a:latin typeface="Times New Roman" panose="02020603050405020304" pitchFamily="18" charset="0"/>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2)</a:t>
            </a:r>
          </a:p>
          <a:p>
            <a:pPr eaLnBrk="1" hangingPunct="1">
              <a:lnSpc>
                <a:spcPct val="120000"/>
              </a:lnSpc>
              <a:buFont typeface="Wingdings" panose="05000000000000000000" pitchFamily="2" charset="2"/>
              <a:buChar char="l"/>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于是可计算出满足所有约束条件下的最大值</a:t>
            </a:r>
          </a:p>
        </p:txBody>
      </p:sp>
      <p:sp>
        <p:nvSpPr>
          <p:cNvPr id="7179" name="Line 11"/>
          <p:cNvSpPr>
            <a:spLocks noChangeShapeType="1"/>
          </p:cNvSpPr>
          <p:nvPr/>
        </p:nvSpPr>
        <p:spPr bwMode="auto">
          <a:xfrm>
            <a:off x="468313" y="1844675"/>
            <a:ext cx="2087562" cy="1439863"/>
          </a:xfrm>
          <a:prstGeom prst="line">
            <a:avLst/>
          </a:prstGeom>
          <a:noFill/>
          <a:ln w="762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0" name="Line 12"/>
          <p:cNvSpPr>
            <a:spLocks noChangeShapeType="1"/>
          </p:cNvSpPr>
          <p:nvPr/>
        </p:nvSpPr>
        <p:spPr bwMode="auto">
          <a:xfrm>
            <a:off x="684213" y="1412875"/>
            <a:ext cx="2592387" cy="1800225"/>
          </a:xfrm>
          <a:prstGeom prst="line">
            <a:avLst/>
          </a:prstGeom>
          <a:noFill/>
          <a:ln w="762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1" name="Line 13"/>
          <p:cNvSpPr>
            <a:spLocks noChangeShapeType="1"/>
          </p:cNvSpPr>
          <p:nvPr/>
        </p:nvSpPr>
        <p:spPr bwMode="auto">
          <a:xfrm>
            <a:off x="684213" y="836613"/>
            <a:ext cx="3311525" cy="2305050"/>
          </a:xfrm>
          <a:prstGeom prst="line">
            <a:avLst/>
          </a:prstGeom>
          <a:noFill/>
          <a:ln w="762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对象 1"/>
          <p:cNvGraphicFramePr>
            <a:graphicFrameLocks noChangeAspect="1"/>
          </p:cNvGraphicFramePr>
          <p:nvPr/>
        </p:nvGraphicFramePr>
        <p:xfrm>
          <a:off x="6310313" y="6432550"/>
          <a:ext cx="762000" cy="266700"/>
        </p:xfrm>
        <a:graphic>
          <a:graphicData uri="http://schemas.openxmlformats.org/presentationml/2006/ole">
            <mc:AlternateContent xmlns:mc="http://schemas.openxmlformats.org/markup-compatibility/2006">
              <mc:Choice xmlns:v="urn:schemas-microsoft-com:vml" Requires="v">
                <p:oleObj spid="_x0000_s24073" name="Equation" r:id="rId6" imgW="761365" imgH="266700" progId="Equation.DSMT4">
                  <p:embed/>
                </p:oleObj>
              </mc:Choice>
              <mc:Fallback>
                <p:oleObj name="Equation" r:id="rId6" imgW="761365" imgH="266700" progId="Equation.DSMT4">
                  <p:embed/>
                  <p:pic>
                    <p:nvPicPr>
                      <p:cNvPr id="0"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0313" y="6432550"/>
                        <a:ext cx="7620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2608263" y="3311525"/>
          <a:ext cx="1536700" cy="381000"/>
        </p:xfrm>
        <a:graphic>
          <a:graphicData uri="http://schemas.openxmlformats.org/presentationml/2006/ole">
            <mc:AlternateContent xmlns:mc="http://schemas.openxmlformats.org/markup-compatibility/2006">
              <mc:Choice xmlns:v="urn:schemas-microsoft-com:vml" Requires="v">
                <p:oleObj spid="_x0000_s24074" name="Equation" r:id="rId8" imgW="1536700" imgH="381000" progId="Equation.DSMT4">
                  <p:embed/>
                </p:oleObj>
              </mc:Choice>
              <mc:Fallback>
                <p:oleObj name="Equation" r:id="rId8" imgW="1536700" imgH="381000" progId="Equation.DSMT4">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8263" y="3311525"/>
                        <a:ext cx="153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656772" y="3694113"/>
          <a:ext cx="2400300" cy="431800"/>
        </p:xfrm>
        <a:graphic>
          <a:graphicData uri="http://schemas.openxmlformats.org/presentationml/2006/ole">
            <mc:AlternateContent xmlns:mc="http://schemas.openxmlformats.org/markup-compatibility/2006">
              <mc:Choice xmlns:v="urn:schemas-microsoft-com:vml" Requires="v">
                <p:oleObj spid="_x0000_s24075" name="Equation" r:id="rId10" imgW="2400300" imgH="431800" progId="Equation.DSMT4">
                  <p:embed/>
                </p:oleObj>
              </mc:Choice>
              <mc:Fallback>
                <p:oleObj name="Equation" r:id="rId10" imgW="2400300" imgH="431800" progId="Equation.DSMT4">
                  <p:embed/>
                  <p:pic>
                    <p:nvPicPr>
                      <p:cNvPr id="0" name="对象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56772" y="3694113"/>
                        <a:ext cx="2400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974870" y="3781425"/>
          <a:ext cx="647700" cy="368300"/>
        </p:xfrm>
        <a:graphic>
          <a:graphicData uri="http://schemas.openxmlformats.org/presentationml/2006/ole">
            <mc:AlternateContent xmlns:mc="http://schemas.openxmlformats.org/markup-compatibility/2006">
              <mc:Choice xmlns:v="urn:schemas-microsoft-com:vml" Requires="v">
                <p:oleObj spid="_x0000_s24076" name="Equation" r:id="rId12" imgW="647700" imgH="368300" progId="Equation.DSMT4">
                  <p:embed/>
                </p:oleObj>
              </mc:Choice>
              <mc:Fallback>
                <p:oleObj name="Equation" r:id="rId12" imgW="647700" imgH="368300" progId="Equation.DSMT4">
                  <p:embed/>
                  <p:pic>
                    <p:nvPicPr>
                      <p:cNvPr id="0" name="对象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4870" y="3781425"/>
                        <a:ext cx="647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3798888" y="4597401"/>
          <a:ext cx="2400300" cy="431800"/>
        </p:xfrm>
        <a:graphic>
          <a:graphicData uri="http://schemas.openxmlformats.org/presentationml/2006/ole">
            <mc:AlternateContent xmlns:mc="http://schemas.openxmlformats.org/markup-compatibility/2006">
              <mc:Choice xmlns:v="urn:schemas-microsoft-com:vml" Requires="v">
                <p:oleObj spid="_x0000_s24077" name="Equation" r:id="rId14" imgW="2400300" imgH="431800" progId="Equation.DSMT4">
                  <p:embed/>
                </p:oleObj>
              </mc:Choice>
              <mc:Fallback>
                <p:oleObj name="Equation" r:id="rId14" imgW="2400300" imgH="431800" progId="Equation.DSMT4">
                  <p:embed/>
                  <p:pic>
                    <p:nvPicPr>
                      <p:cNvPr id="0" name="对象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8888" y="4597401"/>
                        <a:ext cx="2400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827088" y="4724400"/>
          <a:ext cx="190500" cy="190500"/>
        </p:xfrm>
        <a:graphic>
          <a:graphicData uri="http://schemas.openxmlformats.org/presentationml/2006/ole">
            <mc:AlternateContent xmlns:mc="http://schemas.openxmlformats.org/markup-compatibility/2006">
              <mc:Choice xmlns:v="urn:schemas-microsoft-com:vml" Requires="v">
                <p:oleObj spid="_x0000_s24078" name="Equation" r:id="rId16" imgW="190500" imgH="190500" progId="Equation.DSMT4">
                  <p:embed/>
                </p:oleObj>
              </mc:Choice>
              <mc:Fallback>
                <p:oleObj name="Equation" r:id="rId16" imgW="190500" imgH="190500" progId="Equation.DSMT4">
                  <p:embed/>
                  <p:pic>
                    <p:nvPicPr>
                      <p:cNvPr id="0" name="对象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7088" y="4724400"/>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3727450" y="5886593"/>
          <a:ext cx="330200" cy="381000"/>
        </p:xfrm>
        <a:graphic>
          <a:graphicData uri="http://schemas.openxmlformats.org/presentationml/2006/ole">
            <mc:AlternateContent xmlns:mc="http://schemas.openxmlformats.org/markup-compatibility/2006">
              <mc:Choice xmlns:v="urn:schemas-microsoft-com:vml" Requires="v">
                <p:oleObj spid="_x0000_s24079" name="Equation" r:id="rId18" imgW="330200" imgH="381000" progId="Equation.DSMT4">
                  <p:embed/>
                </p:oleObj>
              </mc:Choice>
              <mc:Fallback>
                <p:oleObj name="Equation" r:id="rId18" imgW="330200" imgH="381000" progId="Equation.DSMT4">
                  <p:embed/>
                  <p:pic>
                    <p:nvPicPr>
                      <p:cNvPr id="0" name="对象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27450" y="5886593"/>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3262313" y="5595937"/>
          <a:ext cx="190500" cy="190500"/>
        </p:xfrm>
        <a:graphic>
          <a:graphicData uri="http://schemas.openxmlformats.org/presentationml/2006/ole">
            <mc:AlternateContent xmlns:mc="http://schemas.openxmlformats.org/markup-compatibility/2006">
              <mc:Choice xmlns:v="urn:schemas-microsoft-com:vml" Requires="v">
                <p:oleObj spid="_x0000_s24080" name="Equation" r:id="rId20" imgW="190500" imgH="190500" progId="Equation.DSMT4">
                  <p:embed/>
                </p:oleObj>
              </mc:Choice>
              <mc:Fallback>
                <p:oleObj name="Equation" r:id="rId20" imgW="190500" imgH="190500" progId="Equation.DSMT4">
                  <p:embed/>
                  <p:pic>
                    <p:nvPicPr>
                      <p:cNvPr id="0" name="对象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62313" y="5595937"/>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4174555" y="5953125"/>
          <a:ext cx="426571" cy="357188"/>
        </p:xfrm>
        <a:graphic>
          <a:graphicData uri="http://schemas.openxmlformats.org/presentationml/2006/ole">
            <mc:AlternateContent xmlns:mc="http://schemas.openxmlformats.org/markup-compatibility/2006">
              <mc:Choice xmlns:v="urn:schemas-microsoft-com:vml" Requires="v">
                <p:oleObj spid="_x0000_s24081" name="Equation" r:id="rId22" imgW="344170" imgH="393065" progId="Equation.DSMT4">
                  <p:embed/>
                </p:oleObj>
              </mc:Choice>
              <mc:Fallback>
                <p:oleObj name="Equation" r:id="rId22" imgW="344170" imgH="393065" progId="Equation.DSMT4">
                  <p:embed/>
                  <p:pic>
                    <p:nvPicPr>
                      <p:cNvPr id="0" name="对象 1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74555" y="5953125"/>
                        <a:ext cx="426571" cy="357188"/>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1727200" y="5505450"/>
          <a:ext cx="323850" cy="371475"/>
        </p:xfrm>
        <a:graphic>
          <a:graphicData uri="http://schemas.openxmlformats.org/presentationml/2006/ole">
            <mc:AlternateContent xmlns:mc="http://schemas.openxmlformats.org/markup-compatibility/2006">
              <mc:Choice xmlns:v="urn:schemas-microsoft-com:vml" Requires="v">
                <p:oleObj spid="_x0000_s24082" name="Equation" r:id="rId24" imgW="344170" imgH="393065" progId="Equation.DSMT4">
                  <p:embed/>
                </p:oleObj>
              </mc:Choice>
              <mc:Fallback>
                <p:oleObj name="Equation" r:id="rId24" imgW="344170" imgH="393065" progId="Equation.DSMT4">
                  <p:embed/>
                  <p:pic>
                    <p:nvPicPr>
                      <p:cNvPr id="0" name="对象 1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27200" y="5505450"/>
                        <a:ext cx="3238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p:cNvSpPr>
            <a:spLocks noChangeArrowheads="1"/>
          </p:cNvSpPr>
          <p:nvPr/>
        </p:nvSpPr>
        <p:spPr bwMode="auto">
          <a:xfrm>
            <a:off x="4246563" y="1009650"/>
            <a:ext cx="1924050" cy="1173163"/>
          </a:xfrm>
          <a:prstGeom prst="rect">
            <a:avLst/>
          </a:prstGeom>
          <a:solidFill>
            <a:srgbClr val="FFC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26" name="对象 25"/>
          <p:cNvGraphicFramePr>
            <a:graphicFrameLocks noChangeAspect="1"/>
          </p:cNvGraphicFramePr>
          <p:nvPr/>
        </p:nvGraphicFramePr>
        <p:xfrm>
          <a:off x="4281488" y="1009650"/>
          <a:ext cx="1752600" cy="736600"/>
        </p:xfrm>
        <a:graphic>
          <a:graphicData uri="http://schemas.openxmlformats.org/presentationml/2006/ole">
            <mc:AlternateContent xmlns:mc="http://schemas.openxmlformats.org/markup-compatibility/2006">
              <mc:Choice xmlns:v="urn:schemas-microsoft-com:vml" Requires="v">
                <p:oleObj spid="_x0000_s24083" name="Equation" r:id="rId26" imgW="1752600" imgH="736600" progId="Equation.DSMT4">
                  <p:embed/>
                </p:oleObj>
              </mc:Choice>
              <mc:Fallback>
                <p:oleObj name="Equation" r:id="rId26" imgW="1752600" imgH="736600" progId="Equation.DSMT4">
                  <p:embed/>
                  <p:pic>
                    <p:nvPicPr>
                      <p:cNvPr id="0" name="对象 2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281488" y="1009650"/>
                        <a:ext cx="17526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a:spLocks noChangeArrowheads="1"/>
          </p:cNvSpPr>
          <p:nvPr/>
        </p:nvSpPr>
        <p:spPr bwMode="auto">
          <a:xfrm>
            <a:off x="4219575" y="1765300"/>
            <a:ext cx="1979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b="1">
                <a:latin typeface="微软雅黑" panose="020B0503020204020204" pitchFamily="34" charset="-122"/>
                <a:ea typeface="微软雅黑" panose="020B0503020204020204" pitchFamily="34" charset="-122"/>
                <a:cs typeface="Times New Roman" panose="02020603050405020304" pitchFamily="18" charset="0"/>
              </a:rPr>
              <a:t>表示一簇平行线</a:t>
            </a:r>
          </a:p>
        </p:txBody>
      </p:sp>
      <p:sp>
        <p:nvSpPr>
          <p:cNvPr id="8217"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C1B91E59-63A2-465D-9414-0FEE30057C17}" type="slidenum">
              <a:rPr kumimoji="0" lang="en-US" altLang="zh-CN" sz="1400" smtClean="0">
                <a:ea typeface="微软雅黑" panose="020B0503020204020204" pitchFamily="34" charset="-122"/>
              </a:rPr>
              <a:t>51</a:t>
            </a:fld>
            <a:endParaRPr kumimoji="0" lang="en-US" altLang="zh-CN" sz="1400" dirty="0">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dissolve">
                                      <p:cBhvr>
                                        <p:cTn id="7" dur="500"/>
                                        <p:tgtEl>
                                          <p:spTgt spid="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dissolve">
                                      <p:cBhvr>
                                        <p:cTn id="21" dur="500"/>
                                        <p:tgtEl>
                                          <p:spTgt spid="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9155"/>
                                        </p:tgtEl>
                                        <p:attrNameLst>
                                          <p:attrName>style.visibility</p:attrName>
                                        </p:attrNameLst>
                                      </p:cBhvr>
                                      <p:to>
                                        <p:strVal val="visible"/>
                                      </p:to>
                                    </p:set>
                                    <p:animEffect transition="in" filter="fade">
                                      <p:cBhvr>
                                        <p:cTn id="36" dur="1000"/>
                                        <p:tgtEl>
                                          <p:spTgt spid="49155"/>
                                        </p:tgtEl>
                                      </p:cBhvr>
                                    </p:animEffect>
                                    <p:anim calcmode="lin" valueType="num">
                                      <p:cBhvr>
                                        <p:cTn id="37" dur="1000" fill="hold"/>
                                        <p:tgtEl>
                                          <p:spTgt spid="49155"/>
                                        </p:tgtEl>
                                        <p:attrNameLst>
                                          <p:attrName>ppt_x</p:attrName>
                                        </p:attrNameLst>
                                      </p:cBhvr>
                                      <p:tavLst>
                                        <p:tav tm="0">
                                          <p:val>
                                            <p:strVal val="#ppt_x"/>
                                          </p:val>
                                        </p:tav>
                                        <p:tav tm="100000">
                                          <p:val>
                                            <p:strVal val="#ppt_x"/>
                                          </p:val>
                                        </p:tav>
                                      </p:tavLst>
                                    </p:anim>
                                    <p:anim calcmode="lin" valueType="num">
                                      <p:cBhvr>
                                        <p:cTn id="38" dur="1000" fill="hold"/>
                                        <p:tgtEl>
                                          <p:spTgt spid="4915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1000"/>
                                        <p:tgtEl>
                                          <p:spTgt spid="27"/>
                                        </p:tgtEl>
                                      </p:cBhvr>
                                    </p:animEffect>
                                    <p:anim calcmode="lin" valueType="num">
                                      <p:cBhvr>
                                        <p:cTn id="54" dur="1000" fill="hold"/>
                                        <p:tgtEl>
                                          <p:spTgt spid="27"/>
                                        </p:tgtEl>
                                        <p:attrNameLst>
                                          <p:attrName>ppt_x</p:attrName>
                                        </p:attrNameLst>
                                      </p:cBhvr>
                                      <p:tavLst>
                                        <p:tav tm="0">
                                          <p:val>
                                            <p:strVal val="#ppt_x"/>
                                          </p:val>
                                        </p:tav>
                                        <p:tav tm="100000">
                                          <p:val>
                                            <p:strVal val="#ppt_x"/>
                                          </p:val>
                                        </p:tav>
                                      </p:tavLst>
                                    </p:anim>
                                    <p:anim calcmode="lin" valueType="num">
                                      <p:cBhvr>
                                        <p:cTn id="55" dur="1000" fill="hold"/>
                                        <p:tgtEl>
                                          <p:spTgt spid="27"/>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fade">
                                      <p:cBhvr>
                                        <p:cTn id="58" dur="1000"/>
                                        <p:tgtEl>
                                          <p:spTgt spid="4"/>
                                        </p:tgtEl>
                                      </p:cBhvr>
                                    </p:animEffect>
                                    <p:anim calcmode="lin" valueType="num">
                                      <p:cBhvr>
                                        <p:cTn id="59" dur="1000" fill="hold"/>
                                        <p:tgtEl>
                                          <p:spTgt spid="4"/>
                                        </p:tgtEl>
                                        <p:attrNameLst>
                                          <p:attrName>ppt_x</p:attrName>
                                        </p:attrNameLst>
                                      </p:cBhvr>
                                      <p:tavLst>
                                        <p:tav tm="0">
                                          <p:val>
                                            <p:strVal val="#ppt_x"/>
                                          </p:val>
                                        </p:tav>
                                        <p:tav tm="100000">
                                          <p:val>
                                            <p:strVal val="#ppt_x"/>
                                          </p:val>
                                        </p:tav>
                                      </p:tavLst>
                                    </p:anim>
                                    <p:anim calcmode="lin" valueType="num">
                                      <p:cBhvr>
                                        <p:cTn id="6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9">
                                            <p:txEl>
                                              <p:pRg st="2" end="2"/>
                                            </p:txEl>
                                          </p:spTgt>
                                        </p:tgtEl>
                                        <p:attrNameLst>
                                          <p:attrName>style.visibility</p:attrName>
                                        </p:attrNameLst>
                                      </p:cBhvr>
                                      <p:to>
                                        <p:strVal val="visible"/>
                                      </p:to>
                                    </p:set>
                                    <p:animEffect transition="in" filter="dissolve">
                                      <p:cBhvr>
                                        <p:cTn id="65" dur="500"/>
                                        <p:tgtEl>
                                          <p:spTgt spid="9">
                                            <p:txEl>
                                              <p:pRg st="2" end="2"/>
                                            </p:txEl>
                                          </p:spTgt>
                                        </p:tgtEl>
                                      </p:cBhvr>
                                    </p:animEffect>
                                  </p:childTnLst>
                                </p:cTn>
                              </p:par>
                              <p:par>
                                <p:cTn id="66" presetID="9" presetClass="entr" presetSubtype="0" fill="hold"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dissolve">
                                      <p:cBhvr>
                                        <p:cTn id="68" dur="500"/>
                                        <p:tgtEl>
                                          <p:spTgt spid="15"/>
                                        </p:tgtEl>
                                      </p:cBhvr>
                                    </p:animEffect>
                                  </p:childTnLst>
                                </p:cTn>
                              </p:par>
                              <p:par>
                                <p:cTn id="69" presetID="9" presetClass="entr" presetSubtype="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dissolve">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7179"/>
                                        </p:tgtEl>
                                        <p:attrNameLst>
                                          <p:attrName>style.visibility</p:attrName>
                                        </p:attrNameLst>
                                      </p:cBhvr>
                                      <p:to>
                                        <p:strVal val="visible"/>
                                      </p:to>
                                    </p:set>
                                    <p:animEffect transition="in" filter="blinds(horizontal)">
                                      <p:cBhvr>
                                        <p:cTn id="76" dur="500"/>
                                        <p:tgtEl>
                                          <p:spTgt spid="7179"/>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xit" presetSubtype="10" fill="hold" nodeType="clickEffect">
                                  <p:stCondLst>
                                    <p:cond delay="0"/>
                                  </p:stCondLst>
                                  <p:childTnLst>
                                    <p:animEffect transition="out" filter="blinds(horizontal)">
                                      <p:cBhvr>
                                        <p:cTn id="80" dur="500"/>
                                        <p:tgtEl>
                                          <p:spTgt spid="7179"/>
                                        </p:tgtEl>
                                      </p:cBhvr>
                                    </p:animEffect>
                                    <p:set>
                                      <p:cBhvr>
                                        <p:cTn id="81" dur="1" fill="hold">
                                          <p:stCondLst>
                                            <p:cond delay="499"/>
                                          </p:stCondLst>
                                        </p:cTn>
                                        <p:tgtEl>
                                          <p:spTgt spid="7179"/>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7180"/>
                                        </p:tgtEl>
                                        <p:attrNameLst>
                                          <p:attrName>style.visibility</p:attrName>
                                        </p:attrNameLst>
                                      </p:cBhvr>
                                      <p:to>
                                        <p:strVal val="visible"/>
                                      </p:to>
                                    </p:set>
                                    <p:animEffect transition="in" filter="blinds(horizontal)">
                                      <p:cBhvr>
                                        <p:cTn id="86" dur="500"/>
                                        <p:tgtEl>
                                          <p:spTgt spid="7180"/>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xit" presetSubtype="10" fill="hold" nodeType="clickEffect">
                                  <p:stCondLst>
                                    <p:cond delay="0"/>
                                  </p:stCondLst>
                                  <p:childTnLst>
                                    <p:animEffect transition="out" filter="blinds(horizontal)">
                                      <p:cBhvr>
                                        <p:cTn id="90" dur="500"/>
                                        <p:tgtEl>
                                          <p:spTgt spid="7180"/>
                                        </p:tgtEl>
                                      </p:cBhvr>
                                    </p:animEffect>
                                    <p:set>
                                      <p:cBhvr>
                                        <p:cTn id="91" dur="1" fill="hold">
                                          <p:stCondLst>
                                            <p:cond delay="499"/>
                                          </p:stCondLst>
                                        </p:cTn>
                                        <p:tgtEl>
                                          <p:spTgt spid="7180"/>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7181"/>
                                        </p:tgtEl>
                                        <p:attrNameLst>
                                          <p:attrName>style.visibility</p:attrName>
                                        </p:attrNameLst>
                                      </p:cBhvr>
                                      <p:to>
                                        <p:strVal val="visible"/>
                                      </p:to>
                                    </p:set>
                                    <p:animEffect transition="in" filter="blinds(horizontal)">
                                      <p:cBhvr>
                                        <p:cTn id="96" dur="500"/>
                                        <p:tgtEl>
                                          <p:spTgt spid="7181"/>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9">
                                            <p:txEl>
                                              <p:pRg st="3" end="3"/>
                                            </p:txEl>
                                          </p:spTgt>
                                        </p:tgtEl>
                                        <p:attrNameLst>
                                          <p:attrName>style.visibility</p:attrName>
                                        </p:attrNameLst>
                                      </p:cBhvr>
                                      <p:to>
                                        <p:strVal val="visible"/>
                                      </p:to>
                                    </p:set>
                                    <p:animEffect transition="in" filter="dissolve">
                                      <p:cBhvr>
                                        <p:cTn id="101" dur="500"/>
                                        <p:tgtEl>
                                          <p:spTgt spid="9">
                                            <p:txEl>
                                              <p:pRg st="3" end="3"/>
                                            </p:txEl>
                                          </p:spTgt>
                                        </p:tgtEl>
                                      </p:cBhvr>
                                    </p:animEffect>
                                  </p:childTnLst>
                                </p:cTn>
                              </p:par>
                              <p:par>
                                <p:cTn id="102" presetID="9" presetClass="entr" presetSubtype="0" fill="hold" nodeType="withEffect">
                                  <p:stCondLst>
                                    <p:cond delay="0"/>
                                  </p:stCondLst>
                                  <p:childTnLst>
                                    <p:set>
                                      <p:cBhvr>
                                        <p:cTn id="103" dur="1" fill="hold">
                                          <p:stCondLst>
                                            <p:cond delay="0"/>
                                          </p:stCondLst>
                                        </p:cTn>
                                        <p:tgtEl>
                                          <p:spTgt spid="19"/>
                                        </p:tgtEl>
                                        <p:attrNameLst>
                                          <p:attrName>style.visibility</p:attrName>
                                        </p:attrNameLst>
                                      </p:cBhvr>
                                      <p:to>
                                        <p:strVal val="visible"/>
                                      </p:to>
                                    </p:set>
                                    <p:animEffect transition="in" filter="dissolve">
                                      <p:cBhvr>
                                        <p:cTn id="104" dur="500"/>
                                        <p:tgtEl>
                                          <p:spTgt spid="19"/>
                                        </p:tgtEl>
                                      </p:cBhvr>
                                    </p:animEffect>
                                  </p:childTnLst>
                                </p:cTn>
                              </p:par>
                              <p:par>
                                <p:cTn id="105" presetID="9" presetClass="entr" presetSubtype="0" fill="hold" nodeType="withEffect">
                                  <p:stCondLst>
                                    <p:cond delay="0"/>
                                  </p:stCondLst>
                                  <p:childTnLst>
                                    <p:set>
                                      <p:cBhvr>
                                        <p:cTn id="106" dur="1" fill="hold">
                                          <p:stCondLst>
                                            <p:cond delay="0"/>
                                          </p:stCondLst>
                                        </p:cTn>
                                        <p:tgtEl>
                                          <p:spTgt spid="18"/>
                                        </p:tgtEl>
                                        <p:attrNameLst>
                                          <p:attrName>style.visibility</p:attrName>
                                        </p:attrNameLst>
                                      </p:cBhvr>
                                      <p:to>
                                        <p:strVal val="visible"/>
                                      </p:to>
                                    </p:set>
                                    <p:animEffect transition="in" filter="dissolve">
                                      <p:cBhvr>
                                        <p:cTn id="107" dur="500"/>
                                        <p:tgtEl>
                                          <p:spTgt spid="18"/>
                                        </p:tgtEl>
                                      </p:cBhvr>
                                    </p:animEffect>
                                  </p:childTnLst>
                                </p:cTn>
                              </p:par>
                              <p:par>
                                <p:cTn id="108" presetID="9" presetClass="entr" presetSubtype="0" fill="hold" nodeType="withEffect">
                                  <p:stCondLst>
                                    <p:cond delay="0"/>
                                  </p:stCondLst>
                                  <p:childTnLst>
                                    <p:set>
                                      <p:cBhvr>
                                        <p:cTn id="109" dur="1" fill="hold">
                                          <p:stCondLst>
                                            <p:cond delay="0"/>
                                          </p:stCondLst>
                                        </p:cTn>
                                        <p:tgtEl>
                                          <p:spTgt spid="16"/>
                                        </p:tgtEl>
                                        <p:attrNameLst>
                                          <p:attrName>style.visibility</p:attrName>
                                        </p:attrNameLst>
                                      </p:cBhvr>
                                      <p:to>
                                        <p:strVal val="visible"/>
                                      </p:to>
                                    </p:set>
                                    <p:animEffect transition="in" filter="dissolve">
                                      <p:cBhvr>
                                        <p:cTn id="110" dur="500"/>
                                        <p:tgtEl>
                                          <p:spTgt spid="16"/>
                                        </p:tgtEl>
                                      </p:cBhvr>
                                    </p:animEffect>
                                  </p:childTnLst>
                                </p:cTn>
                              </p:par>
                              <p:par>
                                <p:cTn id="111" presetID="9" presetClass="entr" presetSubtype="0" fill="hold" nodeType="with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dissolve">
                                      <p:cBhvr>
                                        <p:cTn id="113" dur="500"/>
                                        <p:tgtEl>
                                          <p:spTgt spid="17"/>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9">
                                            <p:txEl>
                                              <p:pRg st="4" end="4"/>
                                            </p:txEl>
                                          </p:spTgt>
                                        </p:tgtEl>
                                        <p:attrNameLst>
                                          <p:attrName>style.visibility</p:attrName>
                                        </p:attrNameLst>
                                      </p:cBhvr>
                                      <p:to>
                                        <p:strVal val="visible"/>
                                      </p:to>
                                    </p:set>
                                    <p:animEffect transition="in" filter="dissolve">
                                      <p:cBhvr>
                                        <p:cTn id="118" dur="500"/>
                                        <p:tgtEl>
                                          <p:spTgt spid="9">
                                            <p:txEl>
                                              <p:pRg st="4" end="4"/>
                                            </p:txEl>
                                          </p:spTgt>
                                        </p:tgtEl>
                                      </p:cBhvr>
                                    </p:animEffect>
                                  </p:childTnLst>
                                </p:cTn>
                              </p:par>
                              <p:par>
                                <p:cTn id="119" presetID="9" presetClass="entr" presetSubtype="0" fill="hold" nodeType="withEffect">
                                  <p:stCondLst>
                                    <p:cond delay="0"/>
                                  </p:stCondLst>
                                  <p:childTnLst>
                                    <p:set>
                                      <p:cBhvr>
                                        <p:cTn id="120" dur="1" fill="hold">
                                          <p:stCondLst>
                                            <p:cond delay="0"/>
                                          </p:stCondLst>
                                        </p:cTn>
                                        <p:tgtEl>
                                          <p:spTgt spid="2"/>
                                        </p:tgtEl>
                                        <p:attrNameLst>
                                          <p:attrName>style.visibility</p:attrName>
                                        </p:attrNameLst>
                                      </p:cBhvr>
                                      <p:to>
                                        <p:strVal val="visible"/>
                                      </p:to>
                                    </p:set>
                                    <p:animEffect transition="in" filter="dissolve">
                                      <p:cBhvr>
                                        <p:cTn id="121" dur="500"/>
                                        <p:tgtEl>
                                          <p:spTgt spid="2"/>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grpId="0" nodeType="clickEffect">
                                  <p:stCondLst>
                                    <p:cond delay="0"/>
                                  </p:stCondLst>
                                  <p:childTnLst>
                                    <p:set>
                                      <p:cBhvr>
                                        <p:cTn id="125" dur="1" fill="hold">
                                          <p:stCondLst>
                                            <p:cond delay="0"/>
                                          </p:stCondLst>
                                        </p:cTn>
                                        <p:tgtEl>
                                          <p:spTgt spid="8"/>
                                        </p:tgtEl>
                                        <p:attrNameLst>
                                          <p:attrName>style.visibility</p:attrName>
                                        </p:attrNameLst>
                                      </p:cBhvr>
                                      <p:to>
                                        <p:strVal val="visible"/>
                                      </p:to>
                                    </p:set>
                                    <p:animEffect transition="in" filter="dissolve">
                                      <p:cBhvr>
                                        <p:cTn id="1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25" grpId="0" animBg="1"/>
      <p:bldP spid="2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21717ACF-F584-427D-B3C1-DC2F9CD0CE34}" type="slidenum">
              <a:rPr kumimoji="0" lang="en-US" altLang="zh-CN" sz="1400" smtClean="0">
                <a:ea typeface="微软雅黑" panose="020B0503020204020204" pitchFamily="34" charset="-122"/>
              </a:rPr>
              <a:t>52</a:t>
            </a:fld>
            <a:endParaRPr kumimoji="0" lang="en-US" altLang="zh-CN" sz="1400">
              <a:ea typeface="微软雅黑" panose="020B0503020204020204" pitchFamily="34" charset="-122"/>
            </a:endParaRPr>
          </a:p>
        </p:txBody>
      </p:sp>
      <p:sp>
        <p:nvSpPr>
          <p:cNvPr id="3" name="矩形 2"/>
          <p:cNvSpPr>
            <a:spLocks noChangeArrowheads="1"/>
          </p:cNvSpPr>
          <p:nvPr/>
        </p:nvSpPr>
        <p:spPr bwMode="auto">
          <a:xfrm>
            <a:off x="0" y="981075"/>
            <a:ext cx="9144000" cy="4459288"/>
          </a:xfrm>
          <a:prstGeom prst="rect">
            <a:avLst/>
          </a:prstGeom>
          <a:noFill/>
          <a:ln>
            <a:noFill/>
          </a:ln>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defRP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第一步：画二维直角坐标系，非负约束构成坐标系的第一象限</a:t>
            </a:r>
          </a:p>
          <a:p>
            <a:pPr marL="1167130" indent="-1167130" eaLnBrk="1" hangingPunct="1">
              <a:lnSpc>
                <a:spcPct val="150000"/>
              </a:lnSpc>
              <a:defRP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第二步：画出每条约束所对应的区域（对不等式约束，首先画出       等式线，再判明约束方向），并确定线性规划问题的可行域（即各条约束所对应区域的交集）</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1167130" indent="-1167130" eaLnBrk="1" hangingPunct="1">
              <a:lnSpc>
                <a:spcPct val="150000"/>
              </a:lnSpc>
              <a:defRP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第三步：根据目标优化方向平移目标函数等值线，直到不能再平移为止，确定线性规划问题对应的最优点</a:t>
            </a:r>
          </a:p>
          <a:p>
            <a:pPr marL="1079500" indent="-1079500" eaLnBrk="1" hangingPunct="1">
              <a:lnSpc>
                <a:spcPct val="150000"/>
              </a:lnSpc>
              <a:defRP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第四步：根据最优点满足的等式构建联立方程组，从而求解出最优方案，并计算最优方案所对应的最优目标函数值</a:t>
            </a:r>
          </a:p>
        </p:txBody>
      </p:sp>
      <p:sp>
        <p:nvSpPr>
          <p:cNvPr id="9220" name="Rectangle 2"/>
          <p:cNvSpPr txBox="1">
            <a:spLocks noChangeArrowheads="1"/>
          </p:cNvSpPr>
          <p:nvPr/>
        </p:nvSpPr>
        <p:spPr bwMode="auto">
          <a:xfrm>
            <a:off x="0" y="115888"/>
            <a:ext cx="900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23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总结：只有两个决策变量的线性规划问题，图解法的一般步骤包括：</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D:\OR-第三版校对稿\3nd运筹学-图及txt文件\tp\1g4.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 y="4292600"/>
            <a:ext cx="316865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3" name="组合 1"/>
          <p:cNvGrpSpPr/>
          <p:nvPr/>
        </p:nvGrpSpPr>
        <p:grpSpPr bwMode="auto">
          <a:xfrm>
            <a:off x="2484438" y="2924175"/>
            <a:ext cx="3317875" cy="2225675"/>
            <a:chOff x="5148064" y="4076700"/>
            <a:chExt cx="3317875" cy="2224460"/>
          </a:xfrm>
        </p:grpSpPr>
        <p:pic>
          <p:nvPicPr>
            <p:cNvPr id="10251" name="Picture 3" descr="D:\OR-第三版校对稿\3nd运筹学-图及txt文件\tp\1g2.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4" y="4077072"/>
              <a:ext cx="3317875"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2" name="Line 4"/>
            <p:cNvSpPr>
              <a:spLocks noChangeShapeType="1"/>
            </p:cNvSpPr>
            <p:nvPr/>
          </p:nvSpPr>
          <p:spPr bwMode="auto">
            <a:xfrm>
              <a:off x="5148263" y="4076700"/>
              <a:ext cx="3287712" cy="20891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3" name="Line 8"/>
            <p:cNvSpPr>
              <a:spLocks noChangeShapeType="1"/>
            </p:cNvSpPr>
            <p:nvPr/>
          </p:nvSpPr>
          <p:spPr bwMode="auto">
            <a:xfrm flipV="1">
              <a:off x="7956550" y="5300663"/>
              <a:ext cx="381000" cy="533400"/>
            </a:xfrm>
            <a:prstGeom prst="line">
              <a:avLst/>
            </a:prstGeom>
            <a:noFill/>
            <a:ln w="762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9"/>
            <p:cNvSpPr>
              <a:spLocks noChangeShapeType="1"/>
            </p:cNvSpPr>
            <p:nvPr/>
          </p:nvSpPr>
          <p:spPr bwMode="auto">
            <a:xfrm flipV="1">
              <a:off x="6011863" y="4124325"/>
              <a:ext cx="304800" cy="457200"/>
            </a:xfrm>
            <a:prstGeom prst="line">
              <a:avLst/>
            </a:prstGeom>
            <a:noFill/>
            <a:ln w="762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44" name="TextBox 1"/>
          <p:cNvSpPr txBox="1">
            <a:spLocks noChangeArrowheads="1"/>
          </p:cNvSpPr>
          <p:nvPr/>
        </p:nvSpPr>
        <p:spPr bwMode="auto">
          <a:xfrm>
            <a:off x="0" y="52388"/>
            <a:ext cx="91392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微软雅黑" panose="020B0503020204020204" pitchFamily="34" charset="-122"/>
                <a:ea typeface="微软雅黑" panose="020B0503020204020204" pitchFamily="34" charset="-122"/>
              </a:rPr>
              <a:t>例</a:t>
            </a:r>
            <a:r>
              <a:rPr kumimoji="0" lang="en-US" altLang="zh-CN" b="1">
                <a:latin typeface="微软雅黑" panose="020B0503020204020204" pitchFamily="34" charset="-122"/>
                <a:ea typeface="微软雅黑" panose="020B0503020204020204" pitchFamily="34" charset="-122"/>
              </a:rPr>
              <a:t>2-5</a:t>
            </a:r>
            <a:r>
              <a:rPr kumimoji="0" lang="zh-CN" altLang="en-US" b="1">
                <a:latin typeface="微软雅黑" panose="020B0503020204020204" pitchFamily="34" charset="-122"/>
                <a:ea typeface="微软雅黑" panose="020B0503020204020204" pitchFamily="34" charset="-122"/>
              </a:rPr>
              <a:t>求解得到问题的最优解是唯一的</a:t>
            </a:r>
            <a:endParaRPr kumimoji="0" lang="en-US" altLang="zh-CN" b="1">
              <a:latin typeface="微软雅黑" panose="020B0503020204020204" pitchFamily="34" charset="-122"/>
              <a:ea typeface="微软雅黑" panose="020B0503020204020204" pitchFamily="34" charset="-122"/>
            </a:endParaRPr>
          </a:p>
          <a:p>
            <a:pPr eaLnBrk="1" hangingPunct="1"/>
            <a:r>
              <a:rPr kumimoji="0" lang="zh-CN" altLang="en-US" b="1">
                <a:latin typeface="微软雅黑" panose="020B0503020204020204" pitchFamily="34" charset="-122"/>
                <a:ea typeface="微软雅黑" panose="020B0503020204020204" pitchFamily="34" charset="-122"/>
              </a:rPr>
              <a:t>但对一般线性规划问题</a:t>
            </a:r>
            <a:r>
              <a:rPr kumimoji="0" lang="en-US" altLang="zh-CN" b="1">
                <a:latin typeface="微软雅黑" panose="020B0503020204020204" pitchFamily="34" charset="-122"/>
                <a:ea typeface="微软雅黑" panose="020B0503020204020204" pitchFamily="34" charset="-122"/>
              </a:rPr>
              <a:t>, </a:t>
            </a:r>
            <a:r>
              <a:rPr kumimoji="0" lang="zh-CN" altLang="en-US" b="1">
                <a:latin typeface="微软雅黑" panose="020B0503020204020204" pitchFamily="34" charset="-122"/>
                <a:ea typeface="微软雅黑" panose="020B0503020204020204" pitchFamily="34" charset="-122"/>
              </a:rPr>
              <a:t>求解结果还可能出现以下几种情况</a:t>
            </a:r>
            <a:r>
              <a:rPr kumimoji="0" lang="en-US" altLang="zh-CN" b="1">
                <a:latin typeface="微软雅黑" panose="020B0503020204020204" pitchFamily="34" charset="-122"/>
                <a:ea typeface="微软雅黑" panose="020B0503020204020204" pitchFamily="34" charset="-122"/>
              </a:rPr>
              <a:t>:</a:t>
            </a:r>
            <a:endParaRPr kumimoji="0" lang="zh-CN" altLang="en-US"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245" name="矩形 2"/>
          <p:cNvSpPr>
            <a:spLocks noChangeArrowheads="1"/>
          </p:cNvSpPr>
          <p:nvPr/>
        </p:nvSpPr>
        <p:spPr bwMode="auto">
          <a:xfrm>
            <a:off x="319088" y="969963"/>
            <a:ext cx="8229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）无穷多最优解</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多重最优解</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，见图</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2-4</a:t>
            </a:r>
          </a:p>
          <a:p>
            <a:pPr eaLnBrk="1" hangingPunct="1"/>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）无可行解，见图</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2-5</a:t>
            </a:r>
          </a:p>
          <a:p>
            <a:pPr eaLnBrk="1" hangingPunct="1"/>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）无有界最优解，见图</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2-6</a:t>
            </a:r>
          </a:p>
          <a:p>
            <a:pPr eaLnBrk="1" hangingPunct="1"/>
            <a:endParaRPr kumimoji="0"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46" name="Picture 4" descr="D:\OR-第三版校对稿\3nd运筹学-图及txt文件\tp\1g5.t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0888" y="2997200"/>
            <a:ext cx="3313112"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Rectangle 7"/>
          <p:cNvSpPr>
            <a:spLocks noChangeArrowheads="1"/>
          </p:cNvSpPr>
          <p:nvPr/>
        </p:nvSpPr>
        <p:spPr bwMode="auto">
          <a:xfrm>
            <a:off x="827088" y="6237288"/>
            <a:ext cx="902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latin typeface="仿宋_GB2312" pitchFamily="49" charset="-122"/>
                <a:ea typeface="仿宋_GB2312" pitchFamily="49" charset="-122"/>
              </a:rPr>
              <a:t>图</a:t>
            </a:r>
            <a:r>
              <a:rPr kumimoji="0" lang="en-US" altLang="zh-CN" dirty="0">
                <a:latin typeface="Times New Roman" panose="02020603050405020304" pitchFamily="18" charset="0"/>
                <a:ea typeface="仿宋_GB2312" pitchFamily="49" charset="-122"/>
                <a:cs typeface="Times New Roman" panose="02020603050405020304" pitchFamily="18" charset="0"/>
              </a:rPr>
              <a:t>2-4</a:t>
            </a:r>
            <a:endParaRPr kumimoji="0" lang="zh-CN" altLang="en-US" dirty="0">
              <a:latin typeface="Times New Roman" panose="02020603050405020304" pitchFamily="18" charset="0"/>
              <a:ea typeface="仿宋_GB2312" pitchFamily="49" charset="-122"/>
              <a:cs typeface="Times New Roman" panose="02020603050405020304" pitchFamily="18" charset="0"/>
            </a:endParaRPr>
          </a:p>
        </p:txBody>
      </p:sp>
      <p:sp>
        <p:nvSpPr>
          <p:cNvPr id="10248" name="Rectangle 8"/>
          <p:cNvSpPr>
            <a:spLocks noChangeArrowheads="1"/>
          </p:cNvSpPr>
          <p:nvPr/>
        </p:nvSpPr>
        <p:spPr bwMode="auto">
          <a:xfrm>
            <a:off x="3924300" y="5373688"/>
            <a:ext cx="1020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latin typeface="仿宋_GB2312" pitchFamily="49" charset="-122"/>
                <a:ea typeface="仿宋_GB2312" pitchFamily="49" charset="-122"/>
              </a:rPr>
              <a:t>图</a:t>
            </a:r>
            <a:r>
              <a:rPr kumimoji="0" lang="en-US" altLang="zh-CN" dirty="0">
                <a:latin typeface="Times New Roman" panose="02020603050405020304" pitchFamily="18" charset="0"/>
                <a:ea typeface="仿宋_GB2312" pitchFamily="49" charset="-122"/>
                <a:cs typeface="Times New Roman" panose="02020603050405020304" pitchFamily="18" charset="0"/>
              </a:rPr>
              <a:t>2-5</a:t>
            </a:r>
            <a:endParaRPr kumimoji="0" lang="zh-CN" altLang="en-US" dirty="0">
              <a:latin typeface="Times New Roman" panose="02020603050405020304" pitchFamily="18" charset="0"/>
              <a:ea typeface="仿宋_GB2312" pitchFamily="49" charset="-122"/>
              <a:cs typeface="Times New Roman" panose="02020603050405020304" pitchFamily="18" charset="0"/>
            </a:endParaRPr>
          </a:p>
        </p:txBody>
      </p:sp>
      <p:sp>
        <p:nvSpPr>
          <p:cNvPr id="10249" name="Rectangle 9"/>
          <p:cNvSpPr>
            <a:spLocks noChangeArrowheads="1"/>
          </p:cNvSpPr>
          <p:nvPr/>
        </p:nvSpPr>
        <p:spPr bwMode="auto">
          <a:xfrm>
            <a:off x="7019925" y="5516563"/>
            <a:ext cx="902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latin typeface="仿宋_GB2312" pitchFamily="49" charset="-122"/>
                <a:ea typeface="仿宋_GB2312" pitchFamily="49" charset="-122"/>
              </a:rPr>
              <a:t>图</a:t>
            </a:r>
            <a:r>
              <a:rPr kumimoji="0" lang="en-US" altLang="zh-CN" dirty="0">
                <a:latin typeface="Times New Roman" panose="02020603050405020304" pitchFamily="18" charset="0"/>
                <a:ea typeface="仿宋_GB2312" pitchFamily="49" charset="-122"/>
                <a:cs typeface="Times New Roman" panose="02020603050405020304" pitchFamily="18" charset="0"/>
              </a:rPr>
              <a:t>2-6</a:t>
            </a:r>
            <a:endParaRPr kumimoji="0" lang="zh-CN" altLang="en-US" dirty="0">
              <a:latin typeface="Times New Roman" panose="02020603050405020304" pitchFamily="18" charset="0"/>
              <a:ea typeface="仿宋_GB2312" pitchFamily="49" charset="-122"/>
              <a:cs typeface="Times New Roman" panose="02020603050405020304" pitchFamily="18" charset="0"/>
            </a:endParaRPr>
          </a:p>
        </p:txBody>
      </p:sp>
      <p:sp>
        <p:nvSpPr>
          <p:cNvPr id="10250"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94D1F8DF-3520-4C6E-8A8D-FEA728E38218}" type="slidenum">
              <a:rPr kumimoji="0" lang="en-US" altLang="zh-CN" sz="1400" smtClean="0">
                <a:ea typeface="微软雅黑" panose="020B0503020204020204" pitchFamily="34" charset="-122"/>
              </a:rPr>
              <a:t>53</a:t>
            </a:fld>
            <a:endParaRPr kumimoji="0" lang="en-US" altLang="zh-CN" sz="1400">
              <a:ea typeface="微软雅黑" panose="020B0503020204020204" pitchFamily="34" charset="-122"/>
            </a:endParaRPr>
          </a:p>
        </p:txBody>
      </p:sp>
    </p:spTree>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descr="D:\OR-第三版校对稿\3nd运筹学-图及txt文件\tp\1g4.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531813"/>
            <a:ext cx="6172200"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矩形 1"/>
          <p:cNvSpPr>
            <a:spLocks noChangeArrowheads="1"/>
          </p:cNvSpPr>
          <p:nvPr/>
        </p:nvSpPr>
        <p:spPr bwMode="auto">
          <a:xfrm>
            <a:off x="179388" y="115888"/>
            <a:ext cx="4706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）无穷多最优解</a:t>
            </a:r>
            <a:r>
              <a:rPr kumimoji="0" lang="en-US"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多重最优解</a:t>
            </a:r>
            <a:r>
              <a:rPr kumimoji="0" lang="en-US"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268" name="Text Box 5"/>
          <p:cNvSpPr txBox="1">
            <a:spLocks noChangeArrowheads="1"/>
          </p:cNvSpPr>
          <p:nvPr/>
        </p:nvSpPr>
        <p:spPr bwMode="auto">
          <a:xfrm>
            <a:off x="2779713" y="12954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a:latin typeface="Verdana" panose="020B0604030504040204" pitchFamily="34" charset="0"/>
                <a:ea typeface="微软雅黑" panose="020B0503020204020204" pitchFamily="34" charset="-122"/>
              </a:rPr>
              <a:t>目标函数    </a:t>
            </a:r>
            <a:r>
              <a:rPr kumimoji="0" lang="en-US" altLang="zh-CN">
                <a:latin typeface="Times New Roman" panose="02020603050405020304" pitchFamily="18" charset="0"/>
                <a:ea typeface="微软雅黑" panose="020B0503020204020204" pitchFamily="34" charset="-122"/>
                <a:cs typeface="Times New Roman" panose="02020603050405020304" pitchFamily="18" charset="0"/>
              </a:rPr>
              <a:t>max z=2</a:t>
            </a:r>
            <a:r>
              <a:rPr kumimoji="0" lang="en-US" altLang="zh-CN"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aseline="-3000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aseline="-30000">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1269" name="Line 6"/>
          <p:cNvSpPr>
            <a:spLocks noChangeShapeType="1"/>
          </p:cNvSpPr>
          <p:nvPr/>
        </p:nvSpPr>
        <p:spPr bwMode="auto">
          <a:xfrm flipH="1" flipV="1">
            <a:off x="4876800" y="1828800"/>
            <a:ext cx="533400" cy="15240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7"/>
          <p:cNvSpPr>
            <a:spLocks noChangeShapeType="1"/>
          </p:cNvSpPr>
          <p:nvPr/>
        </p:nvSpPr>
        <p:spPr bwMode="auto">
          <a:xfrm flipH="1">
            <a:off x="2133600" y="1676400"/>
            <a:ext cx="762000" cy="565150"/>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75" name="矩形 9"/>
          <p:cNvSpPr>
            <a:spLocks noChangeArrowheads="1"/>
          </p:cNvSpPr>
          <p:nvPr/>
        </p:nvSpPr>
        <p:spPr bwMode="auto">
          <a:xfrm>
            <a:off x="34925" y="4581525"/>
            <a:ext cx="9072563" cy="2095500"/>
          </a:xfrm>
          <a:prstGeom prst="rect">
            <a:avLst/>
          </a:prstGeom>
          <a:noFill/>
          <a:ln w="57150">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1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若将例</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2-5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中的目标函数变为求                          </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则表示目标函数中以参数</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的这族平行直线与约束条件   </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的边界线平行。</a:t>
            </a:r>
            <a:endParaRPr kumimoji="0" lang="en-US" altLang="zh-CN" b="1">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1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当</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值由小变大时</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将与线段   </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重合。</a:t>
            </a:r>
            <a:endParaRPr kumimoji="0" lang="en-US" altLang="zh-CN" b="1">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10000"/>
              </a:lnSpc>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线段  </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上任意一点都使</a:t>
            </a:r>
            <a:r>
              <a:rPr kumimoji="0" lang="en-US" altLang="zh-CN" b="1">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取得相同的最大值</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这个线性规划问题有无穷多最优解</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多重最优解</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a:t>
            </a:r>
          </a:p>
        </p:txBody>
      </p:sp>
      <p:graphicFrame>
        <p:nvGraphicFramePr>
          <p:cNvPr id="11272" name="对象 1"/>
          <p:cNvGraphicFramePr>
            <a:graphicFrameLocks noChangeAspect="1"/>
          </p:cNvGraphicFramePr>
          <p:nvPr/>
        </p:nvGraphicFramePr>
        <p:xfrm>
          <a:off x="4481513" y="4640263"/>
          <a:ext cx="2184400" cy="381000"/>
        </p:xfrm>
        <a:graphic>
          <a:graphicData uri="http://schemas.openxmlformats.org/presentationml/2006/ole">
            <mc:AlternateContent xmlns:mc="http://schemas.openxmlformats.org/markup-compatibility/2006">
              <mc:Choice xmlns:v="urn:schemas-microsoft-com:vml" Requires="v">
                <p:oleObj spid="_x0000_s24949" name="Equation" r:id="rId4" imgW="2184400" imgH="381000" progId="Equation.DSMT4">
                  <p:embed/>
                </p:oleObj>
              </mc:Choice>
              <mc:Fallback>
                <p:oleObj name="Equation" r:id="rId4" imgW="2184400" imgH="381000"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1513" y="4640263"/>
                        <a:ext cx="218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3" name="对象 2"/>
          <p:cNvGraphicFramePr>
            <a:graphicFrameLocks noChangeAspect="1"/>
          </p:cNvGraphicFramePr>
          <p:nvPr/>
        </p:nvGraphicFramePr>
        <p:xfrm>
          <a:off x="1727200" y="5157788"/>
          <a:ext cx="190500" cy="190500"/>
        </p:xfrm>
        <a:graphic>
          <a:graphicData uri="http://schemas.openxmlformats.org/presentationml/2006/ole">
            <mc:AlternateContent xmlns:mc="http://schemas.openxmlformats.org/markup-compatibility/2006">
              <mc:Choice xmlns:v="urn:schemas-microsoft-com:vml" Requires="v">
                <p:oleObj spid="_x0000_s24950" name="Equation" r:id="rId6" imgW="190500" imgH="190500" progId="Equation.DSMT4">
                  <p:embed/>
                </p:oleObj>
              </mc:Choice>
              <mc:Fallback>
                <p:oleObj name="Equation" r:id="rId6" imgW="190500" imgH="190500" progId="Equation.DSMT4">
                  <p:embed/>
                  <p:pic>
                    <p:nvPicPr>
                      <p:cNvPr id="0"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7200" y="5157788"/>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3635375" y="5938838"/>
          <a:ext cx="190500" cy="190500"/>
        </p:xfrm>
        <a:graphic>
          <a:graphicData uri="http://schemas.openxmlformats.org/presentationml/2006/ole">
            <mc:AlternateContent xmlns:mc="http://schemas.openxmlformats.org/markup-compatibility/2006">
              <mc:Choice xmlns:v="urn:schemas-microsoft-com:vml" Requires="v">
                <p:oleObj spid="_x0000_s24951" name="Equation" r:id="rId8" imgW="190500" imgH="190500" progId="Equation.DSMT4">
                  <p:embed/>
                </p:oleObj>
              </mc:Choice>
              <mc:Fallback>
                <p:oleObj name="Equation" r:id="rId8" imgW="190500" imgH="190500" progId="Equation.DSMT4">
                  <p:embed/>
                  <p:pic>
                    <p:nvPicPr>
                      <p:cNvPr id="0" name="对象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375" y="5938838"/>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5" name="对象 4"/>
          <p:cNvGraphicFramePr>
            <a:graphicFrameLocks noChangeAspect="1"/>
          </p:cNvGraphicFramePr>
          <p:nvPr/>
        </p:nvGraphicFramePr>
        <p:xfrm>
          <a:off x="5651500" y="5032375"/>
          <a:ext cx="1409700" cy="381000"/>
        </p:xfrm>
        <a:graphic>
          <a:graphicData uri="http://schemas.openxmlformats.org/presentationml/2006/ole">
            <mc:AlternateContent xmlns:mc="http://schemas.openxmlformats.org/markup-compatibility/2006">
              <mc:Choice xmlns:v="urn:schemas-microsoft-com:vml" Requires="v">
                <p:oleObj spid="_x0000_s24952" name="Equation" r:id="rId10" imgW="1409065" imgH="381000" progId="Equation.DSMT4">
                  <p:embed/>
                </p:oleObj>
              </mc:Choice>
              <mc:Fallback>
                <p:oleObj name="Equation" r:id="rId10" imgW="1409065" imgH="381000" progId="Equation.DSMT4">
                  <p:embed/>
                  <p:pic>
                    <p:nvPicPr>
                      <p:cNvPr id="0" name="对象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1500" y="5032375"/>
                        <a:ext cx="1409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68313" y="5551488"/>
          <a:ext cx="180975" cy="180975"/>
        </p:xfrm>
        <a:graphic>
          <a:graphicData uri="http://schemas.openxmlformats.org/presentationml/2006/ole">
            <mc:AlternateContent xmlns:mc="http://schemas.openxmlformats.org/markup-compatibility/2006">
              <mc:Choice xmlns:v="urn:schemas-microsoft-com:vml" Requires="v">
                <p:oleObj spid="_x0000_s24953" name="Equation" r:id="rId12" imgW="196850" imgH="196850" progId="Equation.DSMT4">
                  <p:embed/>
                </p:oleObj>
              </mc:Choice>
              <mc:Fallback>
                <p:oleObj name="Equation" r:id="rId12" imgW="196850" imgH="196850" progId="Equation.DSMT4">
                  <p:embed/>
                  <p:pic>
                    <p:nvPicPr>
                      <p:cNvPr id="0" name="对象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8313" y="5551488"/>
                        <a:ext cx="18097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755650" y="5843588"/>
          <a:ext cx="330200" cy="381000"/>
        </p:xfrm>
        <a:graphic>
          <a:graphicData uri="http://schemas.openxmlformats.org/presentationml/2006/ole">
            <mc:AlternateContent xmlns:mc="http://schemas.openxmlformats.org/markup-compatibility/2006">
              <mc:Choice xmlns:v="urn:schemas-microsoft-com:vml" Requires="v">
                <p:oleObj spid="_x0000_s24954" name="Equation" r:id="rId14" imgW="330200" imgH="381000" progId="Equation.DSMT4">
                  <p:embed/>
                </p:oleObj>
              </mc:Choice>
              <mc:Fallback>
                <p:oleObj name="Equation" r:id="rId14" imgW="330200" imgH="381000" progId="Equation.DSMT4">
                  <p:embed/>
                  <p:pic>
                    <p:nvPicPr>
                      <p:cNvPr id="0" name="对象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5650" y="5843588"/>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1085850" y="5843588"/>
          <a:ext cx="317500" cy="381000"/>
        </p:xfrm>
        <a:graphic>
          <a:graphicData uri="http://schemas.openxmlformats.org/presentationml/2006/ole">
            <mc:AlternateContent xmlns:mc="http://schemas.openxmlformats.org/markup-compatibility/2006">
              <mc:Choice xmlns:v="urn:schemas-microsoft-com:vml" Requires="v">
                <p:oleObj spid="_x0000_s24955" name="Equation" r:id="rId16" imgW="317500" imgH="380365" progId="Equation.DSMT4">
                  <p:embed/>
                </p:oleObj>
              </mc:Choice>
              <mc:Fallback>
                <p:oleObj name="Equation" r:id="rId16" imgW="317500" imgH="380365" progId="Equation.DSMT4">
                  <p:embed/>
                  <p:pic>
                    <p:nvPicPr>
                      <p:cNvPr id="0" name="对象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85850" y="5843588"/>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3924300" y="5413375"/>
          <a:ext cx="330200" cy="381000"/>
        </p:xfrm>
        <a:graphic>
          <a:graphicData uri="http://schemas.openxmlformats.org/presentationml/2006/ole">
            <mc:AlternateContent xmlns:mc="http://schemas.openxmlformats.org/markup-compatibility/2006">
              <mc:Choice xmlns:v="urn:schemas-microsoft-com:vml" Requires="v">
                <p:oleObj spid="_x0000_s24956" name="Equation" r:id="rId18" imgW="330200" imgH="381000" progId="Equation.DSMT4">
                  <p:embed/>
                </p:oleObj>
              </mc:Choice>
              <mc:Fallback>
                <p:oleObj name="Equation" r:id="rId18" imgW="330200" imgH="381000" progId="Equation.DSMT4">
                  <p:embed/>
                  <p:pic>
                    <p:nvPicPr>
                      <p:cNvPr id="0"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24300" y="5413375"/>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4259263" y="5438775"/>
          <a:ext cx="317500" cy="381000"/>
        </p:xfrm>
        <a:graphic>
          <a:graphicData uri="http://schemas.openxmlformats.org/presentationml/2006/ole">
            <mc:AlternateContent xmlns:mc="http://schemas.openxmlformats.org/markup-compatibility/2006">
              <mc:Choice xmlns:v="urn:schemas-microsoft-com:vml" Requires="v">
                <p:oleObj spid="_x0000_s24957" name="Equation" r:id="rId19" imgW="317500" imgH="380365" progId="Equation.DSMT4">
                  <p:embed/>
                </p:oleObj>
              </mc:Choice>
              <mc:Fallback>
                <p:oleObj name="Equation" r:id="rId19" imgW="317500" imgH="380365" progId="Equation.DSMT4">
                  <p:embed/>
                  <p:pic>
                    <p:nvPicPr>
                      <p:cNvPr id="0" name="对象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59263" y="5438775"/>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81"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7CD2363B-998E-4B07-9FE0-4CC5864A323B}" type="slidenum">
              <a:rPr kumimoji="0" lang="en-US" altLang="zh-CN" sz="1400" smtClean="0">
                <a:ea typeface="微软雅黑" panose="020B0503020204020204" pitchFamily="34" charset="-122"/>
              </a:rPr>
              <a:t>54</a:t>
            </a:fld>
            <a:endParaRPr kumimoji="0" lang="en-US" altLang="zh-CN" sz="1400">
              <a:ea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5">
                                            <p:txEl>
                                              <p:pRg st="1" end="1"/>
                                            </p:txEl>
                                          </p:spTgt>
                                        </p:tgtEl>
                                        <p:attrNameLst>
                                          <p:attrName>style.visibility</p:attrName>
                                        </p:attrNameLst>
                                      </p:cBhvr>
                                      <p:to>
                                        <p:strVal val="visible"/>
                                      </p:to>
                                    </p:set>
                                    <p:animEffect transition="in" filter="blinds(horizontal)">
                                      <p:cBhvr>
                                        <p:cTn id="7" dur="500"/>
                                        <p:tgtEl>
                                          <p:spTgt spid="3277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linds(horizontal)">
                                      <p:cBhvr>
                                        <p:cTn id="13" dur="500"/>
                                        <p:tgtEl>
                                          <p:spTgt spid="17"/>
                                        </p:tgtEl>
                                      </p:cBhvr>
                                    </p:animEffect>
                                  </p:childTnLst>
                                </p:cTn>
                              </p:par>
                              <p:par>
                                <p:cTn id="14" presetID="3" presetClass="entr" presetSubtype="1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2775">
                                            <p:txEl>
                                              <p:pRg st="2" end="2"/>
                                            </p:txEl>
                                          </p:spTgt>
                                        </p:tgtEl>
                                        <p:attrNameLst>
                                          <p:attrName>style.visibility</p:attrName>
                                        </p:attrNameLst>
                                      </p:cBhvr>
                                      <p:to>
                                        <p:strVal val="visible"/>
                                      </p:to>
                                    </p:set>
                                    <p:animEffect transition="in" filter="blinds(horizontal)">
                                      <p:cBhvr>
                                        <p:cTn id="21" dur="500"/>
                                        <p:tgtEl>
                                          <p:spTgt spid="32775">
                                            <p:txEl>
                                              <p:pRg st="2" end="2"/>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par>
                                <p:cTn id="25" presetID="3" presetClass="entr" presetSubtype="1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par>
                                <p:cTn id="28" presetID="3" presetClass="entr" presetSubtype="10"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p:cNvSpPr txBox="1">
            <a:spLocks noChangeArrowheads="1"/>
          </p:cNvSpPr>
          <p:nvPr/>
        </p:nvSpPr>
        <p:spPr bwMode="auto">
          <a:xfrm>
            <a:off x="0" y="188913"/>
            <a:ext cx="396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solidFill>
                  <a:srgbClr val="FF0000"/>
                </a:solidFill>
                <a:latin typeface="微软雅黑" panose="020B0503020204020204" pitchFamily="34" charset="-122"/>
                <a:ea typeface="微软雅黑" panose="020B0503020204020204" pitchFamily="34" charset="-122"/>
              </a:rPr>
              <a:t>（</a:t>
            </a:r>
            <a:r>
              <a:rPr kumimoji="0" lang="en-US" altLang="zh-CN" b="1">
                <a:solidFill>
                  <a:srgbClr val="FF0000"/>
                </a:solidFill>
                <a:latin typeface="微软雅黑" panose="020B0503020204020204" pitchFamily="34" charset="-122"/>
                <a:ea typeface="微软雅黑" panose="020B0503020204020204" pitchFamily="34" charset="-122"/>
              </a:rPr>
              <a:t>2</a:t>
            </a:r>
            <a:r>
              <a:rPr kumimoji="0" lang="zh-CN" altLang="en-US" b="1">
                <a:solidFill>
                  <a:srgbClr val="FF0000"/>
                </a:solidFill>
                <a:latin typeface="微软雅黑" panose="020B0503020204020204" pitchFamily="34" charset="-122"/>
                <a:ea typeface="微软雅黑" panose="020B0503020204020204" pitchFamily="34" charset="-122"/>
              </a:rPr>
              <a:t>）无可行解</a:t>
            </a:r>
          </a:p>
        </p:txBody>
      </p:sp>
      <p:pic>
        <p:nvPicPr>
          <p:cNvPr id="12291" name="Picture 3" descr="D:\OR-第三版校对稿\3nd运筹学-图及txt文件\tp\1g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066800"/>
            <a:ext cx="511651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2" name="Object 3"/>
          <p:cNvGraphicFramePr>
            <a:graphicFrameLocks noChangeAspect="1"/>
          </p:cNvGraphicFramePr>
          <p:nvPr/>
        </p:nvGraphicFramePr>
        <p:xfrm>
          <a:off x="2286000" y="914400"/>
          <a:ext cx="1763713" cy="446088"/>
        </p:xfrm>
        <a:graphic>
          <a:graphicData uri="http://schemas.openxmlformats.org/presentationml/2006/ole">
            <mc:AlternateContent xmlns:mc="http://schemas.openxmlformats.org/markup-compatibility/2006">
              <mc:Choice xmlns:v="urn:schemas-microsoft-com:vml" Requires="v">
                <p:oleObj spid="_x0000_s25686" name="Equation" r:id="rId4" imgW="837565" imgH="215900" progId="Equation.DSMT4">
                  <p:embed/>
                </p:oleObj>
              </mc:Choice>
              <mc:Fallback>
                <p:oleObj name="Equation" r:id="rId4" imgW="837565" imgH="2159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914400"/>
                        <a:ext cx="1763713" cy="4460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3" name="Line 7"/>
          <p:cNvSpPr>
            <a:spLocks noChangeShapeType="1"/>
          </p:cNvSpPr>
          <p:nvPr/>
        </p:nvSpPr>
        <p:spPr bwMode="auto">
          <a:xfrm flipH="1">
            <a:off x="1524000" y="1295400"/>
            <a:ext cx="727075" cy="685800"/>
          </a:xfrm>
          <a:prstGeom prst="line">
            <a:avLst/>
          </a:prstGeom>
          <a:noFill/>
          <a:ln w="952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294" name="Rectangle 13"/>
          <p:cNvSpPr>
            <a:spLocks noChangeArrowheads="1"/>
          </p:cNvSpPr>
          <p:nvPr/>
        </p:nvSpPr>
        <p:spPr bwMode="auto">
          <a:xfrm>
            <a:off x="4800600" y="762000"/>
            <a:ext cx="286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增加的约束条件</a:t>
            </a:r>
          </a:p>
        </p:txBody>
      </p:sp>
      <p:sp>
        <p:nvSpPr>
          <p:cNvPr id="12295" name="Line 14"/>
          <p:cNvSpPr>
            <a:spLocks noChangeShapeType="1"/>
          </p:cNvSpPr>
          <p:nvPr/>
        </p:nvSpPr>
        <p:spPr bwMode="auto">
          <a:xfrm flipH="1">
            <a:off x="4038600" y="1020763"/>
            <a:ext cx="762000" cy="46037"/>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6" name="Line 4"/>
          <p:cNvSpPr>
            <a:spLocks noChangeShapeType="1"/>
          </p:cNvSpPr>
          <p:nvPr/>
        </p:nvSpPr>
        <p:spPr bwMode="auto">
          <a:xfrm>
            <a:off x="762000" y="1600200"/>
            <a:ext cx="4114800" cy="2590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7" name="Line 8"/>
          <p:cNvSpPr>
            <a:spLocks noChangeShapeType="1"/>
          </p:cNvSpPr>
          <p:nvPr/>
        </p:nvSpPr>
        <p:spPr bwMode="auto">
          <a:xfrm flipV="1">
            <a:off x="4191000" y="3200400"/>
            <a:ext cx="381000" cy="533400"/>
          </a:xfrm>
          <a:prstGeom prst="line">
            <a:avLst/>
          </a:prstGeom>
          <a:noFill/>
          <a:ln w="762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8" name="Line 9"/>
          <p:cNvSpPr>
            <a:spLocks noChangeShapeType="1"/>
          </p:cNvSpPr>
          <p:nvPr/>
        </p:nvSpPr>
        <p:spPr bwMode="auto">
          <a:xfrm flipV="1">
            <a:off x="1371600" y="1524000"/>
            <a:ext cx="304800" cy="457200"/>
          </a:xfrm>
          <a:prstGeom prst="line">
            <a:avLst/>
          </a:prstGeom>
          <a:noFill/>
          <a:ln w="762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299" name="组合 2"/>
          <p:cNvGrpSpPr/>
          <p:nvPr/>
        </p:nvGrpSpPr>
        <p:grpSpPr bwMode="auto">
          <a:xfrm>
            <a:off x="179388" y="5300663"/>
            <a:ext cx="8640762" cy="941387"/>
            <a:chOff x="179388" y="5300663"/>
            <a:chExt cx="8640762" cy="941387"/>
          </a:xfrm>
        </p:grpSpPr>
        <p:sp>
          <p:nvSpPr>
            <p:cNvPr id="12301" name="矩形 2"/>
            <p:cNvSpPr>
              <a:spLocks noChangeArrowheads="1"/>
            </p:cNvSpPr>
            <p:nvPr/>
          </p:nvSpPr>
          <p:spPr bwMode="auto">
            <a:xfrm>
              <a:off x="179388" y="5300663"/>
              <a:ext cx="8640762"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如果在例</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2-5</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的数学模型中增加一个约束条件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p>
            <a:p>
              <a:pPr eaLnBrk="1" hangingPunct="1">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该问题的可行域为空集</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即无可行解</a:t>
              </a:r>
              <a:r>
                <a:rPr kumimoji="0" lang="en-US" altLang="zh-CN" b="1" dirty="0">
                  <a:latin typeface="仿宋" panose="02010609060101010101" pitchFamily="49" charset="-122"/>
                  <a:ea typeface="仿宋" panose="02010609060101010101" pitchFamily="49"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也不存在最优解</a:t>
              </a:r>
            </a:p>
          </p:txBody>
        </p:sp>
        <p:graphicFrame>
          <p:nvGraphicFramePr>
            <p:cNvPr id="12302" name="对象 1"/>
            <p:cNvGraphicFramePr>
              <a:graphicFrameLocks noChangeAspect="1"/>
            </p:cNvGraphicFramePr>
            <p:nvPr/>
          </p:nvGraphicFramePr>
          <p:xfrm>
            <a:off x="6444208" y="5390356"/>
            <a:ext cx="1600200" cy="381000"/>
          </p:xfrm>
          <a:graphic>
            <a:graphicData uri="http://schemas.openxmlformats.org/presentationml/2006/ole">
              <mc:AlternateContent xmlns:mc="http://schemas.openxmlformats.org/markup-compatibility/2006">
                <mc:Choice xmlns:v="urn:schemas-microsoft-com:vml" Requires="v">
                  <p:oleObj spid="_x0000_s25687" name="Equation" r:id="rId6" imgW="1600200" imgH="381000" progId="Equation.DSMT4">
                    <p:embed/>
                  </p:oleObj>
                </mc:Choice>
                <mc:Fallback>
                  <p:oleObj name="Equation" r:id="rId6" imgW="1600200" imgH="381000" progId="Equation.DSMT4">
                    <p:embed/>
                    <p:pic>
                      <p:nvPicPr>
                        <p:cNvPr id="0" name="对象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4208" y="5390356"/>
                          <a:ext cx="160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300"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7D941D9A-30FE-4C1A-B406-148417A8A694}" type="slidenum">
              <a:rPr kumimoji="0" lang="en-US" altLang="zh-CN" sz="1400" smtClean="0">
                <a:ea typeface="微软雅黑" panose="020B0503020204020204" pitchFamily="34" charset="-122"/>
              </a:rPr>
              <a:t>55</a:t>
            </a:fld>
            <a:endParaRPr kumimoji="0" lang="en-US" altLang="zh-CN" sz="1400">
              <a:ea typeface="微软雅黑" panose="020B0503020204020204" pitchFamily="34" charset="-122"/>
            </a:endParaRPr>
          </a:p>
        </p:txBody>
      </p:sp>
    </p:spTree>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1"/>
          <p:cNvSpPr>
            <a:spLocks noChangeArrowheads="1"/>
          </p:cNvSpPr>
          <p:nvPr/>
        </p:nvSpPr>
        <p:spPr bwMode="auto">
          <a:xfrm>
            <a:off x="0" y="188913"/>
            <a:ext cx="457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）无有界最优解</a:t>
            </a:r>
          </a:p>
        </p:txBody>
      </p:sp>
      <p:pic>
        <p:nvPicPr>
          <p:cNvPr id="13315" name="Picture 4" descr="D:\OR-第三版校对稿\3nd运筹学-图及txt文件\tp\1g5.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47800"/>
            <a:ext cx="45878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Line 6"/>
          <p:cNvSpPr>
            <a:spLocks noChangeShapeType="1"/>
          </p:cNvSpPr>
          <p:nvPr/>
        </p:nvSpPr>
        <p:spPr bwMode="auto">
          <a:xfrm flipH="1">
            <a:off x="3962400" y="2205038"/>
            <a:ext cx="1114425" cy="1147762"/>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17" name="Line 7"/>
          <p:cNvSpPr>
            <a:spLocks noChangeShapeType="1"/>
          </p:cNvSpPr>
          <p:nvPr/>
        </p:nvSpPr>
        <p:spPr bwMode="auto">
          <a:xfrm flipH="1">
            <a:off x="1752600" y="1628775"/>
            <a:ext cx="2963863" cy="47625"/>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18" name="Object 2"/>
          <p:cNvGraphicFramePr>
            <a:graphicFrameLocks noChangeAspect="1"/>
          </p:cNvGraphicFramePr>
          <p:nvPr/>
        </p:nvGraphicFramePr>
        <p:xfrm>
          <a:off x="4205288" y="838200"/>
          <a:ext cx="2409825" cy="2074863"/>
        </p:xfrm>
        <a:graphic>
          <a:graphicData uri="http://schemas.openxmlformats.org/presentationml/2006/ole">
            <mc:AlternateContent xmlns:mc="http://schemas.openxmlformats.org/markup-compatibility/2006">
              <mc:Choice xmlns:v="urn:schemas-microsoft-com:vml" Requires="v">
                <p:oleObj spid="_x0000_s26670" name="Equation" r:id="rId4" imgW="1091565" imgH="939165" progId="Equation.DSMT4">
                  <p:embed/>
                </p:oleObj>
              </mc:Choice>
              <mc:Fallback>
                <p:oleObj name="Equation" r:id="rId4" imgW="1091565" imgH="939165"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5288" y="838200"/>
                        <a:ext cx="240982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9" name="矩形 6"/>
          <p:cNvSpPr>
            <a:spLocks noChangeArrowheads="1"/>
          </p:cNvSpPr>
          <p:nvPr/>
        </p:nvSpPr>
        <p:spPr bwMode="auto">
          <a:xfrm>
            <a:off x="0" y="5589588"/>
            <a:ext cx="91392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从上图可以看到</a:t>
            </a:r>
            <a:r>
              <a:rPr kumimoji="0" lang="en-US" altLang="zh-CN"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该问题可行域无界</a:t>
            </a:r>
            <a:r>
              <a:rPr kumimoji="0" lang="en-US" altLang="zh-CN"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目标函数值可以增大到无穷大。称这种情况为无有界最优解。</a:t>
            </a:r>
          </a:p>
        </p:txBody>
      </p:sp>
      <p:sp>
        <p:nvSpPr>
          <p:cNvPr id="13320"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77BDB621-52CA-47FD-AD24-88EA97EBA6A1}" type="slidenum">
              <a:rPr kumimoji="0" lang="en-US" altLang="zh-CN" sz="1400" smtClean="0">
                <a:ea typeface="微软雅黑" panose="020B0503020204020204" pitchFamily="34" charset="-122"/>
              </a:rPr>
              <a:t>56</a:t>
            </a:fld>
            <a:endParaRPr kumimoji="0" lang="en-US" altLang="zh-CN" sz="1400">
              <a:ea typeface="微软雅黑" panose="020B0503020204020204" pitchFamily="34" charset="-122"/>
            </a:endParaRPr>
          </a:p>
        </p:txBody>
      </p:sp>
    </p:spTree>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07950" y="454025"/>
            <a:ext cx="8964613" cy="598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80000"/>
              </a:lnSpc>
              <a:buFont typeface="Wingdings" panose="05000000000000000000" pitchFamily="2" charset="2"/>
              <a:buChar char="l"/>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当求解结果出现（</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）两种情况时</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一般说明线性规划问题的数学模型有错误。前者是</a:t>
            </a: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有矛盾的约束条件，</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后者缺乏必要的约束条件</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建模时应注意。</a:t>
            </a:r>
            <a:endParaRPr kumimoji="0" lang="en-US" altLang="zh-CN" b="1">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80000"/>
              </a:lnSpc>
              <a:buFont typeface="Wingdings" panose="05000000000000000000" pitchFamily="2" charset="2"/>
              <a:buChar char="l"/>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从图解法中直观地见到</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当线性规划问题的可行域非空时</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它是</a:t>
            </a: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有界或无界凸多边形</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。若线性规划问题存在最优解</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它一定</a:t>
            </a:r>
            <a:r>
              <a:rPr kumimoji="0"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在有界可行域的某个顶点得到；</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若在两个顶点同时得到最优解</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则它们连线上的任意一点都是最优解，即有无穷多最优解。</a:t>
            </a:r>
            <a:endParaRPr kumimoji="0" lang="en-US" altLang="zh-CN" b="1">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80000"/>
              </a:lnSpc>
              <a:buFont typeface="Wingdings" panose="05000000000000000000" pitchFamily="2" charset="2"/>
              <a:buChar char="l"/>
            </a:pP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图解法虽然直观、简便，但当变量数多于三个以上时</a:t>
            </a:r>
            <a:r>
              <a:rPr kumimoji="0" lang="en-US" altLang="zh-CN" b="1">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a:latin typeface="微软雅黑" panose="020B0503020204020204" pitchFamily="34" charset="-122"/>
                <a:ea typeface="微软雅黑" panose="020B0503020204020204" pitchFamily="34" charset="-122"/>
                <a:cs typeface="Times New Roman" panose="02020603050405020304" pitchFamily="18" charset="0"/>
              </a:rPr>
              <a:t>它就无能为力了。</a:t>
            </a:r>
          </a:p>
        </p:txBody>
      </p:sp>
      <p:sp>
        <p:nvSpPr>
          <p:cNvPr id="14339" name="灯片编号占位符 1"/>
          <p:cNvSpPr>
            <a:spLocks noGrp="1" noChangeArrowheads="1"/>
          </p:cNvSpPr>
          <p:nvPr>
            <p:ph type="sldNum" sz="quarter" idx="12"/>
          </p:nvPr>
        </p:nvSpPr>
        <p:spPr>
          <a:xfrm>
            <a:off x="7234238" y="63785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1E2CF784-F254-4776-AC17-6C2578133AB0}" type="slidenum">
              <a:rPr kumimoji="0" lang="en-US" altLang="zh-CN" sz="1400" smtClean="0">
                <a:ea typeface="微软雅黑" panose="020B0503020204020204" pitchFamily="34" charset="-122"/>
              </a:rPr>
              <a:t>57</a:t>
            </a:fld>
            <a:endParaRPr kumimoji="0" lang="en-US" altLang="zh-CN" sz="140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2</a:t>
            </a:r>
            <a:r>
              <a:rPr kumimoji="0" lang="zh-CN" altLang="en-US" sz="3200" b="1">
                <a:solidFill>
                  <a:srgbClr val="FF0000"/>
                </a:solidFill>
                <a:latin typeface="微软雅黑" panose="020B0503020204020204" pitchFamily="34" charset="-122"/>
                <a:ea typeface="微软雅黑" panose="020B0503020204020204" pitchFamily="34" charset="-122"/>
              </a:rPr>
              <a:t>章  线性规划</a:t>
            </a:r>
          </a:p>
        </p:txBody>
      </p:sp>
      <p:sp>
        <p:nvSpPr>
          <p:cNvPr id="5125" name="Rectangle 3"/>
          <p:cNvSpPr txBox="1">
            <a:spLocks noChangeArrowheads="1"/>
          </p:cNvSpPr>
          <p:nvPr/>
        </p:nvSpPr>
        <p:spPr bwMode="auto">
          <a:xfrm>
            <a:off x="1295400" y="1557338"/>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1</a:t>
            </a:r>
            <a:r>
              <a:rPr lang="zh-CN" altLang="en-US" sz="2800" b="1">
                <a:solidFill>
                  <a:schemeClr val="folHlink"/>
                </a:solidFill>
                <a:latin typeface="微软雅黑" panose="020B0503020204020204" pitchFamily="34" charset="-122"/>
                <a:ea typeface="微软雅黑" panose="020B0503020204020204" pitchFamily="34" charset="-122"/>
              </a:rPr>
              <a:t>节   线性规划的数学模型</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2</a:t>
            </a:r>
            <a:r>
              <a:rPr lang="zh-CN" altLang="en-US" sz="2800" b="1">
                <a:solidFill>
                  <a:schemeClr val="folHlink"/>
                </a:solidFill>
                <a:latin typeface="微软雅黑" panose="020B0503020204020204" pitchFamily="34" charset="-122"/>
                <a:ea typeface="微软雅黑" panose="020B0503020204020204" pitchFamily="34" charset="-122"/>
              </a:rPr>
              <a:t>节   线性规划的标准型</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3</a:t>
            </a:r>
            <a:r>
              <a:rPr lang="zh-CN" altLang="en-US" sz="2800" b="1">
                <a:solidFill>
                  <a:schemeClr val="folHlink"/>
                </a:solidFill>
                <a:latin typeface="微软雅黑" panose="020B0503020204020204" pitchFamily="34" charset="-122"/>
                <a:ea typeface="微软雅黑" panose="020B0503020204020204" pitchFamily="34" charset="-122"/>
              </a:rPr>
              <a:t>节   线性规划的图解法</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rgbClr val="FF0000"/>
                </a:solidFill>
                <a:latin typeface="微软雅黑" panose="020B0503020204020204" pitchFamily="34" charset="-122"/>
                <a:ea typeface="微软雅黑" panose="020B0503020204020204" pitchFamily="34" charset="-122"/>
              </a:rPr>
              <a:t>第</a:t>
            </a:r>
            <a:r>
              <a:rPr lang="en-US" altLang="zh-CN" sz="2800" b="1">
                <a:solidFill>
                  <a:srgbClr val="FF0000"/>
                </a:solidFill>
                <a:latin typeface="微软雅黑" panose="020B0503020204020204" pitchFamily="34" charset="-122"/>
                <a:ea typeface="微软雅黑" panose="020B0503020204020204" pitchFamily="34" charset="-122"/>
              </a:rPr>
              <a:t>4</a:t>
            </a:r>
            <a:r>
              <a:rPr lang="zh-CN" altLang="en-US" sz="2800" b="1">
                <a:solidFill>
                  <a:srgbClr val="FF0000"/>
                </a:solidFill>
                <a:latin typeface="微软雅黑" panose="020B0503020204020204" pitchFamily="34" charset="-122"/>
                <a:ea typeface="微软雅黑" panose="020B0503020204020204" pitchFamily="34" charset="-122"/>
              </a:rPr>
              <a:t>节   线性规划问题解的性质</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5</a:t>
            </a:r>
            <a:r>
              <a:rPr lang="zh-CN" altLang="en-US" sz="2800" b="1">
                <a:solidFill>
                  <a:schemeClr val="folHlink"/>
                </a:solidFill>
                <a:latin typeface="微软雅黑" panose="020B0503020204020204" pitchFamily="34" charset="-122"/>
                <a:ea typeface="微软雅黑" panose="020B0503020204020204" pitchFamily="34" charset="-122"/>
              </a:rPr>
              <a:t>节   求解线性规划的单纯形法</a:t>
            </a:r>
          </a:p>
          <a:p>
            <a:pPr>
              <a:lnSpc>
                <a:spcPct val="130000"/>
              </a:lnSpc>
              <a:spcBef>
                <a:spcPts val="600"/>
              </a:spcBef>
              <a:buClr>
                <a:schemeClr val="accent1"/>
              </a:buClr>
              <a:buSzPct val="70000"/>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6</a:t>
            </a:r>
            <a:r>
              <a:rPr lang="zh-CN" altLang="en-US" sz="2800" b="1">
                <a:solidFill>
                  <a:schemeClr val="folHlink"/>
                </a:solidFill>
                <a:latin typeface="微软雅黑" panose="020B0503020204020204" pitchFamily="34" charset="-122"/>
                <a:ea typeface="微软雅黑" panose="020B0503020204020204" pitchFamily="34" charset="-122"/>
              </a:rPr>
              <a:t>节   求解线性规划的人工变量法</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7</a:t>
            </a:r>
            <a:r>
              <a:rPr lang="zh-CN" altLang="en-US" sz="2800" b="1">
                <a:solidFill>
                  <a:schemeClr val="folHlink"/>
                </a:solidFill>
                <a:latin typeface="微软雅黑" panose="020B0503020204020204" pitchFamily="34" charset="-122"/>
                <a:ea typeface="微软雅黑" panose="020B0503020204020204" pitchFamily="34" charset="-122"/>
              </a:rPr>
              <a:t>节   利用</a:t>
            </a:r>
            <a:r>
              <a:rPr lang="en-US" altLang="zh-CN" sz="2800" b="1">
                <a:solidFill>
                  <a:schemeClr val="folHlink"/>
                </a:solidFill>
                <a:latin typeface="微软雅黑" panose="020B0503020204020204" pitchFamily="34" charset="-122"/>
                <a:ea typeface="微软雅黑" panose="020B0503020204020204" pitchFamily="34" charset="-122"/>
              </a:rPr>
              <a:t>Excel</a:t>
            </a:r>
            <a:r>
              <a:rPr lang="zh-CN" altLang="en-US" sz="2800" b="1">
                <a:solidFill>
                  <a:schemeClr val="folHlink"/>
                </a:solidFill>
                <a:latin typeface="微软雅黑" panose="020B0503020204020204" pitchFamily="34" charset="-122"/>
                <a:ea typeface="微软雅黑" panose="020B0503020204020204" pitchFamily="34" charset="-122"/>
              </a:rPr>
              <a:t>求解线性规划问题</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8</a:t>
            </a:r>
            <a:r>
              <a:rPr lang="zh-CN" altLang="en-US" sz="2800" b="1">
                <a:solidFill>
                  <a:schemeClr val="folHlink"/>
                </a:solidFill>
                <a:latin typeface="微软雅黑" panose="020B0503020204020204" pitchFamily="34" charset="-122"/>
                <a:ea typeface="微软雅黑" panose="020B0503020204020204" pitchFamily="34" charset="-122"/>
              </a:rPr>
              <a:t>节   线性规划在管理中的应用</a:t>
            </a:r>
          </a:p>
        </p:txBody>
      </p:sp>
      <p:sp>
        <p:nvSpPr>
          <p:cNvPr id="2" name="灯片编号占位符 1"/>
          <p:cNvSpPr>
            <a:spLocks noGrp="1"/>
          </p:cNvSpPr>
          <p:nvPr>
            <p:ph type="sldNum" sz="quarter" idx="12"/>
          </p:nvPr>
        </p:nvSpPr>
        <p:spPr>
          <a:xfrm>
            <a:off x="7239000" y="6401089"/>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58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0" y="188913"/>
            <a:ext cx="78120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en-US" altLang="zh-CN" sz="3200" b="1" dirty="0">
                <a:solidFill>
                  <a:srgbClr val="FF0000"/>
                </a:solidFill>
                <a:latin typeface="微软雅黑" panose="020B0503020204020204" pitchFamily="34" charset="-122"/>
                <a:ea typeface="微软雅黑" panose="020B0503020204020204" pitchFamily="34" charset="-122"/>
              </a:rPr>
              <a:t>2.4.1  </a:t>
            </a:r>
            <a:r>
              <a:rPr kumimoji="0" lang="zh-CN" altLang="en-US" sz="3200" b="1" dirty="0">
                <a:solidFill>
                  <a:srgbClr val="FF0000"/>
                </a:solidFill>
                <a:latin typeface="微软雅黑" panose="020B0503020204020204" pitchFamily="34" charset="-122"/>
                <a:ea typeface="微软雅黑" panose="020B0503020204020204" pitchFamily="34" charset="-122"/>
              </a:rPr>
              <a:t>几个基本概念</a:t>
            </a:r>
          </a:p>
        </p:txBody>
      </p:sp>
      <p:sp>
        <p:nvSpPr>
          <p:cNvPr id="3" name="矩形 2"/>
          <p:cNvSpPr>
            <a:spLocks noChangeArrowheads="1"/>
          </p:cNvSpPr>
          <p:nvPr/>
        </p:nvSpPr>
        <p:spPr bwMode="auto">
          <a:xfrm>
            <a:off x="906694" y="1590675"/>
            <a:ext cx="7272338"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Wingdings" panose="05000000000000000000" pitchFamily="2" charset="2"/>
              <a:buNone/>
            </a:pPr>
            <a:r>
              <a:rPr kumimoji="0" lang="en-US" altLang="zh-CN" sz="4000" b="1" dirty="0">
                <a:solidFill>
                  <a:schemeClr val="folHlink"/>
                </a:solidFill>
                <a:latin typeface="微软雅黑" panose="020B0503020204020204" pitchFamily="34" charset="-122"/>
                <a:ea typeface="微软雅黑" panose="020B0503020204020204" pitchFamily="34" charset="-122"/>
              </a:rPr>
              <a:t>(1) </a:t>
            </a:r>
            <a:r>
              <a:rPr kumimoji="0" lang="zh-CN" altLang="en-US" sz="4000" b="1" dirty="0">
                <a:solidFill>
                  <a:schemeClr val="folHlink"/>
                </a:solidFill>
                <a:latin typeface="微软雅黑" panose="020B0503020204020204" pitchFamily="34" charset="-122"/>
                <a:ea typeface="微软雅黑" panose="020B0503020204020204" pitchFamily="34" charset="-122"/>
              </a:rPr>
              <a:t>可行域</a:t>
            </a:r>
            <a:r>
              <a:rPr kumimoji="0" lang="zh-CN" altLang="en-US" sz="4000" b="1" dirty="0">
                <a:solidFill>
                  <a:schemeClr val="folHlink"/>
                </a:solidFill>
                <a:latin typeface="宋体" panose="02010600030101010101" pitchFamily="2" charset="-122"/>
              </a:rPr>
              <a:t>，</a:t>
            </a:r>
            <a:r>
              <a:rPr kumimoji="0" lang="zh-CN" altLang="en-US" sz="4000" b="1" dirty="0">
                <a:solidFill>
                  <a:schemeClr val="folHlink"/>
                </a:solidFill>
                <a:latin typeface="微软雅黑" panose="020B0503020204020204" pitchFamily="34" charset="-122"/>
                <a:ea typeface="微软雅黑" panose="020B0503020204020204" pitchFamily="34" charset="-122"/>
              </a:rPr>
              <a:t>可行解</a:t>
            </a:r>
            <a:r>
              <a:rPr kumimoji="0" lang="zh-CN" altLang="en-US" sz="4000" b="1" dirty="0">
                <a:solidFill>
                  <a:schemeClr val="folHlink"/>
                </a:solidFill>
                <a:latin typeface="宋体" panose="02010600030101010101" pitchFamily="2" charset="-122"/>
              </a:rPr>
              <a:t>，</a:t>
            </a:r>
            <a:r>
              <a:rPr kumimoji="0" lang="zh-CN" altLang="en-US" sz="4000" b="1" dirty="0">
                <a:solidFill>
                  <a:schemeClr val="folHlink"/>
                </a:solidFill>
                <a:latin typeface="微软雅黑" panose="020B0503020204020204" pitchFamily="34" charset="-122"/>
                <a:ea typeface="微软雅黑" panose="020B0503020204020204" pitchFamily="34" charset="-122"/>
              </a:rPr>
              <a:t>最优解</a:t>
            </a:r>
          </a:p>
          <a:p>
            <a:pPr eaLnBrk="1" hangingPunct="1">
              <a:lnSpc>
                <a:spcPct val="150000"/>
              </a:lnSpc>
              <a:buFont typeface="Wingdings" panose="05000000000000000000" pitchFamily="2" charset="2"/>
              <a:buNone/>
            </a:pPr>
            <a:r>
              <a:rPr kumimoji="0" lang="en-US" altLang="zh-CN" sz="4000" b="1" dirty="0">
                <a:solidFill>
                  <a:schemeClr val="folHlink"/>
                </a:solidFill>
                <a:latin typeface="微软雅黑" panose="020B0503020204020204" pitchFamily="34" charset="-122"/>
                <a:ea typeface="微软雅黑" panose="020B0503020204020204" pitchFamily="34" charset="-122"/>
              </a:rPr>
              <a:t>(2) </a:t>
            </a:r>
            <a:r>
              <a:rPr kumimoji="0" lang="zh-CN" altLang="en-US" sz="4000" b="1" dirty="0">
                <a:solidFill>
                  <a:schemeClr val="folHlink"/>
                </a:solidFill>
                <a:latin typeface="微软雅黑" panose="020B0503020204020204" pitchFamily="34" charset="-122"/>
                <a:ea typeface="微软雅黑" panose="020B0503020204020204" pitchFamily="34" charset="-122"/>
              </a:rPr>
              <a:t>基</a:t>
            </a:r>
            <a:r>
              <a:rPr kumimoji="0" lang="zh-CN" altLang="en-US" sz="4000" b="1" dirty="0">
                <a:solidFill>
                  <a:schemeClr val="folHlink"/>
                </a:solidFill>
                <a:latin typeface="宋体" panose="02010600030101010101" pitchFamily="2" charset="-122"/>
              </a:rPr>
              <a:t>，</a:t>
            </a:r>
            <a:r>
              <a:rPr kumimoji="0" lang="zh-CN" altLang="en-US" sz="4000" b="1" dirty="0">
                <a:solidFill>
                  <a:schemeClr val="folHlink"/>
                </a:solidFill>
                <a:latin typeface="微软雅黑" panose="020B0503020204020204" pitchFamily="34" charset="-122"/>
                <a:ea typeface="微软雅黑" panose="020B0503020204020204" pitchFamily="34" charset="-122"/>
              </a:rPr>
              <a:t>基向量</a:t>
            </a:r>
            <a:r>
              <a:rPr kumimoji="0" lang="zh-CN" altLang="en-US" sz="4000" b="1" dirty="0">
                <a:solidFill>
                  <a:schemeClr val="folHlink"/>
                </a:solidFill>
                <a:latin typeface="宋体" panose="02010600030101010101" pitchFamily="2" charset="-122"/>
              </a:rPr>
              <a:t>，</a:t>
            </a:r>
            <a:r>
              <a:rPr kumimoji="0" lang="zh-CN" altLang="en-US" sz="4000" b="1" dirty="0">
                <a:solidFill>
                  <a:schemeClr val="folHlink"/>
                </a:solidFill>
                <a:latin typeface="微软雅黑" panose="020B0503020204020204" pitchFamily="34" charset="-122"/>
                <a:ea typeface="微软雅黑" panose="020B0503020204020204" pitchFamily="34" charset="-122"/>
              </a:rPr>
              <a:t>基变量</a:t>
            </a:r>
          </a:p>
          <a:p>
            <a:pPr eaLnBrk="1" hangingPunct="1">
              <a:lnSpc>
                <a:spcPct val="150000"/>
              </a:lnSpc>
              <a:buFont typeface="Wingdings" panose="05000000000000000000" pitchFamily="2" charset="2"/>
              <a:buNone/>
            </a:pPr>
            <a:r>
              <a:rPr kumimoji="0" lang="en-US" altLang="zh-CN" sz="4000" b="1" dirty="0">
                <a:solidFill>
                  <a:schemeClr val="folHlink"/>
                </a:solidFill>
                <a:latin typeface="微软雅黑" panose="020B0503020204020204" pitchFamily="34" charset="-122"/>
                <a:ea typeface="微软雅黑" panose="020B0503020204020204" pitchFamily="34" charset="-122"/>
              </a:rPr>
              <a:t>(3) </a:t>
            </a:r>
            <a:r>
              <a:rPr kumimoji="0" lang="zh-CN" altLang="en-US" sz="4000" b="1" dirty="0">
                <a:solidFill>
                  <a:schemeClr val="folHlink"/>
                </a:solidFill>
                <a:latin typeface="微软雅黑" panose="020B0503020204020204" pitchFamily="34" charset="-122"/>
                <a:ea typeface="微软雅黑" panose="020B0503020204020204" pitchFamily="34" charset="-122"/>
              </a:rPr>
              <a:t>基解</a:t>
            </a:r>
            <a:r>
              <a:rPr kumimoji="0" lang="zh-CN" altLang="en-US" sz="4000" b="1" dirty="0">
                <a:solidFill>
                  <a:schemeClr val="folHlink"/>
                </a:solidFill>
                <a:latin typeface="宋体" panose="02010600030101010101" pitchFamily="2" charset="-122"/>
              </a:rPr>
              <a:t>，</a:t>
            </a:r>
            <a:r>
              <a:rPr kumimoji="0" lang="zh-CN" altLang="en-US" sz="4000" b="1" dirty="0">
                <a:solidFill>
                  <a:schemeClr val="folHlink"/>
                </a:solidFill>
                <a:latin typeface="微软雅黑" panose="020B0503020204020204" pitchFamily="34" charset="-122"/>
                <a:ea typeface="微软雅黑" panose="020B0503020204020204" pitchFamily="34" charset="-122"/>
              </a:rPr>
              <a:t>基可行解与可行基</a:t>
            </a:r>
          </a:p>
          <a:p>
            <a:pPr eaLnBrk="1" hangingPunct="1">
              <a:lnSpc>
                <a:spcPct val="150000"/>
              </a:lnSpc>
              <a:buFont typeface="Wingdings" panose="05000000000000000000" pitchFamily="2" charset="2"/>
              <a:buNone/>
            </a:pPr>
            <a:r>
              <a:rPr kumimoji="0" lang="en-US" altLang="zh-CN" sz="4000" b="1" dirty="0">
                <a:solidFill>
                  <a:schemeClr val="folHlink"/>
                </a:solidFill>
                <a:latin typeface="微软雅黑" panose="020B0503020204020204" pitchFamily="34" charset="-122"/>
                <a:ea typeface="微软雅黑" panose="020B0503020204020204" pitchFamily="34" charset="-122"/>
              </a:rPr>
              <a:t>(4) </a:t>
            </a:r>
            <a:r>
              <a:rPr lang="zh-CN" altLang="en-US" sz="4000" b="1" dirty="0">
                <a:solidFill>
                  <a:schemeClr val="folHlink"/>
                </a:solidFill>
                <a:latin typeface="微软雅黑" panose="020B0503020204020204" pitchFamily="34" charset="-122"/>
                <a:ea typeface="微软雅黑" panose="020B0503020204020204" pitchFamily="34" charset="-122"/>
              </a:rPr>
              <a:t>凸集和凸组合</a:t>
            </a:r>
            <a:endParaRPr kumimoji="0" lang="zh-CN" altLang="en-US" sz="4000" b="1" dirty="0">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7239000" y="6420156"/>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59</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91" name="Rectangle 7"/>
          <p:cNvSpPr>
            <a:spLocks noChangeArrowheads="1"/>
          </p:cNvSpPr>
          <p:nvPr/>
        </p:nvSpPr>
        <p:spPr bwMode="auto">
          <a:xfrm>
            <a:off x="3959225" y="3408363"/>
            <a:ext cx="5184775" cy="4603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为线性规划的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可行域</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118817" name="Rectangle 33"/>
          <p:cNvSpPr>
            <a:spLocks noChangeArrowheads="1"/>
          </p:cNvSpPr>
          <p:nvPr/>
        </p:nvSpPr>
        <p:spPr bwMode="auto">
          <a:xfrm>
            <a:off x="2332038" y="5140325"/>
            <a:ext cx="3514725" cy="4572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为线性规划的最优解</a:t>
            </a:r>
            <a:r>
              <a:rPr lang="zh-CN" altLang="en-US" b="1" dirty="0">
                <a:latin typeface="仿宋" panose="02010609060101010101" pitchFamily="49" charset="-122"/>
                <a:ea typeface="仿宋" panose="02010609060101010101" pitchFamily="49" charset="-122"/>
                <a:cs typeface="Times New Roman" panose="02020603050405020304" pitchFamily="18" charset="0"/>
              </a:rPr>
              <a:t>，</a:t>
            </a:r>
          </a:p>
        </p:txBody>
      </p:sp>
      <p:sp>
        <p:nvSpPr>
          <p:cNvPr id="118816" name="Rectangle 32"/>
          <p:cNvSpPr>
            <a:spLocks noChangeArrowheads="1"/>
          </p:cNvSpPr>
          <p:nvPr/>
        </p:nvSpPr>
        <p:spPr bwMode="auto">
          <a:xfrm>
            <a:off x="1276350" y="5140325"/>
            <a:ext cx="1063625" cy="4572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cs typeface="Times New Roman" panose="02020603050405020304" pitchFamily="18" charset="0"/>
              </a:rPr>
              <a:t>则称</a:t>
            </a:r>
            <a:endParaRPr lang="zh-CN" altLang="en-US" b="1">
              <a:ea typeface="微软雅黑" panose="020B0503020204020204" pitchFamily="34" charset="-122"/>
              <a:cs typeface="Times New Roman" panose="02020603050405020304" pitchFamily="18" charset="0"/>
            </a:endParaRPr>
          </a:p>
        </p:txBody>
      </p:sp>
      <p:sp>
        <p:nvSpPr>
          <p:cNvPr id="7173" name="Rectangle 2"/>
          <p:cNvSpPr txBox="1">
            <a:spLocks noChangeArrowheads="1"/>
          </p:cNvSpPr>
          <p:nvPr/>
        </p:nvSpPr>
        <p:spPr bwMode="auto">
          <a:xfrm>
            <a:off x="-12700" y="-5715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Wingdings" panose="05000000000000000000" pitchFamily="2" charset="2"/>
              <a:buNone/>
            </a:pPr>
            <a:r>
              <a:rPr kumimoji="0" lang="en-US" altLang="zh-CN" sz="3600" b="1" dirty="0">
                <a:solidFill>
                  <a:schemeClr val="folHlink"/>
                </a:solidFill>
                <a:latin typeface="微软雅黑" panose="020B0503020204020204" pitchFamily="34" charset="-122"/>
                <a:ea typeface="微软雅黑" panose="020B0503020204020204" pitchFamily="34" charset="-122"/>
              </a:rPr>
              <a:t>(1) </a:t>
            </a:r>
            <a:r>
              <a:rPr kumimoji="0" lang="zh-CN" altLang="en-US" sz="3600" b="1" dirty="0">
                <a:solidFill>
                  <a:schemeClr val="folHlink"/>
                </a:solidFill>
                <a:latin typeface="微软雅黑" panose="020B0503020204020204" pitchFamily="34" charset="-122"/>
                <a:ea typeface="微软雅黑" panose="020B0503020204020204" pitchFamily="34" charset="-122"/>
              </a:rPr>
              <a:t>可行域</a:t>
            </a:r>
            <a:r>
              <a:rPr kumimoji="0" lang="zh-CN" altLang="en-US" sz="3600" b="1" dirty="0">
                <a:solidFill>
                  <a:schemeClr val="folHlink"/>
                </a:solidFill>
                <a:latin typeface="仿宋" panose="02010609060101010101" pitchFamily="49" charset="-122"/>
                <a:ea typeface="仿宋" panose="02010609060101010101" pitchFamily="49" charset="-122"/>
              </a:rPr>
              <a:t>，</a:t>
            </a:r>
            <a:r>
              <a:rPr kumimoji="0" lang="zh-CN" altLang="en-US" sz="3600" b="1" dirty="0">
                <a:solidFill>
                  <a:schemeClr val="folHlink"/>
                </a:solidFill>
                <a:latin typeface="微软雅黑" panose="020B0503020204020204" pitchFamily="34" charset="-122"/>
                <a:ea typeface="微软雅黑" panose="020B0503020204020204" pitchFamily="34" charset="-122"/>
              </a:rPr>
              <a:t>可行解</a:t>
            </a:r>
            <a:r>
              <a:rPr kumimoji="0" lang="zh-CN" altLang="en-US" sz="3600" b="1" dirty="0">
                <a:solidFill>
                  <a:schemeClr val="folHlink"/>
                </a:solidFill>
                <a:latin typeface="仿宋" panose="02010609060101010101" pitchFamily="49" charset="-122"/>
                <a:ea typeface="仿宋" panose="02010609060101010101" pitchFamily="49" charset="-122"/>
              </a:rPr>
              <a:t>，</a:t>
            </a:r>
            <a:r>
              <a:rPr kumimoji="0" lang="zh-CN" altLang="en-US" sz="3600" b="1" dirty="0">
                <a:solidFill>
                  <a:schemeClr val="folHlink"/>
                </a:solidFill>
                <a:latin typeface="微软雅黑" panose="020B0503020204020204" pitchFamily="34" charset="-122"/>
                <a:ea typeface="微软雅黑" panose="020B0503020204020204" pitchFamily="34" charset="-122"/>
              </a:rPr>
              <a:t>最优解</a:t>
            </a:r>
          </a:p>
        </p:txBody>
      </p:sp>
      <p:graphicFrame>
        <p:nvGraphicFramePr>
          <p:cNvPr id="4" name="Object 2"/>
          <p:cNvGraphicFramePr>
            <a:graphicFrameLocks noChangeAspect="1"/>
          </p:cNvGraphicFramePr>
          <p:nvPr/>
        </p:nvGraphicFramePr>
        <p:xfrm>
          <a:off x="1543050" y="765175"/>
          <a:ext cx="6059488" cy="2578100"/>
        </p:xfrm>
        <a:graphic>
          <a:graphicData uri="http://schemas.openxmlformats.org/presentationml/2006/ole">
            <mc:AlternateContent xmlns:mc="http://schemas.openxmlformats.org/markup-compatibility/2006">
              <mc:Choice xmlns:v="urn:schemas-microsoft-com:vml" Requires="v">
                <p:oleObj spid="_x0000_s27996" name="Equation" r:id="rId3" imgW="2489200" imgH="1193800" progId="Equation.DSMT4">
                  <p:embed/>
                </p:oleObj>
              </mc:Choice>
              <mc:Fallback>
                <p:oleObj name="Equation" r:id="rId3" imgW="2489200" imgH="11938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765175"/>
                        <a:ext cx="6059488" cy="257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90" name="Rectangle 6"/>
          <p:cNvSpPr>
            <a:spLocks noChangeArrowheads="1"/>
          </p:cNvSpPr>
          <p:nvPr/>
        </p:nvSpPr>
        <p:spPr bwMode="auto">
          <a:xfrm>
            <a:off x="1" y="3400673"/>
            <a:ext cx="598488" cy="4603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cs typeface="Times New Roman" panose="02020603050405020304" pitchFamily="18" charset="0"/>
              </a:rPr>
              <a:t>称</a:t>
            </a:r>
          </a:p>
        </p:txBody>
      </p:sp>
      <p:graphicFrame>
        <p:nvGraphicFramePr>
          <p:cNvPr id="118789" name="Object 5"/>
          <p:cNvGraphicFramePr>
            <a:graphicFrameLocks noChangeAspect="1"/>
          </p:cNvGraphicFramePr>
          <p:nvPr/>
        </p:nvGraphicFramePr>
        <p:xfrm>
          <a:off x="574675" y="3416300"/>
          <a:ext cx="3384550" cy="452437"/>
        </p:xfrm>
        <a:graphic>
          <a:graphicData uri="http://schemas.openxmlformats.org/presentationml/2006/ole">
            <mc:AlternateContent xmlns:mc="http://schemas.openxmlformats.org/markup-compatibility/2006">
              <mc:Choice xmlns:v="urn:schemas-microsoft-com:vml" Requires="v">
                <p:oleObj spid="_x0000_s27997" name="Equation" r:id="rId5" imgW="1803400" imgH="304800" progId="Equation.DSMT4">
                  <p:embed/>
                </p:oleObj>
              </mc:Choice>
              <mc:Fallback>
                <p:oleObj name="Equation" r:id="rId5" imgW="1803400" imgH="304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675" y="3416300"/>
                        <a:ext cx="3384550" cy="452437"/>
                      </a:xfrm>
                      <a:prstGeom prst="rect">
                        <a:avLst/>
                      </a:prstGeom>
                      <a:solidFill>
                        <a:srgbClr val="00FFFF"/>
                      </a:solidFill>
                      <a:ln>
                        <a:noFill/>
                      </a:ln>
                    </p:spPr>
                  </p:pic>
                </p:oleObj>
              </mc:Fallback>
            </mc:AlternateContent>
          </a:graphicData>
        </a:graphic>
      </p:graphicFrame>
      <p:sp>
        <p:nvSpPr>
          <p:cNvPr id="118792" name="Rectangle 8"/>
          <p:cNvSpPr>
            <a:spLocks noChangeArrowheads="1"/>
          </p:cNvSpPr>
          <p:nvPr/>
        </p:nvSpPr>
        <p:spPr bwMode="auto">
          <a:xfrm>
            <a:off x="323850" y="5876925"/>
            <a:ext cx="7262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也就是说使目标函数达到最大值的可行解称为</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最优解</a:t>
            </a:r>
            <a:endParaRPr lang="en-US"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7"/>
          <p:cNvSpPr>
            <a:spLocks noChangeArrowheads="1"/>
          </p:cNvSpPr>
          <p:nvPr/>
        </p:nvSpPr>
        <p:spPr bwMode="auto">
          <a:xfrm>
            <a:off x="-12701" y="3860800"/>
            <a:ext cx="9156623" cy="83026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满足约束条件</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(2-10)</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的解</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i="1" dirty="0" err="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i="1" baseline="-30000" dirty="0" err="1">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baseline="30000" dirty="0">
                <a:latin typeface="Times New Roman" panose="02020603050405020304" pitchFamily="18" charset="0"/>
                <a:ea typeface="微软雅黑" panose="020B0503020204020204" pitchFamily="34" charset="-122"/>
                <a:cs typeface="Times New Roman" panose="02020603050405020304" pitchFamily="18" charset="0"/>
              </a:rPr>
              <a:t>T</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称为线性规划问题的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可行解</a:t>
            </a:r>
          </a:p>
        </p:txBody>
      </p:sp>
      <p:graphicFrame>
        <p:nvGraphicFramePr>
          <p:cNvPr id="118809" name="Object 25"/>
          <p:cNvGraphicFramePr>
            <a:graphicFrameLocks noChangeAspect="1"/>
          </p:cNvGraphicFramePr>
          <p:nvPr/>
        </p:nvGraphicFramePr>
        <p:xfrm>
          <a:off x="-12700" y="5111750"/>
          <a:ext cx="1344614" cy="485775"/>
        </p:xfrm>
        <a:graphic>
          <a:graphicData uri="http://schemas.openxmlformats.org/presentationml/2006/ole">
            <mc:AlternateContent xmlns:mc="http://schemas.openxmlformats.org/markup-compatibility/2006">
              <mc:Choice xmlns:v="urn:schemas-microsoft-com:vml" Requires="v">
                <p:oleObj spid="_x0000_s27998" name="Equation" r:id="rId7" imgW="508000" imgH="203200" progId="Equation.DSMT4">
                  <p:embed/>
                </p:oleObj>
              </mc:Choice>
              <mc:Fallback>
                <p:oleObj name="Equation" r:id="rId7" imgW="508000" imgH="203200" progId="Equation.DSMT4">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00" y="5111750"/>
                        <a:ext cx="1344614" cy="485775"/>
                      </a:xfrm>
                      <a:prstGeom prst="rect">
                        <a:avLst/>
                      </a:prstGeom>
                      <a:solidFill>
                        <a:srgbClr val="FF99CC"/>
                      </a:solidFill>
                      <a:ln>
                        <a:noFill/>
                      </a:ln>
                    </p:spPr>
                  </p:pic>
                </p:oleObj>
              </mc:Fallback>
            </mc:AlternateContent>
          </a:graphicData>
        </a:graphic>
      </p:graphicFrame>
      <p:graphicFrame>
        <p:nvGraphicFramePr>
          <p:cNvPr id="118810" name="Object 26"/>
          <p:cNvGraphicFramePr>
            <a:graphicFrameLocks noChangeAspect="1"/>
          </p:cNvGraphicFramePr>
          <p:nvPr/>
        </p:nvGraphicFramePr>
        <p:xfrm>
          <a:off x="1979613" y="5165725"/>
          <a:ext cx="365125" cy="431800"/>
        </p:xfrm>
        <a:graphic>
          <a:graphicData uri="http://schemas.openxmlformats.org/presentationml/2006/ole">
            <mc:AlternateContent xmlns:mc="http://schemas.openxmlformats.org/markup-compatibility/2006">
              <mc:Choice xmlns:v="urn:schemas-microsoft-com:vml" Requires="v">
                <p:oleObj spid="_x0000_s27999" name="Equation" r:id="rId9" imgW="165100" imgH="203200" progId="Equation.DSMT4">
                  <p:embed/>
                </p:oleObj>
              </mc:Choice>
              <mc:Fallback>
                <p:oleObj name="Equation" r:id="rId9" imgW="165100" imgH="203200" progId="Equation.DSMT4">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9613" y="5165725"/>
                        <a:ext cx="365125" cy="4318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812" name="Rectangle 28"/>
          <p:cNvSpPr>
            <a:spLocks noChangeArrowheads="1"/>
          </p:cNvSpPr>
          <p:nvPr/>
        </p:nvSpPr>
        <p:spPr bwMode="auto">
          <a:xfrm>
            <a:off x="-4763" y="4724400"/>
            <a:ext cx="1263651" cy="4572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cs typeface="Times New Roman" panose="02020603050405020304" pitchFamily="18" charset="0"/>
              </a:rPr>
              <a:t>任意</a:t>
            </a:r>
          </a:p>
        </p:txBody>
      </p:sp>
      <p:sp>
        <p:nvSpPr>
          <p:cNvPr id="118813" name="Rectangle 29"/>
          <p:cNvSpPr>
            <a:spLocks noChangeArrowheads="1"/>
          </p:cNvSpPr>
          <p:nvPr/>
        </p:nvSpPr>
        <p:spPr bwMode="auto">
          <a:xfrm>
            <a:off x="1508125" y="4725144"/>
            <a:ext cx="4225925" cy="4603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为线性规划的可行解</a:t>
            </a:r>
            <a:r>
              <a:rPr lang="zh-CN" altLang="en-US" b="1" dirty="0">
                <a:latin typeface="仿宋" panose="02010609060101010101" pitchFamily="49" charset="-122"/>
                <a:ea typeface="仿宋" panose="02010609060101010101" pitchFamily="49" charset="-122"/>
                <a:cs typeface="Times New Roman" panose="02020603050405020304" pitchFamily="18" charset="0"/>
              </a:rPr>
              <a:t>，</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若存在</a:t>
            </a:r>
          </a:p>
        </p:txBody>
      </p:sp>
      <p:sp>
        <p:nvSpPr>
          <p:cNvPr id="118814" name="Rectangle 30"/>
          <p:cNvSpPr>
            <a:spLocks noChangeArrowheads="1"/>
          </p:cNvSpPr>
          <p:nvPr/>
        </p:nvSpPr>
        <p:spPr bwMode="auto">
          <a:xfrm>
            <a:off x="6372225" y="4725144"/>
            <a:ext cx="800100" cy="4603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仿宋" panose="02010609060101010101" pitchFamily="49" charset="-122"/>
                <a:ea typeface="仿宋" panose="02010609060101010101" pitchFamily="49" charset="-122"/>
                <a:cs typeface="Times New Roman" panose="02020603050405020304" pitchFamily="18" charset="0"/>
              </a:rPr>
              <a:t>，</a:t>
            </a:r>
            <a:r>
              <a:rPr lang="zh-CN" altLang="en-US" b="1">
                <a:latin typeface="微软雅黑" panose="020B0503020204020204" pitchFamily="34" charset="-122"/>
                <a:ea typeface="微软雅黑" panose="020B0503020204020204" pitchFamily="34" charset="-122"/>
                <a:cs typeface="Times New Roman" panose="02020603050405020304" pitchFamily="18" charset="0"/>
              </a:rPr>
              <a:t>使</a:t>
            </a:r>
          </a:p>
        </p:txBody>
      </p:sp>
      <p:sp>
        <p:nvSpPr>
          <p:cNvPr id="118815" name="Rectangle 31"/>
          <p:cNvSpPr>
            <a:spLocks noChangeArrowheads="1"/>
          </p:cNvSpPr>
          <p:nvPr/>
        </p:nvSpPr>
        <p:spPr bwMode="auto">
          <a:xfrm>
            <a:off x="7956550" y="4724400"/>
            <a:ext cx="1187450" cy="4572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仿宋" panose="02010609060101010101" pitchFamily="49" charset="-122"/>
                <a:ea typeface="仿宋" panose="02010609060101010101" pitchFamily="49"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有</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dirty="0">
              <a:ea typeface="微软雅黑" panose="020B0503020204020204" pitchFamily="34" charset="-122"/>
              <a:cs typeface="Times New Roman" panose="02020603050405020304" pitchFamily="18" charset="0"/>
            </a:endParaRPr>
          </a:p>
        </p:txBody>
      </p:sp>
      <p:sp>
        <p:nvSpPr>
          <p:cNvPr id="118818" name="Rectangle 34"/>
          <p:cNvSpPr>
            <a:spLocks noChangeArrowheads="1"/>
          </p:cNvSpPr>
          <p:nvPr/>
        </p:nvSpPr>
        <p:spPr bwMode="auto">
          <a:xfrm>
            <a:off x="5973762" y="5137150"/>
            <a:ext cx="3170237" cy="4603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cs typeface="Times New Roman" panose="02020603050405020304" pitchFamily="18" charset="0"/>
              </a:rPr>
              <a:t>为</a:t>
            </a:r>
            <a:r>
              <a:rPr lang="zh-CN" altLang="en-US" b="1">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最优值</a:t>
            </a:r>
            <a:endParaRPr lang="zh-CN" altLang="en-US" b="1">
              <a:solidFill>
                <a:srgbClr val="0000FF"/>
              </a:solidFill>
              <a:ea typeface="微软雅黑" panose="020B0503020204020204" pitchFamily="34" charset="-122"/>
              <a:cs typeface="Times New Roman" panose="02020603050405020304" pitchFamily="18" charset="0"/>
            </a:endParaRPr>
          </a:p>
        </p:txBody>
      </p:sp>
      <p:graphicFrame>
        <p:nvGraphicFramePr>
          <p:cNvPr id="118806" name="Object 22"/>
          <p:cNvGraphicFramePr>
            <a:graphicFrameLocks noChangeAspect="1"/>
          </p:cNvGraphicFramePr>
          <p:nvPr/>
        </p:nvGraphicFramePr>
        <p:xfrm>
          <a:off x="750888" y="4725839"/>
          <a:ext cx="792162" cy="439738"/>
        </p:xfrm>
        <a:graphic>
          <a:graphicData uri="http://schemas.openxmlformats.org/presentationml/2006/ole">
            <mc:AlternateContent xmlns:mc="http://schemas.openxmlformats.org/markup-compatibility/2006">
              <mc:Choice xmlns:v="urn:schemas-microsoft-com:vml" Requires="v">
                <p:oleObj spid="_x0000_s28000" name="Equation" r:id="rId11" imgW="393065" imgH="177800" progId="Equation.DSMT4">
                  <p:embed/>
                </p:oleObj>
              </mc:Choice>
              <mc:Fallback>
                <p:oleObj name="Equation" r:id="rId11" imgW="393065" imgH="177800" progId="Equation.DSMT4">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0888" y="4725839"/>
                        <a:ext cx="792162" cy="43973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807" name="Object 23"/>
          <p:cNvGraphicFramePr>
            <a:graphicFrameLocks noChangeAspect="1"/>
          </p:cNvGraphicFramePr>
          <p:nvPr/>
        </p:nvGraphicFramePr>
        <p:xfrm>
          <a:off x="5657850" y="4724400"/>
          <a:ext cx="790575" cy="433388"/>
        </p:xfrm>
        <a:graphic>
          <a:graphicData uri="http://schemas.openxmlformats.org/presentationml/2006/ole">
            <mc:AlternateContent xmlns:mc="http://schemas.openxmlformats.org/markup-compatibility/2006">
              <mc:Choice xmlns:v="urn:schemas-microsoft-com:vml" Requires="v">
                <p:oleObj spid="_x0000_s28001" name="Equation" r:id="rId13" imgW="444500" imgH="203200" progId="Equation.DSMT4">
                  <p:embed/>
                </p:oleObj>
              </mc:Choice>
              <mc:Fallback>
                <p:oleObj name="Equation" r:id="rId13" imgW="444500" imgH="203200"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57850" y="4724400"/>
                        <a:ext cx="790575" cy="43338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808" name="Object 24"/>
          <p:cNvGraphicFramePr>
            <a:graphicFrameLocks noChangeAspect="1"/>
          </p:cNvGraphicFramePr>
          <p:nvPr/>
        </p:nvGraphicFramePr>
        <p:xfrm>
          <a:off x="7092950" y="4724400"/>
          <a:ext cx="987425" cy="457200"/>
        </p:xfrm>
        <a:graphic>
          <a:graphicData uri="http://schemas.openxmlformats.org/presentationml/2006/ole">
            <mc:AlternateContent xmlns:mc="http://schemas.openxmlformats.org/markup-compatibility/2006">
              <mc:Choice xmlns:v="urn:schemas-microsoft-com:vml" Requires="v">
                <p:oleObj spid="_x0000_s28002" name="Equation" r:id="rId15" imgW="481965" imgH="177800" progId="Equation.DSMT4">
                  <p:embed/>
                </p:oleObj>
              </mc:Choice>
              <mc:Fallback>
                <p:oleObj name="Equation" r:id="rId15" imgW="481965" imgH="177800" progId="Equation.DSMT4">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92950" y="4724400"/>
                        <a:ext cx="987425" cy="45720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811" name="Object 27"/>
          <p:cNvGraphicFramePr>
            <a:graphicFrameLocks noChangeAspect="1"/>
          </p:cNvGraphicFramePr>
          <p:nvPr/>
        </p:nvGraphicFramePr>
        <p:xfrm>
          <a:off x="5508625" y="5157788"/>
          <a:ext cx="503238" cy="439737"/>
        </p:xfrm>
        <a:graphic>
          <a:graphicData uri="http://schemas.openxmlformats.org/presentationml/2006/ole">
            <mc:AlternateContent xmlns:mc="http://schemas.openxmlformats.org/markup-compatibility/2006">
              <mc:Choice xmlns:v="urn:schemas-microsoft-com:vml" Requires="v">
                <p:oleObj spid="_x0000_s28003" name="Equation" r:id="rId17" imgW="228600" imgH="203200" progId="Equation.DSMT4">
                  <p:embed/>
                </p:oleObj>
              </mc:Choice>
              <mc:Fallback>
                <p:oleObj name="Equation" r:id="rId17" imgW="228600" imgH="203200" progId="Equation.DSMT4">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08625" y="5157788"/>
                        <a:ext cx="503238" cy="439737"/>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8923" y="6378576"/>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60</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18789"/>
                                        </p:tgtEl>
                                        <p:attrNameLst>
                                          <p:attrName>style.visibility</p:attrName>
                                        </p:attrNameLst>
                                      </p:cBhvr>
                                      <p:to>
                                        <p:strVal val="visible"/>
                                      </p:to>
                                    </p:set>
                                    <p:animEffect transition="in" filter="blinds(horizontal)">
                                      <p:cBhvr>
                                        <p:cTn id="14" dur="500"/>
                                        <p:tgtEl>
                                          <p:spTgt spid="118789"/>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18790"/>
                                        </p:tgtEl>
                                        <p:attrNameLst>
                                          <p:attrName>style.visibility</p:attrName>
                                        </p:attrNameLst>
                                      </p:cBhvr>
                                      <p:to>
                                        <p:strVal val="visible"/>
                                      </p:to>
                                    </p:set>
                                    <p:animEffect transition="in" filter="blinds(horizontal)">
                                      <p:cBhvr>
                                        <p:cTn id="17" dur="500"/>
                                        <p:tgtEl>
                                          <p:spTgt spid="11879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18791"/>
                                        </p:tgtEl>
                                        <p:attrNameLst>
                                          <p:attrName>style.visibility</p:attrName>
                                        </p:attrNameLst>
                                      </p:cBhvr>
                                      <p:to>
                                        <p:strVal val="visible"/>
                                      </p:to>
                                    </p:set>
                                    <p:animEffect transition="in" filter="blinds(horizontal)">
                                      <p:cBhvr>
                                        <p:cTn id="20" dur="500"/>
                                        <p:tgtEl>
                                          <p:spTgt spid="11879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18812"/>
                                        </p:tgtEl>
                                        <p:attrNameLst>
                                          <p:attrName>style.visibility</p:attrName>
                                        </p:attrNameLst>
                                      </p:cBhvr>
                                      <p:to>
                                        <p:strVal val="visible"/>
                                      </p:to>
                                    </p:set>
                                    <p:animEffect transition="in" filter="blinds(horizontal)">
                                      <p:cBhvr>
                                        <p:cTn id="30" dur="500"/>
                                        <p:tgtEl>
                                          <p:spTgt spid="118812"/>
                                        </p:tgtEl>
                                      </p:cBhvr>
                                    </p:animEffect>
                                  </p:childTnLst>
                                </p:cTn>
                              </p:par>
                              <p:par>
                                <p:cTn id="31" presetID="3" presetClass="entr" presetSubtype="10" fill="hold" nodeType="withEffect">
                                  <p:stCondLst>
                                    <p:cond delay="0"/>
                                  </p:stCondLst>
                                  <p:childTnLst>
                                    <p:set>
                                      <p:cBhvr>
                                        <p:cTn id="32" dur="1" fill="hold">
                                          <p:stCondLst>
                                            <p:cond delay="0"/>
                                          </p:stCondLst>
                                        </p:cTn>
                                        <p:tgtEl>
                                          <p:spTgt spid="118806"/>
                                        </p:tgtEl>
                                        <p:attrNameLst>
                                          <p:attrName>style.visibility</p:attrName>
                                        </p:attrNameLst>
                                      </p:cBhvr>
                                      <p:to>
                                        <p:strVal val="visible"/>
                                      </p:to>
                                    </p:set>
                                    <p:animEffect transition="in" filter="blinds(horizontal)">
                                      <p:cBhvr>
                                        <p:cTn id="33" dur="500"/>
                                        <p:tgtEl>
                                          <p:spTgt spid="118806"/>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18813"/>
                                        </p:tgtEl>
                                        <p:attrNameLst>
                                          <p:attrName>style.visibility</p:attrName>
                                        </p:attrNameLst>
                                      </p:cBhvr>
                                      <p:to>
                                        <p:strVal val="visible"/>
                                      </p:to>
                                    </p:set>
                                    <p:animEffect transition="in" filter="blinds(horizontal)">
                                      <p:cBhvr>
                                        <p:cTn id="36" dur="500"/>
                                        <p:tgtEl>
                                          <p:spTgt spid="118813"/>
                                        </p:tgtEl>
                                      </p:cBhvr>
                                    </p:animEffect>
                                  </p:childTnLst>
                                </p:cTn>
                              </p:par>
                              <p:par>
                                <p:cTn id="37" presetID="3" presetClass="entr" presetSubtype="10" fill="hold" nodeType="withEffect">
                                  <p:stCondLst>
                                    <p:cond delay="0"/>
                                  </p:stCondLst>
                                  <p:childTnLst>
                                    <p:set>
                                      <p:cBhvr>
                                        <p:cTn id="38" dur="1" fill="hold">
                                          <p:stCondLst>
                                            <p:cond delay="0"/>
                                          </p:stCondLst>
                                        </p:cTn>
                                        <p:tgtEl>
                                          <p:spTgt spid="118807"/>
                                        </p:tgtEl>
                                        <p:attrNameLst>
                                          <p:attrName>style.visibility</p:attrName>
                                        </p:attrNameLst>
                                      </p:cBhvr>
                                      <p:to>
                                        <p:strVal val="visible"/>
                                      </p:to>
                                    </p:set>
                                    <p:animEffect transition="in" filter="blinds(horizontal)">
                                      <p:cBhvr>
                                        <p:cTn id="39" dur="500"/>
                                        <p:tgtEl>
                                          <p:spTgt spid="11880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18814"/>
                                        </p:tgtEl>
                                        <p:attrNameLst>
                                          <p:attrName>style.visibility</p:attrName>
                                        </p:attrNameLst>
                                      </p:cBhvr>
                                      <p:to>
                                        <p:strVal val="visible"/>
                                      </p:to>
                                    </p:set>
                                    <p:animEffect transition="in" filter="blinds(horizontal)">
                                      <p:cBhvr>
                                        <p:cTn id="42" dur="500"/>
                                        <p:tgtEl>
                                          <p:spTgt spid="118814"/>
                                        </p:tgtEl>
                                      </p:cBhvr>
                                    </p:animEffect>
                                  </p:childTnLst>
                                </p:cTn>
                              </p:par>
                              <p:par>
                                <p:cTn id="43" presetID="3" presetClass="entr" presetSubtype="10" fill="hold" nodeType="withEffect">
                                  <p:stCondLst>
                                    <p:cond delay="0"/>
                                  </p:stCondLst>
                                  <p:childTnLst>
                                    <p:set>
                                      <p:cBhvr>
                                        <p:cTn id="44" dur="1" fill="hold">
                                          <p:stCondLst>
                                            <p:cond delay="0"/>
                                          </p:stCondLst>
                                        </p:cTn>
                                        <p:tgtEl>
                                          <p:spTgt spid="118808"/>
                                        </p:tgtEl>
                                        <p:attrNameLst>
                                          <p:attrName>style.visibility</p:attrName>
                                        </p:attrNameLst>
                                      </p:cBhvr>
                                      <p:to>
                                        <p:strVal val="visible"/>
                                      </p:to>
                                    </p:set>
                                    <p:animEffect transition="in" filter="blinds(horizontal)">
                                      <p:cBhvr>
                                        <p:cTn id="45" dur="500"/>
                                        <p:tgtEl>
                                          <p:spTgt spid="11880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18815"/>
                                        </p:tgtEl>
                                        <p:attrNameLst>
                                          <p:attrName>style.visibility</p:attrName>
                                        </p:attrNameLst>
                                      </p:cBhvr>
                                      <p:to>
                                        <p:strVal val="visible"/>
                                      </p:to>
                                    </p:set>
                                    <p:animEffect transition="in" filter="blinds(horizontal)">
                                      <p:cBhvr>
                                        <p:cTn id="48" dur="500"/>
                                        <p:tgtEl>
                                          <p:spTgt spid="11881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18818"/>
                                        </p:tgtEl>
                                        <p:attrNameLst>
                                          <p:attrName>style.visibility</p:attrName>
                                        </p:attrNameLst>
                                      </p:cBhvr>
                                      <p:to>
                                        <p:strVal val="visible"/>
                                      </p:to>
                                    </p:set>
                                    <p:animEffect transition="in" filter="blinds(horizontal)">
                                      <p:cBhvr>
                                        <p:cTn id="51" dur="500"/>
                                        <p:tgtEl>
                                          <p:spTgt spid="118818"/>
                                        </p:tgtEl>
                                      </p:cBhvr>
                                    </p:animEffect>
                                  </p:childTnLst>
                                </p:cTn>
                              </p:par>
                              <p:par>
                                <p:cTn id="52" presetID="3" presetClass="entr" presetSubtype="10" fill="hold" nodeType="withEffect">
                                  <p:stCondLst>
                                    <p:cond delay="0"/>
                                  </p:stCondLst>
                                  <p:childTnLst>
                                    <p:set>
                                      <p:cBhvr>
                                        <p:cTn id="53" dur="1" fill="hold">
                                          <p:stCondLst>
                                            <p:cond delay="0"/>
                                          </p:stCondLst>
                                        </p:cTn>
                                        <p:tgtEl>
                                          <p:spTgt spid="118811"/>
                                        </p:tgtEl>
                                        <p:attrNameLst>
                                          <p:attrName>style.visibility</p:attrName>
                                        </p:attrNameLst>
                                      </p:cBhvr>
                                      <p:to>
                                        <p:strVal val="visible"/>
                                      </p:to>
                                    </p:set>
                                    <p:animEffect transition="in" filter="blinds(horizontal)">
                                      <p:cBhvr>
                                        <p:cTn id="54" dur="500"/>
                                        <p:tgtEl>
                                          <p:spTgt spid="118811"/>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18817"/>
                                        </p:tgtEl>
                                        <p:attrNameLst>
                                          <p:attrName>style.visibility</p:attrName>
                                        </p:attrNameLst>
                                      </p:cBhvr>
                                      <p:to>
                                        <p:strVal val="visible"/>
                                      </p:to>
                                    </p:set>
                                    <p:animEffect transition="in" filter="blinds(horizontal)">
                                      <p:cBhvr>
                                        <p:cTn id="57" dur="500"/>
                                        <p:tgtEl>
                                          <p:spTgt spid="118817"/>
                                        </p:tgtEl>
                                      </p:cBhvr>
                                    </p:animEffect>
                                  </p:childTnLst>
                                </p:cTn>
                              </p:par>
                              <p:par>
                                <p:cTn id="58" presetID="3" presetClass="entr" presetSubtype="10" fill="hold" nodeType="withEffect">
                                  <p:stCondLst>
                                    <p:cond delay="0"/>
                                  </p:stCondLst>
                                  <p:childTnLst>
                                    <p:set>
                                      <p:cBhvr>
                                        <p:cTn id="59" dur="1" fill="hold">
                                          <p:stCondLst>
                                            <p:cond delay="0"/>
                                          </p:stCondLst>
                                        </p:cTn>
                                        <p:tgtEl>
                                          <p:spTgt spid="118810"/>
                                        </p:tgtEl>
                                        <p:attrNameLst>
                                          <p:attrName>style.visibility</p:attrName>
                                        </p:attrNameLst>
                                      </p:cBhvr>
                                      <p:to>
                                        <p:strVal val="visible"/>
                                      </p:to>
                                    </p:set>
                                    <p:animEffect transition="in" filter="blinds(horizontal)">
                                      <p:cBhvr>
                                        <p:cTn id="60" dur="500"/>
                                        <p:tgtEl>
                                          <p:spTgt spid="118810"/>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18816"/>
                                        </p:tgtEl>
                                        <p:attrNameLst>
                                          <p:attrName>style.visibility</p:attrName>
                                        </p:attrNameLst>
                                      </p:cBhvr>
                                      <p:to>
                                        <p:strVal val="visible"/>
                                      </p:to>
                                    </p:set>
                                    <p:animEffect transition="in" filter="blinds(horizontal)">
                                      <p:cBhvr>
                                        <p:cTn id="63" dur="500"/>
                                        <p:tgtEl>
                                          <p:spTgt spid="118816"/>
                                        </p:tgtEl>
                                      </p:cBhvr>
                                    </p:animEffect>
                                  </p:childTnLst>
                                </p:cTn>
                              </p:par>
                              <p:par>
                                <p:cTn id="64" presetID="3" presetClass="entr" presetSubtype="10" fill="hold" nodeType="withEffect">
                                  <p:stCondLst>
                                    <p:cond delay="0"/>
                                  </p:stCondLst>
                                  <p:childTnLst>
                                    <p:set>
                                      <p:cBhvr>
                                        <p:cTn id="65" dur="1" fill="hold">
                                          <p:stCondLst>
                                            <p:cond delay="0"/>
                                          </p:stCondLst>
                                        </p:cTn>
                                        <p:tgtEl>
                                          <p:spTgt spid="118809"/>
                                        </p:tgtEl>
                                        <p:attrNameLst>
                                          <p:attrName>style.visibility</p:attrName>
                                        </p:attrNameLst>
                                      </p:cBhvr>
                                      <p:to>
                                        <p:strVal val="visible"/>
                                      </p:to>
                                    </p:set>
                                    <p:animEffect transition="in" filter="blinds(horizontal)">
                                      <p:cBhvr>
                                        <p:cTn id="66" dur="500"/>
                                        <p:tgtEl>
                                          <p:spTgt spid="118809"/>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18792"/>
                                        </p:tgtEl>
                                        <p:attrNameLst>
                                          <p:attrName>style.visibility</p:attrName>
                                        </p:attrNameLst>
                                      </p:cBhvr>
                                      <p:to>
                                        <p:strVal val="visible"/>
                                      </p:to>
                                    </p:set>
                                    <p:animEffect transition="in" filter="blinds(horizontal)">
                                      <p:cBhvr>
                                        <p:cTn id="71" dur="500"/>
                                        <p:tgtEl>
                                          <p:spTgt spid="11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1" grpId="0" animBg="1"/>
      <p:bldP spid="118817" grpId="0" animBg="1"/>
      <p:bldP spid="118816" grpId="0" animBg="1"/>
      <p:bldP spid="118790" grpId="0" animBg="1"/>
      <p:bldP spid="118792" grpId="0"/>
      <p:bldP spid="3" grpId="0" animBg="1"/>
      <p:bldP spid="118812" grpId="0" animBg="1"/>
      <p:bldP spid="118813" grpId="0" animBg="1"/>
      <p:bldP spid="118814" grpId="0" animBg="1"/>
      <p:bldP spid="118815" grpId="0" animBg="1"/>
      <p:bldP spid="1188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a:spLocks noChangeArrowheads="1"/>
          </p:cNvSpPr>
          <p:nvPr/>
        </p:nvSpPr>
        <p:spPr bwMode="auto">
          <a:xfrm>
            <a:off x="2195513" y="5322888"/>
            <a:ext cx="1622425" cy="495300"/>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为基向量</a:t>
            </a:r>
            <a:endParaRPr lang="zh-CN" altLang="en-US">
              <a:ea typeface="微软雅黑" panose="020B0503020204020204" pitchFamily="34" charset="-122"/>
              <a:cs typeface="Times New Roman" panose="02020603050405020304" pitchFamily="18" charset="0"/>
            </a:endParaRPr>
          </a:p>
        </p:txBody>
      </p:sp>
      <p:sp>
        <p:nvSpPr>
          <p:cNvPr id="119831" name="Rectangle 23"/>
          <p:cNvSpPr>
            <a:spLocks noChangeArrowheads="1"/>
          </p:cNvSpPr>
          <p:nvPr/>
        </p:nvSpPr>
        <p:spPr bwMode="auto">
          <a:xfrm>
            <a:off x="7662863" y="1336675"/>
            <a:ext cx="869950" cy="457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 的前</a:t>
            </a:r>
            <a:endParaRPr lang="zh-CN" altLang="en-US" b="1">
              <a:ea typeface="微软雅黑" panose="020B0503020204020204" pitchFamily="34" charset="-122"/>
              <a:cs typeface="Times New Roman" panose="02020603050405020304" pitchFamily="18" charset="0"/>
            </a:endParaRPr>
          </a:p>
        </p:txBody>
      </p:sp>
      <p:sp>
        <p:nvSpPr>
          <p:cNvPr id="119830" name="Rectangle 22"/>
          <p:cNvSpPr>
            <a:spLocks noChangeArrowheads="1"/>
          </p:cNvSpPr>
          <p:nvPr/>
        </p:nvSpPr>
        <p:spPr bwMode="auto">
          <a:xfrm>
            <a:off x="3954463" y="1339850"/>
            <a:ext cx="3570287" cy="4603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个线性无关的列</a:t>
            </a:r>
            <a:r>
              <a:rPr lang="zh-CN" altLang="en-US" b="1">
                <a:latin typeface="仿宋" panose="02010609060101010101" pitchFamily="49" charset="-122"/>
                <a:ea typeface="仿宋" panose="02010609060101010101" pitchFamily="49" charset="-122"/>
                <a:cs typeface="Times New Roman" panose="02020603050405020304" pitchFamily="18" charset="0"/>
              </a:rPr>
              <a:t>，</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不妨设</a:t>
            </a:r>
            <a:endParaRPr lang="zh-CN" altLang="en-US" b="1">
              <a:ea typeface="微软雅黑" panose="020B0503020204020204" pitchFamily="34" charset="-122"/>
              <a:cs typeface="Times New Roman" panose="02020603050405020304" pitchFamily="18" charset="0"/>
            </a:endParaRPr>
          </a:p>
        </p:txBody>
      </p:sp>
      <p:graphicFrame>
        <p:nvGraphicFramePr>
          <p:cNvPr id="119821" name="Object 13"/>
          <p:cNvGraphicFramePr>
            <a:graphicFrameLocks noChangeAspect="1"/>
          </p:cNvGraphicFramePr>
          <p:nvPr/>
        </p:nvGraphicFramePr>
        <p:xfrm>
          <a:off x="7389813" y="1349375"/>
          <a:ext cx="350837" cy="417513"/>
        </p:xfrm>
        <a:graphic>
          <a:graphicData uri="http://schemas.openxmlformats.org/presentationml/2006/ole">
            <mc:AlternateContent xmlns:mc="http://schemas.openxmlformats.org/markup-compatibility/2006">
              <mc:Choice xmlns:v="urn:schemas-microsoft-com:vml" Requires="v">
                <p:oleObj spid="_x0000_s29493" name="Equation" r:id="rId3" imgW="152400" imgH="165100" progId="Equation.DSMT4">
                  <p:embed/>
                </p:oleObj>
              </mc:Choice>
              <mc:Fallback>
                <p:oleObj name="Equation" r:id="rId3" imgW="152400" imgH="1651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9813" y="1349375"/>
                        <a:ext cx="350837" cy="4175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38" name="Rectangle 30"/>
          <p:cNvSpPr>
            <a:spLocks noChangeArrowheads="1"/>
          </p:cNvSpPr>
          <p:nvPr/>
        </p:nvSpPr>
        <p:spPr bwMode="auto">
          <a:xfrm>
            <a:off x="4597400" y="3248025"/>
            <a:ext cx="4546599" cy="460375"/>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称为</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非基变量</a:t>
            </a:r>
          </a:p>
        </p:txBody>
      </p:sp>
      <p:sp>
        <p:nvSpPr>
          <p:cNvPr id="119837" name="Rectangle 29"/>
          <p:cNvSpPr>
            <a:spLocks noChangeArrowheads="1"/>
          </p:cNvSpPr>
          <p:nvPr/>
        </p:nvSpPr>
        <p:spPr bwMode="auto">
          <a:xfrm>
            <a:off x="1473200" y="3248025"/>
            <a:ext cx="1828800" cy="460375"/>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对应的变量</a:t>
            </a:r>
            <a:endParaRPr lang="zh-CN" altLang="en-US" b="1">
              <a:ea typeface="微软雅黑" panose="020B0503020204020204" pitchFamily="34" charset="-122"/>
              <a:cs typeface="Times New Roman" panose="02020603050405020304" pitchFamily="18" charset="0"/>
            </a:endParaRPr>
          </a:p>
        </p:txBody>
      </p:sp>
      <p:sp>
        <p:nvSpPr>
          <p:cNvPr id="119836" name="Rectangle 28"/>
          <p:cNvSpPr>
            <a:spLocks noChangeArrowheads="1"/>
          </p:cNvSpPr>
          <p:nvPr/>
        </p:nvSpPr>
        <p:spPr bwMode="auto">
          <a:xfrm>
            <a:off x="4932363" y="2736850"/>
            <a:ext cx="4211636" cy="461963"/>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称为</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基变量</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b="1">
              <a:ea typeface="微软雅黑" panose="020B0503020204020204" pitchFamily="34" charset="-122"/>
              <a:cs typeface="Times New Roman" panose="02020603050405020304" pitchFamily="18" charset="0"/>
            </a:endParaRPr>
          </a:p>
        </p:txBody>
      </p:sp>
      <p:sp>
        <p:nvSpPr>
          <p:cNvPr id="119835" name="Rectangle 27"/>
          <p:cNvSpPr>
            <a:spLocks noChangeArrowheads="1"/>
          </p:cNvSpPr>
          <p:nvPr/>
        </p:nvSpPr>
        <p:spPr bwMode="auto">
          <a:xfrm>
            <a:off x="1763713" y="2722563"/>
            <a:ext cx="1982787" cy="490537"/>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对应的变量</a:t>
            </a:r>
            <a:endParaRPr lang="zh-CN" altLang="en-US" b="1">
              <a:ea typeface="微软雅黑" panose="020B0503020204020204" pitchFamily="34" charset="-122"/>
              <a:cs typeface="Times New Roman" panose="02020603050405020304" pitchFamily="18" charset="0"/>
            </a:endParaRPr>
          </a:p>
        </p:txBody>
      </p:sp>
      <p:sp>
        <p:nvSpPr>
          <p:cNvPr id="119834" name="Rectangle 26"/>
          <p:cNvSpPr>
            <a:spLocks noChangeArrowheads="1"/>
          </p:cNvSpPr>
          <p:nvPr/>
        </p:nvSpPr>
        <p:spPr bwMode="auto">
          <a:xfrm>
            <a:off x="1331913" y="2251075"/>
            <a:ext cx="7812086" cy="4572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      称为线性规划的</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基向量</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b="1">
              <a:ea typeface="微软雅黑" panose="020B0503020204020204" pitchFamily="34" charset="-122"/>
              <a:cs typeface="Times New Roman" panose="02020603050405020304" pitchFamily="18" charset="0"/>
            </a:endParaRPr>
          </a:p>
        </p:txBody>
      </p:sp>
      <p:sp>
        <p:nvSpPr>
          <p:cNvPr id="119829" name="Rectangle 21"/>
          <p:cNvSpPr>
            <a:spLocks noChangeArrowheads="1"/>
          </p:cNvSpPr>
          <p:nvPr/>
        </p:nvSpPr>
        <p:spPr bwMode="auto">
          <a:xfrm>
            <a:off x="2554288" y="1339850"/>
            <a:ext cx="1108075" cy="4603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中存在</a:t>
            </a:r>
            <a:endParaRPr lang="zh-CN" altLang="en-US" b="1">
              <a:ea typeface="微软雅黑" panose="020B0503020204020204" pitchFamily="34" charset="-122"/>
              <a:cs typeface="Times New Roman" panose="02020603050405020304" pitchFamily="18" charset="0"/>
            </a:endParaRPr>
          </a:p>
        </p:txBody>
      </p:sp>
      <p:sp>
        <p:nvSpPr>
          <p:cNvPr id="119828" name="Rectangle 20"/>
          <p:cNvSpPr>
            <a:spLocks noChangeArrowheads="1"/>
          </p:cNvSpPr>
          <p:nvPr/>
        </p:nvSpPr>
        <p:spPr bwMode="auto">
          <a:xfrm>
            <a:off x="1563688" y="1338263"/>
            <a:ext cx="1063625" cy="4603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仿宋" panose="02010609060101010101" pitchFamily="49" charset="-122"/>
                <a:ea typeface="仿宋" panose="02010609060101010101" pitchFamily="49" charset="-122"/>
                <a:cs typeface="Times New Roman" panose="02020603050405020304" pitchFamily="18" charset="0"/>
              </a:rPr>
              <a:t>，</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故</a:t>
            </a:r>
            <a:endParaRPr lang="zh-CN" altLang="en-US" b="1">
              <a:ea typeface="微软雅黑" panose="020B0503020204020204" pitchFamily="34" charset="-122"/>
              <a:cs typeface="Times New Roman" panose="02020603050405020304" pitchFamily="18" charset="0"/>
            </a:endParaRPr>
          </a:p>
        </p:txBody>
      </p:sp>
      <p:sp>
        <p:nvSpPr>
          <p:cNvPr id="8205" name="Rectangle 2"/>
          <p:cNvSpPr txBox="1">
            <a:spLocks noChangeArrowheads="1"/>
          </p:cNvSpPr>
          <p:nvPr/>
        </p:nvSpPr>
        <p:spPr bwMode="auto">
          <a:xfrm>
            <a:off x="0" y="0"/>
            <a:ext cx="664368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600" b="1" dirty="0">
                <a:solidFill>
                  <a:schemeClr val="folHlink"/>
                </a:solidFill>
                <a:latin typeface="微软雅黑" panose="020B0503020204020204" pitchFamily="34" charset="-122"/>
                <a:ea typeface="微软雅黑" panose="020B0503020204020204" pitchFamily="34" charset="-122"/>
              </a:rPr>
              <a:t>(2) </a:t>
            </a:r>
            <a:r>
              <a:rPr kumimoji="0" lang="zh-CN" altLang="en-US" sz="3600" b="1" dirty="0">
                <a:solidFill>
                  <a:schemeClr val="folHlink"/>
                </a:solidFill>
                <a:latin typeface="微软雅黑" panose="020B0503020204020204" pitchFamily="34" charset="-122"/>
                <a:ea typeface="微软雅黑" panose="020B0503020204020204" pitchFamily="34" charset="-122"/>
              </a:rPr>
              <a:t>基</a:t>
            </a:r>
            <a:r>
              <a:rPr kumimoji="0" lang="zh-CN" altLang="en-US" sz="3600" b="1" dirty="0">
                <a:solidFill>
                  <a:schemeClr val="folHlink"/>
                </a:solidFill>
                <a:latin typeface="仿宋" panose="02010609060101010101" pitchFamily="49" charset="-122"/>
                <a:ea typeface="仿宋" panose="02010609060101010101" pitchFamily="49" charset="-122"/>
              </a:rPr>
              <a:t>，</a:t>
            </a:r>
            <a:r>
              <a:rPr kumimoji="0" lang="zh-CN" altLang="en-US" sz="3600" b="1" dirty="0">
                <a:solidFill>
                  <a:schemeClr val="folHlink"/>
                </a:solidFill>
                <a:latin typeface="微软雅黑" panose="020B0503020204020204" pitchFamily="34" charset="-122"/>
                <a:ea typeface="微软雅黑" panose="020B0503020204020204" pitchFamily="34" charset="-122"/>
              </a:rPr>
              <a:t>基向量</a:t>
            </a:r>
            <a:r>
              <a:rPr kumimoji="0" lang="zh-CN" altLang="en-US" sz="3600" b="1" dirty="0">
                <a:solidFill>
                  <a:schemeClr val="folHlink"/>
                </a:solidFill>
                <a:latin typeface="仿宋" panose="02010609060101010101" pitchFamily="49" charset="-122"/>
                <a:ea typeface="仿宋" panose="02010609060101010101" pitchFamily="49" charset="-122"/>
              </a:rPr>
              <a:t>，</a:t>
            </a:r>
            <a:r>
              <a:rPr kumimoji="0" lang="zh-CN" altLang="en-US" sz="3600" b="1" dirty="0">
                <a:solidFill>
                  <a:schemeClr val="folHlink"/>
                </a:solidFill>
                <a:latin typeface="微软雅黑" panose="020B0503020204020204" pitchFamily="34" charset="-122"/>
                <a:ea typeface="微软雅黑" panose="020B0503020204020204" pitchFamily="34" charset="-122"/>
              </a:rPr>
              <a:t>基变量</a:t>
            </a:r>
          </a:p>
        </p:txBody>
      </p:sp>
      <p:graphicFrame>
        <p:nvGraphicFramePr>
          <p:cNvPr id="8206" name="Object 17"/>
          <p:cNvGraphicFramePr>
            <a:graphicFrameLocks noChangeAspect="1"/>
          </p:cNvGraphicFramePr>
          <p:nvPr/>
        </p:nvGraphicFramePr>
        <p:xfrm>
          <a:off x="900113" y="696913"/>
          <a:ext cx="4181475" cy="520700"/>
        </p:xfrm>
        <a:graphic>
          <a:graphicData uri="http://schemas.openxmlformats.org/presentationml/2006/ole">
            <mc:AlternateContent xmlns:mc="http://schemas.openxmlformats.org/markup-compatibility/2006">
              <mc:Choice xmlns:v="urn:schemas-microsoft-com:vml" Requires="v">
                <p:oleObj spid="_x0000_s29494" name="Equation" r:id="rId5" imgW="1841500" imgH="228600" progId="Equation.DSMT4">
                  <p:embed/>
                </p:oleObj>
              </mc:Choice>
              <mc:Fallback>
                <p:oleObj name="Equation" r:id="rId5" imgW="1841500" imgH="22860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696913"/>
                        <a:ext cx="41814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3" name="Object 15"/>
          <p:cNvGraphicFramePr>
            <a:graphicFrameLocks noChangeAspect="1"/>
          </p:cNvGraphicFramePr>
          <p:nvPr/>
        </p:nvGraphicFramePr>
        <p:xfrm>
          <a:off x="2286000" y="1412875"/>
          <a:ext cx="269875" cy="287338"/>
        </p:xfrm>
        <a:graphic>
          <a:graphicData uri="http://schemas.openxmlformats.org/presentationml/2006/ole">
            <mc:AlternateContent xmlns:mc="http://schemas.openxmlformats.org/markup-compatibility/2006">
              <mc:Choice xmlns:v="urn:schemas-microsoft-com:vml" Requires="v">
                <p:oleObj spid="_x0000_s29495" name="Equation" r:id="rId7" imgW="152400" imgH="165100" progId="Equation.DSMT4">
                  <p:embed/>
                </p:oleObj>
              </mc:Choice>
              <mc:Fallback>
                <p:oleObj name="Equation" r:id="rId7" imgW="152400" imgH="165100"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1412875"/>
                        <a:ext cx="269875" cy="2873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2" name="Object 14"/>
          <p:cNvGraphicFramePr>
            <a:graphicFrameLocks noChangeAspect="1"/>
          </p:cNvGraphicFramePr>
          <p:nvPr/>
        </p:nvGraphicFramePr>
        <p:xfrm>
          <a:off x="3635375" y="1341438"/>
          <a:ext cx="431800" cy="458787"/>
        </p:xfrm>
        <a:graphic>
          <a:graphicData uri="http://schemas.openxmlformats.org/presentationml/2006/ole">
            <mc:AlternateContent xmlns:mc="http://schemas.openxmlformats.org/markup-compatibility/2006">
              <mc:Choice xmlns:v="urn:schemas-microsoft-com:vml" Requires="v">
                <p:oleObj spid="_x0000_s29496" name="Equation" r:id="rId9" imgW="165100" imgH="139700" progId="Equation.DSMT4">
                  <p:embed/>
                </p:oleObj>
              </mc:Choice>
              <mc:Fallback>
                <p:oleObj name="Equation" r:id="rId9" imgW="165100" imgH="1397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375" y="1341438"/>
                        <a:ext cx="431800" cy="458787"/>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0" name="Object 12"/>
          <p:cNvGraphicFramePr>
            <a:graphicFrameLocks noChangeAspect="1"/>
          </p:cNvGraphicFramePr>
          <p:nvPr/>
        </p:nvGraphicFramePr>
        <p:xfrm>
          <a:off x="8461375" y="1349375"/>
          <a:ext cx="688974" cy="444500"/>
        </p:xfrm>
        <a:graphic>
          <a:graphicData uri="http://schemas.openxmlformats.org/presentationml/2006/ole">
            <mc:AlternateContent xmlns:mc="http://schemas.openxmlformats.org/markup-compatibility/2006">
              <mc:Choice xmlns:v="urn:schemas-microsoft-com:vml" Requires="v">
                <p:oleObj spid="_x0000_s29497" name="Equation" r:id="rId11" imgW="165100" imgH="139700" progId="Equation.DSMT4">
                  <p:embed/>
                </p:oleObj>
              </mc:Choice>
              <mc:Fallback>
                <p:oleObj name="Equation" r:id="rId11" imgW="165100" imgH="1397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61375" y="1349375"/>
                        <a:ext cx="688974" cy="444500"/>
                      </a:xfrm>
                      <a:prstGeom prst="rect">
                        <a:avLst/>
                      </a:prstGeom>
                      <a:solidFill>
                        <a:srgbClr val="FFFF66"/>
                      </a:solidFill>
                      <a:ln>
                        <a:noFill/>
                      </a:ln>
                    </p:spPr>
                  </p:pic>
                </p:oleObj>
              </mc:Fallback>
            </mc:AlternateContent>
          </a:graphicData>
        </a:graphic>
      </p:graphicFrame>
      <p:graphicFrame>
        <p:nvGraphicFramePr>
          <p:cNvPr id="119818" name="Object 10"/>
          <p:cNvGraphicFramePr>
            <a:graphicFrameLocks noChangeAspect="1"/>
          </p:cNvGraphicFramePr>
          <p:nvPr/>
        </p:nvGraphicFramePr>
        <p:xfrm>
          <a:off x="0" y="2238375"/>
          <a:ext cx="1692275" cy="469900"/>
        </p:xfrm>
        <a:graphic>
          <a:graphicData uri="http://schemas.openxmlformats.org/presentationml/2006/ole">
            <mc:AlternateContent xmlns:mc="http://schemas.openxmlformats.org/markup-compatibility/2006">
              <mc:Choice xmlns:v="urn:schemas-microsoft-com:vml" Requires="v">
                <p:oleObj spid="_x0000_s29498" name="Equation" r:id="rId13" imgW="774065" imgH="228600" progId="Equation.DSMT4">
                  <p:embed/>
                </p:oleObj>
              </mc:Choice>
              <mc:Fallback>
                <p:oleObj name="Equation" r:id="rId13" imgW="774065" imgH="228600"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2238375"/>
                        <a:ext cx="1692275" cy="469900"/>
                      </a:xfrm>
                      <a:prstGeom prst="rect">
                        <a:avLst/>
                      </a:prstGeom>
                      <a:solidFill>
                        <a:srgbClr val="00FFFF"/>
                      </a:solidFill>
                      <a:ln>
                        <a:noFill/>
                      </a:ln>
                    </p:spPr>
                  </p:pic>
                </p:oleObj>
              </mc:Fallback>
            </mc:AlternateContent>
          </a:graphicData>
        </a:graphic>
      </p:graphicFrame>
      <p:graphicFrame>
        <p:nvGraphicFramePr>
          <p:cNvPr id="119815" name="Object 7"/>
          <p:cNvGraphicFramePr>
            <a:graphicFrameLocks noChangeAspect="1"/>
          </p:cNvGraphicFramePr>
          <p:nvPr/>
        </p:nvGraphicFramePr>
        <p:xfrm>
          <a:off x="0" y="3248025"/>
          <a:ext cx="1473200" cy="460375"/>
        </p:xfrm>
        <a:graphic>
          <a:graphicData uri="http://schemas.openxmlformats.org/presentationml/2006/ole">
            <mc:AlternateContent xmlns:mc="http://schemas.openxmlformats.org/markup-compatibility/2006">
              <mc:Choice xmlns:v="urn:schemas-microsoft-com:vml" Requires="v">
                <p:oleObj spid="_x0000_s29499" name="Equation" r:id="rId15" imgW="673100" imgH="228600" progId="Equation.DSMT4">
                  <p:embed/>
                </p:oleObj>
              </mc:Choice>
              <mc:Fallback>
                <p:oleObj name="Equation" r:id="rId15" imgW="673100" imgH="228600"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3248025"/>
                        <a:ext cx="1473200" cy="460375"/>
                      </a:xfrm>
                      <a:prstGeom prst="rect">
                        <a:avLst/>
                      </a:prstGeom>
                      <a:solidFill>
                        <a:srgbClr val="66FF99"/>
                      </a:solidFill>
                      <a:ln>
                        <a:noFill/>
                      </a:ln>
                    </p:spPr>
                  </p:pic>
                </p:oleObj>
              </mc:Fallback>
            </mc:AlternateContent>
          </a:graphicData>
        </a:graphic>
      </p:graphicFrame>
      <p:graphicFrame>
        <p:nvGraphicFramePr>
          <p:cNvPr id="119817" name="Object 9"/>
          <p:cNvGraphicFramePr>
            <a:graphicFrameLocks noChangeAspect="1"/>
          </p:cNvGraphicFramePr>
          <p:nvPr/>
        </p:nvGraphicFramePr>
        <p:xfrm>
          <a:off x="0" y="2722563"/>
          <a:ext cx="1763713" cy="490537"/>
        </p:xfrm>
        <a:graphic>
          <a:graphicData uri="http://schemas.openxmlformats.org/presentationml/2006/ole">
            <mc:AlternateContent xmlns:mc="http://schemas.openxmlformats.org/markup-compatibility/2006">
              <mc:Choice xmlns:v="urn:schemas-microsoft-com:vml" Requires="v">
                <p:oleObj spid="_x0000_s29500" name="Equation" r:id="rId17" imgW="774065" imgH="228600" progId="Equation.DSMT4">
                  <p:embed/>
                </p:oleObj>
              </mc:Choice>
              <mc:Fallback>
                <p:oleObj name="Equation" r:id="rId17" imgW="774065" imgH="22860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2722563"/>
                        <a:ext cx="1763713" cy="490537"/>
                      </a:xfrm>
                      <a:prstGeom prst="rect">
                        <a:avLst/>
                      </a:prstGeom>
                      <a:solidFill>
                        <a:srgbClr val="02E6FE"/>
                      </a:solidFill>
                      <a:ln>
                        <a:noFill/>
                      </a:ln>
                    </p:spPr>
                  </p:pic>
                </p:oleObj>
              </mc:Fallback>
            </mc:AlternateContent>
          </a:graphicData>
        </a:graphic>
      </p:graphicFrame>
      <p:graphicFrame>
        <p:nvGraphicFramePr>
          <p:cNvPr id="119816" name="Object 8"/>
          <p:cNvGraphicFramePr>
            <a:graphicFrameLocks noChangeAspect="1"/>
          </p:cNvGraphicFramePr>
          <p:nvPr/>
        </p:nvGraphicFramePr>
        <p:xfrm>
          <a:off x="3419475" y="2722563"/>
          <a:ext cx="1528763" cy="490537"/>
        </p:xfrm>
        <a:graphic>
          <a:graphicData uri="http://schemas.openxmlformats.org/presentationml/2006/ole">
            <mc:AlternateContent xmlns:mc="http://schemas.openxmlformats.org/markup-compatibility/2006">
              <mc:Choice xmlns:v="urn:schemas-microsoft-com:vml" Requires="v">
                <p:oleObj spid="_x0000_s29501" name="Equation" r:id="rId19" imgW="711200" imgH="228600" progId="Equation.DSMT4">
                  <p:embed/>
                </p:oleObj>
              </mc:Choice>
              <mc:Fallback>
                <p:oleObj name="Equation" r:id="rId19" imgW="711200" imgH="228600" progId="Equation.DSMT4">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19475" y="2722563"/>
                        <a:ext cx="1528763" cy="490537"/>
                      </a:xfrm>
                      <a:prstGeom prst="rect">
                        <a:avLst/>
                      </a:prstGeom>
                      <a:solidFill>
                        <a:srgbClr val="02E6FE"/>
                      </a:solidFill>
                      <a:ln w="9525">
                        <a:solidFill>
                          <a:schemeClr val="accent1"/>
                        </a:solidFill>
                        <a:miter lim="800000"/>
                        <a:headEnd/>
                        <a:tailEnd/>
                      </a:ln>
                    </p:spPr>
                  </p:pic>
                </p:oleObj>
              </mc:Fallback>
            </mc:AlternateContent>
          </a:graphicData>
        </a:graphic>
      </p:graphicFrame>
      <p:graphicFrame>
        <p:nvGraphicFramePr>
          <p:cNvPr id="119814" name="Object 6"/>
          <p:cNvGraphicFramePr>
            <a:graphicFrameLocks noChangeAspect="1"/>
          </p:cNvGraphicFramePr>
          <p:nvPr/>
        </p:nvGraphicFramePr>
        <p:xfrm>
          <a:off x="3302000" y="3248025"/>
          <a:ext cx="1366838" cy="460375"/>
        </p:xfrm>
        <a:graphic>
          <a:graphicData uri="http://schemas.openxmlformats.org/presentationml/2006/ole">
            <mc:AlternateContent xmlns:mc="http://schemas.openxmlformats.org/markup-compatibility/2006">
              <mc:Choice xmlns:v="urn:schemas-microsoft-com:vml" Requires="v">
                <p:oleObj spid="_x0000_s29502" name="Equation" r:id="rId21" imgW="622300" imgH="228600" progId="Equation.DSMT4">
                  <p:embed/>
                </p:oleObj>
              </mc:Choice>
              <mc:Fallback>
                <p:oleObj name="Equation" r:id="rId21" imgW="622300" imgH="228600" progId="Equation.DSMT4">
                  <p:embed/>
                  <p:pic>
                    <p:nvPicPr>
                      <p:cNvPr id="0" name="Object 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02000" y="3248025"/>
                        <a:ext cx="1366838" cy="460375"/>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5" name="Rectangle 18"/>
          <p:cNvSpPr>
            <a:spLocks noChangeArrowheads="1"/>
          </p:cNvSpPr>
          <p:nvPr/>
        </p:nvSpPr>
        <p:spPr bwMode="auto">
          <a:xfrm>
            <a:off x="179388" y="728663"/>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令</a:t>
            </a:r>
            <a:endParaRPr lang="zh-CN" altLang="en-US" b="1">
              <a:ea typeface="微软雅黑" panose="020B0503020204020204" pitchFamily="34" charset="-122"/>
              <a:cs typeface="Times New Roman" panose="02020603050405020304" pitchFamily="18" charset="0"/>
            </a:endParaRPr>
          </a:p>
        </p:txBody>
      </p:sp>
      <p:sp>
        <p:nvSpPr>
          <p:cNvPr id="119827" name="Rectangle 19"/>
          <p:cNvSpPr>
            <a:spLocks noChangeArrowheads="1"/>
          </p:cNvSpPr>
          <p:nvPr/>
        </p:nvSpPr>
        <p:spPr bwMode="auto">
          <a:xfrm>
            <a:off x="0" y="1325563"/>
            <a:ext cx="1692275" cy="46196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因秩</a:t>
            </a:r>
            <a:endParaRPr lang="zh-CN" altLang="en-US" b="1" dirty="0">
              <a:ea typeface="微软雅黑" panose="020B0503020204020204" pitchFamily="34" charset="-122"/>
              <a:cs typeface="Times New Roman" panose="02020603050405020304" pitchFamily="18" charset="0"/>
            </a:endParaRPr>
          </a:p>
        </p:txBody>
      </p:sp>
      <p:sp>
        <p:nvSpPr>
          <p:cNvPr id="119833" name="Rectangle 25"/>
          <p:cNvSpPr>
            <a:spLocks noChangeArrowheads="1"/>
          </p:cNvSpPr>
          <p:nvPr/>
        </p:nvSpPr>
        <p:spPr bwMode="auto">
          <a:xfrm>
            <a:off x="5580062" y="1771650"/>
            <a:ext cx="3563937" cy="4603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为线性规划的一个</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a:t>
            </a:r>
          </a:p>
        </p:txBody>
      </p:sp>
      <p:graphicFrame>
        <p:nvGraphicFramePr>
          <p:cNvPr id="3" name="Object 2"/>
          <p:cNvGraphicFramePr>
            <a:graphicFrameLocks noChangeAspect="1"/>
          </p:cNvGraphicFramePr>
          <p:nvPr/>
        </p:nvGraphicFramePr>
        <p:xfrm>
          <a:off x="3887788" y="4772025"/>
          <a:ext cx="4968875" cy="1820863"/>
        </p:xfrm>
        <a:graphic>
          <a:graphicData uri="http://schemas.openxmlformats.org/presentationml/2006/ole">
            <mc:AlternateContent xmlns:mc="http://schemas.openxmlformats.org/markup-compatibility/2006">
              <mc:Choice xmlns:v="urn:schemas-microsoft-com:vml" Requires="v">
                <p:oleObj spid="_x0000_s29503" name="Equation" r:id="rId23" imgW="2552700" imgH="939800" progId="Equation.DSMT4">
                  <p:embed/>
                </p:oleObj>
              </mc:Choice>
              <mc:Fallback>
                <p:oleObj name="Equation" r:id="rId23" imgW="2552700" imgH="939800" progId="Equation.DSMT4">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87788" y="4772025"/>
                        <a:ext cx="4968875" cy="1820863"/>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24" name="Object 16"/>
          <p:cNvGraphicFramePr>
            <a:graphicFrameLocks noChangeAspect="1"/>
          </p:cNvGraphicFramePr>
          <p:nvPr/>
        </p:nvGraphicFramePr>
        <p:xfrm>
          <a:off x="769938" y="1316038"/>
          <a:ext cx="849312" cy="673100"/>
        </p:xfrm>
        <a:graphic>
          <a:graphicData uri="http://schemas.openxmlformats.org/presentationml/2006/ole">
            <mc:AlternateContent xmlns:mc="http://schemas.openxmlformats.org/markup-compatibility/2006">
              <mc:Choice xmlns:v="urn:schemas-microsoft-com:vml" Requires="v">
                <p:oleObj spid="_x0000_s29504" name="Equation" r:id="rId25" imgW="494665" imgH="266700" progId="Equation.DSMT4">
                  <p:embed/>
                </p:oleObj>
              </mc:Choice>
              <mc:Fallback>
                <p:oleObj name="Equation" r:id="rId25" imgW="494665" imgH="266700" progId="Equation.DSMT4">
                  <p:embed/>
                  <p:pic>
                    <p:nvPicPr>
                      <p:cNvPr id="0" name="Object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9938" y="1316038"/>
                        <a:ext cx="849312" cy="6731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41" name="Object 33"/>
          <p:cNvGraphicFramePr>
            <a:graphicFrameLocks noChangeAspect="1"/>
          </p:cNvGraphicFramePr>
          <p:nvPr/>
        </p:nvGraphicFramePr>
        <p:xfrm>
          <a:off x="179388" y="5322888"/>
          <a:ext cx="2087562" cy="966787"/>
        </p:xfrm>
        <a:graphic>
          <a:graphicData uri="http://schemas.openxmlformats.org/presentationml/2006/ole">
            <mc:AlternateContent xmlns:mc="http://schemas.openxmlformats.org/markup-compatibility/2006">
              <mc:Choice xmlns:v="urn:schemas-microsoft-com:vml" Requires="v">
                <p:oleObj spid="_x0000_s29505" name="Equation" r:id="rId27" imgW="1040765" imgH="482600" progId="Equation.DSMT4">
                  <p:embed/>
                </p:oleObj>
              </mc:Choice>
              <mc:Fallback>
                <p:oleObj name="Equation" r:id="rId27" imgW="1040765" imgH="482600" progId="Equation.DSMT4">
                  <p:embed/>
                  <p:pic>
                    <p:nvPicPr>
                      <p:cNvPr id="0" name="Object 3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79388" y="5322888"/>
                        <a:ext cx="2087562" cy="966787"/>
                      </a:xfrm>
                      <a:prstGeom prst="rect">
                        <a:avLst/>
                      </a:prstGeom>
                      <a:solidFill>
                        <a:srgbClr val="02E6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9832" name="Rectangle 24"/>
          <p:cNvSpPr>
            <a:spLocks noChangeArrowheads="1"/>
          </p:cNvSpPr>
          <p:nvPr/>
        </p:nvSpPr>
        <p:spPr bwMode="auto">
          <a:xfrm>
            <a:off x="1" y="1771650"/>
            <a:ext cx="3132138" cy="4603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个列线性无关</a:t>
            </a:r>
            <a:r>
              <a:rPr lang="zh-CN" altLang="en-US" b="1">
                <a:latin typeface="仿宋" panose="02010609060101010101" pitchFamily="49" charset="-122"/>
                <a:ea typeface="仿宋" panose="02010609060101010101" pitchFamily="49" charset="-122"/>
                <a:cs typeface="Times New Roman" panose="02020603050405020304" pitchFamily="18" charset="0"/>
              </a:rPr>
              <a:t>，</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则称</a:t>
            </a:r>
            <a:endParaRPr lang="zh-CN" altLang="en-US" b="1">
              <a:ea typeface="微软雅黑" panose="020B0503020204020204" pitchFamily="34" charset="-122"/>
              <a:cs typeface="Times New Roman" panose="02020603050405020304" pitchFamily="18" charset="0"/>
            </a:endParaRPr>
          </a:p>
        </p:txBody>
      </p:sp>
      <p:graphicFrame>
        <p:nvGraphicFramePr>
          <p:cNvPr id="119819" name="Object 11"/>
          <p:cNvGraphicFramePr>
            <a:graphicFrameLocks noChangeAspect="1"/>
          </p:cNvGraphicFramePr>
          <p:nvPr/>
        </p:nvGraphicFramePr>
        <p:xfrm>
          <a:off x="2990850" y="1773238"/>
          <a:ext cx="2665413" cy="484187"/>
        </p:xfrm>
        <a:graphic>
          <a:graphicData uri="http://schemas.openxmlformats.org/presentationml/2006/ole">
            <mc:AlternateContent xmlns:mc="http://schemas.openxmlformats.org/markup-compatibility/2006">
              <mc:Choice xmlns:v="urn:schemas-microsoft-com:vml" Requires="v">
                <p:oleObj spid="_x0000_s29506" name="Equation" r:id="rId29" imgW="1168400" imgH="241300" progId="Equation.DSMT4">
                  <p:embed/>
                </p:oleObj>
              </mc:Choice>
              <mc:Fallback>
                <p:oleObj name="Equation" r:id="rId29" imgW="1168400" imgH="241300" progId="Equation.DSMT4">
                  <p:embed/>
                  <p:pic>
                    <p:nvPicPr>
                      <p:cNvPr id="0" name="Object 1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90850" y="1773238"/>
                        <a:ext cx="2665413" cy="484187"/>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ctangle 29"/>
          <p:cNvSpPr>
            <a:spLocks noChangeArrowheads="1"/>
          </p:cNvSpPr>
          <p:nvPr/>
        </p:nvSpPr>
        <p:spPr bwMode="auto">
          <a:xfrm>
            <a:off x="368300" y="3756025"/>
            <a:ext cx="1727200"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是系数矩阵</a:t>
            </a:r>
            <a:endParaRPr lang="zh-CN" altLang="en-US" b="1">
              <a:ea typeface="微软雅黑" panose="020B0503020204020204" pitchFamily="34" charset="-122"/>
              <a:cs typeface="Times New Roman" panose="02020603050405020304" pitchFamily="18" charset="0"/>
            </a:endParaRPr>
          </a:p>
        </p:txBody>
      </p:sp>
      <p:graphicFrame>
        <p:nvGraphicFramePr>
          <p:cNvPr id="35" name="对象 34"/>
          <p:cNvGraphicFramePr>
            <a:graphicFrameLocks noChangeAspect="1"/>
          </p:cNvGraphicFramePr>
          <p:nvPr/>
        </p:nvGraphicFramePr>
        <p:xfrm>
          <a:off x="0" y="3756025"/>
          <a:ext cx="460375" cy="382588"/>
        </p:xfrm>
        <a:graphic>
          <a:graphicData uri="http://schemas.openxmlformats.org/presentationml/2006/ole">
            <mc:AlternateContent xmlns:mc="http://schemas.openxmlformats.org/markup-compatibility/2006">
              <mc:Choice xmlns:v="urn:schemas-microsoft-com:vml" Requires="v">
                <p:oleObj spid="_x0000_s29507" name="Equation" r:id="rId31" imgW="152400" imgH="165100" progId="Equation.DSMT4">
                  <p:embed/>
                </p:oleObj>
              </mc:Choice>
              <mc:Fallback>
                <p:oleObj name="Equation" r:id="rId31" imgW="152400" imgH="165100" progId="Equation.DSMT4">
                  <p:embed/>
                  <p:pic>
                    <p:nvPicPr>
                      <p:cNvPr id="0" name="对象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0" y="3756025"/>
                        <a:ext cx="460375" cy="382588"/>
                      </a:xfrm>
                      <a:prstGeom prst="rect">
                        <a:avLst/>
                      </a:prstGeom>
                      <a:solidFill>
                        <a:srgbClr val="FFFF00"/>
                      </a:solidFill>
                      <a:ln>
                        <a:noFill/>
                      </a:ln>
                    </p:spPr>
                  </p:pic>
                </p:oleObj>
              </mc:Fallback>
            </mc:AlternateContent>
          </a:graphicData>
        </a:graphic>
      </p:graphicFrame>
      <p:sp>
        <p:nvSpPr>
          <p:cNvPr id="5" name="矩形 4"/>
          <p:cNvSpPr>
            <a:spLocks noChangeArrowheads="1"/>
          </p:cNvSpPr>
          <p:nvPr/>
        </p:nvSpPr>
        <p:spPr bwMode="auto">
          <a:xfrm>
            <a:off x="2389188" y="3756025"/>
            <a:ext cx="814387"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中的</a:t>
            </a:r>
            <a:endParaRPr lang="zh-CN" altLang="en-US">
              <a:ea typeface="微软雅黑" panose="020B0503020204020204" pitchFamily="34" charset="-122"/>
              <a:cs typeface="Times New Roman" panose="02020603050405020304" pitchFamily="18" charset="0"/>
            </a:endParaRPr>
          </a:p>
        </p:txBody>
      </p:sp>
      <p:sp>
        <p:nvSpPr>
          <p:cNvPr id="6" name="矩形 5"/>
          <p:cNvSpPr>
            <a:spLocks noChangeArrowheads="1"/>
          </p:cNvSpPr>
          <p:nvPr/>
        </p:nvSpPr>
        <p:spPr bwMode="auto">
          <a:xfrm>
            <a:off x="4064000" y="3759200"/>
            <a:ext cx="5079999"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阶非奇异子矩阵</a:t>
            </a:r>
            <a:endParaRPr lang="zh-CN" altLang="en-US">
              <a:ea typeface="微软雅黑" panose="020B0503020204020204" pitchFamily="34" charset="-122"/>
              <a:cs typeface="Times New Roman" panose="02020603050405020304" pitchFamily="18" charset="0"/>
            </a:endParaRPr>
          </a:p>
        </p:txBody>
      </p:sp>
      <p:sp>
        <p:nvSpPr>
          <p:cNvPr id="7" name="矩形 6"/>
          <p:cNvSpPr>
            <a:spLocks noChangeArrowheads="1"/>
          </p:cNvSpPr>
          <p:nvPr/>
        </p:nvSpPr>
        <p:spPr bwMode="auto">
          <a:xfrm>
            <a:off x="827088" y="4133850"/>
            <a:ext cx="8323261"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为线性规划问题的基</a:t>
            </a:r>
            <a:endParaRPr lang="zh-CN" altLang="en-US">
              <a:ea typeface="微软雅黑" panose="020B0503020204020204" pitchFamily="34" charset="-122"/>
              <a:cs typeface="Times New Roman" panose="02020603050405020304" pitchFamily="18" charset="0"/>
            </a:endParaRPr>
          </a:p>
        </p:txBody>
      </p:sp>
      <p:graphicFrame>
        <p:nvGraphicFramePr>
          <p:cNvPr id="40" name="对象 39"/>
          <p:cNvGraphicFramePr>
            <a:graphicFrameLocks noChangeAspect="1"/>
          </p:cNvGraphicFramePr>
          <p:nvPr/>
        </p:nvGraphicFramePr>
        <p:xfrm>
          <a:off x="3114675" y="3759200"/>
          <a:ext cx="1068388" cy="382588"/>
        </p:xfrm>
        <a:graphic>
          <a:graphicData uri="http://schemas.openxmlformats.org/presentationml/2006/ole">
            <mc:AlternateContent xmlns:mc="http://schemas.openxmlformats.org/markup-compatibility/2006">
              <mc:Choice xmlns:v="urn:schemas-microsoft-com:vml" Requires="v">
                <p:oleObj spid="_x0000_s29508" name="Equation" r:id="rId33" imgW="393700" imgH="139700" progId="Equation.DSMT4">
                  <p:embed/>
                </p:oleObj>
              </mc:Choice>
              <mc:Fallback>
                <p:oleObj name="Equation" r:id="rId33" imgW="393700" imgH="139700" progId="Equation.DSMT4">
                  <p:embed/>
                  <p:pic>
                    <p:nvPicPr>
                      <p:cNvPr id="0" name="对象 3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114675" y="3759200"/>
                        <a:ext cx="1068388"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a:spLocks noChangeArrowheads="1"/>
          </p:cNvSpPr>
          <p:nvPr/>
        </p:nvSpPr>
        <p:spPr bwMode="auto">
          <a:xfrm>
            <a:off x="-11110" y="4133850"/>
            <a:ext cx="587374"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称</a:t>
            </a:r>
            <a:endParaRPr lang="zh-CN" altLang="en-US">
              <a:ea typeface="微软雅黑" panose="020B0503020204020204" pitchFamily="34" charset="-122"/>
              <a:cs typeface="Times New Roman" panose="02020603050405020304" pitchFamily="18" charset="0"/>
            </a:endParaRPr>
          </a:p>
        </p:txBody>
      </p:sp>
      <p:graphicFrame>
        <p:nvGraphicFramePr>
          <p:cNvPr id="119840" name="Object 32"/>
          <p:cNvGraphicFramePr>
            <a:graphicFrameLocks noChangeAspect="1"/>
          </p:cNvGraphicFramePr>
          <p:nvPr/>
        </p:nvGraphicFramePr>
        <p:xfrm>
          <a:off x="6310313" y="3759200"/>
          <a:ext cx="746125" cy="382588"/>
        </p:xfrm>
        <a:graphic>
          <a:graphicData uri="http://schemas.openxmlformats.org/presentationml/2006/ole">
            <mc:AlternateContent xmlns:mc="http://schemas.openxmlformats.org/markup-compatibility/2006">
              <mc:Choice xmlns:v="urn:schemas-microsoft-com:vml" Requires="v">
                <p:oleObj spid="_x0000_s29509" name="Equation" r:id="rId35" imgW="546100" imgH="279400" progId="Equation.DSMT4">
                  <p:embed/>
                </p:oleObj>
              </mc:Choice>
              <mc:Fallback>
                <p:oleObj name="Equation" r:id="rId35" imgW="546100" imgH="279400" progId="Equation.DSMT4">
                  <p:embed/>
                  <p:pic>
                    <p:nvPicPr>
                      <p:cNvPr id="0" name="Object 3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310313" y="3759200"/>
                        <a:ext cx="746125"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矩形 51"/>
          <p:cNvSpPr>
            <a:spLocks noChangeArrowheads="1"/>
          </p:cNvSpPr>
          <p:nvPr/>
        </p:nvSpPr>
        <p:spPr bwMode="auto">
          <a:xfrm>
            <a:off x="2195513" y="5794375"/>
            <a:ext cx="1622425" cy="495300"/>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为基变量</a:t>
            </a:r>
            <a:endParaRPr lang="zh-CN" altLang="en-US">
              <a:ea typeface="微软雅黑" panose="020B0503020204020204" pitchFamily="34" charset="-122"/>
              <a:cs typeface="Times New Roman" panose="02020603050405020304" pitchFamily="18" charset="0"/>
            </a:endParaRPr>
          </a:p>
        </p:txBody>
      </p:sp>
      <p:graphicFrame>
        <p:nvGraphicFramePr>
          <p:cNvPr id="42" name="对象 41"/>
          <p:cNvGraphicFramePr>
            <a:graphicFrameLocks noChangeAspect="1"/>
          </p:cNvGraphicFramePr>
          <p:nvPr/>
        </p:nvGraphicFramePr>
        <p:xfrm>
          <a:off x="525463" y="4114800"/>
          <a:ext cx="352425" cy="382588"/>
        </p:xfrm>
        <a:graphic>
          <a:graphicData uri="http://schemas.openxmlformats.org/presentationml/2006/ole">
            <mc:AlternateContent xmlns:mc="http://schemas.openxmlformats.org/markup-compatibility/2006">
              <mc:Choice xmlns:v="urn:schemas-microsoft-com:vml" Requires="v">
                <p:oleObj spid="_x0000_s29510" name="Equation" r:id="rId37" imgW="152400" imgH="165100" progId="Equation.DSMT4">
                  <p:embed/>
                </p:oleObj>
              </mc:Choice>
              <mc:Fallback>
                <p:oleObj name="Equation" r:id="rId37" imgW="152400" imgH="165100" progId="Equation.DSMT4">
                  <p:embed/>
                  <p:pic>
                    <p:nvPicPr>
                      <p:cNvPr id="0" name="对象 4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25463" y="4114800"/>
                        <a:ext cx="352425"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 name="对象 43"/>
          <p:cNvGraphicFramePr>
            <a:graphicFrameLocks noChangeAspect="1"/>
          </p:cNvGraphicFramePr>
          <p:nvPr/>
        </p:nvGraphicFramePr>
        <p:xfrm>
          <a:off x="2076450" y="3756025"/>
          <a:ext cx="352425" cy="382588"/>
        </p:xfrm>
        <a:graphic>
          <a:graphicData uri="http://schemas.openxmlformats.org/presentationml/2006/ole">
            <mc:AlternateContent xmlns:mc="http://schemas.openxmlformats.org/markup-compatibility/2006">
              <mc:Choice xmlns:v="urn:schemas-microsoft-com:vml" Requires="v">
                <p:oleObj spid="_x0000_s29511" name="Equation" r:id="rId38" imgW="152400" imgH="165100" progId="Equation.DSMT4">
                  <p:embed/>
                </p:oleObj>
              </mc:Choice>
              <mc:Fallback>
                <p:oleObj name="Equation" r:id="rId38" imgW="152400" imgH="165100" progId="Equation.DSMT4">
                  <p:embed/>
                  <p:pic>
                    <p:nvPicPr>
                      <p:cNvPr id="0" name="对象 43"/>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076450" y="3756025"/>
                        <a:ext cx="352425" cy="3825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31"/>
                                        </p:tgtEl>
                                        <p:attrNameLst>
                                          <p:attrName>style.visibility</p:attrName>
                                        </p:attrNameLst>
                                      </p:cBhvr>
                                      <p:to>
                                        <p:strVal val="visible"/>
                                      </p:to>
                                    </p:set>
                                    <p:animEffect transition="in" filter="blinds(horizontal)">
                                      <p:cBhvr>
                                        <p:cTn id="7" dur="500"/>
                                        <p:tgtEl>
                                          <p:spTgt spid="1198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9829"/>
                                        </p:tgtEl>
                                        <p:attrNameLst>
                                          <p:attrName>style.visibility</p:attrName>
                                        </p:attrNameLst>
                                      </p:cBhvr>
                                      <p:to>
                                        <p:strVal val="visible"/>
                                      </p:to>
                                    </p:set>
                                    <p:animEffect transition="in" filter="blinds(horizontal)">
                                      <p:cBhvr>
                                        <p:cTn id="10" dur="500"/>
                                        <p:tgtEl>
                                          <p:spTgt spid="11982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9830"/>
                                        </p:tgtEl>
                                        <p:attrNameLst>
                                          <p:attrName>style.visibility</p:attrName>
                                        </p:attrNameLst>
                                      </p:cBhvr>
                                      <p:to>
                                        <p:strVal val="visible"/>
                                      </p:to>
                                    </p:set>
                                    <p:animEffect transition="in" filter="blinds(horizontal)">
                                      <p:cBhvr>
                                        <p:cTn id="13" dur="500"/>
                                        <p:tgtEl>
                                          <p:spTgt spid="11983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9828"/>
                                        </p:tgtEl>
                                        <p:attrNameLst>
                                          <p:attrName>style.visibility</p:attrName>
                                        </p:attrNameLst>
                                      </p:cBhvr>
                                      <p:to>
                                        <p:strVal val="visible"/>
                                      </p:to>
                                    </p:set>
                                    <p:animEffect transition="in" filter="blinds(horizontal)">
                                      <p:cBhvr>
                                        <p:cTn id="16" dur="500"/>
                                        <p:tgtEl>
                                          <p:spTgt spid="119828"/>
                                        </p:tgtEl>
                                      </p:cBhvr>
                                    </p:animEffect>
                                  </p:childTnLst>
                                </p:cTn>
                              </p:par>
                              <p:par>
                                <p:cTn id="17" presetID="3" presetClass="entr" presetSubtype="10" fill="hold" nodeType="withEffect">
                                  <p:stCondLst>
                                    <p:cond delay="0"/>
                                  </p:stCondLst>
                                  <p:childTnLst>
                                    <p:set>
                                      <p:cBhvr>
                                        <p:cTn id="18" dur="1" fill="hold">
                                          <p:stCondLst>
                                            <p:cond delay="0"/>
                                          </p:stCondLst>
                                        </p:cTn>
                                        <p:tgtEl>
                                          <p:spTgt spid="119824"/>
                                        </p:tgtEl>
                                        <p:attrNameLst>
                                          <p:attrName>style.visibility</p:attrName>
                                        </p:attrNameLst>
                                      </p:cBhvr>
                                      <p:to>
                                        <p:strVal val="visible"/>
                                      </p:to>
                                    </p:set>
                                    <p:animEffect transition="in" filter="blinds(horizontal)">
                                      <p:cBhvr>
                                        <p:cTn id="19" dur="500"/>
                                        <p:tgtEl>
                                          <p:spTgt spid="119824"/>
                                        </p:tgtEl>
                                      </p:cBhvr>
                                    </p:animEffect>
                                  </p:childTnLst>
                                </p:cTn>
                              </p:par>
                              <p:par>
                                <p:cTn id="20" presetID="3" presetClass="entr" presetSubtype="10" fill="hold" nodeType="withEffect">
                                  <p:stCondLst>
                                    <p:cond delay="0"/>
                                  </p:stCondLst>
                                  <p:childTnLst>
                                    <p:set>
                                      <p:cBhvr>
                                        <p:cTn id="21" dur="1" fill="hold">
                                          <p:stCondLst>
                                            <p:cond delay="0"/>
                                          </p:stCondLst>
                                        </p:cTn>
                                        <p:tgtEl>
                                          <p:spTgt spid="119823"/>
                                        </p:tgtEl>
                                        <p:attrNameLst>
                                          <p:attrName>style.visibility</p:attrName>
                                        </p:attrNameLst>
                                      </p:cBhvr>
                                      <p:to>
                                        <p:strVal val="visible"/>
                                      </p:to>
                                    </p:set>
                                    <p:animEffect transition="in" filter="blinds(horizontal)">
                                      <p:cBhvr>
                                        <p:cTn id="22" dur="500"/>
                                        <p:tgtEl>
                                          <p:spTgt spid="119823"/>
                                        </p:tgtEl>
                                      </p:cBhvr>
                                    </p:animEffect>
                                  </p:childTnLst>
                                </p:cTn>
                              </p:par>
                              <p:par>
                                <p:cTn id="23" presetID="3" presetClass="entr" presetSubtype="10" fill="hold" nodeType="withEffect">
                                  <p:stCondLst>
                                    <p:cond delay="0"/>
                                  </p:stCondLst>
                                  <p:childTnLst>
                                    <p:set>
                                      <p:cBhvr>
                                        <p:cTn id="24" dur="1" fill="hold">
                                          <p:stCondLst>
                                            <p:cond delay="0"/>
                                          </p:stCondLst>
                                        </p:cTn>
                                        <p:tgtEl>
                                          <p:spTgt spid="119822"/>
                                        </p:tgtEl>
                                        <p:attrNameLst>
                                          <p:attrName>style.visibility</p:attrName>
                                        </p:attrNameLst>
                                      </p:cBhvr>
                                      <p:to>
                                        <p:strVal val="visible"/>
                                      </p:to>
                                    </p:set>
                                    <p:animEffect transition="in" filter="blinds(horizontal)">
                                      <p:cBhvr>
                                        <p:cTn id="25" dur="500"/>
                                        <p:tgtEl>
                                          <p:spTgt spid="119822"/>
                                        </p:tgtEl>
                                      </p:cBhvr>
                                    </p:animEffect>
                                  </p:childTnLst>
                                </p:cTn>
                              </p:par>
                              <p:par>
                                <p:cTn id="26" presetID="3" presetClass="entr" presetSubtype="10" fill="hold" nodeType="withEffect">
                                  <p:stCondLst>
                                    <p:cond delay="0"/>
                                  </p:stCondLst>
                                  <p:childTnLst>
                                    <p:set>
                                      <p:cBhvr>
                                        <p:cTn id="27" dur="1" fill="hold">
                                          <p:stCondLst>
                                            <p:cond delay="0"/>
                                          </p:stCondLst>
                                        </p:cTn>
                                        <p:tgtEl>
                                          <p:spTgt spid="119821"/>
                                        </p:tgtEl>
                                        <p:attrNameLst>
                                          <p:attrName>style.visibility</p:attrName>
                                        </p:attrNameLst>
                                      </p:cBhvr>
                                      <p:to>
                                        <p:strVal val="visible"/>
                                      </p:to>
                                    </p:set>
                                    <p:animEffect transition="in" filter="blinds(horizontal)">
                                      <p:cBhvr>
                                        <p:cTn id="28" dur="500"/>
                                        <p:tgtEl>
                                          <p:spTgt spid="119821"/>
                                        </p:tgtEl>
                                      </p:cBhvr>
                                    </p:animEffect>
                                  </p:childTnLst>
                                </p:cTn>
                              </p:par>
                              <p:par>
                                <p:cTn id="29" presetID="3" presetClass="entr" presetSubtype="10" fill="hold" nodeType="withEffect">
                                  <p:stCondLst>
                                    <p:cond delay="0"/>
                                  </p:stCondLst>
                                  <p:childTnLst>
                                    <p:set>
                                      <p:cBhvr>
                                        <p:cTn id="30" dur="1" fill="hold">
                                          <p:stCondLst>
                                            <p:cond delay="0"/>
                                          </p:stCondLst>
                                        </p:cTn>
                                        <p:tgtEl>
                                          <p:spTgt spid="119820"/>
                                        </p:tgtEl>
                                        <p:attrNameLst>
                                          <p:attrName>style.visibility</p:attrName>
                                        </p:attrNameLst>
                                      </p:cBhvr>
                                      <p:to>
                                        <p:strVal val="visible"/>
                                      </p:to>
                                    </p:set>
                                    <p:animEffect transition="in" filter="blinds(horizontal)">
                                      <p:cBhvr>
                                        <p:cTn id="31" dur="500"/>
                                        <p:tgtEl>
                                          <p:spTgt spid="119820"/>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19827"/>
                                        </p:tgtEl>
                                        <p:attrNameLst>
                                          <p:attrName>style.visibility</p:attrName>
                                        </p:attrNameLst>
                                      </p:cBhvr>
                                      <p:to>
                                        <p:strVal val="visible"/>
                                      </p:to>
                                    </p:set>
                                    <p:animEffect transition="in" filter="blinds(horizontal)">
                                      <p:cBhvr>
                                        <p:cTn id="34" dur="500"/>
                                        <p:tgtEl>
                                          <p:spTgt spid="11982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19832"/>
                                        </p:tgtEl>
                                        <p:attrNameLst>
                                          <p:attrName>style.visibility</p:attrName>
                                        </p:attrNameLst>
                                      </p:cBhvr>
                                      <p:to>
                                        <p:strVal val="visible"/>
                                      </p:to>
                                    </p:set>
                                    <p:animEffect transition="in" filter="blinds(horizontal)">
                                      <p:cBhvr>
                                        <p:cTn id="37" dur="500"/>
                                        <p:tgtEl>
                                          <p:spTgt spid="11983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19833"/>
                                        </p:tgtEl>
                                        <p:attrNameLst>
                                          <p:attrName>style.visibility</p:attrName>
                                        </p:attrNameLst>
                                      </p:cBhvr>
                                      <p:to>
                                        <p:strVal val="visible"/>
                                      </p:to>
                                    </p:set>
                                    <p:animEffect transition="in" filter="blinds(horizontal)">
                                      <p:cBhvr>
                                        <p:cTn id="40" dur="500"/>
                                        <p:tgtEl>
                                          <p:spTgt spid="119833"/>
                                        </p:tgtEl>
                                      </p:cBhvr>
                                    </p:animEffect>
                                  </p:childTnLst>
                                </p:cTn>
                              </p:par>
                              <p:par>
                                <p:cTn id="41" presetID="3" presetClass="entr" presetSubtype="10" fill="hold" nodeType="withEffect">
                                  <p:stCondLst>
                                    <p:cond delay="0"/>
                                  </p:stCondLst>
                                  <p:childTnLst>
                                    <p:set>
                                      <p:cBhvr>
                                        <p:cTn id="42" dur="1" fill="hold">
                                          <p:stCondLst>
                                            <p:cond delay="0"/>
                                          </p:stCondLst>
                                        </p:cTn>
                                        <p:tgtEl>
                                          <p:spTgt spid="119819"/>
                                        </p:tgtEl>
                                        <p:attrNameLst>
                                          <p:attrName>style.visibility</p:attrName>
                                        </p:attrNameLst>
                                      </p:cBhvr>
                                      <p:to>
                                        <p:strVal val="visible"/>
                                      </p:to>
                                    </p:set>
                                    <p:animEffect transition="in" filter="blinds(horizontal)">
                                      <p:cBhvr>
                                        <p:cTn id="43" dur="500"/>
                                        <p:tgtEl>
                                          <p:spTgt spid="119819"/>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19818"/>
                                        </p:tgtEl>
                                        <p:attrNameLst>
                                          <p:attrName>style.visibility</p:attrName>
                                        </p:attrNameLst>
                                      </p:cBhvr>
                                      <p:to>
                                        <p:strVal val="visible"/>
                                      </p:to>
                                    </p:set>
                                    <p:animEffect transition="in" filter="blinds(horizontal)">
                                      <p:cBhvr>
                                        <p:cTn id="48" dur="500"/>
                                        <p:tgtEl>
                                          <p:spTgt spid="11981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19834"/>
                                        </p:tgtEl>
                                        <p:attrNameLst>
                                          <p:attrName>style.visibility</p:attrName>
                                        </p:attrNameLst>
                                      </p:cBhvr>
                                      <p:to>
                                        <p:strVal val="visible"/>
                                      </p:to>
                                    </p:set>
                                    <p:animEffect transition="in" filter="blinds(horizontal)">
                                      <p:cBhvr>
                                        <p:cTn id="51" dur="500"/>
                                        <p:tgtEl>
                                          <p:spTgt spid="11983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19817"/>
                                        </p:tgtEl>
                                        <p:attrNameLst>
                                          <p:attrName>style.visibility</p:attrName>
                                        </p:attrNameLst>
                                      </p:cBhvr>
                                      <p:to>
                                        <p:strVal val="visible"/>
                                      </p:to>
                                    </p:set>
                                    <p:animEffect transition="in" filter="blinds(horizontal)">
                                      <p:cBhvr>
                                        <p:cTn id="56" dur="500"/>
                                        <p:tgtEl>
                                          <p:spTgt spid="119817"/>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19835"/>
                                        </p:tgtEl>
                                        <p:attrNameLst>
                                          <p:attrName>style.visibility</p:attrName>
                                        </p:attrNameLst>
                                      </p:cBhvr>
                                      <p:to>
                                        <p:strVal val="visible"/>
                                      </p:to>
                                    </p:set>
                                    <p:animEffect transition="in" filter="blinds(horizontal)">
                                      <p:cBhvr>
                                        <p:cTn id="59" dur="500"/>
                                        <p:tgtEl>
                                          <p:spTgt spid="119835"/>
                                        </p:tgtEl>
                                      </p:cBhvr>
                                    </p:animEffect>
                                  </p:childTnLst>
                                </p:cTn>
                              </p:par>
                              <p:par>
                                <p:cTn id="60" presetID="3" presetClass="entr" presetSubtype="10" fill="hold" nodeType="withEffect">
                                  <p:stCondLst>
                                    <p:cond delay="0"/>
                                  </p:stCondLst>
                                  <p:childTnLst>
                                    <p:set>
                                      <p:cBhvr>
                                        <p:cTn id="61" dur="1" fill="hold">
                                          <p:stCondLst>
                                            <p:cond delay="0"/>
                                          </p:stCondLst>
                                        </p:cTn>
                                        <p:tgtEl>
                                          <p:spTgt spid="119816"/>
                                        </p:tgtEl>
                                        <p:attrNameLst>
                                          <p:attrName>style.visibility</p:attrName>
                                        </p:attrNameLst>
                                      </p:cBhvr>
                                      <p:to>
                                        <p:strVal val="visible"/>
                                      </p:to>
                                    </p:set>
                                    <p:animEffect transition="in" filter="blinds(horizontal)">
                                      <p:cBhvr>
                                        <p:cTn id="62" dur="500"/>
                                        <p:tgtEl>
                                          <p:spTgt spid="119816"/>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119836"/>
                                        </p:tgtEl>
                                        <p:attrNameLst>
                                          <p:attrName>style.visibility</p:attrName>
                                        </p:attrNameLst>
                                      </p:cBhvr>
                                      <p:to>
                                        <p:strVal val="visible"/>
                                      </p:to>
                                    </p:set>
                                    <p:animEffect transition="in" filter="blinds(horizontal)">
                                      <p:cBhvr>
                                        <p:cTn id="65" dur="500"/>
                                        <p:tgtEl>
                                          <p:spTgt spid="119836"/>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19838"/>
                                        </p:tgtEl>
                                        <p:attrNameLst>
                                          <p:attrName>style.visibility</p:attrName>
                                        </p:attrNameLst>
                                      </p:cBhvr>
                                      <p:to>
                                        <p:strVal val="visible"/>
                                      </p:to>
                                    </p:set>
                                    <p:animEffect transition="in" filter="blinds(horizontal)">
                                      <p:cBhvr>
                                        <p:cTn id="70" dur="500"/>
                                        <p:tgtEl>
                                          <p:spTgt spid="119838"/>
                                        </p:tgtEl>
                                      </p:cBhvr>
                                    </p:animEffect>
                                  </p:childTnLst>
                                </p:cTn>
                              </p:par>
                              <p:par>
                                <p:cTn id="71" presetID="3" presetClass="entr" presetSubtype="10" fill="hold" nodeType="withEffect">
                                  <p:stCondLst>
                                    <p:cond delay="0"/>
                                  </p:stCondLst>
                                  <p:childTnLst>
                                    <p:set>
                                      <p:cBhvr>
                                        <p:cTn id="72" dur="1" fill="hold">
                                          <p:stCondLst>
                                            <p:cond delay="0"/>
                                          </p:stCondLst>
                                        </p:cTn>
                                        <p:tgtEl>
                                          <p:spTgt spid="119814"/>
                                        </p:tgtEl>
                                        <p:attrNameLst>
                                          <p:attrName>style.visibility</p:attrName>
                                        </p:attrNameLst>
                                      </p:cBhvr>
                                      <p:to>
                                        <p:strVal val="visible"/>
                                      </p:to>
                                    </p:set>
                                    <p:animEffect transition="in" filter="blinds(horizontal)">
                                      <p:cBhvr>
                                        <p:cTn id="73" dur="500"/>
                                        <p:tgtEl>
                                          <p:spTgt spid="119814"/>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119837"/>
                                        </p:tgtEl>
                                        <p:attrNameLst>
                                          <p:attrName>style.visibility</p:attrName>
                                        </p:attrNameLst>
                                      </p:cBhvr>
                                      <p:to>
                                        <p:strVal val="visible"/>
                                      </p:to>
                                    </p:set>
                                    <p:animEffect transition="in" filter="blinds(horizontal)">
                                      <p:cBhvr>
                                        <p:cTn id="76" dur="500"/>
                                        <p:tgtEl>
                                          <p:spTgt spid="119837"/>
                                        </p:tgtEl>
                                      </p:cBhvr>
                                    </p:animEffect>
                                  </p:childTnLst>
                                </p:cTn>
                              </p:par>
                              <p:par>
                                <p:cTn id="77" presetID="3" presetClass="entr" presetSubtype="10" fill="hold" nodeType="withEffect">
                                  <p:stCondLst>
                                    <p:cond delay="0"/>
                                  </p:stCondLst>
                                  <p:childTnLst>
                                    <p:set>
                                      <p:cBhvr>
                                        <p:cTn id="78" dur="1" fill="hold">
                                          <p:stCondLst>
                                            <p:cond delay="0"/>
                                          </p:stCondLst>
                                        </p:cTn>
                                        <p:tgtEl>
                                          <p:spTgt spid="119815"/>
                                        </p:tgtEl>
                                        <p:attrNameLst>
                                          <p:attrName>style.visibility</p:attrName>
                                        </p:attrNameLst>
                                      </p:cBhvr>
                                      <p:to>
                                        <p:strVal val="visible"/>
                                      </p:to>
                                    </p:set>
                                    <p:animEffect transition="in" filter="blinds(horizontal)">
                                      <p:cBhvr>
                                        <p:cTn id="79" dur="500"/>
                                        <p:tgtEl>
                                          <p:spTgt spid="119815"/>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119840"/>
                                        </p:tgtEl>
                                        <p:attrNameLst>
                                          <p:attrName>style.visibility</p:attrName>
                                        </p:attrNameLst>
                                      </p:cBhvr>
                                      <p:to>
                                        <p:strVal val="visible"/>
                                      </p:to>
                                    </p:set>
                                    <p:animEffect transition="in" filter="blinds(horizontal)">
                                      <p:cBhvr>
                                        <p:cTn id="84" dur="500"/>
                                        <p:tgtEl>
                                          <p:spTgt spid="119840"/>
                                        </p:tgtEl>
                                      </p:cBhvr>
                                    </p:animEffect>
                                  </p:childTnLst>
                                </p:cTn>
                              </p:par>
                              <p:par>
                                <p:cTn id="85" presetID="3" presetClass="entr" presetSubtype="10" fill="hold"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blinds(horizontal)">
                                      <p:cBhvr>
                                        <p:cTn id="87" dur="500"/>
                                        <p:tgtEl>
                                          <p:spTgt spid="3"/>
                                        </p:tgtEl>
                                      </p:cBhvr>
                                    </p:animEffect>
                                  </p:childTnLst>
                                </p:cTn>
                              </p:par>
                              <p:par>
                                <p:cTn id="88" presetID="3" presetClass="entr" presetSubtype="10" fill="hold" nodeType="withEffect">
                                  <p:stCondLst>
                                    <p:cond delay="0"/>
                                  </p:stCondLst>
                                  <p:childTnLst>
                                    <p:set>
                                      <p:cBhvr>
                                        <p:cTn id="89" dur="1" fill="hold">
                                          <p:stCondLst>
                                            <p:cond delay="0"/>
                                          </p:stCondLst>
                                        </p:cTn>
                                        <p:tgtEl>
                                          <p:spTgt spid="119841"/>
                                        </p:tgtEl>
                                        <p:attrNameLst>
                                          <p:attrName>style.visibility</p:attrName>
                                        </p:attrNameLst>
                                      </p:cBhvr>
                                      <p:to>
                                        <p:strVal val="visible"/>
                                      </p:to>
                                    </p:set>
                                    <p:animEffect transition="in" filter="blinds(horizontal)">
                                      <p:cBhvr>
                                        <p:cTn id="90" dur="500"/>
                                        <p:tgtEl>
                                          <p:spTgt spid="119841"/>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blinds(horizontal)">
                                      <p:cBhvr>
                                        <p:cTn id="93" dur="500"/>
                                        <p:tgtEl>
                                          <p:spTgt spid="33"/>
                                        </p:tgtEl>
                                      </p:cBhvr>
                                    </p:animEffect>
                                  </p:childTnLst>
                                </p:cTn>
                              </p:par>
                              <p:par>
                                <p:cTn id="94" presetID="3" presetClass="entr" presetSubtype="10" fill="hold"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blinds(horizontal)">
                                      <p:cBhvr>
                                        <p:cTn id="96" dur="500"/>
                                        <p:tgtEl>
                                          <p:spTgt spid="35"/>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5"/>
                                        </p:tgtEl>
                                        <p:attrNameLst>
                                          <p:attrName>style.visibility</p:attrName>
                                        </p:attrNameLst>
                                      </p:cBhvr>
                                      <p:to>
                                        <p:strVal val="visible"/>
                                      </p:to>
                                    </p:set>
                                    <p:animEffect transition="in" filter="blinds(horizontal)">
                                      <p:cBhvr>
                                        <p:cTn id="99" dur="500"/>
                                        <p:tgtEl>
                                          <p:spTgt spid="5"/>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blinds(horizontal)">
                                      <p:cBhvr>
                                        <p:cTn id="102" dur="500"/>
                                        <p:tgtEl>
                                          <p:spTgt spid="6"/>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blinds(horizontal)">
                                      <p:cBhvr>
                                        <p:cTn id="105" dur="500"/>
                                        <p:tgtEl>
                                          <p:spTgt spid="7"/>
                                        </p:tgtEl>
                                      </p:cBhvr>
                                    </p:animEffect>
                                  </p:childTnLst>
                                </p:cTn>
                              </p:par>
                              <p:par>
                                <p:cTn id="106" presetID="3" presetClass="entr" presetSubtype="10" fill="hold"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blinds(horizontal)">
                                      <p:cBhvr>
                                        <p:cTn id="108" dur="500"/>
                                        <p:tgtEl>
                                          <p:spTgt spid="40"/>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8"/>
                                        </p:tgtEl>
                                        <p:attrNameLst>
                                          <p:attrName>style.visibility</p:attrName>
                                        </p:attrNameLst>
                                      </p:cBhvr>
                                      <p:to>
                                        <p:strVal val="visible"/>
                                      </p:to>
                                    </p:set>
                                    <p:animEffect transition="in" filter="blinds(horizontal)">
                                      <p:cBhvr>
                                        <p:cTn id="111" dur="500"/>
                                        <p:tgtEl>
                                          <p:spTgt spid="8"/>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blinds(horizontal)">
                                      <p:cBhvr>
                                        <p:cTn id="114" dur="500"/>
                                        <p:tgtEl>
                                          <p:spTgt spid="50"/>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52"/>
                                        </p:tgtEl>
                                        <p:attrNameLst>
                                          <p:attrName>style.visibility</p:attrName>
                                        </p:attrNameLst>
                                      </p:cBhvr>
                                      <p:to>
                                        <p:strVal val="visible"/>
                                      </p:to>
                                    </p:set>
                                    <p:animEffect transition="in" filter="blinds(horizontal)">
                                      <p:cBhvr>
                                        <p:cTn id="117" dur="500"/>
                                        <p:tgtEl>
                                          <p:spTgt spid="52"/>
                                        </p:tgtEl>
                                      </p:cBhvr>
                                    </p:animEffect>
                                  </p:childTnLst>
                                </p:cTn>
                              </p:par>
                              <p:par>
                                <p:cTn id="118" presetID="3" presetClass="entr" presetSubtype="10"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blinds(horizontal)">
                                      <p:cBhvr>
                                        <p:cTn id="120" dur="500"/>
                                        <p:tgtEl>
                                          <p:spTgt spid="42"/>
                                        </p:tgtEl>
                                      </p:cBhvr>
                                    </p:animEffect>
                                  </p:childTnLst>
                                </p:cTn>
                              </p:par>
                              <p:par>
                                <p:cTn id="121" presetID="3" presetClass="entr" presetSubtype="1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blinds(horizontal)">
                                      <p:cBhvr>
                                        <p:cTn id="12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119831" grpId="0" animBg="1"/>
      <p:bldP spid="119830" grpId="0" animBg="1"/>
      <p:bldP spid="119838" grpId="0" animBg="1"/>
      <p:bldP spid="119837" grpId="0" animBg="1"/>
      <p:bldP spid="119836" grpId="0" animBg="1"/>
      <p:bldP spid="119835" grpId="0" animBg="1"/>
      <p:bldP spid="119834" grpId="0" animBg="1"/>
      <p:bldP spid="119829" grpId="0" animBg="1"/>
      <p:bldP spid="119828" grpId="0" animBg="1"/>
      <p:bldP spid="119827" grpId="0" animBg="1"/>
      <p:bldP spid="119833" grpId="0" animBg="1"/>
      <p:bldP spid="119832" grpId="0" animBg="1"/>
      <p:bldP spid="33" grpId="0" animBg="1"/>
      <p:bldP spid="5" grpId="0" animBg="1"/>
      <p:bldP spid="6" grpId="0" animBg="1"/>
      <p:bldP spid="7" grpId="0" animBg="1"/>
      <p:bldP spid="8" grpId="0" animBg="1"/>
      <p:bldP spid="5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Grp="1" noChangeAspect="1"/>
          </p:cNvGraphicFramePr>
          <p:nvPr>
            <p:ph/>
          </p:nvPr>
        </p:nvGraphicFramePr>
        <p:xfrm>
          <a:off x="2219325" y="649288"/>
          <a:ext cx="3979863" cy="1465262"/>
        </p:xfrm>
        <a:graphic>
          <a:graphicData uri="http://schemas.openxmlformats.org/presentationml/2006/ole">
            <mc:AlternateContent xmlns:mc="http://schemas.openxmlformats.org/markup-compatibility/2006">
              <mc:Choice xmlns:v="urn:schemas-microsoft-com:vml" Requires="v">
                <p:oleObj spid="_x0000_s30448" name="Equation" r:id="rId3" imgW="2552700" imgH="939800" progId="Equation.DSMT4">
                  <p:embed/>
                </p:oleObj>
              </mc:Choice>
              <mc:Fallback>
                <p:oleObj name="Equation" r:id="rId3" imgW="2552700" imgH="939800" progId="Equation.DSMT4">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9325" y="649288"/>
                        <a:ext cx="3979863"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9" name="TextBox 4"/>
          <p:cNvSpPr txBox="1">
            <a:spLocks noChangeArrowheads="1"/>
          </p:cNvSpPr>
          <p:nvPr/>
        </p:nvSpPr>
        <p:spPr bwMode="auto">
          <a:xfrm>
            <a:off x="0" y="-90488"/>
            <a:ext cx="8747125" cy="120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38200" indent="-83820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Wingdings" panose="05000000000000000000" pitchFamily="2" charset="2"/>
              <a:buNone/>
            </a:pPr>
            <a:r>
              <a:rPr kumimoji="0" lang="en-US" altLang="zh-CN" sz="3600" b="1" dirty="0">
                <a:solidFill>
                  <a:schemeClr val="folHlink"/>
                </a:solidFill>
                <a:latin typeface="微软雅黑" panose="020B0503020204020204" pitchFamily="34" charset="-122"/>
                <a:ea typeface="微软雅黑" panose="020B0503020204020204" pitchFamily="34" charset="-122"/>
              </a:rPr>
              <a:t>(3) </a:t>
            </a:r>
            <a:r>
              <a:rPr kumimoji="0" lang="zh-CN" altLang="en-US" sz="3600" b="1" dirty="0">
                <a:solidFill>
                  <a:schemeClr val="folHlink"/>
                </a:solidFill>
                <a:latin typeface="微软雅黑" panose="020B0503020204020204" pitchFamily="34" charset="-122"/>
                <a:ea typeface="微软雅黑" panose="020B0503020204020204" pitchFamily="34" charset="-122"/>
              </a:rPr>
              <a:t>基解</a:t>
            </a:r>
            <a:r>
              <a:rPr kumimoji="0" lang="zh-CN" altLang="en-US" sz="3600" b="1" dirty="0">
                <a:solidFill>
                  <a:schemeClr val="folHlink"/>
                </a:solidFill>
                <a:latin typeface="仿宋" panose="02010609060101010101" pitchFamily="49" charset="-122"/>
                <a:ea typeface="仿宋" panose="02010609060101010101" pitchFamily="49" charset="-122"/>
              </a:rPr>
              <a:t>，</a:t>
            </a:r>
            <a:r>
              <a:rPr kumimoji="0" lang="zh-CN" altLang="en-US" sz="3600" b="1" dirty="0">
                <a:solidFill>
                  <a:schemeClr val="folHlink"/>
                </a:solidFill>
                <a:latin typeface="微软雅黑" panose="020B0503020204020204" pitchFamily="34" charset="-122"/>
                <a:ea typeface="微软雅黑" panose="020B0503020204020204" pitchFamily="34" charset="-122"/>
              </a:rPr>
              <a:t>基可行解与可行基</a:t>
            </a:r>
          </a:p>
          <a:p>
            <a:endParaRPr kumimoji="0" lang="zh-CN" altLang="en-US" sz="18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Rectangle 8"/>
          <p:cNvSpPr>
            <a:spLocks noChangeArrowheads="1"/>
          </p:cNvSpPr>
          <p:nvPr/>
        </p:nvSpPr>
        <p:spPr bwMode="auto">
          <a:xfrm>
            <a:off x="-19050" y="2185988"/>
            <a:ext cx="4537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若令</a:t>
            </a:r>
            <a:endParaRPr kumimoji="0" lang="en-US" altLang="zh-CN" b="1">
              <a:ea typeface="微软雅黑" panose="020B0503020204020204" pitchFamily="34" charset="-122"/>
            </a:endParaRPr>
          </a:p>
        </p:txBody>
      </p:sp>
      <p:sp>
        <p:nvSpPr>
          <p:cNvPr id="7" name="Rectangle 8"/>
          <p:cNvSpPr>
            <a:spLocks noChangeArrowheads="1"/>
          </p:cNvSpPr>
          <p:nvPr/>
        </p:nvSpPr>
        <p:spPr bwMode="auto">
          <a:xfrm>
            <a:off x="-19050" y="3557588"/>
            <a:ext cx="5599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ea typeface="微软雅黑" panose="020B0503020204020204" pitchFamily="34" charset="-122"/>
              </a:rPr>
              <a:t>这里非零分量的数目不大于    </a:t>
            </a:r>
            <a:r>
              <a:rPr kumimoji="0" lang="zh-CN" altLang="en-US" b="1" dirty="0">
                <a:latin typeface="宋体" panose="02010600030101010101" pitchFamily="2" charset="-122"/>
              </a:rPr>
              <a:t>，</a:t>
            </a:r>
            <a:r>
              <a:rPr kumimoji="0" lang="zh-CN" altLang="en-US" b="1" dirty="0">
                <a:ea typeface="微软雅黑" panose="020B0503020204020204" pitchFamily="34" charset="-122"/>
              </a:rPr>
              <a:t>称</a:t>
            </a:r>
            <a:endParaRPr kumimoji="0" lang="en-US" altLang="zh-CN" b="1" dirty="0">
              <a:ea typeface="微软雅黑" panose="020B0503020204020204" pitchFamily="34" charset="-122"/>
            </a:endParaRPr>
          </a:p>
        </p:txBody>
      </p:sp>
      <p:sp>
        <p:nvSpPr>
          <p:cNvPr id="8" name="Rectangle 8"/>
          <p:cNvSpPr>
            <a:spLocks noChangeArrowheads="1"/>
          </p:cNvSpPr>
          <p:nvPr/>
        </p:nvSpPr>
        <p:spPr bwMode="auto">
          <a:xfrm>
            <a:off x="5724525" y="3557588"/>
            <a:ext cx="3157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ea typeface="微软雅黑" panose="020B0503020204020204" pitchFamily="34" charset="-122"/>
              </a:rPr>
              <a:t>为线性规划的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基解</a:t>
            </a:r>
            <a:endParaRPr kumimoji="0" lang="en-US" altLang="zh-CN" b="1" dirty="0">
              <a:ea typeface="微软雅黑" panose="020B0503020204020204" pitchFamily="34" charset="-122"/>
            </a:endParaRPr>
          </a:p>
        </p:txBody>
      </p:sp>
      <p:sp>
        <p:nvSpPr>
          <p:cNvPr id="9" name="Rectangle 8"/>
          <p:cNvSpPr>
            <a:spLocks noChangeArrowheads="1"/>
          </p:cNvSpPr>
          <p:nvPr/>
        </p:nvSpPr>
        <p:spPr bwMode="auto">
          <a:xfrm>
            <a:off x="-1588" y="4297363"/>
            <a:ext cx="93662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若</a:t>
            </a:r>
            <a:endParaRPr kumimoji="0" lang="en-US" altLang="zh-CN" b="1">
              <a:ea typeface="微软雅黑" panose="020B0503020204020204" pitchFamily="34" charset="-122"/>
            </a:endParaRPr>
          </a:p>
        </p:txBody>
      </p:sp>
      <p:sp>
        <p:nvSpPr>
          <p:cNvPr id="10" name="Rectangle 8"/>
          <p:cNvSpPr>
            <a:spLocks noChangeArrowheads="1"/>
          </p:cNvSpPr>
          <p:nvPr/>
        </p:nvSpPr>
        <p:spPr bwMode="auto">
          <a:xfrm>
            <a:off x="900113" y="4297363"/>
            <a:ext cx="3671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ea typeface="微软雅黑" panose="020B0503020204020204" pitchFamily="34" charset="-122"/>
              </a:rPr>
              <a:t>中至少有一个为零</a:t>
            </a:r>
            <a:r>
              <a:rPr kumimoji="0" lang="zh-CN" altLang="en-US" b="1" dirty="0">
                <a:latin typeface="宋体" panose="02010600030101010101" pitchFamily="2" charset="-122"/>
              </a:rPr>
              <a:t>，</a:t>
            </a:r>
            <a:r>
              <a:rPr kumimoji="0" lang="zh-CN" altLang="en-US" b="1" dirty="0">
                <a:ea typeface="微软雅黑" panose="020B0503020204020204" pitchFamily="34" charset="-122"/>
              </a:rPr>
              <a:t>则称</a:t>
            </a:r>
            <a:endParaRPr kumimoji="0" lang="en-US" altLang="zh-CN" b="1" dirty="0">
              <a:ea typeface="微软雅黑" panose="020B0503020204020204" pitchFamily="34" charset="-122"/>
            </a:endParaRPr>
          </a:p>
        </p:txBody>
      </p:sp>
      <p:sp>
        <p:nvSpPr>
          <p:cNvPr id="12" name="Rectangle 8"/>
          <p:cNvSpPr>
            <a:spLocks noChangeArrowheads="1"/>
          </p:cNvSpPr>
          <p:nvPr/>
        </p:nvSpPr>
        <p:spPr bwMode="auto">
          <a:xfrm>
            <a:off x="5238750" y="4287838"/>
            <a:ext cx="4010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ea typeface="微软雅黑" panose="020B0503020204020204" pitchFamily="34" charset="-122"/>
              </a:rPr>
              <a:t>为线性规划的</a:t>
            </a:r>
            <a:r>
              <a:rPr kumimoji="0" lang="zh-CN" altLang="en-US" b="1" dirty="0">
                <a:solidFill>
                  <a:srgbClr val="FF0000"/>
                </a:solidFill>
                <a:ea typeface="微软雅黑" panose="020B0503020204020204" pitchFamily="34" charset="-122"/>
              </a:rPr>
              <a:t>退化的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基解</a:t>
            </a:r>
            <a:endParaRPr kumimoji="0" lang="en-US" altLang="zh-CN" b="1" dirty="0">
              <a:ea typeface="微软雅黑" panose="020B0503020204020204" pitchFamily="34" charset="-122"/>
            </a:endParaRPr>
          </a:p>
        </p:txBody>
      </p:sp>
      <p:graphicFrame>
        <p:nvGraphicFramePr>
          <p:cNvPr id="13" name="Object 2"/>
          <p:cNvGraphicFramePr>
            <a:graphicFrameLocks noChangeAspect="1"/>
          </p:cNvGraphicFramePr>
          <p:nvPr/>
        </p:nvGraphicFramePr>
        <p:xfrm>
          <a:off x="668338" y="2185988"/>
          <a:ext cx="2309812" cy="461962"/>
        </p:xfrm>
        <a:graphic>
          <a:graphicData uri="http://schemas.openxmlformats.org/presentationml/2006/ole">
            <mc:AlternateContent xmlns:mc="http://schemas.openxmlformats.org/markup-compatibility/2006">
              <mc:Choice xmlns:v="urn:schemas-microsoft-com:vml" Requires="v">
                <p:oleObj spid="_x0000_s30449" name="Equation" r:id="rId5" imgW="1206500" imgH="241300" progId="Equation.DSMT4">
                  <p:embed/>
                </p:oleObj>
              </mc:Choice>
              <mc:Fallback>
                <p:oleObj name="Equation" r:id="rId5" imgW="1206500" imgH="2413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338" y="2185988"/>
                        <a:ext cx="230981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a:spLocks noChangeArrowheads="1"/>
          </p:cNvSpPr>
          <p:nvPr/>
        </p:nvSpPr>
        <p:spPr bwMode="auto">
          <a:xfrm>
            <a:off x="2786063" y="2185988"/>
            <a:ext cx="925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宋体" panose="02010600030101010101" pitchFamily="2" charset="-122"/>
              </a:rPr>
              <a:t>，</a:t>
            </a:r>
            <a:r>
              <a:rPr kumimoji="0" lang="zh-CN" altLang="en-US" b="1" dirty="0">
                <a:ea typeface="微软雅黑" panose="020B0503020204020204" pitchFamily="34" charset="-122"/>
              </a:rPr>
              <a:t>令</a:t>
            </a:r>
            <a:endParaRPr kumimoji="0" lang="en-US" altLang="zh-CN" b="1" dirty="0">
              <a:ea typeface="微软雅黑" panose="020B0503020204020204" pitchFamily="34" charset="-122"/>
            </a:endParaRPr>
          </a:p>
        </p:txBody>
      </p:sp>
      <p:sp>
        <p:nvSpPr>
          <p:cNvPr id="3" name="矩形 2"/>
          <p:cNvSpPr>
            <a:spLocks noChangeArrowheads="1"/>
          </p:cNvSpPr>
          <p:nvPr/>
        </p:nvSpPr>
        <p:spPr bwMode="auto">
          <a:xfrm>
            <a:off x="5507038" y="2185988"/>
            <a:ext cx="865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宋体" panose="02010600030101010101" pitchFamily="2" charset="-122"/>
              </a:rPr>
              <a:t>，</a:t>
            </a:r>
            <a:r>
              <a:rPr kumimoji="0" lang="zh-CN" altLang="en-US" b="1" dirty="0">
                <a:ea typeface="微软雅黑" panose="020B0503020204020204" pitchFamily="34" charset="-122"/>
              </a:rPr>
              <a:t>则</a:t>
            </a:r>
            <a:endParaRPr kumimoji="0" lang="en-US" altLang="zh-CN" b="1" dirty="0">
              <a:ea typeface="微软雅黑" panose="020B0503020204020204" pitchFamily="34" charset="-122"/>
            </a:endParaRPr>
          </a:p>
        </p:txBody>
      </p:sp>
      <p:graphicFrame>
        <p:nvGraphicFramePr>
          <p:cNvPr id="17" name="Object 2"/>
          <p:cNvGraphicFramePr>
            <a:graphicFrameLocks noChangeAspect="1"/>
          </p:cNvGraphicFramePr>
          <p:nvPr/>
        </p:nvGraphicFramePr>
        <p:xfrm>
          <a:off x="3511550" y="2185988"/>
          <a:ext cx="2154238" cy="461962"/>
        </p:xfrm>
        <a:graphic>
          <a:graphicData uri="http://schemas.openxmlformats.org/presentationml/2006/ole">
            <mc:AlternateContent xmlns:mc="http://schemas.openxmlformats.org/markup-compatibility/2006">
              <mc:Choice xmlns:v="urn:schemas-microsoft-com:vml" Requires="v">
                <p:oleObj spid="_x0000_s30450" name="Equation" r:id="rId7" imgW="1066800" imgH="228600" progId="Equation.DSMT4">
                  <p:embed/>
                </p:oleObj>
              </mc:Choice>
              <mc:Fallback>
                <p:oleObj name="Equation" r:id="rId7" imgW="1066800" imgH="2286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1550" y="2185988"/>
                        <a:ext cx="2154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a:spLocks noChangeArrowheads="1"/>
          </p:cNvSpPr>
          <p:nvPr/>
        </p:nvSpPr>
        <p:spPr bwMode="auto">
          <a:xfrm>
            <a:off x="7015163" y="2185988"/>
            <a:ext cx="11604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等价于</a:t>
            </a:r>
            <a:endParaRPr lang="zh-CN" altLang="en-US"/>
          </a:p>
        </p:txBody>
      </p:sp>
      <p:graphicFrame>
        <p:nvGraphicFramePr>
          <p:cNvPr id="20" name="Object 2"/>
          <p:cNvGraphicFramePr>
            <a:graphicFrameLocks noChangeAspect="1"/>
          </p:cNvGraphicFramePr>
          <p:nvPr/>
        </p:nvGraphicFramePr>
        <p:xfrm>
          <a:off x="6199188" y="2236788"/>
          <a:ext cx="898525" cy="360362"/>
        </p:xfrm>
        <a:graphic>
          <a:graphicData uri="http://schemas.openxmlformats.org/presentationml/2006/ole">
            <mc:AlternateContent xmlns:mc="http://schemas.openxmlformats.org/markup-compatibility/2006">
              <mc:Choice xmlns:v="urn:schemas-microsoft-com:vml" Requires="v">
                <p:oleObj spid="_x0000_s30451" name="Equation" r:id="rId9" imgW="443865" imgH="177800" progId="Equation.DSMT4">
                  <p:embed/>
                </p:oleObj>
              </mc:Choice>
              <mc:Fallback>
                <p:oleObj name="Equation" r:id="rId9" imgW="443865" imgH="1778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99188" y="2236788"/>
                        <a:ext cx="8985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19050" y="2774950"/>
            <a:ext cx="865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故有</a:t>
            </a:r>
            <a:endParaRPr lang="zh-CN" altLang="en-US"/>
          </a:p>
        </p:txBody>
      </p:sp>
      <p:graphicFrame>
        <p:nvGraphicFramePr>
          <p:cNvPr id="22" name="Object 2"/>
          <p:cNvGraphicFramePr>
            <a:graphicFrameLocks noChangeAspect="1"/>
          </p:cNvGraphicFramePr>
          <p:nvPr/>
        </p:nvGraphicFramePr>
        <p:xfrm>
          <a:off x="8015288" y="2185988"/>
          <a:ext cx="1027112" cy="463550"/>
        </p:xfrm>
        <a:graphic>
          <a:graphicData uri="http://schemas.openxmlformats.org/presentationml/2006/ole">
            <mc:AlternateContent xmlns:mc="http://schemas.openxmlformats.org/markup-compatibility/2006">
              <mc:Choice xmlns:v="urn:schemas-microsoft-com:vml" Requires="v">
                <p:oleObj spid="_x0000_s30452" name="Equation" r:id="rId11" imgW="508000" imgH="228600" progId="Equation.DSMT4">
                  <p:embed/>
                </p:oleObj>
              </mc:Choice>
              <mc:Fallback>
                <p:oleObj name="Equation" r:id="rId11" imgW="508000" imgH="228600" progId="Equation.DSMT4">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15288" y="2185988"/>
                        <a:ext cx="10271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a:spLocks noChangeArrowheads="1"/>
          </p:cNvSpPr>
          <p:nvPr/>
        </p:nvSpPr>
        <p:spPr bwMode="auto">
          <a:xfrm>
            <a:off x="1778000" y="2774950"/>
            <a:ext cx="2030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ea typeface="微软雅黑" panose="020B0503020204020204" pitchFamily="34" charset="-122"/>
              </a:rPr>
              <a:t>。由此</a:t>
            </a:r>
            <a:r>
              <a:rPr kumimoji="0" lang="zh-CN" altLang="en-US" b="1" dirty="0">
                <a:latin typeface="宋体" panose="02010600030101010101" pitchFamily="2" charset="-122"/>
              </a:rPr>
              <a:t>，</a:t>
            </a:r>
            <a:r>
              <a:rPr kumimoji="0" lang="zh-CN" altLang="en-US" b="1" dirty="0">
                <a:ea typeface="微软雅黑" panose="020B0503020204020204" pitchFamily="34" charset="-122"/>
              </a:rPr>
              <a:t>得到</a:t>
            </a:r>
            <a:endParaRPr lang="zh-CN" altLang="en-US" dirty="0"/>
          </a:p>
        </p:txBody>
      </p:sp>
      <p:graphicFrame>
        <p:nvGraphicFramePr>
          <p:cNvPr id="18" name="对象 17"/>
          <p:cNvGraphicFramePr>
            <a:graphicFrameLocks noChangeAspect="1"/>
          </p:cNvGraphicFramePr>
          <p:nvPr/>
        </p:nvGraphicFramePr>
        <p:xfrm>
          <a:off x="719138" y="2774950"/>
          <a:ext cx="1190625" cy="461963"/>
        </p:xfrm>
        <a:graphic>
          <a:graphicData uri="http://schemas.openxmlformats.org/presentationml/2006/ole">
            <mc:AlternateContent xmlns:mc="http://schemas.openxmlformats.org/markup-compatibility/2006">
              <mc:Choice xmlns:v="urn:schemas-microsoft-com:vml" Requires="v">
                <p:oleObj spid="_x0000_s30453" name="Equation" r:id="rId13" imgW="622300" imgH="241300" progId="Equation.DSMT4">
                  <p:embed/>
                </p:oleObj>
              </mc:Choice>
              <mc:Fallback>
                <p:oleObj name="Equation" r:id="rId13" imgW="622300" imgH="241300" progId="Equation.DSMT4">
                  <p:embed/>
                  <p:pic>
                    <p:nvPicPr>
                      <p:cNvPr id="0" name="对象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9138" y="2774950"/>
                        <a:ext cx="1190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p:cNvSpPr>
            <a:spLocks noChangeArrowheads="1"/>
          </p:cNvSpPr>
          <p:nvPr/>
        </p:nvSpPr>
        <p:spPr bwMode="auto">
          <a:xfrm>
            <a:off x="4556125" y="277653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ea typeface="微软雅黑" panose="020B0503020204020204" pitchFamily="34" charset="-122"/>
              </a:rPr>
              <a:t>的一个解</a:t>
            </a:r>
            <a:endParaRPr lang="zh-CN" altLang="en-US"/>
          </a:p>
        </p:txBody>
      </p:sp>
      <p:graphicFrame>
        <p:nvGraphicFramePr>
          <p:cNvPr id="23" name="对象 22"/>
          <p:cNvGraphicFramePr>
            <a:graphicFrameLocks noChangeAspect="1"/>
          </p:cNvGraphicFramePr>
          <p:nvPr/>
        </p:nvGraphicFramePr>
        <p:xfrm>
          <a:off x="3695700" y="2841625"/>
          <a:ext cx="885825" cy="352425"/>
        </p:xfrm>
        <a:graphic>
          <a:graphicData uri="http://schemas.openxmlformats.org/presentationml/2006/ole">
            <mc:AlternateContent xmlns:mc="http://schemas.openxmlformats.org/markup-compatibility/2006">
              <mc:Choice xmlns:v="urn:schemas-microsoft-com:vml" Requires="v">
                <p:oleObj spid="_x0000_s30454" name="Equation" r:id="rId15" imgW="914400" imgH="369570" progId="Equation.DSMT4">
                  <p:embed/>
                </p:oleObj>
              </mc:Choice>
              <mc:Fallback>
                <p:oleObj name="Equation" r:id="rId15" imgW="914400" imgH="369570" progId="Equation.DSMT4">
                  <p:embed/>
                  <p:pic>
                    <p:nvPicPr>
                      <p:cNvPr id="0" name="对象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95700" y="2841625"/>
                        <a:ext cx="885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p:cNvGraphicFramePr>
            <a:graphicFrameLocks noChangeAspect="1"/>
          </p:cNvGraphicFramePr>
          <p:nvPr/>
        </p:nvGraphicFramePr>
        <p:xfrm>
          <a:off x="5878513" y="2665413"/>
          <a:ext cx="1008062" cy="696912"/>
        </p:xfrm>
        <a:graphic>
          <a:graphicData uri="http://schemas.openxmlformats.org/presentationml/2006/ole">
            <mc:AlternateContent xmlns:mc="http://schemas.openxmlformats.org/markup-compatibility/2006">
              <mc:Choice xmlns:v="urn:schemas-microsoft-com:vml" Requires="v">
                <p:oleObj spid="_x0000_s30455" name="Equation" r:id="rId17" imgW="698500" imgH="482600" progId="Equation.DSMT4">
                  <p:embed/>
                </p:oleObj>
              </mc:Choice>
              <mc:Fallback>
                <p:oleObj name="Equation" r:id="rId17" imgW="698500" imgH="482600" progId="Equation.DSMT4">
                  <p:embed/>
                  <p:pic>
                    <p:nvPicPr>
                      <p:cNvPr id="0" name="对象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78513" y="2665413"/>
                        <a:ext cx="1008062"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a:spLocks noChangeArrowheads="1"/>
          </p:cNvSpPr>
          <p:nvPr/>
        </p:nvSpPr>
        <p:spPr bwMode="auto">
          <a:xfrm>
            <a:off x="26988" y="2133600"/>
            <a:ext cx="9109075" cy="1298575"/>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25" name="对象 24"/>
          <p:cNvGraphicFramePr>
            <a:graphicFrameLocks noChangeAspect="1"/>
          </p:cNvGraphicFramePr>
          <p:nvPr/>
        </p:nvGraphicFramePr>
        <p:xfrm>
          <a:off x="4764088" y="3467100"/>
          <a:ext cx="1000125" cy="685800"/>
        </p:xfrm>
        <a:graphic>
          <a:graphicData uri="http://schemas.openxmlformats.org/presentationml/2006/ole">
            <mc:AlternateContent xmlns:mc="http://schemas.openxmlformats.org/markup-compatibility/2006">
              <mc:Choice xmlns:v="urn:schemas-microsoft-com:vml" Requires="v">
                <p:oleObj spid="_x0000_s30456" name="Equation" r:id="rId19" imgW="1031240" imgH="709930" progId="Equation.DSMT4">
                  <p:embed/>
                </p:oleObj>
              </mc:Choice>
              <mc:Fallback>
                <p:oleObj name="Equation" r:id="rId19" imgW="1031240" imgH="709930" progId="Equation.DSMT4">
                  <p:embed/>
                  <p:pic>
                    <p:nvPicPr>
                      <p:cNvPr id="0" name="对象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64088" y="3467100"/>
                        <a:ext cx="10001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25"/>
          <p:cNvGraphicFramePr>
            <a:graphicFrameLocks noChangeAspect="1"/>
          </p:cNvGraphicFramePr>
          <p:nvPr/>
        </p:nvGraphicFramePr>
        <p:xfrm>
          <a:off x="3759200" y="3630613"/>
          <a:ext cx="427038" cy="360362"/>
        </p:xfrm>
        <a:graphic>
          <a:graphicData uri="http://schemas.openxmlformats.org/presentationml/2006/ole">
            <mc:AlternateContent xmlns:mc="http://schemas.openxmlformats.org/markup-compatibility/2006">
              <mc:Choice xmlns:v="urn:schemas-microsoft-com:vml" Requires="v">
                <p:oleObj spid="_x0000_s30457" name="Equation" r:id="rId21" imgW="165100" imgH="139700" progId="Equation.DSMT4">
                  <p:embed/>
                </p:oleObj>
              </mc:Choice>
              <mc:Fallback>
                <p:oleObj name="Equation" r:id="rId21" imgW="165100" imgH="139700" progId="Equation.DSMT4">
                  <p:embed/>
                  <p:pic>
                    <p:nvPicPr>
                      <p:cNvPr id="0" name="对象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59200" y="3630613"/>
                        <a:ext cx="42703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nvGraphicFramePr>
        <p:xfrm>
          <a:off x="323850" y="4297363"/>
          <a:ext cx="720725" cy="460375"/>
        </p:xfrm>
        <a:graphic>
          <a:graphicData uri="http://schemas.openxmlformats.org/presentationml/2006/ole">
            <mc:AlternateContent xmlns:mc="http://schemas.openxmlformats.org/markup-compatibility/2006">
              <mc:Choice xmlns:v="urn:schemas-microsoft-com:vml" Requires="v">
                <p:oleObj spid="_x0000_s30458" name="Equation" r:id="rId23" imgW="317500" imgH="203200" progId="Equation.DSMT4">
                  <p:embed/>
                </p:oleObj>
              </mc:Choice>
              <mc:Fallback>
                <p:oleObj name="Equation" r:id="rId23" imgW="317500" imgH="203200" progId="Equation.DSMT4">
                  <p:embed/>
                  <p:pic>
                    <p:nvPicPr>
                      <p:cNvPr id="0" name="对象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3850" y="4297363"/>
                        <a:ext cx="720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对象 34"/>
          <p:cNvGraphicFramePr>
            <a:graphicFrameLocks noChangeAspect="1"/>
          </p:cNvGraphicFramePr>
          <p:nvPr/>
        </p:nvGraphicFramePr>
        <p:xfrm>
          <a:off x="4356100" y="4210050"/>
          <a:ext cx="1000125" cy="685800"/>
        </p:xfrm>
        <a:graphic>
          <a:graphicData uri="http://schemas.openxmlformats.org/presentationml/2006/ole">
            <mc:AlternateContent xmlns:mc="http://schemas.openxmlformats.org/markup-compatibility/2006">
              <mc:Choice xmlns:v="urn:schemas-microsoft-com:vml" Requires="v">
                <p:oleObj spid="_x0000_s30459" name="Equation" r:id="rId25" imgW="1031240" imgH="709930" progId="Equation.DSMT4">
                  <p:embed/>
                </p:oleObj>
              </mc:Choice>
              <mc:Fallback>
                <p:oleObj name="Equation" r:id="rId25" imgW="1031240" imgH="709930" progId="Equation.DSMT4">
                  <p:embed/>
                  <p:pic>
                    <p:nvPicPr>
                      <p:cNvPr id="0" name="对象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56100" y="4210050"/>
                        <a:ext cx="10001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矩形 35"/>
          <p:cNvSpPr>
            <a:spLocks noChangeArrowheads="1"/>
          </p:cNvSpPr>
          <p:nvPr/>
        </p:nvSpPr>
        <p:spPr bwMode="auto">
          <a:xfrm>
            <a:off x="17463" y="3429000"/>
            <a:ext cx="9109075" cy="1520825"/>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nvGrpSpPr>
          <p:cNvPr id="11" name="组合 10"/>
          <p:cNvGrpSpPr/>
          <p:nvPr/>
        </p:nvGrpSpPr>
        <p:grpSpPr bwMode="auto">
          <a:xfrm>
            <a:off x="9525" y="4954588"/>
            <a:ext cx="9134475" cy="1204912"/>
            <a:chOff x="423862" y="5765725"/>
            <a:chExt cx="9134476" cy="1204356"/>
          </a:xfrm>
        </p:grpSpPr>
        <p:sp>
          <p:nvSpPr>
            <p:cNvPr id="31" name="Text Box 12"/>
            <p:cNvSpPr txBox="1">
              <a:spLocks noChangeArrowheads="1"/>
            </p:cNvSpPr>
            <p:nvPr/>
          </p:nvSpPr>
          <p:spPr bwMode="auto">
            <a:xfrm>
              <a:off x="2476500" y="5765725"/>
              <a:ext cx="7081838" cy="1139299"/>
            </a:xfrm>
            <a:prstGeom prst="rect">
              <a:avLst/>
            </a:prstGeom>
            <a:solidFill>
              <a:srgbClr val="00FF00"/>
            </a:solidFill>
            <a:ln w="9525">
              <a:noFill/>
              <a:miter lim="800000"/>
            </a:ln>
            <a:effectLst/>
          </p:spPr>
          <p:txBody>
            <a:bodyPr>
              <a:spAutoFit/>
            </a:bodyPr>
            <a:lstStyle/>
            <a:p>
              <a:pPr eaLnBrk="1" hangingPunct="1">
                <a:spcBef>
                  <a:spcPts val="0"/>
                </a:spcBef>
                <a:defRPr/>
              </a:pPr>
              <a:endParaRPr lang="en-US" altLang="zh-CN" sz="800"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a:p>
              <a:pPr eaLnBrk="1" hangingPunct="1">
                <a:spcBef>
                  <a:spcPts val="0"/>
                </a:spcBef>
                <a:defRPr/>
              </a:pP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令                                                                       </a:t>
              </a:r>
              <a:endParaRPr lang="en-US" altLang="zh-CN"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a:p>
              <a:pPr eaLnBrk="1" hangingPunct="1">
                <a:spcBef>
                  <a:spcPct val="50000"/>
                </a:spcBef>
                <a:defRPr/>
              </a:pP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graphicFrame>
          <p:nvGraphicFramePr>
            <p:cNvPr id="9251" name="Object 11"/>
            <p:cNvGraphicFramePr>
              <a:graphicFrameLocks noChangeAspect="1"/>
            </p:cNvGraphicFramePr>
            <p:nvPr/>
          </p:nvGraphicFramePr>
          <p:xfrm>
            <a:off x="3044825" y="5833956"/>
            <a:ext cx="3414712" cy="582344"/>
          </p:xfrm>
          <a:graphic>
            <a:graphicData uri="http://schemas.openxmlformats.org/presentationml/2006/ole">
              <mc:AlternateContent xmlns:mc="http://schemas.openxmlformats.org/markup-compatibility/2006">
                <mc:Choice xmlns:v="urn:schemas-microsoft-com:vml" Requires="v">
                  <p:oleObj spid="_x0000_s30460" name="Equation" r:id="rId26" imgW="1460500" imgH="228600" progId="Equation.DSMT4">
                    <p:embed/>
                  </p:oleObj>
                </mc:Choice>
                <mc:Fallback>
                  <p:oleObj name="Equation" r:id="rId26" imgW="1460500" imgH="228600" progId="Equation.DSMT4">
                    <p:embed/>
                    <p:pic>
                      <p:nvPicPr>
                        <p:cNvPr id="0" name="Object 1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44825" y="5833956"/>
                          <a:ext cx="3414712" cy="582344"/>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52" name="Text Box 13"/>
            <p:cNvSpPr txBox="1">
              <a:spLocks noChangeArrowheads="1"/>
            </p:cNvSpPr>
            <p:nvPr/>
          </p:nvSpPr>
          <p:spPr bwMode="auto">
            <a:xfrm>
              <a:off x="423862" y="6490102"/>
              <a:ext cx="9134476" cy="457200"/>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     是对应这个基的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基变量</a:t>
              </a:r>
              <a:r>
                <a:rPr lang="zh-CN" altLang="en-US" b="1" dirty="0">
                  <a:solidFill>
                    <a:srgbClr val="FF0000"/>
                  </a:solidFill>
                  <a:latin typeface="宋体" panose="02010600030101010101" pitchFamily="2" charset="-122"/>
                  <a:cs typeface="Times New Roman" panose="02020603050405020304" pitchFamily="18" charset="0"/>
                </a:rPr>
                <a:t>，</a:t>
              </a:r>
              <a:endParaRPr kumimoji="0" lang="en-US" altLang="zh-CN" b="1" i="1" dirty="0">
                <a:solidFill>
                  <a:srgbClr val="FF0000"/>
                </a:solidFill>
                <a:latin typeface="宋体" panose="02010600030101010101" pitchFamily="2" charset="-122"/>
                <a:cs typeface="Times New Roman" panose="02020603050405020304" pitchFamily="18" charset="0"/>
              </a:endParaRPr>
            </a:p>
          </p:txBody>
        </p:sp>
        <p:graphicFrame>
          <p:nvGraphicFramePr>
            <p:cNvPr id="9253" name="Object 18"/>
            <p:cNvGraphicFramePr>
              <a:graphicFrameLocks noChangeAspect="1"/>
            </p:cNvGraphicFramePr>
            <p:nvPr/>
          </p:nvGraphicFramePr>
          <p:xfrm>
            <a:off x="423863" y="5779500"/>
            <a:ext cx="2053308" cy="715487"/>
          </p:xfrm>
          <a:graphic>
            <a:graphicData uri="http://schemas.openxmlformats.org/presentationml/2006/ole">
              <mc:AlternateContent xmlns:mc="http://schemas.openxmlformats.org/markup-compatibility/2006">
                <mc:Choice xmlns:v="urn:schemas-microsoft-com:vml" Requires="v">
                  <p:oleObj spid="_x0000_s30461" name="Equation" r:id="rId28" imgW="1333500" imgH="444500" progId="Equation.DSMT4">
                    <p:embed/>
                  </p:oleObj>
                </mc:Choice>
                <mc:Fallback>
                  <p:oleObj name="Equation" r:id="rId28" imgW="1333500" imgH="444500" progId="Equation.DSMT4">
                    <p:embed/>
                    <p:pic>
                      <p:nvPicPr>
                        <p:cNvPr id="0" name="Object 1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23863" y="5779500"/>
                          <a:ext cx="2053308" cy="715487"/>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54" name="Object 14"/>
            <p:cNvGraphicFramePr>
              <a:graphicFrameLocks noChangeAspect="1"/>
            </p:cNvGraphicFramePr>
            <p:nvPr/>
          </p:nvGraphicFramePr>
          <p:xfrm>
            <a:off x="6837363" y="5805394"/>
            <a:ext cx="2605088" cy="553782"/>
          </p:xfrm>
          <a:graphic>
            <a:graphicData uri="http://schemas.openxmlformats.org/presentationml/2006/ole">
              <mc:AlternateContent xmlns:mc="http://schemas.openxmlformats.org/markup-compatibility/2006">
                <mc:Choice xmlns:v="urn:schemas-microsoft-com:vml" Requires="v">
                  <p:oleObj spid="_x0000_s30462" name="Equation" r:id="rId30" imgW="1193800" imgH="241300" progId="Equation.DSMT4">
                    <p:embed/>
                  </p:oleObj>
                </mc:Choice>
                <mc:Fallback>
                  <p:oleObj name="Equation" r:id="rId30" imgW="1193800" imgH="241300" progId="Equation.DSMT4">
                    <p:embed/>
                    <p:pic>
                      <p:nvPicPr>
                        <p:cNvPr id="0" name="Object 1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837363" y="5805394"/>
                          <a:ext cx="2605088" cy="553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5" name="Object 14"/>
            <p:cNvGraphicFramePr>
              <a:graphicFrameLocks noChangeAspect="1"/>
            </p:cNvGraphicFramePr>
            <p:nvPr/>
          </p:nvGraphicFramePr>
          <p:xfrm>
            <a:off x="494532" y="6446206"/>
            <a:ext cx="387350" cy="523875"/>
          </p:xfrm>
          <a:graphic>
            <a:graphicData uri="http://schemas.openxmlformats.org/presentationml/2006/ole">
              <mc:AlternateContent xmlns:mc="http://schemas.openxmlformats.org/markup-compatibility/2006">
                <mc:Choice xmlns:v="urn:schemas-microsoft-com:vml" Requires="v">
                  <p:oleObj spid="_x0000_s30463" name="Equation" r:id="rId32" imgW="177800" imgH="228600" progId="Equation.DSMT4">
                    <p:embed/>
                  </p:oleObj>
                </mc:Choice>
                <mc:Fallback>
                  <p:oleObj name="Equation" r:id="rId32" imgW="177800" imgH="228600" progId="Equation.DSMT4">
                    <p:embed/>
                    <p:pic>
                      <p:nvPicPr>
                        <p:cNvPr id="0" name="Object 1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94532" y="6446206"/>
                          <a:ext cx="3873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 name="Object 15"/>
          <p:cNvGraphicFramePr>
            <a:graphicFrameLocks noChangeAspect="1"/>
          </p:cNvGraphicFramePr>
          <p:nvPr/>
        </p:nvGraphicFramePr>
        <p:xfrm>
          <a:off x="4073525" y="5624513"/>
          <a:ext cx="3609975" cy="587375"/>
        </p:xfrm>
        <a:graphic>
          <a:graphicData uri="http://schemas.openxmlformats.org/presentationml/2006/ole">
            <mc:AlternateContent xmlns:mc="http://schemas.openxmlformats.org/markup-compatibility/2006">
              <mc:Choice xmlns:v="urn:schemas-microsoft-com:vml" Requires="v">
                <p:oleObj spid="_x0000_s30464" name="Equation" r:id="rId34" imgW="1548765" imgH="241300" progId="Equation.DSMT4">
                  <p:embed/>
                </p:oleObj>
              </mc:Choice>
              <mc:Fallback>
                <p:oleObj name="Equation" r:id="rId34" imgW="1548765" imgH="241300" progId="Equation.DSMT4">
                  <p:embed/>
                  <p:pic>
                    <p:nvPicPr>
                      <p:cNvPr id="0" name="Object 1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073525" y="5624513"/>
                        <a:ext cx="36099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Text Box 16"/>
          <p:cNvSpPr txBox="1">
            <a:spLocks noChangeArrowheads="1"/>
          </p:cNvSpPr>
          <p:nvPr/>
        </p:nvSpPr>
        <p:spPr bwMode="auto">
          <a:xfrm>
            <a:off x="7502525" y="569753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a:ea typeface="微软雅黑" panose="020B0503020204020204" pitchFamily="34" charset="-122"/>
              </a:rPr>
              <a:t>为</a:t>
            </a:r>
            <a:r>
              <a:rPr lang="zh-CN" altLang="en-US"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基解</a:t>
            </a:r>
          </a:p>
        </p:txBody>
      </p:sp>
      <p:sp>
        <p:nvSpPr>
          <p:cNvPr id="40" name="Rectangle 17"/>
          <p:cNvSpPr>
            <a:spLocks noChangeArrowheads="1"/>
          </p:cNvSpPr>
          <p:nvPr/>
        </p:nvSpPr>
        <p:spPr bwMode="auto">
          <a:xfrm>
            <a:off x="17463" y="6305550"/>
            <a:ext cx="9126537"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ea typeface="微软雅黑" panose="020B0503020204020204" pitchFamily="34" charset="-122"/>
              </a:rPr>
              <a:t>基解中非零分量的个数小于</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m</a:t>
            </a:r>
            <a:r>
              <a:rPr kumimoji="0" lang="zh-CN" altLang="en-US" b="1" dirty="0">
                <a:ea typeface="微软雅黑" panose="020B0503020204020204" pitchFamily="34" charset="-122"/>
              </a:rPr>
              <a:t>个时</a:t>
            </a:r>
            <a:r>
              <a:rPr kumimoji="0" lang="zh-CN" altLang="en-US" b="1" dirty="0">
                <a:latin typeface="宋体" panose="02010600030101010101" pitchFamily="2" charset="-122"/>
              </a:rPr>
              <a:t>，</a:t>
            </a:r>
            <a:r>
              <a:rPr kumimoji="0" lang="zh-CN" altLang="en-US" b="1" dirty="0">
                <a:ea typeface="微软雅黑" panose="020B0503020204020204" pitchFamily="34" charset="-122"/>
              </a:rPr>
              <a:t>该基解是</a:t>
            </a:r>
            <a:r>
              <a:rPr lang="zh-CN" altLang="en-US" b="1" dirty="0">
                <a:solidFill>
                  <a:srgbClr val="FF0000"/>
                </a:solidFill>
                <a:latin typeface="微软雅黑" panose="020B0503020204020204" pitchFamily="34" charset="-122"/>
                <a:ea typeface="微软雅黑" panose="020B0503020204020204" pitchFamily="34" charset="-122"/>
              </a:rPr>
              <a:t>退化解</a:t>
            </a:r>
          </a:p>
        </p:txBody>
      </p:sp>
      <p:sp>
        <p:nvSpPr>
          <p:cNvPr id="16" name="灯片编号占位符 15"/>
          <p:cNvSpPr>
            <a:spLocks noGrp="1"/>
          </p:cNvSpPr>
          <p:nvPr>
            <p:ph type="sldNum" sz="quarter" idx="12"/>
          </p:nvPr>
        </p:nvSpPr>
        <p:spPr>
          <a:xfrm>
            <a:off x="7232869" y="6435023"/>
            <a:ext cx="1905000" cy="457200"/>
          </a:xfrm>
        </p:spPr>
        <p:txBody>
          <a:bodyPr/>
          <a:lstStyle/>
          <a:p>
            <a:pPr>
              <a:defRPr/>
            </a:pPr>
            <a:fld id="{6DC1E550-C484-4733-8AE5-552F7C7F219F}" type="slidenum">
              <a:rPr lang="en-US" altLang="zh-CN" smtClean="0"/>
              <a:t>62</a:t>
            </a:fld>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500"/>
                                        <p:tgtEl>
                                          <p:spTgt spid="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500"/>
                                        <p:tgtEl>
                                          <p:spTgt spid="1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500"/>
                                        <p:tgtEl>
                                          <p:spTgt spid="12"/>
                                        </p:tgtEl>
                                      </p:cBhvr>
                                    </p:animEffect>
                                  </p:childTnLst>
                                </p:cTn>
                              </p:par>
                              <p:par>
                                <p:cTn id="67" presetID="10"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3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2" grpId="0"/>
      <p:bldP spid="2" grpId="0"/>
      <p:bldP spid="3" grpId="0"/>
      <p:bldP spid="4" grpId="0"/>
      <p:bldP spid="5" grpId="0"/>
      <p:bldP spid="15" grpId="0"/>
      <p:bldP spid="21" grpId="0"/>
      <p:bldP spid="24" grpId="0" animBg="1"/>
      <p:bldP spid="36" grpId="0" animBg="1"/>
      <p:bldP spid="39" grpId="0"/>
      <p:bldP spid="4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ChangeArrowheads="1"/>
          </p:cNvSpPr>
          <p:nvPr/>
        </p:nvSpPr>
        <p:spPr bwMode="auto">
          <a:xfrm>
            <a:off x="6350" y="3981450"/>
            <a:ext cx="9164638" cy="4619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微软雅黑" panose="020B0503020204020204" pitchFamily="34" charset="-122"/>
                <a:ea typeface="微软雅黑" panose="020B0503020204020204" pitchFamily="34" charset="-122"/>
              </a:rPr>
              <a:t>基可行解的非零分量的数目也不大于</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m</a:t>
            </a:r>
            <a:r>
              <a:rPr kumimoji="0" lang="zh-CN" altLang="en-US" b="1" dirty="0">
                <a:latin typeface="宋体" panose="02010600030101010101" pitchFamily="2" charset="-122"/>
              </a:rPr>
              <a:t>，</a:t>
            </a:r>
            <a:r>
              <a:rPr kumimoji="0" lang="zh-CN" altLang="en-US" b="1" dirty="0">
                <a:latin typeface="微软雅黑" panose="020B0503020204020204" pitchFamily="34" charset="-122"/>
                <a:ea typeface="微软雅黑" panose="020B0503020204020204" pitchFamily="34" charset="-122"/>
              </a:rPr>
              <a:t>并且都是非负的</a:t>
            </a:r>
          </a:p>
        </p:txBody>
      </p:sp>
      <p:sp>
        <p:nvSpPr>
          <p:cNvPr id="10243" name="Rectangle 7"/>
          <p:cNvSpPr>
            <a:spLocks noChangeArrowheads="1"/>
          </p:cNvSpPr>
          <p:nvPr/>
        </p:nvSpPr>
        <p:spPr bwMode="auto">
          <a:xfrm>
            <a:off x="-7938" y="3208338"/>
            <a:ext cx="9144001" cy="457200"/>
          </a:xfrm>
          <a:prstGeom prst="rect">
            <a:avLst/>
          </a:prstGeom>
          <a:solidFill>
            <a:srgbClr val="02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ea typeface="微软雅黑" panose="020B0503020204020204" pitchFamily="34" charset="-122"/>
              </a:rPr>
              <a:t>若一个</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基解</a:t>
            </a:r>
            <a:r>
              <a:rPr lang="zh-CN" altLang="en-US" b="1" dirty="0">
                <a:ea typeface="微软雅黑" panose="020B0503020204020204" pitchFamily="34" charset="-122"/>
              </a:rPr>
              <a:t>又是</a:t>
            </a:r>
            <a:r>
              <a:rPr lang="zh-CN" altLang="en-US" b="1" dirty="0">
                <a:solidFill>
                  <a:srgbClr val="FF0000"/>
                </a:solidFill>
                <a:latin typeface="微软雅黑" panose="020B0503020204020204" pitchFamily="34" charset="-122"/>
                <a:ea typeface="微软雅黑" panose="020B0503020204020204" pitchFamily="34" charset="-122"/>
              </a:rPr>
              <a:t>可行解</a:t>
            </a:r>
            <a:r>
              <a:rPr lang="zh-CN" altLang="en-US" b="1" dirty="0">
                <a:latin typeface="宋体" panose="02010600030101010101" pitchFamily="2" charset="-122"/>
              </a:rPr>
              <a:t>，</a:t>
            </a:r>
            <a:r>
              <a:rPr lang="zh-CN" altLang="en-US" b="1" dirty="0">
                <a:ea typeface="微软雅黑" panose="020B0503020204020204" pitchFamily="34" charset="-122"/>
              </a:rPr>
              <a:t>则称为线性规划的</a:t>
            </a:r>
            <a:r>
              <a:rPr lang="zh-CN" altLang="en-US" b="1" dirty="0">
                <a:solidFill>
                  <a:srgbClr val="FF0000"/>
                </a:solidFill>
                <a:latin typeface="微软雅黑" panose="020B0503020204020204" pitchFamily="34" charset="-122"/>
                <a:ea typeface="微软雅黑" panose="020B0503020204020204" pitchFamily="34" charset="-122"/>
              </a:rPr>
              <a:t>基可行解</a:t>
            </a:r>
          </a:p>
        </p:txBody>
      </p:sp>
      <p:sp>
        <p:nvSpPr>
          <p:cNvPr id="10244" name="Text Box 16"/>
          <p:cNvSpPr txBox="1">
            <a:spLocks noChangeArrowheads="1"/>
          </p:cNvSpPr>
          <p:nvPr/>
        </p:nvSpPr>
        <p:spPr bwMode="auto">
          <a:xfrm>
            <a:off x="539750" y="4852988"/>
            <a:ext cx="820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设</a:t>
            </a:r>
            <a:r>
              <a:rPr kumimoji="0"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i="1" baseline="300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dirty="0">
                <a:ea typeface="微软雅黑" panose="020B0503020204020204" pitchFamily="34" charset="-122"/>
              </a:rPr>
              <a:t>是线性规划的一个</a:t>
            </a:r>
            <a:r>
              <a:rPr lang="zh-CN" altLang="en-US" b="1" dirty="0">
                <a:solidFill>
                  <a:srgbClr val="FF0000"/>
                </a:solidFill>
                <a:latin typeface="微软雅黑" panose="020B0503020204020204" pitchFamily="34" charset="-122"/>
                <a:ea typeface="微软雅黑" panose="020B0503020204020204" pitchFamily="34" charset="-122"/>
              </a:rPr>
              <a:t>基可行解</a:t>
            </a:r>
            <a:r>
              <a:rPr kumimoji="0" lang="zh-CN" altLang="en-US" b="1" dirty="0">
                <a:latin typeface="宋体" panose="02010600030101010101" pitchFamily="2" charset="-122"/>
              </a:rPr>
              <a:t>，</a:t>
            </a:r>
            <a:r>
              <a:rPr kumimoji="0" lang="zh-CN" altLang="en-US" b="1" dirty="0">
                <a:ea typeface="微软雅黑" panose="020B0503020204020204" pitchFamily="34" charset="-122"/>
              </a:rPr>
              <a:t>若对任意可行解</a:t>
            </a:r>
            <a:r>
              <a:rPr kumimoji="0" lang="en-US" altLang="zh-CN" b="1" i="1" dirty="0">
                <a:latin typeface="Times New Roman" panose="02020603050405020304" pitchFamily="18" charset="0"/>
                <a:ea typeface="微软雅黑" panose="020B0503020204020204" pitchFamily="34" charset="-122"/>
              </a:rPr>
              <a:t>x</a:t>
            </a:r>
            <a:r>
              <a:rPr kumimoji="0" lang="zh-CN" altLang="en-US" b="1" dirty="0">
                <a:latin typeface="宋体" panose="02010600030101010101" pitchFamily="2" charset="-122"/>
              </a:rPr>
              <a:t>，</a:t>
            </a:r>
            <a:r>
              <a:rPr kumimoji="0" lang="zh-CN" altLang="en-US" b="1" dirty="0">
                <a:ea typeface="微软雅黑" panose="020B0503020204020204" pitchFamily="34" charset="-122"/>
              </a:rPr>
              <a:t>都有</a:t>
            </a:r>
            <a:endParaRPr lang="zh-CN" altLang="en-US" b="1" dirty="0">
              <a:solidFill>
                <a:srgbClr val="C00000"/>
              </a:solidFill>
              <a:latin typeface="微软雅黑" panose="020B0503020204020204" pitchFamily="34" charset="-122"/>
              <a:ea typeface="微软雅黑" panose="020B0503020204020204" pitchFamily="34" charset="-122"/>
            </a:endParaRPr>
          </a:p>
        </p:txBody>
      </p:sp>
      <p:graphicFrame>
        <p:nvGraphicFramePr>
          <p:cNvPr id="10245" name="Object 14"/>
          <p:cNvGraphicFramePr>
            <a:graphicFrameLocks noChangeAspect="1"/>
          </p:cNvGraphicFramePr>
          <p:nvPr/>
        </p:nvGraphicFramePr>
        <p:xfrm>
          <a:off x="3608388" y="5373688"/>
          <a:ext cx="1109662" cy="466725"/>
        </p:xfrm>
        <a:graphic>
          <a:graphicData uri="http://schemas.openxmlformats.org/presentationml/2006/ole">
            <mc:AlternateContent xmlns:mc="http://schemas.openxmlformats.org/markup-compatibility/2006">
              <mc:Choice xmlns:v="urn:schemas-microsoft-com:vml" Requires="v">
                <p:oleObj spid="_x0000_s31120" name="Equation" r:id="rId3" imgW="508000" imgH="203200" progId="Equation.DSMT4">
                  <p:embed/>
                </p:oleObj>
              </mc:Choice>
              <mc:Fallback>
                <p:oleObj name="Equation" r:id="rId3" imgW="508000" imgH="2032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8388" y="5373688"/>
                        <a:ext cx="1109662"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Text Box 16"/>
          <p:cNvSpPr txBox="1">
            <a:spLocks noChangeArrowheads="1"/>
          </p:cNvSpPr>
          <p:nvPr/>
        </p:nvSpPr>
        <p:spPr bwMode="auto">
          <a:xfrm>
            <a:off x="539750" y="5899150"/>
            <a:ext cx="8208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a:ea typeface="微软雅黑" panose="020B0503020204020204" pitchFamily="34" charset="-122"/>
              </a:rPr>
              <a:t>则称</a:t>
            </a:r>
            <a:r>
              <a:rPr kumimoji="0"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b="1" i="1" baseline="3000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1">
                <a:ea typeface="微软雅黑" panose="020B0503020204020204" pitchFamily="34" charset="-122"/>
              </a:rPr>
              <a:t>是线性规划的一个</a:t>
            </a:r>
            <a:r>
              <a:rPr lang="zh-CN" altLang="en-US" b="1">
                <a:solidFill>
                  <a:srgbClr val="FF0000"/>
                </a:solidFill>
                <a:latin typeface="微软雅黑" panose="020B0503020204020204" pitchFamily="34" charset="-122"/>
                <a:ea typeface="微软雅黑" panose="020B0503020204020204" pitchFamily="34" charset="-122"/>
              </a:rPr>
              <a:t>最优基可行解</a:t>
            </a:r>
            <a:endParaRPr lang="zh-CN" altLang="en-US" b="1">
              <a:solidFill>
                <a:srgbClr val="C00000"/>
              </a:solidFill>
              <a:latin typeface="微软雅黑" panose="020B0503020204020204" pitchFamily="34" charset="-122"/>
              <a:ea typeface="微软雅黑" panose="020B0503020204020204" pitchFamily="34" charset="-122"/>
            </a:endParaRPr>
          </a:p>
        </p:txBody>
      </p:sp>
      <p:sp>
        <p:nvSpPr>
          <p:cNvPr id="22" name="矩形 21"/>
          <p:cNvSpPr>
            <a:spLocks noChangeArrowheads="1"/>
          </p:cNvSpPr>
          <p:nvPr/>
        </p:nvSpPr>
        <p:spPr bwMode="auto">
          <a:xfrm>
            <a:off x="26988" y="4797425"/>
            <a:ext cx="9109075" cy="1681163"/>
          </a:xfrm>
          <a:prstGeom prst="rect">
            <a:avLst/>
          </a:prstGeom>
          <a:noFill/>
          <a:ln w="57150" algn="ctr">
            <a:solidFill>
              <a:srgbClr val="0066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0248" name="Object 2"/>
          <p:cNvGraphicFramePr>
            <a:graphicFrameLocks noChangeAspect="1"/>
          </p:cNvGraphicFramePr>
          <p:nvPr/>
        </p:nvGraphicFramePr>
        <p:xfrm>
          <a:off x="2173288" y="85725"/>
          <a:ext cx="3979862" cy="1463675"/>
        </p:xfrm>
        <a:graphic>
          <a:graphicData uri="http://schemas.openxmlformats.org/presentationml/2006/ole">
            <mc:AlternateContent xmlns:mc="http://schemas.openxmlformats.org/markup-compatibility/2006">
              <mc:Choice xmlns:v="urn:schemas-microsoft-com:vml" Requires="v">
                <p:oleObj spid="_x0000_s31121" name="Equation" r:id="rId5" imgW="2552700" imgH="939800" progId="Equation.DSMT4">
                  <p:embed/>
                </p:oleObj>
              </mc:Choice>
              <mc:Fallback>
                <p:oleObj name="Equation" r:id="rId5" imgW="2552700" imgH="9398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3288" y="85725"/>
                        <a:ext cx="397986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9" name="Rectangle 8"/>
          <p:cNvSpPr>
            <a:spLocks noChangeArrowheads="1"/>
          </p:cNvSpPr>
          <p:nvPr/>
        </p:nvSpPr>
        <p:spPr bwMode="auto">
          <a:xfrm>
            <a:off x="-19050" y="1679575"/>
            <a:ext cx="453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若令</a:t>
            </a:r>
            <a:endParaRPr kumimoji="0" lang="en-US" altLang="zh-CN" b="1">
              <a:ea typeface="微软雅黑" panose="020B0503020204020204" pitchFamily="34" charset="-122"/>
            </a:endParaRPr>
          </a:p>
        </p:txBody>
      </p:sp>
      <p:graphicFrame>
        <p:nvGraphicFramePr>
          <p:cNvPr id="10250" name="Object 2"/>
          <p:cNvGraphicFramePr>
            <a:graphicFrameLocks noChangeAspect="1"/>
          </p:cNvGraphicFramePr>
          <p:nvPr/>
        </p:nvGraphicFramePr>
        <p:xfrm>
          <a:off x="668338" y="1679575"/>
          <a:ext cx="2309812" cy="461963"/>
        </p:xfrm>
        <a:graphic>
          <a:graphicData uri="http://schemas.openxmlformats.org/presentationml/2006/ole">
            <mc:AlternateContent xmlns:mc="http://schemas.openxmlformats.org/markup-compatibility/2006">
              <mc:Choice xmlns:v="urn:schemas-microsoft-com:vml" Requires="v">
                <p:oleObj spid="_x0000_s31122" name="Equation" r:id="rId7" imgW="1206500" imgH="241300" progId="Equation.DSMT4">
                  <p:embed/>
                </p:oleObj>
              </mc:Choice>
              <mc:Fallback>
                <p:oleObj name="Equation" r:id="rId7" imgW="1206500" imgH="2413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338" y="1679575"/>
                        <a:ext cx="2309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1" name="矩形 29"/>
          <p:cNvSpPr>
            <a:spLocks noChangeArrowheads="1"/>
          </p:cNvSpPr>
          <p:nvPr/>
        </p:nvSpPr>
        <p:spPr bwMode="auto">
          <a:xfrm>
            <a:off x="2786063" y="1679575"/>
            <a:ext cx="925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宋体" panose="02010600030101010101" pitchFamily="2" charset="-122"/>
              </a:rPr>
              <a:t>，</a:t>
            </a:r>
            <a:r>
              <a:rPr kumimoji="0" lang="zh-CN" altLang="en-US" b="1" dirty="0">
                <a:ea typeface="微软雅黑" panose="020B0503020204020204" pitchFamily="34" charset="-122"/>
              </a:rPr>
              <a:t>令</a:t>
            </a:r>
            <a:endParaRPr kumimoji="0" lang="en-US" altLang="zh-CN" b="1" dirty="0">
              <a:ea typeface="微软雅黑" panose="020B0503020204020204" pitchFamily="34" charset="-122"/>
            </a:endParaRPr>
          </a:p>
        </p:txBody>
      </p:sp>
      <p:sp>
        <p:nvSpPr>
          <p:cNvPr id="10252" name="矩形 30"/>
          <p:cNvSpPr>
            <a:spLocks noChangeArrowheads="1"/>
          </p:cNvSpPr>
          <p:nvPr/>
        </p:nvSpPr>
        <p:spPr bwMode="auto">
          <a:xfrm>
            <a:off x="5507038" y="1679575"/>
            <a:ext cx="865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宋体" panose="02010600030101010101" pitchFamily="2" charset="-122"/>
              </a:rPr>
              <a:t>，</a:t>
            </a:r>
            <a:r>
              <a:rPr kumimoji="0" lang="zh-CN" altLang="en-US" b="1" dirty="0">
                <a:ea typeface="微软雅黑" panose="020B0503020204020204" pitchFamily="34" charset="-122"/>
              </a:rPr>
              <a:t>则</a:t>
            </a:r>
            <a:endParaRPr kumimoji="0" lang="en-US" altLang="zh-CN" b="1" dirty="0">
              <a:ea typeface="微软雅黑" panose="020B0503020204020204" pitchFamily="34" charset="-122"/>
            </a:endParaRPr>
          </a:p>
        </p:txBody>
      </p:sp>
      <p:graphicFrame>
        <p:nvGraphicFramePr>
          <p:cNvPr id="10253" name="Object 2"/>
          <p:cNvGraphicFramePr>
            <a:graphicFrameLocks noChangeAspect="1"/>
          </p:cNvGraphicFramePr>
          <p:nvPr/>
        </p:nvGraphicFramePr>
        <p:xfrm>
          <a:off x="3511550" y="1679575"/>
          <a:ext cx="2154238" cy="461963"/>
        </p:xfrm>
        <a:graphic>
          <a:graphicData uri="http://schemas.openxmlformats.org/presentationml/2006/ole">
            <mc:AlternateContent xmlns:mc="http://schemas.openxmlformats.org/markup-compatibility/2006">
              <mc:Choice xmlns:v="urn:schemas-microsoft-com:vml" Requires="v">
                <p:oleObj spid="_x0000_s31123" name="Equation" r:id="rId9" imgW="1066800" imgH="228600" progId="Equation.DSMT4">
                  <p:embed/>
                </p:oleObj>
              </mc:Choice>
              <mc:Fallback>
                <p:oleObj name="Equation" r:id="rId9" imgW="1066800" imgH="2286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1550" y="1679575"/>
                        <a:ext cx="2154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4" name="矩形 32"/>
          <p:cNvSpPr>
            <a:spLocks noChangeArrowheads="1"/>
          </p:cNvSpPr>
          <p:nvPr/>
        </p:nvSpPr>
        <p:spPr bwMode="auto">
          <a:xfrm>
            <a:off x="7015163" y="1679575"/>
            <a:ext cx="1160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等价于</a:t>
            </a:r>
            <a:endParaRPr lang="zh-CN" altLang="en-US"/>
          </a:p>
        </p:txBody>
      </p:sp>
      <p:graphicFrame>
        <p:nvGraphicFramePr>
          <p:cNvPr id="10255" name="Object 2"/>
          <p:cNvGraphicFramePr>
            <a:graphicFrameLocks noChangeAspect="1"/>
          </p:cNvGraphicFramePr>
          <p:nvPr/>
        </p:nvGraphicFramePr>
        <p:xfrm>
          <a:off x="6199188" y="1730375"/>
          <a:ext cx="898525" cy="360363"/>
        </p:xfrm>
        <a:graphic>
          <a:graphicData uri="http://schemas.openxmlformats.org/presentationml/2006/ole">
            <mc:AlternateContent xmlns:mc="http://schemas.openxmlformats.org/markup-compatibility/2006">
              <mc:Choice xmlns:v="urn:schemas-microsoft-com:vml" Requires="v">
                <p:oleObj spid="_x0000_s31124" name="Equation" r:id="rId11" imgW="443865" imgH="177800" progId="Equation.DSMT4">
                  <p:embed/>
                </p:oleObj>
              </mc:Choice>
              <mc:Fallback>
                <p:oleObj name="Equation" r:id="rId11" imgW="443865" imgH="177800" progId="Equation.DSMT4">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99188" y="1730375"/>
                        <a:ext cx="8985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6" name="矩形 34"/>
          <p:cNvSpPr>
            <a:spLocks noChangeArrowheads="1"/>
          </p:cNvSpPr>
          <p:nvPr/>
        </p:nvSpPr>
        <p:spPr bwMode="auto">
          <a:xfrm>
            <a:off x="-19050" y="2268538"/>
            <a:ext cx="865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ea typeface="微软雅黑" panose="020B0503020204020204" pitchFamily="34" charset="-122"/>
              </a:rPr>
              <a:t>故有</a:t>
            </a:r>
            <a:endParaRPr lang="zh-CN" altLang="en-US"/>
          </a:p>
        </p:txBody>
      </p:sp>
      <p:graphicFrame>
        <p:nvGraphicFramePr>
          <p:cNvPr id="10257" name="Object 2"/>
          <p:cNvGraphicFramePr>
            <a:graphicFrameLocks noChangeAspect="1"/>
          </p:cNvGraphicFramePr>
          <p:nvPr/>
        </p:nvGraphicFramePr>
        <p:xfrm>
          <a:off x="8015288" y="1679575"/>
          <a:ext cx="1027112" cy="463550"/>
        </p:xfrm>
        <a:graphic>
          <a:graphicData uri="http://schemas.openxmlformats.org/presentationml/2006/ole">
            <mc:AlternateContent xmlns:mc="http://schemas.openxmlformats.org/markup-compatibility/2006">
              <mc:Choice xmlns:v="urn:schemas-microsoft-com:vml" Requires="v">
                <p:oleObj spid="_x0000_s31125" name="Equation" r:id="rId13" imgW="508000" imgH="228600" progId="Equation.DSMT4">
                  <p:embed/>
                </p:oleObj>
              </mc:Choice>
              <mc:Fallback>
                <p:oleObj name="Equation" r:id="rId13" imgW="508000" imgH="228600" progId="Equation.DSMT4">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15288" y="1679575"/>
                        <a:ext cx="10271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8" name="矩形 37"/>
          <p:cNvSpPr>
            <a:spLocks noChangeArrowheads="1"/>
          </p:cNvSpPr>
          <p:nvPr/>
        </p:nvSpPr>
        <p:spPr bwMode="auto">
          <a:xfrm>
            <a:off x="1778000" y="2268538"/>
            <a:ext cx="2030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ea typeface="微软雅黑" panose="020B0503020204020204" pitchFamily="34" charset="-122"/>
              </a:rPr>
              <a:t>。由此</a:t>
            </a:r>
            <a:r>
              <a:rPr kumimoji="0" lang="zh-CN" altLang="en-US" b="1" dirty="0">
                <a:latin typeface="宋体" panose="02010600030101010101" pitchFamily="2" charset="-122"/>
              </a:rPr>
              <a:t>，</a:t>
            </a:r>
            <a:r>
              <a:rPr kumimoji="0" lang="zh-CN" altLang="en-US" b="1" dirty="0">
                <a:ea typeface="微软雅黑" panose="020B0503020204020204" pitchFamily="34" charset="-122"/>
              </a:rPr>
              <a:t>得到</a:t>
            </a:r>
            <a:endParaRPr lang="zh-CN" altLang="en-US" dirty="0"/>
          </a:p>
        </p:txBody>
      </p:sp>
      <p:graphicFrame>
        <p:nvGraphicFramePr>
          <p:cNvPr id="10259" name="对象 38"/>
          <p:cNvGraphicFramePr>
            <a:graphicFrameLocks noChangeAspect="1"/>
          </p:cNvGraphicFramePr>
          <p:nvPr/>
        </p:nvGraphicFramePr>
        <p:xfrm>
          <a:off x="719138" y="2268538"/>
          <a:ext cx="1190625" cy="461962"/>
        </p:xfrm>
        <a:graphic>
          <a:graphicData uri="http://schemas.openxmlformats.org/presentationml/2006/ole">
            <mc:AlternateContent xmlns:mc="http://schemas.openxmlformats.org/markup-compatibility/2006">
              <mc:Choice xmlns:v="urn:schemas-microsoft-com:vml" Requires="v">
                <p:oleObj spid="_x0000_s31126" name="Equation" r:id="rId15" imgW="622300" imgH="241300" progId="Equation.DSMT4">
                  <p:embed/>
                </p:oleObj>
              </mc:Choice>
              <mc:Fallback>
                <p:oleObj name="Equation" r:id="rId15" imgW="622300" imgH="241300" progId="Equation.DSMT4">
                  <p:embed/>
                  <p:pic>
                    <p:nvPicPr>
                      <p:cNvPr id="0" name="对象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9138" y="2268538"/>
                        <a:ext cx="1190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60" name="矩形 39"/>
          <p:cNvSpPr>
            <a:spLocks noChangeArrowheads="1"/>
          </p:cNvSpPr>
          <p:nvPr/>
        </p:nvSpPr>
        <p:spPr bwMode="auto">
          <a:xfrm>
            <a:off x="4556125" y="227012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ea typeface="微软雅黑" panose="020B0503020204020204" pitchFamily="34" charset="-122"/>
              </a:rPr>
              <a:t>的一个解</a:t>
            </a:r>
            <a:endParaRPr lang="zh-CN" altLang="en-US"/>
          </a:p>
        </p:txBody>
      </p:sp>
      <p:graphicFrame>
        <p:nvGraphicFramePr>
          <p:cNvPr id="10261" name="对象 40"/>
          <p:cNvGraphicFramePr>
            <a:graphicFrameLocks noChangeAspect="1"/>
          </p:cNvGraphicFramePr>
          <p:nvPr/>
        </p:nvGraphicFramePr>
        <p:xfrm>
          <a:off x="3695700" y="2335213"/>
          <a:ext cx="885825" cy="352425"/>
        </p:xfrm>
        <a:graphic>
          <a:graphicData uri="http://schemas.openxmlformats.org/presentationml/2006/ole">
            <mc:AlternateContent xmlns:mc="http://schemas.openxmlformats.org/markup-compatibility/2006">
              <mc:Choice xmlns:v="urn:schemas-microsoft-com:vml" Requires="v">
                <p:oleObj spid="_x0000_s31127" name="Equation" r:id="rId17" imgW="914400" imgH="369570" progId="Equation.DSMT4">
                  <p:embed/>
                </p:oleObj>
              </mc:Choice>
              <mc:Fallback>
                <p:oleObj name="Equation" r:id="rId17" imgW="914400" imgH="369570" progId="Equation.DSMT4">
                  <p:embed/>
                  <p:pic>
                    <p:nvPicPr>
                      <p:cNvPr id="0" name="对象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95700" y="2335213"/>
                        <a:ext cx="8858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62" name="对象 41"/>
          <p:cNvGraphicFramePr>
            <a:graphicFrameLocks noChangeAspect="1"/>
          </p:cNvGraphicFramePr>
          <p:nvPr/>
        </p:nvGraphicFramePr>
        <p:xfrm>
          <a:off x="5878513" y="2159000"/>
          <a:ext cx="1008062" cy="696913"/>
        </p:xfrm>
        <a:graphic>
          <a:graphicData uri="http://schemas.openxmlformats.org/presentationml/2006/ole">
            <mc:AlternateContent xmlns:mc="http://schemas.openxmlformats.org/markup-compatibility/2006">
              <mc:Choice xmlns:v="urn:schemas-microsoft-com:vml" Requires="v">
                <p:oleObj spid="_x0000_s31128" name="Equation" r:id="rId19" imgW="698500" imgH="482600" progId="Equation.DSMT4">
                  <p:embed/>
                </p:oleObj>
              </mc:Choice>
              <mc:Fallback>
                <p:oleObj name="Equation" r:id="rId19" imgW="698500" imgH="482600" progId="Equation.DSMT4">
                  <p:embed/>
                  <p:pic>
                    <p:nvPicPr>
                      <p:cNvPr id="0" name="对象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78513" y="2159000"/>
                        <a:ext cx="1008062"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63" name="矩形 42"/>
          <p:cNvSpPr>
            <a:spLocks noChangeArrowheads="1"/>
          </p:cNvSpPr>
          <p:nvPr/>
        </p:nvSpPr>
        <p:spPr bwMode="auto">
          <a:xfrm>
            <a:off x="26988" y="1625600"/>
            <a:ext cx="9109075" cy="1298575"/>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 name="灯片编号占位符 1"/>
          <p:cNvSpPr>
            <a:spLocks noGrp="1"/>
          </p:cNvSpPr>
          <p:nvPr>
            <p:ph type="sldNum" sz="quarter" idx="12"/>
          </p:nvPr>
        </p:nvSpPr>
        <p:spPr>
          <a:xfrm>
            <a:off x="7246997" y="63754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63</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animBg="1"/>
      <p:bldP spid="10244" grpId="0"/>
      <p:bldP spid="10246" grpId="0"/>
      <p:bldP spid="2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19"/>
          <p:cNvSpPr>
            <a:spLocks noChangeArrowheads="1"/>
          </p:cNvSpPr>
          <p:nvPr/>
        </p:nvSpPr>
        <p:spPr bwMode="auto">
          <a:xfrm>
            <a:off x="5294313" y="1046163"/>
            <a:ext cx="3849687" cy="15176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38259" name="Rectangle 19"/>
          <p:cNvSpPr>
            <a:spLocks noChangeArrowheads="1"/>
          </p:cNvSpPr>
          <p:nvPr/>
        </p:nvSpPr>
        <p:spPr bwMode="auto">
          <a:xfrm>
            <a:off x="0" y="0"/>
            <a:ext cx="8839200" cy="457200"/>
          </a:xfrm>
          <a:prstGeom prst="rect">
            <a:avLst/>
          </a:prstGeom>
          <a:noFill/>
          <a:ln w="9525">
            <a:noFill/>
            <a:miter lim="800000"/>
          </a:ln>
          <a:effectLst/>
        </p:spPr>
        <p:txBody>
          <a:bodyPr>
            <a:spAutoFit/>
          </a:bodyPr>
          <a:lstStyle/>
          <a:p>
            <a:pPr eaLnBrk="1" hangingPunct="1">
              <a:defRPr/>
            </a:pP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为了理解</a:t>
            </a:r>
            <a:r>
              <a:rPr lang="zh-CN" altLang="en-US" b="1" dirty="0">
                <a:solidFill>
                  <a:schemeClr val="hlink"/>
                </a:solidFill>
                <a:latin typeface="Times New Roman" panose="02020603050405020304" pitchFamily="18" charset="0"/>
                <a:ea typeface="微软雅黑" panose="020B0503020204020204" pitchFamily="34" charset="-122"/>
              </a:rPr>
              <a:t>基解</a:t>
            </a:r>
            <a:r>
              <a:rPr lang="zh-CN" altLang="en-US" b="1" dirty="0">
                <a:effectLst>
                  <a:outerShdw blurRad="38100" dist="38100" dir="2700000" algn="tl">
                    <a:srgbClr val="C0C0C0"/>
                  </a:outerShdw>
                </a:effectLst>
                <a:latin typeface="宋体" panose="02010600030101010101" pitchFamily="2" charset="-122"/>
              </a:rPr>
              <a:t>，</a:t>
            </a:r>
            <a:r>
              <a:rPr lang="zh-CN" altLang="en-US" b="1" dirty="0">
                <a:solidFill>
                  <a:schemeClr val="hlink"/>
                </a:solidFill>
                <a:latin typeface="Times New Roman" panose="02020603050405020304" pitchFamily="18" charset="0"/>
                <a:ea typeface="微软雅黑" panose="020B0503020204020204" pitchFamily="34" charset="-122"/>
              </a:rPr>
              <a:t>基可行解</a:t>
            </a: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的概念</a:t>
            </a:r>
            <a:r>
              <a:rPr lang="zh-CN" altLang="en-US" b="1" dirty="0">
                <a:effectLst>
                  <a:outerShdw blurRad="38100" dist="38100" dir="2700000" algn="tl">
                    <a:srgbClr val="C0C0C0"/>
                  </a:outerShdw>
                </a:effectLst>
                <a:latin typeface="宋体" panose="02010600030101010101" pitchFamily="2" charset="-122"/>
              </a:rPr>
              <a:t>，</a:t>
            </a: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用下列例子说明：</a:t>
            </a:r>
          </a:p>
        </p:txBody>
      </p:sp>
      <p:sp>
        <p:nvSpPr>
          <p:cNvPr id="138260" name="Text Box 20"/>
          <p:cNvSpPr txBox="1">
            <a:spLocks noChangeArrowheads="1"/>
          </p:cNvSpPr>
          <p:nvPr/>
        </p:nvSpPr>
        <p:spPr bwMode="auto">
          <a:xfrm>
            <a:off x="0" y="4772025"/>
            <a:ext cx="4249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solidFill>
                  <a:schemeClr val="hlink"/>
                </a:solidFill>
                <a:latin typeface="微软雅黑" panose="020B0503020204020204" pitchFamily="34" charset="-122"/>
                <a:ea typeface="微软雅黑" panose="020B0503020204020204" pitchFamily="34" charset="-122"/>
              </a:rPr>
              <a:t>标准型为：   </a:t>
            </a:r>
          </a:p>
        </p:txBody>
      </p:sp>
      <p:sp>
        <p:nvSpPr>
          <p:cNvPr id="11269" name="Text Box 28"/>
          <p:cNvSpPr txBox="1">
            <a:spLocks noChangeArrowheads="1"/>
          </p:cNvSpPr>
          <p:nvPr/>
        </p:nvSpPr>
        <p:spPr bwMode="auto">
          <a:xfrm>
            <a:off x="4876800" y="588963"/>
            <a:ext cx="42672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solidFill>
                  <a:schemeClr val="hlink"/>
                </a:solidFill>
                <a:latin typeface="微软雅黑" panose="020B0503020204020204" pitchFamily="34" charset="-122"/>
                <a:ea typeface="微软雅黑" panose="020B0503020204020204" pitchFamily="34" charset="-122"/>
              </a:rPr>
              <a:t>例</a:t>
            </a:r>
            <a:endParaRPr lang="en-US" altLang="zh-CN" sz="2000">
              <a:latin typeface="Times New Roman" panose="02020603050405020304" pitchFamily="18" charset="0"/>
              <a:ea typeface="微软雅黑" panose="020B0503020204020204" pitchFamily="34" charset="-122"/>
            </a:endParaRPr>
          </a:p>
        </p:txBody>
      </p:sp>
      <p:graphicFrame>
        <p:nvGraphicFramePr>
          <p:cNvPr id="138269" name="Object 29"/>
          <p:cNvGraphicFramePr>
            <a:graphicFrameLocks noChangeAspect="1"/>
          </p:cNvGraphicFramePr>
          <p:nvPr/>
        </p:nvGraphicFramePr>
        <p:xfrm>
          <a:off x="4895850" y="5445125"/>
          <a:ext cx="4248150" cy="1190625"/>
        </p:xfrm>
        <a:graphic>
          <a:graphicData uri="http://schemas.openxmlformats.org/presentationml/2006/ole">
            <mc:AlternateContent xmlns:mc="http://schemas.openxmlformats.org/markup-compatibility/2006">
              <mc:Choice xmlns:v="urn:schemas-microsoft-com:vml" Requires="v">
                <p:oleObj spid="_x0000_s32006" name="Equation" r:id="rId3" imgW="2781300" imgH="711200" progId="Equation.DSMT4">
                  <p:embed/>
                </p:oleObj>
              </mc:Choice>
              <mc:Fallback>
                <p:oleObj name="Equation" r:id="rId3" imgW="2781300" imgH="71120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850" y="5445125"/>
                        <a:ext cx="4248150" cy="1190625"/>
                      </a:xfrm>
                      <a:prstGeom prst="rect">
                        <a:avLst/>
                      </a:prstGeom>
                      <a:solidFill>
                        <a:srgbClr val="66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1" name="Picture 11" descr="D:\OR-第三版校对稿\3nd运筹学-图及txt文件\tp\1g2.t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196975"/>
            <a:ext cx="5076825"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2" name="Object 2"/>
          <p:cNvGraphicFramePr>
            <a:graphicFrameLocks noChangeAspect="1"/>
          </p:cNvGraphicFramePr>
          <p:nvPr/>
        </p:nvGraphicFramePr>
        <p:xfrm>
          <a:off x="5326063" y="3219450"/>
          <a:ext cx="2062162" cy="552450"/>
        </p:xfrm>
        <a:graphic>
          <a:graphicData uri="http://schemas.openxmlformats.org/presentationml/2006/ole">
            <mc:AlternateContent xmlns:mc="http://schemas.openxmlformats.org/markup-compatibility/2006">
              <mc:Choice xmlns:v="urn:schemas-microsoft-com:vml" Requires="v">
                <p:oleObj spid="_x0000_s32007" name="Equation" r:id="rId6" imgW="951865" imgH="228600" progId="Equation.DSMT4">
                  <p:embed/>
                </p:oleObj>
              </mc:Choice>
              <mc:Fallback>
                <p:oleObj name="Equation" r:id="rId6" imgW="951865" imgH="228600"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6063" y="3219450"/>
                        <a:ext cx="20621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
          <p:cNvGraphicFramePr>
            <a:graphicFrameLocks noChangeAspect="1"/>
          </p:cNvGraphicFramePr>
          <p:nvPr/>
        </p:nvGraphicFramePr>
        <p:xfrm>
          <a:off x="1844675" y="5281613"/>
          <a:ext cx="2574925" cy="1517650"/>
        </p:xfrm>
        <a:graphic>
          <a:graphicData uri="http://schemas.openxmlformats.org/presentationml/2006/ole">
            <mc:AlternateContent xmlns:mc="http://schemas.openxmlformats.org/markup-compatibility/2006">
              <mc:Choice xmlns:v="urn:schemas-microsoft-com:vml" Requires="v">
                <p:oleObj spid="_x0000_s32008" name="Equation" r:id="rId8" imgW="1778000" imgH="939800" progId="Equation.DSMT4">
                  <p:embed/>
                </p:oleObj>
              </mc:Choice>
              <mc:Fallback>
                <p:oleObj name="Equation" r:id="rId8" imgW="1778000" imgH="939800" progId="Equation.DSMT4">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4675" y="5281613"/>
                        <a:ext cx="2574925"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4" name="Object 2"/>
          <p:cNvGraphicFramePr>
            <a:graphicFrameLocks noChangeAspect="1"/>
          </p:cNvGraphicFramePr>
          <p:nvPr/>
        </p:nvGraphicFramePr>
        <p:xfrm>
          <a:off x="6443663" y="1055688"/>
          <a:ext cx="1343025" cy="1517650"/>
        </p:xfrm>
        <a:graphic>
          <a:graphicData uri="http://schemas.openxmlformats.org/presentationml/2006/ole">
            <mc:AlternateContent xmlns:mc="http://schemas.openxmlformats.org/markup-compatibility/2006">
              <mc:Choice xmlns:v="urn:schemas-microsoft-com:vml" Requires="v">
                <p:oleObj spid="_x0000_s32009" name="Equation" r:id="rId10" imgW="927100" imgH="939800" progId="Equation.DSMT4">
                  <p:embed/>
                </p:oleObj>
              </mc:Choice>
              <mc:Fallback>
                <p:oleObj name="Equation" r:id="rId10" imgW="927100" imgH="939800" progId="Equation.DSMT4">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43663" y="1055688"/>
                        <a:ext cx="1343025" cy="15176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5" name="Object 2"/>
          <p:cNvGraphicFramePr>
            <a:graphicFrameLocks noChangeAspect="1"/>
          </p:cNvGraphicFramePr>
          <p:nvPr/>
        </p:nvGraphicFramePr>
        <p:xfrm>
          <a:off x="6010275" y="582613"/>
          <a:ext cx="2019300" cy="473075"/>
        </p:xfrm>
        <a:graphic>
          <a:graphicData uri="http://schemas.openxmlformats.org/presentationml/2006/ole">
            <mc:AlternateContent xmlns:mc="http://schemas.openxmlformats.org/markup-compatibility/2006">
              <mc:Choice xmlns:v="urn:schemas-microsoft-com:vml" Requires="v">
                <p:oleObj spid="_x0000_s32010" name="Equation" r:id="rId12" imgW="1091565" imgH="228600" progId="Equation.DSMT4">
                  <p:embed/>
                </p:oleObj>
              </mc:Choice>
              <mc:Fallback>
                <p:oleObj name="Equation" r:id="rId12" imgW="1091565" imgH="228600" progId="Equation.DSMT4">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0275" y="582613"/>
                        <a:ext cx="20193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
          <p:cNvGraphicFramePr>
            <a:graphicFrameLocks noChangeAspect="1"/>
          </p:cNvGraphicFramePr>
          <p:nvPr/>
        </p:nvGraphicFramePr>
        <p:xfrm>
          <a:off x="1638300" y="4824413"/>
          <a:ext cx="3217863" cy="396875"/>
        </p:xfrm>
        <a:graphic>
          <a:graphicData uri="http://schemas.openxmlformats.org/presentationml/2006/ole">
            <mc:AlternateContent xmlns:mc="http://schemas.openxmlformats.org/markup-compatibility/2006">
              <mc:Choice xmlns:v="urn:schemas-microsoft-com:vml" Requires="v">
                <p:oleObj spid="_x0000_s32011" name="Equation" r:id="rId14" imgW="49682400" imgH="5486400" progId="Equation.DSMT4">
                  <p:embed/>
                </p:oleObj>
              </mc:Choice>
              <mc:Fallback>
                <p:oleObj name="Equation" r:id="rId14" imgW="49682400" imgH="5486400" progId="Equation.DSMT4">
                  <p:embed/>
                  <p:pic>
                    <p:nvPicPr>
                      <p:cNvPr id="0" name="Object 2"/>
                      <p:cNvPicPr>
                        <a:picLocks noChangeAspect="1" noChangeArrowheads="1"/>
                      </p:cNvPicPr>
                      <p:nvPr/>
                    </p:nvPicPr>
                    <p:blipFill>
                      <a:blip r:embed="rId15"/>
                      <a:srcRect/>
                      <a:stretch>
                        <a:fillRect/>
                      </a:stretch>
                    </p:blipFill>
                    <p:spPr bwMode="auto">
                      <a:xfrm>
                        <a:off x="1638300" y="4824413"/>
                        <a:ext cx="32178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矩形 23"/>
          <p:cNvSpPr>
            <a:spLocks noChangeArrowheads="1"/>
          </p:cNvSpPr>
          <p:nvPr/>
        </p:nvSpPr>
        <p:spPr bwMode="auto">
          <a:xfrm>
            <a:off x="7297738" y="3248025"/>
            <a:ext cx="17129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cs typeface="Times New Roman" panose="02020603050405020304" pitchFamily="18" charset="0"/>
              </a:rPr>
              <a:t>是基可行解</a:t>
            </a:r>
            <a:endParaRPr lang="zh-CN" altLang="en-US">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a:xfrm>
            <a:off x="7243022" y="6424612"/>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edg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8260"/>
                                        </p:tgtEl>
                                        <p:attrNameLst>
                                          <p:attrName>style.visibility</p:attrName>
                                        </p:attrNameLst>
                                      </p:cBhvr>
                                      <p:to>
                                        <p:strVal val="visible"/>
                                      </p:to>
                                    </p:set>
                                    <p:animEffect transition="in" filter="fade">
                                      <p:cBhvr>
                                        <p:cTn id="12" dur="500"/>
                                        <p:tgtEl>
                                          <p:spTgt spid="138260"/>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38269"/>
                                        </p:tgtEl>
                                        <p:attrNameLst>
                                          <p:attrName>style.visibility</p:attrName>
                                        </p:attrNameLst>
                                      </p:cBhvr>
                                      <p:to>
                                        <p:strVal val="visible"/>
                                      </p:to>
                                    </p:set>
                                    <p:animEffect transition="in" filter="blinds(horizontal)">
                                      <p:cBhvr>
                                        <p:cTn id="23" dur="500"/>
                                        <p:tgtEl>
                                          <p:spTgt spid="138269"/>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1000"/>
                                        <p:tgtEl>
                                          <p:spTgt spid="24"/>
                                        </p:tgtEl>
                                      </p:cBhvr>
                                    </p:animEffect>
                                    <p:anim calcmode="lin" valueType="num">
                                      <p:cBhvr>
                                        <p:cTn id="34" dur="1000" fill="hold"/>
                                        <p:tgtEl>
                                          <p:spTgt spid="24"/>
                                        </p:tgtEl>
                                        <p:attrNameLst>
                                          <p:attrName>ppt_x</p:attrName>
                                        </p:attrNameLst>
                                      </p:cBhvr>
                                      <p:tavLst>
                                        <p:tav tm="0">
                                          <p:val>
                                            <p:strVal val="#ppt_x"/>
                                          </p:val>
                                        </p:tav>
                                        <p:tav tm="100000">
                                          <p:val>
                                            <p:strVal val="#ppt_x"/>
                                          </p:val>
                                        </p:tav>
                                      </p:tavLst>
                                    </p:anim>
                                    <p:anim calcmode="lin" valueType="num">
                                      <p:cBhvr>
                                        <p:cTn id="3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60" grpId="0"/>
      <p:bldP spid="2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12"/>
          <p:cNvSpPr>
            <a:spLocks noChangeArrowheads="1"/>
          </p:cNvSpPr>
          <p:nvPr/>
        </p:nvSpPr>
        <p:spPr bwMode="auto">
          <a:xfrm>
            <a:off x="0" y="0"/>
            <a:ext cx="3708400" cy="1628775"/>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2" name="Object 2"/>
          <p:cNvGraphicFramePr>
            <a:graphicFrameLocks noChangeAspect="1"/>
          </p:cNvGraphicFramePr>
          <p:nvPr/>
        </p:nvGraphicFramePr>
        <p:xfrm>
          <a:off x="2771775" y="1628775"/>
          <a:ext cx="3241675" cy="1462088"/>
        </p:xfrm>
        <a:graphic>
          <a:graphicData uri="http://schemas.openxmlformats.org/presentationml/2006/ole">
            <mc:AlternateContent xmlns:mc="http://schemas.openxmlformats.org/markup-compatibility/2006">
              <mc:Choice xmlns:v="urn:schemas-microsoft-com:vml" Requires="v">
                <p:oleObj spid="_x0000_s32940" name="Equation" r:id="rId3" imgW="1727200" imgH="711200" progId="Equation.DSMT4">
                  <p:embed/>
                </p:oleObj>
              </mc:Choice>
              <mc:Fallback>
                <p:oleObj name="Equation" r:id="rId3" imgW="1727200" imgH="71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1628775"/>
                        <a:ext cx="3241675" cy="146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0" name="Text Box 4"/>
          <p:cNvSpPr txBox="1">
            <a:spLocks noChangeArrowheads="1"/>
          </p:cNvSpPr>
          <p:nvPr/>
        </p:nvSpPr>
        <p:spPr bwMode="auto">
          <a:xfrm>
            <a:off x="468313" y="1773238"/>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solidFill>
                  <a:schemeClr val="hlink"/>
                </a:solidFill>
                <a:latin typeface="Times New Roman" panose="02020603050405020304" pitchFamily="18" charset="0"/>
                <a:ea typeface="微软雅黑" panose="020B0503020204020204" pitchFamily="34" charset="-122"/>
              </a:rPr>
              <a:t>基为：</a:t>
            </a:r>
            <a:r>
              <a:rPr lang="zh-CN" altLang="en-US" sz="2000">
                <a:latin typeface="Times New Roman" panose="02020603050405020304" pitchFamily="18" charset="0"/>
                <a:ea typeface="微软雅黑" panose="020B0503020204020204" pitchFamily="34" charset="-122"/>
              </a:rPr>
              <a:t>         </a:t>
            </a:r>
          </a:p>
        </p:txBody>
      </p:sp>
      <p:sp>
        <p:nvSpPr>
          <p:cNvPr id="132101" name="Text Box 5"/>
          <p:cNvSpPr txBox="1">
            <a:spLocks noChangeArrowheads="1"/>
          </p:cNvSpPr>
          <p:nvPr/>
        </p:nvSpPr>
        <p:spPr bwMode="auto">
          <a:xfrm>
            <a:off x="250825" y="3141663"/>
            <a:ext cx="837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solidFill>
                  <a:schemeClr val="hlink"/>
                </a:solidFill>
                <a:latin typeface="Times New Roman" panose="02020603050405020304" pitchFamily="18" charset="0"/>
                <a:ea typeface="微软雅黑" panose="020B0503020204020204" pitchFamily="34" charset="-122"/>
              </a:rPr>
              <a:t>基变量</a:t>
            </a:r>
            <a:r>
              <a:rPr lang="zh-CN" altLang="en-US" b="1">
                <a:latin typeface="Times New Roman" panose="02020603050405020304" pitchFamily="18" charset="0"/>
                <a:ea typeface="微软雅黑" panose="020B0503020204020204" pitchFamily="34" charset="-122"/>
              </a:rPr>
              <a:t>为： </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3</a:t>
            </a:r>
            <a:r>
              <a:rPr lang="en-US" altLang="zh-CN" b="1">
                <a:latin typeface="Times New Roman" panose="02020603050405020304" pitchFamily="18" charset="0"/>
                <a:ea typeface="微软雅黑" panose="020B0503020204020204" pitchFamily="34" charset="-122"/>
              </a:rPr>
              <a:t> </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4</a:t>
            </a:r>
            <a:r>
              <a:rPr lang="en-US" altLang="zh-CN" b="1">
                <a:latin typeface="Times New Roman" panose="02020603050405020304" pitchFamily="18" charset="0"/>
                <a:ea typeface="微软雅黑" panose="020B0503020204020204" pitchFamily="34" charset="-122"/>
              </a:rPr>
              <a:t> </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5 </a:t>
            </a:r>
            <a:r>
              <a:rPr lang="zh-CN" altLang="en-US" b="1">
                <a:latin typeface="仿宋" panose="02010609060101010101" pitchFamily="49" charset="-122"/>
                <a:ea typeface="仿宋" panose="02010609060101010101" pitchFamily="49" charset="-122"/>
              </a:rPr>
              <a:t>，</a:t>
            </a:r>
            <a:r>
              <a:rPr lang="zh-CN" altLang="en-US" b="1">
                <a:solidFill>
                  <a:schemeClr val="hlink"/>
                </a:solidFill>
                <a:latin typeface="Times New Roman" panose="02020603050405020304" pitchFamily="18" charset="0"/>
                <a:ea typeface="微软雅黑" panose="020B0503020204020204" pitchFamily="34" charset="-122"/>
              </a:rPr>
              <a:t>非基变量</a:t>
            </a:r>
            <a:r>
              <a:rPr lang="zh-CN" altLang="en-US" b="1">
                <a:latin typeface="Times New Roman" panose="02020603050405020304" pitchFamily="18" charset="0"/>
                <a:ea typeface="微软雅黑" panose="020B0503020204020204" pitchFamily="34" charset="-122"/>
              </a:rPr>
              <a:t>为</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a:t>
            </a:r>
            <a:endParaRPr lang="zh-CN" altLang="en-US" b="1">
              <a:latin typeface="Times New Roman" panose="02020603050405020304" pitchFamily="18" charset="0"/>
              <a:ea typeface="微软雅黑" panose="020B0503020204020204" pitchFamily="34" charset="-122"/>
            </a:endParaRPr>
          </a:p>
        </p:txBody>
      </p:sp>
      <p:graphicFrame>
        <p:nvGraphicFramePr>
          <p:cNvPr id="132102" name="Object 6"/>
          <p:cNvGraphicFramePr>
            <a:graphicFrameLocks noChangeAspect="1"/>
          </p:cNvGraphicFramePr>
          <p:nvPr/>
        </p:nvGraphicFramePr>
        <p:xfrm>
          <a:off x="3203575" y="3573463"/>
          <a:ext cx="2325688" cy="1763712"/>
        </p:xfrm>
        <a:graphic>
          <a:graphicData uri="http://schemas.openxmlformats.org/presentationml/2006/ole">
            <mc:AlternateContent xmlns:mc="http://schemas.openxmlformats.org/markup-compatibility/2006">
              <mc:Choice xmlns:v="urn:schemas-microsoft-com:vml" Requires="v">
                <p:oleObj spid="_x0000_s32941" name="Equation" r:id="rId5" imgW="990600" imgH="685800" progId="Equation.DSMT4">
                  <p:embed/>
                </p:oleObj>
              </mc:Choice>
              <mc:Fallback>
                <p:oleObj name="Equation" r:id="rId5" imgW="990600" imgH="6858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573463"/>
                        <a:ext cx="2325688" cy="176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3" name="Text Box 7"/>
          <p:cNvSpPr txBox="1">
            <a:spLocks noChangeArrowheads="1"/>
          </p:cNvSpPr>
          <p:nvPr/>
        </p:nvSpPr>
        <p:spPr bwMode="auto">
          <a:xfrm>
            <a:off x="539750" y="5445125"/>
            <a:ext cx="820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latin typeface="Times New Roman" panose="02020603050405020304" pitchFamily="18" charset="0"/>
                <a:ea typeface="微软雅黑" panose="020B0503020204020204" pitchFamily="34" charset="-122"/>
              </a:rPr>
              <a:t>令非基变量</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=0</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=0</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基变量</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3</a:t>
            </a:r>
            <a:r>
              <a:rPr lang="en-US" altLang="zh-CN" b="1">
                <a:latin typeface="Times New Roman" panose="02020603050405020304" pitchFamily="18" charset="0"/>
                <a:ea typeface="微软雅黑" panose="020B0503020204020204" pitchFamily="34" charset="-122"/>
              </a:rPr>
              <a:t> =8</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4</a:t>
            </a:r>
            <a:r>
              <a:rPr lang="en-US" altLang="zh-CN" b="1">
                <a:latin typeface="Times New Roman" panose="02020603050405020304" pitchFamily="18" charset="0"/>
                <a:ea typeface="微软雅黑" panose="020B0503020204020204" pitchFamily="34" charset="-122"/>
              </a:rPr>
              <a:t> = 16</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5</a:t>
            </a:r>
            <a:r>
              <a:rPr lang="en-US" altLang="zh-CN" b="1">
                <a:latin typeface="Times New Roman" panose="02020603050405020304" pitchFamily="18" charset="0"/>
                <a:ea typeface="微软雅黑" panose="020B0503020204020204" pitchFamily="34" charset="-122"/>
              </a:rPr>
              <a:t> =12</a:t>
            </a:r>
          </a:p>
        </p:txBody>
      </p:sp>
      <p:sp>
        <p:nvSpPr>
          <p:cNvPr id="132104" name="Text Box 8"/>
          <p:cNvSpPr txBox="1">
            <a:spLocks noChangeArrowheads="1"/>
          </p:cNvSpPr>
          <p:nvPr/>
        </p:nvSpPr>
        <p:spPr bwMode="auto">
          <a:xfrm>
            <a:off x="684213" y="6092825"/>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r>
              <a:rPr lang="en-US" altLang="zh-CN" b="1">
                <a:latin typeface="Times New Roman" panose="02020603050405020304" pitchFamily="18" charset="0"/>
                <a:ea typeface="微软雅黑" panose="020B0503020204020204" pitchFamily="34" charset="-122"/>
              </a:rPr>
              <a:t>=(0, 0, 8, 16, 12)</a:t>
            </a:r>
            <a:r>
              <a:rPr lang="en-US" altLang="zh-CN" b="1" baseline="30000">
                <a:latin typeface="Times New Roman" panose="02020603050405020304" pitchFamily="18" charset="0"/>
                <a:ea typeface="微软雅黑" panose="020B0503020204020204" pitchFamily="34" charset="-122"/>
              </a:rPr>
              <a:t>T</a:t>
            </a:r>
            <a:r>
              <a:rPr lang="zh-CN" altLang="en-US" b="1">
                <a:latin typeface="Times New Roman" panose="02020603050405020304" pitchFamily="18" charset="0"/>
                <a:ea typeface="微软雅黑" panose="020B0503020204020204" pitchFamily="34" charset="-122"/>
              </a:rPr>
              <a:t>为</a:t>
            </a:r>
            <a:r>
              <a:rPr lang="zh-CN" altLang="en-US" b="1">
                <a:solidFill>
                  <a:schemeClr val="hlink"/>
                </a:solidFill>
                <a:latin typeface="Times New Roman" panose="02020603050405020304" pitchFamily="18" charset="0"/>
                <a:ea typeface="微软雅黑" panose="020B0503020204020204" pitchFamily="34" charset="-122"/>
              </a:rPr>
              <a:t>基解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且为</a:t>
            </a:r>
            <a:r>
              <a:rPr lang="zh-CN" altLang="en-US" b="1">
                <a:solidFill>
                  <a:schemeClr val="hlink"/>
                </a:solidFill>
                <a:latin typeface="Times New Roman" panose="02020603050405020304" pitchFamily="18" charset="0"/>
                <a:ea typeface="微软雅黑" panose="020B0503020204020204" pitchFamily="34" charset="-122"/>
              </a:rPr>
              <a:t>基可行解</a:t>
            </a:r>
          </a:p>
        </p:txBody>
      </p:sp>
      <p:graphicFrame>
        <p:nvGraphicFramePr>
          <p:cNvPr id="12297" name="Object 9"/>
          <p:cNvGraphicFramePr>
            <a:graphicFrameLocks noChangeAspect="1"/>
          </p:cNvGraphicFramePr>
          <p:nvPr/>
        </p:nvGraphicFramePr>
        <p:xfrm>
          <a:off x="3708400" y="0"/>
          <a:ext cx="5400675" cy="1628775"/>
        </p:xfrm>
        <a:graphic>
          <a:graphicData uri="http://schemas.openxmlformats.org/presentationml/2006/ole">
            <mc:AlternateContent xmlns:mc="http://schemas.openxmlformats.org/markup-compatibility/2006">
              <mc:Choice xmlns:v="urn:schemas-microsoft-com:vml" Requires="v">
                <p:oleObj spid="_x0000_s32942" name="Equation" r:id="rId7" imgW="2781300" imgH="711200" progId="Equation.3">
                  <p:embed/>
                </p:oleObj>
              </mc:Choice>
              <mc:Fallback>
                <p:oleObj name="Equation" r:id="rId7" imgW="2781300" imgH="711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0"/>
                        <a:ext cx="5400675" cy="1628775"/>
                      </a:xfrm>
                      <a:prstGeom prst="rect">
                        <a:avLst/>
                      </a:prstGeom>
                      <a:solidFill>
                        <a:srgbClr val="66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8" name="对象 1"/>
          <p:cNvGraphicFramePr>
            <a:graphicFrameLocks noChangeAspect="1"/>
          </p:cNvGraphicFramePr>
          <p:nvPr/>
        </p:nvGraphicFramePr>
        <p:xfrm>
          <a:off x="441325" y="114300"/>
          <a:ext cx="2562225" cy="1514475"/>
        </p:xfrm>
        <a:graphic>
          <a:graphicData uri="http://schemas.openxmlformats.org/presentationml/2006/ole">
            <mc:AlternateContent xmlns:mc="http://schemas.openxmlformats.org/markup-compatibility/2006">
              <mc:Choice xmlns:v="urn:schemas-microsoft-com:vml" Requires="v">
                <p:oleObj spid="_x0000_s32943" name="Equation" r:id="rId9" imgW="2626360" imgH="1556385" progId="Equation.DSMT4">
                  <p:embed/>
                </p:oleObj>
              </mc:Choice>
              <mc:Fallback>
                <p:oleObj name="Equation" r:id="rId9" imgW="2626360" imgH="1556385" progId="Equation.DSMT4">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325" y="114300"/>
                        <a:ext cx="25622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灯片编号占位符 2"/>
          <p:cNvSpPr>
            <a:spLocks noGrp="1"/>
          </p:cNvSpPr>
          <p:nvPr>
            <p:ph type="sldNum" sz="quarter" idx="12"/>
          </p:nvPr>
        </p:nvSpPr>
        <p:spPr>
          <a:xfrm>
            <a:off x="7204075"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with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blinds(vertical)">
                                      <p:cBhvr>
                                        <p:cTn id="7" dur="500"/>
                                        <p:tgtEl>
                                          <p:spTgt spid="132100"/>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grpId="0" nodeType="clickEffect">
                                  <p:stCondLst>
                                    <p:cond delay="0"/>
                                  </p:stCondLst>
                                  <p:childTnLst>
                                    <p:set>
                                      <p:cBhvr>
                                        <p:cTn id="14" dur="1" fill="hold">
                                          <p:stCondLst>
                                            <p:cond delay="0"/>
                                          </p:stCondLst>
                                        </p:cTn>
                                        <p:tgtEl>
                                          <p:spTgt spid="132101"/>
                                        </p:tgtEl>
                                        <p:attrNameLst>
                                          <p:attrName>style.visibility</p:attrName>
                                        </p:attrNameLst>
                                      </p:cBhvr>
                                      <p:to>
                                        <p:strVal val="visible"/>
                                      </p:to>
                                    </p:set>
                                    <p:animEffect transition="in" filter="blinds(vertical)">
                                      <p:cBhvr>
                                        <p:cTn id="15" dur="500"/>
                                        <p:tgtEl>
                                          <p:spTgt spid="13210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2102"/>
                                        </p:tgtEl>
                                        <p:attrNameLst>
                                          <p:attrName>style.visibility</p:attrName>
                                        </p:attrNameLst>
                                      </p:cBhvr>
                                      <p:to>
                                        <p:strVal val="visible"/>
                                      </p:to>
                                    </p:set>
                                    <p:animEffect transition="in" filter="blinds(horizontal)">
                                      <p:cBhvr>
                                        <p:cTn id="20" dur="500"/>
                                        <p:tgtEl>
                                          <p:spTgt spid="13210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132103"/>
                                        </p:tgtEl>
                                        <p:attrNameLst>
                                          <p:attrName>style.visibility</p:attrName>
                                        </p:attrNameLst>
                                      </p:cBhvr>
                                      <p:to>
                                        <p:strVal val="visible"/>
                                      </p:to>
                                    </p:set>
                                    <p:animEffect transition="in" filter="blinds(vertical)">
                                      <p:cBhvr>
                                        <p:cTn id="25" dur="500"/>
                                        <p:tgtEl>
                                          <p:spTgt spid="13210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32104"/>
                                        </p:tgtEl>
                                        <p:attrNameLst>
                                          <p:attrName>style.visibility</p:attrName>
                                        </p:attrNameLst>
                                      </p:cBhvr>
                                      <p:to>
                                        <p:strVal val="visible"/>
                                      </p:to>
                                    </p:set>
                                    <p:animEffect transition="in" filter="blinds(vertical)">
                                      <p:cBhvr>
                                        <p:cTn id="30" dur="500"/>
                                        <p:tgtEl>
                                          <p:spTgt spid="132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autoUpdateAnimBg="0"/>
      <p:bldP spid="132101" grpId="0" autoUpdateAnimBg="0"/>
      <p:bldP spid="132103" grpId="0" autoUpdateAnimBg="0"/>
      <p:bldP spid="132104"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3"/>
          <p:cNvSpPr>
            <a:spLocks noChangeArrowheads="1"/>
          </p:cNvSpPr>
          <p:nvPr/>
        </p:nvSpPr>
        <p:spPr bwMode="auto">
          <a:xfrm>
            <a:off x="-1450975" y="3606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3315" name="对象 19"/>
          <p:cNvGraphicFramePr>
            <a:graphicFrameLocks noChangeAspect="1"/>
          </p:cNvGraphicFramePr>
          <p:nvPr/>
        </p:nvGraphicFramePr>
        <p:xfrm>
          <a:off x="2387600" y="268288"/>
          <a:ext cx="2578100" cy="2052637"/>
        </p:xfrm>
        <a:graphic>
          <a:graphicData uri="http://schemas.openxmlformats.org/presentationml/2006/ole">
            <mc:AlternateContent xmlns:mc="http://schemas.openxmlformats.org/markup-compatibility/2006">
              <mc:Choice xmlns:v="urn:schemas-microsoft-com:vml" Requires="v">
                <p:oleObj spid="_x0000_s34048" name="Equation" r:id="rId3" imgW="1498600" imgH="1193800" progId="Equation.DSMT4">
                  <p:embed/>
                </p:oleObj>
              </mc:Choice>
              <mc:Fallback>
                <p:oleObj name="Equation" r:id="rId3" imgW="1498600" imgH="1193800" progId="Equation.DSMT4">
                  <p:embed/>
                  <p:pic>
                    <p:nvPicPr>
                      <p:cNvPr id="0" name="对象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600" y="268288"/>
                        <a:ext cx="2578100"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2897188" y="2573338"/>
          <a:ext cx="2578100" cy="1179512"/>
        </p:xfrm>
        <a:graphic>
          <a:graphicData uri="http://schemas.openxmlformats.org/presentationml/2006/ole">
            <mc:AlternateContent xmlns:mc="http://schemas.openxmlformats.org/markup-compatibility/2006">
              <mc:Choice xmlns:v="urn:schemas-microsoft-com:vml" Requires="v">
                <p:oleObj spid="_x0000_s34049" name="Equation" r:id="rId5" imgW="1562100" imgH="711200" progId="Equation.DSMT4">
                  <p:embed/>
                </p:oleObj>
              </mc:Choice>
              <mc:Fallback>
                <p:oleObj name="Equation" r:id="rId5" imgW="1562100" imgH="711200" progId="Equation.DSMT4">
                  <p:embed/>
                  <p:pic>
                    <p:nvPicPr>
                      <p:cNvPr id="0" name="对象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7188" y="2573338"/>
                        <a:ext cx="2578100"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2674938" y="4037013"/>
          <a:ext cx="1635125" cy="1179512"/>
        </p:xfrm>
        <a:graphic>
          <a:graphicData uri="http://schemas.openxmlformats.org/presentationml/2006/ole">
            <mc:AlternateContent xmlns:mc="http://schemas.openxmlformats.org/markup-compatibility/2006">
              <mc:Choice xmlns:v="urn:schemas-microsoft-com:vml" Requires="v">
                <p:oleObj spid="_x0000_s34050" name="Equation" r:id="rId7" imgW="989965" imgH="711200" progId="Equation.DSMT4">
                  <p:embed/>
                </p:oleObj>
              </mc:Choice>
              <mc:Fallback>
                <p:oleObj name="Equation" r:id="rId7" imgW="989965" imgH="711200" progId="Equation.DSMT4">
                  <p:embed/>
                  <p:pic>
                    <p:nvPicPr>
                      <p:cNvPr id="0" name="对象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4938" y="4037013"/>
                        <a:ext cx="1635125"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4797425" y="4003675"/>
          <a:ext cx="1808163" cy="1179513"/>
        </p:xfrm>
        <a:graphic>
          <a:graphicData uri="http://schemas.openxmlformats.org/presentationml/2006/ole">
            <mc:AlternateContent xmlns:mc="http://schemas.openxmlformats.org/markup-compatibility/2006">
              <mc:Choice xmlns:v="urn:schemas-microsoft-com:vml" Requires="v">
                <p:oleObj spid="_x0000_s34051" name="Equation" r:id="rId9" imgW="1091565" imgH="711200" progId="Equation.DSMT4">
                  <p:embed/>
                </p:oleObj>
              </mc:Choice>
              <mc:Fallback>
                <p:oleObj name="Equation" r:id="rId9" imgW="1091565" imgH="711200" progId="Equation.DSMT4">
                  <p:embed/>
                  <p:pic>
                    <p:nvPicPr>
                      <p:cNvPr id="0" name="对象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97425" y="4003675"/>
                        <a:ext cx="1808163"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2735263" y="5600700"/>
          <a:ext cx="2019300" cy="420688"/>
        </p:xfrm>
        <a:graphic>
          <a:graphicData uri="http://schemas.openxmlformats.org/presentationml/2006/ole">
            <mc:AlternateContent xmlns:mc="http://schemas.openxmlformats.org/markup-compatibility/2006">
              <mc:Choice xmlns:v="urn:schemas-microsoft-com:vml" Requires="v">
                <p:oleObj spid="_x0000_s34052" name="Equation" r:id="rId11" imgW="1091565" imgH="228600" progId="Equation.DSMT4">
                  <p:embed/>
                </p:oleObj>
              </mc:Choice>
              <mc:Fallback>
                <p:oleObj name="Equation" r:id="rId11" imgW="1091565" imgH="228600" progId="Equation.DSMT4">
                  <p:embed/>
                  <p:pic>
                    <p:nvPicPr>
                      <p:cNvPr id="0" name="对象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5263" y="5600700"/>
                        <a:ext cx="20193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24"/>
          <p:cNvGraphicFramePr>
            <a:graphicFrameLocks noChangeAspect="1"/>
          </p:cNvGraphicFramePr>
          <p:nvPr/>
        </p:nvGraphicFramePr>
        <p:xfrm>
          <a:off x="5160963" y="5600700"/>
          <a:ext cx="2176462" cy="420688"/>
        </p:xfrm>
        <a:graphic>
          <a:graphicData uri="http://schemas.openxmlformats.org/presentationml/2006/ole">
            <mc:AlternateContent xmlns:mc="http://schemas.openxmlformats.org/markup-compatibility/2006">
              <mc:Choice xmlns:v="urn:schemas-microsoft-com:vml" Requires="v">
                <p:oleObj spid="_x0000_s34053" name="Equation" r:id="rId13" imgW="1181100" imgH="228600" progId="Equation.DSMT4">
                  <p:embed/>
                </p:oleObj>
              </mc:Choice>
              <mc:Fallback>
                <p:oleObj name="Equation" r:id="rId13" imgW="1181100" imgH="228600" progId="Equation.DSMT4">
                  <p:embed/>
                  <p:pic>
                    <p:nvPicPr>
                      <p:cNvPr id="0" name="对象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60963" y="5600700"/>
                        <a:ext cx="21764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1" name="Rectangle 27"/>
          <p:cNvSpPr>
            <a:spLocks noChangeArrowheads="1"/>
          </p:cNvSpPr>
          <p:nvPr/>
        </p:nvSpPr>
        <p:spPr bwMode="auto">
          <a:xfrm>
            <a:off x="61913" y="98425"/>
            <a:ext cx="21177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a:t>
            </a:r>
            <a:r>
              <a:rPr lang="zh-CN" altLang="zh-CN" b="1">
                <a:latin typeface="微软雅黑" panose="020B0503020204020204" pitchFamily="34" charset="-122"/>
                <a:ea typeface="微软雅黑" panose="020B0503020204020204" pitchFamily="34" charset="-122"/>
                <a:cs typeface="Times New Roman" panose="02020603050405020304" pitchFamily="18" charset="0"/>
              </a:rPr>
              <a:t> 考虑问题：</a:t>
            </a:r>
            <a:endParaRPr lang="zh-CN" altLang="zh-CN">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Rectangle 28"/>
          <p:cNvSpPr>
            <a:spLocks noChangeArrowheads="1"/>
          </p:cNvSpPr>
          <p:nvPr/>
        </p:nvSpPr>
        <p:spPr bwMode="auto">
          <a:xfrm>
            <a:off x="1095375" y="2736850"/>
            <a:ext cx="14160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a:latin typeface="微软雅黑" panose="020B0503020204020204" pitchFamily="34" charset="-122"/>
                <a:ea typeface="微软雅黑" panose="020B0503020204020204" pitchFamily="34" charset="-122"/>
                <a:cs typeface="Times New Roman" panose="02020603050405020304" pitchFamily="18" charset="0"/>
              </a:rPr>
              <a:t>系数矩阵</a:t>
            </a:r>
          </a:p>
        </p:txBody>
      </p:sp>
      <p:sp>
        <p:nvSpPr>
          <p:cNvPr id="28" name="Rectangle 29"/>
          <p:cNvSpPr>
            <a:spLocks noChangeArrowheads="1"/>
          </p:cNvSpPr>
          <p:nvPr/>
        </p:nvSpPr>
        <p:spPr bwMode="auto">
          <a:xfrm>
            <a:off x="1095375" y="4229100"/>
            <a:ext cx="11080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a:latin typeface="微软雅黑" panose="020B0503020204020204" pitchFamily="34" charset="-122"/>
                <a:ea typeface="微软雅黑" panose="020B0503020204020204" pitchFamily="34" charset="-122"/>
                <a:cs typeface="Times New Roman" panose="02020603050405020304" pitchFamily="18" charset="0"/>
              </a:rPr>
              <a:t>基阵为</a:t>
            </a:r>
          </a:p>
        </p:txBody>
      </p:sp>
      <p:sp>
        <p:nvSpPr>
          <p:cNvPr id="30" name="Rectangle 31"/>
          <p:cNvSpPr>
            <a:spLocks noChangeArrowheads="1"/>
          </p:cNvSpPr>
          <p:nvPr/>
        </p:nvSpPr>
        <p:spPr bwMode="auto">
          <a:xfrm>
            <a:off x="193675" y="5580063"/>
            <a:ext cx="27384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a:latin typeface="微软雅黑" panose="020B0503020204020204" pitchFamily="34" charset="-122"/>
                <a:ea typeface="微软雅黑" panose="020B0503020204020204" pitchFamily="34" charset="-122"/>
                <a:cs typeface="Times New Roman" panose="02020603050405020304" pitchFamily="18" charset="0"/>
              </a:rPr>
              <a:t>对应的基解分别为 </a:t>
            </a:r>
          </a:p>
        </p:txBody>
      </p:sp>
      <p:sp>
        <p:nvSpPr>
          <p:cNvPr id="34" name="Rectangle 29"/>
          <p:cNvSpPr>
            <a:spLocks noChangeArrowheads="1"/>
          </p:cNvSpPr>
          <p:nvPr/>
        </p:nvSpPr>
        <p:spPr bwMode="auto">
          <a:xfrm>
            <a:off x="4719638" y="5580063"/>
            <a:ext cx="4921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cs typeface="Times New Roman" panose="02020603050405020304" pitchFamily="18" charset="0"/>
              </a:rPr>
              <a:t>和</a:t>
            </a:r>
            <a:endParaRPr lang="zh-CN" altLang="zh-CN"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a:spLocks noChangeArrowheads="1"/>
          </p:cNvSpPr>
          <p:nvPr/>
        </p:nvSpPr>
        <p:spPr bwMode="auto">
          <a:xfrm>
            <a:off x="2051050" y="6175375"/>
            <a:ext cx="5189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其中 </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为基可行解</a:t>
            </a:r>
            <a:r>
              <a:rPr lang="zh-CN" altLang="en-US" b="1" dirty="0">
                <a:latin typeface="宋体" panose="02010600030101010101" pitchFamily="2" charset="-122"/>
                <a:cs typeface="Times New Roman" panose="02020603050405020304" pitchFamily="18" charset="0"/>
              </a:rPr>
              <a:t>，</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不是基可行解</a:t>
            </a:r>
            <a:endParaRPr lang="zh-CN" altLang="en-US" dirty="0">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a:xfrm>
            <a:off x="7239000" y="6420156"/>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66</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4" grpId="0"/>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8"/>
          <p:cNvGrpSpPr/>
          <p:nvPr/>
        </p:nvGrpSpPr>
        <p:grpSpPr bwMode="auto">
          <a:xfrm>
            <a:off x="914400" y="1901825"/>
            <a:ext cx="7315200" cy="2103438"/>
            <a:chOff x="295" y="1198"/>
            <a:chExt cx="4608" cy="1325"/>
          </a:xfrm>
        </p:grpSpPr>
        <p:sp>
          <p:nvSpPr>
            <p:cNvPr id="137221" name="Text Box 5"/>
            <p:cNvSpPr txBox="1">
              <a:spLocks noChangeArrowheads="1"/>
            </p:cNvSpPr>
            <p:nvPr/>
          </p:nvSpPr>
          <p:spPr bwMode="auto">
            <a:xfrm>
              <a:off x="295" y="1198"/>
              <a:ext cx="4608" cy="1325"/>
            </a:xfrm>
            <a:prstGeom prst="rect">
              <a:avLst/>
            </a:prstGeom>
            <a:solidFill>
              <a:srgbClr val="CDE202"/>
            </a:solidFill>
            <a:ln w="9525">
              <a:noFill/>
              <a:miter lim="800000"/>
            </a:ln>
            <a:effectLst/>
          </p:spPr>
          <p:txBody>
            <a:bodyPr>
              <a:spAutoFit/>
            </a:bodyPr>
            <a:lstStyle/>
            <a:p>
              <a:pPr eaLnBrk="1" hangingPunct="1">
                <a:spcBef>
                  <a:spcPct val="50000"/>
                </a:spcBef>
                <a:defRPr/>
              </a:pPr>
              <a:r>
                <a:rPr lang="zh-CN" altLang="en-US" sz="3600"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endParaRPr lang="en-US" altLang="zh-CN" sz="4400" b="1" dirty="0">
                <a:effectLst>
                  <a:outerShdw blurRad="38100" dist="38100" dir="2700000" algn="tl">
                    <a:srgbClr val="FFFFFF"/>
                  </a:outerShdw>
                </a:effectLst>
                <a:latin typeface="Times New Roman" panose="02020603050405020304" pitchFamily="18" charset="0"/>
                <a:ea typeface="微软雅黑" panose="020B0503020204020204" pitchFamily="34" charset="-122"/>
              </a:endParaRPr>
            </a:p>
            <a:p>
              <a:pPr eaLnBrk="1" hangingPunct="1">
                <a:spcBef>
                  <a:spcPct val="50000"/>
                </a:spcBef>
                <a:defRPr/>
              </a:pPr>
              <a:r>
                <a:rPr lang="en-US" altLang="zh-CN" sz="3200"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sz="3200"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sz="3200"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sz="3200"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sz="3200"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p>
            <a:p>
              <a:pPr eaLnBrk="1" hangingPunct="1">
                <a:spcBef>
                  <a:spcPct val="50000"/>
                </a:spcBef>
                <a:defRPr/>
              </a:pP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                                             …………</a:t>
              </a:r>
            </a:p>
            <a:p>
              <a:pPr eaLnBrk="1" hangingPunct="1">
                <a:spcBef>
                  <a:spcPct val="50000"/>
                </a:spcBef>
                <a:defRPr/>
              </a:pP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mm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m</a:t>
              </a:r>
              <a:endPar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endParaRPr>
            </a:p>
          </p:txBody>
        </p:sp>
        <p:sp>
          <p:nvSpPr>
            <p:cNvPr id="14359" name="AutoShape 16"/>
            <p:cNvSpPr/>
            <p:nvPr/>
          </p:nvSpPr>
          <p:spPr bwMode="auto">
            <a:xfrm>
              <a:off x="768" y="1323"/>
              <a:ext cx="48" cy="1200"/>
            </a:xfrm>
            <a:prstGeom prst="leftBracket">
              <a:avLst>
                <a:gd name="adj" fmla="val 208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60" name="AutoShape 17"/>
            <p:cNvSpPr/>
            <p:nvPr/>
          </p:nvSpPr>
          <p:spPr bwMode="auto">
            <a:xfrm>
              <a:off x="2352" y="1323"/>
              <a:ext cx="48" cy="1200"/>
            </a:xfrm>
            <a:prstGeom prst="rightBracket">
              <a:avLst>
                <a:gd name="adj" fmla="val 208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61" name="AutoShape 18"/>
            <p:cNvSpPr/>
            <p:nvPr/>
          </p:nvSpPr>
          <p:spPr bwMode="auto">
            <a:xfrm>
              <a:off x="3696" y="1269"/>
              <a:ext cx="48" cy="1200"/>
            </a:xfrm>
            <a:prstGeom prst="leftBracket">
              <a:avLst>
                <a:gd name="adj" fmla="val 208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62" name="AutoShape 19"/>
            <p:cNvSpPr/>
            <p:nvPr/>
          </p:nvSpPr>
          <p:spPr bwMode="auto">
            <a:xfrm>
              <a:off x="4128" y="1275"/>
              <a:ext cx="48" cy="1200"/>
            </a:xfrm>
            <a:prstGeom prst="rightBracket">
              <a:avLst>
                <a:gd name="adj" fmla="val 208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grpSp>
      <p:grpSp>
        <p:nvGrpSpPr>
          <p:cNvPr id="5" name="Group 39"/>
          <p:cNvGrpSpPr/>
          <p:nvPr/>
        </p:nvGrpSpPr>
        <p:grpSpPr bwMode="auto">
          <a:xfrm>
            <a:off x="0" y="4030663"/>
            <a:ext cx="9144000" cy="1938337"/>
            <a:chOff x="0" y="2539"/>
            <a:chExt cx="5760" cy="1221"/>
          </a:xfrm>
        </p:grpSpPr>
        <p:sp>
          <p:nvSpPr>
            <p:cNvPr id="137236" name="Text Box 20"/>
            <p:cNvSpPr txBox="1">
              <a:spLocks noChangeArrowheads="1"/>
            </p:cNvSpPr>
            <p:nvPr/>
          </p:nvSpPr>
          <p:spPr bwMode="auto">
            <a:xfrm>
              <a:off x="0" y="2539"/>
              <a:ext cx="5760" cy="1221"/>
            </a:xfrm>
            <a:prstGeom prst="rect">
              <a:avLst/>
            </a:prstGeom>
            <a:solidFill>
              <a:srgbClr val="66FFFF"/>
            </a:solidFill>
            <a:ln w="9525">
              <a:noFill/>
              <a:miter lim="800000"/>
            </a:ln>
            <a:effectLst/>
          </p:spPr>
          <p:txBody>
            <a:bodyPr>
              <a:spAutoFit/>
            </a:bodyPr>
            <a:lstStyle/>
            <a:p>
              <a:pPr eaLnBrk="1" hangingPunct="1">
                <a:spcBef>
                  <a:spcPct val="50000"/>
                </a:spcBef>
                <a:defRPr/>
              </a:pPr>
              <a:r>
                <a:rPr lang="zh-CN" altLang="en-US" sz="3600"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n</a:t>
              </a:r>
              <a:endParaRPr lang="en-US" altLang="zh-CN" sz="4400" b="1" i="1" dirty="0">
                <a:effectLst>
                  <a:outerShdw blurRad="38100" dist="38100" dir="2700000" algn="tl">
                    <a:srgbClr val="FFFFFF"/>
                  </a:outerShdw>
                </a:effectLst>
                <a:latin typeface="Times New Roman" panose="02020603050405020304" pitchFamily="18" charset="0"/>
                <a:ea typeface="微软雅黑" panose="020B0503020204020204" pitchFamily="34" charset="-122"/>
              </a:endParaRPr>
            </a:p>
            <a:p>
              <a:pPr eaLnBrk="1" hangingPunct="1">
                <a:spcBef>
                  <a:spcPct val="50000"/>
                </a:spcBef>
                <a:defRPr/>
              </a:pP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x</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x</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 ….+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x</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x</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n</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x</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n</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endPar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endParaRPr>
            </a:p>
            <a:p>
              <a:pPr eaLnBrk="1" hangingPunct="1">
                <a:spcBef>
                  <a:spcPct val="50000"/>
                </a:spcBef>
                <a:defRPr/>
              </a:pP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                ……                              ……                  ……             ……                                    ……</a:t>
              </a:r>
            </a:p>
            <a:p>
              <a:pPr eaLnBrk="1" hangingPunct="1">
                <a:spcBef>
                  <a:spcPct val="50000"/>
                </a:spcBef>
                <a:defRPr/>
              </a:pP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2</a:t>
              </a:r>
              <a:r>
                <a:rPr lang="en-US" altLang="zh-CN" b="1"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mm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b</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mm</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+1                               </a:t>
              </a:r>
              <a:r>
                <a:rPr lang="en-US" altLang="zh-CN" b="1" i="1"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a</a:t>
              </a:r>
              <a:r>
                <a:rPr lang="en-US" altLang="zh-CN" b="1" i="1" baseline="-25000" dirty="0" err="1">
                  <a:effectLst>
                    <a:outerShdw blurRad="38100" dist="38100" dir="2700000" algn="tl">
                      <a:srgbClr val="FFFFFF"/>
                    </a:outerShdw>
                  </a:effectLst>
                  <a:latin typeface="Times New Roman" panose="02020603050405020304" pitchFamily="18" charset="0"/>
                  <a:ea typeface="微软雅黑" panose="020B0503020204020204" pitchFamily="34" charset="-122"/>
                </a:rPr>
                <a:t>mn</a:t>
              </a:r>
              <a:r>
                <a:rPr lang="en-US" altLang="zh-CN" b="1" baseline="-25000" dirty="0">
                  <a:effectLst>
                    <a:outerShdw blurRad="38100" dist="38100" dir="2700000" algn="tl">
                      <a:srgbClr val="FFFFFF"/>
                    </a:outerShdw>
                  </a:effectLst>
                  <a:latin typeface="Times New Roman" panose="02020603050405020304" pitchFamily="18" charset="0"/>
                  <a:ea typeface="微软雅黑" panose="020B0503020204020204" pitchFamily="34" charset="-122"/>
                </a:rPr>
                <a:t> </a:t>
              </a:r>
            </a:p>
          </p:txBody>
        </p:sp>
        <p:sp>
          <p:nvSpPr>
            <p:cNvPr id="14346" name="AutoShape 21"/>
            <p:cNvSpPr/>
            <p:nvPr/>
          </p:nvSpPr>
          <p:spPr bwMode="auto">
            <a:xfrm>
              <a:off x="96" y="2692"/>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47" name="AutoShape 22"/>
            <p:cNvSpPr/>
            <p:nvPr/>
          </p:nvSpPr>
          <p:spPr bwMode="auto">
            <a:xfrm>
              <a:off x="480" y="2692"/>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48" name="AutoShape 23"/>
            <p:cNvSpPr/>
            <p:nvPr/>
          </p:nvSpPr>
          <p:spPr bwMode="auto">
            <a:xfrm>
              <a:off x="912" y="2692"/>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49" name="AutoShape 24"/>
            <p:cNvSpPr/>
            <p:nvPr/>
          </p:nvSpPr>
          <p:spPr bwMode="auto">
            <a:xfrm>
              <a:off x="1248" y="2692"/>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0" name="AutoShape 25"/>
            <p:cNvSpPr/>
            <p:nvPr/>
          </p:nvSpPr>
          <p:spPr bwMode="auto">
            <a:xfrm>
              <a:off x="2976" y="2596"/>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1" name="AutoShape 26"/>
            <p:cNvSpPr/>
            <p:nvPr/>
          </p:nvSpPr>
          <p:spPr bwMode="auto">
            <a:xfrm>
              <a:off x="3264" y="2596"/>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2" name="AutoShape 27"/>
            <p:cNvSpPr/>
            <p:nvPr/>
          </p:nvSpPr>
          <p:spPr bwMode="auto">
            <a:xfrm>
              <a:off x="2562" y="2614"/>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3" name="AutoShape 28"/>
            <p:cNvSpPr/>
            <p:nvPr/>
          </p:nvSpPr>
          <p:spPr bwMode="auto">
            <a:xfrm>
              <a:off x="2112" y="2644"/>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4" name="AutoShape 29"/>
            <p:cNvSpPr/>
            <p:nvPr/>
          </p:nvSpPr>
          <p:spPr bwMode="auto">
            <a:xfrm>
              <a:off x="4992" y="2644"/>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5" name="AutoShape 30"/>
            <p:cNvSpPr/>
            <p:nvPr/>
          </p:nvSpPr>
          <p:spPr bwMode="auto">
            <a:xfrm>
              <a:off x="3552" y="2644"/>
              <a:ext cx="48" cy="1056"/>
            </a:xfrm>
            <a:prstGeom prst="lef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6" name="AutoShape 31"/>
            <p:cNvSpPr/>
            <p:nvPr/>
          </p:nvSpPr>
          <p:spPr bwMode="auto">
            <a:xfrm>
              <a:off x="5417" y="2646"/>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357" name="AutoShape 32"/>
            <p:cNvSpPr/>
            <p:nvPr/>
          </p:nvSpPr>
          <p:spPr bwMode="auto">
            <a:xfrm>
              <a:off x="4105" y="2614"/>
              <a:ext cx="48" cy="1056"/>
            </a:xfrm>
            <a:prstGeom prst="rightBracket">
              <a:avLst>
                <a:gd name="adj" fmla="val 1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grpSp>
      <p:sp>
        <p:nvSpPr>
          <p:cNvPr id="137249" name="Text Box 33"/>
          <p:cNvSpPr txBox="1">
            <a:spLocks noChangeArrowheads="1"/>
          </p:cNvSpPr>
          <p:nvPr/>
        </p:nvSpPr>
        <p:spPr bwMode="auto">
          <a:xfrm>
            <a:off x="609600" y="6165850"/>
            <a:ext cx="8534400" cy="457200"/>
          </a:xfrm>
          <a:prstGeom prst="rect">
            <a:avLst/>
          </a:prstGeom>
          <a:noFill/>
          <a:ln w="9525">
            <a:noFill/>
            <a:miter lim="800000"/>
          </a:ln>
          <a:effectLst/>
        </p:spPr>
        <p:txBody>
          <a:bodyPr>
            <a:spAutoFit/>
          </a:bodyPr>
          <a:lstStyle/>
          <a:p>
            <a:pPr eaLnBrk="1" hangingPunct="1">
              <a:spcBef>
                <a:spcPct val="50000"/>
              </a:spcBef>
              <a:defRPr/>
            </a:pP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或</a:t>
            </a:r>
          </a:p>
        </p:txBody>
      </p:sp>
      <p:graphicFrame>
        <p:nvGraphicFramePr>
          <p:cNvPr id="137250" name="Object 34"/>
          <p:cNvGraphicFramePr>
            <a:graphicFrameLocks noChangeAspect="1"/>
          </p:cNvGraphicFramePr>
          <p:nvPr/>
        </p:nvGraphicFramePr>
        <p:xfrm>
          <a:off x="3203575" y="5964236"/>
          <a:ext cx="2736850" cy="893763"/>
        </p:xfrm>
        <a:graphic>
          <a:graphicData uri="http://schemas.openxmlformats.org/presentationml/2006/ole">
            <mc:AlternateContent xmlns:mc="http://schemas.openxmlformats.org/markup-compatibility/2006">
              <mc:Choice xmlns:v="urn:schemas-microsoft-com:vml" Requires="v">
                <p:oleObj spid="_x0000_s34906" name="Equation" r:id="rId3" imgW="1333500" imgH="444500" progId="Equation.DSMT4">
                  <p:embed/>
                </p:oleObj>
              </mc:Choice>
              <mc:Fallback>
                <p:oleObj name="Equation" r:id="rId3" imgW="1333500" imgH="444500" progId="Equation.DSMT4">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5964236"/>
                        <a:ext cx="2736850" cy="893763"/>
                      </a:xfrm>
                      <a:prstGeom prst="rect">
                        <a:avLst/>
                      </a:prstGeom>
                      <a:solidFill>
                        <a:srgbClr val="05FB0B"/>
                      </a:solidFill>
                      <a:ln>
                        <a:noFill/>
                      </a:ln>
                      <a:effectLst/>
                    </p:spPr>
                  </p:pic>
                </p:oleObj>
              </mc:Fallback>
            </mc:AlternateContent>
          </a:graphicData>
        </a:graphic>
      </p:graphicFrame>
      <p:sp>
        <p:nvSpPr>
          <p:cNvPr id="14342" name="矩形 1"/>
          <p:cNvSpPr>
            <a:spLocks noChangeArrowheads="1"/>
          </p:cNvSpPr>
          <p:nvPr/>
        </p:nvSpPr>
        <p:spPr bwMode="auto">
          <a:xfrm>
            <a:off x="0" y="20478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对应于</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基可行解</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的基</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称为</a:t>
            </a:r>
            <a:r>
              <a:rPr kumimoji="0" lang="zh-CN" altLang="en-US" b="1" dirty="0">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rPr>
              <a:t>可行基</a:t>
            </a:r>
            <a:r>
              <a:rPr kumimoji="0"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3" name="Rectangle 5"/>
          <p:cNvSpPr txBox="1">
            <a:spLocks noChangeArrowheads="1"/>
          </p:cNvSpPr>
          <p:nvPr/>
        </p:nvSpPr>
        <p:spPr bwMode="auto">
          <a:xfrm>
            <a:off x="0" y="747713"/>
            <a:ext cx="87487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10000"/>
              </a:lnSpc>
              <a:spcBef>
                <a:spcPts val="600"/>
              </a:spcBef>
              <a:buClr>
                <a:schemeClr val="accent1"/>
              </a:buClr>
              <a:buSzPct val="70000"/>
              <a:buFont typeface="Wingdings" panose="05000000000000000000" pitchFamily="2" charset="2"/>
              <a:buChar cha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约束方程组</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(2-10)</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具有基解的数目最多是</a:t>
            </a:r>
            <a:r>
              <a:rPr kumimoji="0"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C</a:t>
            </a:r>
            <a:r>
              <a:rPr kumimoji="0" lang="en-US" altLang="zh-CN" b="1" i="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b="1" i="1" baseline="30000" dirty="0" err="1">
                <a:latin typeface="Times New Roman" panose="02020603050405020304" pitchFamily="18" charset="0"/>
                <a:ea typeface="微软雅黑" panose="020B0503020204020204" pitchFamily="34" charset="-122"/>
                <a:cs typeface="Times New Roman" panose="02020603050405020304" pitchFamily="18" charset="0"/>
              </a:rPr>
              <a:t>m</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个</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10000"/>
              </a:lnSpc>
              <a:spcBef>
                <a:spcPts val="600"/>
              </a:spcBef>
              <a:buClr>
                <a:schemeClr val="accent1"/>
              </a:buClr>
              <a:buSzPct val="70000"/>
              <a:buFont typeface="Wingdings" panose="05000000000000000000" pitchFamily="2" charset="2"/>
              <a:buChar cha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一般基可行解的数目要小于基解的数目</a:t>
            </a:r>
          </a:p>
        </p:txBody>
      </p:sp>
      <p:graphicFrame>
        <p:nvGraphicFramePr>
          <p:cNvPr id="27" name="Object 2"/>
          <p:cNvGraphicFramePr>
            <a:graphicFrameLocks noChangeAspect="1"/>
          </p:cNvGraphicFramePr>
          <p:nvPr/>
        </p:nvGraphicFramePr>
        <p:xfrm>
          <a:off x="1320825" y="3500438"/>
          <a:ext cx="6059487" cy="2578100"/>
        </p:xfrm>
        <a:graphic>
          <a:graphicData uri="http://schemas.openxmlformats.org/presentationml/2006/ole">
            <mc:AlternateContent xmlns:mc="http://schemas.openxmlformats.org/markup-compatibility/2006">
              <mc:Choice xmlns:v="urn:schemas-microsoft-com:vml" Requires="v">
                <p:oleObj spid="_x0000_s34907" name="Equation" r:id="rId5" imgW="2489200" imgH="1193800" progId="Equation.DSMT4">
                  <p:embed/>
                </p:oleObj>
              </mc:Choice>
              <mc:Fallback>
                <p:oleObj name="Equation" r:id="rId5" imgW="2489200" imgH="11938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0825" y="3500438"/>
                        <a:ext cx="6059487" cy="257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a:xfrm>
            <a:off x="7239000" y="639445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67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horizont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37250"/>
                                        </p:tgtEl>
                                        <p:attrNameLst>
                                          <p:attrName>style.visibility</p:attrName>
                                        </p:attrNameLst>
                                      </p:cBhvr>
                                      <p:to>
                                        <p:strVal val="visible"/>
                                      </p:to>
                                    </p:set>
                                    <p:animEffect transition="in" filter="blinds(horizontal)">
                                      <p:cBhvr>
                                        <p:cTn id="31" dur="500"/>
                                        <p:tgtEl>
                                          <p:spTgt spid="137250"/>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37249"/>
                                        </p:tgtEl>
                                        <p:attrNameLst>
                                          <p:attrName>style.visibility</p:attrName>
                                        </p:attrNameLst>
                                      </p:cBhvr>
                                      <p:to>
                                        <p:strVal val="visible"/>
                                      </p:to>
                                    </p:set>
                                    <p:animEffect transition="in" filter="blinds(horizontal)">
                                      <p:cBhvr>
                                        <p:cTn id="34" dur="500"/>
                                        <p:tgtEl>
                                          <p:spTgt spid="137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4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62"/>
          <p:cNvSpPr>
            <a:spLocks noChangeArrowheads="1"/>
          </p:cNvSpPr>
          <p:nvPr/>
        </p:nvSpPr>
        <p:spPr bwMode="auto">
          <a:xfrm>
            <a:off x="0" y="2347913"/>
            <a:ext cx="9144000" cy="519112"/>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5363" name="矩形 45"/>
          <p:cNvSpPr>
            <a:spLocks noChangeArrowheads="1"/>
          </p:cNvSpPr>
          <p:nvPr/>
        </p:nvSpPr>
        <p:spPr bwMode="auto">
          <a:xfrm>
            <a:off x="0" y="12700"/>
            <a:ext cx="9144000" cy="23542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5364" name="对象 30"/>
          <p:cNvGraphicFramePr>
            <a:graphicFrameLocks noChangeAspect="1"/>
          </p:cNvGraphicFramePr>
          <p:nvPr/>
        </p:nvGraphicFramePr>
        <p:xfrm>
          <a:off x="2596573" y="40479"/>
          <a:ext cx="1408113" cy="395287"/>
        </p:xfrm>
        <a:graphic>
          <a:graphicData uri="http://schemas.openxmlformats.org/presentationml/2006/ole">
            <mc:AlternateContent xmlns:mc="http://schemas.openxmlformats.org/markup-compatibility/2006">
              <mc:Choice xmlns:v="urn:schemas-microsoft-com:vml" Requires="v">
                <p:oleObj spid="_x0000_s36390" name="Equation" r:id="rId3" imgW="723900" imgH="203200" progId="Equation.DSMT4">
                  <p:embed/>
                </p:oleObj>
              </mc:Choice>
              <mc:Fallback>
                <p:oleObj name="Equation" r:id="rId3" imgW="723900" imgH="203200" progId="Equation.DSMT4">
                  <p:embed/>
                  <p:pic>
                    <p:nvPicPr>
                      <p:cNvPr id="0" name="对象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6573" y="40479"/>
                        <a:ext cx="14081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对象 33"/>
          <p:cNvGraphicFramePr>
            <a:graphicFrameLocks noChangeAspect="1"/>
          </p:cNvGraphicFramePr>
          <p:nvPr/>
        </p:nvGraphicFramePr>
        <p:xfrm>
          <a:off x="4016375" y="7142"/>
          <a:ext cx="1422400" cy="461963"/>
        </p:xfrm>
        <a:graphic>
          <a:graphicData uri="http://schemas.openxmlformats.org/presentationml/2006/ole">
            <mc:AlternateContent xmlns:mc="http://schemas.openxmlformats.org/markup-compatibility/2006">
              <mc:Choice xmlns:v="urn:schemas-microsoft-com:vml" Requires="v">
                <p:oleObj spid="_x0000_s36391" name="Equation" r:id="rId5" imgW="939165" imgH="304800" progId="Equation.DSMT4">
                  <p:embed/>
                </p:oleObj>
              </mc:Choice>
              <mc:Fallback>
                <p:oleObj name="Equation" r:id="rId5" imgW="939165" imgH="304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6375" y="7142"/>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6" name="对象 34"/>
          <p:cNvGraphicFramePr>
            <a:graphicFrameLocks noChangeAspect="1"/>
          </p:cNvGraphicFramePr>
          <p:nvPr/>
        </p:nvGraphicFramePr>
        <p:xfrm>
          <a:off x="1247775" y="611188"/>
          <a:ext cx="989013" cy="396875"/>
        </p:xfrm>
        <a:graphic>
          <a:graphicData uri="http://schemas.openxmlformats.org/presentationml/2006/ole">
            <mc:AlternateContent xmlns:mc="http://schemas.openxmlformats.org/markup-compatibility/2006">
              <mc:Choice xmlns:v="urn:schemas-microsoft-com:vml" Requires="v">
                <p:oleObj spid="_x0000_s36392" name="Equation" r:id="rId7" imgW="443865" imgH="177800" progId="Equation.DSMT4">
                  <p:embed/>
                </p:oleObj>
              </mc:Choice>
              <mc:Fallback>
                <p:oleObj name="Equation" r:id="rId7" imgW="443865" imgH="177800" progId="Equation.DSMT4">
                  <p:embed/>
                  <p:pic>
                    <p:nvPicPr>
                      <p:cNvPr id="0" name="对象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7775" y="611188"/>
                        <a:ext cx="98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7" name="对象 35"/>
          <p:cNvGraphicFramePr>
            <a:graphicFrameLocks noChangeAspect="1"/>
          </p:cNvGraphicFramePr>
          <p:nvPr/>
        </p:nvGraphicFramePr>
        <p:xfrm>
          <a:off x="3368675" y="611188"/>
          <a:ext cx="1385888" cy="396875"/>
        </p:xfrm>
        <a:graphic>
          <a:graphicData uri="http://schemas.openxmlformats.org/presentationml/2006/ole">
            <mc:AlternateContent xmlns:mc="http://schemas.openxmlformats.org/markup-compatibility/2006">
              <mc:Choice xmlns:v="urn:schemas-microsoft-com:vml" Requires="v">
                <p:oleObj spid="_x0000_s36393" name="Equation" r:id="rId9" imgW="800100" imgH="228600" progId="Equation.DSMT4">
                  <p:embed/>
                </p:oleObj>
              </mc:Choice>
              <mc:Fallback>
                <p:oleObj name="Equation" r:id="rId9" imgW="800100" imgH="228600" progId="Equation.DSMT4">
                  <p:embed/>
                  <p:pic>
                    <p:nvPicPr>
                      <p:cNvPr id="0" name="对象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675" y="611188"/>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8" name="对象 38"/>
          <p:cNvGraphicFramePr>
            <a:graphicFrameLocks noChangeAspect="1"/>
          </p:cNvGraphicFramePr>
          <p:nvPr/>
        </p:nvGraphicFramePr>
        <p:xfrm>
          <a:off x="3390900" y="1127125"/>
          <a:ext cx="1998663" cy="395288"/>
        </p:xfrm>
        <a:graphic>
          <a:graphicData uri="http://schemas.openxmlformats.org/presentationml/2006/ole">
            <mc:AlternateContent xmlns:mc="http://schemas.openxmlformats.org/markup-compatibility/2006">
              <mc:Choice xmlns:v="urn:schemas-microsoft-com:vml" Requires="v">
                <p:oleObj spid="_x0000_s36394" name="Equation" r:id="rId11" imgW="1218565" imgH="241300" progId="Equation.DSMT4">
                  <p:embed/>
                </p:oleObj>
              </mc:Choice>
              <mc:Fallback>
                <p:oleObj name="Equation" r:id="rId11" imgW="1218565" imgH="241300" progId="Equation.DSMT4">
                  <p:embed/>
                  <p:pic>
                    <p:nvPicPr>
                      <p:cNvPr id="0" name="对象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0900" y="1127125"/>
                        <a:ext cx="1998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9" name="对象 39"/>
          <p:cNvGraphicFramePr>
            <a:graphicFrameLocks noChangeAspect="1"/>
          </p:cNvGraphicFramePr>
          <p:nvPr/>
        </p:nvGraphicFramePr>
        <p:xfrm>
          <a:off x="5959475" y="1122363"/>
          <a:ext cx="1978025" cy="395287"/>
        </p:xfrm>
        <a:graphic>
          <a:graphicData uri="http://schemas.openxmlformats.org/presentationml/2006/ole">
            <mc:AlternateContent xmlns:mc="http://schemas.openxmlformats.org/markup-compatibility/2006">
              <mc:Choice xmlns:v="urn:schemas-microsoft-com:vml" Requires="v">
                <p:oleObj spid="_x0000_s36395" name="Equation" r:id="rId13" imgW="1206500" imgH="241300" progId="Equation.DSMT4">
                  <p:embed/>
                </p:oleObj>
              </mc:Choice>
              <mc:Fallback>
                <p:oleObj name="Equation" r:id="rId13" imgW="1206500" imgH="241300" progId="Equation.DSMT4">
                  <p:embed/>
                  <p:pic>
                    <p:nvPicPr>
                      <p:cNvPr id="0" name="对象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9475" y="1122363"/>
                        <a:ext cx="19780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0" name="对象 40"/>
          <p:cNvGraphicFramePr>
            <a:graphicFrameLocks noChangeAspect="1"/>
          </p:cNvGraphicFramePr>
          <p:nvPr/>
        </p:nvGraphicFramePr>
        <p:xfrm>
          <a:off x="3424238" y="1577975"/>
          <a:ext cx="906462" cy="627063"/>
        </p:xfrm>
        <a:graphic>
          <a:graphicData uri="http://schemas.openxmlformats.org/presentationml/2006/ole">
            <mc:AlternateContent xmlns:mc="http://schemas.openxmlformats.org/markup-compatibility/2006">
              <mc:Choice xmlns:v="urn:schemas-microsoft-com:vml" Requires="v">
                <p:oleObj spid="_x0000_s36396" name="Equation" r:id="rId15" imgW="698500" imgH="482600" progId="Equation.DSMT4">
                  <p:embed/>
                </p:oleObj>
              </mc:Choice>
              <mc:Fallback>
                <p:oleObj name="Equation" r:id="rId15" imgW="698500" imgH="482600" progId="Equation.DSMT4">
                  <p:embed/>
                  <p:pic>
                    <p:nvPicPr>
                      <p:cNvPr id="0" name="对象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4238" y="1577975"/>
                        <a:ext cx="9064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1" name="对象 31"/>
          <p:cNvGraphicFramePr>
            <a:graphicFrameLocks noChangeAspect="1"/>
          </p:cNvGraphicFramePr>
          <p:nvPr/>
        </p:nvGraphicFramePr>
        <p:xfrm>
          <a:off x="2454275" y="1550988"/>
          <a:ext cx="660400" cy="395287"/>
        </p:xfrm>
        <a:graphic>
          <a:graphicData uri="http://schemas.openxmlformats.org/presentationml/2006/ole">
            <mc:AlternateContent xmlns:mc="http://schemas.openxmlformats.org/markup-compatibility/2006">
              <mc:Choice xmlns:v="urn:schemas-microsoft-com:vml" Requires="v">
                <p:oleObj spid="_x0000_s36397" name="Equation" r:id="rId17" imgW="381000" imgH="228600" progId="Equation.DSMT4">
                  <p:embed/>
                </p:oleObj>
              </mc:Choice>
              <mc:Fallback>
                <p:oleObj name="Equation" r:id="rId17" imgW="381000" imgH="228600" progId="Equation.DSMT4">
                  <p:embed/>
                  <p:pic>
                    <p:nvPicPr>
                      <p:cNvPr id="0" name="对象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275" y="1550988"/>
                        <a:ext cx="660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2" name="对象 32"/>
          <p:cNvGraphicFramePr>
            <a:graphicFrameLocks noChangeAspect="1"/>
          </p:cNvGraphicFramePr>
          <p:nvPr/>
        </p:nvGraphicFramePr>
        <p:xfrm>
          <a:off x="2917825" y="960438"/>
          <a:ext cx="500063" cy="395287"/>
        </p:xfrm>
        <a:graphic>
          <a:graphicData uri="http://schemas.openxmlformats.org/presentationml/2006/ole">
            <mc:AlternateContent xmlns:mc="http://schemas.openxmlformats.org/markup-compatibility/2006">
              <mc:Choice xmlns:v="urn:schemas-microsoft-com:vml" Requires="v">
                <p:oleObj spid="_x0000_s36398" name="Equation" r:id="rId19" imgW="241300" imgH="190500" progId="Equation.DSMT4">
                  <p:embed/>
                </p:oleObj>
              </mc:Choice>
              <mc:Fallback>
                <p:oleObj name="Equation" r:id="rId19" imgW="241300" imgH="190500" progId="Equation.DSMT4">
                  <p:embed/>
                  <p:pic>
                    <p:nvPicPr>
                      <p:cNvPr id="0" name="对象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7825" y="960438"/>
                        <a:ext cx="500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3" name="矩形 43"/>
          <p:cNvSpPr>
            <a:spLocks noChangeArrowheads="1"/>
          </p:cNvSpPr>
          <p:nvPr/>
        </p:nvSpPr>
        <p:spPr bwMode="auto">
          <a:xfrm>
            <a:off x="54048" y="996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矩阵表述方式。令</a:t>
            </a:r>
            <a:endParaRPr lang="zh-CN" altLang="en-US" dirty="0">
              <a:ea typeface="微软雅黑" panose="020B0503020204020204" pitchFamily="34" charset="-122"/>
              <a:cs typeface="Times New Roman" panose="02020603050405020304" pitchFamily="18" charset="0"/>
            </a:endParaRPr>
          </a:p>
        </p:txBody>
      </p:sp>
      <p:sp>
        <p:nvSpPr>
          <p:cNvPr id="15374" name="Line 38"/>
          <p:cNvSpPr>
            <a:spLocks noChangeShapeType="1"/>
          </p:cNvSpPr>
          <p:nvPr/>
        </p:nvSpPr>
        <p:spPr bwMode="auto">
          <a:xfrm>
            <a:off x="2306638" y="8032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5" name="矩形 50"/>
          <p:cNvSpPr>
            <a:spLocks noChangeArrowheads="1"/>
          </p:cNvSpPr>
          <p:nvPr/>
        </p:nvSpPr>
        <p:spPr bwMode="auto">
          <a:xfrm>
            <a:off x="2420938" y="404813"/>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分块</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5376" name="Line 38"/>
          <p:cNvSpPr>
            <a:spLocks noChangeShapeType="1"/>
          </p:cNvSpPr>
          <p:nvPr/>
        </p:nvSpPr>
        <p:spPr bwMode="auto">
          <a:xfrm>
            <a:off x="2306638" y="1358900"/>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7" name="矩形 52"/>
          <p:cNvSpPr>
            <a:spLocks noChangeArrowheads="1"/>
          </p:cNvSpPr>
          <p:nvPr/>
        </p:nvSpPr>
        <p:spPr bwMode="auto">
          <a:xfrm>
            <a:off x="2270125" y="960438"/>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左乘</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5378" name="Line 38"/>
          <p:cNvSpPr>
            <a:spLocks noChangeShapeType="1"/>
          </p:cNvSpPr>
          <p:nvPr/>
        </p:nvSpPr>
        <p:spPr bwMode="auto">
          <a:xfrm>
            <a:off x="2306638" y="19208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 name="矩形 55"/>
          <p:cNvSpPr>
            <a:spLocks noChangeArrowheads="1"/>
          </p:cNvSpPr>
          <p:nvPr/>
        </p:nvSpPr>
        <p:spPr bwMode="auto">
          <a:xfrm>
            <a:off x="5438775" y="10556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en-US">
              <a:ea typeface="微软雅黑" panose="020B0503020204020204" pitchFamily="34" charset="-122"/>
              <a:cs typeface="Times New Roman" panose="02020603050405020304" pitchFamily="18" charset="0"/>
            </a:endParaRPr>
          </a:p>
        </p:txBody>
      </p:sp>
      <p:grpSp>
        <p:nvGrpSpPr>
          <p:cNvPr id="15380" name="组合 1"/>
          <p:cNvGrpSpPr/>
          <p:nvPr/>
        </p:nvGrpSpPr>
        <p:grpSpPr bwMode="auto">
          <a:xfrm>
            <a:off x="0" y="2379663"/>
            <a:ext cx="9645650" cy="461962"/>
            <a:chOff x="21142" y="2706416"/>
            <a:chExt cx="9645170" cy="461665"/>
          </a:xfrm>
        </p:grpSpPr>
        <p:sp>
          <p:nvSpPr>
            <p:cNvPr id="15381" name="矩形 56"/>
            <p:cNvSpPr>
              <a:spLocks noChangeArrowheads="1"/>
            </p:cNvSpPr>
            <p:nvPr/>
          </p:nvSpPr>
          <p:spPr bwMode="auto">
            <a:xfrm>
              <a:off x="21142" y="2706416"/>
              <a:ext cx="9645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设    是约束矩阵     的一个    阶满秩子方阵</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则称    为一个</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a:t>
              </a:r>
              <a:endParaRPr kumimoji="0"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5382" name="对象 46"/>
            <p:cNvGraphicFramePr>
              <a:graphicFrameLocks noChangeAspect="1"/>
            </p:cNvGraphicFramePr>
            <p:nvPr/>
          </p:nvGraphicFramePr>
          <p:xfrm>
            <a:off x="410551" y="2780928"/>
            <a:ext cx="345025" cy="344487"/>
          </p:xfrm>
          <a:graphic>
            <a:graphicData uri="http://schemas.openxmlformats.org/presentationml/2006/ole">
              <mc:AlternateContent xmlns:mc="http://schemas.openxmlformats.org/markup-compatibility/2006">
                <mc:Choice xmlns:v="urn:schemas-microsoft-com:vml" Requires="v">
                  <p:oleObj spid="_x0000_s36399" name="Equation" r:id="rId21" imgW="152400" imgH="165100" progId="Equation.DSMT4">
                    <p:embed/>
                  </p:oleObj>
                </mc:Choice>
                <mc:Fallback>
                  <p:oleObj name="Equation" r:id="rId21" imgW="152400" imgH="165100" progId="Equation.DSMT4">
                    <p:embed/>
                    <p:pic>
                      <p:nvPicPr>
                        <p:cNvPr id="0" name="对象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0551" y="2780928"/>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3" name="对象 59"/>
            <p:cNvGraphicFramePr>
              <a:graphicFrameLocks noChangeAspect="1"/>
            </p:cNvGraphicFramePr>
            <p:nvPr/>
          </p:nvGraphicFramePr>
          <p:xfrm>
            <a:off x="2222426" y="2755017"/>
            <a:ext cx="346751" cy="344487"/>
          </p:xfrm>
          <a:graphic>
            <a:graphicData uri="http://schemas.openxmlformats.org/presentationml/2006/ole">
              <mc:AlternateContent xmlns:mc="http://schemas.openxmlformats.org/markup-compatibility/2006">
                <mc:Choice xmlns:v="urn:schemas-microsoft-com:vml" Requires="v">
                  <p:oleObj spid="_x0000_s36400" name="Equation" r:id="rId23" imgW="152400" imgH="165100" progId="Equation.DSMT4">
                    <p:embed/>
                  </p:oleObj>
                </mc:Choice>
                <mc:Fallback>
                  <p:oleObj name="Equation" r:id="rId23" imgW="152400" imgH="165100" progId="Equation.DSMT4">
                    <p:embed/>
                    <p:pic>
                      <p:nvPicPr>
                        <p:cNvPr id="0" name="对象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22426" y="2755017"/>
                          <a:ext cx="346751"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4" name="对象 60"/>
            <p:cNvGraphicFramePr>
              <a:graphicFrameLocks noChangeAspect="1"/>
            </p:cNvGraphicFramePr>
            <p:nvPr/>
          </p:nvGraphicFramePr>
          <p:xfrm>
            <a:off x="3547851" y="2809603"/>
            <a:ext cx="376077" cy="290513"/>
          </p:xfrm>
          <a:graphic>
            <a:graphicData uri="http://schemas.openxmlformats.org/presentationml/2006/ole">
              <mc:AlternateContent xmlns:mc="http://schemas.openxmlformats.org/markup-compatibility/2006">
                <mc:Choice xmlns:v="urn:schemas-microsoft-com:vml" Requires="v">
                  <p:oleObj spid="_x0000_s36401" name="Equation" r:id="rId25" imgW="165100" imgH="139700" progId="Equation.DSMT4">
                    <p:embed/>
                  </p:oleObj>
                </mc:Choice>
                <mc:Fallback>
                  <p:oleObj name="Equation" r:id="rId25" imgW="165100" imgH="139700" progId="Equation.DSMT4">
                    <p:embed/>
                    <p:pic>
                      <p:nvPicPr>
                        <p:cNvPr id="0" name="对象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7851" y="2809603"/>
                          <a:ext cx="37607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5" name="对象 61"/>
            <p:cNvGraphicFramePr>
              <a:graphicFrameLocks noChangeAspect="1"/>
            </p:cNvGraphicFramePr>
            <p:nvPr/>
          </p:nvGraphicFramePr>
          <p:xfrm>
            <a:off x="6603239" y="2756570"/>
            <a:ext cx="345025" cy="344487"/>
          </p:xfrm>
          <a:graphic>
            <a:graphicData uri="http://schemas.openxmlformats.org/presentationml/2006/ole">
              <mc:AlternateContent xmlns:mc="http://schemas.openxmlformats.org/markup-compatibility/2006">
                <mc:Choice xmlns:v="urn:schemas-microsoft-com:vml" Requires="v">
                  <p:oleObj spid="_x0000_s36402" name="Equation" r:id="rId27" imgW="152400" imgH="165100" progId="Equation.DSMT4">
                    <p:embed/>
                  </p:oleObj>
                </mc:Choice>
                <mc:Fallback>
                  <p:oleObj name="Equation" r:id="rId27" imgW="152400" imgH="165100" progId="Equation.DSMT4">
                    <p:embed/>
                    <p:pic>
                      <p:nvPicPr>
                        <p:cNvPr id="0" name="对象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3239" y="2756570"/>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 name="灯片编号占位符 1"/>
          <p:cNvSpPr>
            <a:spLocks noGrp="1"/>
          </p:cNvSpPr>
          <p:nvPr>
            <p:ph type="sldNum" sz="quarter" idx="12"/>
          </p:nvPr>
        </p:nvSpPr>
        <p:spPr>
          <a:xfrm>
            <a:off x="7239000" y="6398220"/>
            <a:ext cx="1905000" cy="457200"/>
          </a:xfrm>
        </p:spPr>
        <p:txBody>
          <a:bodyPr/>
          <a:lstStyle/>
          <a:p>
            <a:pPr>
              <a:defRPr/>
            </a:pPr>
            <a:fld id="{6DC1E550-C484-4733-8AE5-552F7C7F219F}" type="slidenum">
              <a:rPr lang="en-US" altLang="zh-CN" smtClean="0"/>
              <a:t>68</a:t>
            </a:fld>
            <a:endParaRPr lang="en-US" altLang="zh-CN" dirty="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62"/>
          <p:cNvSpPr>
            <a:spLocks noChangeArrowheads="1"/>
          </p:cNvSpPr>
          <p:nvPr/>
        </p:nvSpPr>
        <p:spPr bwMode="auto">
          <a:xfrm>
            <a:off x="0" y="2347913"/>
            <a:ext cx="9144000" cy="444500"/>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6387" name="矩形 45"/>
          <p:cNvSpPr>
            <a:spLocks noChangeArrowheads="1"/>
          </p:cNvSpPr>
          <p:nvPr/>
        </p:nvSpPr>
        <p:spPr bwMode="auto">
          <a:xfrm>
            <a:off x="0" y="12700"/>
            <a:ext cx="9144000" cy="23542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6388" name="对象 30"/>
          <p:cNvGraphicFramePr>
            <a:graphicFrameLocks noChangeAspect="1"/>
          </p:cNvGraphicFramePr>
          <p:nvPr/>
        </p:nvGraphicFramePr>
        <p:xfrm>
          <a:off x="1155700" y="39688"/>
          <a:ext cx="1408113" cy="395287"/>
        </p:xfrm>
        <a:graphic>
          <a:graphicData uri="http://schemas.openxmlformats.org/presentationml/2006/ole">
            <mc:AlternateContent xmlns:mc="http://schemas.openxmlformats.org/markup-compatibility/2006">
              <mc:Choice xmlns:v="urn:schemas-microsoft-com:vml" Requires="v">
                <p:oleObj spid="_x0000_s37582" name="Equation" r:id="rId3" imgW="723900" imgH="203200" progId="Equation.DSMT4">
                  <p:embed/>
                </p:oleObj>
              </mc:Choice>
              <mc:Fallback>
                <p:oleObj name="Equation" r:id="rId3" imgW="723900" imgH="203200" progId="Equation.DSMT4">
                  <p:embed/>
                  <p:pic>
                    <p:nvPicPr>
                      <p:cNvPr id="0" name="对象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39688"/>
                        <a:ext cx="14081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9" name="对象 33"/>
          <p:cNvGraphicFramePr>
            <a:graphicFrameLocks noChangeAspect="1"/>
          </p:cNvGraphicFramePr>
          <p:nvPr/>
        </p:nvGraphicFramePr>
        <p:xfrm>
          <a:off x="2657475" y="-26988"/>
          <a:ext cx="1422400" cy="461963"/>
        </p:xfrm>
        <a:graphic>
          <a:graphicData uri="http://schemas.openxmlformats.org/presentationml/2006/ole">
            <mc:AlternateContent xmlns:mc="http://schemas.openxmlformats.org/markup-compatibility/2006">
              <mc:Choice xmlns:v="urn:schemas-microsoft-com:vml" Requires="v">
                <p:oleObj spid="_x0000_s37583" name="Equation" r:id="rId5" imgW="939165" imgH="304800" progId="Equation.DSMT4">
                  <p:embed/>
                </p:oleObj>
              </mc:Choice>
              <mc:Fallback>
                <p:oleObj name="Equation" r:id="rId5" imgW="939165" imgH="304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75" y="-26988"/>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对象 34"/>
          <p:cNvGraphicFramePr>
            <a:graphicFrameLocks noChangeAspect="1"/>
          </p:cNvGraphicFramePr>
          <p:nvPr/>
        </p:nvGraphicFramePr>
        <p:xfrm>
          <a:off x="1247775" y="611188"/>
          <a:ext cx="989013" cy="396875"/>
        </p:xfrm>
        <a:graphic>
          <a:graphicData uri="http://schemas.openxmlformats.org/presentationml/2006/ole">
            <mc:AlternateContent xmlns:mc="http://schemas.openxmlformats.org/markup-compatibility/2006">
              <mc:Choice xmlns:v="urn:schemas-microsoft-com:vml" Requires="v">
                <p:oleObj spid="_x0000_s37584" name="Equation" r:id="rId7" imgW="443865" imgH="177800" progId="Equation.DSMT4">
                  <p:embed/>
                </p:oleObj>
              </mc:Choice>
              <mc:Fallback>
                <p:oleObj name="Equation" r:id="rId7" imgW="443865" imgH="177800" progId="Equation.DSMT4">
                  <p:embed/>
                  <p:pic>
                    <p:nvPicPr>
                      <p:cNvPr id="0" name="对象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7775" y="611188"/>
                        <a:ext cx="98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对象 35"/>
          <p:cNvGraphicFramePr>
            <a:graphicFrameLocks noChangeAspect="1"/>
          </p:cNvGraphicFramePr>
          <p:nvPr/>
        </p:nvGraphicFramePr>
        <p:xfrm>
          <a:off x="3368675" y="611188"/>
          <a:ext cx="1385888" cy="396875"/>
        </p:xfrm>
        <a:graphic>
          <a:graphicData uri="http://schemas.openxmlformats.org/presentationml/2006/ole">
            <mc:AlternateContent xmlns:mc="http://schemas.openxmlformats.org/markup-compatibility/2006">
              <mc:Choice xmlns:v="urn:schemas-microsoft-com:vml" Requires="v">
                <p:oleObj spid="_x0000_s37585" name="Equation" r:id="rId9" imgW="800100" imgH="228600" progId="Equation.DSMT4">
                  <p:embed/>
                </p:oleObj>
              </mc:Choice>
              <mc:Fallback>
                <p:oleObj name="Equation" r:id="rId9" imgW="800100" imgH="228600" progId="Equation.DSMT4">
                  <p:embed/>
                  <p:pic>
                    <p:nvPicPr>
                      <p:cNvPr id="0" name="对象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675" y="611188"/>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对象 38"/>
          <p:cNvGraphicFramePr>
            <a:graphicFrameLocks noChangeAspect="1"/>
          </p:cNvGraphicFramePr>
          <p:nvPr/>
        </p:nvGraphicFramePr>
        <p:xfrm>
          <a:off x="3390900" y="1127125"/>
          <a:ext cx="1998663" cy="395288"/>
        </p:xfrm>
        <a:graphic>
          <a:graphicData uri="http://schemas.openxmlformats.org/presentationml/2006/ole">
            <mc:AlternateContent xmlns:mc="http://schemas.openxmlformats.org/markup-compatibility/2006">
              <mc:Choice xmlns:v="urn:schemas-microsoft-com:vml" Requires="v">
                <p:oleObj spid="_x0000_s37586" name="Equation" r:id="rId11" imgW="1218565" imgH="241300" progId="Equation.DSMT4">
                  <p:embed/>
                </p:oleObj>
              </mc:Choice>
              <mc:Fallback>
                <p:oleObj name="Equation" r:id="rId11" imgW="1218565" imgH="241300" progId="Equation.DSMT4">
                  <p:embed/>
                  <p:pic>
                    <p:nvPicPr>
                      <p:cNvPr id="0" name="对象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0900" y="1127125"/>
                        <a:ext cx="1998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3" name="对象 39"/>
          <p:cNvGraphicFramePr>
            <a:graphicFrameLocks noChangeAspect="1"/>
          </p:cNvGraphicFramePr>
          <p:nvPr/>
        </p:nvGraphicFramePr>
        <p:xfrm>
          <a:off x="5959475" y="1122363"/>
          <a:ext cx="1978025" cy="395287"/>
        </p:xfrm>
        <a:graphic>
          <a:graphicData uri="http://schemas.openxmlformats.org/presentationml/2006/ole">
            <mc:AlternateContent xmlns:mc="http://schemas.openxmlformats.org/markup-compatibility/2006">
              <mc:Choice xmlns:v="urn:schemas-microsoft-com:vml" Requires="v">
                <p:oleObj spid="_x0000_s37587" name="Equation" r:id="rId13" imgW="1206500" imgH="241300" progId="Equation.DSMT4">
                  <p:embed/>
                </p:oleObj>
              </mc:Choice>
              <mc:Fallback>
                <p:oleObj name="Equation" r:id="rId13" imgW="1206500" imgH="241300" progId="Equation.DSMT4">
                  <p:embed/>
                  <p:pic>
                    <p:nvPicPr>
                      <p:cNvPr id="0" name="对象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9475" y="1122363"/>
                        <a:ext cx="19780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4" name="对象 40"/>
          <p:cNvGraphicFramePr>
            <a:graphicFrameLocks noChangeAspect="1"/>
          </p:cNvGraphicFramePr>
          <p:nvPr/>
        </p:nvGraphicFramePr>
        <p:xfrm>
          <a:off x="3424238" y="1577975"/>
          <a:ext cx="906462" cy="627063"/>
        </p:xfrm>
        <a:graphic>
          <a:graphicData uri="http://schemas.openxmlformats.org/presentationml/2006/ole">
            <mc:AlternateContent xmlns:mc="http://schemas.openxmlformats.org/markup-compatibility/2006">
              <mc:Choice xmlns:v="urn:schemas-microsoft-com:vml" Requires="v">
                <p:oleObj spid="_x0000_s37588" name="Equation" r:id="rId15" imgW="698500" imgH="482600" progId="Equation.DSMT4">
                  <p:embed/>
                </p:oleObj>
              </mc:Choice>
              <mc:Fallback>
                <p:oleObj name="Equation" r:id="rId15" imgW="698500" imgH="482600" progId="Equation.DSMT4">
                  <p:embed/>
                  <p:pic>
                    <p:nvPicPr>
                      <p:cNvPr id="0" name="对象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4238" y="1577975"/>
                        <a:ext cx="9064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5" name="对象 31"/>
          <p:cNvGraphicFramePr>
            <a:graphicFrameLocks noChangeAspect="1"/>
          </p:cNvGraphicFramePr>
          <p:nvPr/>
        </p:nvGraphicFramePr>
        <p:xfrm>
          <a:off x="2454275" y="1550988"/>
          <a:ext cx="660400" cy="395287"/>
        </p:xfrm>
        <a:graphic>
          <a:graphicData uri="http://schemas.openxmlformats.org/presentationml/2006/ole">
            <mc:AlternateContent xmlns:mc="http://schemas.openxmlformats.org/markup-compatibility/2006">
              <mc:Choice xmlns:v="urn:schemas-microsoft-com:vml" Requires="v">
                <p:oleObj spid="_x0000_s37589" name="Equation" r:id="rId17" imgW="381000" imgH="228600" progId="Equation.DSMT4">
                  <p:embed/>
                </p:oleObj>
              </mc:Choice>
              <mc:Fallback>
                <p:oleObj name="Equation" r:id="rId17" imgW="381000" imgH="228600" progId="Equation.DSMT4">
                  <p:embed/>
                  <p:pic>
                    <p:nvPicPr>
                      <p:cNvPr id="0" name="对象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275" y="1550988"/>
                        <a:ext cx="660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6" name="对象 32"/>
          <p:cNvGraphicFramePr>
            <a:graphicFrameLocks noChangeAspect="1"/>
          </p:cNvGraphicFramePr>
          <p:nvPr/>
        </p:nvGraphicFramePr>
        <p:xfrm>
          <a:off x="2917825" y="960438"/>
          <a:ext cx="500063" cy="395287"/>
        </p:xfrm>
        <a:graphic>
          <a:graphicData uri="http://schemas.openxmlformats.org/presentationml/2006/ole">
            <mc:AlternateContent xmlns:mc="http://schemas.openxmlformats.org/markup-compatibility/2006">
              <mc:Choice xmlns:v="urn:schemas-microsoft-com:vml" Requires="v">
                <p:oleObj spid="_x0000_s37590" name="Equation" r:id="rId19" imgW="241300" imgH="190500" progId="Equation.DSMT4">
                  <p:embed/>
                </p:oleObj>
              </mc:Choice>
              <mc:Fallback>
                <p:oleObj name="Equation" r:id="rId19" imgW="241300" imgH="190500" progId="Equation.DSMT4">
                  <p:embed/>
                  <p:pic>
                    <p:nvPicPr>
                      <p:cNvPr id="0" name="对象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7825" y="960438"/>
                        <a:ext cx="500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7" name="矩形 43"/>
          <p:cNvSpPr>
            <a:spLocks noChangeArrowheads="1"/>
          </p:cNvSpPr>
          <p:nvPr/>
        </p:nvSpPr>
        <p:spPr bwMode="auto">
          <a:xfrm>
            <a:off x="755650" y="-2698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令</a:t>
            </a:r>
            <a:endParaRPr lang="zh-CN" altLang="en-US">
              <a:ea typeface="微软雅黑" panose="020B0503020204020204" pitchFamily="34" charset="-122"/>
              <a:cs typeface="Times New Roman" panose="02020603050405020304" pitchFamily="18" charset="0"/>
            </a:endParaRPr>
          </a:p>
        </p:txBody>
      </p:sp>
      <p:sp>
        <p:nvSpPr>
          <p:cNvPr id="16398" name="Line 38"/>
          <p:cNvSpPr>
            <a:spLocks noChangeShapeType="1"/>
          </p:cNvSpPr>
          <p:nvPr/>
        </p:nvSpPr>
        <p:spPr bwMode="auto">
          <a:xfrm>
            <a:off x="2306638" y="8032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9" name="矩形 50"/>
          <p:cNvSpPr>
            <a:spLocks noChangeArrowheads="1"/>
          </p:cNvSpPr>
          <p:nvPr/>
        </p:nvSpPr>
        <p:spPr bwMode="auto">
          <a:xfrm>
            <a:off x="2420938" y="404813"/>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分块</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6400" name="Line 38"/>
          <p:cNvSpPr>
            <a:spLocks noChangeShapeType="1"/>
          </p:cNvSpPr>
          <p:nvPr/>
        </p:nvSpPr>
        <p:spPr bwMode="auto">
          <a:xfrm>
            <a:off x="2306638" y="1358900"/>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1" name="矩形 52"/>
          <p:cNvSpPr>
            <a:spLocks noChangeArrowheads="1"/>
          </p:cNvSpPr>
          <p:nvPr/>
        </p:nvSpPr>
        <p:spPr bwMode="auto">
          <a:xfrm>
            <a:off x="2270125" y="960438"/>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左乘</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6402" name="Line 38"/>
          <p:cNvSpPr>
            <a:spLocks noChangeShapeType="1"/>
          </p:cNvSpPr>
          <p:nvPr/>
        </p:nvSpPr>
        <p:spPr bwMode="auto">
          <a:xfrm>
            <a:off x="2306638" y="19208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3" name="矩形 55"/>
          <p:cNvSpPr>
            <a:spLocks noChangeArrowheads="1"/>
          </p:cNvSpPr>
          <p:nvPr/>
        </p:nvSpPr>
        <p:spPr bwMode="auto">
          <a:xfrm>
            <a:off x="5438775" y="10556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en-US">
              <a:ea typeface="微软雅黑" panose="020B0503020204020204" pitchFamily="34" charset="-122"/>
              <a:cs typeface="Times New Roman" panose="02020603050405020304" pitchFamily="18" charset="0"/>
            </a:endParaRPr>
          </a:p>
        </p:txBody>
      </p:sp>
      <p:grpSp>
        <p:nvGrpSpPr>
          <p:cNvPr id="16404" name="组合 1"/>
          <p:cNvGrpSpPr/>
          <p:nvPr/>
        </p:nvGrpSpPr>
        <p:grpSpPr bwMode="auto">
          <a:xfrm>
            <a:off x="0" y="2379663"/>
            <a:ext cx="9645650" cy="461962"/>
            <a:chOff x="21142" y="2706416"/>
            <a:chExt cx="9645170" cy="461665"/>
          </a:xfrm>
        </p:grpSpPr>
        <p:sp>
          <p:nvSpPr>
            <p:cNvPr id="16411" name="矩形 56"/>
            <p:cNvSpPr>
              <a:spLocks noChangeArrowheads="1"/>
            </p:cNvSpPr>
            <p:nvPr/>
          </p:nvSpPr>
          <p:spPr bwMode="auto">
            <a:xfrm>
              <a:off x="21142" y="2706416"/>
              <a:ext cx="9645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设    是约束矩阵     的一个    阶满秩子方阵</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则称    为一个</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a:t>
              </a:r>
              <a:endParaRPr kumimoji="0"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412" name="对象 46"/>
            <p:cNvGraphicFramePr>
              <a:graphicFrameLocks noChangeAspect="1"/>
            </p:cNvGraphicFramePr>
            <p:nvPr/>
          </p:nvGraphicFramePr>
          <p:xfrm>
            <a:off x="410551" y="2780928"/>
            <a:ext cx="345025" cy="344487"/>
          </p:xfrm>
          <a:graphic>
            <a:graphicData uri="http://schemas.openxmlformats.org/presentationml/2006/ole">
              <mc:AlternateContent xmlns:mc="http://schemas.openxmlformats.org/markup-compatibility/2006">
                <mc:Choice xmlns:v="urn:schemas-microsoft-com:vml" Requires="v">
                  <p:oleObj spid="_x0000_s37591" name="Equation" r:id="rId21" imgW="152400" imgH="165100" progId="Equation.DSMT4">
                    <p:embed/>
                  </p:oleObj>
                </mc:Choice>
                <mc:Fallback>
                  <p:oleObj name="Equation" r:id="rId21" imgW="152400" imgH="165100" progId="Equation.DSMT4">
                    <p:embed/>
                    <p:pic>
                      <p:nvPicPr>
                        <p:cNvPr id="0" name="对象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0551" y="2780928"/>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13" name="对象 59"/>
            <p:cNvGraphicFramePr>
              <a:graphicFrameLocks noChangeAspect="1"/>
            </p:cNvGraphicFramePr>
            <p:nvPr/>
          </p:nvGraphicFramePr>
          <p:xfrm>
            <a:off x="2222426" y="2755017"/>
            <a:ext cx="346751" cy="344487"/>
          </p:xfrm>
          <a:graphic>
            <a:graphicData uri="http://schemas.openxmlformats.org/presentationml/2006/ole">
              <mc:AlternateContent xmlns:mc="http://schemas.openxmlformats.org/markup-compatibility/2006">
                <mc:Choice xmlns:v="urn:schemas-microsoft-com:vml" Requires="v">
                  <p:oleObj spid="_x0000_s37592" name="Equation" r:id="rId23" imgW="152400" imgH="165100" progId="Equation.DSMT4">
                    <p:embed/>
                  </p:oleObj>
                </mc:Choice>
                <mc:Fallback>
                  <p:oleObj name="Equation" r:id="rId23" imgW="152400" imgH="165100" progId="Equation.DSMT4">
                    <p:embed/>
                    <p:pic>
                      <p:nvPicPr>
                        <p:cNvPr id="0" name="对象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22426" y="2755017"/>
                          <a:ext cx="346751"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14" name="对象 60"/>
            <p:cNvGraphicFramePr>
              <a:graphicFrameLocks noChangeAspect="1"/>
            </p:cNvGraphicFramePr>
            <p:nvPr/>
          </p:nvGraphicFramePr>
          <p:xfrm>
            <a:off x="3547851" y="2809603"/>
            <a:ext cx="376077" cy="290513"/>
          </p:xfrm>
          <a:graphic>
            <a:graphicData uri="http://schemas.openxmlformats.org/presentationml/2006/ole">
              <mc:AlternateContent xmlns:mc="http://schemas.openxmlformats.org/markup-compatibility/2006">
                <mc:Choice xmlns:v="urn:schemas-microsoft-com:vml" Requires="v">
                  <p:oleObj spid="_x0000_s37593" name="Equation" r:id="rId25" imgW="165100" imgH="139700" progId="Equation.DSMT4">
                    <p:embed/>
                  </p:oleObj>
                </mc:Choice>
                <mc:Fallback>
                  <p:oleObj name="Equation" r:id="rId25" imgW="165100" imgH="139700" progId="Equation.DSMT4">
                    <p:embed/>
                    <p:pic>
                      <p:nvPicPr>
                        <p:cNvPr id="0" name="对象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7851" y="2809603"/>
                          <a:ext cx="37607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15" name="对象 61"/>
            <p:cNvGraphicFramePr>
              <a:graphicFrameLocks noChangeAspect="1"/>
            </p:cNvGraphicFramePr>
            <p:nvPr/>
          </p:nvGraphicFramePr>
          <p:xfrm>
            <a:off x="6603239" y="2756570"/>
            <a:ext cx="345025" cy="344487"/>
          </p:xfrm>
          <a:graphic>
            <a:graphicData uri="http://schemas.openxmlformats.org/presentationml/2006/ole">
              <mc:AlternateContent xmlns:mc="http://schemas.openxmlformats.org/markup-compatibility/2006">
                <mc:Choice xmlns:v="urn:schemas-microsoft-com:vml" Requires="v">
                  <p:oleObj spid="_x0000_s37594" name="Equation" r:id="rId27" imgW="152400" imgH="165100" progId="Equation.DSMT4">
                    <p:embed/>
                  </p:oleObj>
                </mc:Choice>
                <mc:Fallback>
                  <p:oleObj name="Equation" r:id="rId27" imgW="152400" imgH="165100" progId="Equation.DSMT4">
                    <p:embed/>
                    <p:pic>
                      <p:nvPicPr>
                        <p:cNvPr id="0" name="对象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3239" y="2756570"/>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405" name="组合 25"/>
          <p:cNvGrpSpPr/>
          <p:nvPr/>
        </p:nvGrpSpPr>
        <p:grpSpPr bwMode="auto">
          <a:xfrm>
            <a:off x="1588" y="2822575"/>
            <a:ext cx="9144000" cy="831850"/>
            <a:chOff x="1" y="4300537"/>
            <a:chExt cx="9143999" cy="831850"/>
          </a:xfrm>
        </p:grpSpPr>
        <p:sp>
          <p:nvSpPr>
            <p:cNvPr id="16406" name="矩形 26"/>
            <p:cNvSpPr>
              <a:spLocks noChangeArrowheads="1"/>
            </p:cNvSpPr>
            <p:nvPr/>
          </p:nvSpPr>
          <p:spPr bwMode="auto">
            <a:xfrm>
              <a:off x="1" y="4300537"/>
              <a:ext cx="9143999" cy="83185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    中    个线性无关的列向量称为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基向量</a:t>
              </a:r>
              <a:endParaRPr kumimoji="0"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   中与之对应的    个分量称为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基变量</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其余的变量为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非基变量</a:t>
              </a:r>
              <a:endParaRPr kumimoji="0"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407" name="对象 27"/>
            <p:cNvGraphicFramePr>
              <a:graphicFrameLocks noChangeAspect="1"/>
            </p:cNvGraphicFramePr>
            <p:nvPr/>
          </p:nvGraphicFramePr>
          <p:xfrm>
            <a:off x="79375" y="4371975"/>
            <a:ext cx="317500" cy="344487"/>
          </p:xfrm>
          <a:graphic>
            <a:graphicData uri="http://schemas.openxmlformats.org/presentationml/2006/ole">
              <mc:AlternateContent xmlns:mc="http://schemas.openxmlformats.org/markup-compatibility/2006">
                <mc:Choice xmlns:v="urn:schemas-microsoft-com:vml" Requires="v">
                  <p:oleObj spid="_x0000_s37595" name="Equation" r:id="rId28" imgW="152400" imgH="165100" progId="Equation.DSMT4">
                    <p:embed/>
                  </p:oleObj>
                </mc:Choice>
                <mc:Fallback>
                  <p:oleObj name="Equation" r:id="rId28" imgW="152400" imgH="165100" progId="Equation.DSMT4">
                    <p:embed/>
                    <p:pic>
                      <p:nvPicPr>
                        <p:cNvPr id="0" name="对象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375" y="4371975"/>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8" name="对象 28"/>
            <p:cNvGraphicFramePr>
              <a:graphicFrameLocks noChangeAspect="1"/>
            </p:cNvGraphicFramePr>
            <p:nvPr/>
          </p:nvGraphicFramePr>
          <p:xfrm>
            <a:off x="655637" y="4398962"/>
            <a:ext cx="346075" cy="290512"/>
          </p:xfrm>
          <a:graphic>
            <a:graphicData uri="http://schemas.openxmlformats.org/presentationml/2006/ole">
              <mc:AlternateContent xmlns:mc="http://schemas.openxmlformats.org/markup-compatibility/2006">
                <mc:Choice xmlns:v="urn:schemas-microsoft-com:vml" Requires="v">
                  <p:oleObj spid="_x0000_s37596" name="Equation" r:id="rId29" imgW="165100" imgH="139700" progId="Equation.DSMT4">
                    <p:embed/>
                  </p:oleObj>
                </mc:Choice>
                <mc:Fallback>
                  <p:oleObj name="Equation" r:id="rId29" imgW="165100" imgH="139700" progId="Equation.DSMT4">
                    <p:embed/>
                    <p:pic>
                      <p:nvPicPr>
                        <p:cNvPr id="0" name="对象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5637" y="4398962"/>
                          <a:ext cx="34607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9" name="对象 29"/>
            <p:cNvGraphicFramePr>
              <a:graphicFrameLocks noChangeAspect="1"/>
            </p:cNvGraphicFramePr>
            <p:nvPr/>
          </p:nvGraphicFramePr>
          <p:xfrm>
            <a:off x="673408" y="4764880"/>
            <a:ext cx="265113" cy="292100"/>
          </p:xfrm>
          <a:graphic>
            <a:graphicData uri="http://schemas.openxmlformats.org/presentationml/2006/ole">
              <mc:AlternateContent xmlns:mc="http://schemas.openxmlformats.org/markup-compatibility/2006">
                <mc:Choice xmlns:v="urn:schemas-microsoft-com:vml" Requires="v">
                  <p:oleObj spid="_x0000_s37597" name="Equation" r:id="rId30" imgW="127000" imgH="139700" progId="Equation.DSMT4">
                    <p:embed/>
                  </p:oleObj>
                </mc:Choice>
                <mc:Fallback>
                  <p:oleObj name="Equation" r:id="rId30" imgW="127000" imgH="139700" progId="Equation.DSMT4">
                    <p:embed/>
                    <p:pic>
                      <p:nvPicPr>
                        <p:cNvPr id="0" name="对象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3408" y="4764880"/>
                          <a:ext cx="265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10" name="对象 30"/>
            <p:cNvGraphicFramePr>
              <a:graphicFrameLocks noChangeAspect="1"/>
            </p:cNvGraphicFramePr>
            <p:nvPr/>
          </p:nvGraphicFramePr>
          <p:xfrm>
            <a:off x="2746094" y="4766578"/>
            <a:ext cx="346075" cy="290513"/>
          </p:xfrm>
          <a:graphic>
            <a:graphicData uri="http://schemas.openxmlformats.org/presentationml/2006/ole">
              <mc:AlternateContent xmlns:mc="http://schemas.openxmlformats.org/markup-compatibility/2006">
                <mc:Choice xmlns:v="urn:schemas-microsoft-com:vml" Requires="v">
                  <p:oleObj spid="_x0000_s37598" name="Equation" r:id="rId32" imgW="165100" imgH="139700" progId="Equation.DSMT4">
                    <p:embed/>
                  </p:oleObj>
                </mc:Choice>
                <mc:Fallback>
                  <p:oleObj name="Equation" r:id="rId32" imgW="165100" imgH="139700" progId="Equation.DSMT4">
                    <p:embed/>
                    <p:pic>
                      <p:nvPicPr>
                        <p:cNvPr id="0" name="对象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46094" y="4766578"/>
                          <a:ext cx="3460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 name="灯片编号占位符 1"/>
          <p:cNvSpPr>
            <a:spLocks noGrp="1"/>
          </p:cNvSpPr>
          <p:nvPr>
            <p:ph type="sldNum" sz="quarter" idx="12"/>
          </p:nvPr>
        </p:nvSpPr>
        <p:spPr>
          <a:xfrm>
            <a:off x="7239000" y="6400800"/>
            <a:ext cx="1905000" cy="457200"/>
          </a:xfrm>
        </p:spPr>
        <p:txBody>
          <a:bodyPr/>
          <a:lstStyle/>
          <a:p>
            <a:pPr>
              <a:defRPr/>
            </a:pPr>
            <a:fld id="{6DC1E550-C484-4733-8AE5-552F7C7F219F}" type="slidenum">
              <a:rPr lang="en-US" altLang="zh-CN" smtClean="0"/>
              <a:t>69</a:t>
            </a:fld>
            <a:endParaRPr lang="en-US" altLang="zh-CN"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2"/>
          <p:cNvSpPr>
            <a:spLocks noChangeArrowheads="1"/>
          </p:cNvSpPr>
          <p:nvPr/>
        </p:nvSpPr>
        <p:spPr bwMode="auto">
          <a:xfrm>
            <a:off x="0" y="2347913"/>
            <a:ext cx="9144000" cy="444500"/>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7411" name="矩形 45"/>
          <p:cNvSpPr>
            <a:spLocks noChangeArrowheads="1"/>
          </p:cNvSpPr>
          <p:nvPr/>
        </p:nvSpPr>
        <p:spPr bwMode="auto">
          <a:xfrm>
            <a:off x="0" y="12700"/>
            <a:ext cx="9144000" cy="23542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7412" name="对象 30"/>
          <p:cNvGraphicFramePr>
            <a:graphicFrameLocks noChangeAspect="1"/>
          </p:cNvGraphicFramePr>
          <p:nvPr/>
        </p:nvGraphicFramePr>
        <p:xfrm>
          <a:off x="1155700" y="39688"/>
          <a:ext cx="1408113" cy="395287"/>
        </p:xfrm>
        <a:graphic>
          <a:graphicData uri="http://schemas.openxmlformats.org/presentationml/2006/ole">
            <mc:AlternateContent xmlns:mc="http://schemas.openxmlformats.org/markup-compatibility/2006">
              <mc:Choice xmlns:v="urn:schemas-microsoft-com:vml" Requires="v">
                <p:oleObj spid="_x0000_s38690" name="Equation" r:id="rId3" imgW="723900" imgH="203200" progId="Equation.DSMT4">
                  <p:embed/>
                </p:oleObj>
              </mc:Choice>
              <mc:Fallback>
                <p:oleObj name="Equation" r:id="rId3" imgW="723900" imgH="203200" progId="Equation.DSMT4">
                  <p:embed/>
                  <p:pic>
                    <p:nvPicPr>
                      <p:cNvPr id="0" name="对象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39688"/>
                        <a:ext cx="14081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对象 33"/>
          <p:cNvGraphicFramePr>
            <a:graphicFrameLocks noChangeAspect="1"/>
          </p:cNvGraphicFramePr>
          <p:nvPr/>
        </p:nvGraphicFramePr>
        <p:xfrm>
          <a:off x="2657475" y="-26988"/>
          <a:ext cx="1422400" cy="461963"/>
        </p:xfrm>
        <a:graphic>
          <a:graphicData uri="http://schemas.openxmlformats.org/presentationml/2006/ole">
            <mc:AlternateContent xmlns:mc="http://schemas.openxmlformats.org/markup-compatibility/2006">
              <mc:Choice xmlns:v="urn:schemas-microsoft-com:vml" Requires="v">
                <p:oleObj spid="_x0000_s38691" name="Equation" r:id="rId5" imgW="939165" imgH="304800" progId="Equation.DSMT4">
                  <p:embed/>
                </p:oleObj>
              </mc:Choice>
              <mc:Fallback>
                <p:oleObj name="Equation" r:id="rId5" imgW="939165" imgH="304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75" y="-26988"/>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4" name="对象 34"/>
          <p:cNvGraphicFramePr>
            <a:graphicFrameLocks noChangeAspect="1"/>
          </p:cNvGraphicFramePr>
          <p:nvPr/>
        </p:nvGraphicFramePr>
        <p:xfrm>
          <a:off x="1247775" y="611188"/>
          <a:ext cx="989013" cy="396875"/>
        </p:xfrm>
        <a:graphic>
          <a:graphicData uri="http://schemas.openxmlformats.org/presentationml/2006/ole">
            <mc:AlternateContent xmlns:mc="http://schemas.openxmlformats.org/markup-compatibility/2006">
              <mc:Choice xmlns:v="urn:schemas-microsoft-com:vml" Requires="v">
                <p:oleObj spid="_x0000_s38692" name="Equation" r:id="rId7" imgW="443865" imgH="177800" progId="Equation.DSMT4">
                  <p:embed/>
                </p:oleObj>
              </mc:Choice>
              <mc:Fallback>
                <p:oleObj name="Equation" r:id="rId7" imgW="443865" imgH="177800" progId="Equation.DSMT4">
                  <p:embed/>
                  <p:pic>
                    <p:nvPicPr>
                      <p:cNvPr id="0" name="对象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7775" y="611188"/>
                        <a:ext cx="98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5" name="对象 35"/>
          <p:cNvGraphicFramePr>
            <a:graphicFrameLocks noChangeAspect="1"/>
          </p:cNvGraphicFramePr>
          <p:nvPr/>
        </p:nvGraphicFramePr>
        <p:xfrm>
          <a:off x="3368675" y="611188"/>
          <a:ext cx="1385888" cy="396875"/>
        </p:xfrm>
        <a:graphic>
          <a:graphicData uri="http://schemas.openxmlformats.org/presentationml/2006/ole">
            <mc:AlternateContent xmlns:mc="http://schemas.openxmlformats.org/markup-compatibility/2006">
              <mc:Choice xmlns:v="urn:schemas-microsoft-com:vml" Requires="v">
                <p:oleObj spid="_x0000_s38693" name="Equation" r:id="rId9" imgW="800100" imgH="228600" progId="Equation.DSMT4">
                  <p:embed/>
                </p:oleObj>
              </mc:Choice>
              <mc:Fallback>
                <p:oleObj name="Equation" r:id="rId9" imgW="800100" imgH="228600" progId="Equation.DSMT4">
                  <p:embed/>
                  <p:pic>
                    <p:nvPicPr>
                      <p:cNvPr id="0" name="对象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675" y="611188"/>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6" name="对象 38"/>
          <p:cNvGraphicFramePr>
            <a:graphicFrameLocks noChangeAspect="1"/>
          </p:cNvGraphicFramePr>
          <p:nvPr/>
        </p:nvGraphicFramePr>
        <p:xfrm>
          <a:off x="3390900" y="1127125"/>
          <a:ext cx="1998663" cy="395288"/>
        </p:xfrm>
        <a:graphic>
          <a:graphicData uri="http://schemas.openxmlformats.org/presentationml/2006/ole">
            <mc:AlternateContent xmlns:mc="http://schemas.openxmlformats.org/markup-compatibility/2006">
              <mc:Choice xmlns:v="urn:schemas-microsoft-com:vml" Requires="v">
                <p:oleObj spid="_x0000_s38694" name="Equation" r:id="rId11" imgW="1218565" imgH="241300" progId="Equation.DSMT4">
                  <p:embed/>
                </p:oleObj>
              </mc:Choice>
              <mc:Fallback>
                <p:oleObj name="Equation" r:id="rId11" imgW="1218565" imgH="241300" progId="Equation.DSMT4">
                  <p:embed/>
                  <p:pic>
                    <p:nvPicPr>
                      <p:cNvPr id="0" name="对象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0900" y="1127125"/>
                        <a:ext cx="1998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7" name="对象 39"/>
          <p:cNvGraphicFramePr>
            <a:graphicFrameLocks noChangeAspect="1"/>
          </p:cNvGraphicFramePr>
          <p:nvPr/>
        </p:nvGraphicFramePr>
        <p:xfrm>
          <a:off x="5959475" y="1122363"/>
          <a:ext cx="1978025" cy="395287"/>
        </p:xfrm>
        <a:graphic>
          <a:graphicData uri="http://schemas.openxmlformats.org/presentationml/2006/ole">
            <mc:AlternateContent xmlns:mc="http://schemas.openxmlformats.org/markup-compatibility/2006">
              <mc:Choice xmlns:v="urn:schemas-microsoft-com:vml" Requires="v">
                <p:oleObj spid="_x0000_s38695" name="Equation" r:id="rId13" imgW="1206500" imgH="241300" progId="Equation.DSMT4">
                  <p:embed/>
                </p:oleObj>
              </mc:Choice>
              <mc:Fallback>
                <p:oleObj name="Equation" r:id="rId13" imgW="1206500" imgH="241300" progId="Equation.DSMT4">
                  <p:embed/>
                  <p:pic>
                    <p:nvPicPr>
                      <p:cNvPr id="0" name="对象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9475" y="1122363"/>
                        <a:ext cx="19780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8" name="对象 40"/>
          <p:cNvGraphicFramePr>
            <a:graphicFrameLocks noChangeAspect="1"/>
          </p:cNvGraphicFramePr>
          <p:nvPr/>
        </p:nvGraphicFramePr>
        <p:xfrm>
          <a:off x="3424238" y="1577975"/>
          <a:ext cx="906462" cy="627063"/>
        </p:xfrm>
        <a:graphic>
          <a:graphicData uri="http://schemas.openxmlformats.org/presentationml/2006/ole">
            <mc:AlternateContent xmlns:mc="http://schemas.openxmlformats.org/markup-compatibility/2006">
              <mc:Choice xmlns:v="urn:schemas-microsoft-com:vml" Requires="v">
                <p:oleObj spid="_x0000_s38696" name="Equation" r:id="rId15" imgW="698500" imgH="482600" progId="Equation.DSMT4">
                  <p:embed/>
                </p:oleObj>
              </mc:Choice>
              <mc:Fallback>
                <p:oleObj name="Equation" r:id="rId15" imgW="698500" imgH="482600" progId="Equation.DSMT4">
                  <p:embed/>
                  <p:pic>
                    <p:nvPicPr>
                      <p:cNvPr id="0" name="对象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4238" y="1577975"/>
                        <a:ext cx="9064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9" name="对象 31"/>
          <p:cNvGraphicFramePr>
            <a:graphicFrameLocks noChangeAspect="1"/>
          </p:cNvGraphicFramePr>
          <p:nvPr/>
        </p:nvGraphicFramePr>
        <p:xfrm>
          <a:off x="2454275" y="1550988"/>
          <a:ext cx="660400" cy="395287"/>
        </p:xfrm>
        <a:graphic>
          <a:graphicData uri="http://schemas.openxmlformats.org/presentationml/2006/ole">
            <mc:AlternateContent xmlns:mc="http://schemas.openxmlformats.org/markup-compatibility/2006">
              <mc:Choice xmlns:v="urn:schemas-microsoft-com:vml" Requires="v">
                <p:oleObj spid="_x0000_s38697" name="Equation" r:id="rId17" imgW="381000" imgH="228600" progId="Equation.DSMT4">
                  <p:embed/>
                </p:oleObj>
              </mc:Choice>
              <mc:Fallback>
                <p:oleObj name="Equation" r:id="rId17" imgW="381000" imgH="228600" progId="Equation.DSMT4">
                  <p:embed/>
                  <p:pic>
                    <p:nvPicPr>
                      <p:cNvPr id="0" name="对象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275" y="1550988"/>
                        <a:ext cx="660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0" name="对象 32"/>
          <p:cNvGraphicFramePr>
            <a:graphicFrameLocks noChangeAspect="1"/>
          </p:cNvGraphicFramePr>
          <p:nvPr/>
        </p:nvGraphicFramePr>
        <p:xfrm>
          <a:off x="2917825" y="960438"/>
          <a:ext cx="500063" cy="395287"/>
        </p:xfrm>
        <a:graphic>
          <a:graphicData uri="http://schemas.openxmlformats.org/presentationml/2006/ole">
            <mc:AlternateContent xmlns:mc="http://schemas.openxmlformats.org/markup-compatibility/2006">
              <mc:Choice xmlns:v="urn:schemas-microsoft-com:vml" Requires="v">
                <p:oleObj spid="_x0000_s38698" name="Equation" r:id="rId19" imgW="241300" imgH="190500" progId="Equation.DSMT4">
                  <p:embed/>
                </p:oleObj>
              </mc:Choice>
              <mc:Fallback>
                <p:oleObj name="Equation" r:id="rId19" imgW="241300" imgH="190500" progId="Equation.DSMT4">
                  <p:embed/>
                  <p:pic>
                    <p:nvPicPr>
                      <p:cNvPr id="0" name="对象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7825" y="960438"/>
                        <a:ext cx="500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1" name="矩形 43"/>
          <p:cNvSpPr>
            <a:spLocks noChangeArrowheads="1"/>
          </p:cNvSpPr>
          <p:nvPr/>
        </p:nvSpPr>
        <p:spPr bwMode="auto">
          <a:xfrm>
            <a:off x="755650" y="-2698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令</a:t>
            </a:r>
            <a:endParaRPr lang="zh-CN" altLang="en-US">
              <a:ea typeface="微软雅黑" panose="020B0503020204020204" pitchFamily="34" charset="-122"/>
              <a:cs typeface="Times New Roman" panose="02020603050405020304" pitchFamily="18" charset="0"/>
            </a:endParaRPr>
          </a:p>
        </p:txBody>
      </p:sp>
      <p:sp>
        <p:nvSpPr>
          <p:cNvPr id="17422" name="Line 38"/>
          <p:cNvSpPr>
            <a:spLocks noChangeShapeType="1"/>
          </p:cNvSpPr>
          <p:nvPr/>
        </p:nvSpPr>
        <p:spPr bwMode="auto">
          <a:xfrm>
            <a:off x="2306638" y="8032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3" name="矩形 50"/>
          <p:cNvSpPr>
            <a:spLocks noChangeArrowheads="1"/>
          </p:cNvSpPr>
          <p:nvPr/>
        </p:nvSpPr>
        <p:spPr bwMode="auto">
          <a:xfrm>
            <a:off x="2420938" y="404813"/>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分块</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7424" name="Line 38"/>
          <p:cNvSpPr>
            <a:spLocks noChangeShapeType="1"/>
          </p:cNvSpPr>
          <p:nvPr/>
        </p:nvSpPr>
        <p:spPr bwMode="auto">
          <a:xfrm>
            <a:off x="2306638" y="1358900"/>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5" name="矩形 52"/>
          <p:cNvSpPr>
            <a:spLocks noChangeArrowheads="1"/>
          </p:cNvSpPr>
          <p:nvPr/>
        </p:nvSpPr>
        <p:spPr bwMode="auto">
          <a:xfrm>
            <a:off x="2270125" y="960438"/>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左乘</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7426" name="Line 38"/>
          <p:cNvSpPr>
            <a:spLocks noChangeShapeType="1"/>
          </p:cNvSpPr>
          <p:nvPr/>
        </p:nvSpPr>
        <p:spPr bwMode="auto">
          <a:xfrm>
            <a:off x="2306638" y="19208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7" name="矩形 55"/>
          <p:cNvSpPr>
            <a:spLocks noChangeArrowheads="1"/>
          </p:cNvSpPr>
          <p:nvPr/>
        </p:nvSpPr>
        <p:spPr bwMode="auto">
          <a:xfrm>
            <a:off x="5438775" y="10556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en-US">
              <a:ea typeface="微软雅黑" panose="020B0503020204020204" pitchFamily="34" charset="-122"/>
              <a:cs typeface="Times New Roman" panose="02020603050405020304" pitchFamily="18" charset="0"/>
            </a:endParaRPr>
          </a:p>
        </p:txBody>
      </p:sp>
      <p:grpSp>
        <p:nvGrpSpPr>
          <p:cNvPr id="17428" name="组合 1"/>
          <p:cNvGrpSpPr/>
          <p:nvPr/>
        </p:nvGrpSpPr>
        <p:grpSpPr bwMode="auto">
          <a:xfrm>
            <a:off x="0" y="2379663"/>
            <a:ext cx="9645650" cy="461962"/>
            <a:chOff x="21142" y="2706416"/>
            <a:chExt cx="9645170" cy="461665"/>
          </a:xfrm>
        </p:grpSpPr>
        <p:sp>
          <p:nvSpPr>
            <p:cNvPr id="17439" name="矩形 56"/>
            <p:cNvSpPr>
              <a:spLocks noChangeArrowheads="1"/>
            </p:cNvSpPr>
            <p:nvPr/>
          </p:nvSpPr>
          <p:spPr bwMode="auto">
            <a:xfrm>
              <a:off x="21142" y="2706416"/>
              <a:ext cx="9645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设    是约束矩阵     的一个    阶满秩子方阵，则称    为一个</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a:t>
              </a:r>
              <a:endParaRPr kumimoji="0"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7440" name="对象 46"/>
            <p:cNvGraphicFramePr>
              <a:graphicFrameLocks noChangeAspect="1"/>
            </p:cNvGraphicFramePr>
            <p:nvPr/>
          </p:nvGraphicFramePr>
          <p:xfrm>
            <a:off x="410551" y="2780928"/>
            <a:ext cx="345025" cy="344487"/>
          </p:xfrm>
          <a:graphic>
            <a:graphicData uri="http://schemas.openxmlformats.org/presentationml/2006/ole">
              <mc:AlternateContent xmlns:mc="http://schemas.openxmlformats.org/markup-compatibility/2006">
                <mc:Choice xmlns:v="urn:schemas-microsoft-com:vml" Requires="v">
                  <p:oleObj spid="_x0000_s38699" name="Equation" r:id="rId21" imgW="152400" imgH="165100" progId="Equation.DSMT4">
                    <p:embed/>
                  </p:oleObj>
                </mc:Choice>
                <mc:Fallback>
                  <p:oleObj name="Equation" r:id="rId21" imgW="152400" imgH="165100" progId="Equation.DSMT4">
                    <p:embed/>
                    <p:pic>
                      <p:nvPicPr>
                        <p:cNvPr id="0" name="对象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0551" y="2780928"/>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1" name="对象 59"/>
            <p:cNvGraphicFramePr>
              <a:graphicFrameLocks noChangeAspect="1"/>
            </p:cNvGraphicFramePr>
            <p:nvPr/>
          </p:nvGraphicFramePr>
          <p:xfrm>
            <a:off x="2222426" y="2755017"/>
            <a:ext cx="346751" cy="344487"/>
          </p:xfrm>
          <a:graphic>
            <a:graphicData uri="http://schemas.openxmlformats.org/presentationml/2006/ole">
              <mc:AlternateContent xmlns:mc="http://schemas.openxmlformats.org/markup-compatibility/2006">
                <mc:Choice xmlns:v="urn:schemas-microsoft-com:vml" Requires="v">
                  <p:oleObj spid="_x0000_s38700" name="Equation" r:id="rId23" imgW="152400" imgH="165100" progId="Equation.DSMT4">
                    <p:embed/>
                  </p:oleObj>
                </mc:Choice>
                <mc:Fallback>
                  <p:oleObj name="Equation" r:id="rId23" imgW="152400" imgH="165100" progId="Equation.DSMT4">
                    <p:embed/>
                    <p:pic>
                      <p:nvPicPr>
                        <p:cNvPr id="0" name="对象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22426" y="2755017"/>
                          <a:ext cx="346751"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2" name="对象 60"/>
            <p:cNvGraphicFramePr>
              <a:graphicFrameLocks noChangeAspect="1"/>
            </p:cNvGraphicFramePr>
            <p:nvPr/>
          </p:nvGraphicFramePr>
          <p:xfrm>
            <a:off x="3547851" y="2809603"/>
            <a:ext cx="376077" cy="290513"/>
          </p:xfrm>
          <a:graphic>
            <a:graphicData uri="http://schemas.openxmlformats.org/presentationml/2006/ole">
              <mc:AlternateContent xmlns:mc="http://schemas.openxmlformats.org/markup-compatibility/2006">
                <mc:Choice xmlns:v="urn:schemas-microsoft-com:vml" Requires="v">
                  <p:oleObj spid="_x0000_s38701" name="Equation" r:id="rId25" imgW="165100" imgH="139700" progId="Equation.DSMT4">
                    <p:embed/>
                  </p:oleObj>
                </mc:Choice>
                <mc:Fallback>
                  <p:oleObj name="Equation" r:id="rId25" imgW="165100" imgH="139700" progId="Equation.DSMT4">
                    <p:embed/>
                    <p:pic>
                      <p:nvPicPr>
                        <p:cNvPr id="0" name="对象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7851" y="2809603"/>
                          <a:ext cx="37607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3" name="对象 61"/>
            <p:cNvGraphicFramePr>
              <a:graphicFrameLocks noChangeAspect="1"/>
            </p:cNvGraphicFramePr>
            <p:nvPr/>
          </p:nvGraphicFramePr>
          <p:xfrm>
            <a:off x="6603239" y="2756570"/>
            <a:ext cx="345025" cy="344487"/>
          </p:xfrm>
          <a:graphic>
            <a:graphicData uri="http://schemas.openxmlformats.org/presentationml/2006/ole">
              <mc:AlternateContent xmlns:mc="http://schemas.openxmlformats.org/markup-compatibility/2006">
                <mc:Choice xmlns:v="urn:schemas-microsoft-com:vml" Requires="v">
                  <p:oleObj spid="_x0000_s38702" name="Equation" r:id="rId27" imgW="152400" imgH="165100" progId="Equation.DSMT4">
                    <p:embed/>
                  </p:oleObj>
                </mc:Choice>
                <mc:Fallback>
                  <p:oleObj name="Equation" r:id="rId27" imgW="152400" imgH="165100" progId="Equation.DSMT4">
                    <p:embed/>
                    <p:pic>
                      <p:nvPicPr>
                        <p:cNvPr id="0" name="对象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3239" y="2756570"/>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429" name="组合 25"/>
          <p:cNvGrpSpPr/>
          <p:nvPr/>
        </p:nvGrpSpPr>
        <p:grpSpPr bwMode="auto">
          <a:xfrm>
            <a:off x="1588" y="2822575"/>
            <a:ext cx="9144000" cy="831850"/>
            <a:chOff x="1" y="4300537"/>
            <a:chExt cx="9143999" cy="831850"/>
          </a:xfrm>
        </p:grpSpPr>
        <p:sp>
          <p:nvSpPr>
            <p:cNvPr id="17434" name="矩形 26"/>
            <p:cNvSpPr>
              <a:spLocks noChangeArrowheads="1"/>
            </p:cNvSpPr>
            <p:nvPr/>
          </p:nvSpPr>
          <p:spPr bwMode="auto">
            <a:xfrm>
              <a:off x="1" y="4300537"/>
              <a:ext cx="9143999" cy="83185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    中    个线性无关的列向量称为</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基向量</a:t>
              </a:r>
              <a:endParaRPr kumimoji="0"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变量   中与之对应的    个分量称为</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基变量</a:t>
              </a:r>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，其余的变量为</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非基变量</a:t>
              </a:r>
              <a:endParaRPr kumimoji="0" lang="zh-CN" altLang="en-US">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7435" name="对象 27"/>
            <p:cNvGraphicFramePr>
              <a:graphicFrameLocks noChangeAspect="1"/>
            </p:cNvGraphicFramePr>
            <p:nvPr/>
          </p:nvGraphicFramePr>
          <p:xfrm>
            <a:off x="79375" y="4371975"/>
            <a:ext cx="317500" cy="344487"/>
          </p:xfrm>
          <a:graphic>
            <a:graphicData uri="http://schemas.openxmlformats.org/presentationml/2006/ole">
              <mc:AlternateContent xmlns:mc="http://schemas.openxmlformats.org/markup-compatibility/2006">
                <mc:Choice xmlns:v="urn:schemas-microsoft-com:vml" Requires="v">
                  <p:oleObj spid="_x0000_s38703" name="Equation" r:id="rId28" imgW="152400" imgH="165100" progId="Equation.DSMT4">
                    <p:embed/>
                  </p:oleObj>
                </mc:Choice>
                <mc:Fallback>
                  <p:oleObj name="Equation" r:id="rId28" imgW="152400" imgH="165100" progId="Equation.DSMT4">
                    <p:embed/>
                    <p:pic>
                      <p:nvPicPr>
                        <p:cNvPr id="0" name="对象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375" y="4371975"/>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6" name="对象 28"/>
            <p:cNvGraphicFramePr>
              <a:graphicFrameLocks noChangeAspect="1"/>
            </p:cNvGraphicFramePr>
            <p:nvPr/>
          </p:nvGraphicFramePr>
          <p:xfrm>
            <a:off x="655637" y="4398962"/>
            <a:ext cx="346075" cy="290512"/>
          </p:xfrm>
          <a:graphic>
            <a:graphicData uri="http://schemas.openxmlformats.org/presentationml/2006/ole">
              <mc:AlternateContent xmlns:mc="http://schemas.openxmlformats.org/markup-compatibility/2006">
                <mc:Choice xmlns:v="urn:schemas-microsoft-com:vml" Requires="v">
                  <p:oleObj spid="_x0000_s38704" name="Equation" r:id="rId29" imgW="165100" imgH="139700" progId="Equation.DSMT4">
                    <p:embed/>
                  </p:oleObj>
                </mc:Choice>
                <mc:Fallback>
                  <p:oleObj name="Equation" r:id="rId29" imgW="165100" imgH="139700" progId="Equation.DSMT4">
                    <p:embed/>
                    <p:pic>
                      <p:nvPicPr>
                        <p:cNvPr id="0" name="对象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5637" y="4398962"/>
                          <a:ext cx="34607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7" name="对象 29"/>
            <p:cNvGraphicFramePr>
              <a:graphicFrameLocks noChangeAspect="1"/>
            </p:cNvGraphicFramePr>
            <p:nvPr/>
          </p:nvGraphicFramePr>
          <p:xfrm>
            <a:off x="673408" y="4764880"/>
            <a:ext cx="265113" cy="292100"/>
          </p:xfrm>
          <a:graphic>
            <a:graphicData uri="http://schemas.openxmlformats.org/presentationml/2006/ole">
              <mc:AlternateContent xmlns:mc="http://schemas.openxmlformats.org/markup-compatibility/2006">
                <mc:Choice xmlns:v="urn:schemas-microsoft-com:vml" Requires="v">
                  <p:oleObj spid="_x0000_s38705" name="Equation" r:id="rId30" imgW="127000" imgH="139700" progId="Equation.DSMT4">
                    <p:embed/>
                  </p:oleObj>
                </mc:Choice>
                <mc:Fallback>
                  <p:oleObj name="Equation" r:id="rId30" imgW="127000" imgH="139700" progId="Equation.DSMT4">
                    <p:embed/>
                    <p:pic>
                      <p:nvPicPr>
                        <p:cNvPr id="0" name="对象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3408" y="4764880"/>
                          <a:ext cx="265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8" name="对象 30"/>
            <p:cNvGraphicFramePr>
              <a:graphicFrameLocks noChangeAspect="1"/>
            </p:cNvGraphicFramePr>
            <p:nvPr/>
          </p:nvGraphicFramePr>
          <p:xfrm>
            <a:off x="2746094" y="4766578"/>
            <a:ext cx="346075" cy="290513"/>
          </p:xfrm>
          <a:graphic>
            <a:graphicData uri="http://schemas.openxmlformats.org/presentationml/2006/ole">
              <mc:AlternateContent xmlns:mc="http://schemas.openxmlformats.org/markup-compatibility/2006">
                <mc:Choice xmlns:v="urn:schemas-microsoft-com:vml" Requires="v">
                  <p:oleObj spid="_x0000_s38706" name="Equation" r:id="rId32" imgW="165100" imgH="139700" progId="Equation.DSMT4">
                    <p:embed/>
                  </p:oleObj>
                </mc:Choice>
                <mc:Fallback>
                  <p:oleObj name="Equation" r:id="rId32" imgW="165100" imgH="139700" progId="Equation.DSMT4">
                    <p:embed/>
                    <p:pic>
                      <p:nvPicPr>
                        <p:cNvPr id="0" name="对象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46094" y="4766578"/>
                          <a:ext cx="3460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430" name="组合 31"/>
          <p:cNvGrpSpPr/>
          <p:nvPr/>
        </p:nvGrpSpPr>
        <p:grpSpPr bwMode="auto">
          <a:xfrm>
            <a:off x="0" y="3741738"/>
            <a:ext cx="9144000" cy="619125"/>
            <a:chOff x="0" y="5229200"/>
            <a:chExt cx="9143999" cy="619125"/>
          </a:xfrm>
        </p:grpSpPr>
        <p:graphicFrame>
          <p:nvGraphicFramePr>
            <p:cNvPr id="17431" name="对象 31"/>
            <p:cNvGraphicFramePr>
              <a:graphicFrameLocks noChangeAspect="1"/>
            </p:cNvGraphicFramePr>
            <p:nvPr/>
          </p:nvGraphicFramePr>
          <p:xfrm>
            <a:off x="5187950" y="5229200"/>
            <a:ext cx="895350" cy="619125"/>
          </p:xfrm>
          <a:graphic>
            <a:graphicData uri="http://schemas.openxmlformats.org/presentationml/2006/ole">
              <mc:AlternateContent xmlns:mc="http://schemas.openxmlformats.org/markup-compatibility/2006">
                <mc:Choice xmlns:v="urn:schemas-microsoft-com:vml" Requires="v">
                  <p:oleObj spid="_x0000_s38707" name="Equation" r:id="rId33" imgW="923925" imgH="641985" progId="Equation.DSMT4">
                    <p:embed/>
                  </p:oleObj>
                </mc:Choice>
                <mc:Fallback>
                  <p:oleObj name="Equation" r:id="rId33" imgW="923925" imgH="641985" progId="Equation.DSMT4">
                    <p:embed/>
                    <p:pic>
                      <p:nvPicPr>
                        <p:cNvPr id="0" name="对象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87950" y="5229200"/>
                          <a:ext cx="8953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2" name="对象 34"/>
            <p:cNvGraphicFramePr>
              <a:graphicFrameLocks noChangeAspect="1"/>
            </p:cNvGraphicFramePr>
            <p:nvPr/>
          </p:nvGraphicFramePr>
          <p:xfrm>
            <a:off x="7598012" y="5373216"/>
            <a:ext cx="317500" cy="344487"/>
          </p:xfrm>
          <a:graphic>
            <a:graphicData uri="http://schemas.openxmlformats.org/presentationml/2006/ole">
              <mc:AlternateContent xmlns:mc="http://schemas.openxmlformats.org/markup-compatibility/2006">
                <mc:Choice xmlns:v="urn:schemas-microsoft-com:vml" Requires="v">
                  <p:oleObj spid="_x0000_s38708" name="Equation" r:id="rId35" imgW="152400" imgH="165100" progId="Equation.DSMT4">
                    <p:embed/>
                  </p:oleObj>
                </mc:Choice>
                <mc:Fallback>
                  <p:oleObj name="Equation" r:id="rId35" imgW="152400" imgH="165100" progId="Equation.DSMT4">
                    <p:embed/>
                    <p:pic>
                      <p:nvPicPr>
                        <p:cNvPr id="0" name="对象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98012" y="5373216"/>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3" name="矩形 32"/>
            <p:cNvSpPr>
              <a:spLocks noChangeArrowheads="1"/>
            </p:cNvSpPr>
            <p:nvPr/>
          </p:nvSpPr>
          <p:spPr bwMode="auto">
            <a:xfrm>
              <a:off x="0" y="5300901"/>
              <a:ext cx="914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令所有的非基变量取值为</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得到的解             称为相应于    的</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基解</a:t>
              </a:r>
              <a:endPar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 name="灯片编号占位符 1"/>
          <p:cNvSpPr>
            <a:spLocks noGrp="1"/>
          </p:cNvSpPr>
          <p:nvPr>
            <p:ph type="sldNum" sz="quarter" idx="12"/>
          </p:nvPr>
        </p:nvSpPr>
        <p:spPr>
          <a:xfrm>
            <a:off x="7239000" y="6388100"/>
            <a:ext cx="1905000" cy="457200"/>
          </a:xfrm>
        </p:spPr>
        <p:txBody>
          <a:bodyPr/>
          <a:lstStyle/>
          <a:p>
            <a:pPr>
              <a:defRPr/>
            </a:pPr>
            <a:fld id="{6DC1E550-C484-4733-8AE5-552F7C7F219F}" type="slidenum">
              <a:rPr lang="en-US" altLang="zh-CN" smtClean="0"/>
              <a:t>70</a:t>
            </a:fld>
            <a:endParaRPr lang="en-US" altLang="zh-CN"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62"/>
          <p:cNvSpPr>
            <a:spLocks noChangeArrowheads="1"/>
          </p:cNvSpPr>
          <p:nvPr/>
        </p:nvSpPr>
        <p:spPr bwMode="auto">
          <a:xfrm>
            <a:off x="0" y="2347913"/>
            <a:ext cx="9144000" cy="444500"/>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8435" name="矩形 45"/>
          <p:cNvSpPr>
            <a:spLocks noChangeArrowheads="1"/>
          </p:cNvSpPr>
          <p:nvPr/>
        </p:nvSpPr>
        <p:spPr bwMode="auto">
          <a:xfrm>
            <a:off x="0" y="12700"/>
            <a:ext cx="9144000" cy="23542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8436" name="对象 30"/>
          <p:cNvGraphicFramePr>
            <a:graphicFrameLocks noChangeAspect="1"/>
          </p:cNvGraphicFramePr>
          <p:nvPr/>
        </p:nvGraphicFramePr>
        <p:xfrm>
          <a:off x="1155700" y="39688"/>
          <a:ext cx="1408113" cy="395287"/>
        </p:xfrm>
        <a:graphic>
          <a:graphicData uri="http://schemas.openxmlformats.org/presentationml/2006/ole">
            <mc:AlternateContent xmlns:mc="http://schemas.openxmlformats.org/markup-compatibility/2006">
              <mc:Choice xmlns:v="urn:schemas-microsoft-com:vml" Requires="v">
                <p:oleObj spid="_x0000_s39798" name="Equation" r:id="rId3" imgW="723900" imgH="203200" progId="Equation.DSMT4">
                  <p:embed/>
                </p:oleObj>
              </mc:Choice>
              <mc:Fallback>
                <p:oleObj name="Equation" r:id="rId3" imgW="723900" imgH="203200" progId="Equation.DSMT4">
                  <p:embed/>
                  <p:pic>
                    <p:nvPicPr>
                      <p:cNvPr id="0" name="对象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39688"/>
                        <a:ext cx="14081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7" name="对象 33"/>
          <p:cNvGraphicFramePr>
            <a:graphicFrameLocks noChangeAspect="1"/>
          </p:cNvGraphicFramePr>
          <p:nvPr/>
        </p:nvGraphicFramePr>
        <p:xfrm>
          <a:off x="2657475" y="-26988"/>
          <a:ext cx="1422400" cy="461963"/>
        </p:xfrm>
        <a:graphic>
          <a:graphicData uri="http://schemas.openxmlformats.org/presentationml/2006/ole">
            <mc:AlternateContent xmlns:mc="http://schemas.openxmlformats.org/markup-compatibility/2006">
              <mc:Choice xmlns:v="urn:schemas-microsoft-com:vml" Requires="v">
                <p:oleObj spid="_x0000_s39799" name="Equation" r:id="rId5" imgW="939165" imgH="304800" progId="Equation.DSMT4">
                  <p:embed/>
                </p:oleObj>
              </mc:Choice>
              <mc:Fallback>
                <p:oleObj name="Equation" r:id="rId5" imgW="939165" imgH="304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75" y="-26988"/>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对象 34"/>
          <p:cNvGraphicFramePr>
            <a:graphicFrameLocks noChangeAspect="1"/>
          </p:cNvGraphicFramePr>
          <p:nvPr/>
        </p:nvGraphicFramePr>
        <p:xfrm>
          <a:off x="1247775" y="611188"/>
          <a:ext cx="989013" cy="396875"/>
        </p:xfrm>
        <a:graphic>
          <a:graphicData uri="http://schemas.openxmlformats.org/presentationml/2006/ole">
            <mc:AlternateContent xmlns:mc="http://schemas.openxmlformats.org/markup-compatibility/2006">
              <mc:Choice xmlns:v="urn:schemas-microsoft-com:vml" Requires="v">
                <p:oleObj spid="_x0000_s39800" name="Equation" r:id="rId7" imgW="443865" imgH="177800" progId="Equation.DSMT4">
                  <p:embed/>
                </p:oleObj>
              </mc:Choice>
              <mc:Fallback>
                <p:oleObj name="Equation" r:id="rId7" imgW="443865" imgH="177800" progId="Equation.DSMT4">
                  <p:embed/>
                  <p:pic>
                    <p:nvPicPr>
                      <p:cNvPr id="0" name="对象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7775" y="611188"/>
                        <a:ext cx="98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9" name="对象 35"/>
          <p:cNvGraphicFramePr>
            <a:graphicFrameLocks noChangeAspect="1"/>
          </p:cNvGraphicFramePr>
          <p:nvPr/>
        </p:nvGraphicFramePr>
        <p:xfrm>
          <a:off x="3368675" y="611188"/>
          <a:ext cx="1385888" cy="396875"/>
        </p:xfrm>
        <a:graphic>
          <a:graphicData uri="http://schemas.openxmlformats.org/presentationml/2006/ole">
            <mc:AlternateContent xmlns:mc="http://schemas.openxmlformats.org/markup-compatibility/2006">
              <mc:Choice xmlns:v="urn:schemas-microsoft-com:vml" Requires="v">
                <p:oleObj spid="_x0000_s39801" name="Equation" r:id="rId9" imgW="800100" imgH="228600" progId="Equation.DSMT4">
                  <p:embed/>
                </p:oleObj>
              </mc:Choice>
              <mc:Fallback>
                <p:oleObj name="Equation" r:id="rId9" imgW="800100" imgH="228600" progId="Equation.DSMT4">
                  <p:embed/>
                  <p:pic>
                    <p:nvPicPr>
                      <p:cNvPr id="0" name="对象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675" y="611188"/>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0" name="对象 38"/>
          <p:cNvGraphicFramePr>
            <a:graphicFrameLocks noChangeAspect="1"/>
          </p:cNvGraphicFramePr>
          <p:nvPr/>
        </p:nvGraphicFramePr>
        <p:xfrm>
          <a:off x="3390900" y="1127125"/>
          <a:ext cx="1998663" cy="395288"/>
        </p:xfrm>
        <a:graphic>
          <a:graphicData uri="http://schemas.openxmlformats.org/presentationml/2006/ole">
            <mc:AlternateContent xmlns:mc="http://schemas.openxmlformats.org/markup-compatibility/2006">
              <mc:Choice xmlns:v="urn:schemas-microsoft-com:vml" Requires="v">
                <p:oleObj spid="_x0000_s39802" name="Equation" r:id="rId11" imgW="1218565" imgH="241300" progId="Equation.DSMT4">
                  <p:embed/>
                </p:oleObj>
              </mc:Choice>
              <mc:Fallback>
                <p:oleObj name="Equation" r:id="rId11" imgW="1218565" imgH="241300" progId="Equation.DSMT4">
                  <p:embed/>
                  <p:pic>
                    <p:nvPicPr>
                      <p:cNvPr id="0" name="对象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0900" y="1127125"/>
                        <a:ext cx="1998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对象 39"/>
          <p:cNvGraphicFramePr>
            <a:graphicFrameLocks noChangeAspect="1"/>
          </p:cNvGraphicFramePr>
          <p:nvPr/>
        </p:nvGraphicFramePr>
        <p:xfrm>
          <a:off x="5959475" y="1122363"/>
          <a:ext cx="1978025" cy="395287"/>
        </p:xfrm>
        <a:graphic>
          <a:graphicData uri="http://schemas.openxmlformats.org/presentationml/2006/ole">
            <mc:AlternateContent xmlns:mc="http://schemas.openxmlformats.org/markup-compatibility/2006">
              <mc:Choice xmlns:v="urn:schemas-microsoft-com:vml" Requires="v">
                <p:oleObj spid="_x0000_s39803" name="Equation" r:id="rId13" imgW="1206500" imgH="241300" progId="Equation.DSMT4">
                  <p:embed/>
                </p:oleObj>
              </mc:Choice>
              <mc:Fallback>
                <p:oleObj name="Equation" r:id="rId13" imgW="1206500" imgH="241300" progId="Equation.DSMT4">
                  <p:embed/>
                  <p:pic>
                    <p:nvPicPr>
                      <p:cNvPr id="0" name="对象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9475" y="1122363"/>
                        <a:ext cx="19780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2" name="对象 40"/>
          <p:cNvGraphicFramePr>
            <a:graphicFrameLocks noChangeAspect="1"/>
          </p:cNvGraphicFramePr>
          <p:nvPr/>
        </p:nvGraphicFramePr>
        <p:xfrm>
          <a:off x="3424238" y="1577975"/>
          <a:ext cx="906462" cy="627063"/>
        </p:xfrm>
        <a:graphic>
          <a:graphicData uri="http://schemas.openxmlformats.org/presentationml/2006/ole">
            <mc:AlternateContent xmlns:mc="http://schemas.openxmlformats.org/markup-compatibility/2006">
              <mc:Choice xmlns:v="urn:schemas-microsoft-com:vml" Requires="v">
                <p:oleObj spid="_x0000_s39804" name="Equation" r:id="rId15" imgW="698500" imgH="482600" progId="Equation.DSMT4">
                  <p:embed/>
                </p:oleObj>
              </mc:Choice>
              <mc:Fallback>
                <p:oleObj name="Equation" r:id="rId15" imgW="698500" imgH="482600" progId="Equation.DSMT4">
                  <p:embed/>
                  <p:pic>
                    <p:nvPicPr>
                      <p:cNvPr id="0" name="对象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4238" y="1577975"/>
                        <a:ext cx="9064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3" name="对象 31"/>
          <p:cNvGraphicFramePr>
            <a:graphicFrameLocks noChangeAspect="1"/>
          </p:cNvGraphicFramePr>
          <p:nvPr/>
        </p:nvGraphicFramePr>
        <p:xfrm>
          <a:off x="2454275" y="1550988"/>
          <a:ext cx="660400" cy="395287"/>
        </p:xfrm>
        <a:graphic>
          <a:graphicData uri="http://schemas.openxmlformats.org/presentationml/2006/ole">
            <mc:AlternateContent xmlns:mc="http://schemas.openxmlformats.org/markup-compatibility/2006">
              <mc:Choice xmlns:v="urn:schemas-microsoft-com:vml" Requires="v">
                <p:oleObj spid="_x0000_s39805" name="Equation" r:id="rId17" imgW="381000" imgH="228600" progId="Equation.DSMT4">
                  <p:embed/>
                </p:oleObj>
              </mc:Choice>
              <mc:Fallback>
                <p:oleObj name="Equation" r:id="rId17" imgW="381000" imgH="228600" progId="Equation.DSMT4">
                  <p:embed/>
                  <p:pic>
                    <p:nvPicPr>
                      <p:cNvPr id="0" name="对象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275" y="1550988"/>
                        <a:ext cx="660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4" name="对象 32"/>
          <p:cNvGraphicFramePr>
            <a:graphicFrameLocks noChangeAspect="1"/>
          </p:cNvGraphicFramePr>
          <p:nvPr/>
        </p:nvGraphicFramePr>
        <p:xfrm>
          <a:off x="2917825" y="960438"/>
          <a:ext cx="500063" cy="395287"/>
        </p:xfrm>
        <a:graphic>
          <a:graphicData uri="http://schemas.openxmlformats.org/presentationml/2006/ole">
            <mc:AlternateContent xmlns:mc="http://schemas.openxmlformats.org/markup-compatibility/2006">
              <mc:Choice xmlns:v="urn:schemas-microsoft-com:vml" Requires="v">
                <p:oleObj spid="_x0000_s39806" name="Equation" r:id="rId19" imgW="241300" imgH="190500" progId="Equation.DSMT4">
                  <p:embed/>
                </p:oleObj>
              </mc:Choice>
              <mc:Fallback>
                <p:oleObj name="Equation" r:id="rId19" imgW="241300" imgH="190500" progId="Equation.DSMT4">
                  <p:embed/>
                  <p:pic>
                    <p:nvPicPr>
                      <p:cNvPr id="0" name="对象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7825" y="960438"/>
                        <a:ext cx="500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5" name="矩形 43"/>
          <p:cNvSpPr>
            <a:spLocks noChangeArrowheads="1"/>
          </p:cNvSpPr>
          <p:nvPr/>
        </p:nvSpPr>
        <p:spPr bwMode="auto">
          <a:xfrm>
            <a:off x="755650" y="-2698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令</a:t>
            </a:r>
            <a:endParaRPr lang="zh-CN" altLang="en-US">
              <a:ea typeface="微软雅黑" panose="020B0503020204020204" pitchFamily="34" charset="-122"/>
              <a:cs typeface="Times New Roman" panose="02020603050405020304" pitchFamily="18" charset="0"/>
            </a:endParaRPr>
          </a:p>
        </p:txBody>
      </p:sp>
      <p:sp>
        <p:nvSpPr>
          <p:cNvPr id="18446" name="Line 38"/>
          <p:cNvSpPr>
            <a:spLocks noChangeShapeType="1"/>
          </p:cNvSpPr>
          <p:nvPr/>
        </p:nvSpPr>
        <p:spPr bwMode="auto">
          <a:xfrm>
            <a:off x="2306638" y="8032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7" name="矩形 50"/>
          <p:cNvSpPr>
            <a:spLocks noChangeArrowheads="1"/>
          </p:cNvSpPr>
          <p:nvPr/>
        </p:nvSpPr>
        <p:spPr bwMode="auto">
          <a:xfrm>
            <a:off x="2420938" y="404813"/>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分块</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8448" name="Line 38"/>
          <p:cNvSpPr>
            <a:spLocks noChangeShapeType="1"/>
          </p:cNvSpPr>
          <p:nvPr/>
        </p:nvSpPr>
        <p:spPr bwMode="auto">
          <a:xfrm>
            <a:off x="2306638" y="1358900"/>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9" name="矩形 52"/>
          <p:cNvSpPr>
            <a:spLocks noChangeArrowheads="1"/>
          </p:cNvSpPr>
          <p:nvPr/>
        </p:nvSpPr>
        <p:spPr bwMode="auto">
          <a:xfrm>
            <a:off x="2270125" y="960438"/>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左乘</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8450" name="Line 38"/>
          <p:cNvSpPr>
            <a:spLocks noChangeShapeType="1"/>
          </p:cNvSpPr>
          <p:nvPr/>
        </p:nvSpPr>
        <p:spPr bwMode="auto">
          <a:xfrm>
            <a:off x="2306638" y="19208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1" name="矩形 55"/>
          <p:cNvSpPr>
            <a:spLocks noChangeArrowheads="1"/>
          </p:cNvSpPr>
          <p:nvPr/>
        </p:nvSpPr>
        <p:spPr bwMode="auto">
          <a:xfrm>
            <a:off x="5438775" y="10556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en-US">
              <a:ea typeface="微软雅黑" panose="020B0503020204020204" pitchFamily="34" charset="-122"/>
              <a:cs typeface="Times New Roman" panose="02020603050405020304" pitchFamily="18" charset="0"/>
            </a:endParaRPr>
          </a:p>
        </p:txBody>
      </p:sp>
      <p:grpSp>
        <p:nvGrpSpPr>
          <p:cNvPr id="18452" name="组合 1"/>
          <p:cNvGrpSpPr/>
          <p:nvPr/>
        </p:nvGrpSpPr>
        <p:grpSpPr bwMode="auto">
          <a:xfrm>
            <a:off x="0" y="2379663"/>
            <a:ext cx="9645650" cy="461962"/>
            <a:chOff x="21142" y="2706416"/>
            <a:chExt cx="9645170" cy="461665"/>
          </a:xfrm>
        </p:grpSpPr>
        <p:sp>
          <p:nvSpPr>
            <p:cNvPr id="18466" name="矩形 56"/>
            <p:cNvSpPr>
              <a:spLocks noChangeArrowheads="1"/>
            </p:cNvSpPr>
            <p:nvPr/>
          </p:nvSpPr>
          <p:spPr bwMode="auto">
            <a:xfrm>
              <a:off x="21142" y="2706416"/>
              <a:ext cx="9645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设    是约束矩阵     的一个    阶满秩子方阵</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则称    为一个</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a:t>
              </a:r>
              <a:endParaRPr kumimoji="0"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8467" name="对象 46"/>
            <p:cNvGraphicFramePr>
              <a:graphicFrameLocks noChangeAspect="1"/>
            </p:cNvGraphicFramePr>
            <p:nvPr/>
          </p:nvGraphicFramePr>
          <p:xfrm>
            <a:off x="410551" y="2780928"/>
            <a:ext cx="345025" cy="344487"/>
          </p:xfrm>
          <a:graphic>
            <a:graphicData uri="http://schemas.openxmlformats.org/presentationml/2006/ole">
              <mc:AlternateContent xmlns:mc="http://schemas.openxmlformats.org/markup-compatibility/2006">
                <mc:Choice xmlns:v="urn:schemas-microsoft-com:vml" Requires="v">
                  <p:oleObj spid="_x0000_s39807" name="Equation" r:id="rId21" imgW="152400" imgH="165100" progId="Equation.DSMT4">
                    <p:embed/>
                  </p:oleObj>
                </mc:Choice>
                <mc:Fallback>
                  <p:oleObj name="Equation" r:id="rId21" imgW="152400" imgH="165100" progId="Equation.DSMT4">
                    <p:embed/>
                    <p:pic>
                      <p:nvPicPr>
                        <p:cNvPr id="0" name="对象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0551" y="2780928"/>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68" name="对象 59"/>
            <p:cNvGraphicFramePr>
              <a:graphicFrameLocks noChangeAspect="1"/>
            </p:cNvGraphicFramePr>
            <p:nvPr/>
          </p:nvGraphicFramePr>
          <p:xfrm>
            <a:off x="2222426" y="2755017"/>
            <a:ext cx="346751" cy="344487"/>
          </p:xfrm>
          <a:graphic>
            <a:graphicData uri="http://schemas.openxmlformats.org/presentationml/2006/ole">
              <mc:AlternateContent xmlns:mc="http://schemas.openxmlformats.org/markup-compatibility/2006">
                <mc:Choice xmlns:v="urn:schemas-microsoft-com:vml" Requires="v">
                  <p:oleObj spid="_x0000_s39808" name="Equation" r:id="rId23" imgW="152400" imgH="165100" progId="Equation.DSMT4">
                    <p:embed/>
                  </p:oleObj>
                </mc:Choice>
                <mc:Fallback>
                  <p:oleObj name="Equation" r:id="rId23" imgW="152400" imgH="165100" progId="Equation.DSMT4">
                    <p:embed/>
                    <p:pic>
                      <p:nvPicPr>
                        <p:cNvPr id="0" name="对象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22426" y="2755017"/>
                          <a:ext cx="346751"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69" name="对象 60"/>
            <p:cNvGraphicFramePr>
              <a:graphicFrameLocks noChangeAspect="1"/>
            </p:cNvGraphicFramePr>
            <p:nvPr/>
          </p:nvGraphicFramePr>
          <p:xfrm>
            <a:off x="3547851" y="2809603"/>
            <a:ext cx="376077" cy="290513"/>
          </p:xfrm>
          <a:graphic>
            <a:graphicData uri="http://schemas.openxmlformats.org/presentationml/2006/ole">
              <mc:AlternateContent xmlns:mc="http://schemas.openxmlformats.org/markup-compatibility/2006">
                <mc:Choice xmlns:v="urn:schemas-microsoft-com:vml" Requires="v">
                  <p:oleObj spid="_x0000_s39809" name="Equation" r:id="rId25" imgW="165100" imgH="139700" progId="Equation.DSMT4">
                    <p:embed/>
                  </p:oleObj>
                </mc:Choice>
                <mc:Fallback>
                  <p:oleObj name="Equation" r:id="rId25" imgW="165100" imgH="139700" progId="Equation.DSMT4">
                    <p:embed/>
                    <p:pic>
                      <p:nvPicPr>
                        <p:cNvPr id="0" name="对象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7851" y="2809603"/>
                          <a:ext cx="37607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70" name="对象 61"/>
            <p:cNvGraphicFramePr>
              <a:graphicFrameLocks noChangeAspect="1"/>
            </p:cNvGraphicFramePr>
            <p:nvPr/>
          </p:nvGraphicFramePr>
          <p:xfrm>
            <a:off x="6603239" y="2756570"/>
            <a:ext cx="345025" cy="344487"/>
          </p:xfrm>
          <a:graphic>
            <a:graphicData uri="http://schemas.openxmlformats.org/presentationml/2006/ole">
              <mc:AlternateContent xmlns:mc="http://schemas.openxmlformats.org/markup-compatibility/2006">
                <mc:Choice xmlns:v="urn:schemas-microsoft-com:vml" Requires="v">
                  <p:oleObj spid="_x0000_s39810" name="Equation" r:id="rId27" imgW="152400" imgH="165100" progId="Equation.DSMT4">
                    <p:embed/>
                  </p:oleObj>
                </mc:Choice>
                <mc:Fallback>
                  <p:oleObj name="Equation" r:id="rId27" imgW="152400" imgH="165100" progId="Equation.DSMT4">
                    <p:embed/>
                    <p:pic>
                      <p:nvPicPr>
                        <p:cNvPr id="0" name="对象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3239" y="2756570"/>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8453" name="组合 25"/>
          <p:cNvGrpSpPr/>
          <p:nvPr/>
        </p:nvGrpSpPr>
        <p:grpSpPr bwMode="auto">
          <a:xfrm>
            <a:off x="1588" y="2822575"/>
            <a:ext cx="9144000" cy="831850"/>
            <a:chOff x="1" y="4300537"/>
            <a:chExt cx="9143999" cy="831850"/>
          </a:xfrm>
        </p:grpSpPr>
        <p:sp>
          <p:nvSpPr>
            <p:cNvPr id="18461" name="矩形 26"/>
            <p:cNvSpPr>
              <a:spLocks noChangeArrowheads="1"/>
            </p:cNvSpPr>
            <p:nvPr/>
          </p:nvSpPr>
          <p:spPr bwMode="auto">
            <a:xfrm>
              <a:off x="1" y="4300537"/>
              <a:ext cx="9143999" cy="83185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    中    个线性无关的列向量称为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基向量</a:t>
              </a:r>
              <a:endParaRPr kumimoji="0"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   中与之对应的    个分量称为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基变量</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其余的变量为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非基变量</a:t>
              </a:r>
              <a:endParaRPr kumimoji="0"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8462" name="对象 27"/>
            <p:cNvGraphicFramePr>
              <a:graphicFrameLocks noChangeAspect="1"/>
            </p:cNvGraphicFramePr>
            <p:nvPr/>
          </p:nvGraphicFramePr>
          <p:xfrm>
            <a:off x="79375" y="4371975"/>
            <a:ext cx="317500" cy="344487"/>
          </p:xfrm>
          <a:graphic>
            <a:graphicData uri="http://schemas.openxmlformats.org/presentationml/2006/ole">
              <mc:AlternateContent xmlns:mc="http://schemas.openxmlformats.org/markup-compatibility/2006">
                <mc:Choice xmlns:v="urn:schemas-microsoft-com:vml" Requires="v">
                  <p:oleObj spid="_x0000_s39811" name="Equation" r:id="rId28" imgW="152400" imgH="165100" progId="Equation.DSMT4">
                    <p:embed/>
                  </p:oleObj>
                </mc:Choice>
                <mc:Fallback>
                  <p:oleObj name="Equation" r:id="rId28" imgW="152400" imgH="165100" progId="Equation.DSMT4">
                    <p:embed/>
                    <p:pic>
                      <p:nvPicPr>
                        <p:cNvPr id="0" name="对象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375" y="4371975"/>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63" name="对象 28"/>
            <p:cNvGraphicFramePr>
              <a:graphicFrameLocks noChangeAspect="1"/>
            </p:cNvGraphicFramePr>
            <p:nvPr/>
          </p:nvGraphicFramePr>
          <p:xfrm>
            <a:off x="655637" y="4398962"/>
            <a:ext cx="346075" cy="290512"/>
          </p:xfrm>
          <a:graphic>
            <a:graphicData uri="http://schemas.openxmlformats.org/presentationml/2006/ole">
              <mc:AlternateContent xmlns:mc="http://schemas.openxmlformats.org/markup-compatibility/2006">
                <mc:Choice xmlns:v="urn:schemas-microsoft-com:vml" Requires="v">
                  <p:oleObj spid="_x0000_s39812" name="Equation" r:id="rId29" imgW="165100" imgH="139700" progId="Equation.DSMT4">
                    <p:embed/>
                  </p:oleObj>
                </mc:Choice>
                <mc:Fallback>
                  <p:oleObj name="Equation" r:id="rId29" imgW="165100" imgH="139700" progId="Equation.DSMT4">
                    <p:embed/>
                    <p:pic>
                      <p:nvPicPr>
                        <p:cNvPr id="0" name="对象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5637" y="4398962"/>
                          <a:ext cx="34607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64" name="对象 29"/>
            <p:cNvGraphicFramePr>
              <a:graphicFrameLocks noChangeAspect="1"/>
            </p:cNvGraphicFramePr>
            <p:nvPr/>
          </p:nvGraphicFramePr>
          <p:xfrm>
            <a:off x="673408" y="4764880"/>
            <a:ext cx="265113" cy="292100"/>
          </p:xfrm>
          <a:graphic>
            <a:graphicData uri="http://schemas.openxmlformats.org/presentationml/2006/ole">
              <mc:AlternateContent xmlns:mc="http://schemas.openxmlformats.org/markup-compatibility/2006">
                <mc:Choice xmlns:v="urn:schemas-microsoft-com:vml" Requires="v">
                  <p:oleObj spid="_x0000_s39813" name="Equation" r:id="rId30" imgW="127000" imgH="139700" progId="Equation.DSMT4">
                    <p:embed/>
                  </p:oleObj>
                </mc:Choice>
                <mc:Fallback>
                  <p:oleObj name="Equation" r:id="rId30" imgW="127000" imgH="139700" progId="Equation.DSMT4">
                    <p:embed/>
                    <p:pic>
                      <p:nvPicPr>
                        <p:cNvPr id="0" name="对象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3408" y="4764880"/>
                          <a:ext cx="265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65" name="对象 30"/>
            <p:cNvGraphicFramePr>
              <a:graphicFrameLocks noChangeAspect="1"/>
            </p:cNvGraphicFramePr>
            <p:nvPr/>
          </p:nvGraphicFramePr>
          <p:xfrm>
            <a:off x="2746094" y="4766578"/>
            <a:ext cx="346075" cy="290513"/>
          </p:xfrm>
          <a:graphic>
            <a:graphicData uri="http://schemas.openxmlformats.org/presentationml/2006/ole">
              <mc:AlternateContent xmlns:mc="http://schemas.openxmlformats.org/markup-compatibility/2006">
                <mc:Choice xmlns:v="urn:schemas-microsoft-com:vml" Requires="v">
                  <p:oleObj spid="_x0000_s39814" name="Equation" r:id="rId32" imgW="165100" imgH="139700" progId="Equation.DSMT4">
                    <p:embed/>
                  </p:oleObj>
                </mc:Choice>
                <mc:Fallback>
                  <p:oleObj name="Equation" r:id="rId32" imgW="165100" imgH="139700" progId="Equation.DSMT4">
                    <p:embed/>
                    <p:pic>
                      <p:nvPicPr>
                        <p:cNvPr id="0" name="对象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46094" y="4766578"/>
                          <a:ext cx="3460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8454" name="组合 31"/>
          <p:cNvGrpSpPr/>
          <p:nvPr/>
        </p:nvGrpSpPr>
        <p:grpSpPr bwMode="auto">
          <a:xfrm>
            <a:off x="0" y="3741738"/>
            <a:ext cx="9144000" cy="619125"/>
            <a:chOff x="0" y="5229200"/>
            <a:chExt cx="9143999" cy="619125"/>
          </a:xfrm>
        </p:grpSpPr>
        <p:graphicFrame>
          <p:nvGraphicFramePr>
            <p:cNvPr id="18458" name="对象 31"/>
            <p:cNvGraphicFramePr>
              <a:graphicFrameLocks noChangeAspect="1"/>
            </p:cNvGraphicFramePr>
            <p:nvPr/>
          </p:nvGraphicFramePr>
          <p:xfrm>
            <a:off x="5187950" y="5229200"/>
            <a:ext cx="895350" cy="619125"/>
          </p:xfrm>
          <a:graphic>
            <a:graphicData uri="http://schemas.openxmlformats.org/presentationml/2006/ole">
              <mc:AlternateContent xmlns:mc="http://schemas.openxmlformats.org/markup-compatibility/2006">
                <mc:Choice xmlns:v="urn:schemas-microsoft-com:vml" Requires="v">
                  <p:oleObj spid="_x0000_s39815" name="Equation" r:id="rId33" imgW="923925" imgH="641985" progId="Equation.DSMT4">
                    <p:embed/>
                  </p:oleObj>
                </mc:Choice>
                <mc:Fallback>
                  <p:oleObj name="Equation" r:id="rId33" imgW="923925" imgH="641985" progId="Equation.DSMT4">
                    <p:embed/>
                    <p:pic>
                      <p:nvPicPr>
                        <p:cNvPr id="0" name="对象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87950" y="5229200"/>
                          <a:ext cx="8953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9" name="对象 34"/>
            <p:cNvGraphicFramePr>
              <a:graphicFrameLocks noChangeAspect="1"/>
            </p:cNvGraphicFramePr>
            <p:nvPr/>
          </p:nvGraphicFramePr>
          <p:xfrm>
            <a:off x="7598012" y="5373216"/>
            <a:ext cx="317500" cy="344487"/>
          </p:xfrm>
          <a:graphic>
            <a:graphicData uri="http://schemas.openxmlformats.org/presentationml/2006/ole">
              <mc:AlternateContent xmlns:mc="http://schemas.openxmlformats.org/markup-compatibility/2006">
                <mc:Choice xmlns:v="urn:schemas-microsoft-com:vml" Requires="v">
                  <p:oleObj spid="_x0000_s39816" name="Equation" r:id="rId35" imgW="152400" imgH="165100" progId="Equation.DSMT4">
                    <p:embed/>
                  </p:oleObj>
                </mc:Choice>
                <mc:Fallback>
                  <p:oleObj name="Equation" r:id="rId35" imgW="152400" imgH="165100" progId="Equation.DSMT4">
                    <p:embed/>
                    <p:pic>
                      <p:nvPicPr>
                        <p:cNvPr id="0" name="对象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98012" y="5373216"/>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60" name="矩形 32"/>
            <p:cNvSpPr>
              <a:spLocks noChangeArrowheads="1"/>
            </p:cNvSpPr>
            <p:nvPr/>
          </p:nvSpPr>
          <p:spPr bwMode="auto">
            <a:xfrm>
              <a:off x="0" y="5300901"/>
              <a:ext cx="914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令所有的非基变量取值为</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得到的解             称为相应于    的</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基解</a:t>
              </a:r>
              <a:endPar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8455" name="矩形 35"/>
          <p:cNvSpPr>
            <a:spLocks noChangeArrowheads="1"/>
          </p:cNvSpPr>
          <p:nvPr/>
        </p:nvSpPr>
        <p:spPr bwMode="auto">
          <a:xfrm>
            <a:off x="0" y="4437063"/>
            <a:ext cx="9180513" cy="461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当             则称基解为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基可行解</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这时对应的基阵    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可行基</a:t>
            </a:r>
            <a:endPar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8456" name="对象 36"/>
          <p:cNvGraphicFramePr>
            <a:graphicFrameLocks noChangeAspect="1"/>
          </p:cNvGraphicFramePr>
          <p:nvPr/>
        </p:nvGraphicFramePr>
        <p:xfrm>
          <a:off x="454025" y="4479925"/>
          <a:ext cx="1008063" cy="376238"/>
        </p:xfrm>
        <a:graphic>
          <a:graphicData uri="http://schemas.openxmlformats.org/presentationml/2006/ole">
            <mc:AlternateContent xmlns:mc="http://schemas.openxmlformats.org/markup-compatibility/2006">
              <mc:Choice xmlns:v="urn:schemas-microsoft-com:vml" Requires="v">
                <p:oleObj spid="_x0000_s39817" name="Equation" r:id="rId36" imgW="545465" imgH="203200" progId="Equation.DSMT4">
                  <p:embed/>
                </p:oleObj>
              </mc:Choice>
              <mc:Fallback>
                <p:oleObj name="Equation" r:id="rId36" imgW="545465" imgH="203200" progId="Equation.DSMT4">
                  <p:embed/>
                  <p:pic>
                    <p:nvPicPr>
                      <p:cNvPr id="0" name="对象 3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54025" y="4479925"/>
                        <a:ext cx="100806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7" name="对象 37"/>
          <p:cNvGraphicFramePr>
            <a:graphicFrameLocks noChangeAspect="1"/>
          </p:cNvGraphicFramePr>
          <p:nvPr/>
        </p:nvGraphicFramePr>
        <p:xfrm>
          <a:off x="6615113" y="4508500"/>
          <a:ext cx="314325" cy="333375"/>
        </p:xfrm>
        <a:graphic>
          <a:graphicData uri="http://schemas.openxmlformats.org/presentationml/2006/ole">
            <mc:AlternateContent xmlns:mc="http://schemas.openxmlformats.org/markup-compatibility/2006">
              <mc:Choice xmlns:v="urn:schemas-microsoft-com:vml" Requires="v">
                <p:oleObj spid="_x0000_s39818" name="Equation" r:id="rId38" imgW="330835" imgH="349885" progId="Equation.DSMT4">
                  <p:embed/>
                </p:oleObj>
              </mc:Choice>
              <mc:Fallback>
                <p:oleObj name="Equation" r:id="rId38" imgW="330835" imgH="349885" progId="Equation.DSMT4">
                  <p:embed/>
                  <p:pic>
                    <p:nvPicPr>
                      <p:cNvPr id="0" name="对象 3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615113" y="4508500"/>
                        <a:ext cx="314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9000" y="6410920"/>
            <a:ext cx="1905000" cy="457200"/>
          </a:xfrm>
        </p:spPr>
        <p:txBody>
          <a:bodyPr/>
          <a:lstStyle/>
          <a:p>
            <a:pPr>
              <a:defRPr/>
            </a:pPr>
            <a:fld id="{6DC1E550-C484-4733-8AE5-552F7C7F219F}" type="slidenum">
              <a:rPr lang="en-US" altLang="zh-CN" smtClean="0"/>
              <a:t>71</a:t>
            </a:fld>
            <a:endParaRPr lang="en-US" altLang="zh-CN"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62"/>
          <p:cNvSpPr>
            <a:spLocks noChangeArrowheads="1"/>
          </p:cNvSpPr>
          <p:nvPr/>
        </p:nvSpPr>
        <p:spPr bwMode="auto">
          <a:xfrm>
            <a:off x="0" y="2347913"/>
            <a:ext cx="9144000" cy="444500"/>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sp>
        <p:nvSpPr>
          <p:cNvPr id="19459" name="矩形 45"/>
          <p:cNvSpPr>
            <a:spLocks noChangeArrowheads="1"/>
          </p:cNvSpPr>
          <p:nvPr/>
        </p:nvSpPr>
        <p:spPr bwMode="auto">
          <a:xfrm>
            <a:off x="0" y="12700"/>
            <a:ext cx="9144000" cy="23542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19460" name="对象 30"/>
          <p:cNvGraphicFramePr>
            <a:graphicFrameLocks noChangeAspect="1"/>
          </p:cNvGraphicFramePr>
          <p:nvPr/>
        </p:nvGraphicFramePr>
        <p:xfrm>
          <a:off x="1155700" y="39688"/>
          <a:ext cx="1408113" cy="395287"/>
        </p:xfrm>
        <a:graphic>
          <a:graphicData uri="http://schemas.openxmlformats.org/presentationml/2006/ole">
            <mc:AlternateContent xmlns:mc="http://schemas.openxmlformats.org/markup-compatibility/2006">
              <mc:Choice xmlns:v="urn:schemas-microsoft-com:vml" Requires="v">
                <p:oleObj spid="_x0000_s40886" name="Equation" r:id="rId3" imgW="723900" imgH="203200" progId="Equation.DSMT4">
                  <p:embed/>
                </p:oleObj>
              </mc:Choice>
              <mc:Fallback>
                <p:oleObj name="Equation" r:id="rId3" imgW="723900" imgH="203200" progId="Equation.DSMT4">
                  <p:embed/>
                  <p:pic>
                    <p:nvPicPr>
                      <p:cNvPr id="0" name="对象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39688"/>
                        <a:ext cx="14081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1" name="对象 33"/>
          <p:cNvGraphicFramePr>
            <a:graphicFrameLocks noChangeAspect="1"/>
          </p:cNvGraphicFramePr>
          <p:nvPr/>
        </p:nvGraphicFramePr>
        <p:xfrm>
          <a:off x="2657475" y="-26988"/>
          <a:ext cx="1422400" cy="461963"/>
        </p:xfrm>
        <a:graphic>
          <a:graphicData uri="http://schemas.openxmlformats.org/presentationml/2006/ole">
            <mc:AlternateContent xmlns:mc="http://schemas.openxmlformats.org/markup-compatibility/2006">
              <mc:Choice xmlns:v="urn:schemas-microsoft-com:vml" Requires="v">
                <p:oleObj spid="_x0000_s40887" name="Equation" r:id="rId5" imgW="939165" imgH="304800" progId="Equation.DSMT4">
                  <p:embed/>
                </p:oleObj>
              </mc:Choice>
              <mc:Fallback>
                <p:oleObj name="Equation" r:id="rId5" imgW="939165" imgH="304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75" y="-26988"/>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2" name="对象 34"/>
          <p:cNvGraphicFramePr>
            <a:graphicFrameLocks noChangeAspect="1"/>
          </p:cNvGraphicFramePr>
          <p:nvPr/>
        </p:nvGraphicFramePr>
        <p:xfrm>
          <a:off x="1247775" y="611188"/>
          <a:ext cx="989013" cy="396875"/>
        </p:xfrm>
        <a:graphic>
          <a:graphicData uri="http://schemas.openxmlformats.org/presentationml/2006/ole">
            <mc:AlternateContent xmlns:mc="http://schemas.openxmlformats.org/markup-compatibility/2006">
              <mc:Choice xmlns:v="urn:schemas-microsoft-com:vml" Requires="v">
                <p:oleObj spid="_x0000_s40888" name="Equation" r:id="rId7" imgW="443865" imgH="177800" progId="Equation.DSMT4">
                  <p:embed/>
                </p:oleObj>
              </mc:Choice>
              <mc:Fallback>
                <p:oleObj name="Equation" r:id="rId7" imgW="443865" imgH="177800" progId="Equation.DSMT4">
                  <p:embed/>
                  <p:pic>
                    <p:nvPicPr>
                      <p:cNvPr id="0" name="对象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7775" y="611188"/>
                        <a:ext cx="98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3" name="对象 35"/>
          <p:cNvGraphicFramePr>
            <a:graphicFrameLocks noChangeAspect="1"/>
          </p:cNvGraphicFramePr>
          <p:nvPr/>
        </p:nvGraphicFramePr>
        <p:xfrm>
          <a:off x="3368675" y="611188"/>
          <a:ext cx="1385888" cy="396875"/>
        </p:xfrm>
        <a:graphic>
          <a:graphicData uri="http://schemas.openxmlformats.org/presentationml/2006/ole">
            <mc:AlternateContent xmlns:mc="http://schemas.openxmlformats.org/markup-compatibility/2006">
              <mc:Choice xmlns:v="urn:schemas-microsoft-com:vml" Requires="v">
                <p:oleObj spid="_x0000_s40889" name="Equation" r:id="rId9" imgW="800100" imgH="228600" progId="Equation.DSMT4">
                  <p:embed/>
                </p:oleObj>
              </mc:Choice>
              <mc:Fallback>
                <p:oleObj name="Equation" r:id="rId9" imgW="800100" imgH="228600" progId="Equation.DSMT4">
                  <p:embed/>
                  <p:pic>
                    <p:nvPicPr>
                      <p:cNvPr id="0" name="对象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675" y="611188"/>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4" name="对象 38"/>
          <p:cNvGraphicFramePr>
            <a:graphicFrameLocks noChangeAspect="1"/>
          </p:cNvGraphicFramePr>
          <p:nvPr/>
        </p:nvGraphicFramePr>
        <p:xfrm>
          <a:off x="3390900" y="1127125"/>
          <a:ext cx="1998663" cy="395288"/>
        </p:xfrm>
        <a:graphic>
          <a:graphicData uri="http://schemas.openxmlformats.org/presentationml/2006/ole">
            <mc:AlternateContent xmlns:mc="http://schemas.openxmlformats.org/markup-compatibility/2006">
              <mc:Choice xmlns:v="urn:schemas-microsoft-com:vml" Requires="v">
                <p:oleObj spid="_x0000_s40890" name="Equation" r:id="rId11" imgW="1218565" imgH="241300" progId="Equation.DSMT4">
                  <p:embed/>
                </p:oleObj>
              </mc:Choice>
              <mc:Fallback>
                <p:oleObj name="Equation" r:id="rId11" imgW="1218565" imgH="241300" progId="Equation.DSMT4">
                  <p:embed/>
                  <p:pic>
                    <p:nvPicPr>
                      <p:cNvPr id="0" name="对象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0900" y="1127125"/>
                        <a:ext cx="1998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5" name="对象 39"/>
          <p:cNvGraphicFramePr>
            <a:graphicFrameLocks noChangeAspect="1"/>
          </p:cNvGraphicFramePr>
          <p:nvPr/>
        </p:nvGraphicFramePr>
        <p:xfrm>
          <a:off x="5959475" y="1122363"/>
          <a:ext cx="1978025" cy="395287"/>
        </p:xfrm>
        <a:graphic>
          <a:graphicData uri="http://schemas.openxmlformats.org/presentationml/2006/ole">
            <mc:AlternateContent xmlns:mc="http://schemas.openxmlformats.org/markup-compatibility/2006">
              <mc:Choice xmlns:v="urn:schemas-microsoft-com:vml" Requires="v">
                <p:oleObj spid="_x0000_s40891" name="Equation" r:id="rId13" imgW="1206500" imgH="241300" progId="Equation.DSMT4">
                  <p:embed/>
                </p:oleObj>
              </mc:Choice>
              <mc:Fallback>
                <p:oleObj name="Equation" r:id="rId13" imgW="1206500" imgH="241300" progId="Equation.DSMT4">
                  <p:embed/>
                  <p:pic>
                    <p:nvPicPr>
                      <p:cNvPr id="0" name="对象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9475" y="1122363"/>
                        <a:ext cx="19780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6" name="对象 40"/>
          <p:cNvGraphicFramePr>
            <a:graphicFrameLocks noChangeAspect="1"/>
          </p:cNvGraphicFramePr>
          <p:nvPr/>
        </p:nvGraphicFramePr>
        <p:xfrm>
          <a:off x="3424238" y="1577975"/>
          <a:ext cx="906462" cy="627063"/>
        </p:xfrm>
        <a:graphic>
          <a:graphicData uri="http://schemas.openxmlformats.org/presentationml/2006/ole">
            <mc:AlternateContent xmlns:mc="http://schemas.openxmlformats.org/markup-compatibility/2006">
              <mc:Choice xmlns:v="urn:schemas-microsoft-com:vml" Requires="v">
                <p:oleObj spid="_x0000_s40892" name="Equation" r:id="rId15" imgW="698500" imgH="482600" progId="Equation.DSMT4">
                  <p:embed/>
                </p:oleObj>
              </mc:Choice>
              <mc:Fallback>
                <p:oleObj name="Equation" r:id="rId15" imgW="698500" imgH="482600" progId="Equation.DSMT4">
                  <p:embed/>
                  <p:pic>
                    <p:nvPicPr>
                      <p:cNvPr id="0" name="对象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4238" y="1577975"/>
                        <a:ext cx="9064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7" name="对象 31"/>
          <p:cNvGraphicFramePr>
            <a:graphicFrameLocks noChangeAspect="1"/>
          </p:cNvGraphicFramePr>
          <p:nvPr/>
        </p:nvGraphicFramePr>
        <p:xfrm>
          <a:off x="2454275" y="1550988"/>
          <a:ext cx="660400" cy="395287"/>
        </p:xfrm>
        <a:graphic>
          <a:graphicData uri="http://schemas.openxmlformats.org/presentationml/2006/ole">
            <mc:AlternateContent xmlns:mc="http://schemas.openxmlformats.org/markup-compatibility/2006">
              <mc:Choice xmlns:v="urn:schemas-microsoft-com:vml" Requires="v">
                <p:oleObj spid="_x0000_s40893" name="Equation" r:id="rId17" imgW="381000" imgH="228600" progId="Equation.DSMT4">
                  <p:embed/>
                </p:oleObj>
              </mc:Choice>
              <mc:Fallback>
                <p:oleObj name="Equation" r:id="rId17" imgW="381000" imgH="228600" progId="Equation.DSMT4">
                  <p:embed/>
                  <p:pic>
                    <p:nvPicPr>
                      <p:cNvPr id="0" name="对象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275" y="1550988"/>
                        <a:ext cx="660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8" name="对象 32"/>
          <p:cNvGraphicFramePr>
            <a:graphicFrameLocks noChangeAspect="1"/>
          </p:cNvGraphicFramePr>
          <p:nvPr/>
        </p:nvGraphicFramePr>
        <p:xfrm>
          <a:off x="2917825" y="960438"/>
          <a:ext cx="500063" cy="395287"/>
        </p:xfrm>
        <a:graphic>
          <a:graphicData uri="http://schemas.openxmlformats.org/presentationml/2006/ole">
            <mc:AlternateContent xmlns:mc="http://schemas.openxmlformats.org/markup-compatibility/2006">
              <mc:Choice xmlns:v="urn:schemas-microsoft-com:vml" Requires="v">
                <p:oleObj spid="_x0000_s40894" name="Equation" r:id="rId19" imgW="241300" imgH="190500" progId="Equation.DSMT4">
                  <p:embed/>
                </p:oleObj>
              </mc:Choice>
              <mc:Fallback>
                <p:oleObj name="Equation" r:id="rId19" imgW="241300" imgH="190500" progId="Equation.DSMT4">
                  <p:embed/>
                  <p:pic>
                    <p:nvPicPr>
                      <p:cNvPr id="0" name="对象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7825" y="960438"/>
                        <a:ext cx="500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9" name="矩形 43"/>
          <p:cNvSpPr>
            <a:spLocks noChangeArrowheads="1"/>
          </p:cNvSpPr>
          <p:nvPr/>
        </p:nvSpPr>
        <p:spPr bwMode="auto">
          <a:xfrm>
            <a:off x="755650" y="-2698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令</a:t>
            </a:r>
            <a:endParaRPr lang="zh-CN" altLang="en-US">
              <a:ea typeface="微软雅黑" panose="020B0503020204020204" pitchFamily="34" charset="-122"/>
              <a:cs typeface="Times New Roman" panose="02020603050405020304" pitchFamily="18" charset="0"/>
            </a:endParaRPr>
          </a:p>
        </p:txBody>
      </p:sp>
      <p:sp>
        <p:nvSpPr>
          <p:cNvPr id="19470" name="Line 38"/>
          <p:cNvSpPr>
            <a:spLocks noChangeShapeType="1"/>
          </p:cNvSpPr>
          <p:nvPr/>
        </p:nvSpPr>
        <p:spPr bwMode="auto">
          <a:xfrm>
            <a:off x="2306638" y="8032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1" name="矩形 50"/>
          <p:cNvSpPr>
            <a:spLocks noChangeArrowheads="1"/>
          </p:cNvSpPr>
          <p:nvPr/>
        </p:nvSpPr>
        <p:spPr bwMode="auto">
          <a:xfrm>
            <a:off x="2420938" y="404813"/>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分块</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9472" name="Line 38"/>
          <p:cNvSpPr>
            <a:spLocks noChangeShapeType="1"/>
          </p:cNvSpPr>
          <p:nvPr/>
        </p:nvSpPr>
        <p:spPr bwMode="auto">
          <a:xfrm>
            <a:off x="2306638" y="1358900"/>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3" name="矩形 52"/>
          <p:cNvSpPr>
            <a:spLocks noChangeArrowheads="1"/>
          </p:cNvSpPr>
          <p:nvPr/>
        </p:nvSpPr>
        <p:spPr bwMode="auto">
          <a:xfrm>
            <a:off x="2270125" y="960438"/>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左乘</a:t>
            </a:r>
            <a:endParaRPr lang="zh-CN" altLang="en-US">
              <a:solidFill>
                <a:srgbClr val="0000FF"/>
              </a:solidFill>
              <a:ea typeface="微软雅黑" panose="020B0503020204020204" pitchFamily="34" charset="-122"/>
              <a:cs typeface="Times New Roman" panose="02020603050405020304" pitchFamily="18" charset="0"/>
            </a:endParaRPr>
          </a:p>
        </p:txBody>
      </p:sp>
      <p:sp>
        <p:nvSpPr>
          <p:cNvPr id="19474" name="Line 38"/>
          <p:cNvSpPr>
            <a:spLocks noChangeShapeType="1"/>
          </p:cNvSpPr>
          <p:nvPr/>
        </p:nvSpPr>
        <p:spPr bwMode="auto">
          <a:xfrm>
            <a:off x="2306638" y="1920875"/>
            <a:ext cx="1028700" cy="0"/>
          </a:xfrm>
          <a:prstGeom prst="line">
            <a:avLst/>
          </a:prstGeom>
          <a:noFill/>
          <a:ln w="2540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5" name="矩形 55"/>
          <p:cNvSpPr>
            <a:spLocks noChangeArrowheads="1"/>
          </p:cNvSpPr>
          <p:nvPr/>
        </p:nvSpPr>
        <p:spPr bwMode="auto">
          <a:xfrm>
            <a:off x="5438775" y="10556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en-US">
              <a:ea typeface="微软雅黑" panose="020B0503020204020204" pitchFamily="34" charset="-122"/>
              <a:cs typeface="Times New Roman" panose="02020603050405020304" pitchFamily="18" charset="0"/>
            </a:endParaRPr>
          </a:p>
        </p:txBody>
      </p:sp>
      <p:grpSp>
        <p:nvGrpSpPr>
          <p:cNvPr id="19476" name="组合 1"/>
          <p:cNvGrpSpPr/>
          <p:nvPr/>
        </p:nvGrpSpPr>
        <p:grpSpPr bwMode="auto">
          <a:xfrm>
            <a:off x="0" y="2379663"/>
            <a:ext cx="9645650" cy="461962"/>
            <a:chOff x="21142" y="2706416"/>
            <a:chExt cx="9645170" cy="461665"/>
          </a:xfrm>
        </p:grpSpPr>
        <p:sp>
          <p:nvSpPr>
            <p:cNvPr id="19492" name="矩形 56"/>
            <p:cNvSpPr>
              <a:spLocks noChangeArrowheads="1"/>
            </p:cNvSpPr>
            <p:nvPr/>
          </p:nvSpPr>
          <p:spPr bwMode="auto">
            <a:xfrm>
              <a:off x="21142" y="2706416"/>
              <a:ext cx="9645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设    是约束矩阵     的一个    阶满秩子方阵</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则称    为一个</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a:t>
              </a:r>
              <a:endParaRPr kumimoji="0"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493" name="对象 46"/>
            <p:cNvGraphicFramePr>
              <a:graphicFrameLocks noChangeAspect="1"/>
            </p:cNvGraphicFramePr>
            <p:nvPr/>
          </p:nvGraphicFramePr>
          <p:xfrm>
            <a:off x="410551" y="2780928"/>
            <a:ext cx="345025" cy="344487"/>
          </p:xfrm>
          <a:graphic>
            <a:graphicData uri="http://schemas.openxmlformats.org/presentationml/2006/ole">
              <mc:AlternateContent xmlns:mc="http://schemas.openxmlformats.org/markup-compatibility/2006">
                <mc:Choice xmlns:v="urn:schemas-microsoft-com:vml" Requires="v">
                  <p:oleObj spid="_x0000_s40895" name="Equation" r:id="rId21" imgW="152400" imgH="165100" progId="Equation.DSMT4">
                    <p:embed/>
                  </p:oleObj>
                </mc:Choice>
                <mc:Fallback>
                  <p:oleObj name="Equation" r:id="rId21" imgW="152400" imgH="165100" progId="Equation.DSMT4">
                    <p:embed/>
                    <p:pic>
                      <p:nvPicPr>
                        <p:cNvPr id="0" name="对象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0551" y="2780928"/>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4" name="对象 59"/>
            <p:cNvGraphicFramePr>
              <a:graphicFrameLocks noChangeAspect="1"/>
            </p:cNvGraphicFramePr>
            <p:nvPr/>
          </p:nvGraphicFramePr>
          <p:xfrm>
            <a:off x="2222426" y="2755017"/>
            <a:ext cx="346751" cy="344487"/>
          </p:xfrm>
          <a:graphic>
            <a:graphicData uri="http://schemas.openxmlformats.org/presentationml/2006/ole">
              <mc:AlternateContent xmlns:mc="http://schemas.openxmlformats.org/markup-compatibility/2006">
                <mc:Choice xmlns:v="urn:schemas-microsoft-com:vml" Requires="v">
                  <p:oleObj spid="_x0000_s40896" name="Equation" r:id="rId23" imgW="152400" imgH="165100" progId="Equation.DSMT4">
                    <p:embed/>
                  </p:oleObj>
                </mc:Choice>
                <mc:Fallback>
                  <p:oleObj name="Equation" r:id="rId23" imgW="152400" imgH="165100" progId="Equation.DSMT4">
                    <p:embed/>
                    <p:pic>
                      <p:nvPicPr>
                        <p:cNvPr id="0" name="对象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22426" y="2755017"/>
                          <a:ext cx="346751"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5" name="对象 60"/>
            <p:cNvGraphicFramePr>
              <a:graphicFrameLocks noChangeAspect="1"/>
            </p:cNvGraphicFramePr>
            <p:nvPr/>
          </p:nvGraphicFramePr>
          <p:xfrm>
            <a:off x="3547851" y="2809603"/>
            <a:ext cx="376077" cy="290513"/>
          </p:xfrm>
          <a:graphic>
            <a:graphicData uri="http://schemas.openxmlformats.org/presentationml/2006/ole">
              <mc:AlternateContent xmlns:mc="http://schemas.openxmlformats.org/markup-compatibility/2006">
                <mc:Choice xmlns:v="urn:schemas-microsoft-com:vml" Requires="v">
                  <p:oleObj spid="_x0000_s40897" name="Equation" r:id="rId25" imgW="165100" imgH="139700" progId="Equation.DSMT4">
                    <p:embed/>
                  </p:oleObj>
                </mc:Choice>
                <mc:Fallback>
                  <p:oleObj name="Equation" r:id="rId25" imgW="165100" imgH="139700" progId="Equation.DSMT4">
                    <p:embed/>
                    <p:pic>
                      <p:nvPicPr>
                        <p:cNvPr id="0" name="对象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7851" y="2809603"/>
                          <a:ext cx="37607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6" name="对象 61"/>
            <p:cNvGraphicFramePr>
              <a:graphicFrameLocks noChangeAspect="1"/>
            </p:cNvGraphicFramePr>
            <p:nvPr/>
          </p:nvGraphicFramePr>
          <p:xfrm>
            <a:off x="6603239" y="2756570"/>
            <a:ext cx="345025" cy="344487"/>
          </p:xfrm>
          <a:graphic>
            <a:graphicData uri="http://schemas.openxmlformats.org/presentationml/2006/ole">
              <mc:AlternateContent xmlns:mc="http://schemas.openxmlformats.org/markup-compatibility/2006">
                <mc:Choice xmlns:v="urn:schemas-microsoft-com:vml" Requires="v">
                  <p:oleObj spid="_x0000_s40898" name="Equation" r:id="rId27" imgW="152400" imgH="165100" progId="Equation.DSMT4">
                    <p:embed/>
                  </p:oleObj>
                </mc:Choice>
                <mc:Fallback>
                  <p:oleObj name="Equation" r:id="rId27" imgW="152400" imgH="165100" progId="Equation.DSMT4">
                    <p:embed/>
                    <p:pic>
                      <p:nvPicPr>
                        <p:cNvPr id="0" name="对象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3239" y="2756570"/>
                          <a:ext cx="3450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477" name="组合 25"/>
          <p:cNvGrpSpPr/>
          <p:nvPr/>
        </p:nvGrpSpPr>
        <p:grpSpPr bwMode="auto">
          <a:xfrm>
            <a:off x="1588" y="2822575"/>
            <a:ext cx="9144000" cy="831850"/>
            <a:chOff x="1" y="4300537"/>
            <a:chExt cx="9143999" cy="831850"/>
          </a:xfrm>
        </p:grpSpPr>
        <p:sp>
          <p:nvSpPr>
            <p:cNvPr id="19487" name="矩形 26"/>
            <p:cNvSpPr>
              <a:spLocks noChangeArrowheads="1"/>
            </p:cNvSpPr>
            <p:nvPr/>
          </p:nvSpPr>
          <p:spPr bwMode="auto">
            <a:xfrm>
              <a:off x="1" y="4300537"/>
              <a:ext cx="9143999" cy="83185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    中    个线性无关的列向量称为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基向量</a:t>
              </a:r>
              <a:endParaRPr kumimoji="0"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   中与之对应的    个分量称为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基变量</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其余的变量为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非基变量</a:t>
              </a:r>
              <a:endParaRPr kumimoji="0"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488" name="对象 27"/>
            <p:cNvGraphicFramePr>
              <a:graphicFrameLocks noChangeAspect="1"/>
            </p:cNvGraphicFramePr>
            <p:nvPr/>
          </p:nvGraphicFramePr>
          <p:xfrm>
            <a:off x="79375" y="4371975"/>
            <a:ext cx="317500" cy="344487"/>
          </p:xfrm>
          <a:graphic>
            <a:graphicData uri="http://schemas.openxmlformats.org/presentationml/2006/ole">
              <mc:AlternateContent xmlns:mc="http://schemas.openxmlformats.org/markup-compatibility/2006">
                <mc:Choice xmlns:v="urn:schemas-microsoft-com:vml" Requires="v">
                  <p:oleObj spid="_x0000_s40899" name="Equation" r:id="rId28" imgW="152400" imgH="165100" progId="Equation.DSMT4">
                    <p:embed/>
                  </p:oleObj>
                </mc:Choice>
                <mc:Fallback>
                  <p:oleObj name="Equation" r:id="rId28" imgW="152400" imgH="165100" progId="Equation.DSMT4">
                    <p:embed/>
                    <p:pic>
                      <p:nvPicPr>
                        <p:cNvPr id="0" name="对象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375" y="4371975"/>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89" name="对象 28"/>
            <p:cNvGraphicFramePr>
              <a:graphicFrameLocks noChangeAspect="1"/>
            </p:cNvGraphicFramePr>
            <p:nvPr/>
          </p:nvGraphicFramePr>
          <p:xfrm>
            <a:off x="655637" y="4398962"/>
            <a:ext cx="346075" cy="290512"/>
          </p:xfrm>
          <a:graphic>
            <a:graphicData uri="http://schemas.openxmlformats.org/presentationml/2006/ole">
              <mc:AlternateContent xmlns:mc="http://schemas.openxmlformats.org/markup-compatibility/2006">
                <mc:Choice xmlns:v="urn:schemas-microsoft-com:vml" Requires="v">
                  <p:oleObj spid="_x0000_s40900" name="Equation" r:id="rId29" imgW="165100" imgH="139700" progId="Equation.DSMT4">
                    <p:embed/>
                  </p:oleObj>
                </mc:Choice>
                <mc:Fallback>
                  <p:oleObj name="Equation" r:id="rId29" imgW="165100" imgH="139700" progId="Equation.DSMT4">
                    <p:embed/>
                    <p:pic>
                      <p:nvPicPr>
                        <p:cNvPr id="0" name="对象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5637" y="4398962"/>
                          <a:ext cx="34607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0" name="对象 29"/>
            <p:cNvGraphicFramePr>
              <a:graphicFrameLocks noChangeAspect="1"/>
            </p:cNvGraphicFramePr>
            <p:nvPr/>
          </p:nvGraphicFramePr>
          <p:xfrm>
            <a:off x="673408" y="4764880"/>
            <a:ext cx="265113" cy="292100"/>
          </p:xfrm>
          <a:graphic>
            <a:graphicData uri="http://schemas.openxmlformats.org/presentationml/2006/ole">
              <mc:AlternateContent xmlns:mc="http://schemas.openxmlformats.org/markup-compatibility/2006">
                <mc:Choice xmlns:v="urn:schemas-microsoft-com:vml" Requires="v">
                  <p:oleObj spid="_x0000_s40901" name="Equation" r:id="rId30" imgW="127000" imgH="139700" progId="Equation.DSMT4">
                    <p:embed/>
                  </p:oleObj>
                </mc:Choice>
                <mc:Fallback>
                  <p:oleObj name="Equation" r:id="rId30" imgW="127000" imgH="139700" progId="Equation.DSMT4">
                    <p:embed/>
                    <p:pic>
                      <p:nvPicPr>
                        <p:cNvPr id="0" name="对象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3408" y="4764880"/>
                          <a:ext cx="265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1" name="对象 30"/>
            <p:cNvGraphicFramePr>
              <a:graphicFrameLocks noChangeAspect="1"/>
            </p:cNvGraphicFramePr>
            <p:nvPr/>
          </p:nvGraphicFramePr>
          <p:xfrm>
            <a:off x="2746094" y="4766578"/>
            <a:ext cx="346075" cy="290513"/>
          </p:xfrm>
          <a:graphic>
            <a:graphicData uri="http://schemas.openxmlformats.org/presentationml/2006/ole">
              <mc:AlternateContent xmlns:mc="http://schemas.openxmlformats.org/markup-compatibility/2006">
                <mc:Choice xmlns:v="urn:schemas-microsoft-com:vml" Requires="v">
                  <p:oleObj spid="_x0000_s40902" name="Equation" r:id="rId32" imgW="165100" imgH="139700" progId="Equation.DSMT4">
                    <p:embed/>
                  </p:oleObj>
                </mc:Choice>
                <mc:Fallback>
                  <p:oleObj name="Equation" r:id="rId32" imgW="165100" imgH="139700" progId="Equation.DSMT4">
                    <p:embed/>
                    <p:pic>
                      <p:nvPicPr>
                        <p:cNvPr id="0" name="对象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46094" y="4766578"/>
                          <a:ext cx="3460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478" name="组合 31"/>
          <p:cNvGrpSpPr/>
          <p:nvPr/>
        </p:nvGrpSpPr>
        <p:grpSpPr bwMode="auto">
          <a:xfrm>
            <a:off x="0" y="3741738"/>
            <a:ext cx="9144000" cy="619125"/>
            <a:chOff x="0" y="5229200"/>
            <a:chExt cx="9143999" cy="619125"/>
          </a:xfrm>
        </p:grpSpPr>
        <p:graphicFrame>
          <p:nvGraphicFramePr>
            <p:cNvPr id="19484" name="对象 31"/>
            <p:cNvGraphicFramePr>
              <a:graphicFrameLocks noChangeAspect="1"/>
            </p:cNvGraphicFramePr>
            <p:nvPr/>
          </p:nvGraphicFramePr>
          <p:xfrm>
            <a:off x="5187950" y="5229200"/>
            <a:ext cx="895350" cy="619125"/>
          </p:xfrm>
          <a:graphic>
            <a:graphicData uri="http://schemas.openxmlformats.org/presentationml/2006/ole">
              <mc:AlternateContent xmlns:mc="http://schemas.openxmlformats.org/markup-compatibility/2006">
                <mc:Choice xmlns:v="urn:schemas-microsoft-com:vml" Requires="v">
                  <p:oleObj spid="_x0000_s40903" name="Equation" r:id="rId33" imgW="923925" imgH="641985" progId="Equation.DSMT4">
                    <p:embed/>
                  </p:oleObj>
                </mc:Choice>
                <mc:Fallback>
                  <p:oleObj name="Equation" r:id="rId33" imgW="923925" imgH="641985" progId="Equation.DSMT4">
                    <p:embed/>
                    <p:pic>
                      <p:nvPicPr>
                        <p:cNvPr id="0" name="对象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87950" y="5229200"/>
                          <a:ext cx="8953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85" name="对象 34"/>
            <p:cNvGraphicFramePr>
              <a:graphicFrameLocks noChangeAspect="1"/>
            </p:cNvGraphicFramePr>
            <p:nvPr/>
          </p:nvGraphicFramePr>
          <p:xfrm>
            <a:off x="7598012" y="5373216"/>
            <a:ext cx="317500" cy="344487"/>
          </p:xfrm>
          <a:graphic>
            <a:graphicData uri="http://schemas.openxmlformats.org/presentationml/2006/ole">
              <mc:AlternateContent xmlns:mc="http://schemas.openxmlformats.org/markup-compatibility/2006">
                <mc:Choice xmlns:v="urn:schemas-microsoft-com:vml" Requires="v">
                  <p:oleObj spid="_x0000_s40904" name="Equation" r:id="rId35" imgW="152400" imgH="165100" progId="Equation.DSMT4">
                    <p:embed/>
                  </p:oleObj>
                </mc:Choice>
                <mc:Fallback>
                  <p:oleObj name="Equation" r:id="rId35" imgW="152400" imgH="165100" progId="Equation.DSMT4">
                    <p:embed/>
                    <p:pic>
                      <p:nvPicPr>
                        <p:cNvPr id="0" name="对象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98012" y="5373216"/>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86" name="矩形 32"/>
            <p:cNvSpPr>
              <a:spLocks noChangeArrowheads="1"/>
            </p:cNvSpPr>
            <p:nvPr/>
          </p:nvSpPr>
          <p:spPr bwMode="auto">
            <a:xfrm>
              <a:off x="0" y="5300901"/>
              <a:ext cx="914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令所有的非基变量取值为</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得到的解             称为相应于    的</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基解</a:t>
              </a:r>
              <a:endPar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9479" name="矩形 35"/>
          <p:cNvSpPr>
            <a:spLocks noChangeArrowheads="1"/>
          </p:cNvSpPr>
          <p:nvPr/>
        </p:nvSpPr>
        <p:spPr bwMode="auto">
          <a:xfrm>
            <a:off x="-36513" y="4695825"/>
            <a:ext cx="9180513" cy="461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当             则称基解为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基可行解</a:t>
            </a:r>
            <a:r>
              <a:rPr kumimoji="0" lang="zh-CN" altLang="en-US" b="1" dirty="0">
                <a:latin typeface="宋体" panose="02010600030101010101" pitchFamily="2" charset="-122"/>
                <a:cs typeface="Times New Roman" panose="02020603050405020304" pitchFamily="18" charset="0"/>
              </a:rPr>
              <a:t>，</a:t>
            </a:r>
            <a:r>
              <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rPr>
              <a:t>这时对应的基阵    为</a:t>
            </a:r>
            <a:r>
              <a:rPr kumimoji="0"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可行基</a:t>
            </a:r>
            <a:endParaRPr kumimoji="0"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480" name="对象 36"/>
          <p:cNvGraphicFramePr>
            <a:graphicFrameLocks noChangeAspect="1"/>
          </p:cNvGraphicFramePr>
          <p:nvPr/>
        </p:nvGraphicFramePr>
        <p:xfrm>
          <a:off x="347663" y="4730750"/>
          <a:ext cx="1008062" cy="376238"/>
        </p:xfrm>
        <a:graphic>
          <a:graphicData uri="http://schemas.openxmlformats.org/presentationml/2006/ole">
            <mc:AlternateContent xmlns:mc="http://schemas.openxmlformats.org/markup-compatibility/2006">
              <mc:Choice xmlns:v="urn:schemas-microsoft-com:vml" Requires="v">
                <p:oleObj spid="_x0000_s40905" name="Equation" r:id="rId36" imgW="545465" imgH="203200" progId="Equation.DSMT4">
                  <p:embed/>
                </p:oleObj>
              </mc:Choice>
              <mc:Fallback>
                <p:oleObj name="Equation" r:id="rId36" imgW="545465" imgH="203200" progId="Equation.DSMT4">
                  <p:embed/>
                  <p:pic>
                    <p:nvPicPr>
                      <p:cNvPr id="0" name="对象 3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47663" y="4730750"/>
                        <a:ext cx="10080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81" name="对象 37"/>
          <p:cNvGraphicFramePr>
            <a:graphicFrameLocks noChangeAspect="1"/>
          </p:cNvGraphicFramePr>
          <p:nvPr/>
        </p:nvGraphicFramePr>
        <p:xfrm>
          <a:off x="6508750" y="4759325"/>
          <a:ext cx="314325" cy="333375"/>
        </p:xfrm>
        <a:graphic>
          <a:graphicData uri="http://schemas.openxmlformats.org/presentationml/2006/ole">
            <mc:AlternateContent xmlns:mc="http://schemas.openxmlformats.org/markup-compatibility/2006">
              <mc:Choice xmlns:v="urn:schemas-microsoft-com:vml" Requires="v">
                <p:oleObj spid="_x0000_s40906" name="Equation" r:id="rId38" imgW="330835" imgH="349885" progId="Equation.DSMT4">
                  <p:embed/>
                </p:oleObj>
              </mc:Choice>
              <mc:Fallback>
                <p:oleObj name="Equation" r:id="rId38" imgW="330835" imgH="349885" progId="Equation.DSMT4">
                  <p:embed/>
                  <p:pic>
                    <p:nvPicPr>
                      <p:cNvPr id="0" name="对象 3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508750" y="4759325"/>
                        <a:ext cx="314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82" name="矩形 38"/>
          <p:cNvSpPr>
            <a:spLocks noChangeArrowheads="1"/>
          </p:cNvSpPr>
          <p:nvPr/>
        </p:nvSpPr>
        <p:spPr bwMode="auto">
          <a:xfrm>
            <a:off x="-82550" y="5540375"/>
            <a:ext cx="94075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如果              则称该</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基可行解为非退化的</a:t>
            </a:r>
            <a:endParaRPr kumimoji="0" lang="en-US" altLang="zh-CN" b="1">
              <a:latin typeface="Times New Roman" panose="02020603050405020304" pitchFamily="18" charset="0"/>
              <a:ea typeface="微软雅黑" panose="020B0503020204020204" pitchFamily="34" charset="-122"/>
              <a:cs typeface="Times New Roman" panose="02020603050405020304" pitchFamily="18" charset="0"/>
            </a:endParaRPr>
          </a:p>
          <a:p>
            <a:r>
              <a:rPr kumimoji="0" lang="zh-CN" altLang="en-US" b="1">
                <a:latin typeface="Times New Roman" panose="02020603050405020304" pitchFamily="18" charset="0"/>
                <a:ea typeface="微软雅黑" panose="020B0503020204020204" pitchFamily="34" charset="-122"/>
                <a:cs typeface="Times New Roman" panose="02020603050405020304" pitchFamily="18" charset="0"/>
              </a:rPr>
              <a:t>若一个线性规划的所有基可行解都是非退化的则称该</a:t>
            </a:r>
            <a:r>
              <a:rPr kumimoji="0"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规划为非退化的</a:t>
            </a:r>
            <a:endParaRPr kumimoji="0"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483" name="对象 39"/>
          <p:cNvGraphicFramePr>
            <a:graphicFrameLocks noChangeAspect="1"/>
          </p:cNvGraphicFramePr>
          <p:nvPr/>
        </p:nvGraphicFramePr>
        <p:xfrm>
          <a:off x="635000" y="5557838"/>
          <a:ext cx="1039813" cy="374650"/>
        </p:xfrm>
        <a:graphic>
          <a:graphicData uri="http://schemas.openxmlformats.org/presentationml/2006/ole">
            <mc:AlternateContent xmlns:mc="http://schemas.openxmlformats.org/markup-compatibility/2006">
              <mc:Choice xmlns:v="urn:schemas-microsoft-com:vml" Requires="v">
                <p:oleObj spid="_x0000_s40907" name="Equation" r:id="rId40" imgW="545465" imgH="203200" progId="Equation.DSMT4">
                  <p:embed/>
                </p:oleObj>
              </mc:Choice>
              <mc:Fallback>
                <p:oleObj name="Equation" r:id="rId40" imgW="545465" imgH="203200" progId="Equation.DSMT4">
                  <p:embed/>
                  <p:pic>
                    <p:nvPicPr>
                      <p:cNvPr id="0" name="对象 3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35000" y="5557838"/>
                        <a:ext cx="10398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9101" y="6414367"/>
            <a:ext cx="1905000" cy="457200"/>
          </a:xfrm>
        </p:spPr>
        <p:txBody>
          <a:bodyPr/>
          <a:lstStyle/>
          <a:p>
            <a:pPr>
              <a:defRPr/>
            </a:pPr>
            <a:fld id="{6DC1E550-C484-4733-8AE5-552F7C7F219F}" type="slidenum">
              <a:rPr lang="en-US" altLang="zh-CN" smtClean="0"/>
              <a:t>72</a:t>
            </a:fld>
            <a:endParaRPr lang="en-US" altLang="zh-CN"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609600" y="1600200"/>
            <a:ext cx="7924800" cy="4800600"/>
          </a:xfrm>
          <a:prstGeom prst="rect">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20483" name="Text Box 3"/>
          <p:cNvSpPr txBox="1">
            <a:spLocks noChangeArrowheads="1"/>
          </p:cNvSpPr>
          <p:nvPr/>
        </p:nvSpPr>
        <p:spPr bwMode="auto">
          <a:xfrm>
            <a:off x="685800" y="685800"/>
            <a:ext cx="3657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4800" b="1">
                <a:latin typeface="Times New Roman" panose="02020603050405020304" pitchFamily="18" charset="0"/>
                <a:ea typeface="微软雅黑" panose="020B0503020204020204" pitchFamily="34" charset="-122"/>
              </a:rPr>
              <a:t>解的集合：</a:t>
            </a:r>
            <a:endParaRPr lang="zh-CN" altLang="en-US" b="1">
              <a:latin typeface="Times New Roman" panose="02020603050405020304" pitchFamily="18" charset="0"/>
              <a:ea typeface="微软雅黑" panose="020B0503020204020204" pitchFamily="34" charset="-122"/>
            </a:endParaRPr>
          </a:p>
        </p:txBody>
      </p:sp>
      <p:sp>
        <p:nvSpPr>
          <p:cNvPr id="133124" name="Text Box 4"/>
          <p:cNvSpPr txBox="1">
            <a:spLocks noChangeArrowheads="1"/>
          </p:cNvSpPr>
          <p:nvPr/>
        </p:nvSpPr>
        <p:spPr bwMode="auto">
          <a:xfrm>
            <a:off x="1471613" y="2362200"/>
            <a:ext cx="738187" cy="2971800"/>
          </a:xfrm>
          <a:prstGeom prst="rect">
            <a:avLst/>
          </a:prstGeom>
          <a:noFill/>
          <a:ln w="9525">
            <a:solidFill>
              <a:schemeClr val="accent1"/>
            </a:solidFill>
            <a:miter lim="800000"/>
          </a:ln>
          <a:effectLst/>
        </p:spPr>
        <p:txBody>
          <a:bodyPr vert="eaVert">
            <a:spAutoFit/>
          </a:bodyPr>
          <a:lstStyle/>
          <a:p>
            <a:pPr algn="ctr" eaLnBrk="1" hangingPunct="1">
              <a:spcBef>
                <a:spcPct val="50000"/>
              </a:spcBef>
              <a:defRPr/>
            </a:pPr>
            <a:r>
              <a:rPr lang="zh-CN" altLang="en-US" sz="36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非可行解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0485" name="Oval 5"/>
          <p:cNvSpPr>
            <a:spLocks noChangeArrowheads="1"/>
          </p:cNvSpPr>
          <p:nvPr/>
        </p:nvSpPr>
        <p:spPr bwMode="auto">
          <a:xfrm>
            <a:off x="2362200" y="2057400"/>
            <a:ext cx="3886200" cy="3810000"/>
          </a:xfrm>
          <a:prstGeom prst="ellipse">
            <a:avLst/>
          </a:prstGeom>
          <a:solidFill>
            <a:srgbClr val="FF00FF"/>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33126" name="Text Box 6"/>
          <p:cNvSpPr txBox="1">
            <a:spLocks noChangeArrowheads="1"/>
          </p:cNvSpPr>
          <p:nvPr/>
        </p:nvSpPr>
        <p:spPr bwMode="auto">
          <a:xfrm>
            <a:off x="2628900" y="2895600"/>
            <a:ext cx="800100" cy="2057400"/>
          </a:xfrm>
          <a:prstGeom prst="rect">
            <a:avLst/>
          </a:prstGeom>
          <a:noFill/>
          <a:ln w="9525">
            <a:noFill/>
            <a:miter lim="800000"/>
          </a:ln>
          <a:effectLst/>
        </p:spPr>
        <p:txBody>
          <a:bodyPr vert="eaVert">
            <a:spAutoFit/>
          </a:bodyPr>
          <a:lstStyle/>
          <a:p>
            <a:pP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39000" y="6392447"/>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73</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09600" y="1600200"/>
            <a:ext cx="7924800" cy="4800600"/>
          </a:xfrm>
          <a:prstGeom prst="rect">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0291" name="Text Box 3"/>
          <p:cNvSpPr txBox="1">
            <a:spLocks noChangeArrowheads="1"/>
          </p:cNvSpPr>
          <p:nvPr/>
        </p:nvSpPr>
        <p:spPr bwMode="auto">
          <a:xfrm>
            <a:off x="685800" y="685800"/>
            <a:ext cx="3657600" cy="823913"/>
          </a:xfrm>
          <a:prstGeom prst="rect">
            <a:avLst/>
          </a:prstGeom>
          <a:noFill/>
          <a:ln w="9525">
            <a:noFill/>
            <a:miter lim="800000"/>
          </a:ln>
          <a:effectLst/>
        </p:spPr>
        <p:txBody>
          <a:bodyPr>
            <a:spAutoFit/>
          </a:bodyPr>
          <a:lstStyle/>
          <a:p>
            <a:pPr eaLnBrk="1" hangingPunct="1">
              <a:spcBef>
                <a:spcPct val="50000"/>
              </a:spcBef>
              <a:defRPr/>
            </a:pPr>
            <a:r>
              <a:rPr lang="zh-CN" altLang="en-US" sz="4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解的集合：</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40292" name="Text Box 4"/>
          <p:cNvSpPr txBox="1">
            <a:spLocks noChangeArrowheads="1"/>
          </p:cNvSpPr>
          <p:nvPr/>
        </p:nvSpPr>
        <p:spPr bwMode="auto">
          <a:xfrm>
            <a:off x="1471613" y="2362200"/>
            <a:ext cx="738187" cy="2971800"/>
          </a:xfrm>
          <a:prstGeom prst="rect">
            <a:avLst/>
          </a:prstGeom>
          <a:noFill/>
          <a:ln w="9525">
            <a:solidFill>
              <a:schemeClr val="accent1"/>
            </a:solidFill>
            <a:miter lim="800000"/>
          </a:ln>
          <a:effectLst/>
        </p:spPr>
        <p:txBody>
          <a:bodyPr vert="eaVert">
            <a:spAutoFit/>
          </a:bodyPr>
          <a:lstStyle/>
          <a:p>
            <a:pPr algn="ctr" eaLnBrk="1" hangingPunct="1">
              <a:spcBef>
                <a:spcPct val="50000"/>
              </a:spcBef>
              <a:defRPr/>
            </a:pPr>
            <a:r>
              <a:rPr lang="zh-CN" altLang="en-US" sz="36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非可行解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1509" name="Oval 5"/>
          <p:cNvSpPr>
            <a:spLocks noChangeArrowheads="1"/>
          </p:cNvSpPr>
          <p:nvPr/>
        </p:nvSpPr>
        <p:spPr bwMode="auto">
          <a:xfrm>
            <a:off x="2362200" y="2057400"/>
            <a:ext cx="3886200" cy="3810000"/>
          </a:xfrm>
          <a:prstGeom prst="ellipse">
            <a:avLst/>
          </a:prstGeom>
          <a:solidFill>
            <a:srgbClr val="FF00FF"/>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0294" name="Text Box 6"/>
          <p:cNvSpPr txBox="1">
            <a:spLocks noChangeArrowheads="1"/>
          </p:cNvSpPr>
          <p:nvPr/>
        </p:nvSpPr>
        <p:spPr bwMode="auto">
          <a:xfrm>
            <a:off x="2628900" y="2895600"/>
            <a:ext cx="800100" cy="2057400"/>
          </a:xfrm>
          <a:prstGeom prst="rect">
            <a:avLst/>
          </a:prstGeom>
          <a:noFill/>
          <a:ln w="9525">
            <a:noFill/>
            <a:miter lim="800000"/>
          </a:ln>
          <a:effectLst/>
        </p:spPr>
        <p:txBody>
          <a:bodyPr vert="eaVert">
            <a:spAutoFit/>
          </a:bodyPr>
          <a:lstStyle/>
          <a:p>
            <a:pP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1511" name="Oval 7"/>
          <p:cNvSpPr>
            <a:spLocks noChangeArrowheads="1"/>
          </p:cNvSpPr>
          <p:nvPr/>
        </p:nvSpPr>
        <p:spPr bwMode="auto">
          <a:xfrm>
            <a:off x="3505200" y="2057400"/>
            <a:ext cx="4724400" cy="3733800"/>
          </a:xfrm>
          <a:prstGeom prst="ellipse">
            <a:avLst/>
          </a:prstGeom>
          <a:solidFill>
            <a:schemeClr val="accent1">
              <a:alpha val="50195"/>
            </a:schemeClr>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0296" name="Text Box 8"/>
          <p:cNvSpPr txBox="1">
            <a:spLocks noChangeArrowheads="1"/>
          </p:cNvSpPr>
          <p:nvPr/>
        </p:nvSpPr>
        <p:spPr bwMode="auto">
          <a:xfrm>
            <a:off x="6743700" y="2590800"/>
            <a:ext cx="800100" cy="2286000"/>
          </a:xfrm>
          <a:prstGeom prst="rect">
            <a:avLst/>
          </a:prstGeom>
          <a:noFill/>
          <a:ln w="9525">
            <a:no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基解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09600" y="1600200"/>
            <a:ext cx="7924800" cy="4800600"/>
          </a:xfrm>
          <a:prstGeom prst="rect">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1315" name="Text Box 3"/>
          <p:cNvSpPr txBox="1">
            <a:spLocks noChangeArrowheads="1"/>
          </p:cNvSpPr>
          <p:nvPr/>
        </p:nvSpPr>
        <p:spPr bwMode="auto">
          <a:xfrm>
            <a:off x="685800" y="685800"/>
            <a:ext cx="3657600" cy="823913"/>
          </a:xfrm>
          <a:prstGeom prst="rect">
            <a:avLst/>
          </a:prstGeom>
          <a:noFill/>
          <a:ln w="9525">
            <a:noFill/>
            <a:miter lim="800000"/>
          </a:ln>
          <a:effectLst/>
        </p:spPr>
        <p:txBody>
          <a:bodyPr>
            <a:spAutoFit/>
          </a:bodyPr>
          <a:lstStyle/>
          <a:p>
            <a:pPr eaLnBrk="1" hangingPunct="1">
              <a:spcBef>
                <a:spcPct val="50000"/>
              </a:spcBef>
              <a:defRPr/>
            </a:pPr>
            <a:r>
              <a:rPr lang="zh-CN" altLang="en-US" sz="4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解的集合：</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41316" name="Text Box 4"/>
          <p:cNvSpPr txBox="1">
            <a:spLocks noChangeArrowheads="1"/>
          </p:cNvSpPr>
          <p:nvPr/>
        </p:nvSpPr>
        <p:spPr bwMode="auto">
          <a:xfrm>
            <a:off x="1409700" y="2362200"/>
            <a:ext cx="800100" cy="2971800"/>
          </a:xfrm>
          <a:prstGeom prst="rect">
            <a:avLst/>
          </a:prstGeom>
          <a:noFill/>
          <a:ln w="9525">
            <a:solidFill>
              <a:schemeClr val="accent1"/>
            </a:solid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非可行解</a:t>
            </a:r>
          </a:p>
        </p:txBody>
      </p:sp>
      <p:sp>
        <p:nvSpPr>
          <p:cNvPr id="22533" name="Oval 5"/>
          <p:cNvSpPr>
            <a:spLocks noChangeArrowheads="1"/>
          </p:cNvSpPr>
          <p:nvPr/>
        </p:nvSpPr>
        <p:spPr bwMode="auto">
          <a:xfrm>
            <a:off x="2362200" y="2057400"/>
            <a:ext cx="3886200" cy="3810000"/>
          </a:xfrm>
          <a:prstGeom prst="ellipse">
            <a:avLst/>
          </a:prstGeom>
          <a:solidFill>
            <a:srgbClr val="FF00FF"/>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1318" name="Text Box 6"/>
          <p:cNvSpPr txBox="1">
            <a:spLocks noChangeArrowheads="1"/>
          </p:cNvSpPr>
          <p:nvPr/>
        </p:nvSpPr>
        <p:spPr bwMode="auto">
          <a:xfrm>
            <a:off x="2628900" y="2895600"/>
            <a:ext cx="800100" cy="2057400"/>
          </a:xfrm>
          <a:prstGeom prst="rect">
            <a:avLst/>
          </a:prstGeom>
          <a:noFill/>
          <a:ln w="9525">
            <a:noFill/>
            <a:miter lim="800000"/>
          </a:ln>
          <a:effectLst/>
        </p:spPr>
        <p:txBody>
          <a:bodyPr vert="eaVert">
            <a:spAutoFit/>
          </a:bodyPr>
          <a:lstStyle/>
          <a:p>
            <a:pP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2535" name="Oval 7"/>
          <p:cNvSpPr>
            <a:spLocks noChangeArrowheads="1"/>
          </p:cNvSpPr>
          <p:nvPr/>
        </p:nvSpPr>
        <p:spPr bwMode="auto">
          <a:xfrm>
            <a:off x="3505200" y="2057400"/>
            <a:ext cx="4724400" cy="3733800"/>
          </a:xfrm>
          <a:prstGeom prst="ellipse">
            <a:avLst/>
          </a:prstGeom>
          <a:solidFill>
            <a:schemeClr val="accent1">
              <a:alpha val="50195"/>
            </a:schemeClr>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1320" name="Text Box 8"/>
          <p:cNvSpPr txBox="1">
            <a:spLocks noChangeArrowheads="1"/>
          </p:cNvSpPr>
          <p:nvPr/>
        </p:nvSpPr>
        <p:spPr bwMode="auto">
          <a:xfrm>
            <a:off x="6743700" y="2590800"/>
            <a:ext cx="800100" cy="2286000"/>
          </a:xfrm>
          <a:prstGeom prst="rect">
            <a:avLst/>
          </a:prstGeom>
          <a:noFill/>
          <a:ln w="9525">
            <a:no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基解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2537" name="Text Box 9"/>
          <p:cNvSpPr txBox="1">
            <a:spLocks noChangeArrowheads="1"/>
          </p:cNvSpPr>
          <p:nvPr/>
        </p:nvSpPr>
        <p:spPr bwMode="auto">
          <a:xfrm>
            <a:off x="4564063" y="2924175"/>
            <a:ext cx="8001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4000" b="1">
                <a:solidFill>
                  <a:schemeClr val="hlink"/>
                </a:solidFill>
                <a:latin typeface="Times New Roman" panose="02020603050405020304" pitchFamily="18" charset="0"/>
                <a:ea typeface="微软雅黑" panose="020B0503020204020204" pitchFamily="34" charset="-122"/>
              </a:rPr>
              <a:t>基可行解</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09600" y="1600200"/>
            <a:ext cx="7924800" cy="4800600"/>
          </a:xfrm>
          <a:prstGeom prst="rect">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39" name="Text Box 3"/>
          <p:cNvSpPr txBox="1">
            <a:spLocks noChangeArrowheads="1"/>
          </p:cNvSpPr>
          <p:nvPr/>
        </p:nvSpPr>
        <p:spPr bwMode="auto">
          <a:xfrm>
            <a:off x="685800" y="685800"/>
            <a:ext cx="3657600" cy="823913"/>
          </a:xfrm>
          <a:prstGeom prst="rect">
            <a:avLst/>
          </a:prstGeom>
          <a:noFill/>
          <a:ln w="9525">
            <a:noFill/>
            <a:miter lim="800000"/>
          </a:ln>
          <a:effectLst/>
        </p:spPr>
        <p:txBody>
          <a:bodyPr>
            <a:spAutoFit/>
          </a:bodyPr>
          <a:lstStyle/>
          <a:p>
            <a:pPr eaLnBrk="1" hangingPunct="1">
              <a:spcBef>
                <a:spcPct val="50000"/>
              </a:spcBef>
              <a:defRPr/>
            </a:pPr>
            <a:r>
              <a:rPr lang="zh-CN" altLang="en-US" sz="4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解的集合：</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42340" name="Text Box 4"/>
          <p:cNvSpPr txBox="1">
            <a:spLocks noChangeArrowheads="1"/>
          </p:cNvSpPr>
          <p:nvPr/>
        </p:nvSpPr>
        <p:spPr bwMode="auto">
          <a:xfrm>
            <a:off x="1409700" y="2362200"/>
            <a:ext cx="800100" cy="2971800"/>
          </a:xfrm>
          <a:prstGeom prst="rect">
            <a:avLst/>
          </a:prstGeom>
          <a:noFill/>
          <a:ln w="9525">
            <a:solidFill>
              <a:schemeClr val="accent1"/>
            </a:solid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非可行解</a:t>
            </a:r>
          </a:p>
        </p:txBody>
      </p:sp>
      <p:sp>
        <p:nvSpPr>
          <p:cNvPr id="23557" name="Oval 5"/>
          <p:cNvSpPr>
            <a:spLocks noChangeArrowheads="1"/>
          </p:cNvSpPr>
          <p:nvPr/>
        </p:nvSpPr>
        <p:spPr bwMode="auto">
          <a:xfrm>
            <a:off x="2362200" y="2057400"/>
            <a:ext cx="3886200" cy="3810000"/>
          </a:xfrm>
          <a:prstGeom prst="ellipse">
            <a:avLst/>
          </a:prstGeom>
          <a:solidFill>
            <a:srgbClr val="FF00FF"/>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42" name="Text Box 6"/>
          <p:cNvSpPr txBox="1">
            <a:spLocks noChangeArrowheads="1"/>
          </p:cNvSpPr>
          <p:nvPr/>
        </p:nvSpPr>
        <p:spPr bwMode="auto">
          <a:xfrm>
            <a:off x="2405063" y="3068638"/>
            <a:ext cx="800100" cy="2057400"/>
          </a:xfrm>
          <a:prstGeom prst="rect">
            <a:avLst/>
          </a:prstGeom>
          <a:noFill/>
          <a:ln w="9525">
            <a:noFill/>
            <a:miter lim="800000"/>
          </a:ln>
          <a:effectLst/>
        </p:spPr>
        <p:txBody>
          <a:bodyPr vert="eaVert">
            <a:spAutoFit/>
          </a:bodyPr>
          <a:lstStyle/>
          <a:p>
            <a:pP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3559" name="Oval 7"/>
          <p:cNvSpPr>
            <a:spLocks noChangeArrowheads="1"/>
          </p:cNvSpPr>
          <p:nvPr/>
        </p:nvSpPr>
        <p:spPr bwMode="auto">
          <a:xfrm>
            <a:off x="3505200" y="2057400"/>
            <a:ext cx="4724400" cy="3733800"/>
          </a:xfrm>
          <a:prstGeom prst="ellipse">
            <a:avLst/>
          </a:prstGeom>
          <a:solidFill>
            <a:schemeClr val="accent1">
              <a:alpha val="50195"/>
            </a:schemeClr>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44" name="Text Box 8"/>
          <p:cNvSpPr txBox="1">
            <a:spLocks noChangeArrowheads="1"/>
          </p:cNvSpPr>
          <p:nvPr/>
        </p:nvSpPr>
        <p:spPr bwMode="auto">
          <a:xfrm>
            <a:off x="6743700" y="2590800"/>
            <a:ext cx="800100" cy="2286000"/>
          </a:xfrm>
          <a:prstGeom prst="rect">
            <a:avLst/>
          </a:prstGeom>
          <a:noFill/>
          <a:ln w="9525">
            <a:noFill/>
            <a:miter lim="800000"/>
          </a:ln>
          <a:effectLst/>
        </p:spPr>
        <p:txBody>
          <a:bodyPr vert="eaVert">
            <a:spAutoFit/>
          </a:bodyPr>
          <a:lstStyle/>
          <a:p>
            <a:pPr algn="ctr" eaLnBrk="1" hangingPunct="1">
              <a:spcBef>
                <a:spcPct val="50000"/>
              </a:spcBef>
              <a:defRPr/>
            </a:pPr>
            <a:r>
              <a:rPr lang="zh-CN" altLang="en-US" sz="4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基础解</a:t>
            </a:r>
            <a:endParaRPr lang="zh-CN" altLang="en-US"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3561" name="Text Box 9"/>
          <p:cNvSpPr txBox="1">
            <a:spLocks noChangeArrowheads="1"/>
          </p:cNvSpPr>
          <p:nvPr/>
        </p:nvSpPr>
        <p:spPr bwMode="auto">
          <a:xfrm>
            <a:off x="5003800" y="2708275"/>
            <a:ext cx="8001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4000" b="1">
                <a:solidFill>
                  <a:schemeClr val="hlink"/>
                </a:solidFill>
                <a:latin typeface="Times New Roman" panose="02020603050405020304" pitchFamily="18" charset="0"/>
                <a:ea typeface="微软雅黑" panose="020B0503020204020204" pitchFamily="34" charset="-122"/>
              </a:rPr>
              <a:t>基可行解</a:t>
            </a:r>
          </a:p>
        </p:txBody>
      </p:sp>
      <p:sp>
        <p:nvSpPr>
          <p:cNvPr id="23562" name="Oval 10"/>
          <p:cNvSpPr>
            <a:spLocks noChangeArrowheads="1"/>
          </p:cNvSpPr>
          <p:nvPr/>
        </p:nvSpPr>
        <p:spPr bwMode="auto">
          <a:xfrm>
            <a:off x="3059113" y="2492375"/>
            <a:ext cx="1584325" cy="3024188"/>
          </a:xfrm>
          <a:prstGeom prst="ellipse">
            <a:avLst/>
          </a:prstGeom>
          <a:noFill/>
          <a:ln w="76200">
            <a:solidFill>
              <a:srgbClr val="0066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23563" name="Text Box 11"/>
          <p:cNvSpPr txBox="1">
            <a:spLocks noChangeArrowheads="1"/>
          </p:cNvSpPr>
          <p:nvPr/>
        </p:nvSpPr>
        <p:spPr bwMode="auto">
          <a:xfrm>
            <a:off x="3246438" y="3284538"/>
            <a:ext cx="677862"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3200" b="1">
                <a:solidFill>
                  <a:srgbClr val="006600"/>
                </a:solidFill>
                <a:latin typeface="微软雅黑" panose="020B0503020204020204" pitchFamily="34" charset="-122"/>
                <a:ea typeface="微软雅黑" panose="020B0503020204020204" pitchFamily="34" charset="-122"/>
              </a:rPr>
              <a:t>最优解</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76</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609600" y="1600200"/>
            <a:ext cx="7924800" cy="4800600"/>
          </a:xfrm>
          <a:prstGeom prst="rect">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39" name="Text Box 3"/>
          <p:cNvSpPr txBox="1">
            <a:spLocks noChangeArrowheads="1"/>
          </p:cNvSpPr>
          <p:nvPr/>
        </p:nvSpPr>
        <p:spPr bwMode="auto">
          <a:xfrm>
            <a:off x="685800" y="685800"/>
            <a:ext cx="3657600" cy="823913"/>
          </a:xfrm>
          <a:prstGeom prst="rect">
            <a:avLst/>
          </a:prstGeom>
          <a:noFill/>
          <a:ln w="9525">
            <a:noFill/>
            <a:miter lim="800000"/>
          </a:ln>
          <a:effectLst/>
        </p:spPr>
        <p:txBody>
          <a:bodyPr>
            <a:spAutoFit/>
          </a:bodyPr>
          <a:lstStyle/>
          <a:p>
            <a:pPr eaLnBrk="1" hangingPunct="1">
              <a:spcBef>
                <a:spcPct val="50000"/>
              </a:spcBef>
              <a:defRPr/>
            </a:pPr>
            <a:r>
              <a:rPr lang="zh-CN" altLang="en-US" sz="4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解的集合：</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42340" name="Text Box 4"/>
          <p:cNvSpPr txBox="1">
            <a:spLocks noChangeArrowheads="1"/>
          </p:cNvSpPr>
          <p:nvPr/>
        </p:nvSpPr>
        <p:spPr bwMode="auto">
          <a:xfrm>
            <a:off x="1409700" y="2362200"/>
            <a:ext cx="800100" cy="2971800"/>
          </a:xfrm>
          <a:prstGeom prst="rect">
            <a:avLst/>
          </a:prstGeom>
          <a:noFill/>
          <a:ln w="9525">
            <a:solidFill>
              <a:schemeClr val="accent1"/>
            </a:solid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非可行解</a:t>
            </a:r>
          </a:p>
        </p:txBody>
      </p:sp>
      <p:sp>
        <p:nvSpPr>
          <p:cNvPr id="24581" name="Oval 5"/>
          <p:cNvSpPr>
            <a:spLocks noChangeArrowheads="1"/>
          </p:cNvSpPr>
          <p:nvPr/>
        </p:nvSpPr>
        <p:spPr bwMode="auto">
          <a:xfrm>
            <a:off x="2362200" y="2057400"/>
            <a:ext cx="3886200" cy="3810000"/>
          </a:xfrm>
          <a:prstGeom prst="ellipse">
            <a:avLst/>
          </a:prstGeom>
          <a:solidFill>
            <a:srgbClr val="FF00FF"/>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42" name="Text Box 6"/>
          <p:cNvSpPr txBox="1">
            <a:spLocks noChangeArrowheads="1"/>
          </p:cNvSpPr>
          <p:nvPr/>
        </p:nvSpPr>
        <p:spPr bwMode="auto">
          <a:xfrm>
            <a:off x="2405063" y="3068638"/>
            <a:ext cx="800100" cy="2057400"/>
          </a:xfrm>
          <a:prstGeom prst="rect">
            <a:avLst/>
          </a:prstGeom>
          <a:noFill/>
          <a:ln w="9525">
            <a:noFill/>
            <a:miter lim="800000"/>
          </a:ln>
          <a:effectLst/>
        </p:spPr>
        <p:txBody>
          <a:bodyPr vert="eaVert">
            <a:spAutoFit/>
          </a:bodyPr>
          <a:lstStyle/>
          <a:p>
            <a:pP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可行解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4583" name="Oval 7"/>
          <p:cNvSpPr>
            <a:spLocks noChangeArrowheads="1"/>
          </p:cNvSpPr>
          <p:nvPr/>
        </p:nvSpPr>
        <p:spPr bwMode="auto">
          <a:xfrm>
            <a:off x="3505200" y="2057400"/>
            <a:ext cx="4724400" cy="3733800"/>
          </a:xfrm>
          <a:prstGeom prst="ellipse">
            <a:avLst/>
          </a:prstGeom>
          <a:solidFill>
            <a:schemeClr val="accent1">
              <a:alpha val="50195"/>
            </a:schemeClr>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42344" name="Text Box 8"/>
          <p:cNvSpPr txBox="1">
            <a:spLocks noChangeArrowheads="1"/>
          </p:cNvSpPr>
          <p:nvPr/>
        </p:nvSpPr>
        <p:spPr bwMode="auto">
          <a:xfrm>
            <a:off x="6743700" y="2590800"/>
            <a:ext cx="800100" cy="2286000"/>
          </a:xfrm>
          <a:prstGeom prst="rect">
            <a:avLst/>
          </a:prstGeom>
          <a:noFill/>
          <a:ln w="9525">
            <a:noFill/>
            <a:miter lim="800000"/>
          </a:ln>
          <a:effectLst/>
        </p:spPr>
        <p:txBody>
          <a:bodyPr vert="eaVert">
            <a:spAutoFit/>
          </a:bodyPr>
          <a:lstStyle/>
          <a:p>
            <a:pPr algn="ctr" eaLnBrk="1" hangingPunct="1">
              <a:spcBef>
                <a:spcPct val="50000"/>
              </a:spcBef>
              <a:defRPr/>
            </a:pPr>
            <a:r>
              <a:rPr lang="zh-CN" altLang="en-US" sz="40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基解</a:t>
            </a:r>
            <a:endPar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4585" name="Text Box 9"/>
          <p:cNvSpPr txBox="1">
            <a:spLocks noChangeArrowheads="1"/>
          </p:cNvSpPr>
          <p:nvPr/>
        </p:nvSpPr>
        <p:spPr bwMode="auto">
          <a:xfrm>
            <a:off x="5003800" y="2708275"/>
            <a:ext cx="8001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4000" b="1">
                <a:solidFill>
                  <a:schemeClr val="hlink"/>
                </a:solidFill>
                <a:latin typeface="Times New Roman" panose="02020603050405020304" pitchFamily="18" charset="0"/>
                <a:ea typeface="微软雅黑" panose="020B0503020204020204" pitchFamily="34" charset="-122"/>
              </a:rPr>
              <a:t>基可行解</a:t>
            </a:r>
          </a:p>
        </p:txBody>
      </p:sp>
      <p:sp>
        <p:nvSpPr>
          <p:cNvPr id="24586" name="Oval 10"/>
          <p:cNvSpPr>
            <a:spLocks noChangeArrowheads="1"/>
          </p:cNvSpPr>
          <p:nvPr/>
        </p:nvSpPr>
        <p:spPr bwMode="auto">
          <a:xfrm>
            <a:off x="3059113" y="2492375"/>
            <a:ext cx="1584325" cy="3024188"/>
          </a:xfrm>
          <a:prstGeom prst="ellipse">
            <a:avLst/>
          </a:prstGeom>
          <a:noFill/>
          <a:ln w="76200">
            <a:solidFill>
              <a:srgbClr val="0066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24587" name="Text Box 11"/>
          <p:cNvSpPr txBox="1">
            <a:spLocks noChangeArrowheads="1"/>
          </p:cNvSpPr>
          <p:nvPr/>
        </p:nvSpPr>
        <p:spPr bwMode="auto">
          <a:xfrm>
            <a:off x="3779838" y="2997200"/>
            <a:ext cx="55403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latin typeface="微软雅黑" panose="020B0503020204020204" pitchFamily="34" charset="-122"/>
                <a:ea typeface="微软雅黑" panose="020B0503020204020204" pitchFamily="34" charset="-122"/>
              </a:rPr>
              <a:t>最优基可行解</a:t>
            </a:r>
          </a:p>
        </p:txBody>
      </p:sp>
      <p:sp>
        <p:nvSpPr>
          <p:cNvPr id="24588" name="Text Box 11"/>
          <p:cNvSpPr txBox="1">
            <a:spLocks noChangeArrowheads="1"/>
          </p:cNvSpPr>
          <p:nvPr/>
        </p:nvSpPr>
        <p:spPr bwMode="auto">
          <a:xfrm>
            <a:off x="3225800" y="3429000"/>
            <a:ext cx="554038"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latin typeface="微软雅黑" panose="020B0503020204020204" pitchFamily="34" charset="-122"/>
                <a:ea typeface="微软雅黑" panose="020B0503020204020204" pitchFamily="34" charset="-122"/>
              </a:rPr>
              <a:t>最优解</a:t>
            </a:r>
          </a:p>
        </p:txBody>
      </p:sp>
      <p:sp>
        <p:nvSpPr>
          <p:cNvPr id="2" name="灯片编号占位符 1"/>
          <p:cNvSpPr>
            <a:spLocks noGrp="1"/>
          </p:cNvSpPr>
          <p:nvPr>
            <p:ph type="sldNum" sz="quarter" idx="12"/>
          </p:nvPr>
        </p:nvSpPr>
        <p:spPr>
          <a:xfrm>
            <a:off x="7275512"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txBox="1">
            <a:spLocks noChangeArrowheads="1"/>
          </p:cNvSpPr>
          <p:nvPr/>
        </p:nvSpPr>
        <p:spPr bwMode="auto">
          <a:xfrm>
            <a:off x="179388" y="406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4000" b="1">
                <a:solidFill>
                  <a:schemeClr val="folHlink"/>
                </a:solidFill>
                <a:latin typeface="微软雅黑" panose="020B0503020204020204" pitchFamily="34" charset="-122"/>
                <a:ea typeface="微软雅黑" panose="020B0503020204020204" pitchFamily="34" charset="-122"/>
              </a:rPr>
              <a:t>(4) </a:t>
            </a:r>
            <a:r>
              <a:rPr lang="zh-CN" altLang="en-US" sz="4000" b="1">
                <a:solidFill>
                  <a:schemeClr val="folHlink"/>
                </a:solidFill>
                <a:latin typeface="微软雅黑" panose="020B0503020204020204" pitchFamily="34" charset="-122"/>
                <a:ea typeface="微软雅黑" panose="020B0503020204020204" pitchFamily="34" charset="-122"/>
              </a:rPr>
              <a:t>凸集和凸组合</a:t>
            </a:r>
            <a:endParaRPr kumimoji="0" lang="zh-CN" altLang="en-US" sz="4000" b="1">
              <a:solidFill>
                <a:schemeClr val="folHlink"/>
              </a:solidFill>
              <a:latin typeface="微软雅黑" panose="020B0503020204020204" pitchFamily="34" charset="-122"/>
              <a:ea typeface="微软雅黑" panose="020B0503020204020204" pitchFamily="34" charset="-122"/>
            </a:endParaRPr>
          </a:p>
        </p:txBody>
      </p:sp>
      <p:sp>
        <p:nvSpPr>
          <p:cNvPr id="5123" name="Rectangle 3"/>
          <p:cNvSpPr txBox="1">
            <a:spLocks noChangeArrowheads="1"/>
          </p:cNvSpPr>
          <p:nvPr/>
        </p:nvSpPr>
        <p:spPr bwMode="auto">
          <a:xfrm>
            <a:off x="2987675" y="1989138"/>
            <a:ext cx="3889375"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200000"/>
              </a:lnSpc>
              <a:spcBef>
                <a:spcPts val="600"/>
              </a:spcBef>
              <a:buClr>
                <a:schemeClr val="accent1"/>
              </a:buClr>
              <a:buSzPct val="70000"/>
            </a:pPr>
            <a:r>
              <a:rPr lang="en-US" altLang="zh-CN" sz="3600" b="1">
                <a:solidFill>
                  <a:schemeClr val="folHlink"/>
                </a:solidFill>
                <a:latin typeface="微软雅黑" panose="020B0503020204020204" pitchFamily="34" charset="-122"/>
                <a:ea typeface="微软雅黑" panose="020B0503020204020204" pitchFamily="34" charset="-122"/>
              </a:rPr>
              <a:t>(i) </a:t>
            </a:r>
            <a:r>
              <a:rPr lang="zh-CN" altLang="en-US" sz="3600" b="1">
                <a:solidFill>
                  <a:schemeClr val="folHlink"/>
                </a:solidFill>
                <a:latin typeface="微软雅黑" panose="020B0503020204020204" pitchFamily="34" charset="-122"/>
                <a:ea typeface="微软雅黑" panose="020B0503020204020204" pitchFamily="34" charset="-122"/>
              </a:rPr>
              <a:t>凸集</a:t>
            </a:r>
          </a:p>
          <a:p>
            <a:pPr algn="just">
              <a:lnSpc>
                <a:spcPct val="200000"/>
              </a:lnSpc>
              <a:spcBef>
                <a:spcPts val="600"/>
              </a:spcBef>
              <a:buClr>
                <a:schemeClr val="accent1"/>
              </a:buClr>
              <a:buSzPct val="70000"/>
            </a:pPr>
            <a:r>
              <a:rPr lang="en-US" altLang="zh-CN" sz="3600" b="1">
                <a:solidFill>
                  <a:schemeClr val="folHlink"/>
                </a:solidFill>
                <a:latin typeface="微软雅黑" panose="020B0503020204020204" pitchFamily="34" charset="-122"/>
                <a:ea typeface="微软雅黑" panose="020B0503020204020204" pitchFamily="34" charset="-122"/>
              </a:rPr>
              <a:t>(ii) </a:t>
            </a:r>
            <a:r>
              <a:rPr lang="zh-CN" altLang="en-US" sz="3600" b="1">
                <a:solidFill>
                  <a:schemeClr val="folHlink"/>
                </a:solidFill>
                <a:latin typeface="微软雅黑" panose="020B0503020204020204" pitchFamily="34" charset="-122"/>
                <a:ea typeface="微软雅黑" panose="020B0503020204020204" pitchFamily="34" charset="-122"/>
              </a:rPr>
              <a:t>凸组合</a:t>
            </a:r>
          </a:p>
          <a:p>
            <a:pPr algn="just">
              <a:lnSpc>
                <a:spcPct val="200000"/>
              </a:lnSpc>
              <a:spcBef>
                <a:spcPts val="600"/>
              </a:spcBef>
              <a:buClr>
                <a:schemeClr val="accent1"/>
              </a:buClr>
              <a:buSzPct val="70000"/>
            </a:pPr>
            <a:r>
              <a:rPr lang="en-US" altLang="zh-CN" sz="3600" b="1">
                <a:solidFill>
                  <a:schemeClr val="folHlink"/>
                </a:solidFill>
                <a:latin typeface="微软雅黑" panose="020B0503020204020204" pitchFamily="34" charset="-122"/>
                <a:ea typeface="微软雅黑" panose="020B0503020204020204" pitchFamily="34" charset="-122"/>
              </a:rPr>
              <a:t>(iii) </a:t>
            </a:r>
            <a:r>
              <a:rPr lang="zh-CN" altLang="en-US" sz="3600" b="1">
                <a:solidFill>
                  <a:schemeClr val="folHlink"/>
                </a:solidFill>
                <a:latin typeface="微软雅黑" panose="020B0503020204020204" pitchFamily="34" charset="-122"/>
                <a:ea typeface="微软雅黑" panose="020B0503020204020204" pitchFamily="34" charset="-122"/>
              </a:rPr>
              <a:t>顶点</a:t>
            </a:r>
          </a:p>
          <a:p>
            <a:pPr algn="just">
              <a:spcBef>
                <a:spcPts val="600"/>
              </a:spcBef>
              <a:buClr>
                <a:schemeClr val="accent1"/>
              </a:buClr>
              <a:buSzPct val="70000"/>
              <a:buFontTx/>
              <a:buChar char="•"/>
            </a:pPr>
            <a:endParaRPr lang="en-US" altLang="zh-CN" sz="3600" b="1">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7231569"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dissolve">
                                      <p:cBhvr>
                                        <p:cTn id="7" dur="500"/>
                                        <p:tgtEl>
                                          <p:spTgt spid="512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123">
                                            <p:txEl>
                                              <p:pRg st="1" end="1"/>
                                            </p:txEl>
                                          </p:spTgt>
                                        </p:tgtEl>
                                        <p:attrNameLst>
                                          <p:attrName>style.visibility</p:attrName>
                                        </p:attrNameLst>
                                      </p:cBhvr>
                                      <p:to>
                                        <p:strVal val="visible"/>
                                      </p:to>
                                    </p:set>
                                    <p:animEffect transition="in" filter="dissolve">
                                      <p:cBhvr>
                                        <p:cTn id="10" dur="500"/>
                                        <p:tgtEl>
                                          <p:spTgt spid="512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animEffect transition="in" filter="dissolve">
                                      <p:cBhvr>
                                        <p:cTn id="13"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981075"/>
            <a:ext cx="9144000"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pPr>
            <a:r>
              <a:rPr lang="zh-CN" altLang="en-US" b="1" dirty="0">
                <a:latin typeface="Times New Roman" panose="02020603050405020304" pitchFamily="18" charset="0"/>
                <a:ea typeface="微软雅黑" panose="020B0503020204020204" pitchFamily="34" charset="-122"/>
              </a:rPr>
              <a:t>凸集（</a:t>
            </a:r>
            <a:r>
              <a:rPr lang="en-US" altLang="zh-CN" b="1" dirty="0">
                <a:latin typeface="Times New Roman" panose="02020603050405020304" pitchFamily="18" charset="0"/>
                <a:ea typeface="微软雅黑" panose="020B0503020204020204" pitchFamily="34" charset="-122"/>
              </a:rPr>
              <a:t>Convex set</a:t>
            </a:r>
            <a:r>
              <a:rPr lang="zh-CN" altLang="en-US" b="1" dirty="0">
                <a:latin typeface="Times New Roman" panose="02020603050405020304" pitchFamily="18" charset="0"/>
                <a:ea typeface="微软雅黑" panose="020B0503020204020204" pitchFamily="34" charset="-122"/>
              </a:rPr>
              <a:t>）概念：</a:t>
            </a:r>
            <a:endParaRPr lang="zh-CN" altLang="en-US" dirty="0">
              <a:latin typeface="Times New Roman" panose="02020603050405020304" pitchFamily="18" charset="0"/>
              <a:ea typeface="微软雅黑" panose="020B0503020204020204" pitchFamily="34" charset="-122"/>
            </a:endParaRPr>
          </a:p>
          <a:p>
            <a:pPr eaLnBrk="1" hangingPunct="1">
              <a:lnSpc>
                <a:spcPct val="150000"/>
              </a:lnSpc>
              <a:spcBef>
                <a:spcPct val="50000"/>
              </a:spcBef>
            </a:pPr>
            <a:r>
              <a:rPr lang="zh-CN" altLang="en-US" dirty="0">
                <a:latin typeface="Times New Roman" panose="02020603050405020304" pitchFamily="18" charset="0"/>
                <a:ea typeface="微软雅黑" panose="020B0503020204020204" pitchFamily="34" charset="-122"/>
              </a:rPr>
              <a:t>       </a:t>
            </a:r>
            <a:r>
              <a:rPr lang="zh-CN" altLang="en-US" b="1" dirty="0">
                <a:latin typeface="Times New Roman" panose="02020603050405020304" pitchFamily="18" charset="0"/>
                <a:ea typeface="微软雅黑" panose="020B0503020204020204" pitchFamily="34" charset="-122"/>
              </a:rPr>
              <a:t>设</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是</a:t>
            </a:r>
            <a:r>
              <a:rPr lang="en-US" altLang="zh-CN" b="1" i="1" dirty="0">
                <a:latin typeface="Times New Roman" panose="02020603050405020304" pitchFamily="18" charset="0"/>
                <a:ea typeface="微软雅黑" panose="020B0503020204020204" pitchFamily="34" charset="-122"/>
              </a:rPr>
              <a:t>n</a:t>
            </a:r>
            <a:r>
              <a:rPr lang="zh-CN" altLang="en-US" b="1" dirty="0">
                <a:latin typeface="Times New Roman" panose="02020603050405020304" pitchFamily="18" charset="0"/>
                <a:ea typeface="微软雅黑" panose="020B0503020204020204" pitchFamily="34" charset="-122"/>
              </a:rPr>
              <a:t>维欧氏空间的一个点集</a:t>
            </a:r>
            <a:endParaRPr lang="en-US" altLang="zh-CN" b="1" dirty="0">
              <a:latin typeface="Times New Roman" panose="02020603050405020304" pitchFamily="18" charset="0"/>
              <a:ea typeface="微软雅黑" panose="020B0503020204020204" pitchFamily="34" charset="-122"/>
            </a:endParaRPr>
          </a:p>
          <a:p>
            <a:pPr eaLnBrk="1" hangingPunct="1">
              <a:lnSpc>
                <a:spcPct val="150000"/>
              </a:lnSpc>
              <a:spcBef>
                <a:spcPct val="50000"/>
              </a:spcBef>
            </a:pPr>
            <a:r>
              <a:rPr lang="zh-CN" altLang="en-US" b="1" dirty="0">
                <a:latin typeface="Times New Roman" panose="02020603050405020304" pitchFamily="18" charset="0"/>
                <a:ea typeface="微软雅黑" panose="020B0503020204020204" pitchFamily="34" charset="-122"/>
              </a:rPr>
              <a:t>若</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中任意两点</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zh-CN" altLang="en-US" b="1" dirty="0">
                <a:latin typeface="Times New Roman" panose="02020603050405020304" pitchFamily="18" charset="0"/>
                <a:ea typeface="微软雅黑" panose="020B0503020204020204" pitchFamily="34" charset="-122"/>
              </a:rPr>
              <a:t>的连线上的一切点</a:t>
            </a:r>
            <a:r>
              <a:rPr lang="en-US" altLang="zh-CN" b="1" i="1" dirty="0">
                <a:latin typeface="Times New Roman" panose="02020603050405020304" pitchFamily="18" charset="0"/>
                <a:ea typeface="微软雅黑" panose="020B0503020204020204" pitchFamily="34" charset="-122"/>
              </a:rPr>
              <a:t>x</a:t>
            </a:r>
            <a:r>
              <a:rPr lang="zh-CN" altLang="en-US" b="1" dirty="0">
                <a:latin typeface="Times New Roman" panose="02020603050405020304" pitchFamily="18" charset="0"/>
                <a:ea typeface="微软雅黑" panose="020B0503020204020204" pitchFamily="34" charset="-122"/>
              </a:rPr>
              <a:t>仍在</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中</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则称</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为凸集</a:t>
            </a:r>
          </a:p>
          <a:p>
            <a:pPr eaLnBrk="1" hangingPunct="1">
              <a:lnSpc>
                <a:spcPct val="150000"/>
              </a:lnSpc>
              <a:spcBef>
                <a:spcPct val="50000"/>
              </a:spcBef>
            </a:pPr>
            <a:r>
              <a:rPr lang="zh-CN" altLang="en-US" b="1" dirty="0">
                <a:solidFill>
                  <a:schemeClr val="hlink"/>
                </a:solidFill>
                <a:latin typeface="Times New Roman" panose="02020603050405020304" pitchFamily="18" charset="0"/>
                <a:ea typeface="微软雅黑" panose="020B0503020204020204" pitchFamily="34" charset="-122"/>
              </a:rPr>
              <a:t>即：</a:t>
            </a:r>
            <a:r>
              <a:rPr lang="zh-CN" altLang="en-US" b="1" dirty="0">
                <a:solidFill>
                  <a:schemeClr val="folHlink"/>
                </a:solidFill>
                <a:latin typeface="Times New Roman" panose="02020603050405020304" pitchFamily="18" charset="0"/>
                <a:ea typeface="微软雅黑" panose="020B0503020204020204" pitchFamily="34" charset="-122"/>
              </a:rPr>
              <a:t>若</a:t>
            </a:r>
            <a:r>
              <a:rPr lang="en-US" altLang="zh-CN" b="1" i="1" dirty="0">
                <a:solidFill>
                  <a:schemeClr val="folHlink"/>
                </a:solidFill>
                <a:latin typeface="Times New Roman" panose="02020603050405020304" pitchFamily="18" charset="0"/>
                <a:ea typeface="微软雅黑" panose="020B0503020204020204" pitchFamily="34" charset="-122"/>
              </a:rPr>
              <a:t>D</a:t>
            </a:r>
            <a:r>
              <a:rPr lang="zh-CN" altLang="en-US" b="1" dirty="0">
                <a:solidFill>
                  <a:schemeClr val="folHlink"/>
                </a:solidFill>
                <a:latin typeface="Times New Roman" panose="02020603050405020304" pitchFamily="18" charset="0"/>
                <a:ea typeface="微软雅黑" panose="020B0503020204020204" pitchFamily="34" charset="-122"/>
              </a:rPr>
              <a:t>中的任意两点</a:t>
            </a:r>
            <a:r>
              <a:rPr lang="en-US" altLang="zh-CN" b="1" i="1" dirty="0">
                <a:solidFill>
                  <a:schemeClr val="folHlink"/>
                </a:solidFill>
                <a:latin typeface="Times New Roman" panose="02020603050405020304" pitchFamily="18" charset="0"/>
                <a:ea typeface="微软雅黑" panose="020B0503020204020204" pitchFamily="34" charset="-122"/>
              </a:rPr>
              <a:t>x</a:t>
            </a:r>
            <a:r>
              <a:rPr lang="en-US" altLang="zh-CN" b="1" baseline="30000" dirty="0">
                <a:solidFill>
                  <a:schemeClr val="folHlink"/>
                </a:solidFill>
                <a:latin typeface="Times New Roman" panose="02020603050405020304" pitchFamily="18" charset="0"/>
                <a:ea typeface="微软雅黑" panose="020B0503020204020204" pitchFamily="34" charset="-122"/>
              </a:rPr>
              <a:t>(1)</a:t>
            </a:r>
            <a:r>
              <a:rPr lang="en-US" altLang="zh-CN" b="1" dirty="0">
                <a:solidFill>
                  <a:schemeClr val="folHlink"/>
                </a:solidFill>
                <a:latin typeface="Times New Roman" panose="02020603050405020304" pitchFamily="18" charset="0"/>
                <a:ea typeface="微软雅黑" panose="020B0503020204020204" pitchFamily="34" charset="-122"/>
              </a:rPr>
              <a:t>, </a:t>
            </a:r>
            <a:r>
              <a:rPr lang="en-US" altLang="zh-CN" b="1" i="1" dirty="0">
                <a:solidFill>
                  <a:schemeClr val="folHlink"/>
                </a:solidFill>
                <a:latin typeface="Times New Roman" panose="02020603050405020304" pitchFamily="18" charset="0"/>
                <a:ea typeface="微软雅黑" panose="020B0503020204020204" pitchFamily="34" charset="-122"/>
              </a:rPr>
              <a:t>x</a:t>
            </a:r>
            <a:r>
              <a:rPr lang="en-US" altLang="zh-CN" b="1" baseline="30000" dirty="0">
                <a:solidFill>
                  <a:schemeClr val="folHlink"/>
                </a:solidFill>
                <a:latin typeface="Times New Roman" panose="02020603050405020304" pitchFamily="18" charset="0"/>
                <a:ea typeface="微软雅黑" panose="020B0503020204020204" pitchFamily="34" charset="-122"/>
              </a:rPr>
              <a:t>(2)</a:t>
            </a:r>
            <a:r>
              <a:rPr lang="en-US" altLang="zh-CN" b="1" dirty="0">
                <a:solidFill>
                  <a:schemeClr val="folHlink"/>
                </a:solidFill>
                <a:latin typeface="Times New Roman" panose="02020603050405020304" pitchFamily="18" charset="0"/>
                <a:ea typeface="微软雅黑" panose="020B0503020204020204" pitchFamily="34" charset="-122"/>
              </a:rPr>
              <a:t> </a:t>
            </a:r>
            <a:r>
              <a:rPr lang="en-US" altLang="zh-CN" b="1" dirty="0">
                <a:solidFill>
                  <a:schemeClr val="folHlink"/>
                </a:solidFill>
                <a:latin typeface="Times New Roman" panose="02020603050405020304" pitchFamily="18" charset="0"/>
                <a:ea typeface="微软雅黑" panose="020B0503020204020204" pitchFamily="34" charset="-122"/>
                <a:sym typeface="Wingdings" panose="05000000000000000000" pitchFamily="2" charset="2"/>
              </a:rPr>
              <a:t>∈</a:t>
            </a:r>
            <a:r>
              <a:rPr lang="en-US" altLang="zh-CN" b="1" i="1" dirty="0">
                <a:solidFill>
                  <a:schemeClr val="folHlink"/>
                </a:solidFill>
                <a:latin typeface="Times New Roman" panose="02020603050405020304" pitchFamily="18" charset="0"/>
                <a:ea typeface="微软雅黑" panose="020B0503020204020204" pitchFamily="34" charset="-122"/>
              </a:rPr>
              <a:t>D</a:t>
            </a:r>
            <a:r>
              <a:rPr lang="zh-CN" altLang="en-US" b="1" dirty="0">
                <a:solidFill>
                  <a:schemeClr val="folHlink"/>
                </a:solidFill>
                <a:latin typeface="宋体" panose="02010600030101010101" pitchFamily="2" charset="-122"/>
              </a:rPr>
              <a:t>，</a:t>
            </a:r>
            <a:r>
              <a:rPr lang="zh-CN" altLang="en-US" b="1" dirty="0">
                <a:solidFill>
                  <a:schemeClr val="folHlink"/>
                </a:solidFill>
                <a:latin typeface="Times New Roman" panose="02020603050405020304" pitchFamily="18" charset="0"/>
                <a:ea typeface="微软雅黑" panose="020B0503020204020204" pitchFamily="34" charset="-122"/>
              </a:rPr>
              <a:t>存在</a:t>
            </a:r>
            <a:r>
              <a:rPr lang="en-US" altLang="zh-CN" b="1" dirty="0">
                <a:solidFill>
                  <a:schemeClr val="folHlink"/>
                </a:solidFill>
                <a:latin typeface="Times New Roman" panose="02020603050405020304" pitchFamily="18" charset="0"/>
                <a:ea typeface="微软雅黑" panose="020B0503020204020204" pitchFamily="34" charset="-122"/>
              </a:rPr>
              <a:t>0&lt;</a:t>
            </a:r>
            <a:r>
              <a:rPr lang="en-US" altLang="zh-CN" b="1" dirty="0">
                <a:solidFill>
                  <a:schemeClr val="folHlink"/>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solidFill>
                  <a:schemeClr val="folHlink"/>
                </a:solidFill>
                <a:latin typeface="Times New Roman" panose="02020603050405020304" pitchFamily="18" charset="0"/>
                <a:ea typeface="微软雅黑" panose="020B0503020204020204" pitchFamily="34" charset="-122"/>
              </a:rPr>
              <a:t>&lt;1 </a:t>
            </a:r>
            <a:r>
              <a:rPr lang="zh-CN" altLang="en-US" b="1" dirty="0">
                <a:solidFill>
                  <a:schemeClr val="folHlink"/>
                </a:solidFill>
                <a:latin typeface="Times New Roman" panose="02020603050405020304" pitchFamily="18" charset="0"/>
                <a:ea typeface="微软雅黑" panose="020B0503020204020204" pitchFamily="34" charset="-122"/>
              </a:rPr>
              <a:t>使得</a:t>
            </a:r>
          </a:p>
          <a:p>
            <a:pPr eaLnBrk="1" hangingPunct="1">
              <a:lnSpc>
                <a:spcPct val="150000"/>
              </a:lnSpc>
              <a:spcBef>
                <a:spcPct val="50000"/>
              </a:spcBef>
            </a:pPr>
            <a:r>
              <a:rPr lang="en-US" altLang="zh-CN" b="1" dirty="0">
                <a:solidFill>
                  <a:schemeClr val="folHlink"/>
                </a:solidFill>
                <a:latin typeface="Times New Roman" panose="02020603050405020304" pitchFamily="18" charset="0"/>
                <a:ea typeface="微软雅黑" panose="020B0503020204020204" pitchFamily="34" charset="-122"/>
              </a:rPr>
              <a:t>                </a:t>
            </a:r>
            <a:r>
              <a:rPr lang="en-US" altLang="zh-CN" b="1" i="1" dirty="0">
                <a:solidFill>
                  <a:schemeClr val="folHlink"/>
                </a:solidFill>
                <a:latin typeface="Times New Roman" panose="02020603050405020304" pitchFamily="18" charset="0"/>
                <a:ea typeface="微软雅黑" panose="020B0503020204020204" pitchFamily="34" charset="-122"/>
              </a:rPr>
              <a:t>x</a:t>
            </a:r>
            <a:r>
              <a:rPr lang="en-US" altLang="zh-CN" b="1" dirty="0">
                <a:solidFill>
                  <a:schemeClr val="folHlink"/>
                </a:solidFill>
                <a:latin typeface="Times New Roman" panose="02020603050405020304" pitchFamily="18" charset="0"/>
                <a:ea typeface="微软雅黑" panose="020B0503020204020204" pitchFamily="34" charset="-122"/>
              </a:rPr>
              <a:t>= </a:t>
            </a:r>
            <a:r>
              <a:rPr lang="en-US" altLang="zh-CN" b="1" dirty="0">
                <a:solidFill>
                  <a:schemeClr val="folHlink"/>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solidFill>
                  <a:schemeClr val="folHlink"/>
                </a:solidFill>
                <a:latin typeface="Times New Roman" panose="02020603050405020304" pitchFamily="18" charset="0"/>
                <a:ea typeface="微软雅黑" panose="020B0503020204020204" pitchFamily="34" charset="-122"/>
              </a:rPr>
              <a:t> </a:t>
            </a:r>
            <a:r>
              <a:rPr lang="en-US" altLang="zh-CN" b="1" i="1" dirty="0">
                <a:solidFill>
                  <a:schemeClr val="folHlink"/>
                </a:solidFill>
                <a:latin typeface="Times New Roman" panose="02020603050405020304" pitchFamily="18" charset="0"/>
                <a:ea typeface="微软雅黑" panose="020B0503020204020204" pitchFamily="34" charset="-122"/>
              </a:rPr>
              <a:t>x</a:t>
            </a:r>
            <a:r>
              <a:rPr lang="en-US" altLang="zh-CN" b="1" baseline="30000" dirty="0">
                <a:solidFill>
                  <a:schemeClr val="folHlink"/>
                </a:solidFill>
                <a:latin typeface="Times New Roman" panose="02020603050405020304" pitchFamily="18" charset="0"/>
                <a:ea typeface="微软雅黑" panose="020B0503020204020204" pitchFamily="34" charset="-122"/>
              </a:rPr>
              <a:t>(1)</a:t>
            </a:r>
            <a:r>
              <a:rPr lang="en-US" altLang="zh-CN" b="1" dirty="0">
                <a:solidFill>
                  <a:schemeClr val="folHlink"/>
                </a:solidFill>
                <a:latin typeface="Times New Roman" panose="02020603050405020304" pitchFamily="18" charset="0"/>
                <a:ea typeface="微软雅黑" panose="020B0503020204020204" pitchFamily="34" charset="-122"/>
              </a:rPr>
              <a:t>+(1- </a:t>
            </a:r>
            <a:r>
              <a:rPr lang="en-US" altLang="zh-CN" b="1" dirty="0">
                <a:solidFill>
                  <a:schemeClr val="folHlink"/>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solidFill>
                  <a:schemeClr val="folHlink"/>
                </a:solidFill>
                <a:latin typeface="Times New Roman" panose="02020603050405020304" pitchFamily="18" charset="0"/>
                <a:ea typeface="微软雅黑" panose="020B0503020204020204" pitchFamily="34" charset="-122"/>
              </a:rPr>
              <a:t>)</a:t>
            </a:r>
            <a:r>
              <a:rPr lang="en-US" altLang="zh-CN" b="1" i="1" dirty="0">
                <a:solidFill>
                  <a:schemeClr val="folHlink"/>
                </a:solidFill>
                <a:latin typeface="Times New Roman" panose="02020603050405020304" pitchFamily="18" charset="0"/>
                <a:ea typeface="微软雅黑" panose="020B0503020204020204" pitchFamily="34" charset="-122"/>
              </a:rPr>
              <a:t>x</a:t>
            </a:r>
            <a:r>
              <a:rPr lang="en-US" altLang="zh-CN" b="1" baseline="30000" dirty="0">
                <a:solidFill>
                  <a:schemeClr val="folHlink"/>
                </a:solidFill>
                <a:latin typeface="Times New Roman" panose="02020603050405020304" pitchFamily="18" charset="0"/>
                <a:ea typeface="微软雅黑" panose="020B0503020204020204" pitchFamily="34" charset="-122"/>
              </a:rPr>
              <a:t>(2) </a:t>
            </a:r>
            <a:r>
              <a:rPr lang="en-US" altLang="zh-CN" b="1" dirty="0">
                <a:solidFill>
                  <a:schemeClr val="folHlink"/>
                </a:solidFill>
                <a:latin typeface="Times New Roman" panose="02020603050405020304" pitchFamily="18" charset="0"/>
                <a:ea typeface="微软雅黑" panose="020B0503020204020204" pitchFamily="34" charset="-122"/>
                <a:sym typeface="Wingdings" panose="05000000000000000000" pitchFamily="2" charset="2"/>
              </a:rPr>
              <a:t>∈ </a:t>
            </a:r>
            <a:r>
              <a:rPr lang="en-US" altLang="zh-CN" b="1" i="1" dirty="0">
                <a:solidFill>
                  <a:schemeClr val="folHlink"/>
                </a:solidFill>
                <a:latin typeface="Times New Roman" panose="02020603050405020304" pitchFamily="18" charset="0"/>
                <a:ea typeface="微软雅黑" panose="020B0503020204020204" pitchFamily="34" charset="-122"/>
              </a:rPr>
              <a:t>D</a:t>
            </a:r>
          </a:p>
          <a:p>
            <a:pPr eaLnBrk="1" hangingPunct="1">
              <a:lnSpc>
                <a:spcPct val="150000"/>
              </a:lnSpc>
              <a:spcBef>
                <a:spcPct val="50000"/>
              </a:spcBef>
            </a:pPr>
            <a:r>
              <a:rPr lang="zh-CN" altLang="en-US" b="1" dirty="0">
                <a:solidFill>
                  <a:schemeClr val="folHlink"/>
                </a:solidFill>
                <a:latin typeface="Times New Roman" panose="02020603050405020304" pitchFamily="18" charset="0"/>
                <a:ea typeface="微软雅黑" panose="020B0503020204020204" pitchFamily="34" charset="-122"/>
              </a:rPr>
              <a:t>则称</a:t>
            </a:r>
            <a:r>
              <a:rPr lang="en-US" altLang="zh-CN" b="1" i="1" dirty="0">
                <a:solidFill>
                  <a:schemeClr val="folHlink"/>
                </a:solidFill>
                <a:latin typeface="Times New Roman" panose="02020603050405020304" pitchFamily="18" charset="0"/>
                <a:ea typeface="微软雅黑" panose="020B0503020204020204" pitchFamily="34" charset="-122"/>
              </a:rPr>
              <a:t>D</a:t>
            </a:r>
            <a:r>
              <a:rPr lang="zh-CN" altLang="en-US" b="1" dirty="0">
                <a:solidFill>
                  <a:schemeClr val="folHlink"/>
                </a:solidFill>
                <a:latin typeface="Times New Roman" panose="02020603050405020304" pitchFamily="18" charset="0"/>
                <a:ea typeface="微软雅黑" panose="020B0503020204020204" pitchFamily="34" charset="-122"/>
              </a:rPr>
              <a:t>为凸集</a:t>
            </a:r>
          </a:p>
        </p:txBody>
      </p:sp>
      <p:sp>
        <p:nvSpPr>
          <p:cNvPr id="26627" name="矩形 4"/>
          <p:cNvSpPr>
            <a:spLocks noChangeArrowheads="1"/>
          </p:cNvSpPr>
          <p:nvPr/>
        </p:nvSpPr>
        <p:spPr bwMode="auto">
          <a:xfrm>
            <a:off x="0" y="115888"/>
            <a:ext cx="2882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b="1">
                <a:solidFill>
                  <a:schemeClr val="folHlink"/>
                </a:solidFill>
                <a:latin typeface="微软雅黑" panose="020B0503020204020204" pitchFamily="34" charset="-122"/>
                <a:ea typeface="微软雅黑" panose="020B0503020204020204" pitchFamily="34" charset="-122"/>
              </a:rPr>
              <a:t>(i) </a:t>
            </a:r>
            <a:r>
              <a:rPr lang="zh-CN" altLang="en-US" sz="3600" b="1">
                <a:solidFill>
                  <a:schemeClr val="folHlink"/>
                </a:solidFill>
                <a:latin typeface="微软雅黑" panose="020B0503020204020204" pitchFamily="34" charset="-122"/>
                <a:ea typeface="微软雅黑" panose="020B0503020204020204" pitchFamily="34" charset="-122"/>
              </a:rPr>
              <a:t>凸集</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79</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6">
                                            <p:txEl>
                                              <p:pRg st="3" end="3"/>
                                            </p:txEl>
                                          </p:spTgt>
                                        </p:tgtEl>
                                        <p:attrNameLst>
                                          <p:attrName>style.visibility</p:attrName>
                                        </p:attrNameLst>
                                      </p:cBhvr>
                                      <p:to>
                                        <p:strVal val="visible"/>
                                      </p:to>
                                    </p:set>
                                    <p:animEffect transition="in" filter="blinds(horizontal)">
                                      <p:cBhvr>
                                        <p:cTn id="7" dur="500"/>
                                        <p:tgtEl>
                                          <p:spTgt spid="6146">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46">
                                            <p:txEl>
                                              <p:pRg st="4" end="4"/>
                                            </p:txEl>
                                          </p:spTgt>
                                        </p:tgtEl>
                                        <p:attrNameLst>
                                          <p:attrName>style.visibility</p:attrName>
                                        </p:attrNameLst>
                                      </p:cBhvr>
                                      <p:to>
                                        <p:strVal val="visible"/>
                                      </p:to>
                                    </p:set>
                                    <p:animEffect transition="in" filter="blinds(horizontal)">
                                      <p:cBhvr>
                                        <p:cTn id="10" dur="500"/>
                                        <p:tgtEl>
                                          <p:spTgt spid="6146">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46">
                                            <p:txEl>
                                              <p:pRg st="5" end="5"/>
                                            </p:txEl>
                                          </p:spTgt>
                                        </p:tgtEl>
                                        <p:attrNameLst>
                                          <p:attrName>style.visibility</p:attrName>
                                        </p:attrNameLst>
                                      </p:cBhvr>
                                      <p:to>
                                        <p:strVal val="visible"/>
                                      </p:to>
                                    </p:set>
                                    <p:animEffect transition="in" filter="blinds(horizontal)">
                                      <p:cBhvr>
                                        <p:cTn id="13" dur="500"/>
                                        <p:tgtEl>
                                          <p:spTgt spid="61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107950" y="188913"/>
            <a:ext cx="8893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r>
              <a:rPr lang="en-US" altLang="zh-CN" b="1">
                <a:latin typeface="Times New Roman" panose="02020603050405020304" pitchFamily="18" charset="0"/>
                <a:ea typeface="微软雅黑" panose="020B0503020204020204" pitchFamily="34" charset="-122"/>
              </a:rPr>
              <a:t>=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为什么可以表示两点</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的连线上的一切点？</a:t>
            </a:r>
          </a:p>
        </p:txBody>
      </p:sp>
      <p:sp>
        <p:nvSpPr>
          <p:cNvPr id="27651" name="Line 3"/>
          <p:cNvSpPr>
            <a:spLocks noChangeShapeType="1"/>
          </p:cNvSpPr>
          <p:nvPr/>
        </p:nvSpPr>
        <p:spPr bwMode="auto">
          <a:xfrm>
            <a:off x="1524000" y="4648200"/>
            <a:ext cx="68580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2" name="Line 4"/>
          <p:cNvSpPr>
            <a:spLocks noChangeShapeType="1"/>
          </p:cNvSpPr>
          <p:nvPr/>
        </p:nvSpPr>
        <p:spPr bwMode="auto">
          <a:xfrm flipV="1">
            <a:off x="4724400" y="533400"/>
            <a:ext cx="0" cy="51816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3" name="Line 5"/>
          <p:cNvSpPr>
            <a:spLocks noChangeShapeType="1"/>
          </p:cNvSpPr>
          <p:nvPr/>
        </p:nvSpPr>
        <p:spPr bwMode="auto">
          <a:xfrm flipV="1">
            <a:off x="4724400" y="1905000"/>
            <a:ext cx="1143000" cy="27432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4" name="Line 6"/>
          <p:cNvSpPr>
            <a:spLocks noChangeShapeType="1"/>
          </p:cNvSpPr>
          <p:nvPr/>
        </p:nvSpPr>
        <p:spPr bwMode="auto">
          <a:xfrm flipV="1">
            <a:off x="4800600" y="3657600"/>
            <a:ext cx="3276600" cy="9906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Line 7"/>
          <p:cNvSpPr>
            <a:spLocks noChangeShapeType="1"/>
          </p:cNvSpPr>
          <p:nvPr/>
        </p:nvSpPr>
        <p:spPr bwMode="auto">
          <a:xfrm flipH="1" flipV="1">
            <a:off x="5943600" y="19050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6" name="Line 8"/>
          <p:cNvSpPr>
            <a:spLocks noChangeShapeType="1"/>
          </p:cNvSpPr>
          <p:nvPr/>
        </p:nvSpPr>
        <p:spPr bwMode="auto">
          <a:xfrm flipV="1">
            <a:off x="4724400" y="2590800"/>
            <a:ext cx="2057400" cy="2057400"/>
          </a:xfrm>
          <a:prstGeom prst="line">
            <a:avLst/>
          </a:prstGeom>
          <a:noFill/>
          <a:ln w="28575">
            <a:solidFill>
              <a:srgbClr val="00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Text Box 9"/>
          <p:cNvSpPr txBox="1">
            <a:spLocks noChangeArrowheads="1"/>
          </p:cNvSpPr>
          <p:nvPr/>
        </p:nvSpPr>
        <p:spPr bwMode="auto">
          <a:xfrm>
            <a:off x="5334000" y="16002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a:t>
            </a:r>
          </a:p>
        </p:txBody>
      </p:sp>
      <p:sp>
        <p:nvSpPr>
          <p:cNvPr id="8202" name="Text Box 10"/>
          <p:cNvSpPr txBox="1">
            <a:spLocks noChangeArrowheads="1"/>
          </p:cNvSpPr>
          <p:nvPr/>
        </p:nvSpPr>
        <p:spPr bwMode="auto">
          <a:xfrm>
            <a:off x="8077200" y="34290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27659" name="Text Box 11"/>
          <p:cNvSpPr txBox="1">
            <a:spLocks noChangeArrowheads="1"/>
          </p:cNvSpPr>
          <p:nvPr/>
        </p:nvSpPr>
        <p:spPr bwMode="auto">
          <a:xfrm>
            <a:off x="6858000" y="22098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endParaRPr lang="en-US" altLang="zh-CN" b="1" i="1" baseline="30000">
              <a:latin typeface="Times New Roman" panose="02020603050405020304" pitchFamily="18" charset="0"/>
              <a:ea typeface="微软雅黑" panose="020B0503020204020204" pitchFamily="34" charset="-122"/>
            </a:endParaRPr>
          </a:p>
        </p:txBody>
      </p:sp>
      <p:sp>
        <p:nvSpPr>
          <p:cNvPr id="27660" name="Line 12"/>
          <p:cNvSpPr>
            <a:spLocks noChangeShapeType="1"/>
          </p:cNvSpPr>
          <p:nvPr/>
        </p:nvSpPr>
        <p:spPr bwMode="auto">
          <a:xfrm>
            <a:off x="3505200" y="3581400"/>
            <a:ext cx="76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a:xfrm>
            <a:off x="7215909"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80</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2"/>
          <p:cNvSpPr>
            <a:spLocks noChangeShapeType="1"/>
          </p:cNvSpPr>
          <p:nvPr/>
        </p:nvSpPr>
        <p:spPr bwMode="auto">
          <a:xfrm>
            <a:off x="1524000" y="4648200"/>
            <a:ext cx="68580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5" name="Line 3"/>
          <p:cNvSpPr>
            <a:spLocks noChangeShapeType="1"/>
          </p:cNvSpPr>
          <p:nvPr/>
        </p:nvSpPr>
        <p:spPr bwMode="auto">
          <a:xfrm flipV="1">
            <a:off x="4724400" y="533400"/>
            <a:ext cx="0" cy="51816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6" name="Line 4"/>
          <p:cNvSpPr>
            <a:spLocks noChangeShapeType="1"/>
          </p:cNvSpPr>
          <p:nvPr/>
        </p:nvSpPr>
        <p:spPr bwMode="auto">
          <a:xfrm flipV="1">
            <a:off x="4724400" y="1905000"/>
            <a:ext cx="1143000" cy="27432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7" name="Line 5"/>
          <p:cNvSpPr>
            <a:spLocks noChangeShapeType="1"/>
          </p:cNvSpPr>
          <p:nvPr/>
        </p:nvSpPr>
        <p:spPr bwMode="auto">
          <a:xfrm flipV="1">
            <a:off x="4800600" y="3657600"/>
            <a:ext cx="3276600" cy="9906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8" name="Line 6"/>
          <p:cNvSpPr>
            <a:spLocks noChangeShapeType="1"/>
          </p:cNvSpPr>
          <p:nvPr/>
        </p:nvSpPr>
        <p:spPr bwMode="auto">
          <a:xfrm flipH="1" flipV="1">
            <a:off x="5943600" y="19050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9" name="Line 7"/>
          <p:cNvSpPr>
            <a:spLocks noChangeShapeType="1"/>
          </p:cNvSpPr>
          <p:nvPr/>
        </p:nvSpPr>
        <p:spPr bwMode="auto">
          <a:xfrm flipH="1" flipV="1">
            <a:off x="2514600" y="28956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0" name="Line 8"/>
          <p:cNvSpPr>
            <a:spLocks noChangeShapeType="1"/>
          </p:cNvSpPr>
          <p:nvPr/>
        </p:nvSpPr>
        <p:spPr bwMode="auto">
          <a:xfrm flipV="1">
            <a:off x="1371600" y="2895600"/>
            <a:ext cx="1143000" cy="27432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1" name="Line 9"/>
          <p:cNvSpPr>
            <a:spLocks noChangeShapeType="1"/>
          </p:cNvSpPr>
          <p:nvPr/>
        </p:nvSpPr>
        <p:spPr bwMode="auto">
          <a:xfrm flipV="1">
            <a:off x="2667000" y="1905000"/>
            <a:ext cx="3276600" cy="9906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2" name="Line 10"/>
          <p:cNvSpPr>
            <a:spLocks noChangeShapeType="1"/>
          </p:cNvSpPr>
          <p:nvPr/>
        </p:nvSpPr>
        <p:spPr bwMode="auto">
          <a:xfrm flipH="1">
            <a:off x="1371600" y="4648200"/>
            <a:ext cx="3352800" cy="10668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 name="Text Box 11"/>
          <p:cNvSpPr txBox="1">
            <a:spLocks noChangeArrowheads="1"/>
          </p:cNvSpPr>
          <p:nvPr/>
        </p:nvSpPr>
        <p:spPr bwMode="auto">
          <a:xfrm>
            <a:off x="5334000" y="16002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a:t>
            </a:r>
          </a:p>
        </p:txBody>
      </p:sp>
      <p:sp>
        <p:nvSpPr>
          <p:cNvPr id="9228" name="Text Box 12"/>
          <p:cNvSpPr txBox="1">
            <a:spLocks noChangeArrowheads="1"/>
          </p:cNvSpPr>
          <p:nvPr/>
        </p:nvSpPr>
        <p:spPr bwMode="auto">
          <a:xfrm>
            <a:off x="8077200" y="34290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9229" name="Text Box 13"/>
          <p:cNvSpPr txBox="1">
            <a:spLocks noChangeArrowheads="1"/>
          </p:cNvSpPr>
          <p:nvPr/>
        </p:nvSpPr>
        <p:spPr bwMode="auto">
          <a:xfrm>
            <a:off x="533400" y="5715000"/>
            <a:ext cx="762000" cy="457200"/>
          </a:xfrm>
          <a:prstGeom prst="rect">
            <a:avLst/>
          </a:prstGeom>
          <a:noFill/>
          <a:ln w="9525">
            <a:noFill/>
            <a:miter lim="800000"/>
          </a:ln>
          <a:effectLst/>
        </p:spPr>
        <p:txBody>
          <a:bodyPr>
            <a:spAutoFit/>
          </a:bodyPr>
          <a:lstStyle/>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9230" name="Text Box 14"/>
          <p:cNvSpPr txBox="1">
            <a:spLocks noChangeArrowheads="1"/>
          </p:cNvSpPr>
          <p:nvPr/>
        </p:nvSpPr>
        <p:spPr bwMode="auto">
          <a:xfrm>
            <a:off x="1371600" y="2438400"/>
            <a:ext cx="1524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28687" name="Line 15"/>
          <p:cNvSpPr>
            <a:spLocks noChangeShapeType="1"/>
          </p:cNvSpPr>
          <p:nvPr/>
        </p:nvSpPr>
        <p:spPr bwMode="auto">
          <a:xfrm flipV="1">
            <a:off x="4724400" y="2590800"/>
            <a:ext cx="2057400" cy="2057400"/>
          </a:xfrm>
          <a:prstGeom prst="line">
            <a:avLst/>
          </a:prstGeom>
          <a:noFill/>
          <a:ln w="28575">
            <a:solidFill>
              <a:srgbClr val="00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8" name="Text Box 16"/>
          <p:cNvSpPr txBox="1">
            <a:spLocks noChangeArrowheads="1"/>
          </p:cNvSpPr>
          <p:nvPr/>
        </p:nvSpPr>
        <p:spPr bwMode="auto">
          <a:xfrm>
            <a:off x="6781800" y="1981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p>
        </p:txBody>
      </p:sp>
      <p:sp>
        <p:nvSpPr>
          <p:cNvPr id="28689" name="Text Box 2"/>
          <p:cNvSpPr txBox="1">
            <a:spLocks noChangeArrowheads="1"/>
          </p:cNvSpPr>
          <p:nvPr/>
        </p:nvSpPr>
        <p:spPr bwMode="auto">
          <a:xfrm>
            <a:off x="107950" y="188913"/>
            <a:ext cx="8893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r>
              <a:rPr lang="en-US" altLang="zh-CN" b="1">
                <a:latin typeface="Times New Roman" panose="02020603050405020304" pitchFamily="18" charset="0"/>
                <a:ea typeface="微软雅黑" panose="020B0503020204020204" pitchFamily="34" charset="-122"/>
              </a:rPr>
              <a:t>=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为什么可以表示两点</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的连线上的一切点？</a:t>
            </a:r>
          </a:p>
        </p:txBody>
      </p:sp>
      <p:sp>
        <p:nvSpPr>
          <p:cNvPr id="2" name="灯片编号占位符 1"/>
          <p:cNvSpPr>
            <a:spLocks noGrp="1"/>
          </p:cNvSpPr>
          <p:nvPr>
            <p:ph type="sldNum" sz="quarter" idx="12"/>
          </p:nvPr>
        </p:nvSpPr>
        <p:spPr>
          <a:xfrm>
            <a:off x="7239000" y="6383211"/>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2"/>
          <p:cNvSpPr>
            <a:spLocks noChangeShapeType="1"/>
          </p:cNvSpPr>
          <p:nvPr/>
        </p:nvSpPr>
        <p:spPr bwMode="auto">
          <a:xfrm>
            <a:off x="1524000" y="4648200"/>
            <a:ext cx="68580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699" name="Line 3"/>
          <p:cNvSpPr>
            <a:spLocks noChangeShapeType="1"/>
          </p:cNvSpPr>
          <p:nvPr/>
        </p:nvSpPr>
        <p:spPr bwMode="auto">
          <a:xfrm flipV="1">
            <a:off x="4724400" y="533400"/>
            <a:ext cx="0" cy="51816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0" name="Line 4"/>
          <p:cNvSpPr>
            <a:spLocks noChangeShapeType="1"/>
          </p:cNvSpPr>
          <p:nvPr/>
        </p:nvSpPr>
        <p:spPr bwMode="auto">
          <a:xfrm flipV="1">
            <a:off x="4724400" y="1905000"/>
            <a:ext cx="1143000" cy="27432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1" name="Line 5"/>
          <p:cNvSpPr>
            <a:spLocks noChangeShapeType="1"/>
          </p:cNvSpPr>
          <p:nvPr/>
        </p:nvSpPr>
        <p:spPr bwMode="auto">
          <a:xfrm flipV="1">
            <a:off x="4800600" y="3657600"/>
            <a:ext cx="3276600" cy="9906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2" name="Line 6"/>
          <p:cNvSpPr>
            <a:spLocks noChangeShapeType="1"/>
          </p:cNvSpPr>
          <p:nvPr/>
        </p:nvSpPr>
        <p:spPr bwMode="auto">
          <a:xfrm flipH="1" flipV="1">
            <a:off x="5943600" y="19050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3" name="Line 7"/>
          <p:cNvSpPr>
            <a:spLocks noChangeShapeType="1"/>
          </p:cNvSpPr>
          <p:nvPr/>
        </p:nvSpPr>
        <p:spPr bwMode="auto">
          <a:xfrm flipH="1" flipV="1">
            <a:off x="2514600" y="28956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4" name="Line 8"/>
          <p:cNvSpPr>
            <a:spLocks noChangeShapeType="1"/>
          </p:cNvSpPr>
          <p:nvPr/>
        </p:nvSpPr>
        <p:spPr bwMode="auto">
          <a:xfrm flipV="1">
            <a:off x="4724400" y="2590800"/>
            <a:ext cx="2057400" cy="2057400"/>
          </a:xfrm>
          <a:prstGeom prst="line">
            <a:avLst/>
          </a:prstGeom>
          <a:noFill/>
          <a:ln w="28575">
            <a:solidFill>
              <a:srgbClr val="00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5" name="Line 9"/>
          <p:cNvSpPr>
            <a:spLocks noChangeShapeType="1"/>
          </p:cNvSpPr>
          <p:nvPr/>
        </p:nvSpPr>
        <p:spPr bwMode="auto">
          <a:xfrm flipV="1">
            <a:off x="1371600" y="2895600"/>
            <a:ext cx="1143000" cy="27432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6" name="Line 10"/>
          <p:cNvSpPr>
            <a:spLocks noChangeShapeType="1"/>
          </p:cNvSpPr>
          <p:nvPr/>
        </p:nvSpPr>
        <p:spPr bwMode="auto">
          <a:xfrm flipV="1">
            <a:off x="2667000" y="1905000"/>
            <a:ext cx="3276600" cy="9906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7" name="Line 11"/>
          <p:cNvSpPr>
            <a:spLocks noChangeShapeType="1"/>
          </p:cNvSpPr>
          <p:nvPr/>
        </p:nvSpPr>
        <p:spPr bwMode="auto">
          <a:xfrm flipH="1">
            <a:off x="1371600" y="4648200"/>
            <a:ext cx="3352800" cy="10668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2" name="Text Box 12"/>
          <p:cNvSpPr txBox="1">
            <a:spLocks noChangeArrowheads="1"/>
          </p:cNvSpPr>
          <p:nvPr/>
        </p:nvSpPr>
        <p:spPr bwMode="auto">
          <a:xfrm>
            <a:off x="5334000" y="16002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a:t>
            </a:r>
          </a:p>
        </p:txBody>
      </p:sp>
      <p:sp>
        <p:nvSpPr>
          <p:cNvPr id="10253" name="Text Box 13"/>
          <p:cNvSpPr txBox="1">
            <a:spLocks noChangeArrowheads="1"/>
          </p:cNvSpPr>
          <p:nvPr/>
        </p:nvSpPr>
        <p:spPr bwMode="auto">
          <a:xfrm>
            <a:off x="8077200" y="34290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10254" name="Text Box 14"/>
          <p:cNvSpPr txBox="1">
            <a:spLocks noChangeArrowheads="1"/>
          </p:cNvSpPr>
          <p:nvPr/>
        </p:nvSpPr>
        <p:spPr bwMode="auto">
          <a:xfrm>
            <a:off x="6858000" y="22098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endParaRPr lang="en-US" b="1" i="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0255" name="Text Box 15"/>
          <p:cNvSpPr txBox="1">
            <a:spLocks noChangeArrowheads="1"/>
          </p:cNvSpPr>
          <p:nvPr/>
        </p:nvSpPr>
        <p:spPr bwMode="auto">
          <a:xfrm>
            <a:off x="533400" y="5715000"/>
            <a:ext cx="762000" cy="457200"/>
          </a:xfrm>
          <a:prstGeom prst="rect">
            <a:avLst/>
          </a:prstGeom>
          <a:noFill/>
          <a:ln w="9525">
            <a:noFill/>
            <a:miter lim="800000"/>
          </a:ln>
          <a:effectLst/>
        </p:spPr>
        <p:txBody>
          <a:bodyPr>
            <a:spAutoFit/>
          </a:bodyPr>
          <a:lstStyle/>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10256" name="Text Box 16"/>
          <p:cNvSpPr txBox="1">
            <a:spLocks noChangeArrowheads="1"/>
          </p:cNvSpPr>
          <p:nvPr/>
        </p:nvSpPr>
        <p:spPr bwMode="auto">
          <a:xfrm>
            <a:off x="1371600" y="2438400"/>
            <a:ext cx="1524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29713" name="Line 17"/>
          <p:cNvSpPr>
            <a:spLocks noChangeShapeType="1"/>
          </p:cNvSpPr>
          <p:nvPr/>
        </p:nvSpPr>
        <p:spPr bwMode="auto">
          <a:xfrm>
            <a:off x="3505200" y="3581400"/>
            <a:ext cx="76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4" name="Line 18"/>
          <p:cNvSpPr>
            <a:spLocks noChangeShapeType="1"/>
          </p:cNvSpPr>
          <p:nvPr/>
        </p:nvSpPr>
        <p:spPr bwMode="auto">
          <a:xfrm flipH="1" flipV="1">
            <a:off x="3352800" y="3657600"/>
            <a:ext cx="1295400" cy="990600"/>
          </a:xfrm>
          <a:prstGeom prst="line">
            <a:avLst/>
          </a:prstGeom>
          <a:noFill/>
          <a:ln w="2857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9" name="Text Box 19"/>
          <p:cNvSpPr txBox="1">
            <a:spLocks noChangeArrowheads="1"/>
          </p:cNvSpPr>
          <p:nvPr/>
        </p:nvSpPr>
        <p:spPr bwMode="auto">
          <a:xfrm>
            <a:off x="1600200" y="3733800"/>
            <a:ext cx="2209800" cy="1016000"/>
          </a:xfrm>
          <a:prstGeom prst="rect">
            <a:avLst/>
          </a:prstGeom>
          <a:noFill/>
          <a:ln w="9525">
            <a:noFill/>
            <a:miter lim="800000"/>
          </a:ln>
          <a:effectLst/>
        </p:spPr>
        <p:txBody>
          <a:bodyPr>
            <a:spAutoFit/>
          </a:bodyPr>
          <a:lstStyle/>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y=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p>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(0&lt;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&lt;1)</a:t>
            </a:r>
          </a:p>
        </p:txBody>
      </p:sp>
      <p:sp>
        <p:nvSpPr>
          <p:cNvPr id="29716" name="Text Box 2"/>
          <p:cNvSpPr txBox="1">
            <a:spLocks noChangeArrowheads="1"/>
          </p:cNvSpPr>
          <p:nvPr/>
        </p:nvSpPr>
        <p:spPr bwMode="auto">
          <a:xfrm>
            <a:off x="107950" y="188913"/>
            <a:ext cx="8893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r>
              <a:rPr lang="en-US" altLang="zh-CN" b="1">
                <a:latin typeface="Times New Roman" panose="02020603050405020304" pitchFamily="18" charset="0"/>
                <a:ea typeface="微软雅黑" panose="020B0503020204020204" pitchFamily="34" charset="-122"/>
              </a:rPr>
              <a:t>=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为什么可以表示两点</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的连线上的一切点？</a:t>
            </a:r>
          </a:p>
        </p:txBody>
      </p:sp>
      <p:sp>
        <p:nvSpPr>
          <p:cNvPr id="2" name="灯片编号占位符 1"/>
          <p:cNvSpPr>
            <a:spLocks noGrp="1"/>
          </p:cNvSpPr>
          <p:nvPr>
            <p:ph type="sldNum" sz="quarter" idx="12"/>
          </p:nvPr>
        </p:nvSpPr>
        <p:spPr>
          <a:xfrm>
            <a:off x="7238923" y="6392447"/>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82</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2"/>
          <p:cNvSpPr>
            <a:spLocks noChangeShapeType="1"/>
          </p:cNvSpPr>
          <p:nvPr/>
        </p:nvSpPr>
        <p:spPr bwMode="auto">
          <a:xfrm>
            <a:off x="1524000" y="4648200"/>
            <a:ext cx="68580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3" name="Line 3"/>
          <p:cNvSpPr>
            <a:spLocks noChangeShapeType="1"/>
          </p:cNvSpPr>
          <p:nvPr/>
        </p:nvSpPr>
        <p:spPr bwMode="auto">
          <a:xfrm flipV="1">
            <a:off x="4724400" y="533400"/>
            <a:ext cx="0" cy="51816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4" name="Line 4"/>
          <p:cNvSpPr>
            <a:spLocks noChangeShapeType="1"/>
          </p:cNvSpPr>
          <p:nvPr/>
        </p:nvSpPr>
        <p:spPr bwMode="auto">
          <a:xfrm flipV="1">
            <a:off x="4724400" y="1905000"/>
            <a:ext cx="1143000" cy="27432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5" name="Line 5"/>
          <p:cNvSpPr>
            <a:spLocks noChangeShapeType="1"/>
          </p:cNvSpPr>
          <p:nvPr/>
        </p:nvSpPr>
        <p:spPr bwMode="auto">
          <a:xfrm flipV="1">
            <a:off x="4800600" y="3657600"/>
            <a:ext cx="3276600" cy="9906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6" name="Line 6"/>
          <p:cNvSpPr>
            <a:spLocks noChangeShapeType="1"/>
          </p:cNvSpPr>
          <p:nvPr/>
        </p:nvSpPr>
        <p:spPr bwMode="auto">
          <a:xfrm flipH="1" flipV="1">
            <a:off x="5943600" y="19050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7"/>
          <p:cNvSpPr>
            <a:spLocks noChangeShapeType="1"/>
          </p:cNvSpPr>
          <p:nvPr/>
        </p:nvSpPr>
        <p:spPr bwMode="auto">
          <a:xfrm flipH="1" flipV="1">
            <a:off x="2514600" y="2895600"/>
            <a:ext cx="2209800" cy="175260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Line 8"/>
          <p:cNvSpPr>
            <a:spLocks noChangeShapeType="1"/>
          </p:cNvSpPr>
          <p:nvPr/>
        </p:nvSpPr>
        <p:spPr bwMode="auto">
          <a:xfrm flipV="1">
            <a:off x="4724400" y="2590800"/>
            <a:ext cx="2057400" cy="2057400"/>
          </a:xfrm>
          <a:prstGeom prst="line">
            <a:avLst/>
          </a:prstGeom>
          <a:noFill/>
          <a:ln w="28575">
            <a:solidFill>
              <a:srgbClr val="00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Line 9"/>
          <p:cNvSpPr>
            <a:spLocks noChangeShapeType="1"/>
          </p:cNvSpPr>
          <p:nvPr/>
        </p:nvSpPr>
        <p:spPr bwMode="auto">
          <a:xfrm flipV="1">
            <a:off x="1371600" y="2895600"/>
            <a:ext cx="1143000" cy="27432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Line 10"/>
          <p:cNvSpPr>
            <a:spLocks noChangeShapeType="1"/>
          </p:cNvSpPr>
          <p:nvPr/>
        </p:nvSpPr>
        <p:spPr bwMode="auto">
          <a:xfrm flipV="1">
            <a:off x="2667000" y="1905000"/>
            <a:ext cx="3276600" cy="9906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1" name="Line 11"/>
          <p:cNvSpPr>
            <a:spLocks noChangeShapeType="1"/>
          </p:cNvSpPr>
          <p:nvPr/>
        </p:nvSpPr>
        <p:spPr bwMode="auto">
          <a:xfrm flipH="1">
            <a:off x="1371600" y="4648200"/>
            <a:ext cx="3352800" cy="10668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6" name="Text Box 12"/>
          <p:cNvSpPr txBox="1">
            <a:spLocks noChangeArrowheads="1"/>
          </p:cNvSpPr>
          <p:nvPr/>
        </p:nvSpPr>
        <p:spPr bwMode="auto">
          <a:xfrm>
            <a:off x="5334000" y="16002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a:t>
            </a:r>
          </a:p>
        </p:txBody>
      </p:sp>
      <p:sp>
        <p:nvSpPr>
          <p:cNvPr id="11277" name="Text Box 13"/>
          <p:cNvSpPr txBox="1">
            <a:spLocks noChangeArrowheads="1"/>
          </p:cNvSpPr>
          <p:nvPr/>
        </p:nvSpPr>
        <p:spPr bwMode="auto">
          <a:xfrm>
            <a:off x="8077200" y="34290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11278" name="Text Box 14"/>
          <p:cNvSpPr txBox="1">
            <a:spLocks noChangeArrowheads="1"/>
          </p:cNvSpPr>
          <p:nvPr/>
        </p:nvSpPr>
        <p:spPr bwMode="auto">
          <a:xfrm>
            <a:off x="6858000" y="2209800"/>
            <a:ext cx="762000" cy="457200"/>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endParaRPr lang="en-US" b="1" i="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11279" name="Text Box 15"/>
          <p:cNvSpPr txBox="1">
            <a:spLocks noChangeArrowheads="1"/>
          </p:cNvSpPr>
          <p:nvPr/>
        </p:nvSpPr>
        <p:spPr bwMode="auto">
          <a:xfrm>
            <a:off x="533400" y="5715000"/>
            <a:ext cx="762000" cy="457200"/>
          </a:xfrm>
          <a:prstGeom prst="rect">
            <a:avLst/>
          </a:prstGeom>
          <a:noFill/>
          <a:ln w="9525">
            <a:noFill/>
            <a:miter lim="800000"/>
          </a:ln>
          <a:effectLst/>
        </p:spPr>
        <p:txBody>
          <a:bodyPr>
            <a:spAutoFit/>
          </a:bodyPr>
          <a:lstStyle/>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latin typeface="Times New Roman" panose="02020603050405020304" pitchFamily="18" charset="0"/>
                <a:ea typeface="微软雅黑" panose="020B0503020204020204" pitchFamily="34" charset="-122"/>
              </a:rPr>
              <a:t>x</a:t>
            </a:r>
            <a:r>
              <a:rPr lang="en-US" b="1" baseline="30000" dirty="0">
                <a:latin typeface="Times New Roman" panose="02020603050405020304" pitchFamily="18" charset="0"/>
                <a:ea typeface="微软雅黑" panose="020B0503020204020204" pitchFamily="34" charset="-122"/>
              </a:rPr>
              <a:t>(2)</a:t>
            </a:r>
          </a:p>
        </p:txBody>
      </p:sp>
      <p:sp>
        <p:nvSpPr>
          <p:cNvPr id="30736" name="Text Box 16"/>
          <p:cNvSpPr txBox="1">
            <a:spLocks noChangeArrowheads="1"/>
          </p:cNvSpPr>
          <p:nvPr/>
        </p:nvSpPr>
        <p:spPr bwMode="auto">
          <a:xfrm>
            <a:off x="1371600" y="24384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p>
        </p:txBody>
      </p:sp>
      <p:sp>
        <p:nvSpPr>
          <p:cNvPr id="30737" name="Line 17"/>
          <p:cNvSpPr>
            <a:spLocks noChangeShapeType="1"/>
          </p:cNvSpPr>
          <p:nvPr/>
        </p:nvSpPr>
        <p:spPr bwMode="auto">
          <a:xfrm flipV="1">
            <a:off x="3505200" y="2590800"/>
            <a:ext cx="3276600" cy="990600"/>
          </a:xfrm>
          <a:prstGeom prst="line">
            <a:avLst/>
          </a:prstGeom>
          <a:noFill/>
          <a:ln w="28575">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8" name="Line 18"/>
          <p:cNvSpPr>
            <a:spLocks noChangeShapeType="1"/>
          </p:cNvSpPr>
          <p:nvPr/>
        </p:nvSpPr>
        <p:spPr bwMode="auto">
          <a:xfrm>
            <a:off x="3505200" y="3581400"/>
            <a:ext cx="76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9" name="Line 19"/>
          <p:cNvSpPr>
            <a:spLocks noChangeShapeType="1"/>
          </p:cNvSpPr>
          <p:nvPr/>
        </p:nvSpPr>
        <p:spPr bwMode="auto">
          <a:xfrm flipH="1" flipV="1">
            <a:off x="3352800" y="3657600"/>
            <a:ext cx="1295400" cy="990600"/>
          </a:xfrm>
          <a:prstGeom prst="line">
            <a:avLst/>
          </a:prstGeom>
          <a:noFill/>
          <a:ln w="2857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0" name="Line 20"/>
          <p:cNvSpPr>
            <a:spLocks noChangeShapeType="1"/>
          </p:cNvSpPr>
          <p:nvPr/>
        </p:nvSpPr>
        <p:spPr bwMode="auto">
          <a:xfrm flipH="1">
            <a:off x="6781800" y="1828800"/>
            <a:ext cx="0" cy="685800"/>
          </a:xfrm>
          <a:prstGeom prst="line">
            <a:avLst/>
          </a:prstGeom>
          <a:noFill/>
          <a:ln w="952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Text Box 21"/>
          <p:cNvSpPr txBox="1">
            <a:spLocks noChangeArrowheads="1"/>
          </p:cNvSpPr>
          <p:nvPr/>
        </p:nvSpPr>
        <p:spPr bwMode="auto">
          <a:xfrm>
            <a:off x="5651500" y="228600"/>
            <a:ext cx="3187700" cy="1562100"/>
          </a:xfrm>
          <a:prstGeom prst="rect">
            <a:avLst/>
          </a:prstGeom>
          <a:noFill/>
          <a:ln w="9525">
            <a:solidFill>
              <a:srgbClr val="00FF00"/>
            </a:solid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y</a:t>
            </a:r>
          </a:p>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 </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endPar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a:p>
            <a:pPr eaLnBrk="1" hangingPunct="1">
              <a:spcBef>
                <a:spcPct val="50000"/>
              </a:spcBef>
              <a:defRPr/>
            </a:pP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p>
        </p:txBody>
      </p:sp>
      <p:sp>
        <p:nvSpPr>
          <p:cNvPr id="30742" name="Text Box 22"/>
          <p:cNvSpPr txBox="1">
            <a:spLocks noChangeArrowheads="1"/>
          </p:cNvSpPr>
          <p:nvPr/>
        </p:nvSpPr>
        <p:spPr bwMode="auto">
          <a:xfrm>
            <a:off x="1600200" y="3733800"/>
            <a:ext cx="2209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rPr>
              <a:t>y</a:t>
            </a:r>
            <a:r>
              <a:rPr lang="en-US" altLang="zh-CN" b="1">
                <a:latin typeface="Times New Roman" panose="02020603050405020304" pitchFamily="18" charset="0"/>
                <a:ea typeface="微软雅黑" panose="020B0503020204020204" pitchFamily="34" charset="-122"/>
              </a:rPr>
              <a:t>=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a:t>
            </a:r>
          </a:p>
          <a:p>
            <a:pPr eaLnBrk="1" hangingPunct="1">
              <a:spcBef>
                <a:spcPct val="50000"/>
              </a:spcBef>
            </a:pPr>
            <a:r>
              <a:rPr lang="en-US" altLang="zh-CN" b="1">
                <a:latin typeface="Times New Roman" panose="02020603050405020304" pitchFamily="18" charset="0"/>
                <a:ea typeface="微软雅黑" panose="020B0503020204020204" pitchFamily="34" charset="-122"/>
              </a:rPr>
              <a:t>(0&lt; </a:t>
            </a:r>
            <a:r>
              <a:rPr lang="en-US" altLang="zh-CN" b="1">
                <a:latin typeface="Times New Roman" panose="02020603050405020304" pitchFamily="18" charset="0"/>
                <a:ea typeface="微软雅黑" panose="020B0503020204020204" pitchFamily="34" charset="-122"/>
                <a:sym typeface="Symbol" panose="05050102010706020507" pitchFamily="18" charset="2"/>
              </a:rPr>
              <a:t></a:t>
            </a:r>
            <a:r>
              <a:rPr lang="en-US" altLang="zh-CN" b="1">
                <a:latin typeface="Times New Roman" panose="02020603050405020304" pitchFamily="18" charset="0"/>
                <a:ea typeface="微软雅黑" panose="020B0503020204020204" pitchFamily="34" charset="-122"/>
              </a:rPr>
              <a:t> &lt;1)</a:t>
            </a:r>
          </a:p>
        </p:txBody>
      </p:sp>
      <p:sp>
        <p:nvSpPr>
          <p:cNvPr id="26" name="Text Box 2"/>
          <p:cNvSpPr txBox="1">
            <a:spLocks noChangeArrowheads="1"/>
          </p:cNvSpPr>
          <p:nvPr/>
        </p:nvSpPr>
        <p:spPr bwMode="auto">
          <a:xfrm>
            <a:off x="107950" y="188913"/>
            <a:ext cx="4895850" cy="830262"/>
          </a:xfrm>
          <a:prstGeom prst="rect">
            <a:avLst/>
          </a:prstGeom>
          <a:noFill/>
          <a:ln w="9525">
            <a:noFill/>
            <a:miter lim="800000"/>
          </a:ln>
          <a:effectLst/>
        </p:spPr>
        <p:txBody>
          <a:bodyPr>
            <a:spAutoFit/>
          </a:bodyPr>
          <a:lstStyle/>
          <a:p>
            <a:pPr eaLnBrk="1" hangingPunct="1">
              <a:spcBef>
                <a:spcPct val="50000"/>
              </a:spcBef>
              <a:defRPr/>
            </a:pP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+(1- </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sym typeface="Symbol" panose="05050102010706020507" pitchFamily="18" charset="2"/>
              </a:rPr>
              <a:t></a:t>
            </a:r>
            <a:r>
              <a:rPr 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a:t>
            </a:r>
            <a:r>
              <a:rPr lang="en-US"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为什么可以表示两点</a:t>
            </a:r>
            <a:r>
              <a:rPr lang="en-US" altLang="zh-CN"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altLang="zh-CN"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(1)</a:t>
            </a:r>
            <a:r>
              <a:rPr lang="en-US" altLang="zh-CN"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 </a:t>
            </a:r>
            <a:r>
              <a:rPr lang="en-US" altLang="zh-CN" b="1" i="1" dirty="0">
                <a:effectLst>
                  <a:outerShdw blurRad="38100" dist="38100" dir="2700000" algn="tl">
                    <a:srgbClr val="C0C0C0"/>
                  </a:outerShdw>
                </a:effectLst>
                <a:latin typeface="Times New Roman" panose="02020603050405020304" pitchFamily="18" charset="0"/>
                <a:ea typeface="微软雅黑" panose="020B0503020204020204" pitchFamily="34" charset="-122"/>
              </a:rPr>
              <a:t>x</a:t>
            </a:r>
            <a:r>
              <a:rPr lang="en-US" altLang="zh-CN" b="1" baseline="30000" dirty="0">
                <a:effectLst>
                  <a:outerShdw blurRad="38100" dist="38100" dir="2700000" algn="tl">
                    <a:srgbClr val="C0C0C0"/>
                  </a:outerShdw>
                </a:effectLst>
                <a:latin typeface="Times New Roman" panose="02020603050405020304" pitchFamily="18" charset="0"/>
                <a:ea typeface="微软雅黑" panose="020B0503020204020204" pitchFamily="34" charset="-122"/>
              </a:rPr>
              <a:t>(2)</a:t>
            </a:r>
            <a:r>
              <a:rPr lang="zh-CN" altLang="en-US"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的连线上的一切点？</a:t>
            </a:r>
          </a:p>
        </p:txBody>
      </p:sp>
      <p:sp>
        <p:nvSpPr>
          <p:cNvPr id="2" name="灯片编号占位符 1"/>
          <p:cNvSpPr>
            <a:spLocks noGrp="1"/>
          </p:cNvSpPr>
          <p:nvPr>
            <p:ph type="sldNum" sz="quarter" idx="12"/>
          </p:nvPr>
        </p:nvSpPr>
        <p:spPr>
          <a:xfrm>
            <a:off x="7238923" y="6392447"/>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4450"/>
            <a:ext cx="2819400" cy="579438"/>
          </a:xfrm>
          <a:prstGeom prst="rect">
            <a:avLst/>
          </a:prstGeom>
          <a:noFill/>
          <a:ln w="9525">
            <a:noFill/>
            <a:miter lim="800000"/>
          </a:ln>
          <a:effectLst/>
        </p:spPr>
        <p:txBody>
          <a:bodyPr>
            <a:spAutoFit/>
          </a:bodyPr>
          <a:lstStyle/>
          <a:p>
            <a:pPr eaLnBrk="1" hangingPunct="1">
              <a:spcBef>
                <a:spcPct val="50000"/>
              </a:spcBef>
              <a:defRPr/>
            </a:pPr>
            <a:r>
              <a:rPr lang="zh-CN" altLang="en-US" sz="3200" b="1" dirty="0">
                <a:solidFill>
                  <a:srgbClr val="FF00FF"/>
                </a:solidFill>
                <a:effectLst>
                  <a:outerShdw blurRad="38100" dist="38100" dir="2700000" algn="tl">
                    <a:srgbClr val="C0C0C0"/>
                  </a:outerShdw>
                </a:effectLst>
                <a:latin typeface="Times New Roman" panose="02020603050405020304" pitchFamily="18" charset="0"/>
                <a:ea typeface="微软雅黑" panose="020B0503020204020204" pitchFamily="34" charset="-122"/>
              </a:rPr>
              <a:t>例（凸集）</a:t>
            </a:r>
            <a:endParaRPr lang="zh-CN" altLang="en-US" b="1" dirty="0">
              <a:solidFill>
                <a:srgbClr val="FF00FF"/>
              </a:solidFill>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31747" name="Oval 3"/>
          <p:cNvSpPr>
            <a:spLocks noChangeArrowheads="1"/>
          </p:cNvSpPr>
          <p:nvPr/>
        </p:nvSpPr>
        <p:spPr bwMode="auto">
          <a:xfrm>
            <a:off x="1476375" y="620713"/>
            <a:ext cx="762000" cy="762000"/>
          </a:xfrm>
          <a:prstGeom prst="ellipse">
            <a:avLst/>
          </a:prstGeom>
          <a:solidFill>
            <a:schemeClr val="accent1"/>
          </a:solidFill>
          <a:ln w="9525">
            <a:solidFill>
              <a:srgbClr val="FF0000"/>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48" name="AutoShape 4"/>
          <p:cNvSpPr>
            <a:spLocks noChangeArrowheads="1"/>
          </p:cNvSpPr>
          <p:nvPr/>
        </p:nvSpPr>
        <p:spPr bwMode="auto">
          <a:xfrm>
            <a:off x="3124200" y="693738"/>
            <a:ext cx="1295400" cy="762000"/>
          </a:xfrm>
          <a:prstGeom prst="hexagon">
            <a:avLst>
              <a:gd name="adj" fmla="val 42500"/>
              <a:gd name="vf" fmla="val 115470"/>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49" name="AutoShape 5"/>
          <p:cNvSpPr>
            <a:spLocks noChangeArrowheads="1"/>
          </p:cNvSpPr>
          <p:nvPr/>
        </p:nvSpPr>
        <p:spPr bwMode="auto">
          <a:xfrm>
            <a:off x="5181600" y="692150"/>
            <a:ext cx="914400" cy="685800"/>
          </a:xfrm>
          <a:prstGeom prst="flowChartDelay">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50" name="AutoShape 6"/>
          <p:cNvSpPr>
            <a:spLocks noChangeArrowheads="1"/>
          </p:cNvSpPr>
          <p:nvPr/>
        </p:nvSpPr>
        <p:spPr bwMode="auto">
          <a:xfrm rot="-5400000">
            <a:off x="4627563" y="1909763"/>
            <a:ext cx="1485900" cy="876300"/>
          </a:xfrm>
          <a:prstGeom prst="flowChartDelay">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51" name="AutoShape 7"/>
          <p:cNvSpPr>
            <a:spLocks noChangeArrowheads="1"/>
          </p:cNvSpPr>
          <p:nvPr/>
        </p:nvSpPr>
        <p:spPr bwMode="auto">
          <a:xfrm rot="5400000">
            <a:off x="6438900" y="1862138"/>
            <a:ext cx="1485900" cy="952500"/>
          </a:xfrm>
          <a:prstGeom prst="flowChartDelay">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52" name="Line 8"/>
          <p:cNvSpPr>
            <a:spLocks noChangeShapeType="1"/>
          </p:cNvSpPr>
          <p:nvPr/>
        </p:nvSpPr>
        <p:spPr bwMode="auto">
          <a:xfrm>
            <a:off x="4953000" y="3081338"/>
            <a:ext cx="914400" cy="0"/>
          </a:xfrm>
          <a:prstGeom prst="line">
            <a:avLst/>
          </a:prstGeom>
          <a:noFill/>
          <a:ln w="952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3" name="Line 9"/>
          <p:cNvSpPr>
            <a:spLocks noChangeShapeType="1"/>
          </p:cNvSpPr>
          <p:nvPr/>
        </p:nvSpPr>
        <p:spPr bwMode="auto">
          <a:xfrm>
            <a:off x="6705600" y="1557338"/>
            <a:ext cx="990600" cy="0"/>
          </a:xfrm>
          <a:prstGeom prst="line">
            <a:avLst/>
          </a:prstGeom>
          <a:noFill/>
          <a:ln w="76200">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4" name="Line 10"/>
          <p:cNvSpPr>
            <a:spLocks noChangeShapeType="1"/>
          </p:cNvSpPr>
          <p:nvPr/>
        </p:nvSpPr>
        <p:spPr bwMode="auto">
          <a:xfrm>
            <a:off x="1692275" y="838200"/>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5" name="Line 11"/>
          <p:cNvSpPr>
            <a:spLocks noChangeShapeType="1"/>
          </p:cNvSpPr>
          <p:nvPr/>
        </p:nvSpPr>
        <p:spPr bwMode="auto">
          <a:xfrm>
            <a:off x="3492500" y="857250"/>
            <a:ext cx="5334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6" name="Line 12"/>
          <p:cNvSpPr>
            <a:spLocks noChangeShapeType="1"/>
          </p:cNvSpPr>
          <p:nvPr/>
        </p:nvSpPr>
        <p:spPr bwMode="auto">
          <a:xfrm flipH="1">
            <a:off x="5334000" y="996950"/>
            <a:ext cx="533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7" name="Line 13"/>
          <p:cNvSpPr>
            <a:spLocks noChangeShapeType="1"/>
          </p:cNvSpPr>
          <p:nvPr/>
        </p:nvSpPr>
        <p:spPr bwMode="auto">
          <a:xfrm>
            <a:off x="5181600" y="2090738"/>
            <a:ext cx="3810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8" name="Line 14"/>
          <p:cNvSpPr>
            <a:spLocks noChangeShapeType="1"/>
          </p:cNvSpPr>
          <p:nvPr/>
        </p:nvSpPr>
        <p:spPr bwMode="auto">
          <a:xfrm flipH="1">
            <a:off x="7086600" y="1938338"/>
            <a:ext cx="3048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9" name="未知"/>
          <p:cNvSpPr/>
          <p:nvPr/>
        </p:nvSpPr>
        <p:spPr bwMode="auto">
          <a:xfrm>
            <a:off x="684213" y="1604963"/>
            <a:ext cx="1631950" cy="1236662"/>
          </a:xfrm>
          <a:custGeom>
            <a:avLst/>
            <a:gdLst>
              <a:gd name="T0" fmla="*/ 2147483646 w 710"/>
              <a:gd name="T1" fmla="*/ 0 h 779"/>
              <a:gd name="T2" fmla="*/ 2147483646 w 710"/>
              <a:gd name="T3" fmla="*/ 2147483646 h 779"/>
              <a:gd name="T4" fmla="*/ 2147483646 w 710"/>
              <a:gd name="T5" fmla="*/ 2147483646 h 779"/>
              <a:gd name="T6" fmla="*/ 2147483646 w 710"/>
              <a:gd name="T7" fmla="*/ 2147483646 h 779"/>
              <a:gd name="T8" fmla="*/ 2147483646 w 710"/>
              <a:gd name="T9" fmla="*/ 2147483646 h 779"/>
              <a:gd name="T10" fmla="*/ 0 60000 65536"/>
              <a:gd name="T11" fmla="*/ 0 60000 65536"/>
              <a:gd name="T12" fmla="*/ 0 60000 65536"/>
              <a:gd name="T13" fmla="*/ 0 60000 65536"/>
              <a:gd name="T14" fmla="*/ 0 60000 65536"/>
              <a:gd name="T15" fmla="*/ 0 w 710"/>
              <a:gd name="T16" fmla="*/ 0 h 779"/>
              <a:gd name="T17" fmla="*/ 710 w 710"/>
              <a:gd name="T18" fmla="*/ 779 h 779"/>
            </a:gdLst>
            <a:ahLst/>
            <a:cxnLst>
              <a:cxn ang="T10">
                <a:pos x="T0" y="T1"/>
              </a:cxn>
              <a:cxn ang="T11">
                <a:pos x="T2" y="T3"/>
              </a:cxn>
              <a:cxn ang="T12">
                <a:pos x="T4" y="T5"/>
              </a:cxn>
              <a:cxn ang="T13">
                <a:pos x="T6" y="T7"/>
              </a:cxn>
              <a:cxn ang="T14">
                <a:pos x="T8" y="T9"/>
              </a:cxn>
            </a:cxnLst>
            <a:rect l="T15" t="T16" r="T17" b="T18"/>
            <a:pathLst>
              <a:path w="710" h="779">
                <a:moveTo>
                  <a:pt x="529" y="0"/>
                </a:moveTo>
                <a:cubicBezTo>
                  <a:pt x="389" y="19"/>
                  <a:pt x="249" y="38"/>
                  <a:pt x="166" y="136"/>
                </a:cubicBezTo>
                <a:cubicBezTo>
                  <a:pt x="83" y="234"/>
                  <a:pt x="0" y="483"/>
                  <a:pt x="30" y="589"/>
                </a:cubicBezTo>
                <a:cubicBezTo>
                  <a:pt x="60" y="695"/>
                  <a:pt x="234" y="763"/>
                  <a:pt x="347" y="771"/>
                </a:cubicBezTo>
                <a:cubicBezTo>
                  <a:pt x="460" y="779"/>
                  <a:pt x="650" y="658"/>
                  <a:pt x="710" y="635"/>
                </a:cubicBezTo>
              </a:path>
            </a:pathLst>
          </a:custGeom>
          <a:solidFill>
            <a:schemeClr val="accent1"/>
          </a:solidFill>
          <a:ln w="9525" cmpd="sng">
            <a:solidFill>
              <a:schemeClr val="accent1"/>
            </a:solidFill>
            <a:round/>
          </a:ln>
        </p:spPr>
        <p:txBody>
          <a:bodyPr wrap="none"/>
          <a:lstStyle/>
          <a:p>
            <a:endParaRPr lang="zh-CN" altLang="en-US"/>
          </a:p>
        </p:txBody>
      </p:sp>
      <p:sp>
        <p:nvSpPr>
          <p:cNvPr id="31760" name="AutoShape 16"/>
          <p:cNvSpPr>
            <a:spLocks noChangeArrowheads="1"/>
          </p:cNvSpPr>
          <p:nvPr/>
        </p:nvSpPr>
        <p:spPr bwMode="auto">
          <a:xfrm>
            <a:off x="1908175" y="1604963"/>
            <a:ext cx="792163" cy="1008062"/>
          </a:xfrm>
          <a:prstGeom prst="flowChartMerge">
            <a:avLst/>
          </a:prstGeom>
          <a:solidFill>
            <a:schemeClr val="accent1"/>
          </a:solidFill>
          <a:ln w="9525">
            <a:solidFill>
              <a:schemeClr val="accent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1761" name="Line 17"/>
          <p:cNvSpPr>
            <a:spLocks noChangeShapeType="1"/>
          </p:cNvSpPr>
          <p:nvPr/>
        </p:nvSpPr>
        <p:spPr bwMode="auto">
          <a:xfrm>
            <a:off x="1547813" y="1820863"/>
            <a:ext cx="720725" cy="2873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186" name="AutoShape 18"/>
          <p:cNvSpPr>
            <a:spLocks noChangeArrowheads="1"/>
          </p:cNvSpPr>
          <p:nvPr/>
        </p:nvSpPr>
        <p:spPr bwMode="auto">
          <a:xfrm>
            <a:off x="1524000" y="4048125"/>
            <a:ext cx="1295400" cy="1066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solidFill>
              <a:srgbClr val="FF0000"/>
            </a:solidFill>
            <a:round/>
          </a:ln>
        </p:spPr>
        <p:txBody>
          <a:bodyPr wrap="none" anchor="ctr"/>
          <a:lstStyle/>
          <a:p>
            <a:endParaRPr lang="zh-CN" altLang="en-US"/>
          </a:p>
        </p:txBody>
      </p:sp>
      <p:sp>
        <p:nvSpPr>
          <p:cNvPr id="7187" name="AutoShape 19"/>
          <p:cNvSpPr>
            <a:spLocks noChangeArrowheads="1"/>
          </p:cNvSpPr>
          <p:nvPr/>
        </p:nvSpPr>
        <p:spPr bwMode="auto">
          <a:xfrm>
            <a:off x="3657600" y="3971925"/>
            <a:ext cx="1295400" cy="1295400"/>
          </a:xfrm>
          <a:prstGeom prst="plus">
            <a:avLst>
              <a:gd name="adj" fmla="val 25000"/>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7188" name="AutoShape 20"/>
          <p:cNvSpPr>
            <a:spLocks noChangeArrowheads="1"/>
          </p:cNvSpPr>
          <p:nvPr/>
        </p:nvSpPr>
        <p:spPr bwMode="auto">
          <a:xfrm>
            <a:off x="6172200" y="4200525"/>
            <a:ext cx="1676400" cy="9906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solidFill>
              <a:srgbClr val="FF0000"/>
            </a:solidFill>
            <a:miter lim="800000"/>
          </a:ln>
        </p:spPr>
        <p:txBody>
          <a:bodyPr wrap="none" anchor="ctr"/>
          <a:lstStyle/>
          <a:p>
            <a:endParaRPr lang="zh-CN" altLang="en-US"/>
          </a:p>
        </p:txBody>
      </p:sp>
      <p:sp>
        <p:nvSpPr>
          <p:cNvPr id="7189" name="AutoShape 21"/>
          <p:cNvSpPr>
            <a:spLocks noChangeArrowheads="1"/>
          </p:cNvSpPr>
          <p:nvPr/>
        </p:nvSpPr>
        <p:spPr bwMode="auto">
          <a:xfrm>
            <a:off x="1692275" y="5437188"/>
            <a:ext cx="914400" cy="1447800"/>
          </a:xfrm>
          <a:prstGeom prst="moon">
            <a:avLst>
              <a:gd name="adj" fmla="val 50000"/>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7190" name="AutoShape 22"/>
          <p:cNvSpPr>
            <a:spLocks noChangeArrowheads="1"/>
          </p:cNvSpPr>
          <p:nvPr/>
        </p:nvSpPr>
        <p:spPr bwMode="auto">
          <a:xfrm>
            <a:off x="3673475" y="5360988"/>
            <a:ext cx="1066800" cy="1371600"/>
          </a:xfrm>
          <a:prstGeom prst="star4">
            <a:avLst>
              <a:gd name="adj" fmla="val 12500"/>
            </a:avLst>
          </a:prstGeom>
          <a:solidFill>
            <a:schemeClr val="accent1"/>
          </a:solidFill>
          <a:ln w="9525">
            <a:solidFill>
              <a:srgbClr val="FF0000"/>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7191" name="未知"/>
          <p:cNvSpPr/>
          <p:nvPr/>
        </p:nvSpPr>
        <p:spPr bwMode="auto">
          <a:xfrm>
            <a:off x="5975350" y="5360988"/>
            <a:ext cx="1981200" cy="1447800"/>
          </a:xfrm>
          <a:custGeom>
            <a:avLst/>
            <a:gdLst>
              <a:gd name="T0" fmla="*/ 0 w 1248"/>
              <a:gd name="T1" fmla="*/ 2147483646 h 912"/>
              <a:gd name="T2" fmla="*/ 0 w 1248"/>
              <a:gd name="T3" fmla="*/ 2147483646 h 912"/>
              <a:gd name="T4" fmla="*/ 2147483646 w 1248"/>
              <a:gd name="T5" fmla="*/ 2147483646 h 912"/>
              <a:gd name="T6" fmla="*/ 2147483646 w 1248"/>
              <a:gd name="T7" fmla="*/ 2147483646 h 912"/>
              <a:gd name="T8" fmla="*/ 2147483646 w 1248"/>
              <a:gd name="T9" fmla="*/ 2147483646 h 912"/>
              <a:gd name="T10" fmla="*/ 2147483646 w 1248"/>
              <a:gd name="T11" fmla="*/ 0 h 912"/>
              <a:gd name="T12" fmla="*/ 2147483646 w 1248"/>
              <a:gd name="T13" fmla="*/ 2147483646 h 912"/>
              <a:gd name="T14" fmla="*/ 2147483646 w 1248"/>
              <a:gd name="T15" fmla="*/ 2147483646 h 912"/>
              <a:gd name="T16" fmla="*/ 2147483646 w 1248"/>
              <a:gd name="T17" fmla="*/ 2147483646 h 9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8"/>
              <a:gd name="T28" fmla="*/ 0 h 912"/>
              <a:gd name="T29" fmla="*/ 1248 w 1248"/>
              <a:gd name="T30" fmla="*/ 912 h 9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8" h="912">
                <a:moveTo>
                  <a:pt x="0" y="96"/>
                </a:moveTo>
                <a:lnTo>
                  <a:pt x="0" y="912"/>
                </a:lnTo>
                <a:lnTo>
                  <a:pt x="1248" y="912"/>
                </a:lnTo>
                <a:lnTo>
                  <a:pt x="1248" y="480"/>
                </a:lnTo>
                <a:lnTo>
                  <a:pt x="1056" y="624"/>
                </a:lnTo>
                <a:lnTo>
                  <a:pt x="816" y="0"/>
                </a:lnTo>
                <a:lnTo>
                  <a:pt x="528" y="336"/>
                </a:lnTo>
                <a:lnTo>
                  <a:pt x="240" y="144"/>
                </a:lnTo>
                <a:lnTo>
                  <a:pt x="96" y="96"/>
                </a:lnTo>
              </a:path>
            </a:pathLst>
          </a:custGeom>
          <a:solidFill>
            <a:schemeClr val="accent1"/>
          </a:solidFill>
          <a:ln w="9525" cmpd="sng">
            <a:solidFill>
              <a:srgbClr val="FF0000"/>
            </a:solidFill>
            <a:round/>
          </a:ln>
        </p:spPr>
        <p:txBody>
          <a:bodyPr wrap="none" anchor="ctr"/>
          <a:lstStyle/>
          <a:p>
            <a:endParaRPr lang="zh-CN" altLang="en-US"/>
          </a:p>
        </p:txBody>
      </p:sp>
      <p:sp>
        <p:nvSpPr>
          <p:cNvPr id="7192" name="Line 24"/>
          <p:cNvSpPr>
            <a:spLocks noChangeShapeType="1"/>
          </p:cNvSpPr>
          <p:nvPr/>
        </p:nvSpPr>
        <p:spPr bwMode="auto">
          <a:xfrm>
            <a:off x="1828800" y="4276725"/>
            <a:ext cx="533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3" name="Line 25"/>
          <p:cNvSpPr>
            <a:spLocks noChangeShapeType="1"/>
          </p:cNvSpPr>
          <p:nvPr/>
        </p:nvSpPr>
        <p:spPr bwMode="auto">
          <a:xfrm flipH="1">
            <a:off x="3733800" y="4048125"/>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4" name="Line 26"/>
          <p:cNvSpPr>
            <a:spLocks noChangeShapeType="1"/>
          </p:cNvSpPr>
          <p:nvPr/>
        </p:nvSpPr>
        <p:spPr bwMode="auto">
          <a:xfrm>
            <a:off x="6400800" y="4200525"/>
            <a:ext cx="10668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5" name="Line 27"/>
          <p:cNvSpPr>
            <a:spLocks noChangeShapeType="1"/>
          </p:cNvSpPr>
          <p:nvPr/>
        </p:nvSpPr>
        <p:spPr bwMode="auto">
          <a:xfrm>
            <a:off x="2225675" y="5589588"/>
            <a:ext cx="76200" cy="1219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6" name="Line 28"/>
          <p:cNvSpPr>
            <a:spLocks noChangeShapeType="1"/>
          </p:cNvSpPr>
          <p:nvPr/>
        </p:nvSpPr>
        <p:spPr bwMode="auto">
          <a:xfrm flipH="1">
            <a:off x="3902075" y="5665788"/>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7" name="Line 29"/>
          <p:cNvSpPr>
            <a:spLocks noChangeShapeType="1"/>
          </p:cNvSpPr>
          <p:nvPr/>
        </p:nvSpPr>
        <p:spPr bwMode="auto">
          <a:xfrm flipV="1">
            <a:off x="6203950" y="5665788"/>
            <a:ext cx="11430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8" name="Text Box 30"/>
          <p:cNvSpPr txBox="1">
            <a:spLocks noChangeArrowheads="1"/>
          </p:cNvSpPr>
          <p:nvPr/>
        </p:nvSpPr>
        <p:spPr bwMode="auto">
          <a:xfrm>
            <a:off x="0" y="3141663"/>
            <a:ext cx="3200400" cy="579437"/>
          </a:xfrm>
          <a:prstGeom prst="rect">
            <a:avLst/>
          </a:prstGeom>
          <a:noFill/>
          <a:ln w="9525">
            <a:noFill/>
            <a:miter lim="800000"/>
          </a:ln>
          <a:effectLst/>
        </p:spPr>
        <p:txBody>
          <a:bodyPr>
            <a:spAutoFit/>
          </a:bodyPr>
          <a:lstStyle/>
          <a:p>
            <a:pPr eaLnBrk="1" hangingPunct="1">
              <a:spcBef>
                <a:spcPct val="50000"/>
              </a:spcBef>
              <a:defRPr/>
            </a:pPr>
            <a:r>
              <a:rPr lang="zh-CN" altLang="en-US" sz="3200" b="1" dirty="0">
                <a:solidFill>
                  <a:srgbClr val="FF00FF"/>
                </a:solidFill>
                <a:effectLst>
                  <a:outerShdw blurRad="38100" dist="38100" dir="2700000" algn="tl">
                    <a:srgbClr val="C0C0C0"/>
                  </a:outerShdw>
                </a:effectLst>
                <a:latin typeface="Times New Roman" panose="02020603050405020304" pitchFamily="18" charset="0"/>
                <a:ea typeface="微软雅黑" panose="020B0503020204020204" pitchFamily="34" charset="-122"/>
              </a:rPr>
              <a:t>例（非凸集）</a:t>
            </a:r>
            <a:endParaRPr lang="zh-CN" altLang="en-US" b="1" dirty="0">
              <a:solidFill>
                <a:srgbClr val="FF00FF"/>
              </a:solidFill>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27804"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86"/>
                                        </p:tgtEl>
                                        <p:attrNameLst>
                                          <p:attrName>style.visibility</p:attrName>
                                        </p:attrNameLst>
                                      </p:cBhvr>
                                      <p:to>
                                        <p:strVal val="visible"/>
                                      </p:to>
                                    </p:set>
                                    <p:animEffect transition="in" filter="blinds(horizontal)">
                                      <p:cBhvr>
                                        <p:cTn id="7" dur="500"/>
                                        <p:tgtEl>
                                          <p:spTgt spid="718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187"/>
                                        </p:tgtEl>
                                        <p:attrNameLst>
                                          <p:attrName>style.visibility</p:attrName>
                                        </p:attrNameLst>
                                      </p:cBhvr>
                                      <p:to>
                                        <p:strVal val="visible"/>
                                      </p:to>
                                    </p:set>
                                    <p:animEffect transition="in" filter="blinds(horizontal)">
                                      <p:cBhvr>
                                        <p:cTn id="10" dur="500"/>
                                        <p:tgtEl>
                                          <p:spTgt spid="7187"/>
                                        </p:tgtEl>
                                      </p:cBhvr>
                                    </p:animEffect>
                                  </p:childTnLst>
                                </p:cTn>
                              </p:par>
                              <p:par>
                                <p:cTn id="11" presetID="3" presetClass="entr" presetSubtype="10" fill="hold" nodeType="withEffect">
                                  <p:stCondLst>
                                    <p:cond delay="0"/>
                                  </p:stCondLst>
                                  <p:childTnLst>
                                    <p:set>
                                      <p:cBhvr>
                                        <p:cTn id="12" dur="1" fill="hold">
                                          <p:stCondLst>
                                            <p:cond delay="0"/>
                                          </p:stCondLst>
                                        </p:cTn>
                                        <p:tgtEl>
                                          <p:spTgt spid="7188"/>
                                        </p:tgtEl>
                                        <p:attrNameLst>
                                          <p:attrName>style.visibility</p:attrName>
                                        </p:attrNameLst>
                                      </p:cBhvr>
                                      <p:to>
                                        <p:strVal val="visible"/>
                                      </p:to>
                                    </p:set>
                                    <p:animEffect transition="in" filter="blinds(horizontal)">
                                      <p:cBhvr>
                                        <p:cTn id="13" dur="500"/>
                                        <p:tgtEl>
                                          <p:spTgt spid="718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189"/>
                                        </p:tgtEl>
                                        <p:attrNameLst>
                                          <p:attrName>style.visibility</p:attrName>
                                        </p:attrNameLst>
                                      </p:cBhvr>
                                      <p:to>
                                        <p:strVal val="visible"/>
                                      </p:to>
                                    </p:set>
                                    <p:animEffect transition="in" filter="blinds(horizontal)">
                                      <p:cBhvr>
                                        <p:cTn id="16" dur="500"/>
                                        <p:tgtEl>
                                          <p:spTgt spid="718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190"/>
                                        </p:tgtEl>
                                        <p:attrNameLst>
                                          <p:attrName>style.visibility</p:attrName>
                                        </p:attrNameLst>
                                      </p:cBhvr>
                                      <p:to>
                                        <p:strVal val="visible"/>
                                      </p:to>
                                    </p:set>
                                    <p:animEffect transition="in" filter="blinds(horizontal)">
                                      <p:cBhvr>
                                        <p:cTn id="19" dur="500"/>
                                        <p:tgtEl>
                                          <p:spTgt spid="7190"/>
                                        </p:tgtEl>
                                      </p:cBhvr>
                                    </p:animEffect>
                                  </p:childTnLst>
                                </p:cTn>
                              </p:par>
                              <p:par>
                                <p:cTn id="20" presetID="3" presetClass="entr" presetSubtype="10" fill="hold" nodeType="withEffect">
                                  <p:stCondLst>
                                    <p:cond delay="0"/>
                                  </p:stCondLst>
                                  <p:childTnLst>
                                    <p:set>
                                      <p:cBhvr>
                                        <p:cTn id="21" dur="1" fill="hold">
                                          <p:stCondLst>
                                            <p:cond delay="0"/>
                                          </p:stCondLst>
                                        </p:cTn>
                                        <p:tgtEl>
                                          <p:spTgt spid="7191"/>
                                        </p:tgtEl>
                                        <p:attrNameLst>
                                          <p:attrName>style.visibility</p:attrName>
                                        </p:attrNameLst>
                                      </p:cBhvr>
                                      <p:to>
                                        <p:strVal val="visible"/>
                                      </p:to>
                                    </p:set>
                                    <p:animEffect transition="in" filter="blinds(horizontal)">
                                      <p:cBhvr>
                                        <p:cTn id="22" dur="500"/>
                                        <p:tgtEl>
                                          <p:spTgt spid="7191"/>
                                        </p:tgtEl>
                                      </p:cBhvr>
                                    </p:animEffect>
                                  </p:childTnLst>
                                </p:cTn>
                              </p:par>
                              <p:par>
                                <p:cTn id="23" presetID="3" presetClass="entr" presetSubtype="10" fill="hold" nodeType="withEffect">
                                  <p:stCondLst>
                                    <p:cond delay="0"/>
                                  </p:stCondLst>
                                  <p:childTnLst>
                                    <p:set>
                                      <p:cBhvr>
                                        <p:cTn id="24" dur="1" fill="hold">
                                          <p:stCondLst>
                                            <p:cond delay="0"/>
                                          </p:stCondLst>
                                        </p:cTn>
                                        <p:tgtEl>
                                          <p:spTgt spid="7192"/>
                                        </p:tgtEl>
                                        <p:attrNameLst>
                                          <p:attrName>style.visibility</p:attrName>
                                        </p:attrNameLst>
                                      </p:cBhvr>
                                      <p:to>
                                        <p:strVal val="visible"/>
                                      </p:to>
                                    </p:set>
                                    <p:animEffect transition="in" filter="blinds(horizontal)">
                                      <p:cBhvr>
                                        <p:cTn id="25" dur="500"/>
                                        <p:tgtEl>
                                          <p:spTgt spid="7192"/>
                                        </p:tgtEl>
                                      </p:cBhvr>
                                    </p:animEffect>
                                  </p:childTnLst>
                                </p:cTn>
                              </p:par>
                              <p:par>
                                <p:cTn id="26" presetID="3" presetClass="entr" presetSubtype="10" fill="hold" nodeType="withEffect">
                                  <p:stCondLst>
                                    <p:cond delay="0"/>
                                  </p:stCondLst>
                                  <p:childTnLst>
                                    <p:set>
                                      <p:cBhvr>
                                        <p:cTn id="27" dur="1" fill="hold">
                                          <p:stCondLst>
                                            <p:cond delay="0"/>
                                          </p:stCondLst>
                                        </p:cTn>
                                        <p:tgtEl>
                                          <p:spTgt spid="7193"/>
                                        </p:tgtEl>
                                        <p:attrNameLst>
                                          <p:attrName>style.visibility</p:attrName>
                                        </p:attrNameLst>
                                      </p:cBhvr>
                                      <p:to>
                                        <p:strVal val="visible"/>
                                      </p:to>
                                    </p:set>
                                    <p:animEffect transition="in" filter="blinds(horizontal)">
                                      <p:cBhvr>
                                        <p:cTn id="28" dur="500"/>
                                        <p:tgtEl>
                                          <p:spTgt spid="7193"/>
                                        </p:tgtEl>
                                      </p:cBhvr>
                                    </p:animEffect>
                                  </p:childTnLst>
                                </p:cTn>
                              </p:par>
                              <p:par>
                                <p:cTn id="29" presetID="3" presetClass="entr" presetSubtype="10" fill="hold" nodeType="withEffect">
                                  <p:stCondLst>
                                    <p:cond delay="0"/>
                                  </p:stCondLst>
                                  <p:childTnLst>
                                    <p:set>
                                      <p:cBhvr>
                                        <p:cTn id="30" dur="1" fill="hold">
                                          <p:stCondLst>
                                            <p:cond delay="0"/>
                                          </p:stCondLst>
                                        </p:cTn>
                                        <p:tgtEl>
                                          <p:spTgt spid="7194"/>
                                        </p:tgtEl>
                                        <p:attrNameLst>
                                          <p:attrName>style.visibility</p:attrName>
                                        </p:attrNameLst>
                                      </p:cBhvr>
                                      <p:to>
                                        <p:strVal val="visible"/>
                                      </p:to>
                                    </p:set>
                                    <p:animEffect transition="in" filter="blinds(horizontal)">
                                      <p:cBhvr>
                                        <p:cTn id="31" dur="500"/>
                                        <p:tgtEl>
                                          <p:spTgt spid="7194"/>
                                        </p:tgtEl>
                                      </p:cBhvr>
                                    </p:animEffect>
                                  </p:childTnLst>
                                </p:cTn>
                              </p:par>
                              <p:par>
                                <p:cTn id="32" presetID="3" presetClass="entr" presetSubtype="10" fill="hold" nodeType="withEffect">
                                  <p:stCondLst>
                                    <p:cond delay="0"/>
                                  </p:stCondLst>
                                  <p:childTnLst>
                                    <p:set>
                                      <p:cBhvr>
                                        <p:cTn id="33" dur="1" fill="hold">
                                          <p:stCondLst>
                                            <p:cond delay="0"/>
                                          </p:stCondLst>
                                        </p:cTn>
                                        <p:tgtEl>
                                          <p:spTgt spid="7195"/>
                                        </p:tgtEl>
                                        <p:attrNameLst>
                                          <p:attrName>style.visibility</p:attrName>
                                        </p:attrNameLst>
                                      </p:cBhvr>
                                      <p:to>
                                        <p:strVal val="visible"/>
                                      </p:to>
                                    </p:set>
                                    <p:animEffect transition="in" filter="blinds(horizontal)">
                                      <p:cBhvr>
                                        <p:cTn id="34" dur="500"/>
                                        <p:tgtEl>
                                          <p:spTgt spid="7195"/>
                                        </p:tgtEl>
                                      </p:cBhvr>
                                    </p:animEffect>
                                  </p:childTnLst>
                                </p:cTn>
                              </p:par>
                              <p:par>
                                <p:cTn id="35" presetID="3" presetClass="entr" presetSubtype="10" fill="hold" nodeType="withEffect">
                                  <p:stCondLst>
                                    <p:cond delay="0"/>
                                  </p:stCondLst>
                                  <p:childTnLst>
                                    <p:set>
                                      <p:cBhvr>
                                        <p:cTn id="36" dur="1" fill="hold">
                                          <p:stCondLst>
                                            <p:cond delay="0"/>
                                          </p:stCondLst>
                                        </p:cTn>
                                        <p:tgtEl>
                                          <p:spTgt spid="7196"/>
                                        </p:tgtEl>
                                        <p:attrNameLst>
                                          <p:attrName>style.visibility</p:attrName>
                                        </p:attrNameLst>
                                      </p:cBhvr>
                                      <p:to>
                                        <p:strVal val="visible"/>
                                      </p:to>
                                    </p:set>
                                    <p:animEffect transition="in" filter="blinds(horizontal)">
                                      <p:cBhvr>
                                        <p:cTn id="37" dur="500"/>
                                        <p:tgtEl>
                                          <p:spTgt spid="7196"/>
                                        </p:tgtEl>
                                      </p:cBhvr>
                                    </p:animEffect>
                                  </p:childTnLst>
                                </p:cTn>
                              </p:par>
                              <p:par>
                                <p:cTn id="38" presetID="3" presetClass="entr" presetSubtype="10" fill="hold" nodeType="withEffect">
                                  <p:stCondLst>
                                    <p:cond delay="0"/>
                                  </p:stCondLst>
                                  <p:childTnLst>
                                    <p:set>
                                      <p:cBhvr>
                                        <p:cTn id="39" dur="1" fill="hold">
                                          <p:stCondLst>
                                            <p:cond delay="0"/>
                                          </p:stCondLst>
                                        </p:cTn>
                                        <p:tgtEl>
                                          <p:spTgt spid="7197"/>
                                        </p:tgtEl>
                                        <p:attrNameLst>
                                          <p:attrName>style.visibility</p:attrName>
                                        </p:attrNameLst>
                                      </p:cBhvr>
                                      <p:to>
                                        <p:strVal val="visible"/>
                                      </p:to>
                                    </p:set>
                                    <p:animEffect transition="in" filter="blinds(horizontal)">
                                      <p:cBhvr>
                                        <p:cTn id="40" dur="500"/>
                                        <p:tgtEl>
                                          <p:spTgt spid="7197"/>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7198"/>
                                        </p:tgtEl>
                                        <p:attrNameLst>
                                          <p:attrName>style.visibility</p:attrName>
                                        </p:attrNameLst>
                                      </p:cBhvr>
                                      <p:to>
                                        <p:strVal val="visible"/>
                                      </p:to>
                                    </p:set>
                                    <p:animEffect transition="in" filter="blinds(horizontal)">
                                      <p:cBhvr>
                                        <p:cTn id="43" dur="500"/>
                                        <p:tgtEl>
                                          <p:spTgt spid="7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7" grpId="0" animBg="1"/>
      <p:bldP spid="7189" grpId="0" animBg="1"/>
      <p:bldP spid="7190" grpId="0" animBg="1"/>
      <p:bldP spid="719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txBox="1">
            <a:spLocks noChangeArrowheads="1"/>
          </p:cNvSpPr>
          <p:nvPr/>
        </p:nvSpPr>
        <p:spPr bwMode="auto">
          <a:xfrm>
            <a:off x="0" y="115888"/>
            <a:ext cx="9144000" cy="23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2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实心圆</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实心球体</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实心立方体等都是凸集</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圆环不是凸集</a:t>
            </a:r>
            <a:endParaRPr lang="en-US" altLang="zh-CN" b="1" dirty="0">
              <a:latin typeface="Times New Roman" panose="02020603050405020304" pitchFamily="18" charset="0"/>
              <a:ea typeface="微软雅黑" panose="020B0503020204020204" pitchFamily="34" charset="-122"/>
            </a:endParaRPr>
          </a:p>
          <a:p>
            <a:pPr>
              <a:lnSpc>
                <a:spcPct val="12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从直观上讲</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凸集没有凹入部分</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其内部没有空洞</a:t>
            </a:r>
            <a:endParaRPr lang="en-US" altLang="zh-CN" b="1" dirty="0">
              <a:latin typeface="Times New Roman" panose="02020603050405020304" pitchFamily="18" charset="0"/>
              <a:ea typeface="微软雅黑" panose="020B0503020204020204" pitchFamily="34" charset="-122"/>
            </a:endParaRPr>
          </a:p>
          <a:p>
            <a:pPr>
              <a:lnSpc>
                <a:spcPct val="12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下图的</a:t>
            </a:r>
            <a:r>
              <a:rPr lang="en-US" altLang="zh-CN" b="1" dirty="0">
                <a:latin typeface="Times New Roman" panose="02020603050405020304" pitchFamily="18" charset="0"/>
                <a:ea typeface="微软雅黑" panose="020B0503020204020204" pitchFamily="34" charset="-122"/>
              </a:rPr>
              <a:t>(a)(b)</a:t>
            </a:r>
            <a:r>
              <a:rPr lang="zh-CN" altLang="en-US" b="1" dirty="0">
                <a:latin typeface="Times New Roman" panose="02020603050405020304" pitchFamily="18" charset="0"/>
                <a:ea typeface="微软雅黑" panose="020B0503020204020204" pitchFamily="34" charset="-122"/>
              </a:rPr>
              <a:t>是凸集</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(c)</a:t>
            </a:r>
            <a:r>
              <a:rPr lang="zh-CN" altLang="en-US" b="1" dirty="0">
                <a:latin typeface="Times New Roman" panose="02020603050405020304" pitchFamily="18" charset="0"/>
                <a:ea typeface="微软雅黑" panose="020B0503020204020204" pitchFamily="34" charset="-122"/>
              </a:rPr>
              <a:t>不是凸集</a:t>
            </a:r>
          </a:p>
          <a:p>
            <a:pPr>
              <a:lnSpc>
                <a:spcPct val="12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任何两个凸集的交集是凸集</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见下图</a:t>
            </a:r>
            <a:r>
              <a:rPr lang="en-US" altLang="zh-CN" b="1" dirty="0">
                <a:latin typeface="Times New Roman" panose="02020603050405020304" pitchFamily="18" charset="0"/>
                <a:ea typeface="微软雅黑" panose="020B0503020204020204" pitchFamily="34" charset="-122"/>
              </a:rPr>
              <a:t>(d) </a:t>
            </a:r>
          </a:p>
        </p:txBody>
      </p:sp>
      <p:pic>
        <p:nvPicPr>
          <p:cNvPr id="12291" name="Picture 4" descr="D:\OR-第三版校对稿\3nd运筹学-图及txt文件\tp\1g2.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3860800"/>
            <a:ext cx="4543425"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Line 5"/>
          <p:cNvSpPr>
            <a:spLocks noChangeShapeType="1"/>
          </p:cNvSpPr>
          <p:nvPr/>
        </p:nvSpPr>
        <p:spPr bwMode="auto">
          <a:xfrm>
            <a:off x="2843213" y="5300663"/>
            <a:ext cx="2376487" cy="504825"/>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12293" name="Picture 6" descr="D:\OR-第三版校对稿\3nd运筹学-图及txt文件\tp\1g7.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200" y="2278063"/>
            <a:ext cx="5940425" cy="158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0" y="4724400"/>
            <a:ext cx="50053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90000"/>
              </a:lnSpc>
              <a:spcBef>
                <a:spcPts val="600"/>
              </a:spcBef>
              <a:buClr>
                <a:schemeClr val="accent1"/>
              </a:buClr>
              <a:buSzPct val="70000"/>
              <a:buFont typeface="Wingdings" panose="05000000000000000000" pitchFamily="2" charset="2"/>
              <a:buChar char=""/>
            </a:pPr>
            <a:r>
              <a:rPr lang="zh-CN" altLang="en-US" sz="2800" b="1">
                <a:latin typeface="微软雅黑" panose="020B0503020204020204" pitchFamily="34" charset="-122"/>
                <a:ea typeface="微软雅黑" panose="020B0503020204020204" pitchFamily="34" charset="-122"/>
              </a:rPr>
              <a:t>右图中的</a:t>
            </a:r>
            <a:r>
              <a:rPr lang="zh-CN" altLang="en-US" sz="2800" b="1">
                <a:solidFill>
                  <a:schemeClr val="hlink"/>
                </a:solidFill>
                <a:latin typeface="微软雅黑" panose="020B0503020204020204" pitchFamily="34" charset="-122"/>
                <a:ea typeface="微软雅黑" panose="020B0503020204020204" pitchFamily="34" charset="-122"/>
              </a:rPr>
              <a:t>阴影部分</a:t>
            </a:r>
            <a:r>
              <a:rPr lang="zh-CN" altLang="en-US" sz="2800" b="1">
                <a:latin typeface="微软雅黑" panose="020B0503020204020204" pitchFamily="34" charset="-122"/>
                <a:ea typeface="微软雅黑" panose="020B0503020204020204" pitchFamily="34" charset="-122"/>
              </a:rPr>
              <a:t>是凸集</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linds(horizontal)">
                                      <p:cBhvr>
                                        <p:cTn id="7" dur="500"/>
                                        <p:tgtEl>
                                          <p:spTgt spid="122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0">
                                            <p:txEl>
                                              <p:pRg st="2" end="2"/>
                                            </p:txEl>
                                          </p:spTgt>
                                        </p:tgtEl>
                                        <p:attrNameLst>
                                          <p:attrName>style.visibility</p:attrName>
                                        </p:attrNameLst>
                                      </p:cBhvr>
                                      <p:to>
                                        <p:strVal val="visible"/>
                                      </p:to>
                                    </p:set>
                                    <p:animEffect transition="in" filter="blinds(horizontal)">
                                      <p:cBhvr>
                                        <p:cTn id="12" dur="500"/>
                                        <p:tgtEl>
                                          <p:spTgt spid="1229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290">
                                            <p:txEl>
                                              <p:pRg st="3" end="3"/>
                                            </p:txEl>
                                          </p:spTgt>
                                        </p:tgtEl>
                                        <p:attrNameLst>
                                          <p:attrName>style.visibility</p:attrName>
                                        </p:attrNameLst>
                                      </p:cBhvr>
                                      <p:to>
                                        <p:strVal val="visible"/>
                                      </p:to>
                                    </p:set>
                                    <p:animEffect transition="in" filter="dissolve">
                                      <p:cBhvr>
                                        <p:cTn id="17" dur="500"/>
                                        <p:tgtEl>
                                          <p:spTgt spid="1229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blinds(horizontal)">
                                      <p:cBhvr>
                                        <p:cTn id="22" dur="500"/>
                                        <p:tgtEl>
                                          <p:spTgt spid="12292"/>
                                        </p:tgtEl>
                                      </p:cBhvr>
                                    </p:animEffect>
                                  </p:childTnLst>
                                </p:cTn>
                              </p:par>
                              <p:par>
                                <p:cTn id="23" presetID="3" presetClass="entr" presetSubtype="10" fill="hold" nodeType="withEffect">
                                  <p:stCondLst>
                                    <p:cond delay="0"/>
                                  </p:stCondLst>
                                  <p:childTnLst>
                                    <p:set>
                                      <p:cBhvr>
                                        <p:cTn id="24" dur="1" fill="hold">
                                          <p:stCondLst>
                                            <p:cond delay="0"/>
                                          </p:stCondLst>
                                        </p:cTn>
                                        <p:tgtEl>
                                          <p:spTgt spid="12291"/>
                                        </p:tgtEl>
                                        <p:attrNameLst>
                                          <p:attrName>style.visibility</p:attrName>
                                        </p:attrNameLst>
                                      </p:cBhvr>
                                      <p:to>
                                        <p:strVal val="visible"/>
                                      </p:to>
                                    </p:set>
                                    <p:animEffect transition="in" filter="blinds(horizontal)">
                                      <p:cBhvr>
                                        <p:cTn id="25" dur="500"/>
                                        <p:tgtEl>
                                          <p:spTgt spid="12291"/>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txBox="1">
            <a:spLocks noChangeArrowheads="1"/>
          </p:cNvSpPr>
          <p:nvPr/>
        </p:nvSpPr>
        <p:spPr bwMode="auto">
          <a:xfrm>
            <a:off x="0" y="0"/>
            <a:ext cx="72167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600" b="1">
                <a:solidFill>
                  <a:schemeClr val="folHlink"/>
                </a:solidFill>
                <a:latin typeface="微软雅黑" panose="020B0503020204020204" pitchFamily="34" charset="-122"/>
                <a:ea typeface="微软雅黑" panose="020B0503020204020204" pitchFamily="34" charset="-122"/>
              </a:rPr>
              <a:t>(ii)  </a:t>
            </a:r>
            <a:r>
              <a:rPr lang="zh-CN" altLang="en-US" sz="3600" b="1">
                <a:solidFill>
                  <a:schemeClr val="folHlink"/>
                </a:solidFill>
                <a:latin typeface="微软雅黑" panose="020B0503020204020204" pitchFamily="34" charset="-122"/>
                <a:ea typeface="微软雅黑" panose="020B0503020204020204" pitchFamily="34" charset="-122"/>
              </a:rPr>
              <a:t>凸组合</a:t>
            </a:r>
            <a:r>
              <a:rPr lang="zh-CN" altLang="en-US" sz="4000">
                <a:latin typeface="华文楷体" panose="02010600040101010101" pitchFamily="2" charset="-122"/>
                <a:ea typeface="华文楷体" panose="02010600040101010101" pitchFamily="2" charset="-122"/>
              </a:rPr>
              <a:t> </a:t>
            </a:r>
          </a:p>
        </p:txBody>
      </p:sp>
      <p:sp>
        <p:nvSpPr>
          <p:cNvPr id="13315" name="Rectangle 3"/>
          <p:cNvSpPr txBox="1">
            <a:spLocks noChangeArrowheads="1"/>
          </p:cNvSpPr>
          <p:nvPr/>
        </p:nvSpPr>
        <p:spPr bwMode="auto">
          <a:xfrm>
            <a:off x="0" y="836613"/>
            <a:ext cx="9144000" cy="1676400"/>
          </a:xfrm>
          <a:prstGeom prst="rect">
            <a:avLst/>
          </a:prstGeom>
          <a:noFill/>
          <a:ln>
            <a:noFill/>
          </a:ln>
        </p:spPr>
        <p:txBody>
          <a:bodyPr/>
          <a:lstStyle>
            <a:lvl1pPr marL="273050" indent="-273050"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spcBef>
                <a:spcPts val="600"/>
              </a:spcBef>
              <a:buClr>
                <a:schemeClr val="accent1"/>
              </a:buClr>
              <a:buSzPct val="70000"/>
              <a:buFont typeface="Wingdings" panose="05000000000000000000" pitchFamily="2" charset="2"/>
              <a:buNone/>
              <a:defRPr/>
            </a:pPr>
            <a:r>
              <a:rPr lang="zh-CN" altLang="en-US" sz="3200" b="1" dirty="0">
                <a:latin typeface="微软雅黑" panose="020B0503020204020204" pitchFamily="34" charset="-122"/>
                <a:ea typeface="微软雅黑" panose="020B0503020204020204" pitchFamily="34" charset="-122"/>
              </a:rPr>
              <a:t>设</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(1)</a:t>
            </a:r>
            <a:r>
              <a:rPr lang="zh-CN" altLang="en-US" sz="3200" b="1" dirty="0">
                <a:latin typeface="+mn-ea"/>
                <a:ea typeface="+mn-ea"/>
              </a:rPr>
              <a:t>，</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(2)</a:t>
            </a:r>
            <a:r>
              <a:rPr lang="zh-CN" altLang="en-US" sz="3200" b="1" dirty="0">
                <a:latin typeface="+mn-ea"/>
                <a:ea typeface="+mn-ea"/>
              </a:rPr>
              <a:t>，</a:t>
            </a:r>
            <a:r>
              <a:rPr lang="en-US" altLang="zh-CN" sz="3200" b="1" dirty="0">
                <a:latin typeface="Times New Roman" panose="02020603050405020304" pitchFamily="18" charset="0"/>
                <a:ea typeface="微软雅黑" panose="020B0503020204020204" pitchFamily="34" charset="-122"/>
              </a:rPr>
              <a:t>…</a:t>
            </a:r>
            <a:r>
              <a:rPr lang="zh-CN" altLang="en-US" sz="3200" b="1" dirty="0">
                <a:latin typeface="+mn-ea"/>
                <a:ea typeface="+mn-ea"/>
              </a:rPr>
              <a:t>，</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a:t>
            </a:r>
            <a:r>
              <a:rPr lang="en-US" altLang="zh-CN" sz="3200" b="1" i="1" baseline="30000" dirty="0">
                <a:latin typeface="Times New Roman" panose="02020603050405020304" pitchFamily="18" charset="0"/>
                <a:ea typeface="微软雅黑" panose="020B0503020204020204" pitchFamily="34" charset="-122"/>
              </a:rPr>
              <a:t>k</a:t>
            </a:r>
            <a:r>
              <a:rPr lang="en-US" altLang="zh-CN" sz="3200" b="1" baseline="30000" dirty="0">
                <a:latin typeface="Times New Roman" panose="02020603050405020304" pitchFamily="18" charset="0"/>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是</a:t>
            </a:r>
            <a:r>
              <a:rPr lang="en-US" altLang="zh-CN" sz="3200" b="1" i="1" dirty="0">
                <a:latin typeface="Times New Roman" panose="02020603050405020304" pitchFamily="18" charset="0"/>
                <a:ea typeface="微软雅黑" panose="020B0503020204020204" pitchFamily="34" charset="-122"/>
              </a:rPr>
              <a:t>n</a:t>
            </a:r>
            <a:r>
              <a:rPr lang="zh-CN" altLang="en-US" sz="3200" b="1" dirty="0">
                <a:latin typeface="微软雅黑" panose="020B0503020204020204" pitchFamily="34" charset="-122"/>
                <a:ea typeface="微软雅黑" panose="020B0503020204020204" pitchFamily="34" charset="-122"/>
              </a:rPr>
              <a:t>维欧氏空间中的</a:t>
            </a:r>
            <a:r>
              <a:rPr lang="en-US" altLang="zh-CN" sz="3200" b="1" i="1" dirty="0">
                <a:latin typeface="Times New Roman" panose="02020603050405020304" pitchFamily="18" charset="0"/>
                <a:ea typeface="微软雅黑" panose="020B0503020204020204" pitchFamily="34" charset="-122"/>
              </a:rPr>
              <a:t>k</a:t>
            </a:r>
            <a:r>
              <a:rPr lang="zh-CN" altLang="en-US" sz="3200" b="1" dirty="0">
                <a:latin typeface="微软雅黑" panose="020B0503020204020204" pitchFamily="34" charset="-122"/>
                <a:ea typeface="微软雅黑" panose="020B0503020204020204" pitchFamily="34" charset="-122"/>
              </a:rPr>
              <a:t>个点</a:t>
            </a:r>
            <a:endParaRPr lang="en-US" altLang="zh-CN" sz="3200"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None/>
              <a:defRPr/>
            </a:pPr>
            <a:r>
              <a:rPr lang="zh-CN" altLang="en-US" sz="3200" b="1" dirty="0">
                <a:latin typeface="微软雅黑" panose="020B0503020204020204" pitchFamily="34" charset="-122"/>
                <a:ea typeface="微软雅黑" panose="020B0503020204020204" pitchFamily="34" charset="-122"/>
              </a:rPr>
              <a:t>若存在</a:t>
            </a:r>
            <a:r>
              <a:rPr lang="en-US" altLang="zh-CN" sz="3200" b="1" i="1" dirty="0">
                <a:latin typeface="Times New Roman" panose="02020603050405020304" pitchFamily="18" charset="0"/>
                <a:ea typeface="微软雅黑" panose="020B0503020204020204" pitchFamily="34" charset="-122"/>
              </a:rPr>
              <a:t>μ</a:t>
            </a:r>
            <a:r>
              <a:rPr lang="en-US" altLang="zh-CN" sz="3200" b="1" i="1" baseline="-30000" dirty="0">
                <a:latin typeface="Times New Roman" panose="02020603050405020304" pitchFamily="18" charset="0"/>
                <a:ea typeface="微软雅黑" panose="020B0503020204020204" pitchFamily="34" charset="-122"/>
              </a:rPr>
              <a:t>1</a:t>
            </a:r>
            <a:r>
              <a:rPr lang="zh-CN" altLang="en-US" sz="3200" b="1" dirty="0">
                <a:latin typeface="+mn-ea"/>
                <a:ea typeface="+mn-ea"/>
              </a:rPr>
              <a:t>，</a:t>
            </a:r>
            <a:r>
              <a:rPr lang="en-US" altLang="zh-CN" sz="3200" b="1" i="1" dirty="0">
                <a:latin typeface="Times New Roman" panose="02020603050405020304" pitchFamily="18" charset="0"/>
                <a:ea typeface="微软雅黑" panose="020B0503020204020204" pitchFamily="34" charset="-122"/>
              </a:rPr>
              <a:t>μ</a:t>
            </a:r>
            <a:r>
              <a:rPr lang="en-US" altLang="zh-CN" sz="3200" b="1" i="1" baseline="-30000" dirty="0">
                <a:latin typeface="Times New Roman" panose="02020603050405020304" pitchFamily="18" charset="0"/>
                <a:ea typeface="微软雅黑" panose="020B0503020204020204" pitchFamily="34" charset="-122"/>
              </a:rPr>
              <a:t>2</a:t>
            </a:r>
            <a:r>
              <a:rPr lang="zh-CN" altLang="en-US" sz="3200" b="1" dirty="0">
                <a:latin typeface="+mn-ea"/>
                <a:ea typeface="+mn-ea"/>
              </a:rPr>
              <a:t>，</a:t>
            </a:r>
            <a:r>
              <a:rPr lang="en-US" altLang="zh-CN" sz="3200" b="1" dirty="0">
                <a:latin typeface="Times New Roman" panose="02020603050405020304" pitchFamily="18" charset="0"/>
                <a:ea typeface="微软雅黑" panose="020B0503020204020204" pitchFamily="34" charset="-122"/>
              </a:rPr>
              <a:t>…</a:t>
            </a:r>
            <a:r>
              <a:rPr lang="zh-CN" altLang="en-US" sz="3200" b="1" dirty="0">
                <a:latin typeface="+mn-ea"/>
                <a:ea typeface="+mn-ea"/>
              </a:rPr>
              <a:t>，</a:t>
            </a:r>
            <a:r>
              <a:rPr lang="en-US" altLang="zh-CN" sz="3200" b="1" i="1" dirty="0" err="1">
                <a:latin typeface="Times New Roman" panose="02020603050405020304" pitchFamily="18" charset="0"/>
                <a:ea typeface="微软雅黑" panose="020B0503020204020204" pitchFamily="34" charset="-122"/>
              </a:rPr>
              <a:t>μ</a:t>
            </a:r>
            <a:r>
              <a:rPr lang="en-US" altLang="zh-CN" sz="3200" b="1" i="1" baseline="-30000" dirty="0" err="1">
                <a:latin typeface="Times New Roman" panose="02020603050405020304" pitchFamily="18" charset="0"/>
                <a:ea typeface="微软雅黑" panose="020B0503020204020204" pitchFamily="34" charset="-122"/>
              </a:rPr>
              <a:t>k</a:t>
            </a:r>
            <a:r>
              <a:rPr lang="zh-CN" altLang="en-US" sz="3200" b="1" dirty="0">
                <a:latin typeface="+mn-ea"/>
                <a:ea typeface="+mn-ea"/>
              </a:rPr>
              <a:t>，</a:t>
            </a:r>
            <a:r>
              <a:rPr lang="zh-CN" altLang="en-US" sz="3200" b="1" dirty="0">
                <a:latin typeface="微软雅黑" panose="020B0503020204020204" pitchFamily="34" charset="-122"/>
                <a:ea typeface="微软雅黑" panose="020B0503020204020204" pitchFamily="34" charset="-122"/>
              </a:rPr>
              <a:t>且</a:t>
            </a:r>
            <a:r>
              <a:rPr lang="en-US" altLang="zh-CN" sz="3200" b="1" dirty="0">
                <a:latin typeface="Times New Roman" panose="02020603050405020304" pitchFamily="18" charset="0"/>
                <a:ea typeface="微软雅黑" panose="020B0503020204020204" pitchFamily="34" charset="-122"/>
              </a:rPr>
              <a:t>0≤ </a:t>
            </a:r>
            <a:r>
              <a:rPr lang="en-US" altLang="zh-CN" sz="3200" b="1" i="1" dirty="0" err="1">
                <a:latin typeface="Times New Roman" panose="02020603050405020304" pitchFamily="18" charset="0"/>
                <a:ea typeface="微软雅黑" panose="020B0503020204020204" pitchFamily="34" charset="-122"/>
              </a:rPr>
              <a:t>μ</a:t>
            </a:r>
            <a:r>
              <a:rPr lang="en-US" altLang="zh-CN" sz="2000" b="1" i="1" baseline="-25000" dirty="0" err="1">
                <a:latin typeface="Times New Roman" panose="02020603050405020304" pitchFamily="18" charset="0"/>
                <a:ea typeface="微软雅黑" panose="020B0503020204020204" pitchFamily="34" charset="-122"/>
              </a:rPr>
              <a:t>i</a:t>
            </a:r>
            <a:r>
              <a:rPr lang="en-US" altLang="zh-CN" sz="2000" b="1" i="1" baseline="-25000" dirty="0">
                <a:latin typeface="Times New Roman" panose="02020603050405020304" pitchFamily="18" charset="0"/>
                <a:ea typeface="微软雅黑" panose="020B0503020204020204" pitchFamily="34" charset="-122"/>
              </a:rPr>
              <a:t> </a:t>
            </a:r>
            <a:r>
              <a:rPr lang="en-US" altLang="zh-CN" sz="3200" b="1" dirty="0">
                <a:latin typeface="Times New Roman" panose="02020603050405020304" pitchFamily="18" charset="0"/>
                <a:ea typeface="微软雅黑" panose="020B0503020204020204" pitchFamily="34" charset="-122"/>
              </a:rPr>
              <a:t>≤1,  </a:t>
            </a:r>
            <a:r>
              <a:rPr lang="en-US" altLang="zh-CN" sz="3200" b="1" i="1" dirty="0" err="1">
                <a:latin typeface="Times New Roman" panose="02020603050405020304" pitchFamily="18" charset="0"/>
                <a:ea typeface="微软雅黑" panose="020B0503020204020204" pitchFamily="34" charset="-122"/>
              </a:rPr>
              <a:t>i</a:t>
            </a:r>
            <a:r>
              <a:rPr lang="en-US" altLang="zh-CN" sz="3200" b="1" dirty="0">
                <a:latin typeface="Times New Roman" panose="02020603050405020304" pitchFamily="18" charset="0"/>
                <a:ea typeface="微软雅黑" panose="020B0503020204020204" pitchFamily="34" charset="-122"/>
              </a:rPr>
              <a:t>=1, 2, …, </a:t>
            </a:r>
            <a:r>
              <a:rPr lang="en-US" altLang="zh-CN" sz="3200" b="1" i="1" dirty="0">
                <a:latin typeface="Times New Roman" panose="02020603050405020304" pitchFamily="18" charset="0"/>
                <a:ea typeface="微软雅黑" panose="020B0503020204020204" pitchFamily="34" charset="-122"/>
              </a:rPr>
              <a:t>k</a:t>
            </a:r>
            <a:r>
              <a:rPr lang="zh-CN" altLang="en-US" sz="3200" b="1" i="1" dirty="0">
                <a:latin typeface="仿宋" panose="02010609060101010101" pitchFamily="49" charset="-122"/>
                <a:ea typeface="仿宋" panose="02010609060101010101" pitchFamily="49" charset="-122"/>
              </a:rPr>
              <a:t>，</a:t>
            </a:r>
            <a:r>
              <a:rPr lang="en-US" altLang="zh-CN" sz="3200" b="1" dirty="0">
                <a:latin typeface="微软雅黑" panose="020B0503020204020204" pitchFamily="34" charset="-122"/>
                <a:ea typeface="微软雅黑" panose="020B0503020204020204" pitchFamily="34" charset="-122"/>
              </a:rPr>
              <a:t>  </a:t>
            </a:r>
          </a:p>
          <a:p>
            <a:pPr algn="just">
              <a:spcBef>
                <a:spcPts val="600"/>
              </a:spcBef>
              <a:buClr>
                <a:schemeClr val="accent1"/>
              </a:buClr>
              <a:buSzPct val="70000"/>
              <a:defRPr/>
            </a:pPr>
            <a:endParaRPr lang="en-US" altLang="zh-CN" sz="3200" b="1" dirty="0">
              <a:latin typeface="微软雅黑" panose="020B0503020204020204" pitchFamily="34" charset="-122"/>
              <a:ea typeface="微软雅黑" panose="020B0503020204020204" pitchFamily="34" charset="-122"/>
            </a:endParaRPr>
          </a:p>
        </p:txBody>
      </p:sp>
      <p:graphicFrame>
        <p:nvGraphicFramePr>
          <p:cNvPr id="13316" name="Object 4"/>
          <p:cNvGraphicFramePr>
            <a:graphicFrameLocks noChangeAspect="1"/>
          </p:cNvGraphicFramePr>
          <p:nvPr/>
        </p:nvGraphicFramePr>
        <p:xfrm>
          <a:off x="3563938" y="2276475"/>
          <a:ext cx="1143000" cy="976313"/>
        </p:xfrm>
        <a:graphic>
          <a:graphicData uri="http://schemas.openxmlformats.org/presentationml/2006/ole">
            <mc:AlternateContent xmlns:mc="http://schemas.openxmlformats.org/markup-compatibility/2006">
              <mc:Choice xmlns:v="urn:schemas-microsoft-com:vml" Requires="v">
                <p:oleObj spid="_x0000_s41006" name="Equation" r:id="rId3" imgW="520700" imgH="444500" progId="Equation.DSMT4">
                  <p:embed/>
                </p:oleObj>
              </mc:Choice>
              <mc:Fallback>
                <p:oleObj name="Equation" r:id="rId3" imgW="520700" imgH="4445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276475"/>
                        <a:ext cx="1143000"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7" name="矩形 6"/>
          <p:cNvSpPr>
            <a:spLocks noChangeArrowheads="1"/>
          </p:cNvSpPr>
          <p:nvPr/>
        </p:nvSpPr>
        <p:spPr bwMode="auto">
          <a:xfrm>
            <a:off x="381000" y="3733800"/>
            <a:ext cx="7848600" cy="2292350"/>
          </a:xfrm>
          <a:prstGeom prst="rect">
            <a:avLst/>
          </a:prstGeom>
          <a:noFill/>
          <a:ln>
            <a:noFill/>
          </a:ln>
        </p:spPr>
        <p:txBody>
          <a:bodyPr>
            <a:spAutoFit/>
          </a:bodyPr>
          <a:lstStyle>
            <a:lvl1pPr marL="273050" indent="-273050"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spcBef>
                <a:spcPts val="600"/>
              </a:spcBef>
              <a:buClr>
                <a:schemeClr val="accent1"/>
              </a:buClr>
              <a:buSzPct val="70000"/>
              <a:buFont typeface="Wingdings" panose="05000000000000000000" pitchFamily="2" charset="2"/>
              <a:buNone/>
              <a:defRPr/>
            </a:pPr>
            <a:r>
              <a:rPr lang="zh-CN" altLang="en-US" sz="3200" b="1" dirty="0">
                <a:latin typeface="Times New Roman" panose="02020603050405020304" pitchFamily="18" charset="0"/>
                <a:ea typeface="微软雅黑" panose="020B0503020204020204" pitchFamily="34" charset="-122"/>
              </a:rPr>
              <a:t>使  </a:t>
            </a:r>
            <a:r>
              <a:rPr lang="en-US" altLang="zh-CN" sz="3200" i="1" dirty="0">
                <a:latin typeface="Times New Roman" panose="02020603050405020304" pitchFamily="18" charset="0"/>
                <a:ea typeface="华文楷体" panose="02010600040101010101" pitchFamily="2" charset="-122"/>
              </a:rPr>
              <a:t>X=μ</a:t>
            </a:r>
            <a:r>
              <a:rPr lang="en-US" altLang="zh-CN" sz="2000" i="1" baseline="-25000" dirty="0">
                <a:latin typeface="Times New Roman" panose="02020603050405020304" pitchFamily="18" charset="0"/>
                <a:ea typeface="华文楷体" panose="02010600040101010101" pitchFamily="2" charset="-122"/>
              </a:rPr>
              <a:t>1</a:t>
            </a:r>
            <a:r>
              <a:rPr lang="en-US" altLang="zh-CN" sz="3200" i="1" dirty="0">
                <a:latin typeface="Times New Roman" panose="02020603050405020304" pitchFamily="18" charset="0"/>
                <a:ea typeface="华文楷体" panose="02010600040101010101" pitchFamily="2" charset="-122"/>
              </a:rPr>
              <a:t> X</a:t>
            </a:r>
            <a:r>
              <a:rPr lang="en-US" altLang="zh-CN" sz="3200" baseline="30000" dirty="0">
                <a:latin typeface="Times New Roman" panose="02020603050405020304" pitchFamily="18" charset="0"/>
                <a:ea typeface="华文楷体" panose="02010600040101010101" pitchFamily="2" charset="-122"/>
              </a:rPr>
              <a:t>(1)</a:t>
            </a:r>
            <a:r>
              <a:rPr lang="en-US" altLang="zh-CN" sz="3200" i="1" baseline="30000" dirty="0">
                <a:latin typeface="Times New Roman" panose="02020603050405020304" pitchFamily="18" charset="0"/>
                <a:ea typeface="华文楷体" panose="02010600040101010101" pitchFamily="2" charset="-122"/>
              </a:rPr>
              <a:t> </a:t>
            </a:r>
            <a:r>
              <a:rPr lang="en-US" altLang="zh-CN" sz="3200" i="1" dirty="0">
                <a:latin typeface="Times New Roman" panose="02020603050405020304" pitchFamily="18" charset="0"/>
                <a:ea typeface="华文楷体" panose="02010600040101010101" pitchFamily="2" charset="-122"/>
              </a:rPr>
              <a:t>+μ</a:t>
            </a:r>
            <a:r>
              <a:rPr lang="en-US" altLang="zh-CN" sz="2000" i="1" baseline="-25000" dirty="0">
                <a:latin typeface="Times New Roman" panose="02020603050405020304" pitchFamily="18" charset="0"/>
                <a:ea typeface="华文楷体" panose="02010600040101010101" pitchFamily="2" charset="-122"/>
              </a:rPr>
              <a:t>2</a:t>
            </a:r>
            <a:r>
              <a:rPr lang="en-US" altLang="zh-CN" sz="3200" i="1" dirty="0">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sz="320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3200" i="1"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i="1" dirty="0">
                <a:latin typeface="Times New Roman" panose="02020603050405020304" pitchFamily="18" charset="0"/>
                <a:ea typeface="华文楷体" panose="02010600040101010101" pitchFamily="2" charset="-122"/>
              </a:rPr>
              <a:t>+…+</a:t>
            </a:r>
            <a:r>
              <a:rPr lang="en-US" altLang="zh-CN" sz="3200" i="1" dirty="0" err="1">
                <a:latin typeface="Times New Roman" panose="02020603050405020304" pitchFamily="18" charset="0"/>
                <a:ea typeface="华文楷体" panose="02010600040101010101" pitchFamily="2" charset="-122"/>
              </a:rPr>
              <a:t>μ</a:t>
            </a:r>
            <a:r>
              <a:rPr lang="en-US" altLang="zh-CN" sz="2000" i="1" baseline="-25000" dirty="0" err="1">
                <a:latin typeface="Times New Roman" panose="02020603050405020304" pitchFamily="18" charset="0"/>
                <a:ea typeface="华文楷体" panose="02010600040101010101" pitchFamily="2" charset="-122"/>
              </a:rPr>
              <a:t>k</a:t>
            </a:r>
            <a:r>
              <a:rPr lang="en-US" altLang="zh-CN" sz="3200" i="1" dirty="0">
                <a:latin typeface="Times New Roman" panose="02020603050405020304" pitchFamily="18" charset="0"/>
                <a:ea typeface="微软雅黑" panose="020B0503020204020204" pitchFamily="34" charset="-122"/>
              </a:rPr>
              <a:t> X</a:t>
            </a:r>
            <a:r>
              <a:rPr lang="en-US" altLang="zh-CN" sz="3200" baseline="30000" dirty="0">
                <a:latin typeface="Times New Roman" panose="02020603050405020304" pitchFamily="18" charset="0"/>
                <a:ea typeface="微软雅黑" panose="020B0503020204020204" pitchFamily="34" charset="-122"/>
              </a:rPr>
              <a:t>(</a:t>
            </a:r>
            <a:r>
              <a:rPr lang="en-US" altLang="zh-CN" sz="3200" i="1" baseline="30000" dirty="0">
                <a:latin typeface="Times New Roman" panose="02020603050405020304" pitchFamily="18" charset="0"/>
                <a:ea typeface="微软雅黑" panose="020B0503020204020204" pitchFamily="34" charset="-122"/>
              </a:rPr>
              <a:t>k</a:t>
            </a:r>
            <a:r>
              <a:rPr lang="en-US" altLang="zh-CN" sz="3200" baseline="30000" dirty="0">
                <a:latin typeface="Times New Roman" panose="02020603050405020304" pitchFamily="18" charset="0"/>
                <a:ea typeface="微软雅黑" panose="020B0503020204020204" pitchFamily="34" charset="-122"/>
              </a:rPr>
              <a:t>)</a:t>
            </a:r>
            <a:endParaRPr lang="en-US" altLang="zh-CN" sz="3200" dirty="0">
              <a:latin typeface="Times New Roman" panose="02020603050405020304" pitchFamily="18" charset="0"/>
              <a:ea typeface="华文楷体" panose="02010600040101010101" pitchFamily="2" charset="-122"/>
            </a:endParaRPr>
          </a:p>
          <a:p>
            <a:pPr algn="just">
              <a:spcBef>
                <a:spcPts val="600"/>
              </a:spcBef>
              <a:buClr>
                <a:schemeClr val="accent1"/>
              </a:buClr>
              <a:buSzPct val="70000"/>
              <a:buFont typeface="Wingdings" panose="05000000000000000000" pitchFamily="2" charset="2"/>
              <a:buChar char=""/>
              <a:defRPr/>
            </a:pPr>
            <a:endParaRPr lang="en-US" altLang="zh-CN" sz="3200" dirty="0">
              <a:latin typeface="Times New Roman" panose="02020603050405020304" pitchFamily="18" charset="0"/>
              <a:ea typeface="华文楷体" panose="02010600040101010101" pitchFamily="2" charset="-122"/>
            </a:endParaRPr>
          </a:p>
          <a:p>
            <a:pPr algn="just">
              <a:spcBef>
                <a:spcPts val="600"/>
              </a:spcBef>
              <a:buClr>
                <a:schemeClr val="accent1"/>
              </a:buClr>
              <a:buSzPct val="70000"/>
              <a:buFont typeface="Wingdings" panose="05000000000000000000" pitchFamily="2" charset="2"/>
              <a:buNone/>
              <a:defRPr/>
            </a:pPr>
            <a:r>
              <a:rPr lang="zh-CN" altLang="en-US" sz="3200" b="1" dirty="0">
                <a:latin typeface="微软雅黑" panose="020B0503020204020204" pitchFamily="34" charset="-122"/>
                <a:ea typeface="微软雅黑" panose="020B0503020204020204" pitchFamily="34" charset="-122"/>
              </a:rPr>
              <a:t>则称</a:t>
            </a:r>
            <a:r>
              <a:rPr lang="en-US" altLang="zh-CN" sz="3200" b="1" i="1" dirty="0">
                <a:latin typeface="Times New Roman" panose="02020603050405020304" pitchFamily="18" charset="0"/>
                <a:ea typeface="微软雅黑" panose="020B0503020204020204" pitchFamily="34" charset="-122"/>
              </a:rPr>
              <a:t>X</a:t>
            </a:r>
            <a:r>
              <a:rPr lang="zh-CN" altLang="en-US" sz="3200" b="1" dirty="0">
                <a:latin typeface="微软雅黑" panose="020B0503020204020204" pitchFamily="34" charset="-122"/>
                <a:ea typeface="微软雅黑" panose="020B0503020204020204" pitchFamily="34" charset="-122"/>
              </a:rPr>
              <a:t>为</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(1)</a:t>
            </a:r>
            <a:r>
              <a:rPr lang="zh-CN" altLang="en-US" sz="3200" b="1" dirty="0">
                <a:latin typeface="+mn-ea"/>
                <a:ea typeface="+mn-ea"/>
              </a:rPr>
              <a:t>，</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(2)</a:t>
            </a:r>
            <a:r>
              <a:rPr lang="zh-CN" altLang="en-US" sz="3200" b="1" dirty="0">
                <a:latin typeface="+mn-ea"/>
                <a:ea typeface="+mn-ea"/>
              </a:rPr>
              <a:t>，</a:t>
            </a:r>
            <a:r>
              <a:rPr lang="en-US" altLang="zh-CN" sz="3200" b="1" dirty="0">
                <a:latin typeface="Times New Roman" panose="02020603050405020304" pitchFamily="18" charset="0"/>
                <a:ea typeface="微软雅黑" panose="020B0503020204020204" pitchFamily="34" charset="-122"/>
              </a:rPr>
              <a:t>…</a:t>
            </a:r>
            <a:r>
              <a:rPr lang="zh-CN" altLang="en-US" sz="3200" b="1" dirty="0">
                <a:latin typeface="+mn-ea"/>
                <a:ea typeface="+mn-ea"/>
              </a:rPr>
              <a:t>，</a:t>
            </a:r>
            <a:r>
              <a:rPr lang="en-US" altLang="zh-CN" sz="3200" b="1" i="1" dirty="0">
                <a:latin typeface="Times New Roman" panose="02020603050405020304" pitchFamily="18" charset="0"/>
                <a:ea typeface="微软雅黑" panose="020B0503020204020204" pitchFamily="34" charset="-122"/>
              </a:rPr>
              <a:t>X</a:t>
            </a:r>
            <a:r>
              <a:rPr lang="en-US" altLang="zh-CN" sz="3200" b="1" baseline="30000" dirty="0">
                <a:latin typeface="Times New Roman" panose="02020603050405020304" pitchFamily="18" charset="0"/>
                <a:ea typeface="微软雅黑" panose="020B0503020204020204" pitchFamily="34" charset="-122"/>
              </a:rPr>
              <a:t>(</a:t>
            </a:r>
            <a:r>
              <a:rPr lang="en-US" altLang="zh-CN" sz="3200" b="1" i="1" baseline="30000" dirty="0">
                <a:latin typeface="Times New Roman" panose="02020603050405020304" pitchFamily="18" charset="0"/>
                <a:ea typeface="微软雅黑" panose="020B0503020204020204" pitchFamily="34" charset="-122"/>
              </a:rPr>
              <a:t>k</a:t>
            </a:r>
            <a:r>
              <a:rPr lang="en-US" altLang="zh-CN" sz="3200" b="1" baseline="30000" dirty="0">
                <a:latin typeface="Times New Roman" panose="02020603050405020304" pitchFamily="18" charset="0"/>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的</a:t>
            </a:r>
            <a:r>
              <a:rPr lang="zh-CN" altLang="en-US" sz="3200" b="1" dirty="0">
                <a:solidFill>
                  <a:schemeClr val="hlink"/>
                </a:solidFill>
                <a:latin typeface="微软雅黑" panose="020B0503020204020204" pitchFamily="34" charset="-122"/>
                <a:ea typeface="微软雅黑" panose="020B0503020204020204" pitchFamily="34" charset="-122"/>
              </a:rPr>
              <a:t>凸组合</a:t>
            </a:r>
            <a:endParaRPr lang="zh-CN" altLang="en-US" sz="3200"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None/>
              <a:defRPr/>
            </a:pPr>
            <a:r>
              <a:rPr lang="zh-CN" altLang="en-US" sz="3200" b="1" dirty="0">
                <a:latin typeface="微软雅黑" panose="020B0503020204020204" pitchFamily="34" charset="-122"/>
                <a:ea typeface="微软雅黑" panose="020B0503020204020204" pitchFamily="34" charset="-122"/>
              </a:rPr>
              <a:t>（当</a:t>
            </a:r>
            <a:r>
              <a:rPr lang="en-US" altLang="zh-CN" sz="3200" b="1" dirty="0">
                <a:latin typeface="Times New Roman" panose="02020603050405020304" pitchFamily="18" charset="0"/>
                <a:ea typeface="微软雅黑" panose="020B0503020204020204" pitchFamily="34" charset="-122"/>
              </a:rPr>
              <a:t>0</a:t>
            </a:r>
            <a:r>
              <a:rPr lang="zh-CN" altLang="en-US" sz="3200" b="1" dirty="0">
                <a:latin typeface="Times New Roman" panose="02020603050405020304" pitchFamily="18" charset="0"/>
                <a:ea typeface="微软雅黑" panose="020B0503020204020204" pitchFamily="34" charset="-122"/>
              </a:rPr>
              <a:t>＜</a:t>
            </a:r>
            <a:r>
              <a:rPr lang="en-US" altLang="zh-CN" sz="3200" b="1" i="1" dirty="0" err="1">
                <a:latin typeface="Times New Roman" panose="02020603050405020304" pitchFamily="18" charset="0"/>
                <a:ea typeface="微软雅黑" panose="020B0503020204020204" pitchFamily="34" charset="-122"/>
              </a:rPr>
              <a:t>μ</a:t>
            </a:r>
            <a:r>
              <a:rPr lang="en-US" altLang="zh-CN" sz="2000" b="1" i="1" baseline="-25000" dirty="0" err="1">
                <a:latin typeface="Times New Roman" panose="02020603050405020304" pitchFamily="18" charset="0"/>
                <a:ea typeface="微软雅黑" panose="020B0503020204020204" pitchFamily="34" charset="-122"/>
              </a:rPr>
              <a:t>i</a:t>
            </a:r>
            <a:r>
              <a:rPr lang="zh-CN" altLang="en-US" sz="3200" b="1" dirty="0">
                <a:latin typeface="Times New Roman" panose="02020603050405020304" pitchFamily="18" charset="0"/>
                <a:ea typeface="微软雅黑" panose="020B0503020204020204" pitchFamily="34" charset="-122"/>
              </a:rPr>
              <a:t>＜</a:t>
            </a:r>
            <a:r>
              <a:rPr lang="en-US" altLang="zh-CN" sz="3200" b="1" dirty="0">
                <a:latin typeface="Times New Roman" panose="02020603050405020304" pitchFamily="18" charset="0"/>
                <a:ea typeface="微软雅黑" panose="020B0503020204020204" pitchFamily="34" charset="-122"/>
              </a:rPr>
              <a:t>1</a:t>
            </a:r>
            <a:r>
              <a:rPr lang="zh-CN" altLang="en-US" sz="3200" b="1" dirty="0">
                <a:latin typeface="微软雅黑" panose="020B0503020204020204" pitchFamily="34" charset="-122"/>
                <a:ea typeface="微软雅黑" panose="020B0503020204020204" pitchFamily="34" charset="-122"/>
              </a:rPr>
              <a:t>时</a:t>
            </a:r>
            <a:r>
              <a:rPr lang="zh-CN" altLang="en-US" sz="3200" b="1" dirty="0">
                <a:latin typeface="+mn-ea"/>
                <a:ea typeface="+mn-ea"/>
              </a:rPr>
              <a:t>，</a:t>
            </a:r>
            <a:r>
              <a:rPr lang="zh-CN" altLang="en-US" sz="3200" b="1" dirty="0">
                <a:latin typeface="微软雅黑" panose="020B0503020204020204" pitchFamily="34" charset="-122"/>
                <a:ea typeface="微软雅黑" panose="020B0503020204020204" pitchFamily="34" charset="-122"/>
              </a:rPr>
              <a:t>称为</a:t>
            </a:r>
            <a:r>
              <a:rPr lang="zh-CN" altLang="en-US" sz="3200" b="1" dirty="0">
                <a:solidFill>
                  <a:schemeClr val="hlink"/>
                </a:solidFill>
                <a:latin typeface="微软雅黑" panose="020B0503020204020204" pitchFamily="34" charset="-122"/>
                <a:ea typeface="微软雅黑" panose="020B0503020204020204" pitchFamily="34" charset="-122"/>
              </a:rPr>
              <a:t>严格凸组合</a:t>
            </a:r>
            <a:r>
              <a:rPr lang="zh-CN" altLang="en-US" sz="3200" b="1" dirty="0">
                <a:latin typeface="微软雅黑" panose="020B0503020204020204" pitchFamily="34" charset="-122"/>
                <a:ea typeface="微软雅黑" panose="020B0503020204020204" pitchFamily="34" charset="-122"/>
              </a:rPr>
              <a:t>）</a:t>
            </a:r>
            <a:endParaRPr lang="en-US" altLang="zh-CN" sz="32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7216775" y="6383211"/>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86</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dissolve">
                                      <p:cBhvr>
                                        <p:cTn id="7" dur="500"/>
                                        <p:tgtEl>
                                          <p:spTgt spid="13315"/>
                                        </p:tgtEl>
                                      </p:cBhvr>
                                    </p:animEffect>
                                  </p:childTnLst>
                                </p:cTn>
                              </p:par>
                              <p:par>
                                <p:cTn id="8" presetID="9" presetClass="entr" presetSubtype="0" fill="hold" nodeType="withEffect">
                                  <p:stCondLst>
                                    <p:cond delay="0"/>
                                  </p:stCondLst>
                                  <p:childTnLst>
                                    <p:set>
                                      <p:cBhvr>
                                        <p:cTn id="9" dur="1" fill="hold">
                                          <p:stCondLst>
                                            <p:cond delay="0"/>
                                          </p:stCondLst>
                                        </p:cTn>
                                        <p:tgtEl>
                                          <p:spTgt spid="13316"/>
                                        </p:tgtEl>
                                        <p:attrNameLst>
                                          <p:attrName>style.visibility</p:attrName>
                                        </p:attrNameLst>
                                      </p:cBhvr>
                                      <p:to>
                                        <p:strVal val="visible"/>
                                      </p:to>
                                    </p:set>
                                    <p:animEffect transition="in" filter="dissolve">
                                      <p:cBhvr>
                                        <p:cTn id="10" dur="500"/>
                                        <p:tgtEl>
                                          <p:spTgt spid="1331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3317">
                                            <p:txEl>
                                              <p:pRg st="0" end="0"/>
                                            </p:txEl>
                                          </p:spTgt>
                                        </p:tgtEl>
                                        <p:attrNameLst>
                                          <p:attrName>style.visibility</p:attrName>
                                        </p:attrNameLst>
                                      </p:cBhvr>
                                      <p:to>
                                        <p:strVal val="visible"/>
                                      </p:to>
                                    </p:set>
                                    <p:animEffect transition="in" filter="dissolve">
                                      <p:cBhvr>
                                        <p:cTn id="15" dur="500"/>
                                        <p:tgtEl>
                                          <p:spTgt spid="133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3317">
                                            <p:txEl>
                                              <p:pRg st="2" end="2"/>
                                            </p:txEl>
                                          </p:spTgt>
                                        </p:tgtEl>
                                        <p:attrNameLst>
                                          <p:attrName>style.visibility</p:attrName>
                                        </p:attrNameLst>
                                      </p:cBhvr>
                                      <p:to>
                                        <p:strVal val="visible"/>
                                      </p:to>
                                    </p:set>
                                    <p:animEffect transition="in" filter="dissolve">
                                      <p:cBhvr>
                                        <p:cTn id="20" dur="500"/>
                                        <p:tgtEl>
                                          <p:spTgt spid="1331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3317">
                                            <p:txEl>
                                              <p:pRg st="3" end="3"/>
                                            </p:txEl>
                                          </p:spTgt>
                                        </p:tgtEl>
                                        <p:attrNameLst>
                                          <p:attrName>style.visibility</p:attrName>
                                        </p:attrNameLst>
                                      </p:cBhvr>
                                      <p:to>
                                        <p:strVal val="visible"/>
                                      </p:to>
                                    </p:set>
                                    <p:animEffect transition="in" filter="dissolve">
                                      <p:cBhvr>
                                        <p:cTn id="25" dur="500"/>
                                        <p:tgtEl>
                                          <p:spTgt spid="133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1"/>
          <p:cNvSpPr>
            <a:spLocks noChangeArrowheads="1"/>
          </p:cNvSpPr>
          <p:nvPr/>
        </p:nvSpPr>
        <p:spPr bwMode="auto">
          <a:xfrm>
            <a:off x="0" y="0"/>
            <a:ext cx="27717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b="1">
                <a:solidFill>
                  <a:schemeClr val="folHlink"/>
                </a:solidFill>
                <a:latin typeface="微软雅黑" panose="020B0503020204020204" pitchFamily="34" charset="-122"/>
                <a:ea typeface="微软雅黑" panose="020B0503020204020204" pitchFamily="34" charset="-122"/>
              </a:rPr>
              <a:t>(iii) </a:t>
            </a:r>
            <a:r>
              <a:rPr lang="zh-CN" altLang="en-US" sz="3600" b="1">
                <a:solidFill>
                  <a:schemeClr val="folHlink"/>
                </a:solidFill>
                <a:latin typeface="微软雅黑" panose="020B0503020204020204" pitchFamily="34" charset="-122"/>
                <a:ea typeface="微软雅黑" panose="020B0503020204020204" pitchFamily="34" charset="-122"/>
              </a:rPr>
              <a:t>顶点</a:t>
            </a:r>
          </a:p>
        </p:txBody>
      </p:sp>
      <p:sp>
        <p:nvSpPr>
          <p:cNvPr id="14339" name="矩形 2"/>
          <p:cNvSpPr>
            <a:spLocks noChangeArrowheads="1"/>
          </p:cNvSpPr>
          <p:nvPr/>
        </p:nvSpPr>
        <p:spPr bwMode="auto">
          <a:xfrm>
            <a:off x="0" y="760413"/>
            <a:ext cx="91440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buFont typeface="Wingdings" panose="05000000000000000000" pitchFamily="2" charset="2"/>
              <a:buNone/>
            </a:pPr>
            <a:r>
              <a:rPr lang="zh-CN" altLang="en-US" sz="3200" b="1">
                <a:latin typeface="微软雅黑" panose="020B0503020204020204" pitchFamily="34" charset="-122"/>
                <a:ea typeface="微软雅黑" panose="020B0503020204020204" pitchFamily="34" charset="-122"/>
              </a:rPr>
              <a:t>设</a:t>
            </a:r>
            <a:r>
              <a:rPr lang="en-US" altLang="zh-CN" sz="3200" b="1" i="1">
                <a:latin typeface="Times New Roman" panose="02020603050405020304" pitchFamily="18" charset="0"/>
                <a:ea typeface="微软雅黑" panose="020B0503020204020204" pitchFamily="34" charset="-122"/>
              </a:rPr>
              <a:t>K</a:t>
            </a:r>
            <a:r>
              <a:rPr lang="zh-CN" altLang="en-US" sz="3200" b="1">
                <a:latin typeface="微软雅黑" panose="020B0503020204020204" pitchFamily="34" charset="-122"/>
                <a:ea typeface="微软雅黑" panose="020B0503020204020204" pitchFamily="34" charset="-122"/>
              </a:rPr>
              <a:t>是凸集</a:t>
            </a:r>
            <a:r>
              <a:rPr lang="zh-CN" altLang="en-US" sz="3200" b="1">
                <a:latin typeface="仿宋" panose="02010609060101010101" pitchFamily="49" charset="-122"/>
                <a:ea typeface="仿宋" panose="02010609060101010101" pitchFamily="49" charset="-122"/>
              </a:rPr>
              <a:t>，</a:t>
            </a:r>
            <a:r>
              <a:rPr lang="en-US" altLang="zh-CN" sz="3200" b="1" i="1">
                <a:latin typeface="Times New Roman" panose="02020603050405020304" pitchFamily="18" charset="0"/>
                <a:ea typeface="微软雅黑" panose="020B0503020204020204" pitchFamily="34" charset="-122"/>
              </a:rPr>
              <a:t>X</a:t>
            </a:r>
            <a:r>
              <a:rPr lang="en-US" altLang="zh-CN" sz="3200" b="1">
                <a:latin typeface="Times New Roman" panose="02020603050405020304" pitchFamily="18" charset="0"/>
                <a:ea typeface="微软雅黑" panose="020B0503020204020204" pitchFamily="34" charset="-122"/>
              </a:rPr>
              <a:t>∈</a:t>
            </a:r>
            <a:r>
              <a:rPr lang="en-US" altLang="zh-CN" sz="3200" b="1" i="1">
                <a:latin typeface="Times New Roman" panose="02020603050405020304" pitchFamily="18" charset="0"/>
                <a:ea typeface="微软雅黑" panose="020B0503020204020204" pitchFamily="34" charset="-122"/>
              </a:rPr>
              <a:t>K</a:t>
            </a:r>
            <a:r>
              <a:rPr lang="zh-CN" altLang="en-US" sz="3200" b="1">
                <a:latin typeface="仿宋" panose="02010609060101010101" pitchFamily="49" charset="-122"/>
                <a:ea typeface="仿宋" panose="02010609060101010101" pitchFamily="49" charset="-122"/>
              </a:rPr>
              <a:t>；</a:t>
            </a:r>
            <a:r>
              <a:rPr lang="zh-CN" altLang="en-US" sz="3200" b="1">
                <a:latin typeface="微软雅黑" panose="020B0503020204020204" pitchFamily="34" charset="-122"/>
                <a:ea typeface="微软雅黑" panose="020B0503020204020204" pitchFamily="34" charset="-122"/>
              </a:rPr>
              <a:t>若</a:t>
            </a:r>
            <a:r>
              <a:rPr lang="en-US" altLang="zh-CN" sz="3200" b="1" i="1">
                <a:latin typeface="Times New Roman" panose="02020603050405020304" pitchFamily="18" charset="0"/>
                <a:ea typeface="微软雅黑" panose="020B0503020204020204" pitchFamily="34" charset="-122"/>
              </a:rPr>
              <a:t>X</a:t>
            </a:r>
            <a:r>
              <a:rPr lang="zh-CN" altLang="en-US" sz="3200" b="1">
                <a:latin typeface="微软雅黑" panose="020B0503020204020204" pitchFamily="34" charset="-122"/>
                <a:ea typeface="微软雅黑" panose="020B0503020204020204" pitchFamily="34" charset="-122"/>
              </a:rPr>
              <a:t>不能用不同的两点</a:t>
            </a:r>
            <a:r>
              <a:rPr lang="en-US" altLang="zh-CN" sz="3200" b="1" i="1">
                <a:latin typeface="Times New Roman" panose="02020603050405020304" pitchFamily="18" charset="0"/>
                <a:ea typeface="微软雅黑" panose="020B0503020204020204" pitchFamily="34" charset="-122"/>
              </a:rPr>
              <a:t>X</a:t>
            </a:r>
            <a:r>
              <a:rPr lang="en-US" altLang="zh-CN" sz="3200" b="1" baseline="30000">
                <a:latin typeface="Times New Roman" panose="02020603050405020304" pitchFamily="18" charset="0"/>
                <a:ea typeface="微软雅黑" panose="020B0503020204020204" pitchFamily="34" charset="-122"/>
              </a:rPr>
              <a:t>(1)</a:t>
            </a:r>
            <a:r>
              <a:rPr lang="en-US" altLang="zh-CN" sz="3200" b="1">
                <a:latin typeface="Times New Roman" panose="02020603050405020304" pitchFamily="18" charset="0"/>
                <a:ea typeface="微软雅黑" panose="020B0503020204020204" pitchFamily="34" charset="-122"/>
              </a:rPr>
              <a:t>∈</a:t>
            </a:r>
            <a:r>
              <a:rPr lang="en-US" altLang="zh-CN" sz="3200" b="1" i="1">
                <a:latin typeface="Times New Roman" panose="02020603050405020304" pitchFamily="18" charset="0"/>
                <a:ea typeface="微软雅黑" panose="020B0503020204020204" pitchFamily="34" charset="-122"/>
              </a:rPr>
              <a:t>K</a:t>
            </a:r>
            <a:r>
              <a:rPr lang="zh-CN" altLang="en-US" sz="3200" b="1">
                <a:latin typeface="微软雅黑" panose="020B0503020204020204" pitchFamily="34" charset="-122"/>
                <a:ea typeface="微软雅黑" panose="020B0503020204020204" pitchFamily="34" charset="-122"/>
              </a:rPr>
              <a:t>和</a:t>
            </a:r>
            <a:r>
              <a:rPr lang="en-US" altLang="zh-CN" sz="3200" b="1" i="1">
                <a:latin typeface="Times New Roman" panose="02020603050405020304" pitchFamily="18" charset="0"/>
                <a:ea typeface="微软雅黑" panose="020B0503020204020204" pitchFamily="34" charset="-122"/>
              </a:rPr>
              <a:t>X</a:t>
            </a:r>
            <a:r>
              <a:rPr lang="en-US" altLang="zh-CN" sz="3200" b="1" baseline="30000">
                <a:latin typeface="Times New Roman" panose="02020603050405020304" pitchFamily="18" charset="0"/>
                <a:ea typeface="微软雅黑" panose="020B0503020204020204" pitchFamily="34" charset="-122"/>
              </a:rPr>
              <a:t>(2)</a:t>
            </a:r>
            <a:r>
              <a:rPr lang="en-US" altLang="zh-CN" sz="3200" b="1">
                <a:latin typeface="Times New Roman" panose="02020603050405020304" pitchFamily="18" charset="0"/>
                <a:ea typeface="微软雅黑" panose="020B0503020204020204" pitchFamily="34" charset="-122"/>
              </a:rPr>
              <a:t>∈</a:t>
            </a:r>
            <a:r>
              <a:rPr lang="en-US" altLang="zh-CN" sz="3200" b="1" i="1">
                <a:latin typeface="Times New Roman" panose="02020603050405020304" pitchFamily="18" charset="0"/>
                <a:ea typeface="微软雅黑" panose="020B0503020204020204" pitchFamily="34" charset="-122"/>
              </a:rPr>
              <a:t>K</a:t>
            </a:r>
            <a:r>
              <a:rPr lang="zh-CN" altLang="en-US" sz="3200" b="1">
                <a:latin typeface="微软雅黑" panose="020B0503020204020204" pitchFamily="34" charset="-122"/>
                <a:ea typeface="微软雅黑" panose="020B0503020204020204" pitchFamily="34" charset="-122"/>
              </a:rPr>
              <a:t>的线性组合表示为</a:t>
            </a:r>
          </a:p>
          <a:p>
            <a:pPr eaLnBrk="1" hangingPunct="1">
              <a:buFont typeface="Wingdings" panose="05000000000000000000" pitchFamily="2" charset="2"/>
              <a:buNone/>
            </a:pPr>
            <a:r>
              <a:rPr lang="en-US" altLang="zh-CN" sz="3200" b="1" i="1">
                <a:solidFill>
                  <a:schemeClr val="hlink"/>
                </a:solidFill>
                <a:latin typeface="微软雅黑" panose="020B0503020204020204" pitchFamily="34" charset="-122"/>
                <a:ea typeface="微软雅黑" panose="020B0503020204020204" pitchFamily="34" charset="-122"/>
              </a:rPr>
              <a:t>     </a:t>
            </a:r>
            <a:r>
              <a:rPr lang="en-US" altLang="zh-CN" sz="3200" b="1" i="1">
                <a:solidFill>
                  <a:schemeClr val="hlink"/>
                </a:solidFill>
                <a:latin typeface="Times New Roman" panose="02020603050405020304" pitchFamily="18" charset="0"/>
                <a:ea typeface="微软雅黑" panose="020B0503020204020204" pitchFamily="34" charset="-122"/>
              </a:rPr>
              <a:t>X=αX</a:t>
            </a:r>
            <a:r>
              <a:rPr lang="en-US" altLang="zh-CN" sz="3200" b="1" baseline="30000">
                <a:solidFill>
                  <a:schemeClr val="hlink"/>
                </a:solidFill>
                <a:latin typeface="Times New Roman" panose="02020603050405020304" pitchFamily="18" charset="0"/>
                <a:ea typeface="微软雅黑" panose="020B0503020204020204" pitchFamily="34" charset="-122"/>
              </a:rPr>
              <a:t>(1)</a:t>
            </a:r>
            <a:r>
              <a:rPr lang="en-US" altLang="zh-CN" sz="3200" b="1" i="1">
                <a:solidFill>
                  <a:schemeClr val="hlink"/>
                </a:solidFill>
                <a:latin typeface="Times New Roman" panose="02020603050405020304" pitchFamily="18" charset="0"/>
                <a:ea typeface="微软雅黑" panose="020B0503020204020204" pitchFamily="34" charset="-122"/>
              </a:rPr>
              <a:t>+</a:t>
            </a:r>
            <a:r>
              <a:rPr lang="en-US" altLang="zh-CN" sz="3200" b="1">
                <a:solidFill>
                  <a:schemeClr val="hlink"/>
                </a:solidFill>
                <a:latin typeface="Times New Roman" panose="02020603050405020304" pitchFamily="18" charset="0"/>
                <a:ea typeface="微软雅黑" panose="020B0503020204020204" pitchFamily="34" charset="-122"/>
              </a:rPr>
              <a:t>(1</a:t>
            </a:r>
            <a:r>
              <a:rPr lang="en-US" altLang="zh-CN" sz="3200" b="1" i="1">
                <a:solidFill>
                  <a:schemeClr val="hlink"/>
                </a:solidFill>
                <a:latin typeface="Times New Roman" panose="02020603050405020304" pitchFamily="18" charset="0"/>
                <a:ea typeface="微软雅黑" panose="020B0503020204020204" pitchFamily="34" charset="-122"/>
              </a:rPr>
              <a:t>-α</a:t>
            </a:r>
            <a:r>
              <a:rPr lang="en-US" altLang="zh-CN" sz="3200" b="1">
                <a:solidFill>
                  <a:schemeClr val="hlink"/>
                </a:solidFill>
                <a:latin typeface="Times New Roman" panose="02020603050405020304" pitchFamily="18" charset="0"/>
                <a:ea typeface="微软雅黑" panose="020B0503020204020204" pitchFamily="34" charset="-122"/>
              </a:rPr>
              <a:t>)</a:t>
            </a:r>
            <a:r>
              <a:rPr lang="en-US" altLang="zh-CN" sz="3200" b="1" i="1">
                <a:solidFill>
                  <a:schemeClr val="hlink"/>
                </a:solidFill>
                <a:latin typeface="Times New Roman" panose="02020603050405020304" pitchFamily="18" charset="0"/>
                <a:ea typeface="微软雅黑" panose="020B0503020204020204" pitchFamily="34" charset="-122"/>
              </a:rPr>
              <a:t>X</a:t>
            </a:r>
            <a:r>
              <a:rPr lang="en-US" altLang="zh-CN" sz="3200" b="1" baseline="30000">
                <a:solidFill>
                  <a:schemeClr val="hlink"/>
                </a:solidFill>
                <a:latin typeface="Times New Roman" panose="02020603050405020304" pitchFamily="18" charset="0"/>
                <a:ea typeface="微软雅黑" panose="020B0503020204020204" pitchFamily="34" charset="-122"/>
              </a:rPr>
              <a:t>(2)</a:t>
            </a:r>
            <a:r>
              <a:rPr lang="zh-CN" altLang="en-US" sz="3200" b="1">
                <a:solidFill>
                  <a:schemeClr val="hlink"/>
                </a:solidFill>
                <a:latin typeface="仿宋" panose="02010609060101010101" pitchFamily="49" charset="-122"/>
                <a:ea typeface="仿宋" panose="02010609060101010101" pitchFamily="49" charset="-122"/>
              </a:rPr>
              <a:t>，</a:t>
            </a:r>
            <a:r>
              <a:rPr lang="en-US" altLang="zh-CN" sz="3200" b="1">
                <a:solidFill>
                  <a:schemeClr val="hlink"/>
                </a:solidFill>
                <a:latin typeface="Times New Roman" panose="02020603050405020304" pitchFamily="18" charset="0"/>
                <a:ea typeface="微软雅黑" panose="020B0503020204020204" pitchFamily="34" charset="-122"/>
              </a:rPr>
              <a:t>(0</a:t>
            </a:r>
            <a:r>
              <a:rPr lang="zh-CN" altLang="en-US" sz="3200" b="1">
                <a:solidFill>
                  <a:schemeClr val="hlink"/>
                </a:solidFill>
                <a:latin typeface="Times New Roman" panose="02020603050405020304" pitchFamily="18" charset="0"/>
                <a:ea typeface="微软雅黑" panose="020B0503020204020204" pitchFamily="34" charset="-122"/>
              </a:rPr>
              <a:t>＜</a:t>
            </a:r>
            <a:r>
              <a:rPr lang="en-US" altLang="zh-CN" sz="3200" b="1" i="1">
                <a:solidFill>
                  <a:schemeClr val="hlink"/>
                </a:solidFill>
                <a:latin typeface="Times New Roman" panose="02020603050405020304" pitchFamily="18" charset="0"/>
                <a:ea typeface="微软雅黑" panose="020B0503020204020204" pitchFamily="34" charset="-122"/>
              </a:rPr>
              <a:t>α</a:t>
            </a:r>
            <a:r>
              <a:rPr lang="zh-CN" altLang="en-US" sz="3200" b="1">
                <a:solidFill>
                  <a:schemeClr val="hlink"/>
                </a:solidFill>
                <a:latin typeface="Times New Roman" panose="02020603050405020304" pitchFamily="18" charset="0"/>
                <a:ea typeface="微软雅黑" panose="020B0503020204020204" pitchFamily="34" charset="-122"/>
              </a:rPr>
              <a:t>＜</a:t>
            </a:r>
            <a:r>
              <a:rPr lang="en-US" altLang="zh-CN" sz="3200" b="1">
                <a:solidFill>
                  <a:schemeClr val="hlink"/>
                </a:solidFill>
                <a:latin typeface="Times New Roman" panose="02020603050405020304" pitchFamily="18" charset="0"/>
                <a:ea typeface="微软雅黑" panose="020B0503020204020204" pitchFamily="34" charset="-122"/>
              </a:rPr>
              <a:t>1)</a:t>
            </a:r>
          </a:p>
          <a:p>
            <a:pPr eaLnBrk="1" hangingPunct="1">
              <a:buFont typeface="Wingdings" panose="05000000000000000000" pitchFamily="2" charset="2"/>
              <a:buNone/>
            </a:pPr>
            <a:r>
              <a:rPr lang="zh-CN" altLang="en-US" sz="3200" b="1">
                <a:latin typeface="微软雅黑" panose="020B0503020204020204" pitchFamily="34" charset="-122"/>
                <a:ea typeface="微软雅黑" panose="020B0503020204020204" pitchFamily="34" charset="-122"/>
              </a:rPr>
              <a:t>则称</a:t>
            </a:r>
            <a:r>
              <a:rPr lang="en-US" altLang="zh-CN" sz="3200" b="1" i="1">
                <a:latin typeface="Times New Roman" panose="02020603050405020304" pitchFamily="18" charset="0"/>
                <a:ea typeface="微软雅黑" panose="020B0503020204020204" pitchFamily="34" charset="-122"/>
              </a:rPr>
              <a:t>X</a:t>
            </a:r>
            <a:r>
              <a:rPr lang="zh-CN" altLang="en-US" sz="3200" b="1">
                <a:latin typeface="微软雅黑" panose="020B0503020204020204" pitchFamily="34" charset="-122"/>
                <a:ea typeface="微软雅黑" panose="020B0503020204020204" pitchFamily="34" charset="-122"/>
              </a:rPr>
              <a:t>为</a:t>
            </a:r>
            <a:r>
              <a:rPr lang="en-US" altLang="zh-CN" sz="3200" b="1" i="1">
                <a:latin typeface="Times New Roman" panose="02020603050405020304" pitchFamily="18" charset="0"/>
                <a:ea typeface="微软雅黑" panose="020B0503020204020204" pitchFamily="34" charset="-122"/>
              </a:rPr>
              <a:t>K</a:t>
            </a:r>
            <a:r>
              <a:rPr lang="zh-CN" altLang="en-US" sz="3200" b="1">
                <a:latin typeface="微软雅黑" panose="020B0503020204020204" pitchFamily="34" charset="-122"/>
                <a:ea typeface="微软雅黑" panose="020B0503020204020204" pitchFamily="34" charset="-122"/>
              </a:rPr>
              <a:t>的一个</a:t>
            </a:r>
            <a:r>
              <a:rPr lang="zh-CN" altLang="en-US" sz="3200" b="1">
                <a:solidFill>
                  <a:schemeClr val="hlink"/>
                </a:solidFill>
                <a:latin typeface="微软雅黑" panose="020B0503020204020204" pitchFamily="34" charset="-122"/>
                <a:ea typeface="微软雅黑" panose="020B0503020204020204" pitchFamily="34" charset="-122"/>
              </a:rPr>
              <a:t>顶点</a:t>
            </a:r>
            <a:r>
              <a:rPr lang="en-US" altLang="zh-CN" sz="3200" b="1">
                <a:latin typeface="微软雅黑" panose="020B0503020204020204" pitchFamily="34" charset="-122"/>
                <a:ea typeface="微软雅黑" panose="020B0503020204020204" pitchFamily="34" charset="-122"/>
              </a:rPr>
              <a:t>(</a:t>
            </a:r>
            <a:r>
              <a:rPr lang="zh-CN" altLang="en-US" sz="3200" b="1">
                <a:latin typeface="微软雅黑" panose="020B0503020204020204" pitchFamily="34" charset="-122"/>
                <a:ea typeface="微软雅黑" panose="020B0503020204020204" pitchFamily="34" charset="-122"/>
              </a:rPr>
              <a:t>或</a:t>
            </a:r>
            <a:r>
              <a:rPr lang="zh-CN" altLang="en-US" sz="3200" b="1">
                <a:solidFill>
                  <a:schemeClr val="hlink"/>
                </a:solidFill>
                <a:latin typeface="微软雅黑" panose="020B0503020204020204" pitchFamily="34" charset="-122"/>
                <a:ea typeface="微软雅黑" panose="020B0503020204020204" pitchFamily="34" charset="-122"/>
              </a:rPr>
              <a:t>极点</a:t>
            </a:r>
            <a:r>
              <a:rPr lang="en-US" altLang="zh-CN" sz="3200" b="1">
                <a:latin typeface="微软雅黑" panose="020B0503020204020204" pitchFamily="34" charset="-122"/>
                <a:ea typeface="微软雅黑" panose="020B0503020204020204" pitchFamily="34" charset="-122"/>
              </a:rPr>
              <a:t>)</a:t>
            </a:r>
            <a:r>
              <a:rPr lang="zh-CN" altLang="en-US" sz="3200" b="1">
                <a:latin typeface="微软雅黑" panose="020B0503020204020204" pitchFamily="34" charset="-122"/>
                <a:ea typeface="微软雅黑" panose="020B0503020204020204" pitchFamily="34" charset="-122"/>
              </a:rPr>
              <a:t> </a:t>
            </a:r>
          </a:p>
        </p:txBody>
      </p:sp>
      <p:pic>
        <p:nvPicPr>
          <p:cNvPr id="14340" name="Picture 4" descr="D:\OR-第三版校对稿\3nd运筹学-图及txt文件\tp\1g2.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4282" y="2783683"/>
            <a:ext cx="4857937" cy="3669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矩形 4"/>
          <p:cNvSpPr>
            <a:spLocks noChangeArrowheads="1"/>
          </p:cNvSpPr>
          <p:nvPr/>
        </p:nvSpPr>
        <p:spPr bwMode="auto">
          <a:xfrm>
            <a:off x="0" y="3589338"/>
            <a:ext cx="46958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a:solidFill>
                  <a:srgbClr val="006600"/>
                </a:solidFill>
                <a:latin typeface="微软雅黑" panose="020B0503020204020204" pitchFamily="34" charset="-122"/>
                <a:ea typeface="微软雅黑" panose="020B0503020204020204" pitchFamily="34" charset="-122"/>
              </a:rPr>
              <a:t>图中</a:t>
            </a:r>
            <a:r>
              <a:rPr lang="en-US" altLang="zh-CN" sz="3200" b="1">
                <a:solidFill>
                  <a:srgbClr val="006600"/>
                </a:solidFill>
                <a:latin typeface="微软雅黑" panose="020B0503020204020204" pitchFamily="34" charset="-122"/>
                <a:ea typeface="微软雅黑" panose="020B0503020204020204" pitchFamily="34" charset="-122"/>
              </a:rPr>
              <a:t>0</a:t>
            </a:r>
            <a:r>
              <a:rPr lang="zh-CN" altLang="en-US" sz="3200" b="1">
                <a:latin typeface="仿宋" panose="02010609060101010101" pitchFamily="49" charset="-122"/>
                <a:ea typeface="仿宋" panose="02010609060101010101" pitchFamily="49" charset="-122"/>
              </a:rPr>
              <a:t>，</a:t>
            </a:r>
            <a:r>
              <a:rPr lang="en-US" altLang="zh-CN" sz="3200" b="1" i="1">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3200" b="1" baseline="-25000">
                <a:solidFill>
                  <a:srgbClr val="006600"/>
                </a:solidFill>
                <a:latin typeface="微软雅黑" panose="020B0503020204020204" pitchFamily="34" charset="-122"/>
                <a:ea typeface="微软雅黑" panose="020B0503020204020204" pitchFamily="34" charset="-122"/>
              </a:rPr>
              <a:t>1</a:t>
            </a:r>
            <a:r>
              <a:rPr lang="en-US" altLang="zh-CN" sz="3200" b="1" baseline="-25000">
                <a:solidFill>
                  <a:srgbClr val="006600"/>
                </a:solidFill>
                <a:latin typeface="仿宋" panose="02010609060101010101" pitchFamily="49" charset="-122"/>
                <a:ea typeface="仿宋" panose="02010609060101010101" pitchFamily="49" charset="-122"/>
              </a:rPr>
              <a:t>,</a:t>
            </a:r>
            <a:r>
              <a:rPr lang="en-US" altLang="zh-CN" sz="3200" b="1" baseline="-25000">
                <a:solidFill>
                  <a:srgbClr val="006600"/>
                </a:solidFill>
                <a:latin typeface="微软雅黑" panose="020B0503020204020204" pitchFamily="34" charset="-122"/>
                <a:ea typeface="微软雅黑" panose="020B0503020204020204" pitchFamily="34" charset="-122"/>
              </a:rPr>
              <a:t>2</a:t>
            </a:r>
            <a:r>
              <a:rPr lang="en-US" altLang="zh-CN" sz="3200" b="1" baseline="-25000">
                <a:solidFill>
                  <a:srgbClr val="006600"/>
                </a:solidFill>
                <a:latin typeface="仿宋" panose="02010609060101010101" pitchFamily="49" charset="-122"/>
                <a:ea typeface="仿宋" panose="02010609060101010101" pitchFamily="49" charset="-122"/>
              </a:rPr>
              <a:t>,</a:t>
            </a:r>
            <a:r>
              <a:rPr lang="en-US" altLang="zh-CN" sz="3200" b="1" baseline="-25000">
                <a:solidFill>
                  <a:srgbClr val="006600"/>
                </a:solidFill>
                <a:latin typeface="微软雅黑" panose="020B0503020204020204" pitchFamily="34" charset="-122"/>
                <a:ea typeface="微软雅黑" panose="020B0503020204020204" pitchFamily="34" charset="-122"/>
              </a:rPr>
              <a:t>3</a:t>
            </a:r>
            <a:r>
              <a:rPr lang="en-US" altLang="zh-CN" sz="3200" b="1" baseline="-25000">
                <a:solidFill>
                  <a:srgbClr val="006600"/>
                </a:solidFill>
                <a:latin typeface="仿宋" panose="02010609060101010101" pitchFamily="49" charset="-122"/>
                <a:ea typeface="仿宋" panose="02010609060101010101" pitchFamily="49" charset="-122"/>
              </a:rPr>
              <a:t>,</a:t>
            </a:r>
            <a:r>
              <a:rPr lang="en-US" altLang="zh-CN" sz="3200" b="1" baseline="-25000">
                <a:solidFill>
                  <a:srgbClr val="006600"/>
                </a:solidFill>
                <a:latin typeface="微软雅黑" panose="020B0503020204020204" pitchFamily="34" charset="-122"/>
                <a:ea typeface="微软雅黑" panose="020B0503020204020204" pitchFamily="34" charset="-122"/>
              </a:rPr>
              <a:t>4</a:t>
            </a:r>
            <a:r>
              <a:rPr lang="zh-CN" altLang="en-US" sz="3200" b="1">
                <a:solidFill>
                  <a:srgbClr val="006600"/>
                </a:solidFill>
                <a:latin typeface="微软雅黑" panose="020B0503020204020204" pitchFamily="34" charset="-122"/>
                <a:ea typeface="微软雅黑" panose="020B0503020204020204" pitchFamily="34" charset="-122"/>
              </a:rPr>
              <a:t>都是顶点</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dissolve">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dissolve">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fade">
                                      <p:cBhvr>
                                        <p:cTn id="22" dur="1000"/>
                                        <p:tgtEl>
                                          <p:spTgt spid="14341"/>
                                        </p:tgtEl>
                                      </p:cBhvr>
                                    </p:animEffect>
                                    <p:anim calcmode="lin" valueType="num">
                                      <p:cBhvr>
                                        <p:cTn id="23" dur="1000" fill="hold"/>
                                        <p:tgtEl>
                                          <p:spTgt spid="14341"/>
                                        </p:tgtEl>
                                        <p:attrNameLst>
                                          <p:attrName>ppt_x</p:attrName>
                                        </p:attrNameLst>
                                      </p:cBhvr>
                                      <p:tavLst>
                                        <p:tav tm="0">
                                          <p:val>
                                            <p:strVal val="#ppt_x"/>
                                          </p:val>
                                        </p:tav>
                                        <p:tav tm="100000">
                                          <p:val>
                                            <p:strVal val="#ppt_x"/>
                                          </p:val>
                                        </p:tav>
                                      </p:tavLst>
                                    </p:anim>
                                    <p:anim calcmode="lin" valueType="num">
                                      <p:cBhvr>
                                        <p:cTn id="24" dur="1000" fill="hold"/>
                                        <p:tgtEl>
                                          <p:spTgt spid="1434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340"/>
                                        </p:tgtEl>
                                        <p:attrNameLst>
                                          <p:attrName>style.visibility</p:attrName>
                                        </p:attrNameLst>
                                      </p:cBhvr>
                                      <p:to>
                                        <p:strVal val="visible"/>
                                      </p:to>
                                    </p:set>
                                    <p:animEffect transition="in" filter="fade">
                                      <p:cBhvr>
                                        <p:cTn id="27" dur="1000"/>
                                        <p:tgtEl>
                                          <p:spTgt spid="14340"/>
                                        </p:tgtEl>
                                      </p:cBhvr>
                                    </p:animEffect>
                                    <p:anim calcmode="lin" valueType="num">
                                      <p:cBhvr>
                                        <p:cTn id="28" dur="1000" fill="hold"/>
                                        <p:tgtEl>
                                          <p:spTgt spid="14340"/>
                                        </p:tgtEl>
                                        <p:attrNameLst>
                                          <p:attrName>ppt_x</p:attrName>
                                        </p:attrNameLst>
                                      </p:cBhvr>
                                      <p:tavLst>
                                        <p:tav tm="0">
                                          <p:val>
                                            <p:strVal val="#ppt_x"/>
                                          </p:val>
                                        </p:tav>
                                        <p:tav tm="100000">
                                          <p:val>
                                            <p:strVal val="#ppt_x"/>
                                          </p:val>
                                        </p:tav>
                                      </p:tavLst>
                                    </p:anim>
                                    <p:anim calcmode="lin" valueType="num">
                                      <p:cBhvr>
                                        <p:cTn id="29" dur="1000" fill="hold"/>
                                        <p:tgtEl>
                                          <p:spTgt spid="143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79388" y="549275"/>
            <a:ext cx="7391400" cy="1160463"/>
          </a:xfrm>
          <a:prstGeom prst="rect">
            <a:avLst/>
          </a:prstGeom>
          <a:noFill/>
          <a:ln w="9525">
            <a:noFill/>
            <a:miter lim="800000"/>
          </a:ln>
          <a:effectLst/>
        </p:spPr>
        <p:txBody>
          <a:bodyPr>
            <a:spAutoFit/>
          </a:bodyPr>
          <a:lstStyle/>
          <a:p>
            <a:pPr eaLnBrk="1" hangingPunct="1">
              <a:spcBef>
                <a:spcPct val="50000"/>
              </a:spcBef>
              <a:defRPr/>
            </a:pPr>
            <a:r>
              <a:rPr lang="zh-CN" altLang="en-US" sz="2800" b="1" dirty="0">
                <a:solidFill>
                  <a:schemeClr val="hlink"/>
                </a:solidFill>
                <a:effectLst>
                  <a:outerShdw blurRad="38100" dist="38100" dir="2700000" algn="tl">
                    <a:srgbClr val="C0C0C0"/>
                  </a:outerShdw>
                </a:effectLst>
                <a:latin typeface="Times New Roman" panose="02020603050405020304" pitchFamily="18" charset="0"/>
                <a:ea typeface="微软雅黑" panose="020B0503020204020204" pitchFamily="34" charset="-122"/>
              </a:rPr>
              <a:t>例：</a:t>
            </a:r>
            <a:r>
              <a:rPr lang="zh-CN" altLang="en-US" sz="2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多边形上的点是顶点</a:t>
            </a:r>
          </a:p>
          <a:p>
            <a:pPr eaLnBrk="1" hangingPunct="1">
              <a:spcBef>
                <a:spcPct val="50000"/>
              </a:spcBef>
              <a:buFontTx/>
              <a:buChar char="•"/>
              <a:defRPr/>
            </a:pPr>
            <a:endParaRPr lang="zh-CN" altLang="en-US" sz="2800" b="1" dirty="0">
              <a:effectLst>
                <a:outerShdw blurRad="38100" dist="38100" dir="2700000" algn="tl">
                  <a:srgbClr val="C0C0C0"/>
                </a:outerShdw>
              </a:effectLst>
              <a:latin typeface="Times New Roman" panose="02020603050405020304" pitchFamily="18" charset="0"/>
              <a:ea typeface="微软雅黑" panose="020B0503020204020204" pitchFamily="34" charset="-122"/>
            </a:endParaRPr>
          </a:p>
        </p:txBody>
      </p:sp>
      <p:sp>
        <p:nvSpPr>
          <p:cNvPr id="35843" name="AutoShape 3"/>
          <p:cNvSpPr>
            <a:spLocks noChangeArrowheads="1"/>
          </p:cNvSpPr>
          <p:nvPr/>
        </p:nvSpPr>
        <p:spPr bwMode="auto">
          <a:xfrm>
            <a:off x="1905000" y="1905000"/>
            <a:ext cx="2209800" cy="1295400"/>
          </a:xfrm>
          <a:prstGeom prst="pentagon">
            <a:avLst/>
          </a:prstGeom>
          <a:solidFill>
            <a:schemeClr val="accent1"/>
          </a:solid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5844" name="Oval 4"/>
          <p:cNvSpPr>
            <a:spLocks noChangeArrowheads="1"/>
          </p:cNvSpPr>
          <p:nvPr/>
        </p:nvSpPr>
        <p:spPr bwMode="auto">
          <a:xfrm>
            <a:off x="2971800" y="1905000"/>
            <a:ext cx="76200" cy="76200"/>
          </a:xfrm>
          <a:prstGeom prst="ellipse">
            <a:avLst/>
          </a:prstGeom>
          <a:solidFill>
            <a:srgbClr val="FF00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5845" name="Oval 5"/>
          <p:cNvSpPr>
            <a:spLocks noChangeArrowheads="1"/>
          </p:cNvSpPr>
          <p:nvPr/>
        </p:nvSpPr>
        <p:spPr bwMode="auto">
          <a:xfrm>
            <a:off x="1905000" y="2362200"/>
            <a:ext cx="76200" cy="76200"/>
          </a:xfrm>
          <a:prstGeom prst="ellipse">
            <a:avLst/>
          </a:prstGeom>
          <a:solidFill>
            <a:srgbClr val="FF00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5846" name="Oval 6"/>
          <p:cNvSpPr>
            <a:spLocks noChangeArrowheads="1"/>
          </p:cNvSpPr>
          <p:nvPr/>
        </p:nvSpPr>
        <p:spPr bwMode="auto">
          <a:xfrm>
            <a:off x="4038600" y="2362200"/>
            <a:ext cx="76200" cy="76200"/>
          </a:xfrm>
          <a:prstGeom prst="ellipse">
            <a:avLst/>
          </a:prstGeom>
          <a:solidFill>
            <a:srgbClr val="FF00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5847" name="Oval 7"/>
          <p:cNvSpPr>
            <a:spLocks noChangeArrowheads="1"/>
          </p:cNvSpPr>
          <p:nvPr/>
        </p:nvSpPr>
        <p:spPr bwMode="auto">
          <a:xfrm>
            <a:off x="3657600" y="3124200"/>
            <a:ext cx="76200" cy="76200"/>
          </a:xfrm>
          <a:prstGeom prst="ellipse">
            <a:avLst/>
          </a:prstGeom>
          <a:solidFill>
            <a:srgbClr val="FF00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5848" name="Oval 8"/>
          <p:cNvSpPr>
            <a:spLocks noChangeArrowheads="1"/>
          </p:cNvSpPr>
          <p:nvPr/>
        </p:nvSpPr>
        <p:spPr bwMode="auto">
          <a:xfrm>
            <a:off x="2286000" y="3124200"/>
            <a:ext cx="76200" cy="76200"/>
          </a:xfrm>
          <a:prstGeom prst="ellipse">
            <a:avLst/>
          </a:prstGeom>
          <a:solidFill>
            <a:srgbClr val="FF00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5369" name="Text Box 9"/>
          <p:cNvSpPr txBox="1">
            <a:spLocks noChangeArrowheads="1"/>
          </p:cNvSpPr>
          <p:nvPr/>
        </p:nvSpPr>
        <p:spPr bwMode="auto">
          <a:xfrm>
            <a:off x="838200" y="3429000"/>
            <a:ext cx="4343400" cy="519113"/>
          </a:xfrm>
          <a:prstGeom prst="rect">
            <a:avLst/>
          </a:prstGeom>
          <a:noFill/>
          <a:ln w="9525">
            <a:noFill/>
            <a:miter lim="800000"/>
          </a:ln>
          <a:effectLst/>
        </p:spPr>
        <p:txBody>
          <a:bodyPr>
            <a:spAutoFit/>
          </a:bodyPr>
          <a:lstStyle/>
          <a:p>
            <a:pPr eaLnBrk="1" hangingPunct="1">
              <a:spcBef>
                <a:spcPct val="50000"/>
              </a:spcBef>
              <a:defRPr/>
            </a:pPr>
            <a:r>
              <a:rPr lang="zh-CN" altLang="en-US" sz="2800" b="1" dirty="0">
                <a:effectLst>
                  <a:outerShdw blurRad="38100" dist="38100" dir="2700000" algn="tl">
                    <a:srgbClr val="C0C0C0"/>
                  </a:outerShdw>
                </a:effectLst>
                <a:latin typeface="Times New Roman" panose="02020603050405020304" pitchFamily="18" charset="0"/>
                <a:ea typeface="微软雅黑" panose="020B0503020204020204" pitchFamily="34" charset="-122"/>
              </a:rPr>
              <a:t>圆周上的点都是顶点</a:t>
            </a:r>
          </a:p>
        </p:txBody>
      </p:sp>
      <p:sp>
        <p:nvSpPr>
          <p:cNvPr id="35850" name="Oval 10"/>
          <p:cNvSpPr>
            <a:spLocks noChangeArrowheads="1"/>
          </p:cNvSpPr>
          <p:nvPr/>
        </p:nvSpPr>
        <p:spPr bwMode="auto">
          <a:xfrm>
            <a:off x="2057400" y="4191000"/>
            <a:ext cx="1447800" cy="1295400"/>
          </a:xfrm>
          <a:prstGeom prst="ellipse">
            <a:avLst/>
          </a:prstGeom>
          <a:solidFill>
            <a:schemeClr val="accent1"/>
          </a:solidFill>
          <a:ln w="9525">
            <a:solidFill>
              <a:srgbClr val="FF0000"/>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4"/>
          <p:cNvSpPr>
            <a:spLocks noChangeArrowheads="1"/>
          </p:cNvSpPr>
          <p:nvPr/>
        </p:nvSpPr>
        <p:spPr bwMode="auto">
          <a:xfrm>
            <a:off x="5076825" y="1192213"/>
            <a:ext cx="4067175" cy="13731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endParaRPr lang="zh-CN" altLang="en-US" sz="2800" b="1">
              <a:latin typeface="微软雅黑" panose="020B0503020204020204" pitchFamily="34" charset="-122"/>
              <a:ea typeface="微软雅黑" panose="020B0503020204020204" pitchFamily="34" charset="-122"/>
            </a:endParaRPr>
          </a:p>
          <a:p>
            <a:pPr algn="just" eaLnBrk="1" hangingPunct="1"/>
            <a:r>
              <a:rPr lang="zh-CN" altLang="en-US" sz="2800" b="1">
                <a:latin typeface="微软雅黑" panose="020B0503020204020204" pitchFamily="34" charset="-122"/>
                <a:ea typeface="微软雅黑" panose="020B0503020204020204" pitchFamily="34" charset="-122"/>
              </a:rPr>
              <a:t> </a:t>
            </a:r>
            <a:r>
              <a:rPr lang="zh-CN" altLang="en-US" sz="2800" b="1">
                <a:solidFill>
                  <a:schemeClr val="bg2"/>
                </a:solidFill>
                <a:latin typeface="微软雅黑" panose="020B0503020204020204" pitchFamily="34" charset="-122"/>
                <a:ea typeface="微软雅黑" panose="020B0503020204020204" pitchFamily="34" charset="-122"/>
              </a:rPr>
              <a:t>是凸集</a:t>
            </a:r>
            <a:r>
              <a:rPr lang="en-US" altLang="zh-CN" sz="2800" b="1">
                <a:solidFill>
                  <a:schemeClr val="bg2"/>
                </a:solidFill>
                <a:latin typeface="微软雅黑" panose="020B0503020204020204" pitchFamily="34" charset="-122"/>
                <a:ea typeface="微软雅黑" panose="020B0503020204020204" pitchFamily="34" charset="-122"/>
              </a:rPr>
              <a:t>           </a:t>
            </a:r>
          </a:p>
          <a:p>
            <a:pPr algn="just" eaLnBrk="1" hangingPunct="1"/>
            <a:r>
              <a:rPr lang="zh-CN" altLang="en-US" sz="2800">
                <a:latin typeface="华文楷体" panose="02010600040101010101" pitchFamily="2" charset="-122"/>
                <a:ea typeface="华文楷体" panose="02010600040101010101" pitchFamily="2" charset="-122"/>
              </a:rPr>
              <a:t> </a:t>
            </a:r>
          </a:p>
        </p:txBody>
      </p:sp>
      <p:sp>
        <p:nvSpPr>
          <p:cNvPr id="36867" name="矩形 1"/>
          <p:cNvSpPr>
            <a:spLocks noChangeArrowheads="1"/>
          </p:cNvSpPr>
          <p:nvPr/>
        </p:nvSpPr>
        <p:spPr bwMode="auto">
          <a:xfrm>
            <a:off x="0" y="0"/>
            <a:ext cx="45005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4000" b="1">
                <a:solidFill>
                  <a:schemeClr val="hlink"/>
                </a:solidFill>
                <a:latin typeface="微软雅黑" panose="020B0503020204020204" pitchFamily="34" charset="-122"/>
                <a:ea typeface="微软雅黑" panose="020B0503020204020204" pitchFamily="34" charset="-122"/>
              </a:rPr>
              <a:t>2.4.2  </a:t>
            </a:r>
            <a:r>
              <a:rPr lang="zh-CN" altLang="en-US" sz="4000" b="1">
                <a:solidFill>
                  <a:schemeClr val="hlink"/>
                </a:solidFill>
                <a:latin typeface="微软雅黑" panose="020B0503020204020204" pitchFamily="34" charset="-122"/>
                <a:ea typeface="微软雅黑" panose="020B0503020204020204" pitchFamily="34" charset="-122"/>
              </a:rPr>
              <a:t>几个定理</a:t>
            </a:r>
          </a:p>
        </p:txBody>
      </p:sp>
      <p:sp>
        <p:nvSpPr>
          <p:cNvPr id="17412" name="矩形 2"/>
          <p:cNvSpPr>
            <a:spLocks noChangeArrowheads="1"/>
          </p:cNvSpPr>
          <p:nvPr/>
        </p:nvSpPr>
        <p:spPr bwMode="auto">
          <a:xfrm>
            <a:off x="0" y="908050"/>
            <a:ext cx="91440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a:solidFill>
                  <a:srgbClr val="FF0000"/>
                </a:solidFill>
                <a:latin typeface="微软雅黑" panose="020B0503020204020204" pitchFamily="34" charset="-122"/>
                <a:ea typeface="微软雅黑" panose="020B0503020204020204" pitchFamily="34" charset="-122"/>
              </a:rPr>
              <a:t>定理</a:t>
            </a:r>
            <a:r>
              <a:rPr lang="en-US" altLang="zh-CN" sz="2800" b="1">
                <a:solidFill>
                  <a:srgbClr val="FF0000"/>
                </a:solidFill>
                <a:latin typeface="微软雅黑" panose="020B0503020204020204" pitchFamily="34" charset="-122"/>
                <a:ea typeface="微软雅黑" panose="020B0503020204020204" pitchFamily="34" charset="-122"/>
              </a:rPr>
              <a:t>2-1.  </a:t>
            </a:r>
            <a:r>
              <a:rPr lang="zh-CN" altLang="en-US" sz="2800" b="1">
                <a:solidFill>
                  <a:schemeClr val="bg2"/>
                </a:solidFill>
                <a:latin typeface="微软雅黑" panose="020B0503020204020204" pitchFamily="34" charset="-122"/>
                <a:ea typeface="微软雅黑" panose="020B0503020204020204" pitchFamily="34" charset="-122"/>
              </a:rPr>
              <a:t>若线性规划问题存在可行域</a:t>
            </a:r>
            <a:r>
              <a:rPr lang="zh-CN" altLang="en-US" sz="2800" b="1">
                <a:solidFill>
                  <a:schemeClr val="bg2"/>
                </a:solidFill>
                <a:latin typeface="仿宋" panose="02010609060101010101" pitchFamily="49" charset="-122"/>
                <a:ea typeface="仿宋" panose="02010609060101010101" pitchFamily="49" charset="-122"/>
              </a:rPr>
              <a:t>，</a:t>
            </a:r>
            <a:r>
              <a:rPr lang="zh-CN" altLang="en-US" sz="2800" b="1">
                <a:solidFill>
                  <a:schemeClr val="bg2"/>
                </a:solidFill>
                <a:latin typeface="微软雅黑" panose="020B0503020204020204" pitchFamily="34" charset="-122"/>
                <a:ea typeface="微软雅黑" panose="020B0503020204020204" pitchFamily="34" charset="-122"/>
              </a:rPr>
              <a:t>则其可行域</a:t>
            </a:r>
          </a:p>
        </p:txBody>
      </p:sp>
      <p:graphicFrame>
        <p:nvGraphicFramePr>
          <p:cNvPr id="17413" name="Object 5"/>
          <p:cNvGraphicFramePr>
            <a:graphicFrameLocks noChangeAspect="1"/>
          </p:cNvGraphicFramePr>
          <p:nvPr/>
        </p:nvGraphicFramePr>
        <p:xfrm>
          <a:off x="1547813" y="1412875"/>
          <a:ext cx="3754437" cy="1174750"/>
        </p:xfrm>
        <a:graphic>
          <a:graphicData uri="http://schemas.openxmlformats.org/presentationml/2006/ole">
            <mc:AlternateContent xmlns:mc="http://schemas.openxmlformats.org/markup-compatibility/2006">
              <mc:Choice xmlns:v="urn:schemas-microsoft-com:vml" Requires="v">
                <p:oleObj spid="_x0000_s42072" name="Equation" r:id="rId3" imgW="1663700" imgH="520700" progId="Equation.DSMT4">
                  <p:embed/>
                </p:oleObj>
              </mc:Choice>
              <mc:Fallback>
                <p:oleObj name="Equation" r:id="rId3" imgW="1663700" imgH="520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412875"/>
                        <a:ext cx="3754437" cy="117475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4" name="矩形 5"/>
          <p:cNvSpPr>
            <a:spLocks noChangeArrowheads="1"/>
          </p:cNvSpPr>
          <p:nvPr/>
        </p:nvSpPr>
        <p:spPr bwMode="auto">
          <a:xfrm>
            <a:off x="179388" y="2636838"/>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folHlink"/>
                </a:solidFill>
                <a:latin typeface="微软雅黑" panose="020B0503020204020204" pitchFamily="34" charset="-122"/>
                <a:ea typeface="微软雅黑" panose="020B0503020204020204" pitchFamily="34" charset="-122"/>
              </a:rPr>
              <a:t>证：</a:t>
            </a:r>
            <a:r>
              <a:rPr lang="zh-CN" altLang="en-US" b="1">
                <a:latin typeface="微软雅黑" panose="020B0503020204020204" pitchFamily="34" charset="-122"/>
                <a:ea typeface="微软雅黑" panose="020B0503020204020204" pitchFamily="34" charset="-122"/>
              </a:rPr>
              <a:t>为了证明满足线性规划问题的约束条件</a:t>
            </a:r>
          </a:p>
        </p:txBody>
      </p:sp>
      <p:sp>
        <p:nvSpPr>
          <p:cNvPr id="17415" name="矩形 11"/>
          <p:cNvSpPr>
            <a:spLocks noChangeArrowheads="1"/>
          </p:cNvSpPr>
          <p:nvPr/>
        </p:nvSpPr>
        <p:spPr bwMode="auto">
          <a:xfrm>
            <a:off x="823913" y="40767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微软雅黑" panose="020B0503020204020204" pitchFamily="34" charset="-122"/>
                <a:ea typeface="微软雅黑" panose="020B0503020204020204" pitchFamily="34" charset="-122"/>
              </a:rPr>
              <a:t>的所有点</a:t>
            </a:r>
            <a:r>
              <a:rPr lang="en-US" altLang="zh-CN"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可行解</a:t>
            </a:r>
            <a:r>
              <a:rPr lang="en-US" altLang="zh-CN"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组成的集合是凸集</a:t>
            </a:r>
          </a:p>
        </p:txBody>
      </p:sp>
      <p:sp>
        <p:nvSpPr>
          <p:cNvPr id="17418" name="TextBox 2"/>
          <p:cNvSpPr txBox="1">
            <a:spLocks noChangeArrowheads="1"/>
          </p:cNvSpPr>
          <p:nvPr/>
        </p:nvSpPr>
        <p:spPr bwMode="auto">
          <a:xfrm>
            <a:off x="971550" y="494188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设</a:t>
            </a:r>
          </a:p>
        </p:txBody>
      </p:sp>
      <p:sp>
        <p:nvSpPr>
          <p:cNvPr id="17419" name="矩形 3"/>
          <p:cNvSpPr>
            <a:spLocks noChangeArrowheads="1"/>
          </p:cNvSpPr>
          <p:nvPr/>
        </p:nvSpPr>
        <p:spPr bwMode="auto">
          <a:xfrm>
            <a:off x="1236663" y="6073775"/>
            <a:ext cx="4487862" cy="523875"/>
          </a:xfrm>
          <a:prstGeom prst="rect">
            <a:avLst/>
          </a:prstGeom>
          <a:noFill/>
          <a:ln w="5715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sz="2800" b="1" dirty="0">
                <a:latin typeface="微软雅黑" panose="020B0503020204020204" pitchFamily="34" charset="-122"/>
                <a:ea typeface="微软雅黑" panose="020B0503020204020204" pitchFamily="34" charset="-122"/>
              </a:rPr>
              <a:t>是</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b="1" dirty="0">
                <a:latin typeface="微软雅黑" panose="020B0503020204020204" pitchFamily="34" charset="-122"/>
                <a:ea typeface="微软雅黑" panose="020B0503020204020204" pitchFamily="34" charset="-122"/>
              </a:rPr>
              <a:t>内的任意两点</a:t>
            </a:r>
            <a:r>
              <a:rPr lang="zh-CN" altLang="en-US" sz="2800" b="1" dirty="0">
                <a:latin typeface="仿宋" panose="02010609060101010101" pitchFamily="49" charset="-122"/>
                <a:ea typeface="仿宋" panose="02010609060101010101" pitchFamily="49" charset="-122"/>
              </a:rPr>
              <a:t>；</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(1)</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(2)</a:t>
            </a:r>
            <a:endParaRPr lang="zh-CN" altLang="en-US" sz="2800" b="1" dirty="0">
              <a:latin typeface="微软雅黑" panose="020B0503020204020204" pitchFamily="34" charset="-122"/>
              <a:ea typeface="微软雅黑" panose="020B0503020204020204" pitchFamily="34" charset="-122"/>
            </a:endParaRPr>
          </a:p>
        </p:txBody>
      </p:sp>
      <p:sp>
        <p:nvSpPr>
          <p:cNvPr id="17420" name="Rectangle 12"/>
          <p:cNvSpPr>
            <a:spLocks noChangeArrowheads="1"/>
          </p:cNvSpPr>
          <p:nvPr/>
        </p:nvSpPr>
        <p:spPr bwMode="auto">
          <a:xfrm>
            <a:off x="827088" y="4508500"/>
            <a:ext cx="699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solidFill>
                  <a:schemeClr val="folHlink"/>
                </a:solidFill>
                <a:latin typeface="微软雅黑" panose="020B0503020204020204" pitchFamily="34" charset="-122"/>
                <a:ea typeface="微软雅黑" panose="020B0503020204020204" pitchFamily="34" charset="-122"/>
              </a:rPr>
              <a:t>只要证明</a:t>
            </a:r>
            <a:r>
              <a:rPr lang="en-US" altLang="zh-CN" b="1" i="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b="1" i="1" dirty="0">
                <a:solidFill>
                  <a:schemeClr val="folHlink"/>
                </a:solidFill>
                <a:latin typeface="微软雅黑" panose="020B0503020204020204" pitchFamily="34" charset="-122"/>
                <a:ea typeface="微软雅黑" panose="020B0503020204020204" pitchFamily="34" charset="-122"/>
              </a:rPr>
              <a:t> </a:t>
            </a:r>
            <a:r>
              <a:rPr lang="zh-CN" altLang="en-US" b="1" dirty="0">
                <a:solidFill>
                  <a:schemeClr val="folHlink"/>
                </a:solidFill>
                <a:latin typeface="微软雅黑" panose="020B0503020204020204" pitchFamily="34" charset="-122"/>
                <a:ea typeface="微软雅黑" panose="020B0503020204020204" pitchFamily="34" charset="-122"/>
              </a:rPr>
              <a:t>中任意两点连线上的点必然在</a:t>
            </a:r>
            <a:r>
              <a:rPr lang="en-US" altLang="zh-CN" b="1" i="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b="1" i="1" dirty="0">
                <a:solidFill>
                  <a:schemeClr val="folHlink"/>
                </a:solidFill>
                <a:latin typeface="微软雅黑" panose="020B0503020204020204" pitchFamily="34" charset="-122"/>
                <a:ea typeface="微软雅黑" panose="020B0503020204020204" pitchFamily="34" charset="-122"/>
              </a:rPr>
              <a:t> </a:t>
            </a:r>
            <a:r>
              <a:rPr lang="zh-CN" altLang="en-US" b="1" dirty="0">
                <a:solidFill>
                  <a:schemeClr val="folHlink"/>
                </a:solidFill>
                <a:latin typeface="微软雅黑" panose="020B0503020204020204" pitchFamily="34" charset="-122"/>
                <a:ea typeface="微软雅黑" panose="020B0503020204020204" pitchFamily="34" charset="-122"/>
              </a:rPr>
              <a:t>内即可</a:t>
            </a:r>
          </a:p>
        </p:txBody>
      </p:sp>
      <p:sp>
        <p:nvSpPr>
          <p:cNvPr id="13" name="矩形 12"/>
          <p:cNvSpPr>
            <a:spLocks noChangeArrowheads="1"/>
          </p:cNvSpPr>
          <p:nvPr/>
        </p:nvSpPr>
        <p:spPr bwMode="auto">
          <a:xfrm>
            <a:off x="1908175" y="5084763"/>
            <a:ext cx="3832225" cy="461962"/>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baseline="30000">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baseline="30000">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a:latin typeface="Times New Roman" panose="02020603050405020304" pitchFamily="18" charset="0"/>
                <a:ea typeface="微软雅黑" panose="020B0503020204020204" pitchFamily="34" charset="-122"/>
              </a:rPr>
              <a:t>…</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i="1" baseline="-30000">
                <a:latin typeface="Times New Roman" panose="02020603050405020304" pitchFamily="18" charset="0"/>
                <a:ea typeface="微软雅黑" panose="020B0503020204020204" pitchFamily="34" charset="-122"/>
              </a:rPr>
              <a:t>n</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baseline="30000">
                <a:latin typeface="Times New Roman" panose="02020603050405020304" pitchFamily="18" charset="0"/>
                <a:ea typeface="微软雅黑" panose="020B0503020204020204" pitchFamily="34" charset="-122"/>
              </a:rPr>
              <a:t>T</a:t>
            </a:r>
            <a:endParaRPr lang="zh-CN" altLang="en-US">
              <a:ea typeface="微软雅黑" panose="020B0503020204020204" pitchFamily="34" charset="-122"/>
            </a:endParaRPr>
          </a:p>
        </p:txBody>
      </p:sp>
      <p:sp>
        <p:nvSpPr>
          <p:cNvPr id="14" name="矩形 13"/>
          <p:cNvSpPr>
            <a:spLocks noChangeArrowheads="1"/>
          </p:cNvSpPr>
          <p:nvPr/>
        </p:nvSpPr>
        <p:spPr bwMode="auto">
          <a:xfrm>
            <a:off x="1908175" y="5516563"/>
            <a:ext cx="3816350" cy="461962"/>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baseline="30000">
                <a:latin typeface="Times New Roman" panose="02020603050405020304" pitchFamily="18" charset="0"/>
                <a:ea typeface="微软雅黑" panose="020B0503020204020204" pitchFamily="34" charset="-122"/>
              </a:rPr>
              <a:t>(2)</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baseline="30000">
                <a:latin typeface="Times New Roman" panose="02020603050405020304" pitchFamily="18" charset="0"/>
                <a:ea typeface="微软雅黑" panose="020B0503020204020204" pitchFamily="34" charset="-122"/>
              </a:rPr>
              <a:t>(2)</a:t>
            </a:r>
            <a:r>
              <a:rPr lang="zh-CN" altLang="en-US" b="1">
                <a:latin typeface="仿宋" panose="02010609060101010101" pitchFamily="49" charset="-122"/>
                <a:ea typeface="仿宋" panose="02010609060101010101" pitchFamily="49" charset="-122"/>
              </a:rPr>
              <a:t>，</a:t>
            </a:r>
            <a:r>
              <a:rPr lang="en-US" altLang="zh-CN" b="1">
                <a:latin typeface="Times New Roman" panose="02020603050405020304" pitchFamily="18" charset="0"/>
                <a:ea typeface="微软雅黑" panose="020B0503020204020204" pitchFamily="34" charset="-122"/>
              </a:rPr>
              <a:t>…</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i="1" baseline="-30000">
                <a:latin typeface="Times New Roman" panose="02020603050405020304" pitchFamily="18" charset="0"/>
                <a:ea typeface="微软雅黑" panose="020B0503020204020204" pitchFamily="34" charset="-122"/>
              </a:rPr>
              <a:t>n</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baseline="30000">
                <a:latin typeface="Times New Roman" panose="02020603050405020304" pitchFamily="18" charset="0"/>
                <a:ea typeface="微软雅黑" panose="020B0503020204020204" pitchFamily="34" charset="-122"/>
              </a:rPr>
              <a:t>T</a:t>
            </a:r>
            <a:endParaRPr lang="zh-CN" altLang="en-US">
              <a:ea typeface="微软雅黑" panose="020B0503020204020204" pitchFamily="34" charset="-122"/>
            </a:endParaRPr>
          </a:p>
        </p:txBody>
      </p:sp>
      <p:sp>
        <p:nvSpPr>
          <p:cNvPr id="15" name="矩形 14"/>
          <p:cNvSpPr>
            <a:spLocks noChangeArrowheads="1"/>
          </p:cNvSpPr>
          <p:nvPr/>
        </p:nvSpPr>
        <p:spPr bwMode="auto">
          <a:xfrm>
            <a:off x="2268538" y="3119438"/>
            <a:ext cx="4606925" cy="909637"/>
          </a:xfrm>
          <a:prstGeom prst="rect">
            <a:avLst/>
          </a:prstGeom>
          <a:noFill/>
          <a:ln w="57150" algn="ctr">
            <a:solidFill>
              <a:srgbClr val="0066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2" name="对象 1"/>
          <p:cNvGraphicFramePr>
            <a:graphicFrameLocks noChangeAspect="1"/>
          </p:cNvGraphicFramePr>
          <p:nvPr/>
        </p:nvGraphicFramePr>
        <p:xfrm>
          <a:off x="2400300" y="3094038"/>
          <a:ext cx="4341813" cy="868362"/>
        </p:xfrm>
        <a:graphic>
          <a:graphicData uri="http://schemas.openxmlformats.org/presentationml/2006/ole">
            <mc:AlternateContent xmlns:mc="http://schemas.openxmlformats.org/markup-compatibility/2006">
              <mc:Choice xmlns:v="urn:schemas-microsoft-com:vml" Requires="v">
                <p:oleObj spid="_x0000_s42073" name="Equation" r:id="rId5" imgW="1968500" imgH="393700" progId="Equation.DSMT4">
                  <p:embed/>
                </p:oleObj>
              </mc:Choice>
              <mc:Fallback>
                <p:oleObj name="Equation" r:id="rId5" imgW="1968500" imgH="3937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0300" y="3094038"/>
                        <a:ext cx="4341813"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灯片编号占位符 2"/>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89</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dissolve">
                                      <p:cBhvr>
                                        <p:cTn id="7" dur="500"/>
                                        <p:tgtEl>
                                          <p:spTgt spid="17412"/>
                                        </p:tgtEl>
                                      </p:cBhvr>
                                    </p:animEffect>
                                  </p:childTnLst>
                                </p:cTn>
                              </p:par>
                              <p:par>
                                <p:cTn id="8" presetID="9" presetClass="entr" presetSubtype="0" fill="hold" nodeType="withEffect">
                                  <p:stCondLst>
                                    <p:cond delay="0"/>
                                  </p:stCondLst>
                                  <p:childTnLst>
                                    <p:set>
                                      <p:cBhvr>
                                        <p:cTn id="9" dur="1" fill="hold">
                                          <p:stCondLst>
                                            <p:cond delay="0"/>
                                          </p:stCondLst>
                                        </p:cTn>
                                        <p:tgtEl>
                                          <p:spTgt spid="17413"/>
                                        </p:tgtEl>
                                        <p:attrNameLst>
                                          <p:attrName>style.visibility</p:attrName>
                                        </p:attrNameLst>
                                      </p:cBhvr>
                                      <p:to>
                                        <p:strVal val="visible"/>
                                      </p:to>
                                    </p:set>
                                    <p:animEffect transition="in" filter="dissolve">
                                      <p:cBhvr>
                                        <p:cTn id="10" dur="500"/>
                                        <p:tgtEl>
                                          <p:spTgt spid="1741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7410"/>
                                        </p:tgtEl>
                                        <p:attrNameLst>
                                          <p:attrName>style.visibility</p:attrName>
                                        </p:attrNameLst>
                                      </p:cBhvr>
                                      <p:to>
                                        <p:strVal val="visible"/>
                                      </p:to>
                                    </p:set>
                                    <p:animEffect transition="in" filter="dissolve">
                                      <p:cBhvr>
                                        <p:cTn id="13" dur="500"/>
                                        <p:tgtEl>
                                          <p:spTgt spid="174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7414"/>
                                        </p:tgtEl>
                                        <p:attrNameLst>
                                          <p:attrName>style.visibility</p:attrName>
                                        </p:attrNameLst>
                                      </p:cBhvr>
                                      <p:to>
                                        <p:strVal val="visible"/>
                                      </p:to>
                                    </p:set>
                                    <p:animEffect transition="in" filter="blinds(horizontal)">
                                      <p:cBhvr>
                                        <p:cTn id="18" dur="500"/>
                                        <p:tgtEl>
                                          <p:spTgt spid="1741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7415"/>
                                        </p:tgtEl>
                                        <p:attrNameLst>
                                          <p:attrName>style.visibility</p:attrName>
                                        </p:attrNameLst>
                                      </p:cBhvr>
                                      <p:to>
                                        <p:strVal val="visible"/>
                                      </p:to>
                                    </p:set>
                                    <p:animEffect transition="in" filter="blinds(horizontal)">
                                      <p:cBhvr>
                                        <p:cTn id="21" dur="500"/>
                                        <p:tgtEl>
                                          <p:spTgt spid="174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20"/>
                                        </p:tgtEl>
                                        <p:attrNameLst>
                                          <p:attrName>style.visibility</p:attrName>
                                        </p:attrNameLst>
                                      </p:cBhvr>
                                      <p:to>
                                        <p:strVal val="visible"/>
                                      </p:to>
                                    </p:set>
                                    <p:animEffect transition="in" filter="blinds(horizontal)">
                                      <p:cBhvr>
                                        <p:cTn id="32" dur="500"/>
                                        <p:tgtEl>
                                          <p:spTgt spid="1742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8"/>
                                        </p:tgtEl>
                                        <p:attrNameLst>
                                          <p:attrName>style.visibility</p:attrName>
                                        </p:attrNameLst>
                                      </p:cBhvr>
                                      <p:to>
                                        <p:strVal val="visible"/>
                                      </p:to>
                                    </p:set>
                                    <p:animEffect transition="in" filter="blinds(horizontal)">
                                      <p:cBhvr>
                                        <p:cTn id="37" dur="500"/>
                                        <p:tgtEl>
                                          <p:spTgt spid="17418"/>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linds(horizontal)">
                                      <p:cBhvr>
                                        <p:cTn id="43" dur="500"/>
                                        <p:tgtEl>
                                          <p:spTgt spid="1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7419"/>
                                        </p:tgtEl>
                                        <p:attrNameLst>
                                          <p:attrName>style.visibility</p:attrName>
                                        </p:attrNameLst>
                                      </p:cBhvr>
                                      <p:to>
                                        <p:strVal val="visible"/>
                                      </p:to>
                                    </p:set>
                                    <p:animEffect transition="in" filter="blinds(horizontal)">
                                      <p:cBhvr>
                                        <p:cTn id="46" dur="500"/>
                                        <p:tgtEl>
                                          <p:spTgt spid="17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12" grpId="0" animBg="1" autoUpdateAnimBg="0"/>
      <p:bldP spid="17414" grpId="0" autoUpdateAnimBg="0"/>
      <p:bldP spid="17415" grpId="0" autoUpdateAnimBg="0"/>
      <p:bldP spid="17418" grpId="0"/>
      <p:bldP spid="17419" grpId="0" animBg="1"/>
      <p:bldP spid="17420" grpId="0" autoUpdateAnimBg="0"/>
      <p:bldP spid="13" grpId="0" animBg="1"/>
      <p:bldP spid="14" grpId="0" animBg="1"/>
      <p:bldP spid="1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23850" y="92075"/>
            <a:ext cx="107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a:ea typeface="微软雅黑" panose="020B0503020204020204" pitchFamily="34" charset="-122"/>
              </a:rPr>
              <a:t>则有</a:t>
            </a:r>
          </a:p>
        </p:txBody>
      </p:sp>
      <p:sp>
        <p:nvSpPr>
          <p:cNvPr id="18436" name="Rectangle 4"/>
          <p:cNvSpPr>
            <a:spLocks noChangeArrowheads="1"/>
          </p:cNvSpPr>
          <p:nvPr/>
        </p:nvSpPr>
        <p:spPr bwMode="auto">
          <a:xfrm>
            <a:off x="0" y="1676400"/>
            <a:ext cx="91440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Times New Roman" panose="02020603050405020304" pitchFamily="18" charset="0"/>
                <a:ea typeface="微软雅黑" panose="020B0503020204020204" pitchFamily="34" charset="-122"/>
              </a:rPr>
              <a:t>令</a:t>
            </a:r>
            <a:r>
              <a:rPr lang="en-US" altLang="zh-CN" b="1" i="1" dirty="0">
                <a:latin typeface="Times New Roman" panose="02020603050405020304" pitchFamily="18" charset="0"/>
                <a:ea typeface="微软雅黑" panose="020B0503020204020204" pitchFamily="34" charset="-122"/>
              </a:rPr>
              <a:t>x</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zh-CN" altLang="en-US" b="1" dirty="0">
                <a:latin typeface="仿宋" panose="02010609060101010101" pitchFamily="49" charset="-122"/>
                <a:ea typeface="仿宋" panose="02010609060101010101" pitchFamily="49"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a:t>
            </a:r>
            <a:r>
              <a:rPr lang="zh-CN" altLang="en-US" b="1" dirty="0">
                <a:latin typeface="仿宋" panose="02010609060101010101" pitchFamily="49" charset="-122"/>
                <a:ea typeface="仿宋" panose="02010609060101010101" pitchFamily="49" charset="-122"/>
              </a:rPr>
              <a:t>，</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n</a:t>
            </a:r>
            <a:r>
              <a:rPr lang="en-US" altLang="zh-CN" b="1" dirty="0">
                <a:latin typeface="Times New Roman" panose="02020603050405020304" pitchFamily="18" charset="0"/>
                <a:ea typeface="微软雅黑" panose="020B0503020204020204" pitchFamily="34" charset="-122"/>
              </a:rPr>
              <a:t>)</a:t>
            </a:r>
            <a:r>
              <a:rPr lang="en-US" altLang="zh-CN" b="1" baseline="30000" dirty="0">
                <a:latin typeface="Times New Roman" panose="02020603050405020304" pitchFamily="18" charset="0"/>
                <a:ea typeface="微软雅黑" panose="020B0503020204020204" pitchFamily="34" charset="-122"/>
              </a:rPr>
              <a:t>T</a:t>
            </a:r>
            <a:r>
              <a:rPr lang="zh-CN" altLang="en-US" b="1" dirty="0">
                <a:latin typeface="Times New Roman" panose="02020603050405020304" pitchFamily="18" charset="0"/>
                <a:ea typeface="微软雅黑" panose="020B0503020204020204" pitchFamily="34" charset="-122"/>
              </a:rPr>
              <a:t>为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 </a:t>
            </a:r>
            <a:r>
              <a:rPr lang="zh-CN" altLang="en-US" b="1" dirty="0">
                <a:latin typeface="Times New Roman" panose="02020603050405020304" pitchFamily="18" charset="0"/>
                <a:ea typeface="微软雅黑" panose="020B0503020204020204" pitchFamily="34" charset="-122"/>
              </a:rPr>
              <a:t>连线上的任意一点</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即</a:t>
            </a:r>
          </a:p>
        </p:txBody>
      </p:sp>
      <p:graphicFrame>
        <p:nvGraphicFramePr>
          <p:cNvPr id="18437" name="Object 5"/>
          <p:cNvGraphicFramePr>
            <a:graphicFrameLocks noChangeAspect="1"/>
          </p:cNvGraphicFramePr>
          <p:nvPr/>
        </p:nvGraphicFramePr>
        <p:xfrm>
          <a:off x="1692275" y="3343275"/>
          <a:ext cx="3167063" cy="638175"/>
        </p:xfrm>
        <a:graphic>
          <a:graphicData uri="http://schemas.openxmlformats.org/presentationml/2006/ole">
            <mc:AlternateContent xmlns:mc="http://schemas.openxmlformats.org/markup-compatibility/2006">
              <mc:Choice xmlns:v="urn:schemas-microsoft-com:vml" Requires="v">
                <p:oleObj spid="_x0000_s43264" name="Equation" r:id="rId3" imgW="1345565" imgH="266700" progId="Equation.DSMT4">
                  <p:embed/>
                </p:oleObj>
              </mc:Choice>
              <mc:Fallback>
                <p:oleObj name="Equation" r:id="rId3" imgW="1345565" imgH="266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3343275"/>
                        <a:ext cx="3167063" cy="638175"/>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8" name="Rectangle 6"/>
          <p:cNvSpPr>
            <a:spLocks noChangeArrowheads="1"/>
          </p:cNvSpPr>
          <p:nvPr/>
        </p:nvSpPr>
        <p:spPr bwMode="auto">
          <a:xfrm>
            <a:off x="0" y="4005263"/>
            <a:ext cx="91440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将它代入约束条件</a:t>
            </a:r>
            <a:r>
              <a:rPr lang="zh-CN" altLang="en-US" b="1">
                <a:latin typeface="仿宋" panose="02010609060101010101" pitchFamily="49" charset="-122"/>
                <a:ea typeface="仿宋" panose="02010609060101010101" pitchFamily="49" charset="-122"/>
              </a:rPr>
              <a:t>，</a:t>
            </a:r>
            <a:r>
              <a:rPr lang="zh-CN" altLang="en-US" b="1">
                <a:ea typeface="微软雅黑" panose="020B0503020204020204" pitchFamily="34" charset="-122"/>
              </a:rPr>
              <a:t>得到</a:t>
            </a:r>
          </a:p>
        </p:txBody>
      </p:sp>
      <p:graphicFrame>
        <p:nvGraphicFramePr>
          <p:cNvPr id="18439" name="Object 7"/>
          <p:cNvGraphicFramePr>
            <a:graphicFrameLocks noChangeAspect="1"/>
          </p:cNvGraphicFramePr>
          <p:nvPr/>
        </p:nvGraphicFramePr>
        <p:xfrm>
          <a:off x="1690688" y="2205038"/>
          <a:ext cx="5041900" cy="576262"/>
        </p:xfrm>
        <a:graphic>
          <a:graphicData uri="http://schemas.openxmlformats.org/presentationml/2006/ole">
            <mc:AlternateContent xmlns:mc="http://schemas.openxmlformats.org/markup-compatibility/2006">
              <mc:Choice xmlns:v="urn:schemas-microsoft-com:vml" Requires="v">
                <p:oleObj spid="_x0000_s43265" name="Equation" r:id="rId5" imgW="2134235" imgH="279400" progId="Equation.DSMT4">
                  <p:embed/>
                </p:oleObj>
              </mc:Choice>
              <mc:Fallback>
                <p:oleObj name="Equation" r:id="rId5" imgW="2134235" imgH="2794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0688" y="2205038"/>
                        <a:ext cx="5041900" cy="576262"/>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0" name="Rectangle 8"/>
          <p:cNvSpPr>
            <a:spLocks noChangeArrowheads="1"/>
          </p:cNvSpPr>
          <p:nvPr/>
        </p:nvSpPr>
        <p:spPr bwMode="auto">
          <a:xfrm>
            <a:off x="0" y="2852738"/>
            <a:ext cx="91440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i="1" dirty="0">
                <a:latin typeface="Times New Roman" panose="02020603050405020304" pitchFamily="18" charset="0"/>
                <a:ea typeface="微软雅黑" panose="020B0503020204020204" pitchFamily="34" charset="-122"/>
              </a:rPr>
              <a:t>x</a:t>
            </a:r>
            <a:r>
              <a:rPr lang="zh-CN" altLang="en-US" b="1" dirty="0">
                <a:ea typeface="微软雅黑" panose="020B0503020204020204" pitchFamily="34" charset="-122"/>
              </a:rPr>
              <a:t>的每一个分量是</a:t>
            </a:r>
          </a:p>
        </p:txBody>
      </p:sp>
      <p:graphicFrame>
        <p:nvGraphicFramePr>
          <p:cNvPr id="18441" name="Object 9"/>
          <p:cNvGraphicFramePr>
            <a:graphicFrameLocks noChangeAspect="1"/>
          </p:cNvGraphicFramePr>
          <p:nvPr/>
        </p:nvGraphicFramePr>
        <p:xfrm>
          <a:off x="346075" y="4508500"/>
          <a:ext cx="8378825" cy="1327150"/>
        </p:xfrm>
        <a:graphic>
          <a:graphicData uri="http://schemas.openxmlformats.org/presentationml/2006/ole">
            <mc:AlternateContent xmlns:mc="http://schemas.openxmlformats.org/markup-compatibility/2006">
              <mc:Choice xmlns:v="urn:schemas-microsoft-com:vml" Requires="v">
                <p:oleObj spid="_x0000_s43266" name="Equation" r:id="rId7" imgW="4330700" imgH="685800" progId="Equation.DSMT4">
                  <p:embed/>
                </p:oleObj>
              </mc:Choice>
              <mc:Fallback>
                <p:oleObj name="Equation" r:id="rId7" imgW="4330700" imgH="6858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075" y="4508500"/>
                        <a:ext cx="8378825" cy="1327150"/>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
        <p:nvSpPr>
          <p:cNvPr id="18442" name="Rectangle 10"/>
          <p:cNvSpPr>
            <a:spLocks noChangeArrowheads="1"/>
          </p:cNvSpPr>
          <p:nvPr/>
        </p:nvSpPr>
        <p:spPr bwMode="auto">
          <a:xfrm>
            <a:off x="0" y="5876925"/>
            <a:ext cx="91440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又因</a:t>
            </a:r>
          </a:p>
        </p:txBody>
      </p:sp>
      <p:graphicFrame>
        <p:nvGraphicFramePr>
          <p:cNvPr id="18443" name="Object 11"/>
          <p:cNvGraphicFramePr>
            <a:graphicFrameLocks noChangeAspect="1"/>
          </p:cNvGraphicFramePr>
          <p:nvPr/>
        </p:nvGraphicFramePr>
        <p:xfrm>
          <a:off x="763588" y="5902325"/>
          <a:ext cx="2836863" cy="465137"/>
        </p:xfrm>
        <a:graphic>
          <a:graphicData uri="http://schemas.openxmlformats.org/presentationml/2006/ole">
            <mc:AlternateContent xmlns:mc="http://schemas.openxmlformats.org/markup-compatibility/2006">
              <mc:Choice xmlns:v="urn:schemas-microsoft-com:vml" Requires="v">
                <p:oleObj spid="_x0000_s43267" name="Equation" r:id="rId9" imgW="1651000" imgH="266700" progId="Equation.DSMT4">
                  <p:embed/>
                </p:oleObj>
              </mc:Choice>
              <mc:Fallback>
                <p:oleObj name="Equation" r:id="rId9" imgW="1651000" imgH="2667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3588" y="5902325"/>
                        <a:ext cx="2836863" cy="465137"/>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4" name="Rectangle 12"/>
          <p:cNvSpPr>
            <a:spLocks noChangeArrowheads="1"/>
          </p:cNvSpPr>
          <p:nvPr/>
        </p:nvSpPr>
        <p:spPr bwMode="auto">
          <a:xfrm>
            <a:off x="3575772" y="5886451"/>
            <a:ext cx="4740131"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所以</a:t>
            </a:r>
            <a:endParaRPr lang="zh-CN" altLang="en-US" dirty="0">
              <a:ea typeface="微软雅黑" panose="020B0503020204020204" pitchFamily="34" charset="-122"/>
            </a:endParaRPr>
          </a:p>
        </p:txBody>
      </p:sp>
      <p:sp>
        <p:nvSpPr>
          <p:cNvPr id="18445" name="Rectangle 13"/>
          <p:cNvSpPr>
            <a:spLocks noChangeArrowheads="1"/>
          </p:cNvSpPr>
          <p:nvPr/>
        </p:nvSpPr>
        <p:spPr bwMode="auto">
          <a:xfrm>
            <a:off x="0" y="6308725"/>
            <a:ext cx="9144000" cy="457200"/>
          </a:xfrm>
          <a:prstGeom prst="rect">
            <a:avLst/>
          </a:prstGeom>
          <a:solidFill>
            <a:srgbClr val="EDF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由此可见 </a:t>
            </a:r>
            <a:r>
              <a:rPr lang="en-US" altLang="zh-CN" b="1"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err="1">
                <a:latin typeface="微软雅黑" panose="020B0503020204020204" pitchFamily="34" charset="-122"/>
                <a:ea typeface="微软雅黑" panose="020B0503020204020204" pitchFamily="34" charset="-122"/>
              </a:rPr>
              <a:t>∈</a:t>
            </a:r>
            <a:r>
              <a:rPr lang="en-US" altLang="zh-CN" b="1" i="1" dirty="0" err="1">
                <a:latin typeface="Times New Roman" panose="02020603050405020304" pitchFamily="18" charset="0"/>
                <a:cs typeface="Times New Roman" panose="02020603050405020304" pitchFamily="18" charset="0"/>
              </a:rPr>
              <a:t>D</a:t>
            </a:r>
            <a:r>
              <a:rPr lang="zh-CN" altLang="en-US" b="1" dirty="0">
                <a:latin typeface="仿宋" panose="02010609060101010101" pitchFamily="49" charset="-122"/>
                <a:ea typeface="仿宋" panose="02010609060101010101" pitchFamily="49" charset="-122"/>
              </a:rPr>
              <a:t>，</a:t>
            </a:r>
            <a:r>
              <a:rPr lang="en-US" altLang="zh-CN" b="1" i="1" dirty="0">
                <a:latin typeface="Times New Roman" panose="02020603050405020304" pitchFamily="18" charset="0"/>
                <a:cs typeface="Times New Roman" panose="02020603050405020304" pitchFamily="18" charset="0"/>
              </a:rPr>
              <a:t>D</a:t>
            </a:r>
            <a:r>
              <a:rPr lang="zh-CN" altLang="en-US" b="1" dirty="0">
                <a:latin typeface="微软雅黑" panose="020B0503020204020204" pitchFamily="34" charset="-122"/>
                <a:ea typeface="微软雅黑" panose="020B0503020204020204" pitchFamily="34" charset="-122"/>
              </a:rPr>
              <a:t>是凸集</a:t>
            </a:r>
          </a:p>
        </p:txBody>
      </p:sp>
      <p:graphicFrame>
        <p:nvGraphicFramePr>
          <p:cNvPr id="37901" name="对象 1"/>
          <p:cNvGraphicFramePr/>
          <p:nvPr/>
        </p:nvGraphicFramePr>
        <p:xfrm>
          <a:off x="2671763" y="53975"/>
          <a:ext cx="3800475" cy="1473200"/>
        </p:xfrm>
        <a:graphic>
          <a:graphicData uri="http://schemas.openxmlformats.org/presentationml/2006/ole">
            <mc:AlternateContent xmlns:mc="http://schemas.openxmlformats.org/markup-compatibility/2006">
              <mc:Choice xmlns:v="urn:schemas-microsoft-com:vml" Requires="v">
                <p:oleObj spid="_x0000_s43268" name="Equation" r:id="rId11" imgW="2032000" imgH="787400" progId="Equation.DSMT4">
                  <p:embed/>
                </p:oleObj>
              </mc:Choice>
              <mc:Fallback>
                <p:oleObj name="Equation" r:id="rId11" imgW="2032000" imgH="787400" progId="Equation.DSMT4">
                  <p:embed/>
                  <p:pic>
                    <p:nvPicPr>
                      <p:cNvPr id="0" name="对象 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1763" y="53975"/>
                        <a:ext cx="3800475"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2" name="矩形 14"/>
          <p:cNvSpPr/>
          <p:nvPr/>
        </p:nvSpPr>
        <p:spPr bwMode="auto">
          <a:xfrm>
            <a:off x="2671763" y="53975"/>
            <a:ext cx="3800475" cy="1473200"/>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7" name="Object 11"/>
          <p:cNvGraphicFramePr>
            <a:graphicFrameLocks noChangeAspect="1"/>
          </p:cNvGraphicFramePr>
          <p:nvPr/>
        </p:nvGraphicFramePr>
        <p:xfrm>
          <a:off x="4661912" y="5913437"/>
          <a:ext cx="2073275" cy="420688"/>
        </p:xfrm>
        <a:graphic>
          <a:graphicData uri="http://schemas.openxmlformats.org/presentationml/2006/ole">
            <mc:AlternateContent xmlns:mc="http://schemas.openxmlformats.org/markup-compatibility/2006">
              <mc:Choice xmlns:v="urn:schemas-microsoft-com:vml" Requires="v">
                <p:oleObj spid="_x0000_s43269" name="Equation" r:id="rId13" imgW="1206500" imgH="241300" progId="Equation.DSMT4">
                  <p:embed/>
                </p:oleObj>
              </mc:Choice>
              <mc:Fallback>
                <p:oleObj name="Equation" r:id="rId13" imgW="1206500" imgH="24130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61912" y="5913437"/>
                        <a:ext cx="2073275" cy="42068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90</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blinds(horizontal)">
                                      <p:cBhvr>
                                        <p:cTn id="7" dur="500"/>
                                        <p:tgtEl>
                                          <p:spTgt spid="18436"/>
                                        </p:tgtEl>
                                      </p:cBhvr>
                                    </p:animEffect>
                                  </p:childTnLst>
                                </p:cTn>
                              </p:par>
                              <p:par>
                                <p:cTn id="8" presetID="3" presetClass="entr" presetSubtype="10" fill="hold" nodeType="withEffect">
                                  <p:stCondLst>
                                    <p:cond delay="0"/>
                                  </p:stCondLst>
                                  <p:childTnLst>
                                    <p:set>
                                      <p:cBhvr>
                                        <p:cTn id="9" dur="1" fill="hold">
                                          <p:stCondLst>
                                            <p:cond delay="0"/>
                                          </p:stCondLst>
                                        </p:cTn>
                                        <p:tgtEl>
                                          <p:spTgt spid="18439"/>
                                        </p:tgtEl>
                                        <p:attrNameLst>
                                          <p:attrName>style.visibility</p:attrName>
                                        </p:attrNameLst>
                                      </p:cBhvr>
                                      <p:to>
                                        <p:strVal val="visible"/>
                                      </p:to>
                                    </p:set>
                                    <p:animEffect transition="in" filter="blinds(horizontal)">
                                      <p:cBhvr>
                                        <p:cTn id="10" dur="500"/>
                                        <p:tgtEl>
                                          <p:spTgt spid="1843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440"/>
                                        </p:tgtEl>
                                        <p:attrNameLst>
                                          <p:attrName>style.visibility</p:attrName>
                                        </p:attrNameLst>
                                      </p:cBhvr>
                                      <p:to>
                                        <p:strVal val="visible"/>
                                      </p:to>
                                    </p:set>
                                    <p:animEffect transition="in" filter="blinds(horizontal)">
                                      <p:cBhvr>
                                        <p:cTn id="15" dur="500"/>
                                        <p:tgtEl>
                                          <p:spTgt spid="18440"/>
                                        </p:tgtEl>
                                      </p:cBhvr>
                                    </p:animEffect>
                                  </p:childTnLst>
                                </p:cTn>
                              </p:par>
                              <p:par>
                                <p:cTn id="16" presetID="3" presetClass="entr" presetSubtype="10" fill="hold" nodeType="withEffect">
                                  <p:stCondLst>
                                    <p:cond delay="0"/>
                                  </p:stCondLst>
                                  <p:childTnLst>
                                    <p:set>
                                      <p:cBhvr>
                                        <p:cTn id="17" dur="1" fill="hold">
                                          <p:stCondLst>
                                            <p:cond delay="0"/>
                                          </p:stCondLst>
                                        </p:cTn>
                                        <p:tgtEl>
                                          <p:spTgt spid="18437"/>
                                        </p:tgtEl>
                                        <p:attrNameLst>
                                          <p:attrName>style.visibility</p:attrName>
                                        </p:attrNameLst>
                                      </p:cBhvr>
                                      <p:to>
                                        <p:strVal val="visible"/>
                                      </p:to>
                                    </p:set>
                                    <p:animEffect transition="in" filter="blinds(horizontal)">
                                      <p:cBhvr>
                                        <p:cTn id="18" dur="500"/>
                                        <p:tgtEl>
                                          <p:spTgt spid="1843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438"/>
                                        </p:tgtEl>
                                        <p:attrNameLst>
                                          <p:attrName>style.visibility</p:attrName>
                                        </p:attrNameLst>
                                      </p:cBhvr>
                                      <p:to>
                                        <p:strVal val="visible"/>
                                      </p:to>
                                    </p:set>
                                    <p:animEffect transition="in" filter="blinds(horizontal)">
                                      <p:cBhvr>
                                        <p:cTn id="23" dur="500"/>
                                        <p:tgtEl>
                                          <p:spTgt spid="18438"/>
                                        </p:tgtEl>
                                      </p:cBhvr>
                                    </p:animEffect>
                                  </p:childTnLst>
                                </p:cTn>
                              </p:par>
                              <p:par>
                                <p:cTn id="24" presetID="3" presetClass="entr" presetSubtype="10" fill="hold" nodeType="withEffect">
                                  <p:stCondLst>
                                    <p:cond delay="0"/>
                                  </p:stCondLst>
                                  <p:childTnLst>
                                    <p:set>
                                      <p:cBhvr>
                                        <p:cTn id="25" dur="1" fill="hold">
                                          <p:stCondLst>
                                            <p:cond delay="0"/>
                                          </p:stCondLst>
                                        </p:cTn>
                                        <p:tgtEl>
                                          <p:spTgt spid="18441"/>
                                        </p:tgtEl>
                                        <p:attrNameLst>
                                          <p:attrName>style.visibility</p:attrName>
                                        </p:attrNameLst>
                                      </p:cBhvr>
                                      <p:to>
                                        <p:strVal val="visible"/>
                                      </p:to>
                                    </p:set>
                                    <p:animEffect transition="in" filter="blinds(horizontal)">
                                      <p:cBhvr>
                                        <p:cTn id="26" dur="500"/>
                                        <p:tgtEl>
                                          <p:spTgt spid="1844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8442"/>
                                        </p:tgtEl>
                                        <p:attrNameLst>
                                          <p:attrName>style.visibility</p:attrName>
                                        </p:attrNameLst>
                                      </p:cBhvr>
                                      <p:to>
                                        <p:strVal val="visible"/>
                                      </p:to>
                                    </p:set>
                                    <p:animEffect transition="in" filter="blinds(horizontal)">
                                      <p:cBhvr>
                                        <p:cTn id="31" dur="500"/>
                                        <p:tgtEl>
                                          <p:spTgt spid="18442"/>
                                        </p:tgtEl>
                                      </p:cBhvr>
                                    </p:animEffect>
                                  </p:childTnLst>
                                </p:cTn>
                              </p:par>
                              <p:par>
                                <p:cTn id="32" presetID="3" presetClass="entr" presetSubtype="10" fill="hold" nodeType="withEffect">
                                  <p:stCondLst>
                                    <p:cond delay="0"/>
                                  </p:stCondLst>
                                  <p:childTnLst>
                                    <p:set>
                                      <p:cBhvr>
                                        <p:cTn id="33" dur="1" fill="hold">
                                          <p:stCondLst>
                                            <p:cond delay="0"/>
                                          </p:stCondLst>
                                        </p:cTn>
                                        <p:tgtEl>
                                          <p:spTgt spid="18443"/>
                                        </p:tgtEl>
                                        <p:attrNameLst>
                                          <p:attrName>style.visibility</p:attrName>
                                        </p:attrNameLst>
                                      </p:cBhvr>
                                      <p:to>
                                        <p:strVal val="visible"/>
                                      </p:to>
                                    </p:set>
                                    <p:animEffect transition="in" filter="blinds(horizontal)">
                                      <p:cBhvr>
                                        <p:cTn id="34" dur="500"/>
                                        <p:tgtEl>
                                          <p:spTgt spid="1844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8444"/>
                                        </p:tgtEl>
                                        <p:attrNameLst>
                                          <p:attrName>style.visibility</p:attrName>
                                        </p:attrNameLst>
                                      </p:cBhvr>
                                      <p:to>
                                        <p:strVal val="visible"/>
                                      </p:to>
                                    </p:set>
                                    <p:animEffect transition="in" filter="blinds(horizontal)">
                                      <p:cBhvr>
                                        <p:cTn id="37" dur="500"/>
                                        <p:tgtEl>
                                          <p:spTgt spid="18444"/>
                                        </p:tgtEl>
                                      </p:cBhvr>
                                    </p:animEffect>
                                  </p:childTnLst>
                                </p:cTn>
                              </p:par>
                              <p:par>
                                <p:cTn id="38" presetID="3" presetClass="entr" presetSubtype="1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linds(horizontal)">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8445"/>
                                        </p:tgtEl>
                                        <p:attrNameLst>
                                          <p:attrName>style.visibility</p:attrName>
                                        </p:attrNameLst>
                                      </p:cBhvr>
                                      <p:to>
                                        <p:strVal val="visible"/>
                                      </p:to>
                                    </p:set>
                                    <p:animEffect transition="in" filter="blinds(horizontal)">
                                      <p:cBhvr>
                                        <p:cTn id="45" dur="500"/>
                                        <p:tgtEl>
                                          <p:spTgt spid="18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autoUpdateAnimBg="0"/>
      <p:bldP spid="18438" grpId="0" animBg="1" autoUpdateAnimBg="0"/>
      <p:bldP spid="18440" grpId="0" animBg="1" autoUpdateAnimBg="0"/>
      <p:bldP spid="18442" grpId="0" animBg="1" autoUpdateAnimBg="0"/>
      <p:bldP spid="18444" grpId="0" animBg="1" autoUpdateAnimBg="0"/>
      <p:bldP spid="18445"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Line 9"/>
          <p:cNvSpPr>
            <a:spLocks noChangeShapeType="1"/>
          </p:cNvSpPr>
          <p:nvPr/>
        </p:nvSpPr>
        <p:spPr bwMode="auto">
          <a:xfrm>
            <a:off x="1905000" y="5257800"/>
            <a:ext cx="65532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5" name="Line 10"/>
          <p:cNvSpPr>
            <a:spLocks noChangeShapeType="1"/>
          </p:cNvSpPr>
          <p:nvPr/>
        </p:nvSpPr>
        <p:spPr bwMode="auto">
          <a:xfrm flipV="1">
            <a:off x="2590800" y="457200"/>
            <a:ext cx="0" cy="5334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11"/>
          <p:cNvSpPr>
            <a:spLocks noChangeShapeType="1"/>
          </p:cNvSpPr>
          <p:nvPr/>
        </p:nvSpPr>
        <p:spPr bwMode="auto">
          <a:xfrm flipV="1">
            <a:off x="3581400" y="3773488"/>
            <a:ext cx="2209800" cy="6096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12"/>
          <p:cNvSpPr>
            <a:spLocks noChangeShapeType="1"/>
          </p:cNvSpPr>
          <p:nvPr/>
        </p:nvSpPr>
        <p:spPr bwMode="auto">
          <a:xfrm>
            <a:off x="5791200" y="3773488"/>
            <a:ext cx="1143000" cy="25908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13"/>
          <p:cNvSpPr>
            <a:spLocks noChangeShapeType="1"/>
          </p:cNvSpPr>
          <p:nvPr/>
        </p:nvSpPr>
        <p:spPr bwMode="auto">
          <a:xfrm>
            <a:off x="3581400" y="4383088"/>
            <a:ext cx="3352800" cy="19812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52" name="Text Box 16"/>
          <p:cNvSpPr txBox="1">
            <a:spLocks noChangeArrowheads="1"/>
          </p:cNvSpPr>
          <p:nvPr/>
        </p:nvSpPr>
        <p:spPr bwMode="auto">
          <a:xfrm>
            <a:off x="2971800" y="4002088"/>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(1)</a:t>
            </a:r>
            <a:endParaRPr lang="en-US" altLang="zh-CN" b="1" dirty="0">
              <a:effectLst>
                <a:outerShdw blurRad="38100" dist="38100" dir="2700000" algn="tl">
                  <a:srgbClr val="C0C0C0"/>
                </a:outerShdw>
              </a:effectLst>
              <a:ea typeface="微软雅黑" panose="020B0503020204020204" pitchFamily="34" charset="-122"/>
            </a:endParaRPr>
          </a:p>
        </p:txBody>
      </p:sp>
      <p:sp>
        <p:nvSpPr>
          <p:cNvPr id="91153" name="Text Box 17"/>
          <p:cNvSpPr txBox="1">
            <a:spLocks noChangeArrowheads="1"/>
          </p:cNvSpPr>
          <p:nvPr/>
        </p:nvSpPr>
        <p:spPr bwMode="auto">
          <a:xfrm>
            <a:off x="5638800" y="3316288"/>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(2)</a:t>
            </a:r>
            <a:endParaRPr lang="en-US" altLang="zh-CN" b="1" dirty="0">
              <a:effectLst>
                <a:outerShdw blurRad="38100" dist="38100" dir="2700000" algn="tl">
                  <a:srgbClr val="C0C0C0"/>
                </a:outerShdw>
              </a:effectLst>
              <a:ea typeface="微软雅黑" panose="020B0503020204020204" pitchFamily="34" charset="-122"/>
            </a:endParaRPr>
          </a:p>
        </p:txBody>
      </p:sp>
      <p:sp>
        <p:nvSpPr>
          <p:cNvPr id="91154" name="Text Box 18"/>
          <p:cNvSpPr txBox="1">
            <a:spLocks noChangeArrowheads="1"/>
          </p:cNvSpPr>
          <p:nvPr/>
        </p:nvSpPr>
        <p:spPr bwMode="auto">
          <a:xfrm>
            <a:off x="6934200" y="6211888"/>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a:t>
            </a:r>
            <a:endParaRPr lang="en-US" altLang="zh-CN" b="1" dirty="0">
              <a:effectLst>
                <a:outerShdw blurRad="38100" dist="38100" dir="2700000" algn="tl">
                  <a:srgbClr val="C0C0C0"/>
                </a:outerShdw>
              </a:effectLst>
              <a:ea typeface="微软雅黑" panose="020B0503020204020204" pitchFamily="34" charset="-122"/>
            </a:endParaRPr>
          </a:p>
        </p:txBody>
      </p:sp>
      <p:sp>
        <p:nvSpPr>
          <p:cNvPr id="23563" name="Oval 19"/>
          <p:cNvSpPr>
            <a:spLocks noChangeArrowheads="1"/>
          </p:cNvSpPr>
          <p:nvPr/>
        </p:nvSpPr>
        <p:spPr bwMode="auto">
          <a:xfrm>
            <a:off x="5638800" y="4764088"/>
            <a:ext cx="76200" cy="76200"/>
          </a:xfrm>
          <a:prstGeom prst="ellipse">
            <a:avLst/>
          </a:prstGeom>
          <a:solidFill>
            <a:srgbClr val="00FF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91156" name="Text Box 20"/>
          <p:cNvSpPr txBox="1">
            <a:spLocks noChangeArrowheads="1"/>
          </p:cNvSpPr>
          <p:nvPr/>
        </p:nvSpPr>
        <p:spPr bwMode="auto">
          <a:xfrm>
            <a:off x="5791200" y="4687888"/>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p>
        </p:txBody>
      </p:sp>
      <p:sp>
        <p:nvSpPr>
          <p:cNvPr id="38924" name="Line 21"/>
          <p:cNvSpPr>
            <a:spLocks noChangeShapeType="1"/>
          </p:cNvSpPr>
          <p:nvPr/>
        </p:nvSpPr>
        <p:spPr bwMode="auto">
          <a:xfrm flipV="1">
            <a:off x="2590800" y="1676400"/>
            <a:ext cx="990600" cy="35814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6" name="Line 22"/>
          <p:cNvSpPr>
            <a:spLocks noChangeShapeType="1"/>
          </p:cNvSpPr>
          <p:nvPr/>
        </p:nvSpPr>
        <p:spPr bwMode="auto">
          <a:xfrm flipV="1">
            <a:off x="2590800" y="3657600"/>
            <a:ext cx="4267200" cy="1600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6" name="Text Box 7"/>
          <p:cNvSpPr txBox="1">
            <a:spLocks noChangeArrowheads="1"/>
          </p:cNvSpPr>
          <p:nvPr/>
        </p:nvSpPr>
        <p:spPr bwMode="auto">
          <a:xfrm>
            <a:off x="0" y="192088"/>
            <a:ext cx="9144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b="1" dirty="0">
                <a:solidFill>
                  <a:srgbClr val="FF0000"/>
                </a:solidFill>
                <a:latin typeface="微软雅黑" panose="020B0503020204020204" pitchFamily="34" charset="-122"/>
                <a:ea typeface="微软雅黑" panose="020B0503020204020204" pitchFamily="34" charset="-122"/>
              </a:rPr>
              <a:t>引理</a:t>
            </a:r>
            <a:r>
              <a:rPr lang="en-US" altLang="zh-CN" b="1" dirty="0">
                <a:solidFill>
                  <a:srgbClr val="FF0000"/>
                </a:solidFill>
                <a:latin typeface="微软雅黑" panose="020B0503020204020204" pitchFamily="34" charset="-122"/>
                <a:ea typeface="微软雅黑" panose="020B0503020204020204" pitchFamily="34" charset="-122"/>
              </a:rPr>
              <a:t>2-1 </a:t>
            </a:r>
            <a:r>
              <a:rPr lang="zh-CN" altLang="en-US" b="1" dirty="0">
                <a:latin typeface="微软雅黑" panose="020B0503020204020204" pitchFamily="34" charset="-122"/>
                <a:ea typeface="微软雅黑" panose="020B0503020204020204" pitchFamily="34" charset="-122"/>
              </a:rPr>
              <a:t>若可行解集</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b="1" dirty="0">
                <a:latin typeface="微软雅黑" panose="020B0503020204020204" pitchFamily="34" charset="-122"/>
                <a:ea typeface="微软雅黑" panose="020B0503020204020204" pitchFamily="34" charset="-122"/>
              </a:rPr>
              <a:t>是有界的凸集</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则</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b="1" dirty="0">
                <a:latin typeface="微软雅黑" panose="020B0503020204020204" pitchFamily="34" charset="-122"/>
                <a:ea typeface="微软雅黑" panose="020B0503020204020204" pitchFamily="34" charset="-122"/>
              </a:rPr>
              <a:t>中任意一点</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都可表示成</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b="1" dirty="0">
                <a:latin typeface="微软雅黑" panose="020B0503020204020204" pitchFamily="34" charset="-122"/>
                <a:ea typeface="微软雅黑" panose="020B0503020204020204" pitchFamily="34" charset="-122"/>
              </a:rPr>
              <a:t>的顶点的凸组合</a:t>
            </a:r>
          </a:p>
        </p:txBody>
      </p:sp>
      <p:sp>
        <p:nvSpPr>
          <p:cNvPr id="38927" name="矩形 1"/>
          <p:cNvSpPr>
            <a:spLocks noChangeArrowheads="1"/>
          </p:cNvSpPr>
          <p:nvPr/>
        </p:nvSpPr>
        <p:spPr bwMode="auto">
          <a:xfrm>
            <a:off x="0" y="1412875"/>
            <a:ext cx="8450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lgn="just" eaLnBrk="1" hangingPunct="1">
              <a:buFont typeface="Wingdings" panose="05000000000000000000" pitchFamily="2" charset="2"/>
              <a:buNone/>
            </a:pPr>
            <a:r>
              <a:rPr lang="zh-CN" altLang="en-US" b="1" dirty="0">
                <a:solidFill>
                  <a:srgbClr val="008000"/>
                </a:solidFill>
                <a:latin typeface="微软雅黑" panose="020B0503020204020204" pitchFamily="34" charset="-122"/>
                <a:ea typeface="微软雅黑" panose="020B0503020204020204" pitchFamily="34" charset="-122"/>
                <a:cs typeface="Times New Roman" panose="02020603050405020304" pitchFamily="18" charset="0"/>
              </a:rPr>
              <a:t>本引理的证明从略</a:t>
            </a:r>
            <a:r>
              <a:rPr lang="zh-CN" altLang="en-US" b="1" dirty="0">
                <a:solidFill>
                  <a:srgbClr val="008000"/>
                </a:solidFill>
                <a:latin typeface="宋体" panose="02010600030101010101" pitchFamily="2" charset="-122"/>
                <a:cs typeface="Times New Roman" panose="02020603050405020304" pitchFamily="18" charset="0"/>
              </a:rPr>
              <a:t>，</a:t>
            </a:r>
            <a:r>
              <a:rPr lang="zh-CN" altLang="en-US" b="1" dirty="0">
                <a:solidFill>
                  <a:srgbClr val="008000"/>
                </a:solidFill>
                <a:latin typeface="微软雅黑" panose="020B0503020204020204" pitchFamily="34" charset="-122"/>
                <a:ea typeface="微软雅黑" panose="020B0503020204020204" pitchFamily="34" charset="-122"/>
                <a:cs typeface="Times New Roman" panose="02020603050405020304" pitchFamily="18" charset="0"/>
              </a:rPr>
              <a:t>用以下例子说明本引理的结论</a:t>
            </a:r>
          </a:p>
        </p:txBody>
      </p:sp>
      <p:sp>
        <p:nvSpPr>
          <p:cNvPr id="91144" name="Text Box 8"/>
          <p:cNvSpPr txBox="1">
            <a:spLocks noChangeArrowheads="1"/>
          </p:cNvSpPr>
          <p:nvPr/>
        </p:nvSpPr>
        <p:spPr bwMode="auto">
          <a:xfrm>
            <a:off x="0" y="1916113"/>
            <a:ext cx="9144000" cy="831850"/>
          </a:xfrm>
          <a:prstGeom prst="rect">
            <a:avLst/>
          </a:prstGeom>
          <a:noFill/>
          <a:ln w="9525">
            <a:noFill/>
            <a:miter lim="800000"/>
          </a:ln>
          <a:effectLst/>
        </p:spPr>
        <p:txBody>
          <a:bodyPr>
            <a:spAutoFit/>
          </a:bodyPr>
          <a:lstStyle/>
          <a:p>
            <a:pPr eaLnBrk="1" hangingPunct="1">
              <a:spcBef>
                <a:spcPct val="50000"/>
              </a:spcBef>
              <a:defRPr/>
            </a:pPr>
            <a:r>
              <a:rPr lang="zh-CN" altLang="en-US" b="1" dirty="0">
                <a:solidFill>
                  <a:srgbClr val="FF0000"/>
                </a:solidFill>
                <a:effectLst>
                  <a:outerShdw blurRad="38100" dist="38100" dir="2700000" algn="tl">
                    <a:srgbClr val="C0C0C0"/>
                  </a:outerShdw>
                </a:effectLst>
                <a:ea typeface="微软雅黑" panose="020B0503020204020204" pitchFamily="34" charset="-122"/>
              </a:rPr>
              <a:t>例</a:t>
            </a:r>
            <a:r>
              <a:rPr lang="en-US" altLang="zh-CN" b="1" dirty="0">
                <a:solidFill>
                  <a:srgbClr val="FF0000"/>
                </a:solidFill>
                <a:effectLst>
                  <a:outerShdw blurRad="38100" dist="38100" dir="2700000" algn="tl">
                    <a:srgbClr val="C0C0C0"/>
                  </a:outerShdw>
                </a:effectLst>
                <a:ea typeface="微软雅黑" panose="020B0503020204020204" pitchFamily="34" charset="-122"/>
              </a:rPr>
              <a:t>2-7</a:t>
            </a:r>
            <a:r>
              <a:rPr lang="zh-CN" altLang="en-US" b="1" dirty="0">
                <a:effectLst>
                  <a:outerShdw blurRad="38100" dist="38100" dir="2700000" algn="tl">
                    <a:srgbClr val="C0C0C0"/>
                  </a:outerShdw>
                </a:effectLst>
                <a:ea typeface="微软雅黑" panose="020B0503020204020204" pitchFamily="34" charset="-122"/>
              </a:rPr>
              <a:t>：设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x </a:t>
            </a:r>
            <a:r>
              <a:rPr lang="zh-CN" altLang="en-US" b="1" dirty="0">
                <a:effectLst>
                  <a:outerShdw blurRad="38100" dist="38100" dir="2700000" algn="tl">
                    <a:srgbClr val="C0C0C0"/>
                  </a:outerShdw>
                </a:effectLst>
                <a:ea typeface="微软雅黑" panose="020B0503020204020204" pitchFamily="34" charset="-122"/>
              </a:rPr>
              <a:t>是三角形中任意一点</a:t>
            </a:r>
            <a:r>
              <a:rPr lang="zh-CN" altLang="en-US" b="1" dirty="0">
                <a:effectLst>
                  <a:outerShdw blurRad="38100" dist="38100" dir="2700000" algn="tl">
                    <a:srgbClr val="C0C0C0"/>
                  </a:outerShdw>
                </a:effectLst>
                <a:latin typeface="宋体" panose="02010600030101010101" pitchFamily="2" charset="-122"/>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b="1" baseline="30000" dirty="0">
                <a:effectLst>
                  <a:outerShdw blurRad="38100" dist="38100" dir="2700000" algn="tl">
                    <a:srgbClr val="C0C0C0"/>
                  </a:outerShdw>
                </a:effectLst>
                <a:ea typeface="微软雅黑" panose="020B0503020204020204" pitchFamily="34" charset="-122"/>
              </a:rPr>
              <a:t>(1)</a:t>
            </a:r>
            <a:r>
              <a:rPr lang="zh-CN" altLang="en-US" b="1" dirty="0">
                <a:effectLst>
                  <a:outerShdw blurRad="38100" dist="38100" dir="2700000" algn="tl">
                    <a:srgbClr val="C0C0C0"/>
                  </a:outerShdw>
                </a:effectLst>
                <a:latin typeface="宋体" panose="02010600030101010101" pitchFamily="2" charset="-122"/>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b="1" baseline="30000" dirty="0">
                <a:effectLst>
                  <a:outerShdw blurRad="38100" dist="38100" dir="2700000" algn="tl">
                    <a:srgbClr val="C0C0C0"/>
                  </a:outerShdw>
                </a:effectLst>
                <a:ea typeface="微软雅黑" panose="020B0503020204020204" pitchFamily="34" charset="-122"/>
              </a:rPr>
              <a:t>(2) </a:t>
            </a:r>
            <a:r>
              <a:rPr lang="zh-CN" altLang="en-US" b="1" dirty="0">
                <a:effectLst>
                  <a:outerShdw blurRad="38100" dist="38100" dir="2700000" algn="tl">
                    <a:srgbClr val="C0C0C0"/>
                  </a:outerShdw>
                </a:effectLst>
                <a:ea typeface="微软雅黑" panose="020B0503020204020204" pitchFamily="34" charset="-122"/>
              </a:rPr>
              <a:t>和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 </a:t>
            </a:r>
            <a:r>
              <a:rPr lang="zh-CN" altLang="en-US" b="1" dirty="0">
                <a:effectLst>
                  <a:outerShdw blurRad="38100" dist="38100" dir="2700000" algn="tl">
                    <a:srgbClr val="C0C0C0"/>
                  </a:outerShdw>
                </a:effectLst>
                <a:ea typeface="微软雅黑" panose="020B0503020204020204" pitchFamily="34" charset="-122"/>
              </a:rPr>
              <a:t>是三角形的三个顶点</a:t>
            </a:r>
            <a:r>
              <a:rPr lang="zh-CN" altLang="en-US" b="1" dirty="0">
                <a:effectLst>
                  <a:outerShdw blurRad="38100" dist="38100" dir="2700000" algn="tl">
                    <a:srgbClr val="C0C0C0"/>
                  </a:outerShdw>
                </a:effectLst>
                <a:latin typeface="宋体" panose="02010600030101010101" pitchFamily="2" charset="-122"/>
              </a:rPr>
              <a:t>，</a:t>
            </a:r>
            <a:r>
              <a:rPr lang="zh-CN" altLang="en-US" b="1" dirty="0">
                <a:effectLst>
                  <a:outerShdw blurRad="38100" dist="38100" dir="2700000" algn="tl">
                    <a:srgbClr val="C0C0C0"/>
                  </a:outerShdw>
                </a:effectLst>
                <a:ea typeface="微软雅黑" panose="020B0503020204020204" pitchFamily="34" charset="-122"/>
              </a:rPr>
              <a:t>试用三个顶点的坐标表示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x </a:t>
            </a:r>
            <a:endParaRPr lang="zh-CN" altLang="en-US" b="1" dirty="0">
              <a:effectLst>
                <a:outerShdw blurRad="38100" dist="38100" dir="2700000" algn="tl">
                  <a:srgbClr val="C0C0C0"/>
                </a:outerShdw>
              </a:effectLst>
              <a:ea typeface="微软雅黑" panose="020B0503020204020204" pitchFamily="34" charset="-122"/>
            </a:endParaRP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44"/>
                                        </p:tgtEl>
                                        <p:attrNameLst>
                                          <p:attrName>style.visibility</p:attrName>
                                        </p:attrNameLst>
                                      </p:cBhvr>
                                      <p:to>
                                        <p:strVal val="visible"/>
                                      </p:to>
                                    </p:set>
                                    <p:animEffect transition="in" filter="blinds(horizontal)">
                                      <p:cBhvr>
                                        <p:cTn id="7" dur="500"/>
                                        <p:tgtEl>
                                          <p:spTgt spid="91144"/>
                                        </p:tgtEl>
                                      </p:cBhvr>
                                    </p:animEffect>
                                  </p:childTnLst>
                                </p:cTn>
                              </p:par>
                              <p:par>
                                <p:cTn id="8" presetID="3" presetClass="entr" presetSubtype="10" fill="hold" nodeType="withEffect">
                                  <p:stCondLst>
                                    <p:cond delay="0"/>
                                  </p:stCondLst>
                                  <p:childTnLst>
                                    <p:set>
                                      <p:cBhvr>
                                        <p:cTn id="9" dur="1" fill="hold">
                                          <p:stCondLst>
                                            <p:cond delay="0"/>
                                          </p:stCondLst>
                                        </p:cTn>
                                        <p:tgtEl>
                                          <p:spTgt spid="23555"/>
                                        </p:tgtEl>
                                        <p:attrNameLst>
                                          <p:attrName>style.visibility</p:attrName>
                                        </p:attrNameLst>
                                      </p:cBhvr>
                                      <p:to>
                                        <p:strVal val="visible"/>
                                      </p:to>
                                    </p:set>
                                    <p:animEffect transition="in" filter="blinds(horizontal)">
                                      <p:cBhvr>
                                        <p:cTn id="10" dur="500"/>
                                        <p:tgtEl>
                                          <p:spTgt spid="23555"/>
                                        </p:tgtEl>
                                      </p:cBhvr>
                                    </p:animEffect>
                                  </p:childTnLst>
                                </p:cTn>
                              </p:par>
                              <p:par>
                                <p:cTn id="11" presetID="3" presetClass="entr" presetSubtype="10" fill="hold" nodeType="withEffect">
                                  <p:stCondLst>
                                    <p:cond delay="0"/>
                                  </p:stCondLst>
                                  <p:childTnLst>
                                    <p:set>
                                      <p:cBhvr>
                                        <p:cTn id="12" dur="1" fill="hold">
                                          <p:stCondLst>
                                            <p:cond delay="0"/>
                                          </p:stCondLst>
                                        </p:cTn>
                                        <p:tgtEl>
                                          <p:spTgt spid="23557"/>
                                        </p:tgtEl>
                                        <p:attrNameLst>
                                          <p:attrName>style.visibility</p:attrName>
                                        </p:attrNameLst>
                                      </p:cBhvr>
                                      <p:to>
                                        <p:strVal val="visible"/>
                                      </p:to>
                                    </p:set>
                                    <p:animEffect transition="in" filter="blinds(horizontal)">
                                      <p:cBhvr>
                                        <p:cTn id="13" dur="500"/>
                                        <p:tgtEl>
                                          <p:spTgt spid="23557"/>
                                        </p:tgtEl>
                                      </p:cBhvr>
                                    </p:animEffect>
                                  </p:childTnLst>
                                </p:cTn>
                              </p:par>
                              <p:par>
                                <p:cTn id="14" presetID="3" presetClass="entr" presetSubtype="10" fill="hold" nodeType="withEffect">
                                  <p:stCondLst>
                                    <p:cond delay="0"/>
                                  </p:stCondLst>
                                  <p:childTnLst>
                                    <p:set>
                                      <p:cBhvr>
                                        <p:cTn id="15" dur="1" fill="hold">
                                          <p:stCondLst>
                                            <p:cond delay="0"/>
                                          </p:stCondLst>
                                        </p:cTn>
                                        <p:tgtEl>
                                          <p:spTgt spid="23558"/>
                                        </p:tgtEl>
                                        <p:attrNameLst>
                                          <p:attrName>style.visibility</p:attrName>
                                        </p:attrNameLst>
                                      </p:cBhvr>
                                      <p:to>
                                        <p:strVal val="visible"/>
                                      </p:to>
                                    </p:set>
                                    <p:animEffect transition="in" filter="blinds(horizontal)">
                                      <p:cBhvr>
                                        <p:cTn id="16" dur="500"/>
                                        <p:tgtEl>
                                          <p:spTgt spid="23558"/>
                                        </p:tgtEl>
                                      </p:cBhvr>
                                    </p:animEffect>
                                  </p:childTnLst>
                                </p:cTn>
                              </p:par>
                              <p:par>
                                <p:cTn id="17" presetID="3" presetClass="entr" presetSubtype="10" fill="hold" nodeType="withEffect">
                                  <p:stCondLst>
                                    <p:cond delay="0"/>
                                  </p:stCondLst>
                                  <p:childTnLst>
                                    <p:set>
                                      <p:cBhvr>
                                        <p:cTn id="18" dur="1" fill="hold">
                                          <p:stCondLst>
                                            <p:cond delay="0"/>
                                          </p:stCondLst>
                                        </p:cTn>
                                        <p:tgtEl>
                                          <p:spTgt spid="23559"/>
                                        </p:tgtEl>
                                        <p:attrNameLst>
                                          <p:attrName>style.visibility</p:attrName>
                                        </p:attrNameLst>
                                      </p:cBhvr>
                                      <p:to>
                                        <p:strVal val="visible"/>
                                      </p:to>
                                    </p:set>
                                    <p:animEffect transition="in" filter="blinds(horizontal)">
                                      <p:cBhvr>
                                        <p:cTn id="19" dur="500"/>
                                        <p:tgtEl>
                                          <p:spTgt spid="2355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1152"/>
                                        </p:tgtEl>
                                        <p:attrNameLst>
                                          <p:attrName>style.visibility</p:attrName>
                                        </p:attrNameLst>
                                      </p:cBhvr>
                                      <p:to>
                                        <p:strVal val="visible"/>
                                      </p:to>
                                    </p:set>
                                    <p:animEffect transition="in" filter="blinds(horizontal)">
                                      <p:cBhvr>
                                        <p:cTn id="22" dur="500"/>
                                        <p:tgtEl>
                                          <p:spTgt spid="9115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1153"/>
                                        </p:tgtEl>
                                        <p:attrNameLst>
                                          <p:attrName>style.visibility</p:attrName>
                                        </p:attrNameLst>
                                      </p:cBhvr>
                                      <p:to>
                                        <p:strVal val="visible"/>
                                      </p:to>
                                    </p:set>
                                    <p:animEffect transition="in" filter="blinds(horizontal)">
                                      <p:cBhvr>
                                        <p:cTn id="25" dur="500"/>
                                        <p:tgtEl>
                                          <p:spTgt spid="9115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91154"/>
                                        </p:tgtEl>
                                        <p:attrNameLst>
                                          <p:attrName>style.visibility</p:attrName>
                                        </p:attrNameLst>
                                      </p:cBhvr>
                                      <p:to>
                                        <p:strVal val="visible"/>
                                      </p:to>
                                    </p:set>
                                    <p:animEffect transition="in" filter="blinds(horizontal)">
                                      <p:cBhvr>
                                        <p:cTn id="28" dur="500"/>
                                        <p:tgtEl>
                                          <p:spTgt spid="9115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3563"/>
                                        </p:tgtEl>
                                        <p:attrNameLst>
                                          <p:attrName>style.visibility</p:attrName>
                                        </p:attrNameLst>
                                      </p:cBhvr>
                                      <p:to>
                                        <p:strVal val="visible"/>
                                      </p:to>
                                    </p:set>
                                    <p:animEffect transition="in" filter="blinds(horizontal)">
                                      <p:cBhvr>
                                        <p:cTn id="31" dur="500"/>
                                        <p:tgtEl>
                                          <p:spTgt spid="2356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1156"/>
                                        </p:tgtEl>
                                        <p:attrNameLst>
                                          <p:attrName>style.visibility</p:attrName>
                                        </p:attrNameLst>
                                      </p:cBhvr>
                                      <p:to>
                                        <p:strVal val="visible"/>
                                      </p:to>
                                    </p:set>
                                    <p:animEffect transition="in" filter="blinds(horizontal)">
                                      <p:cBhvr>
                                        <p:cTn id="34" dur="500"/>
                                        <p:tgtEl>
                                          <p:spTgt spid="91156"/>
                                        </p:tgtEl>
                                      </p:cBhvr>
                                    </p:animEffect>
                                  </p:childTnLst>
                                </p:cTn>
                              </p:par>
                              <p:par>
                                <p:cTn id="35" presetID="3" presetClass="entr" presetSubtype="10" fill="hold" nodeType="withEffect">
                                  <p:stCondLst>
                                    <p:cond delay="0"/>
                                  </p:stCondLst>
                                  <p:childTnLst>
                                    <p:set>
                                      <p:cBhvr>
                                        <p:cTn id="36" dur="1" fill="hold">
                                          <p:stCondLst>
                                            <p:cond delay="0"/>
                                          </p:stCondLst>
                                        </p:cTn>
                                        <p:tgtEl>
                                          <p:spTgt spid="23566"/>
                                        </p:tgtEl>
                                        <p:attrNameLst>
                                          <p:attrName>style.visibility</p:attrName>
                                        </p:attrNameLst>
                                      </p:cBhvr>
                                      <p:to>
                                        <p:strVal val="visible"/>
                                      </p:to>
                                    </p:set>
                                    <p:animEffect transition="in" filter="blinds(horizontal)">
                                      <p:cBhvr>
                                        <p:cTn id="37" dur="500"/>
                                        <p:tgtEl>
                                          <p:spTgt spid="23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2" grpId="0"/>
      <p:bldP spid="91153" grpId="0"/>
      <p:bldP spid="91154" grpId="0"/>
      <p:bldP spid="23563" grpId="0" animBg="1"/>
      <p:bldP spid="91156" grpId="0"/>
      <p:bldP spid="9114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7"/>
          <p:cNvSpPr>
            <a:spLocks noChangeShapeType="1"/>
          </p:cNvSpPr>
          <p:nvPr/>
        </p:nvSpPr>
        <p:spPr bwMode="auto">
          <a:xfrm>
            <a:off x="1905000" y="5257800"/>
            <a:ext cx="65532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0" name="Line 9"/>
          <p:cNvSpPr>
            <a:spLocks noChangeShapeType="1"/>
          </p:cNvSpPr>
          <p:nvPr/>
        </p:nvSpPr>
        <p:spPr bwMode="auto">
          <a:xfrm flipV="1">
            <a:off x="3581400" y="1066800"/>
            <a:ext cx="2209800" cy="6096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1" name="Line 10"/>
          <p:cNvSpPr>
            <a:spLocks noChangeShapeType="1"/>
          </p:cNvSpPr>
          <p:nvPr/>
        </p:nvSpPr>
        <p:spPr bwMode="auto">
          <a:xfrm>
            <a:off x="5791200" y="1066800"/>
            <a:ext cx="1143000" cy="25908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2" name="Line 11"/>
          <p:cNvSpPr>
            <a:spLocks noChangeShapeType="1"/>
          </p:cNvSpPr>
          <p:nvPr/>
        </p:nvSpPr>
        <p:spPr bwMode="auto">
          <a:xfrm>
            <a:off x="3581400" y="1676400"/>
            <a:ext cx="3352800" cy="19812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2" name="Text Box 14"/>
          <p:cNvSpPr txBox="1">
            <a:spLocks noChangeArrowheads="1"/>
          </p:cNvSpPr>
          <p:nvPr/>
        </p:nvSpPr>
        <p:spPr bwMode="auto">
          <a:xfrm>
            <a:off x="2971800" y="12954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(1)</a:t>
            </a:r>
            <a:endParaRPr lang="en-US" altLang="zh-CN" b="1" dirty="0">
              <a:effectLst>
                <a:outerShdw blurRad="38100" dist="38100" dir="2700000" algn="tl">
                  <a:srgbClr val="C0C0C0"/>
                </a:outerShdw>
              </a:effectLst>
              <a:ea typeface="微软雅黑" panose="020B0503020204020204" pitchFamily="34" charset="-122"/>
            </a:endParaRPr>
          </a:p>
        </p:txBody>
      </p:sp>
      <p:sp>
        <p:nvSpPr>
          <p:cNvPr id="94223" name="Text Box 15"/>
          <p:cNvSpPr txBox="1">
            <a:spLocks noChangeArrowheads="1"/>
          </p:cNvSpPr>
          <p:nvPr/>
        </p:nvSpPr>
        <p:spPr bwMode="auto">
          <a:xfrm>
            <a:off x="5638800" y="6096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(2)</a:t>
            </a:r>
            <a:endParaRPr lang="en-US" altLang="zh-CN" b="1" dirty="0">
              <a:effectLst>
                <a:outerShdw blurRad="38100" dist="38100" dir="2700000" algn="tl">
                  <a:srgbClr val="C0C0C0"/>
                </a:outerShdw>
              </a:effectLst>
              <a:ea typeface="微软雅黑" panose="020B0503020204020204" pitchFamily="34" charset="-122"/>
            </a:endParaRPr>
          </a:p>
        </p:txBody>
      </p:sp>
      <p:sp>
        <p:nvSpPr>
          <p:cNvPr id="94224" name="Text Box 16"/>
          <p:cNvSpPr txBox="1">
            <a:spLocks noChangeArrowheads="1"/>
          </p:cNvSpPr>
          <p:nvPr/>
        </p:nvSpPr>
        <p:spPr bwMode="auto">
          <a:xfrm>
            <a:off x="6934200" y="35052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a:t>
            </a:r>
            <a:endParaRPr lang="en-US" altLang="zh-CN" b="1" dirty="0">
              <a:effectLst>
                <a:outerShdw blurRad="38100" dist="38100" dir="2700000" algn="tl">
                  <a:srgbClr val="C0C0C0"/>
                </a:outerShdw>
              </a:effectLst>
              <a:ea typeface="微软雅黑" panose="020B0503020204020204" pitchFamily="34" charset="-122"/>
            </a:endParaRPr>
          </a:p>
        </p:txBody>
      </p:sp>
      <p:sp>
        <p:nvSpPr>
          <p:cNvPr id="39946" name="Oval 17"/>
          <p:cNvSpPr>
            <a:spLocks noChangeArrowheads="1"/>
          </p:cNvSpPr>
          <p:nvPr/>
        </p:nvSpPr>
        <p:spPr bwMode="auto">
          <a:xfrm>
            <a:off x="5638800" y="2057400"/>
            <a:ext cx="76200" cy="76200"/>
          </a:xfrm>
          <a:prstGeom prst="ellipse">
            <a:avLst/>
          </a:prstGeom>
          <a:solidFill>
            <a:srgbClr val="00FF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39947" name="Text Box 18"/>
          <p:cNvSpPr txBox="1">
            <a:spLocks noChangeArrowheads="1"/>
          </p:cNvSpPr>
          <p:nvPr/>
        </p:nvSpPr>
        <p:spPr bwMode="auto">
          <a:xfrm>
            <a:off x="5791200" y="1981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p>
        </p:txBody>
      </p:sp>
      <p:sp>
        <p:nvSpPr>
          <p:cNvPr id="39948" name="Line 19"/>
          <p:cNvSpPr>
            <a:spLocks noChangeShapeType="1"/>
          </p:cNvSpPr>
          <p:nvPr/>
        </p:nvSpPr>
        <p:spPr bwMode="auto">
          <a:xfrm flipV="1">
            <a:off x="2590800" y="1676400"/>
            <a:ext cx="990600" cy="35814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9" name="Line 20"/>
          <p:cNvSpPr>
            <a:spLocks noChangeShapeType="1"/>
          </p:cNvSpPr>
          <p:nvPr/>
        </p:nvSpPr>
        <p:spPr bwMode="auto">
          <a:xfrm flipV="1">
            <a:off x="2590800" y="3657600"/>
            <a:ext cx="4267200" cy="1600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0" name="Line 21"/>
          <p:cNvSpPr>
            <a:spLocks noChangeShapeType="1"/>
          </p:cNvSpPr>
          <p:nvPr/>
        </p:nvSpPr>
        <p:spPr bwMode="auto">
          <a:xfrm flipV="1">
            <a:off x="2590800" y="1066800"/>
            <a:ext cx="3200400" cy="4191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1" name="Line 22"/>
          <p:cNvSpPr>
            <a:spLocks noChangeShapeType="1"/>
          </p:cNvSpPr>
          <p:nvPr/>
        </p:nvSpPr>
        <p:spPr bwMode="auto">
          <a:xfrm flipH="1">
            <a:off x="5562600" y="1143000"/>
            <a:ext cx="228600" cy="17526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31" name="Text Box 23"/>
          <p:cNvSpPr txBox="1">
            <a:spLocks noChangeArrowheads="1"/>
          </p:cNvSpPr>
          <p:nvPr/>
        </p:nvSpPr>
        <p:spPr bwMode="auto">
          <a:xfrm>
            <a:off x="5334000" y="2895600"/>
            <a:ext cx="381000" cy="457200"/>
          </a:xfrm>
          <a:prstGeom prst="rect">
            <a:avLst/>
          </a:prstGeom>
          <a:noFill/>
          <a:ln w="9525">
            <a:noFill/>
            <a:miter lim="800000"/>
          </a:ln>
          <a:effectLst/>
        </p:spPr>
        <p:txBody>
          <a:bodyPr>
            <a:spAutoFit/>
          </a:bodyPr>
          <a:lstStyle/>
          <a:p>
            <a:pPr eaLnBrk="1" hangingPunct="1">
              <a:spcBef>
                <a:spcPct val="50000"/>
              </a:spcBef>
              <a:defRPr/>
            </a:pPr>
            <a:endParaRPr lang="zh-CN" altLang="zh-CN" b="1" dirty="0">
              <a:effectLst>
                <a:outerShdw blurRad="38100" dist="38100" dir="2700000" algn="tl">
                  <a:srgbClr val="C0C0C0"/>
                </a:outerShdw>
              </a:effectLst>
              <a:ea typeface="微软雅黑" panose="020B0503020204020204" pitchFamily="34" charset="-122"/>
            </a:endParaRPr>
          </a:p>
        </p:txBody>
      </p:sp>
      <p:sp>
        <p:nvSpPr>
          <p:cNvPr id="94232" name="Text Box 24"/>
          <p:cNvSpPr txBox="1">
            <a:spLocks noChangeArrowheads="1"/>
          </p:cNvSpPr>
          <p:nvPr/>
        </p:nvSpPr>
        <p:spPr bwMode="auto">
          <a:xfrm>
            <a:off x="5334000" y="2971800"/>
            <a:ext cx="5334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a:effectLst>
                  <a:outerShdw blurRad="38100" dist="38100" dir="2700000" algn="tl">
                    <a:srgbClr val="C0C0C0"/>
                  </a:outerShdw>
                </a:effectLst>
                <a:latin typeface="宋体" panose="02010600030101010101" pitchFamily="2" charset="-122"/>
              </a:rPr>
              <a:t>’</a:t>
            </a:r>
          </a:p>
        </p:txBody>
      </p:sp>
      <p:sp>
        <p:nvSpPr>
          <p:cNvPr id="39954" name="Text Box 26"/>
          <p:cNvSpPr txBox="1">
            <a:spLocks noChangeArrowheads="1"/>
          </p:cNvSpPr>
          <p:nvPr/>
        </p:nvSpPr>
        <p:spPr bwMode="auto">
          <a:xfrm>
            <a:off x="539750" y="4076700"/>
            <a:ext cx="4968875" cy="101600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(3)</a:t>
            </a:r>
          </a:p>
          <a:p>
            <a:pPr eaLnBrk="1" hangingPunct="1">
              <a:spcBef>
                <a:spcPct val="50000"/>
              </a:spcBef>
            </a:pPr>
            <a:r>
              <a:rPr lang="en-US" altLang="zh-CN" b="1">
                <a:latin typeface="Times New Roman" panose="02020603050405020304" pitchFamily="18" charset="0"/>
                <a:ea typeface="微软雅黑" panose="020B0503020204020204" pitchFamily="34" charset="-122"/>
                <a:cs typeface="Times New Roman" panose="02020603050405020304" pitchFamily="18" charset="0"/>
              </a:rPr>
              <a:t>         (0&lt; </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&lt;1)</a:t>
            </a:r>
          </a:p>
        </p:txBody>
      </p:sp>
      <p:sp>
        <p:nvSpPr>
          <p:cNvPr id="39955" name="Line 27"/>
          <p:cNvSpPr>
            <a:spLocks noChangeShapeType="1"/>
          </p:cNvSpPr>
          <p:nvPr/>
        </p:nvSpPr>
        <p:spPr bwMode="auto">
          <a:xfrm flipV="1">
            <a:off x="2590800" y="2895600"/>
            <a:ext cx="2971800" cy="2362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a:xfrm>
            <a:off x="7239000" y="6421438"/>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92</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7"/>
          <p:cNvSpPr>
            <a:spLocks noChangeShapeType="1"/>
          </p:cNvSpPr>
          <p:nvPr/>
        </p:nvSpPr>
        <p:spPr bwMode="auto">
          <a:xfrm>
            <a:off x="1905000" y="5257800"/>
            <a:ext cx="65532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3" name="Line 8"/>
          <p:cNvSpPr>
            <a:spLocks noChangeShapeType="1"/>
          </p:cNvSpPr>
          <p:nvPr/>
        </p:nvSpPr>
        <p:spPr bwMode="auto">
          <a:xfrm flipV="1">
            <a:off x="2590800" y="457200"/>
            <a:ext cx="0" cy="5334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4" name="Line 19"/>
          <p:cNvSpPr>
            <a:spLocks noChangeShapeType="1"/>
          </p:cNvSpPr>
          <p:nvPr/>
        </p:nvSpPr>
        <p:spPr bwMode="auto">
          <a:xfrm flipV="1">
            <a:off x="2590800" y="1676400"/>
            <a:ext cx="990600" cy="35814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5" name="Line 20"/>
          <p:cNvSpPr>
            <a:spLocks noChangeShapeType="1"/>
          </p:cNvSpPr>
          <p:nvPr/>
        </p:nvSpPr>
        <p:spPr bwMode="auto">
          <a:xfrm flipV="1">
            <a:off x="2590800" y="3657600"/>
            <a:ext cx="4267200" cy="1600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6" name="Line 21"/>
          <p:cNvSpPr>
            <a:spLocks noChangeShapeType="1"/>
          </p:cNvSpPr>
          <p:nvPr/>
        </p:nvSpPr>
        <p:spPr bwMode="auto">
          <a:xfrm flipV="1">
            <a:off x="2590800" y="1066800"/>
            <a:ext cx="3200400" cy="4191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7" name="Text Box 25"/>
          <p:cNvSpPr txBox="1">
            <a:spLocks noChangeArrowheads="1"/>
          </p:cNvSpPr>
          <p:nvPr/>
        </p:nvSpPr>
        <p:spPr bwMode="auto">
          <a:xfrm>
            <a:off x="611188" y="4005263"/>
            <a:ext cx="4824412" cy="1016000"/>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(2)</a:t>
            </a:r>
          </a:p>
          <a:p>
            <a:pPr eaLnBrk="1" hangingPunct="1">
              <a:spcBef>
                <a:spcPct val="50000"/>
              </a:spcBef>
            </a:pPr>
            <a:r>
              <a:rPr lang="en-US" altLang="zh-CN" b="1">
                <a:latin typeface="Times New Roman" panose="02020603050405020304" pitchFamily="18" charset="0"/>
                <a:ea typeface="微软雅黑" panose="020B0503020204020204" pitchFamily="34" charset="-122"/>
                <a:cs typeface="Times New Roman" panose="02020603050405020304" pitchFamily="18" charset="0"/>
              </a:rPr>
              <a:t>         (0&lt; </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&lt;1)</a:t>
            </a:r>
          </a:p>
        </p:txBody>
      </p:sp>
      <p:sp>
        <p:nvSpPr>
          <p:cNvPr id="40968" name="Line 26"/>
          <p:cNvSpPr>
            <a:spLocks noChangeShapeType="1"/>
          </p:cNvSpPr>
          <p:nvPr/>
        </p:nvSpPr>
        <p:spPr bwMode="auto">
          <a:xfrm flipV="1">
            <a:off x="2590800" y="2895600"/>
            <a:ext cx="2971800" cy="2362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9" name="Line 9"/>
          <p:cNvSpPr>
            <a:spLocks noChangeShapeType="1"/>
          </p:cNvSpPr>
          <p:nvPr/>
        </p:nvSpPr>
        <p:spPr bwMode="auto">
          <a:xfrm flipV="1">
            <a:off x="3581400" y="1066800"/>
            <a:ext cx="2209800" cy="6096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0" name="Line 10"/>
          <p:cNvSpPr>
            <a:spLocks noChangeShapeType="1"/>
          </p:cNvSpPr>
          <p:nvPr/>
        </p:nvSpPr>
        <p:spPr bwMode="auto">
          <a:xfrm>
            <a:off x="5791200" y="1066800"/>
            <a:ext cx="1143000" cy="25908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1" name="Line 11"/>
          <p:cNvSpPr>
            <a:spLocks noChangeShapeType="1"/>
          </p:cNvSpPr>
          <p:nvPr/>
        </p:nvSpPr>
        <p:spPr bwMode="auto">
          <a:xfrm>
            <a:off x="3581400" y="1676400"/>
            <a:ext cx="3352800" cy="19812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Text Box 14"/>
          <p:cNvSpPr txBox="1">
            <a:spLocks noChangeArrowheads="1"/>
          </p:cNvSpPr>
          <p:nvPr/>
        </p:nvSpPr>
        <p:spPr bwMode="auto">
          <a:xfrm>
            <a:off x="2971800" y="12954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(1)</a:t>
            </a:r>
            <a:endParaRPr lang="en-US" altLang="zh-CN" b="1" dirty="0">
              <a:effectLst>
                <a:outerShdw blurRad="38100" dist="38100" dir="2700000" algn="tl">
                  <a:srgbClr val="C0C0C0"/>
                </a:outerShdw>
              </a:effectLst>
              <a:ea typeface="微软雅黑" panose="020B0503020204020204" pitchFamily="34" charset="-122"/>
            </a:endParaRPr>
          </a:p>
        </p:txBody>
      </p:sp>
      <p:sp>
        <p:nvSpPr>
          <p:cNvPr id="26" name="Text Box 15"/>
          <p:cNvSpPr txBox="1">
            <a:spLocks noChangeArrowheads="1"/>
          </p:cNvSpPr>
          <p:nvPr/>
        </p:nvSpPr>
        <p:spPr bwMode="auto">
          <a:xfrm>
            <a:off x="5638800" y="6096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(2)</a:t>
            </a:r>
            <a:endParaRPr lang="en-US" altLang="zh-CN" b="1" dirty="0">
              <a:effectLst>
                <a:outerShdw blurRad="38100" dist="38100" dir="2700000" algn="tl">
                  <a:srgbClr val="C0C0C0"/>
                </a:outerShdw>
              </a:effectLst>
              <a:ea typeface="微软雅黑" panose="020B0503020204020204" pitchFamily="34" charset="-122"/>
            </a:endParaRPr>
          </a:p>
        </p:txBody>
      </p:sp>
      <p:sp>
        <p:nvSpPr>
          <p:cNvPr id="40974" name="Oval 17"/>
          <p:cNvSpPr>
            <a:spLocks noChangeArrowheads="1"/>
          </p:cNvSpPr>
          <p:nvPr/>
        </p:nvSpPr>
        <p:spPr bwMode="auto">
          <a:xfrm>
            <a:off x="5638800" y="2057400"/>
            <a:ext cx="76200" cy="76200"/>
          </a:xfrm>
          <a:prstGeom prst="ellipse">
            <a:avLst/>
          </a:prstGeom>
          <a:solidFill>
            <a:srgbClr val="00FF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40975" name="Text Box 18"/>
          <p:cNvSpPr txBox="1">
            <a:spLocks noChangeArrowheads="1"/>
          </p:cNvSpPr>
          <p:nvPr/>
        </p:nvSpPr>
        <p:spPr bwMode="auto">
          <a:xfrm>
            <a:off x="5791200" y="1981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p>
        </p:txBody>
      </p:sp>
      <p:sp>
        <p:nvSpPr>
          <p:cNvPr id="40976" name="Line 22"/>
          <p:cNvSpPr>
            <a:spLocks noChangeShapeType="1"/>
          </p:cNvSpPr>
          <p:nvPr/>
        </p:nvSpPr>
        <p:spPr bwMode="auto">
          <a:xfrm flipH="1">
            <a:off x="5562600" y="1143000"/>
            <a:ext cx="228600" cy="17526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Text Box 23"/>
          <p:cNvSpPr txBox="1">
            <a:spLocks noChangeArrowheads="1"/>
          </p:cNvSpPr>
          <p:nvPr/>
        </p:nvSpPr>
        <p:spPr bwMode="auto">
          <a:xfrm>
            <a:off x="5334000" y="2895600"/>
            <a:ext cx="381000" cy="457200"/>
          </a:xfrm>
          <a:prstGeom prst="rect">
            <a:avLst/>
          </a:prstGeom>
          <a:noFill/>
          <a:ln w="9525">
            <a:noFill/>
            <a:miter lim="800000"/>
          </a:ln>
          <a:effectLst/>
        </p:spPr>
        <p:txBody>
          <a:bodyPr>
            <a:spAutoFit/>
          </a:bodyPr>
          <a:lstStyle/>
          <a:p>
            <a:pPr eaLnBrk="1" hangingPunct="1">
              <a:spcBef>
                <a:spcPct val="50000"/>
              </a:spcBef>
              <a:defRPr/>
            </a:pPr>
            <a:endParaRPr lang="zh-CN" altLang="zh-CN" b="1" dirty="0">
              <a:effectLst>
                <a:outerShdw blurRad="38100" dist="38100" dir="2700000" algn="tl">
                  <a:srgbClr val="C0C0C0"/>
                </a:outerShdw>
              </a:effectLst>
              <a:ea typeface="微软雅黑" panose="020B0503020204020204" pitchFamily="34" charset="-122"/>
            </a:endParaRPr>
          </a:p>
        </p:txBody>
      </p:sp>
      <p:sp>
        <p:nvSpPr>
          <p:cNvPr id="34" name="Text Box 24"/>
          <p:cNvSpPr txBox="1">
            <a:spLocks noChangeArrowheads="1"/>
          </p:cNvSpPr>
          <p:nvPr/>
        </p:nvSpPr>
        <p:spPr bwMode="auto">
          <a:xfrm>
            <a:off x="5334000" y="2971800"/>
            <a:ext cx="5334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a:effectLst>
                  <a:outerShdw blurRad="38100" dist="38100" dir="2700000" algn="tl">
                    <a:srgbClr val="C0C0C0"/>
                  </a:outerShdw>
                </a:effectLst>
                <a:latin typeface="宋体" panose="02010600030101010101" pitchFamily="2" charset="-122"/>
              </a:rPr>
              <a:t>’</a:t>
            </a:r>
          </a:p>
        </p:txBody>
      </p:sp>
      <p:sp>
        <p:nvSpPr>
          <p:cNvPr id="35" name="Text Box 16"/>
          <p:cNvSpPr txBox="1">
            <a:spLocks noChangeArrowheads="1"/>
          </p:cNvSpPr>
          <p:nvPr/>
        </p:nvSpPr>
        <p:spPr bwMode="auto">
          <a:xfrm>
            <a:off x="6934200" y="35052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a:t>
            </a:r>
            <a:endParaRPr lang="en-US" altLang="zh-CN" b="1" dirty="0">
              <a:effectLst>
                <a:outerShdw blurRad="38100" dist="38100" dir="2700000" algn="tl">
                  <a:srgbClr val="C0C0C0"/>
                </a:outerShdw>
              </a:effectLst>
              <a:ea typeface="微软雅黑" panose="020B0503020204020204" pitchFamily="34" charset="-122"/>
            </a:endParaRP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1" name="Text Box 21"/>
          <p:cNvSpPr txBox="1">
            <a:spLocks noChangeArrowheads="1"/>
          </p:cNvSpPr>
          <p:nvPr/>
        </p:nvSpPr>
        <p:spPr bwMode="auto">
          <a:xfrm>
            <a:off x="250825" y="304800"/>
            <a:ext cx="8713788" cy="6162675"/>
          </a:xfrm>
          <a:prstGeom prst="rect">
            <a:avLst/>
          </a:prstGeom>
          <a:noFill/>
          <a:ln w="9525">
            <a:noFill/>
            <a:miter lim="800000"/>
          </a:ln>
          <a:effectLst/>
        </p:spPr>
        <p:txBody>
          <a:bodyPr>
            <a:spAutoFit/>
          </a:bodyPr>
          <a:lstStyle/>
          <a:p>
            <a:pPr eaLnBrk="1" hangingPunct="1">
              <a:spcBef>
                <a:spcPct val="50000"/>
              </a:spcBef>
              <a:defRPr/>
            </a:pPr>
            <a:r>
              <a:rPr lang="en-US" altLang="zh-CN" b="1" dirty="0">
                <a:effectLst>
                  <a:outerShdw blurRad="38100" dist="38100" dir="2700000" algn="tl">
                    <a:srgbClr val="C0C0C0"/>
                  </a:outerShdw>
                </a:effectLst>
                <a:ea typeface="微软雅黑" panose="020B0503020204020204" pitchFamily="34" charset="-122"/>
              </a:rPr>
              <a:t> </a:t>
            </a:r>
            <a:r>
              <a:rPr lang="zh-CN" altLang="zh-CN" sz="2800" b="1" dirty="0">
                <a:latin typeface="Times New Roman" panose="02020603050405020304" pitchFamily="18" charset="0"/>
                <a:ea typeface="微软雅黑" panose="020B0503020204020204" pitchFamily="34" charset="-122"/>
              </a:rPr>
              <a:t>因为</a:t>
            </a:r>
            <a:r>
              <a:rPr lang="en-US" altLang="zh-CN" sz="2800" b="1" i="1" dirty="0">
                <a:latin typeface="Times New Roman" panose="02020603050405020304" pitchFamily="18" charset="0"/>
                <a:ea typeface="微软雅黑" panose="020B0503020204020204" pitchFamily="34" charset="-122"/>
              </a:rPr>
              <a:t>x</a:t>
            </a:r>
            <a:r>
              <a:rPr lang="en-US" altLang="zh-CN" sz="2800" b="1" dirty="0">
                <a:latin typeface="Times New Roman" panose="02020603050405020304" pitchFamily="18" charset="0"/>
                <a:ea typeface="微软雅黑" panose="020B0503020204020204" pitchFamily="34" charset="-122"/>
              </a:rPr>
              <a:t>’</a:t>
            </a:r>
            <a:r>
              <a:rPr lang="zh-CN" altLang="en-US" sz="2800" b="1" dirty="0">
                <a:latin typeface="Times New Roman" panose="02020603050405020304" pitchFamily="18" charset="0"/>
                <a:ea typeface="微软雅黑" panose="020B0503020204020204" pitchFamily="34" charset="-122"/>
              </a:rPr>
              <a:t>是</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(1) </a:t>
            </a:r>
            <a:r>
              <a:rPr lang="zh-CN" altLang="en-US" sz="2800" b="1" dirty="0">
                <a:latin typeface="仿宋" panose="02010609060101010101" pitchFamily="49" charset="-122"/>
                <a:ea typeface="仿宋" panose="02010609060101010101" pitchFamily="49" charset="-122"/>
              </a:rPr>
              <a:t>，</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(3)</a:t>
            </a:r>
            <a:r>
              <a:rPr lang="zh-CN" altLang="en-US" sz="2800" b="1" dirty="0">
                <a:latin typeface="Times New Roman" panose="02020603050405020304" pitchFamily="18" charset="0"/>
                <a:ea typeface="微软雅黑" panose="020B0503020204020204" pitchFamily="34" charset="-122"/>
              </a:rPr>
              <a:t>连线上的一点</a:t>
            </a:r>
            <a:r>
              <a:rPr lang="zh-CN" altLang="en-US" sz="2800" b="1" dirty="0">
                <a:latin typeface="仿宋" panose="02010609060101010101" pitchFamily="49" charset="-122"/>
                <a:ea typeface="仿宋" panose="02010609060101010101" pitchFamily="49" charset="-122"/>
              </a:rPr>
              <a:t>，</a:t>
            </a:r>
            <a:r>
              <a:rPr lang="zh-CN" altLang="en-US" sz="2800" b="1" dirty="0">
                <a:latin typeface="Times New Roman" panose="02020603050405020304" pitchFamily="18" charset="0"/>
                <a:ea typeface="微软雅黑" panose="020B0503020204020204" pitchFamily="34" charset="-122"/>
              </a:rPr>
              <a:t>故</a:t>
            </a:r>
            <a:r>
              <a:rPr lang="zh-CN" altLang="en-US" sz="3200" b="1" dirty="0">
                <a:latin typeface="Times New Roman" panose="02020603050405020304" pitchFamily="18" charset="0"/>
                <a:ea typeface="微软雅黑" panose="020B0503020204020204" pitchFamily="34" charset="-122"/>
              </a:rPr>
              <a:t> </a:t>
            </a:r>
          </a:p>
          <a:p>
            <a:pPr eaLnBrk="1" hangingPunct="1">
              <a:spcBef>
                <a:spcPct val="50000"/>
              </a:spcBef>
              <a:defRPr/>
            </a:pPr>
            <a:r>
              <a:rPr lang="zh-CN" altLang="en-US" sz="3200" b="1" dirty="0">
                <a:latin typeface="Times New Roman" panose="02020603050405020304" pitchFamily="18" charset="0"/>
                <a:ea typeface="微软雅黑" panose="020B0503020204020204" pitchFamily="34" charset="-122"/>
              </a:rPr>
              <a:t>               </a:t>
            </a:r>
            <a:r>
              <a:rPr lang="en-US" altLang="zh-CN" sz="3200" b="1" i="1" dirty="0">
                <a:latin typeface="Times New Roman" panose="02020603050405020304" pitchFamily="18" charset="0"/>
                <a:ea typeface="微软雅黑" panose="020B0503020204020204" pitchFamily="34" charset="-122"/>
              </a:rPr>
              <a:t>x</a:t>
            </a:r>
            <a:r>
              <a:rPr lang="en-US" altLang="zh-CN" sz="3200" b="1" dirty="0">
                <a:latin typeface="Times New Roman" panose="02020603050405020304" pitchFamily="18" charset="0"/>
                <a:ea typeface="微软雅黑" panose="020B0503020204020204" pitchFamily="34" charset="-122"/>
              </a:rPr>
              <a:t>’ </a:t>
            </a:r>
            <a:r>
              <a:rPr lang="en-US" altLang="zh-CN" b="1" dirty="0">
                <a:latin typeface="Times New Roman" panose="02020603050405020304" pitchFamily="18" charset="0"/>
                <a:ea typeface="微软雅黑" panose="020B0503020204020204" pitchFamily="34" charset="-122"/>
              </a:rPr>
              <a:t>= </a:t>
            </a:r>
            <a:r>
              <a:rPr lang="en-US" altLang="zh-CN" sz="3600"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 </a:t>
            </a:r>
            <a:r>
              <a:rPr lang="en-US" altLang="zh-CN" b="1" dirty="0">
                <a:latin typeface="Times New Roman" panose="02020603050405020304" pitchFamily="18" charset="0"/>
                <a:ea typeface="微软雅黑" panose="020B0503020204020204" pitchFamily="34" charset="-122"/>
              </a:rPr>
              <a:t>+(1- </a:t>
            </a:r>
            <a:r>
              <a:rPr lang="en-US" altLang="zh-CN" sz="3600"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(3)          </a:t>
            </a:r>
            <a:r>
              <a:rPr lang="en-US" altLang="zh-CN" b="1" dirty="0">
                <a:latin typeface="Times New Roman" panose="02020603050405020304" pitchFamily="18" charset="0"/>
                <a:ea typeface="微软雅黑" panose="020B0503020204020204" pitchFamily="34" charset="-122"/>
              </a:rPr>
              <a:t> (0&lt; </a:t>
            </a:r>
            <a:r>
              <a:rPr lang="en-US" altLang="zh-CN" sz="3600"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 &lt;1)</a:t>
            </a:r>
          </a:p>
          <a:p>
            <a:pPr eaLnBrk="1" hangingPunct="1">
              <a:spcBef>
                <a:spcPct val="50000"/>
              </a:spcBef>
              <a:defRPr/>
            </a:pPr>
            <a:r>
              <a:rPr lang="zh-CN" altLang="zh-CN" sz="2800" b="1" dirty="0">
                <a:latin typeface="Times New Roman" panose="02020603050405020304" pitchFamily="18" charset="0"/>
                <a:ea typeface="微软雅黑" panose="020B0503020204020204" pitchFamily="34" charset="-122"/>
              </a:rPr>
              <a:t>又因为</a:t>
            </a:r>
            <a:r>
              <a:rPr lang="en-US" altLang="zh-CN" sz="2800" b="1" i="1" dirty="0">
                <a:latin typeface="Times New Roman" panose="02020603050405020304" pitchFamily="18" charset="0"/>
                <a:ea typeface="微软雅黑" panose="020B0503020204020204" pitchFamily="34" charset="-122"/>
              </a:rPr>
              <a:t>x</a:t>
            </a:r>
            <a:r>
              <a:rPr lang="zh-CN" altLang="en-US" sz="2800" b="1" dirty="0">
                <a:latin typeface="Times New Roman" panose="02020603050405020304" pitchFamily="18" charset="0"/>
                <a:ea typeface="微软雅黑" panose="020B0503020204020204" pitchFamily="34" charset="-122"/>
              </a:rPr>
              <a:t>是</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 ’ </a:t>
            </a:r>
            <a:r>
              <a:rPr lang="zh-CN" altLang="en-US" sz="2800" b="1" dirty="0">
                <a:latin typeface="仿宋" panose="02010609060101010101" pitchFamily="49" charset="-122"/>
                <a:ea typeface="仿宋" panose="02010609060101010101" pitchFamily="49" charset="-122"/>
              </a:rPr>
              <a:t>，</a:t>
            </a:r>
            <a:r>
              <a:rPr lang="en-US" altLang="zh-CN" sz="2800" b="1" i="1" dirty="0">
                <a:latin typeface="Times New Roman" panose="02020603050405020304" pitchFamily="18" charset="0"/>
                <a:ea typeface="微软雅黑" panose="020B0503020204020204" pitchFamily="34" charset="-122"/>
              </a:rPr>
              <a:t>x</a:t>
            </a:r>
            <a:r>
              <a:rPr lang="en-US" altLang="zh-CN" sz="2800" b="1" baseline="30000" dirty="0">
                <a:latin typeface="Times New Roman" panose="02020603050405020304" pitchFamily="18" charset="0"/>
                <a:ea typeface="微软雅黑" panose="020B0503020204020204" pitchFamily="34" charset="-122"/>
              </a:rPr>
              <a:t>(2)</a:t>
            </a:r>
            <a:r>
              <a:rPr lang="zh-CN" altLang="en-US" sz="2800" b="1" dirty="0">
                <a:latin typeface="Times New Roman" panose="02020603050405020304" pitchFamily="18" charset="0"/>
                <a:ea typeface="微软雅黑" panose="020B0503020204020204" pitchFamily="34" charset="-122"/>
              </a:rPr>
              <a:t>连线上的一点</a:t>
            </a:r>
            <a:r>
              <a:rPr lang="zh-CN" altLang="en-US" sz="2800" b="1" dirty="0">
                <a:latin typeface="仿宋" panose="02010609060101010101" pitchFamily="49" charset="-122"/>
                <a:ea typeface="仿宋" panose="02010609060101010101" pitchFamily="49" charset="-122"/>
              </a:rPr>
              <a:t>，</a:t>
            </a:r>
            <a:r>
              <a:rPr lang="zh-CN" altLang="en-US" sz="2800" b="1" dirty="0">
                <a:latin typeface="Times New Roman" panose="02020603050405020304" pitchFamily="18" charset="0"/>
                <a:ea typeface="微软雅黑" panose="020B0503020204020204" pitchFamily="34" charset="-122"/>
              </a:rPr>
              <a:t>故</a:t>
            </a:r>
          </a:p>
          <a:p>
            <a:pPr eaLnBrk="1" hangingPunct="1">
              <a:spcBef>
                <a:spcPct val="50000"/>
              </a:spcBef>
              <a:defRPr/>
            </a:pPr>
            <a:r>
              <a:rPr lang="zh-CN" altLang="en-US" sz="3200"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dirty="0">
                <a:latin typeface="Times New Roman" panose="02020603050405020304" pitchFamily="18" charset="0"/>
                <a:ea typeface="微软雅黑" panose="020B0503020204020204" pitchFamily="34" charset="-122"/>
              </a:rPr>
              <a:t> = </a:t>
            </a:r>
            <a:r>
              <a:rPr lang="en-US" altLang="zh-CN"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 </a:t>
            </a:r>
            <a:r>
              <a:rPr lang="en-US" altLang="zh-CN" b="1" dirty="0">
                <a:latin typeface="Times New Roman" panose="02020603050405020304" pitchFamily="18" charset="0"/>
                <a:ea typeface="微软雅黑" panose="020B0503020204020204" pitchFamily="34" charset="-122"/>
              </a:rPr>
              <a:t>+(1- </a:t>
            </a:r>
            <a:r>
              <a:rPr lang="en-US" altLang="zh-CN"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                  </a:t>
            </a:r>
            <a:r>
              <a:rPr lang="en-US" altLang="zh-CN" b="1" dirty="0">
                <a:latin typeface="Times New Roman" panose="02020603050405020304" pitchFamily="18" charset="0"/>
                <a:ea typeface="微软雅黑" panose="020B0503020204020204" pitchFamily="34" charset="-122"/>
              </a:rPr>
              <a:t> (0&lt; </a:t>
            </a:r>
            <a:r>
              <a:rPr lang="en-US" altLang="zh-CN" b="1" dirty="0">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latin typeface="Times New Roman" panose="02020603050405020304" pitchFamily="18" charset="0"/>
                <a:ea typeface="微软雅黑" panose="020B0503020204020204" pitchFamily="34" charset="-122"/>
              </a:rPr>
              <a:t> &lt;1)</a:t>
            </a:r>
          </a:p>
          <a:p>
            <a:pPr eaLnBrk="1" hangingPunct="1">
              <a:spcBef>
                <a:spcPct val="50000"/>
              </a:spcBef>
              <a:defRPr/>
            </a:pP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dirty="0">
                <a:highlight>
                  <a:srgbClr val="FFFF00"/>
                </a:highlight>
                <a:latin typeface="Times New Roman" panose="02020603050405020304" pitchFamily="18" charset="0"/>
                <a:ea typeface="微软雅黑" panose="020B0503020204020204" pitchFamily="34" charset="-122"/>
              </a:rPr>
              <a:t> =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zh-CN" altLang="en-US" b="1" dirty="0">
                <a:highlight>
                  <a:srgbClr val="FFFF00"/>
                </a:highlight>
                <a:latin typeface="Times New Roman" panose="02020603050405020304" pitchFamily="18" charset="0"/>
                <a:ea typeface="微软雅黑" panose="020B0503020204020204" pitchFamily="34" charset="-122"/>
              </a:rPr>
              <a:t>（ </a:t>
            </a:r>
            <a:r>
              <a:rPr lang="zh-CN" altLang="en-US"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zh-CN" altLang="en-US" b="1" dirty="0">
                <a:highlight>
                  <a:srgbClr val="FFFF00"/>
                </a:highlight>
                <a:latin typeface="Times New Roman" panose="02020603050405020304" pitchFamily="18" charset="0"/>
                <a:ea typeface="微软雅黑" panose="020B0503020204020204" pitchFamily="34" charset="-122"/>
              </a:rPr>
              <a:t> </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(1) </a:t>
            </a:r>
            <a:r>
              <a:rPr lang="en-US" altLang="zh-CN" b="1" dirty="0">
                <a:highlight>
                  <a:srgbClr val="FFFF00"/>
                </a:highlight>
                <a:latin typeface="Times New Roman" panose="02020603050405020304" pitchFamily="18" charset="0"/>
                <a:ea typeface="微软雅黑" panose="020B0503020204020204" pitchFamily="34" charset="-122"/>
              </a:rPr>
              <a:t>+(1- </a:t>
            </a:r>
            <a:r>
              <a:rPr lang="en-US" altLang="zh-CN"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(3)</a:t>
            </a:r>
            <a:r>
              <a:rPr lang="zh-CN" altLang="en-US" b="1" dirty="0">
                <a:highlight>
                  <a:srgbClr val="FFFF00"/>
                </a:highlight>
                <a:latin typeface="Times New Roman" panose="02020603050405020304" pitchFamily="18" charset="0"/>
                <a:ea typeface="微软雅黑" panose="020B0503020204020204" pitchFamily="34" charset="-122"/>
              </a:rPr>
              <a:t>）</a:t>
            </a:r>
            <a:r>
              <a:rPr lang="zh-CN" altLang="en-US" b="1" baseline="30000"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rPr>
              <a:t>+(1-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(2)</a:t>
            </a:r>
          </a:p>
          <a:p>
            <a:pPr eaLnBrk="1" hangingPunct="1">
              <a:spcBef>
                <a:spcPct val="50000"/>
              </a:spcBef>
              <a:defRPr/>
            </a:pPr>
            <a:r>
              <a:rPr lang="en-US" altLang="zh-CN" b="1" baseline="30000"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(1) </a:t>
            </a:r>
            <a:r>
              <a:rPr lang="en-US" altLang="zh-CN" b="1" dirty="0">
                <a:highlight>
                  <a:srgbClr val="FFFF00"/>
                </a:highlight>
                <a:latin typeface="Times New Roman" panose="02020603050405020304" pitchFamily="18" charset="0"/>
                <a:ea typeface="微软雅黑" panose="020B0503020204020204" pitchFamily="34" charset="-122"/>
              </a:rPr>
              <a:t>+(1-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(2) </a:t>
            </a:r>
            <a:r>
              <a:rPr lang="en-US" altLang="zh-CN" b="1" dirty="0">
                <a:highlight>
                  <a:srgbClr val="FFFF00"/>
                </a:highlight>
                <a:latin typeface="Times New Roman" panose="02020603050405020304" pitchFamily="18" charset="0"/>
                <a:ea typeface="微软雅黑" panose="020B0503020204020204" pitchFamily="34" charset="-122"/>
              </a:rPr>
              <a:t>+(1- </a:t>
            </a:r>
            <a:r>
              <a:rPr lang="en-US" altLang="zh-CN"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(3)</a:t>
            </a:r>
          </a:p>
          <a:p>
            <a:pPr eaLnBrk="1" hangingPunct="1">
              <a:spcBef>
                <a:spcPct val="50000"/>
              </a:spcBef>
              <a:defRPr/>
            </a:pPr>
            <a:r>
              <a:rPr lang="en-US" altLang="zh-CN" b="1" dirty="0">
                <a:highlight>
                  <a:srgbClr val="FFFF00"/>
                </a:highlight>
                <a:latin typeface="Times New Roman" panose="02020603050405020304" pitchFamily="18" charset="0"/>
                <a:ea typeface="微软雅黑" panose="020B0503020204020204" pitchFamily="34" charset="-122"/>
              </a:rPr>
              <a:t>   =u</a:t>
            </a:r>
            <a:r>
              <a:rPr lang="en-US" altLang="zh-CN" b="1" baseline="-25000" dirty="0">
                <a:highlight>
                  <a:srgbClr val="FFFF00"/>
                </a:highlight>
                <a:latin typeface="Times New Roman" panose="02020603050405020304" pitchFamily="18" charset="0"/>
                <a:ea typeface="微软雅黑" panose="020B0503020204020204" pitchFamily="34" charset="-122"/>
              </a:rPr>
              <a:t>1</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(1) </a:t>
            </a:r>
            <a:r>
              <a:rPr lang="en-US" altLang="zh-CN" b="1" dirty="0">
                <a:highlight>
                  <a:srgbClr val="FFFF00"/>
                </a:highlight>
                <a:latin typeface="Times New Roman" panose="02020603050405020304" pitchFamily="18" charset="0"/>
                <a:ea typeface="微软雅黑" panose="020B0503020204020204" pitchFamily="34" charset="-122"/>
              </a:rPr>
              <a:t>+u</a:t>
            </a:r>
            <a:r>
              <a:rPr lang="en-US" altLang="zh-CN" b="1" baseline="-25000" dirty="0">
                <a:highlight>
                  <a:srgbClr val="FFFF00"/>
                </a:highlight>
                <a:latin typeface="Times New Roman" panose="02020603050405020304" pitchFamily="18" charset="0"/>
                <a:ea typeface="微软雅黑" panose="020B0503020204020204" pitchFamily="34" charset="-122"/>
              </a:rPr>
              <a:t>2</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(2) </a:t>
            </a:r>
            <a:r>
              <a:rPr lang="en-US" altLang="zh-CN" b="1" dirty="0">
                <a:highlight>
                  <a:srgbClr val="FFFF00"/>
                </a:highlight>
                <a:latin typeface="Times New Roman" panose="02020603050405020304" pitchFamily="18" charset="0"/>
                <a:ea typeface="微软雅黑" panose="020B0503020204020204" pitchFamily="34" charset="-122"/>
              </a:rPr>
              <a:t>+u</a:t>
            </a:r>
            <a:r>
              <a:rPr lang="en-US" altLang="zh-CN" b="1" baseline="-25000" dirty="0">
                <a:highlight>
                  <a:srgbClr val="FFFF00"/>
                </a:highlight>
                <a:latin typeface="Times New Roman" panose="02020603050405020304" pitchFamily="18" charset="0"/>
                <a:ea typeface="微软雅黑" panose="020B0503020204020204" pitchFamily="34" charset="-122"/>
              </a:rPr>
              <a:t>3</a:t>
            </a:r>
            <a:r>
              <a:rPr lang="en-US" altLang="zh-CN" b="1" i="1" dirty="0">
                <a:highlight>
                  <a:srgbClr val="FFFF00"/>
                </a:highlight>
                <a:latin typeface="Times New Roman" panose="02020603050405020304" pitchFamily="18" charset="0"/>
                <a:ea typeface="微软雅黑" panose="020B0503020204020204" pitchFamily="34" charset="-122"/>
              </a:rPr>
              <a:t>x</a:t>
            </a:r>
            <a:r>
              <a:rPr lang="en-US" altLang="zh-CN" b="1" baseline="30000" dirty="0">
                <a:highlight>
                  <a:srgbClr val="FFFF00"/>
                </a:highlight>
                <a:latin typeface="Times New Roman" panose="02020603050405020304" pitchFamily="18" charset="0"/>
                <a:ea typeface="微软雅黑" panose="020B0503020204020204" pitchFamily="34" charset="-122"/>
              </a:rPr>
              <a:t>(3)                      </a:t>
            </a:r>
            <a:r>
              <a:rPr lang="zh-CN" altLang="zh-CN" b="1" dirty="0">
                <a:highlight>
                  <a:srgbClr val="FFFF00"/>
                </a:highlight>
                <a:latin typeface="Times New Roman" panose="02020603050405020304" pitchFamily="18" charset="0"/>
                <a:ea typeface="微软雅黑" panose="020B0503020204020204" pitchFamily="34" charset="-122"/>
              </a:rPr>
              <a:t>其中       </a:t>
            </a:r>
            <a:r>
              <a:rPr lang="en-US" altLang="zh-CN" b="1" dirty="0">
                <a:highlight>
                  <a:srgbClr val="FFFF00"/>
                </a:highlight>
                <a:latin typeface="Times New Roman" panose="02020603050405020304" pitchFamily="18" charset="0"/>
                <a:ea typeface="微软雅黑" panose="020B0503020204020204" pitchFamily="34" charset="-122"/>
              </a:rPr>
              <a:t>(0&lt;</a:t>
            </a:r>
            <a:r>
              <a:rPr lang="en-US" altLang="zh-CN" b="1" dirty="0" err="1">
                <a:highlight>
                  <a:srgbClr val="FFFF00"/>
                </a:highlight>
                <a:latin typeface="Times New Roman" panose="02020603050405020304" pitchFamily="18" charset="0"/>
                <a:ea typeface="微软雅黑" panose="020B0503020204020204" pitchFamily="34" charset="-122"/>
              </a:rPr>
              <a:t>u</a:t>
            </a:r>
            <a:r>
              <a:rPr lang="en-US" altLang="zh-CN" b="1" i="1" baseline="-25000" dirty="0" err="1">
                <a:highlight>
                  <a:srgbClr val="FFFF00"/>
                </a:highlight>
                <a:latin typeface="Times New Roman" panose="02020603050405020304" pitchFamily="18" charset="0"/>
                <a:ea typeface="微软雅黑" panose="020B0503020204020204" pitchFamily="34" charset="-122"/>
              </a:rPr>
              <a:t>i</a:t>
            </a:r>
            <a:r>
              <a:rPr lang="en-US" altLang="zh-CN" b="1" dirty="0">
                <a:highlight>
                  <a:srgbClr val="FFFF00"/>
                </a:highlight>
                <a:latin typeface="Times New Roman" panose="02020603050405020304" pitchFamily="18" charset="0"/>
                <a:ea typeface="微软雅黑" panose="020B0503020204020204" pitchFamily="34" charset="-122"/>
              </a:rPr>
              <a:t>&lt;1)</a:t>
            </a:r>
          </a:p>
          <a:p>
            <a:pPr eaLnBrk="1" hangingPunct="1">
              <a:spcBef>
                <a:spcPct val="50000"/>
              </a:spcBef>
              <a:defRPr/>
            </a:pPr>
            <a:endParaRPr lang="en-US" altLang="zh-CN" b="1" baseline="30000" dirty="0">
              <a:highlight>
                <a:srgbClr val="FFFF00"/>
              </a:highlight>
              <a:latin typeface="Times New Roman" panose="02020603050405020304" pitchFamily="18" charset="0"/>
              <a:ea typeface="微软雅黑" panose="020B0503020204020204" pitchFamily="34" charset="-122"/>
            </a:endParaRPr>
          </a:p>
          <a:p>
            <a:pPr eaLnBrk="1" hangingPunct="1">
              <a:spcBef>
                <a:spcPct val="50000"/>
              </a:spcBef>
              <a:defRPr/>
            </a:pPr>
            <a:r>
              <a:rPr lang="en-US" altLang="zh-CN" b="1" dirty="0">
                <a:highlight>
                  <a:srgbClr val="FFFF00"/>
                </a:highlight>
                <a:latin typeface="Times New Roman" panose="02020603050405020304" pitchFamily="18" charset="0"/>
                <a:ea typeface="微软雅黑" panose="020B0503020204020204" pitchFamily="34" charset="-122"/>
              </a:rPr>
              <a:t>   </a:t>
            </a:r>
            <a:r>
              <a:rPr lang="zh-CN" altLang="en-US" b="1" dirty="0">
                <a:highlight>
                  <a:srgbClr val="FFFF00"/>
                </a:highlight>
                <a:latin typeface="Times New Roman" panose="02020603050405020304" pitchFamily="18" charset="0"/>
                <a:ea typeface="微软雅黑" panose="020B0503020204020204" pitchFamily="34" charset="-122"/>
              </a:rPr>
              <a:t>且</a:t>
            </a:r>
            <a:r>
              <a:rPr lang="en-US" altLang="zh-CN" b="1" dirty="0">
                <a:highlight>
                  <a:srgbClr val="FFFF00"/>
                </a:highlight>
                <a:latin typeface="Times New Roman" panose="02020603050405020304" pitchFamily="18" charset="0"/>
                <a:ea typeface="微软雅黑" panose="020B0503020204020204" pitchFamily="34" charset="-122"/>
              </a:rPr>
              <a:t>u</a:t>
            </a:r>
            <a:r>
              <a:rPr lang="en-US" altLang="zh-CN" b="1" baseline="-25000" dirty="0">
                <a:highlight>
                  <a:srgbClr val="FFFF00"/>
                </a:highlight>
                <a:latin typeface="Times New Roman" panose="02020603050405020304" pitchFamily="18" charset="0"/>
                <a:ea typeface="微软雅黑" panose="020B0503020204020204" pitchFamily="34" charset="-122"/>
              </a:rPr>
              <a:t>1</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baseline="30000"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rPr>
              <a:t>+u</a:t>
            </a:r>
            <a:r>
              <a:rPr lang="en-US" altLang="zh-CN" b="1" baseline="-25000" dirty="0">
                <a:highlight>
                  <a:srgbClr val="FFFF00"/>
                </a:highlight>
                <a:latin typeface="Times New Roman" panose="02020603050405020304" pitchFamily="18" charset="0"/>
                <a:ea typeface="微软雅黑" panose="020B0503020204020204" pitchFamily="34" charset="-122"/>
              </a:rPr>
              <a:t>2</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baseline="30000"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rPr>
              <a:t>+u</a:t>
            </a:r>
            <a:r>
              <a:rPr lang="en-US" altLang="zh-CN" b="1" baseline="-25000" dirty="0">
                <a:highlight>
                  <a:srgbClr val="FFFF00"/>
                </a:highlight>
                <a:latin typeface="Times New Roman" panose="02020603050405020304" pitchFamily="18" charset="0"/>
                <a:ea typeface="微软雅黑" panose="020B0503020204020204" pitchFamily="34" charset="-122"/>
              </a:rPr>
              <a:t>3 </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baseline="30000" dirty="0">
                <a:highlight>
                  <a:srgbClr val="FFFF00"/>
                </a:highlight>
                <a:latin typeface="Times New Roman" panose="02020603050405020304" pitchFamily="18" charset="0"/>
                <a:ea typeface="微软雅黑" panose="020B0503020204020204" pitchFamily="34" charset="-122"/>
              </a:rPr>
              <a:t> </a:t>
            </a:r>
            <a:r>
              <a:rPr lang="en-US" altLang="zh-CN"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+(1-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)+(1- </a:t>
            </a:r>
            <a:r>
              <a:rPr lang="en-US" altLang="zh-CN" sz="3600"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a:t>
            </a:r>
            <a:r>
              <a:rPr lang="en-US" altLang="zh-CN" b="1" dirty="0">
                <a:highlight>
                  <a:srgbClr val="FFFF00"/>
                </a:highlight>
                <a:latin typeface="Times New Roman" panose="02020603050405020304" pitchFamily="18" charset="0"/>
                <a:ea typeface="微软雅黑" panose="020B0503020204020204" pitchFamily="34" charset="-122"/>
                <a:sym typeface="Symbol" panose="05050102010706020507" pitchFamily="18" charset="2"/>
              </a:rPr>
              <a:t></a:t>
            </a:r>
            <a:r>
              <a:rPr lang="en-US" altLang="zh-CN" b="1" dirty="0">
                <a:highlight>
                  <a:srgbClr val="FFFF00"/>
                </a:highlight>
                <a:latin typeface="Times New Roman" panose="02020603050405020304" pitchFamily="18" charset="0"/>
                <a:ea typeface="微软雅黑" panose="020B0503020204020204" pitchFamily="34" charset="-122"/>
              </a:rPr>
              <a:t> =1</a:t>
            </a:r>
          </a:p>
        </p:txBody>
      </p:sp>
      <p:sp>
        <p:nvSpPr>
          <p:cNvPr id="41987" name="Line 9"/>
          <p:cNvSpPr>
            <a:spLocks noChangeShapeType="1"/>
          </p:cNvSpPr>
          <p:nvPr/>
        </p:nvSpPr>
        <p:spPr bwMode="auto">
          <a:xfrm flipV="1">
            <a:off x="5181600" y="3486150"/>
            <a:ext cx="2209800" cy="6096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88" name="Line 10"/>
          <p:cNvSpPr>
            <a:spLocks noChangeShapeType="1"/>
          </p:cNvSpPr>
          <p:nvPr/>
        </p:nvSpPr>
        <p:spPr bwMode="auto">
          <a:xfrm>
            <a:off x="7391400" y="3486150"/>
            <a:ext cx="1143000" cy="25908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89" name="Line 11"/>
          <p:cNvSpPr>
            <a:spLocks noChangeShapeType="1"/>
          </p:cNvSpPr>
          <p:nvPr/>
        </p:nvSpPr>
        <p:spPr bwMode="auto">
          <a:xfrm>
            <a:off x="5181600" y="4095750"/>
            <a:ext cx="3352800" cy="19812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Text Box 14"/>
          <p:cNvSpPr txBox="1">
            <a:spLocks noChangeArrowheads="1"/>
          </p:cNvSpPr>
          <p:nvPr/>
        </p:nvSpPr>
        <p:spPr bwMode="auto">
          <a:xfrm>
            <a:off x="5448300" y="392430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(1)</a:t>
            </a:r>
            <a:endParaRPr lang="en-US" altLang="zh-CN" b="1" dirty="0">
              <a:effectLst>
                <a:outerShdw blurRad="38100" dist="38100" dir="2700000" algn="tl">
                  <a:srgbClr val="C0C0C0"/>
                </a:outerShdw>
              </a:effectLst>
              <a:ea typeface="微软雅黑" panose="020B0503020204020204" pitchFamily="34" charset="-122"/>
            </a:endParaRPr>
          </a:p>
        </p:txBody>
      </p:sp>
      <p:sp>
        <p:nvSpPr>
          <p:cNvPr id="7" name="Text Box 15"/>
          <p:cNvSpPr txBox="1">
            <a:spLocks noChangeArrowheads="1"/>
          </p:cNvSpPr>
          <p:nvPr/>
        </p:nvSpPr>
        <p:spPr bwMode="auto">
          <a:xfrm>
            <a:off x="7239000" y="3028950"/>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(2)</a:t>
            </a:r>
            <a:endParaRPr lang="en-US" altLang="zh-CN" b="1" dirty="0">
              <a:effectLst>
                <a:outerShdw blurRad="38100" dist="38100" dir="2700000" algn="tl">
                  <a:srgbClr val="C0C0C0"/>
                </a:outerShdw>
              </a:effectLst>
              <a:ea typeface="微软雅黑" panose="020B0503020204020204" pitchFamily="34" charset="-122"/>
            </a:endParaRPr>
          </a:p>
        </p:txBody>
      </p:sp>
      <p:sp>
        <p:nvSpPr>
          <p:cNvPr id="41992" name="Oval 17"/>
          <p:cNvSpPr>
            <a:spLocks noChangeArrowheads="1"/>
          </p:cNvSpPr>
          <p:nvPr/>
        </p:nvSpPr>
        <p:spPr bwMode="auto">
          <a:xfrm>
            <a:off x="7239000" y="4476750"/>
            <a:ext cx="76200" cy="76200"/>
          </a:xfrm>
          <a:prstGeom prst="ellipse">
            <a:avLst/>
          </a:prstGeom>
          <a:solidFill>
            <a:srgbClr val="00FF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41993" name="Text Box 18"/>
          <p:cNvSpPr txBox="1">
            <a:spLocks noChangeArrowheads="1"/>
          </p:cNvSpPr>
          <p:nvPr/>
        </p:nvSpPr>
        <p:spPr bwMode="auto">
          <a:xfrm>
            <a:off x="7391400" y="440055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p>
        </p:txBody>
      </p:sp>
      <p:sp>
        <p:nvSpPr>
          <p:cNvPr id="41994" name="Line 22"/>
          <p:cNvSpPr>
            <a:spLocks noChangeShapeType="1"/>
          </p:cNvSpPr>
          <p:nvPr/>
        </p:nvSpPr>
        <p:spPr bwMode="auto">
          <a:xfrm flipH="1">
            <a:off x="7162800" y="3562350"/>
            <a:ext cx="228600" cy="17526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23"/>
          <p:cNvSpPr txBox="1">
            <a:spLocks noChangeArrowheads="1"/>
          </p:cNvSpPr>
          <p:nvPr/>
        </p:nvSpPr>
        <p:spPr bwMode="auto">
          <a:xfrm>
            <a:off x="6934200" y="5314950"/>
            <a:ext cx="381000" cy="457200"/>
          </a:xfrm>
          <a:prstGeom prst="rect">
            <a:avLst/>
          </a:prstGeom>
          <a:noFill/>
          <a:ln w="9525">
            <a:noFill/>
            <a:miter lim="800000"/>
          </a:ln>
          <a:effectLst/>
        </p:spPr>
        <p:txBody>
          <a:bodyPr>
            <a:spAutoFit/>
          </a:bodyPr>
          <a:lstStyle/>
          <a:p>
            <a:pPr eaLnBrk="1" hangingPunct="1">
              <a:spcBef>
                <a:spcPct val="50000"/>
              </a:spcBef>
              <a:defRPr/>
            </a:pPr>
            <a:endParaRPr lang="zh-CN" altLang="zh-CN" b="1" dirty="0">
              <a:effectLst>
                <a:outerShdw blurRad="38100" dist="38100" dir="2700000" algn="tl">
                  <a:srgbClr val="C0C0C0"/>
                </a:outerShdw>
              </a:effectLst>
              <a:ea typeface="微软雅黑" panose="020B0503020204020204" pitchFamily="34" charset="-122"/>
            </a:endParaRPr>
          </a:p>
        </p:txBody>
      </p:sp>
      <p:sp>
        <p:nvSpPr>
          <p:cNvPr id="12" name="Text Box 24"/>
          <p:cNvSpPr txBox="1">
            <a:spLocks noChangeArrowheads="1"/>
          </p:cNvSpPr>
          <p:nvPr/>
        </p:nvSpPr>
        <p:spPr bwMode="auto">
          <a:xfrm>
            <a:off x="6934200" y="5391150"/>
            <a:ext cx="5334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a:effectLst>
                  <a:outerShdw blurRad="38100" dist="38100" dir="2700000" algn="tl">
                    <a:srgbClr val="C0C0C0"/>
                  </a:outerShdw>
                </a:effectLst>
                <a:latin typeface="宋体" panose="02010600030101010101" pitchFamily="2" charset="-122"/>
              </a:rPr>
              <a:t>’</a:t>
            </a:r>
          </a:p>
        </p:txBody>
      </p:sp>
      <p:sp>
        <p:nvSpPr>
          <p:cNvPr id="13" name="Text Box 16"/>
          <p:cNvSpPr txBox="1">
            <a:spLocks noChangeArrowheads="1"/>
          </p:cNvSpPr>
          <p:nvPr/>
        </p:nvSpPr>
        <p:spPr bwMode="auto">
          <a:xfrm>
            <a:off x="8382000" y="5411788"/>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a:t>
            </a:r>
            <a:endParaRPr lang="en-US" altLang="zh-CN" b="1" dirty="0">
              <a:effectLst>
                <a:outerShdw blurRad="38100" dist="38100" dir="2700000" algn="tl">
                  <a:srgbClr val="C0C0C0"/>
                </a:outerShdw>
              </a:effectLst>
              <a:ea typeface="微软雅黑" panose="020B0503020204020204" pitchFamily="34" charset="-122"/>
            </a:endParaRP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1">
                                            <p:txEl>
                                              <p:pRg st="2" end="2"/>
                                            </p:txEl>
                                          </p:spTgt>
                                        </p:tgtEl>
                                        <p:attrNameLst>
                                          <p:attrName>style.visibility</p:attrName>
                                        </p:attrNameLst>
                                      </p:cBhvr>
                                      <p:to>
                                        <p:strVal val="visible"/>
                                      </p:to>
                                    </p:set>
                                    <p:animEffect transition="in" filter="fade">
                                      <p:cBhvr>
                                        <p:cTn id="7" dur="500"/>
                                        <p:tgtEl>
                                          <p:spTgt spid="9218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181">
                                            <p:txEl>
                                              <p:pRg st="3" end="3"/>
                                            </p:txEl>
                                          </p:spTgt>
                                        </p:tgtEl>
                                        <p:attrNameLst>
                                          <p:attrName>style.visibility</p:attrName>
                                        </p:attrNameLst>
                                      </p:cBhvr>
                                      <p:to>
                                        <p:strVal val="visible"/>
                                      </p:to>
                                    </p:set>
                                    <p:animEffect transition="in" filter="fade">
                                      <p:cBhvr>
                                        <p:cTn id="10" dur="500"/>
                                        <p:tgtEl>
                                          <p:spTgt spid="9218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2181">
                                            <p:txEl>
                                              <p:pRg st="4" end="4"/>
                                            </p:txEl>
                                          </p:spTgt>
                                        </p:tgtEl>
                                        <p:attrNameLst>
                                          <p:attrName>style.visibility</p:attrName>
                                        </p:attrNameLst>
                                      </p:cBhvr>
                                      <p:to>
                                        <p:strVal val="visible"/>
                                      </p:to>
                                    </p:set>
                                    <p:animEffect transition="in" filter="fade">
                                      <p:cBhvr>
                                        <p:cTn id="15" dur="500"/>
                                        <p:tgtEl>
                                          <p:spTgt spid="92181">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2181">
                                            <p:txEl>
                                              <p:pRg st="5" end="5"/>
                                            </p:txEl>
                                          </p:spTgt>
                                        </p:tgtEl>
                                        <p:attrNameLst>
                                          <p:attrName>style.visibility</p:attrName>
                                        </p:attrNameLst>
                                      </p:cBhvr>
                                      <p:to>
                                        <p:strVal val="visible"/>
                                      </p:to>
                                    </p:set>
                                    <p:animEffect transition="in" filter="fade">
                                      <p:cBhvr>
                                        <p:cTn id="18" dur="500"/>
                                        <p:tgtEl>
                                          <p:spTgt spid="92181">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2181">
                                            <p:txEl>
                                              <p:pRg st="6" end="6"/>
                                            </p:txEl>
                                          </p:spTgt>
                                        </p:tgtEl>
                                        <p:attrNameLst>
                                          <p:attrName>style.visibility</p:attrName>
                                        </p:attrNameLst>
                                      </p:cBhvr>
                                      <p:to>
                                        <p:strVal val="visible"/>
                                      </p:to>
                                    </p:set>
                                    <p:animEffect transition="in" filter="fade">
                                      <p:cBhvr>
                                        <p:cTn id="21" dur="500"/>
                                        <p:tgtEl>
                                          <p:spTgt spid="92181">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2181">
                                            <p:txEl>
                                              <p:pRg st="8" end="8"/>
                                            </p:txEl>
                                          </p:spTgt>
                                        </p:tgtEl>
                                        <p:attrNameLst>
                                          <p:attrName>style.visibility</p:attrName>
                                        </p:attrNameLst>
                                      </p:cBhvr>
                                      <p:to>
                                        <p:strVal val="visible"/>
                                      </p:to>
                                    </p:set>
                                    <p:animEffect transition="in" filter="fade">
                                      <p:cBhvr>
                                        <p:cTn id="24" dur="500"/>
                                        <p:tgtEl>
                                          <p:spTgt spid="9218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Line 5"/>
          <p:cNvSpPr>
            <a:spLocks noChangeShapeType="1"/>
          </p:cNvSpPr>
          <p:nvPr/>
        </p:nvSpPr>
        <p:spPr bwMode="auto">
          <a:xfrm>
            <a:off x="1905000" y="5257800"/>
            <a:ext cx="6553200"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1" name="Line 6"/>
          <p:cNvSpPr>
            <a:spLocks noChangeShapeType="1"/>
          </p:cNvSpPr>
          <p:nvPr/>
        </p:nvSpPr>
        <p:spPr bwMode="auto">
          <a:xfrm flipV="1">
            <a:off x="2590800" y="457200"/>
            <a:ext cx="0" cy="5334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2" name="Line 16"/>
          <p:cNvSpPr>
            <a:spLocks noChangeShapeType="1"/>
          </p:cNvSpPr>
          <p:nvPr/>
        </p:nvSpPr>
        <p:spPr bwMode="auto">
          <a:xfrm flipV="1">
            <a:off x="2590800" y="1676400"/>
            <a:ext cx="990600" cy="35814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Line 17"/>
          <p:cNvSpPr>
            <a:spLocks noChangeShapeType="1"/>
          </p:cNvSpPr>
          <p:nvPr/>
        </p:nvSpPr>
        <p:spPr bwMode="auto">
          <a:xfrm flipV="1">
            <a:off x="2590800" y="3657600"/>
            <a:ext cx="4267200" cy="1600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4" name="Line 18"/>
          <p:cNvSpPr>
            <a:spLocks noChangeShapeType="1"/>
          </p:cNvSpPr>
          <p:nvPr/>
        </p:nvSpPr>
        <p:spPr bwMode="auto">
          <a:xfrm flipV="1">
            <a:off x="2590800" y="1066800"/>
            <a:ext cx="3200400" cy="41910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Text Box 22"/>
          <p:cNvSpPr txBox="1">
            <a:spLocks noChangeArrowheads="1"/>
          </p:cNvSpPr>
          <p:nvPr/>
        </p:nvSpPr>
        <p:spPr bwMode="auto">
          <a:xfrm>
            <a:off x="684213" y="5229225"/>
            <a:ext cx="5040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 =u</a:t>
            </a:r>
            <a:r>
              <a:rPr lang="en-US" altLang="zh-CN" b="1" baseline="-2500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b="1" baseline="-2500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b="1" baseline="-2500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43016" name="Line 23"/>
          <p:cNvSpPr>
            <a:spLocks noChangeShapeType="1"/>
          </p:cNvSpPr>
          <p:nvPr/>
        </p:nvSpPr>
        <p:spPr bwMode="auto">
          <a:xfrm flipV="1">
            <a:off x="2590800" y="2895600"/>
            <a:ext cx="2971800" cy="236220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矩形 20"/>
          <p:cNvSpPr/>
          <p:nvPr/>
        </p:nvSpPr>
        <p:spPr>
          <a:xfrm>
            <a:off x="323850" y="5876925"/>
            <a:ext cx="8280400" cy="646113"/>
          </a:xfrm>
          <a:prstGeom prst="rect">
            <a:avLst/>
          </a:prstGeom>
        </p:spPr>
        <p:txBody>
          <a:bodyPr>
            <a:spAutoFit/>
          </a:bodyPr>
          <a:lstStyle/>
          <a:p>
            <a:pPr eaLnBrk="1" hangingPunct="1">
              <a:defRPr/>
            </a:pPr>
            <a:r>
              <a:rPr lang="zh-CN" altLang="en-US" b="1" dirty="0">
                <a:effectLst>
                  <a:outerShdw blurRad="38100" dist="38100" dir="2700000" algn="tl">
                    <a:srgbClr val="C0C0C0"/>
                  </a:outerShdw>
                </a:effectLst>
                <a:ea typeface="微软雅黑" panose="020B0503020204020204" pitchFamily="34" charset="-122"/>
              </a:rPr>
              <a:t>且</a:t>
            </a:r>
            <a:r>
              <a:rPr lang="en-US" altLang="zh-CN" b="1" dirty="0">
                <a:effectLst>
                  <a:outerShdw blurRad="38100" dist="38100" dir="2700000" algn="tl">
                    <a:srgbClr val="C0C0C0"/>
                  </a:outerShdw>
                </a:effectLst>
                <a:ea typeface="微软雅黑" panose="020B0503020204020204" pitchFamily="34" charset="-122"/>
              </a:rPr>
              <a:t>u</a:t>
            </a:r>
            <a:r>
              <a:rPr lang="en-US" altLang="zh-CN" b="1" baseline="-25000" dirty="0">
                <a:effectLst>
                  <a:outerShdw blurRad="38100" dist="38100" dir="2700000" algn="tl">
                    <a:srgbClr val="C0C0C0"/>
                  </a:outerShdw>
                </a:effectLst>
                <a:ea typeface="微软雅黑" panose="020B0503020204020204" pitchFamily="34" charset="-122"/>
              </a:rPr>
              <a:t>1</a:t>
            </a:r>
            <a:r>
              <a:rPr lang="en-US" altLang="zh-CN" b="1" dirty="0">
                <a:effectLst>
                  <a:outerShdw blurRad="38100" dist="38100" dir="2700000" algn="tl">
                    <a:srgbClr val="C0C0C0"/>
                  </a:outerShdw>
                </a:effectLst>
                <a:ea typeface="微软雅黑" panose="020B0503020204020204" pitchFamily="34" charset="-122"/>
              </a:rPr>
              <a:t> </a:t>
            </a:r>
            <a:r>
              <a:rPr lang="en-US" altLang="zh-CN" b="1" baseline="30000" dirty="0">
                <a:effectLst>
                  <a:outerShdw blurRad="38100" dist="38100" dir="2700000" algn="tl">
                    <a:srgbClr val="C0C0C0"/>
                  </a:outerShdw>
                </a:effectLst>
                <a:ea typeface="微软雅黑" panose="020B0503020204020204" pitchFamily="34" charset="-122"/>
              </a:rPr>
              <a:t> </a:t>
            </a:r>
            <a:r>
              <a:rPr lang="en-US" altLang="zh-CN" b="1" dirty="0">
                <a:effectLst>
                  <a:outerShdw blurRad="38100" dist="38100" dir="2700000" algn="tl">
                    <a:srgbClr val="C0C0C0"/>
                  </a:outerShdw>
                </a:effectLst>
                <a:ea typeface="微软雅黑" panose="020B0503020204020204" pitchFamily="34" charset="-122"/>
              </a:rPr>
              <a:t>+u</a:t>
            </a:r>
            <a:r>
              <a:rPr lang="en-US" altLang="zh-CN" b="1" baseline="-25000" dirty="0">
                <a:effectLst>
                  <a:outerShdw blurRad="38100" dist="38100" dir="2700000" algn="tl">
                    <a:srgbClr val="C0C0C0"/>
                  </a:outerShdw>
                </a:effectLst>
                <a:ea typeface="微软雅黑" panose="020B0503020204020204" pitchFamily="34" charset="-122"/>
              </a:rPr>
              <a:t>2</a:t>
            </a:r>
            <a:r>
              <a:rPr lang="en-US" altLang="zh-CN" b="1" dirty="0">
                <a:effectLst>
                  <a:outerShdw blurRad="38100" dist="38100" dir="2700000" algn="tl">
                    <a:srgbClr val="C0C0C0"/>
                  </a:outerShdw>
                </a:effectLst>
                <a:ea typeface="微软雅黑" panose="020B0503020204020204" pitchFamily="34" charset="-122"/>
              </a:rPr>
              <a:t> </a:t>
            </a:r>
            <a:r>
              <a:rPr lang="en-US" altLang="zh-CN" b="1" baseline="30000" dirty="0">
                <a:effectLst>
                  <a:outerShdw blurRad="38100" dist="38100" dir="2700000" algn="tl">
                    <a:srgbClr val="C0C0C0"/>
                  </a:outerShdw>
                </a:effectLst>
                <a:ea typeface="微软雅黑" panose="020B0503020204020204" pitchFamily="34" charset="-122"/>
              </a:rPr>
              <a:t> </a:t>
            </a:r>
            <a:r>
              <a:rPr lang="en-US" altLang="zh-CN" b="1" dirty="0">
                <a:effectLst>
                  <a:outerShdw blurRad="38100" dist="38100" dir="2700000" algn="tl">
                    <a:srgbClr val="C0C0C0"/>
                  </a:outerShdw>
                </a:effectLst>
                <a:ea typeface="微软雅黑" panose="020B0503020204020204" pitchFamily="34" charset="-122"/>
              </a:rPr>
              <a:t>+u</a:t>
            </a:r>
            <a:r>
              <a:rPr lang="en-US" altLang="zh-CN" b="1" baseline="-25000" dirty="0">
                <a:effectLst>
                  <a:outerShdw blurRad="38100" dist="38100" dir="2700000" algn="tl">
                    <a:srgbClr val="C0C0C0"/>
                  </a:outerShdw>
                </a:effectLst>
                <a:ea typeface="微软雅黑" panose="020B0503020204020204" pitchFamily="34" charset="-122"/>
              </a:rPr>
              <a:t>3 </a:t>
            </a:r>
            <a:r>
              <a:rPr lang="en-US" altLang="zh-CN" b="1" dirty="0">
                <a:effectLst>
                  <a:outerShdw blurRad="38100" dist="38100" dir="2700000" algn="tl">
                    <a:srgbClr val="C0C0C0"/>
                  </a:outerShdw>
                </a:effectLst>
                <a:ea typeface="微软雅黑" panose="020B0503020204020204" pitchFamily="34" charset="-122"/>
              </a:rPr>
              <a:t> =</a:t>
            </a:r>
            <a:r>
              <a:rPr lang="en-US" altLang="zh-CN" b="1" baseline="30000" dirty="0">
                <a:effectLst>
                  <a:outerShdw blurRad="38100" dist="38100" dir="2700000" algn="tl">
                    <a:srgbClr val="C0C0C0"/>
                  </a:outerShdw>
                </a:effectLst>
                <a:ea typeface="微软雅黑" panose="020B0503020204020204" pitchFamily="34" charset="-122"/>
              </a:rPr>
              <a:t> </a:t>
            </a:r>
            <a:r>
              <a:rPr lang="en-US" altLang="zh-CN" sz="3600" b="1" dirty="0">
                <a:effectLst>
                  <a:outerShdw blurRad="38100" dist="38100" dir="2700000" algn="tl">
                    <a:srgbClr val="C0C0C0"/>
                  </a:outerShdw>
                </a:effectLst>
                <a:ea typeface="微软雅黑" panose="020B0503020204020204" pitchFamily="34" charset="-122"/>
                <a:sym typeface="Symbol" panose="05050102010706020507" pitchFamily="18" charset="2"/>
              </a:rPr>
              <a:t></a:t>
            </a:r>
            <a:r>
              <a:rPr lang="en-US" altLang="zh-CN" b="1" dirty="0">
                <a:effectLst>
                  <a:outerShdw blurRad="38100" dist="38100" dir="2700000" algn="tl">
                    <a:srgbClr val="C0C0C0"/>
                  </a:outerShdw>
                </a:effectLst>
                <a:ea typeface="微软雅黑" panose="020B0503020204020204" pitchFamily="34" charset="-122"/>
              </a:rPr>
              <a:t> </a:t>
            </a:r>
            <a:r>
              <a:rPr lang="en-US" altLang="zh-CN" b="1" dirty="0">
                <a:effectLst>
                  <a:outerShdw blurRad="38100" dist="38100" dir="2700000" algn="tl">
                    <a:srgbClr val="C0C0C0"/>
                  </a:outerShdw>
                </a:effectLst>
                <a:ea typeface="微软雅黑" panose="020B0503020204020204" pitchFamily="34" charset="-122"/>
                <a:sym typeface="Symbol" panose="05050102010706020507" pitchFamily="18" charset="2"/>
              </a:rPr>
              <a:t></a:t>
            </a:r>
            <a:r>
              <a:rPr lang="en-US" altLang="zh-CN" b="1" dirty="0">
                <a:effectLst>
                  <a:outerShdw blurRad="38100" dist="38100" dir="2700000" algn="tl">
                    <a:srgbClr val="C0C0C0"/>
                  </a:outerShdw>
                </a:effectLst>
                <a:ea typeface="微软雅黑" panose="020B0503020204020204" pitchFamily="34" charset="-122"/>
              </a:rPr>
              <a:t> +(1- </a:t>
            </a:r>
            <a:r>
              <a:rPr lang="en-US" altLang="zh-CN" b="1" dirty="0">
                <a:effectLst>
                  <a:outerShdw blurRad="38100" dist="38100" dir="2700000" algn="tl">
                    <a:srgbClr val="C0C0C0"/>
                  </a:outerShdw>
                </a:effectLst>
                <a:ea typeface="微软雅黑" panose="020B0503020204020204" pitchFamily="34" charset="-122"/>
                <a:sym typeface="Symbol" panose="05050102010706020507" pitchFamily="18" charset="2"/>
              </a:rPr>
              <a:t></a:t>
            </a:r>
            <a:r>
              <a:rPr lang="en-US" altLang="zh-CN" b="1" dirty="0">
                <a:effectLst>
                  <a:outerShdw blurRad="38100" dist="38100" dir="2700000" algn="tl">
                    <a:srgbClr val="C0C0C0"/>
                  </a:outerShdw>
                </a:effectLst>
                <a:ea typeface="微软雅黑" panose="020B0503020204020204" pitchFamily="34" charset="-122"/>
              </a:rPr>
              <a:t>)+(1- </a:t>
            </a:r>
            <a:r>
              <a:rPr lang="en-US" altLang="zh-CN" sz="3600" b="1" dirty="0">
                <a:effectLst>
                  <a:outerShdw blurRad="38100" dist="38100" dir="2700000" algn="tl">
                    <a:srgbClr val="C0C0C0"/>
                  </a:outerShdw>
                </a:effectLst>
                <a:ea typeface="微软雅黑" panose="020B0503020204020204" pitchFamily="34" charset="-122"/>
                <a:sym typeface="Symbol" panose="05050102010706020507" pitchFamily="18" charset="2"/>
              </a:rPr>
              <a:t></a:t>
            </a:r>
            <a:r>
              <a:rPr lang="en-US" altLang="zh-CN" b="1" dirty="0">
                <a:effectLst>
                  <a:outerShdw blurRad="38100" dist="38100" dir="2700000" algn="tl">
                    <a:srgbClr val="C0C0C0"/>
                  </a:outerShdw>
                </a:effectLst>
                <a:ea typeface="微软雅黑" panose="020B0503020204020204" pitchFamily="34" charset="-122"/>
              </a:rPr>
              <a:t>) </a:t>
            </a:r>
            <a:r>
              <a:rPr lang="en-US" altLang="zh-CN" b="1" dirty="0">
                <a:effectLst>
                  <a:outerShdw blurRad="38100" dist="38100" dir="2700000" algn="tl">
                    <a:srgbClr val="C0C0C0"/>
                  </a:outerShdw>
                </a:effectLst>
                <a:ea typeface="微软雅黑" panose="020B0503020204020204" pitchFamily="34" charset="-122"/>
                <a:sym typeface="Symbol" panose="05050102010706020507" pitchFamily="18" charset="2"/>
              </a:rPr>
              <a:t></a:t>
            </a:r>
            <a:r>
              <a:rPr lang="en-US" altLang="zh-CN" b="1" dirty="0">
                <a:effectLst>
                  <a:outerShdw blurRad="38100" dist="38100" dir="2700000" algn="tl">
                    <a:srgbClr val="C0C0C0"/>
                  </a:outerShdw>
                </a:effectLst>
                <a:ea typeface="微软雅黑" panose="020B0503020204020204" pitchFamily="34" charset="-122"/>
              </a:rPr>
              <a:t> =1</a:t>
            </a:r>
            <a:endParaRPr lang="zh-CN" altLang="en-US" dirty="0">
              <a:ea typeface="微软雅黑" panose="020B0503020204020204" pitchFamily="34" charset="-122"/>
            </a:endParaRPr>
          </a:p>
        </p:txBody>
      </p:sp>
      <p:sp>
        <p:nvSpPr>
          <p:cNvPr id="22" name="Text Box 7"/>
          <p:cNvSpPr txBox="1">
            <a:spLocks noChangeArrowheads="1"/>
          </p:cNvSpPr>
          <p:nvPr/>
        </p:nvSpPr>
        <p:spPr bwMode="auto">
          <a:xfrm>
            <a:off x="0" y="188913"/>
            <a:ext cx="9144000" cy="954087"/>
          </a:xfrm>
          <a:prstGeom prst="rect">
            <a:avLst/>
          </a:prstGeom>
          <a:noFill/>
          <a:ln w="9525">
            <a:noFill/>
            <a:miter lim="800000"/>
          </a:ln>
          <a:effectLst/>
        </p:spPr>
        <p:txBody>
          <a:bodyPr>
            <a:spAutoFit/>
          </a:bodyPr>
          <a:lstStyle/>
          <a:p>
            <a:pPr eaLnBrk="1" hangingPunct="1">
              <a:spcBef>
                <a:spcPct val="50000"/>
              </a:spcBef>
              <a:defRPr/>
            </a:pP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若可行解集</a:t>
            </a:r>
            <a:r>
              <a:rPr kumimoji="1"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是有界的凸集</a:t>
            </a:r>
            <a:r>
              <a:rPr lang="zh-CN" altLang="en-US" sz="2800" b="1" dirty="0">
                <a:latin typeface="仿宋" panose="02010609060101010101" pitchFamily="49" charset="-122"/>
                <a:ea typeface="仿宋" panose="02010609060101010101" pitchFamily="49" charset="-122"/>
              </a:rPr>
              <a:t>，</a:t>
            </a: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则</a:t>
            </a:r>
            <a:r>
              <a:rPr kumimoji="1"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中任意一点 </a:t>
            </a:r>
            <a:r>
              <a:rPr lang="en-US" altLang="zh-CN" sz="2800" b="1" i="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800" b="1" dirty="0">
                <a:latin typeface="仿宋" panose="02010609060101010101" pitchFamily="49" charset="-122"/>
                <a:ea typeface="仿宋" panose="02010609060101010101" pitchFamily="49" charset="-122"/>
              </a:rPr>
              <a:t>，</a:t>
            </a: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都可表示成</a:t>
            </a:r>
            <a:r>
              <a:rPr kumimoji="1"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的顶点的凸组合</a:t>
            </a:r>
          </a:p>
        </p:txBody>
      </p:sp>
      <p:sp>
        <p:nvSpPr>
          <p:cNvPr id="43019" name="Line 9"/>
          <p:cNvSpPr>
            <a:spLocks noChangeShapeType="1"/>
          </p:cNvSpPr>
          <p:nvPr/>
        </p:nvSpPr>
        <p:spPr bwMode="auto">
          <a:xfrm flipV="1">
            <a:off x="3581400" y="1901825"/>
            <a:ext cx="2209800" cy="6096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Line 10"/>
          <p:cNvSpPr>
            <a:spLocks noChangeShapeType="1"/>
          </p:cNvSpPr>
          <p:nvPr/>
        </p:nvSpPr>
        <p:spPr bwMode="auto">
          <a:xfrm>
            <a:off x="5791200" y="1901825"/>
            <a:ext cx="1143000" cy="25908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Line 11"/>
          <p:cNvSpPr>
            <a:spLocks noChangeShapeType="1"/>
          </p:cNvSpPr>
          <p:nvPr/>
        </p:nvSpPr>
        <p:spPr bwMode="auto">
          <a:xfrm>
            <a:off x="3581400" y="2511425"/>
            <a:ext cx="3352800" cy="198120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Text Box 14"/>
          <p:cNvSpPr txBox="1">
            <a:spLocks noChangeArrowheads="1"/>
          </p:cNvSpPr>
          <p:nvPr/>
        </p:nvSpPr>
        <p:spPr bwMode="auto">
          <a:xfrm>
            <a:off x="2971800" y="2130425"/>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(1)</a:t>
            </a:r>
            <a:endParaRPr lang="en-US" altLang="zh-CN" b="1" dirty="0">
              <a:effectLst>
                <a:outerShdw blurRad="38100" dist="38100" dir="2700000" algn="tl">
                  <a:srgbClr val="C0C0C0"/>
                </a:outerShdw>
              </a:effectLst>
              <a:ea typeface="微软雅黑" panose="020B0503020204020204" pitchFamily="34" charset="-122"/>
            </a:endParaRPr>
          </a:p>
        </p:txBody>
      </p:sp>
      <p:sp>
        <p:nvSpPr>
          <p:cNvPr id="27" name="Text Box 15"/>
          <p:cNvSpPr txBox="1">
            <a:spLocks noChangeArrowheads="1"/>
          </p:cNvSpPr>
          <p:nvPr/>
        </p:nvSpPr>
        <p:spPr bwMode="auto">
          <a:xfrm>
            <a:off x="5638800" y="1444625"/>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(2)</a:t>
            </a:r>
            <a:endParaRPr lang="en-US" altLang="zh-CN" b="1" dirty="0">
              <a:effectLst>
                <a:outerShdw blurRad="38100" dist="38100" dir="2700000" algn="tl">
                  <a:srgbClr val="C0C0C0"/>
                </a:outerShdw>
              </a:effectLst>
              <a:ea typeface="微软雅黑" panose="020B0503020204020204" pitchFamily="34" charset="-122"/>
            </a:endParaRPr>
          </a:p>
        </p:txBody>
      </p:sp>
      <p:sp>
        <p:nvSpPr>
          <p:cNvPr id="28" name="Text Box 16"/>
          <p:cNvSpPr txBox="1">
            <a:spLocks noChangeArrowheads="1"/>
          </p:cNvSpPr>
          <p:nvPr/>
        </p:nvSpPr>
        <p:spPr bwMode="auto">
          <a:xfrm>
            <a:off x="6934200" y="4340225"/>
            <a:ext cx="8382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baseline="30000" dirty="0">
                <a:effectLst>
                  <a:outerShdw blurRad="38100" dist="38100" dir="2700000" algn="tl">
                    <a:srgbClr val="C0C0C0"/>
                  </a:outerShdw>
                </a:effectLst>
                <a:ea typeface="微软雅黑" panose="020B0503020204020204" pitchFamily="34" charset="-122"/>
              </a:rPr>
              <a:t>(3)</a:t>
            </a:r>
            <a:endParaRPr lang="en-US" altLang="zh-CN" b="1" dirty="0">
              <a:effectLst>
                <a:outerShdw blurRad="38100" dist="38100" dir="2700000" algn="tl">
                  <a:srgbClr val="C0C0C0"/>
                </a:outerShdw>
              </a:effectLst>
              <a:ea typeface="微软雅黑" panose="020B0503020204020204" pitchFamily="34" charset="-122"/>
            </a:endParaRPr>
          </a:p>
        </p:txBody>
      </p:sp>
      <p:sp>
        <p:nvSpPr>
          <p:cNvPr id="43025" name="Oval 17"/>
          <p:cNvSpPr>
            <a:spLocks noChangeArrowheads="1"/>
          </p:cNvSpPr>
          <p:nvPr/>
        </p:nvSpPr>
        <p:spPr bwMode="auto">
          <a:xfrm>
            <a:off x="5638800" y="2892425"/>
            <a:ext cx="76200" cy="76200"/>
          </a:xfrm>
          <a:prstGeom prst="ellipse">
            <a:avLst/>
          </a:prstGeom>
          <a:solidFill>
            <a:srgbClr val="00FF00"/>
          </a:solidFill>
          <a:ln w="9525">
            <a:solidFill>
              <a:schemeClr val="tx1"/>
            </a:solidFill>
            <a:round/>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43026" name="Text Box 18"/>
          <p:cNvSpPr txBox="1">
            <a:spLocks noChangeArrowheads="1"/>
          </p:cNvSpPr>
          <p:nvPr/>
        </p:nvSpPr>
        <p:spPr bwMode="auto">
          <a:xfrm>
            <a:off x="5791200" y="281622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i="1">
                <a:latin typeface="Times New Roman" panose="02020603050405020304" pitchFamily="18" charset="0"/>
                <a:ea typeface="微软雅黑" panose="020B0503020204020204" pitchFamily="34" charset="-122"/>
                <a:cs typeface="Times New Roman" panose="02020603050405020304" pitchFamily="18" charset="0"/>
              </a:rPr>
              <a:t>x</a:t>
            </a:r>
          </a:p>
        </p:txBody>
      </p:sp>
      <p:sp>
        <p:nvSpPr>
          <p:cNvPr id="43027" name="Line 22"/>
          <p:cNvSpPr>
            <a:spLocks noChangeShapeType="1"/>
          </p:cNvSpPr>
          <p:nvPr/>
        </p:nvSpPr>
        <p:spPr bwMode="auto">
          <a:xfrm flipH="1">
            <a:off x="5562600" y="1978025"/>
            <a:ext cx="228600" cy="17526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Text Box 23"/>
          <p:cNvSpPr txBox="1">
            <a:spLocks noChangeArrowheads="1"/>
          </p:cNvSpPr>
          <p:nvPr/>
        </p:nvSpPr>
        <p:spPr bwMode="auto">
          <a:xfrm>
            <a:off x="5334000" y="3730625"/>
            <a:ext cx="381000" cy="457200"/>
          </a:xfrm>
          <a:prstGeom prst="rect">
            <a:avLst/>
          </a:prstGeom>
          <a:noFill/>
          <a:ln w="9525">
            <a:noFill/>
            <a:miter lim="800000"/>
          </a:ln>
          <a:effectLst/>
        </p:spPr>
        <p:txBody>
          <a:bodyPr>
            <a:spAutoFit/>
          </a:bodyPr>
          <a:lstStyle/>
          <a:p>
            <a:pPr eaLnBrk="1" hangingPunct="1">
              <a:spcBef>
                <a:spcPct val="50000"/>
              </a:spcBef>
              <a:defRPr/>
            </a:pPr>
            <a:endParaRPr lang="zh-CN" altLang="zh-CN" b="1" dirty="0">
              <a:effectLst>
                <a:outerShdw blurRad="38100" dist="38100" dir="2700000" algn="tl">
                  <a:srgbClr val="C0C0C0"/>
                </a:outerShdw>
              </a:effectLst>
              <a:ea typeface="微软雅黑" panose="020B0503020204020204" pitchFamily="34" charset="-122"/>
            </a:endParaRPr>
          </a:p>
        </p:txBody>
      </p:sp>
      <p:sp>
        <p:nvSpPr>
          <p:cNvPr id="33" name="Text Box 24"/>
          <p:cNvSpPr txBox="1">
            <a:spLocks noChangeArrowheads="1"/>
          </p:cNvSpPr>
          <p:nvPr/>
        </p:nvSpPr>
        <p:spPr bwMode="auto">
          <a:xfrm>
            <a:off x="5334000" y="3806825"/>
            <a:ext cx="533400" cy="457200"/>
          </a:xfrm>
          <a:prstGeom prst="rect">
            <a:avLst/>
          </a:prstGeom>
          <a:noFill/>
          <a:ln w="9525">
            <a:noFill/>
            <a:miter lim="800000"/>
          </a:ln>
          <a:effectLst/>
        </p:spPr>
        <p:txBody>
          <a:bodyPr>
            <a:spAutoFit/>
          </a:bodyPr>
          <a:lstStyle/>
          <a:p>
            <a:pPr eaLnBrk="1" hangingPunct="1">
              <a:spcBef>
                <a:spcPct val="50000"/>
              </a:spcBef>
              <a:defRPr/>
            </a:pP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a:effectLst>
                  <a:outerShdw blurRad="38100" dist="38100" dir="2700000" algn="tl">
                    <a:srgbClr val="C0C0C0"/>
                  </a:outerShdw>
                </a:effectLst>
                <a:latin typeface="+mj-ea"/>
                <a:ea typeface="+mj-ea"/>
              </a:rPr>
              <a:t>’</a:t>
            </a:r>
          </a:p>
        </p:txBody>
      </p:sp>
      <p:sp>
        <p:nvSpPr>
          <p:cNvPr id="2" name="灯片编号占位符 1"/>
          <p:cNvSpPr>
            <a:spLocks noGrp="1"/>
          </p:cNvSpPr>
          <p:nvPr>
            <p:ph type="sldNum" sz="quarter" idx="12"/>
          </p:nvPr>
        </p:nvSpPr>
        <p:spPr>
          <a:xfrm>
            <a:off x="7239000" y="6380163"/>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8"/>
          <p:cNvSpPr>
            <a:spLocks noChangeArrowheads="1"/>
          </p:cNvSpPr>
          <p:nvPr/>
        </p:nvSpPr>
        <p:spPr bwMode="auto">
          <a:xfrm>
            <a:off x="0" y="31750"/>
            <a:ext cx="9144000" cy="95408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800" b="1" dirty="0">
                <a:solidFill>
                  <a:srgbClr val="FF0000"/>
                </a:solidFill>
                <a:latin typeface="微软雅黑" panose="020B0503020204020204" pitchFamily="34" charset="-122"/>
                <a:ea typeface="微软雅黑" panose="020B0503020204020204" pitchFamily="34" charset="-122"/>
              </a:rPr>
              <a:t>定理</a:t>
            </a:r>
            <a:r>
              <a:rPr lang="en-US" altLang="zh-CN" sz="2800" b="1" dirty="0">
                <a:solidFill>
                  <a:srgbClr val="FF0000"/>
                </a:solidFill>
                <a:latin typeface="微软雅黑" panose="020B0503020204020204" pitchFamily="34" charset="-122"/>
                <a:ea typeface="微软雅黑" panose="020B0503020204020204" pitchFamily="34" charset="-122"/>
              </a:rPr>
              <a:t>2-2. </a:t>
            </a:r>
            <a:r>
              <a:rPr lang="zh-CN" altLang="en-US" sz="2800" b="1" dirty="0">
                <a:latin typeface="微软雅黑" panose="020B0503020204020204" pitchFamily="34" charset="-122"/>
                <a:ea typeface="微软雅黑" panose="020B0503020204020204" pitchFamily="34" charset="-122"/>
              </a:rPr>
              <a:t>若可行域有界</a:t>
            </a:r>
            <a:r>
              <a:rPr lang="zh-CN" altLang="en-US" sz="2800" b="1" dirty="0">
                <a:latin typeface="宋体" panose="02010600030101010101" pitchFamily="2" charset="-122"/>
              </a:rPr>
              <a:t>，</a:t>
            </a:r>
            <a:r>
              <a:rPr lang="zh-CN" altLang="en-US" sz="2800" b="1" dirty="0">
                <a:latin typeface="微软雅黑" panose="020B0503020204020204" pitchFamily="34" charset="-122"/>
                <a:ea typeface="微软雅黑" panose="020B0503020204020204" pitchFamily="34" charset="-122"/>
              </a:rPr>
              <a:t>线性规划问题的目标函数一定可以在其可行域的顶点上达到最优</a:t>
            </a:r>
          </a:p>
        </p:txBody>
      </p:sp>
      <p:sp>
        <p:nvSpPr>
          <p:cNvPr id="45059" name="Rectangle 1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000000"/>
              </a:solidFill>
            </a:endParaRPr>
          </a:p>
        </p:txBody>
      </p:sp>
      <p:sp>
        <p:nvSpPr>
          <p:cNvPr id="45060" name="灯片编号占位符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AC09A175-521C-4493-8B33-38CB04279AFC}" type="slidenum">
              <a:rPr lang="en-US" altLang="zh-CN" sz="1400" smtClean="0">
                <a:solidFill>
                  <a:srgbClr val="000000"/>
                </a:solidFill>
              </a:rPr>
              <a:t>96</a:t>
            </a:fld>
            <a:endParaRPr lang="en-US" altLang="zh-CN" sz="1400">
              <a:solidFill>
                <a:srgbClr val="000000"/>
              </a:solidFill>
            </a:endParaRPr>
          </a:p>
        </p:txBody>
      </p:sp>
      <p:sp>
        <p:nvSpPr>
          <p:cNvPr id="4" name="矩形 3"/>
          <p:cNvSpPr>
            <a:spLocks noChangeArrowheads="1"/>
          </p:cNvSpPr>
          <p:nvPr/>
        </p:nvSpPr>
        <p:spPr bwMode="auto">
          <a:xfrm>
            <a:off x="0" y="1000125"/>
            <a:ext cx="9144000" cy="8302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证：设                       是可行域的顶点</a:t>
            </a:r>
            <a:r>
              <a:rPr kumimoji="0" lang="zh-CN" altLang="en-US" b="1" dirty="0">
                <a:latin typeface="宋体" panose="02010600030101010101" pitchFamily="2" charset="-122"/>
              </a:rPr>
              <a:t>，</a:t>
            </a:r>
            <a:r>
              <a:rPr kumimoji="0" lang="zh-CN" altLang="en-US" b="1" dirty="0">
                <a:ea typeface="微软雅黑" panose="020B0503020204020204" pitchFamily="34" charset="-122"/>
              </a:rPr>
              <a:t>若</a:t>
            </a:r>
            <a:r>
              <a:rPr kumimoji="0" lang="en-US" altLang="zh-CN" b="1" dirty="0">
                <a:ea typeface="微软雅黑" panose="020B0503020204020204" pitchFamily="34" charset="-122"/>
              </a:rPr>
              <a:t>       </a:t>
            </a:r>
            <a:r>
              <a:rPr kumimoji="0" lang="zh-CN" altLang="en-US" b="1" dirty="0">
                <a:ea typeface="微软雅黑" panose="020B0503020204020204" pitchFamily="34" charset="-122"/>
              </a:rPr>
              <a:t>不是顶点</a:t>
            </a:r>
            <a:r>
              <a:rPr kumimoji="0" lang="zh-CN" altLang="en-US" b="1" dirty="0">
                <a:latin typeface="宋体" panose="02010600030101010101" pitchFamily="2" charset="-122"/>
              </a:rPr>
              <a:t>，</a:t>
            </a:r>
            <a:r>
              <a:rPr kumimoji="0" lang="zh-CN" altLang="en-US" b="1" dirty="0">
                <a:ea typeface="微软雅黑" panose="020B0503020204020204" pitchFamily="34" charset="-122"/>
              </a:rPr>
              <a:t>且目标函数在       处达到最优                 </a:t>
            </a:r>
            <a:r>
              <a:rPr kumimoji="0" lang="en-US" altLang="zh-CN" b="1" dirty="0">
                <a:latin typeface="宋体" panose="02010600030101010101" pitchFamily="2" charset="-122"/>
              </a:rPr>
              <a:t>,</a:t>
            </a:r>
            <a:r>
              <a:rPr kumimoji="0" lang="zh-CN" altLang="en-US" b="1" dirty="0">
                <a:ea typeface="微软雅黑" panose="020B0503020204020204" pitchFamily="34" charset="-122"/>
              </a:rPr>
              <a:t>（标准型是</a:t>
            </a:r>
            <a:r>
              <a:rPr kumimoji="0" lang="en-US" altLang="zh-CN" b="1" dirty="0">
                <a:ea typeface="微软雅黑" panose="020B0503020204020204" pitchFamily="34" charset="-122"/>
              </a:rPr>
              <a:t>                 </a:t>
            </a:r>
            <a:r>
              <a:rPr kumimoji="0" lang="zh-CN" altLang="en-US" b="1" dirty="0">
                <a:ea typeface="微软雅黑" panose="020B0503020204020204" pitchFamily="34" charset="-122"/>
              </a:rPr>
              <a:t>）</a:t>
            </a:r>
            <a:endParaRPr kumimoji="0" lang="en-US" altLang="zh-CN" b="1" dirty="0">
              <a:ea typeface="微软雅黑" panose="020B0503020204020204" pitchFamily="34" charset="-122"/>
            </a:endParaRPr>
          </a:p>
        </p:txBody>
      </p:sp>
      <p:graphicFrame>
        <p:nvGraphicFramePr>
          <p:cNvPr id="2" name="对象 1"/>
          <p:cNvGraphicFramePr>
            <a:graphicFrameLocks noChangeAspect="1"/>
          </p:cNvGraphicFramePr>
          <p:nvPr/>
        </p:nvGraphicFramePr>
        <p:xfrm>
          <a:off x="989013" y="1035050"/>
          <a:ext cx="2116137" cy="415925"/>
        </p:xfrm>
        <a:graphic>
          <a:graphicData uri="http://schemas.openxmlformats.org/presentationml/2006/ole">
            <mc:AlternateContent xmlns:mc="http://schemas.openxmlformats.org/markup-compatibility/2006">
              <mc:Choice xmlns:v="urn:schemas-microsoft-com:vml" Requires="v">
                <p:oleObj spid="_x0000_s44774" name="Equation" r:id="rId3" imgW="1130300" imgH="228600" progId="Equation.DSMT4">
                  <p:embed/>
                </p:oleObj>
              </mc:Choice>
              <mc:Fallback>
                <p:oleObj name="Equation" r:id="rId3" imgW="1130300" imgH="2286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013" y="1035050"/>
                        <a:ext cx="211613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6319838" y="1379538"/>
          <a:ext cx="1524000" cy="415925"/>
        </p:xfrm>
        <a:graphic>
          <a:graphicData uri="http://schemas.openxmlformats.org/presentationml/2006/ole">
            <mc:AlternateContent xmlns:mc="http://schemas.openxmlformats.org/markup-compatibility/2006">
              <mc:Choice xmlns:v="urn:schemas-microsoft-com:vml" Requires="v">
                <p:oleObj spid="_x0000_s44775" name="Equation" r:id="rId5" imgW="723900" imgH="203200" progId="Equation.DSMT4">
                  <p:embed/>
                </p:oleObj>
              </mc:Choice>
              <mc:Fallback>
                <p:oleObj name="Equation" r:id="rId5" imgW="723900" imgH="203200" progId="Equation.DSMT4">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9838" y="1379538"/>
                        <a:ext cx="1524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754688" y="1009650"/>
          <a:ext cx="655637" cy="414338"/>
        </p:xfrm>
        <a:graphic>
          <a:graphicData uri="http://schemas.openxmlformats.org/presentationml/2006/ole">
            <mc:AlternateContent xmlns:mc="http://schemas.openxmlformats.org/markup-compatibility/2006">
              <mc:Choice xmlns:v="urn:schemas-microsoft-com:vml" Requires="v">
                <p:oleObj spid="_x0000_s44776" name="Equation" r:id="rId7" imgW="292100" imgH="190500" progId="Equation.DSMT4">
                  <p:embed/>
                </p:oleObj>
              </mc:Choice>
              <mc:Fallback>
                <p:oleObj name="Equation" r:id="rId7" imgW="292100" imgH="1905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4688" y="1009650"/>
                        <a:ext cx="655637"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989013" y="1387475"/>
          <a:ext cx="655637" cy="415925"/>
        </p:xfrm>
        <a:graphic>
          <a:graphicData uri="http://schemas.openxmlformats.org/presentationml/2006/ole">
            <mc:AlternateContent xmlns:mc="http://schemas.openxmlformats.org/markup-compatibility/2006">
              <mc:Choice xmlns:v="urn:schemas-microsoft-com:vml" Requires="v">
                <p:oleObj spid="_x0000_s44777" name="Equation" r:id="rId9" imgW="292100" imgH="190500" progId="Equation.DSMT4">
                  <p:embed/>
                </p:oleObj>
              </mc:Choice>
              <mc:Fallback>
                <p:oleObj name="Equation" r:id="rId9" imgW="292100" imgH="190500" progId="Equation.DSMT4">
                  <p:embed/>
                  <p:pic>
                    <p:nvPicPr>
                      <p:cNvPr id="0" name="对象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9013" y="1387475"/>
                        <a:ext cx="65563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3165475" y="1400175"/>
          <a:ext cx="1471613" cy="415925"/>
        </p:xfrm>
        <a:graphic>
          <a:graphicData uri="http://schemas.openxmlformats.org/presentationml/2006/ole">
            <mc:AlternateContent xmlns:mc="http://schemas.openxmlformats.org/markup-compatibility/2006">
              <mc:Choice xmlns:v="urn:schemas-microsoft-com:vml" Requires="v">
                <p:oleObj spid="_x0000_s44778" name="Equation" r:id="rId11" imgW="698500" imgH="203200" progId="Equation.DSMT4">
                  <p:embed/>
                </p:oleObj>
              </mc:Choice>
              <mc:Fallback>
                <p:oleObj name="Equation" r:id="rId11" imgW="698500" imgH="203200"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5475" y="1400175"/>
                        <a:ext cx="14716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a:spLocks noChangeArrowheads="1"/>
          </p:cNvSpPr>
          <p:nvPr/>
        </p:nvSpPr>
        <p:spPr bwMode="auto">
          <a:xfrm>
            <a:off x="0" y="1831975"/>
            <a:ext cx="9144000" cy="1154113"/>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因       不是顶点</a:t>
            </a:r>
            <a:r>
              <a:rPr kumimoji="0" lang="zh-CN" altLang="en-US" b="1" dirty="0">
                <a:latin typeface="宋体" panose="02010600030101010101" pitchFamily="2" charset="-122"/>
              </a:rPr>
              <a:t>，</a:t>
            </a:r>
            <a:r>
              <a:rPr kumimoji="0" lang="zh-CN" altLang="en-US" b="1" dirty="0">
                <a:ea typeface="微软雅黑" panose="020B0503020204020204" pitchFamily="34" charset="-122"/>
              </a:rPr>
              <a:t>所以它可以用可行域内的顶点线性表示为</a:t>
            </a:r>
            <a:r>
              <a:rPr kumimoji="0" lang="en-US" altLang="zh-CN" b="1" dirty="0">
                <a:ea typeface="微软雅黑" panose="020B0503020204020204" pitchFamily="34" charset="-122"/>
              </a:rPr>
              <a:t>:</a:t>
            </a:r>
          </a:p>
        </p:txBody>
      </p:sp>
      <p:graphicFrame>
        <p:nvGraphicFramePr>
          <p:cNvPr id="18" name="对象 17"/>
          <p:cNvGraphicFramePr>
            <a:graphicFrameLocks noChangeAspect="1"/>
          </p:cNvGraphicFramePr>
          <p:nvPr/>
        </p:nvGraphicFramePr>
        <p:xfrm>
          <a:off x="393700" y="1843088"/>
          <a:ext cx="636588" cy="415925"/>
        </p:xfrm>
        <a:graphic>
          <a:graphicData uri="http://schemas.openxmlformats.org/presentationml/2006/ole">
            <mc:AlternateContent xmlns:mc="http://schemas.openxmlformats.org/markup-compatibility/2006">
              <mc:Choice xmlns:v="urn:schemas-microsoft-com:vml" Requires="v">
                <p:oleObj spid="_x0000_s44779" name="Equation" r:id="rId13" imgW="292100" imgH="190500" progId="Equation.DSMT4">
                  <p:embed/>
                </p:oleObj>
              </mc:Choice>
              <mc:Fallback>
                <p:oleObj name="Equation" r:id="rId13" imgW="292100" imgH="190500" progId="Equation.DSMT4">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3700" y="1843088"/>
                        <a:ext cx="6365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2559050" y="2195513"/>
          <a:ext cx="3851275" cy="830262"/>
        </p:xfrm>
        <a:graphic>
          <a:graphicData uri="http://schemas.openxmlformats.org/presentationml/2006/ole">
            <mc:AlternateContent xmlns:mc="http://schemas.openxmlformats.org/markup-compatibility/2006">
              <mc:Choice xmlns:v="urn:schemas-microsoft-com:vml" Requires="v">
                <p:oleObj spid="_x0000_s44780" name="Equation" r:id="rId14" imgW="2006600" imgH="431800" progId="Equation.DSMT4">
                  <p:embed/>
                </p:oleObj>
              </mc:Choice>
              <mc:Fallback>
                <p:oleObj name="Equation" r:id="rId14" imgW="2006600" imgH="431800" progId="Equation.DSMT4">
                  <p:embed/>
                  <p:pic>
                    <p:nvPicPr>
                      <p:cNvPr id="0" name="对象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9050" y="2195513"/>
                        <a:ext cx="38512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矩形 25"/>
          <p:cNvSpPr>
            <a:spLocks noChangeArrowheads="1"/>
          </p:cNvSpPr>
          <p:nvPr/>
        </p:nvSpPr>
        <p:spPr bwMode="auto">
          <a:xfrm>
            <a:off x="0" y="2949575"/>
            <a:ext cx="9144000" cy="774700"/>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a:ea typeface="微软雅黑" panose="020B0503020204020204" pitchFamily="34" charset="-122"/>
              </a:rPr>
              <a:t>因此：</a:t>
            </a:r>
            <a:endParaRPr kumimoji="0" lang="en-US" altLang="zh-CN" b="1">
              <a:ea typeface="微软雅黑" panose="020B0503020204020204" pitchFamily="34" charset="-122"/>
            </a:endParaRPr>
          </a:p>
        </p:txBody>
      </p:sp>
      <p:graphicFrame>
        <p:nvGraphicFramePr>
          <p:cNvPr id="27" name="对象 26"/>
          <p:cNvGraphicFramePr>
            <a:graphicFrameLocks noChangeAspect="1"/>
          </p:cNvGraphicFramePr>
          <p:nvPr/>
        </p:nvGraphicFramePr>
        <p:xfrm>
          <a:off x="1908175" y="2967038"/>
          <a:ext cx="4845050" cy="758825"/>
        </p:xfrm>
        <a:graphic>
          <a:graphicData uri="http://schemas.openxmlformats.org/presentationml/2006/ole">
            <mc:AlternateContent xmlns:mc="http://schemas.openxmlformats.org/markup-compatibility/2006">
              <mc:Choice xmlns:v="urn:schemas-microsoft-com:vml" Requires="v">
                <p:oleObj spid="_x0000_s44781" name="Equation" r:id="rId16" imgW="2755900" imgH="431800" progId="Equation.DSMT4">
                  <p:embed/>
                </p:oleObj>
              </mc:Choice>
              <mc:Fallback>
                <p:oleObj name="Equation" r:id="rId16" imgW="2755900" imgH="431800" progId="Equation.DSMT4">
                  <p:embed/>
                  <p:pic>
                    <p:nvPicPr>
                      <p:cNvPr id="0" name="对象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8175" y="2967038"/>
                        <a:ext cx="484505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矩形 27"/>
          <p:cNvSpPr>
            <a:spLocks noChangeArrowheads="1"/>
          </p:cNvSpPr>
          <p:nvPr/>
        </p:nvSpPr>
        <p:spPr bwMode="auto">
          <a:xfrm>
            <a:off x="0" y="3727450"/>
            <a:ext cx="9144000" cy="831850"/>
          </a:xfrm>
          <a:prstGeom prst="rect">
            <a:avLst/>
          </a:prstGeom>
          <a:solidFill>
            <a:srgbClr val="DBFF0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在所有顶点中必然能找到某一个顶点</a:t>
            </a:r>
            <a:r>
              <a:rPr kumimoji="0" lang="en-US" altLang="zh-CN" b="1" dirty="0">
                <a:ea typeface="微软雅黑" panose="020B0503020204020204" pitchFamily="34" charset="-122"/>
              </a:rPr>
              <a:t>       </a:t>
            </a:r>
            <a:r>
              <a:rPr kumimoji="0" lang="zh-CN" altLang="en-US" b="1" dirty="0">
                <a:latin typeface="宋体" panose="02010600030101010101" pitchFamily="2" charset="-122"/>
              </a:rPr>
              <a:t>，</a:t>
            </a:r>
            <a:r>
              <a:rPr kumimoji="0" lang="zh-CN" altLang="en-US" b="1" dirty="0">
                <a:ea typeface="微软雅黑" panose="020B0503020204020204" pitchFamily="34" charset="-122"/>
              </a:rPr>
              <a:t>使</a:t>
            </a:r>
            <a:r>
              <a:rPr kumimoji="0" lang="en-US" altLang="zh-CN" b="1" dirty="0">
                <a:ea typeface="微软雅黑" panose="020B0503020204020204" pitchFamily="34" charset="-122"/>
              </a:rPr>
              <a:t>         </a:t>
            </a:r>
            <a:r>
              <a:rPr kumimoji="0" lang="zh-CN" altLang="en-US" b="1" dirty="0">
                <a:ea typeface="微软雅黑" panose="020B0503020204020204" pitchFamily="34" charset="-122"/>
              </a:rPr>
              <a:t>是所有         中最大者。并且将        代替上式中的所有</a:t>
            </a:r>
            <a:r>
              <a:rPr kumimoji="0" lang="en-US" altLang="zh-CN" b="1" dirty="0">
                <a:ea typeface="微软雅黑" panose="020B0503020204020204" pitchFamily="34" charset="-122"/>
              </a:rPr>
              <a:t>       </a:t>
            </a:r>
            <a:r>
              <a:rPr kumimoji="0" lang="zh-CN" altLang="en-US" b="1" dirty="0">
                <a:latin typeface="宋体" panose="02010600030101010101" pitchFamily="2" charset="-122"/>
              </a:rPr>
              <a:t>，</a:t>
            </a:r>
            <a:r>
              <a:rPr kumimoji="0" lang="zh-CN" altLang="en-US" b="1" dirty="0">
                <a:ea typeface="微软雅黑" panose="020B0503020204020204" pitchFamily="34" charset="-122"/>
              </a:rPr>
              <a:t>这就得到</a:t>
            </a:r>
            <a:endParaRPr kumimoji="0" lang="en-US" altLang="zh-CN" b="1" dirty="0">
              <a:ea typeface="微软雅黑" panose="020B0503020204020204" pitchFamily="34" charset="-122"/>
            </a:endParaRPr>
          </a:p>
        </p:txBody>
      </p:sp>
      <p:graphicFrame>
        <p:nvGraphicFramePr>
          <p:cNvPr id="9" name="对象 8"/>
          <p:cNvGraphicFramePr>
            <a:graphicFrameLocks noChangeAspect="1"/>
          </p:cNvGraphicFramePr>
          <p:nvPr/>
        </p:nvGraphicFramePr>
        <p:xfrm>
          <a:off x="4916488" y="3741738"/>
          <a:ext cx="692150" cy="415925"/>
        </p:xfrm>
        <a:graphic>
          <a:graphicData uri="http://schemas.openxmlformats.org/presentationml/2006/ole">
            <mc:AlternateContent xmlns:mc="http://schemas.openxmlformats.org/markup-compatibility/2006">
              <mc:Choice xmlns:v="urn:schemas-microsoft-com:vml" Requires="v">
                <p:oleObj spid="_x0000_s44782" name="Equation" r:id="rId18" imgW="317500" imgH="190500" progId="Equation.DSMT4">
                  <p:embed/>
                </p:oleObj>
              </mc:Choice>
              <mc:Fallback>
                <p:oleObj name="Equation" r:id="rId18" imgW="317500" imgH="190500" progId="Equation.DSMT4">
                  <p:embed/>
                  <p:pic>
                    <p:nvPicPr>
                      <p:cNvPr id="0" name="对象 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16488" y="3741738"/>
                        <a:ext cx="6921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p:cNvGraphicFramePr>
            <a:graphicFrameLocks noChangeAspect="1"/>
          </p:cNvGraphicFramePr>
          <p:nvPr/>
        </p:nvGraphicFramePr>
        <p:xfrm>
          <a:off x="6178550" y="3727450"/>
          <a:ext cx="887413" cy="442913"/>
        </p:xfrm>
        <a:graphic>
          <a:graphicData uri="http://schemas.openxmlformats.org/presentationml/2006/ole">
            <mc:AlternateContent xmlns:mc="http://schemas.openxmlformats.org/markup-compatibility/2006">
              <mc:Choice xmlns:v="urn:schemas-microsoft-com:vml" Requires="v">
                <p:oleObj spid="_x0000_s44783" name="Equation" r:id="rId20" imgW="405765" imgH="203200" progId="Equation.DSMT4">
                  <p:embed/>
                </p:oleObj>
              </mc:Choice>
              <mc:Fallback>
                <p:oleObj name="Equation" r:id="rId20" imgW="405765" imgH="203200" progId="Equation.DSMT4">
                  <p:embed/>
                  <p:pic>
                    <p:nvPicPr>
                      <p:cNvPr id="0" name="对象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78550" y="3727450"/>
                        <a:ext cx="88741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p:cNvGraphicFramePr>
            <a:graphicFrameLocks noChangeAspect="1"/>
          </p:cNvGraphicFramePr>
          <p:nvPr/>
        </p:nvGraphicFramePr>
        <p:xfrm>
          <a:off x="7894638" y="3738563"/>
          <a:ext cx="803275" cy="442912"/>
        </p:xfrm>
        <a:graphic>
          <a:graphicData uri="http://schemas.openxmlformats.org/presentationml/2006/ole">
            <mc:AlternateContent xmlns:mc="http://schemas.openxmlformats.org/markup-compatibility/2006">
              <mc:Choice xmlns:v="urn:schemas-microsoft-com:vml" Requires="v">
                <p:oleObj spid="_x0000_s44784" name="Equation" r:id="rId22" imgW="368300" imgH="203200" progId="Equation.DSMT4">
                  <p:embed/>
                </p:oleObj>
              </mc:Choice>
              <mc:Fallback>
                <p:oleObj name="Equation" r:id="rId22" imgW="368300" imgH="203200" progId="Equation.DSMT4">
                  <p:embed/>
                  <p:pic>
                    <p:nvPicPr>
                      <p:cNvPr id="0" name="对象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894638" y="3738563"/>
                        <a:ext cx="80327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2170113" y="4100513"/>
          <a:ext cx="692150" cy="415925"/>
        </p:xfrm>
        <a:graphic>
          <a:graphicData uri="http://schemas.openxmlformats.org/presentationml/2006/ole">
            <mc:AlternateContent xmlns:mc="http://schemas.openxmlformats.org/markup-compatibility/2006">
              <mc:Choice xmlns:v="urn:schemas-microsoft-com:vml" Requires="v">
                <p:oleObj spid="_x0000_s44785" name="Equation" r:id="rId24" imgW="317500" imgH="190500" progId="Equation.DSMT4">
                  <p:embed/>
                </p:oleObj>
              </mc:Choice>
              <mc:Fallback>
                <p:oleObj name="Equation" r:id="rId24" imgW="317500" imgH="190500" progId="Equation.DSMT4">
                  <p:embed/>
                  <p:pic>
                    <p:nvPicPr>
                      <p:cNvPr id="0" name="对象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70113" y="4100513"/>
                        <a:ext cx="6921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对象 33"/>
          <p:cNvGraphicFramePr>
            <a:graphicFrameLocks noChangeAspect="1"/>
          </p:cNvGraphicFramePr>
          <p:nvPr/>
        </p:nvGraphicFramePr>
        <p:xfrm>
          <a:off x="5392738" y="4135438"/>
          <a:ext cx="609600" cy="414337"/>
        </p:xfrm>
        <a:graphic>
          <a:graphicData uri="http://schemas.openxmlformats.org/presentationml/2006/ole">
            <mc:AlternateContent xmlns:mc="http://schemas.openxmlformats.org/markup-compatibility/2006">
              <mc:Choice xmlns:v="urn:schemas-microsoft-com:vml" Requires="v">
                <p:oleObj spid="_x0000_s44786" name="Equation" r:id="rId25" imgW="279400" imgH="190500" progId="Equation.DSMT4">
                  <p:embed/>
                </p:oleObj>
              </mc:Choice>
              <mc:Fallback>
                <p:oleObj name="Equation" r:id="rId25" imgW="279400" imgH="190500" progId="Equation.DSMT4">
                  <p:embed/>
                  <p:pic>
                    <p:nvPicPr>
                      <p:cNvPr id="0" name="对象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92738" y="4135438"/>
                        <a:ext cx="6096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6"/>
          <p:cNvSpPr>
            <a:spLocks noChangeArrowheads="1"/>
          </p:cNvSpPr>
          <p:nvPr/>
        </p:nvSpPr>
        <p:spPr bwMode="auto">
          <a:xfrm>
            <a:off x="0" y="4573588"/>
            <a:ext cx="9144000" cy="800100"/>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p>
        </p:txBody>
      </p:sp>
      <p:graphicFrame>
        <p:nvGraphicFramePr>
          <p:cNvPr id="23" name="对象 1"/>
          <p:cNvGraphicFramePr/>
          <p:nvPr/>
        </p:nvGraphicFramePr>
        <p:xfrm>
          <a:off x="2644775" y="4573588"/>
          <a:ext cx="4241800" cy="800100"/>
        </p:xfrm>
        <a:graphic>
          <a:graphicData uri="http://schemas.openxmlformats.org/presentationml/2006/ole">
            <mc:AlternateContent xmlns:mc="http://schemas.openxmlformats.org/markup-compatibility/2006">
              <mc:Choice xmlns:v="urn:schemas-microsoft-com:vml" Requires="v">
                <p:oleObj spid="_x0000_s44787" name="Equation" r:id="rId27" imgW="2057400" imgH="431800" progId="Equation.DSMT4">
                  <p:embed/>
                </p:oleObj>
              </mc:Choice>
              <mc:Fallback>
                <p:oleObj name="Equation" r:id="rId27" imgW="2057400" imgH="431800" progId="Equation.DSMT4">
                  <p:embed/>
                  <p:pic>
                    <p:nvPicPr>
                      <p:cNvPr id="0" name="对象 1"/>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44775" y="4573588"/>
                        <a:ext cx="4241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a:spLocks noChangeArrowheads="1"/>
          </p:cNvSpPr>
          <p:nvPr/>
        </p:nvSpPr>
        <p:spPr bwMode="auto">
          <a:xfrm>
            <a:off x="0" y="5373688"/>
            <a:ext cx="9144000" cy="477837"/>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a:ea typeface="微软雅黑" panose="020B0503020204020204" pitchFamily="34" charset="-122"/>
              </a:rPr>
              <a:t>由此得到：</a:t>
            </a:r>
            <a:endParaRPr kumimoji="0" lang="en-US" altLang="zh-CN" b="1">
              <a:ea typeface="微软雅黑" panose="020B0503020204020204" pitchFamily="34" charset="-122"/>
            </a:endParaRPr>
          </a:p>
        </p:txBody>
      </p:sp>
      <p:graphicFrame>
        <p:nvGraphicFramePr>
          <p:cNvPr id="25" name="对象 24"/>
          <p:cNvGraphicFramePr>
            <a:graphicFrameLocks noChangeAspect="1"/>
          </p:cNvGraphicFramePr>
          <p:nvPr/>
        </p:nvGraphicFramePr>
        <p:xfrm>
          <a:off x="3459163" y="5391150"/>
          <a:ext cx="2052637" cy="463550"/>
        </p:xfrm>
        <a:graphic>
          <a:graphicData uri="http://schemas.openxmlformats.org/presentationml/2006/ole">
            <mc:AlternateContent xmlns:mc="http://schemas.openxmlformats.org/markup-compatibility/2006">
              <mc:Choice xmlns:v="urn:schemas-microsoft-com:vml" Requires="v">
                <p:oleObj spid="_x0000_s44788" name="Equation" r:id="rId29" imgW="901065" imgH="203200" progId="Equation.DSMT4">
                  <p:embed/>
                </p:oleObj>
              </mc:Choice>
              <mc:Fallback>
                <p:oleObj name="Equation" r:id="rId29" imgW="901065" imgH="203200" progId="Equation.DSMT4">
                  <p:embed/>
                  <p:pic>
                    <p:nvPicPr>
                      <p:cNvPr id="0" name="对象 2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459163" y="5391150"/>
                        <a:ext cx="20526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矩形 28"/>
          <p:cNvSpPr>
            <a:spLocks noChangeArrowheads="1"/>
          </p:cNvSpPr>
          <p:nvPr/>
        </p:nvSpPr>
        <p:spPr bwMode="auto">
          <a:xfrm>
            <a:off x="0" y="5880100"/>
            <a:ext cx="9144000" cy="862013"/>
          </a:xfrm>
          <a:prstGeom prst="rect">
            <a:avLst/>
          </a:prstGeom>
          <a:solidFill>
            <a:srgbClr val="EDFF0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0" lang="zh-CN" altLang="en-US" b="1" dirty="0">
                <a:ea typeface="微软雅黑" panose="020B0503020204020204" pitchFamily="34" charset="-122"/>
              </a:rPr>
              <a:t>根据假设</a:t>
            </a:r>
            <a:r>
              <a:rPr kumimoji="0" lang="en-US" altLang="zh-CN" b="1" dirty="0">
                <a:ea typeface="微软雅黑" panose="020B0503020204020204" pitchFamily="34" charset="-122"/>
              </a:rPr>
              <a:t>        </a:t>
            </a:r>
            <a:r>
              <a:rPr kumimoji="0" lang="zh-CN" altLang="en-US" b="1" dirty="0">
                <a:ea typeface="微软雅黑" panose="020B0503020204020204" pitchFamily="34" charset="-122"/>
              </a:rPr>
              <a:t>是最大值</a:t>
            </a:r>
            <a:r>
              <a:rPr kumimoji="0" lang="zh-CN" altLang="en-US" b="1" dirty="0">
                <a:latin typeface="宋体" panose="02010600030101010101" pitchFamily="2" charset="-122"/>
              </a:rPr>
              <a:t>，</a:t>
            </a:r>
            <a:r>
              <a:rPr kumimoji="0" lang="zh-CN" altLang="en-US" b="1" dirty="0">
                <a:ea typeface="微软雅黑" panose="020B0503020204020204" pitchFamily="34" charset="-122"/>
              </a:rPr>
              <a:t>所以只能有</a:t>
            </a:r>
            <a:r>
              <a:rPr kumimoji="0" lang="en-US" altLang="zh-CN" b="1" dirty="0">
                <a:ea typeface="微软雅黑" panose="020B0503020204020204" pitchFamily="34" charset="-122"/>
              </a:rPr>
              <a:t>                     </a:t>
            </a:r>
          </a:p>
          <a:p>
            <a:pPr eaLnBrk="1" hangingPunct="1">
              <a:spcBef>
                <a:spcPct val="50000"/>
              </a:spcBef>
            </a:pPr>
            <a:r>
              <a:rPr kumimoji="0" lang="zh-CN" altLang="en-US" b="1" dirty="0">
                <a:ea typeface="微软雅黑" panose="020B0503020204020204" pitchFamily="34" charset="-122"/>
              </a:rPr>
              <a:t>即目标函数在顶点</a:t>
            </a:r>
            <a:r>
              <a:rPr kumimoji="0" lang="en-US" altLang="zh-CN" b="1" dirty="0">
                <a:ea typeface="微软雅黑" panose="020B0503020204020204" pitchFamily="34" charset="-122"/>
              </a:rPr>
              <a:t>        </a:t>
            </a:r>
            <a:r>
              <a:rPr kumimoji="0" lang="zh-CN" altLang="en-US" b="1" dirty="0">
                <a:ea typeface="微软雅黑" panose="020B0503020204020204" pitchFamily="34" charset="-122"/>
              </a:rPr>
              <a:t>处也达到最大值</a:t>
            </a:r>
            <a:endParaRPr kumimoji="0" lang="en-US" altLang="zh-CN" b="1" dirty="0">
              <a:ea typeface="微软雅黑" panose="020B0503020204020204" pitchFamily="34" charset="-122"/>
            </a:endParaRPr>
          </a:p>
        </p:txBody>
      </p:sp>
      <p:graphicFrame>
        <p:nvGraphicFramePr>
          <p:cNvPr id="33" name="对象 32"/>
          <p:cNvGraphicFramePr>
            <a:graphicFrameLocks noChangeAspect="1"/>
          </p:cNvGraphicFramePr>
          <p:nvPr/>
        </p:nvGraphicFramePr>
        <p:xfrm>
          <a:off x="1320800" y="5878513"/>
          <a:ext cx="647700" cy="344487"/>
        </p:xfrm>
        <a:graphic>
          <a:graphicData uri="http://schemas.openxmlformats.org/presentationml/2006/ole">
            <mc:AlternateContent xmlns:mc="http://schemas.openxmlformats.org/markup-compatibility/2006">
              <mc:Choice xmlns:v="urn:schemas-microsoft-com:vml" Requires="v">
                <p:oleObj spid="_x0000_s44789" name="Equation" r:id="rId31" imgW="381000" imgH="203200" progId="Equation.DSMT4">
                  <p:embed/>
                </p:oleObj>
              </mc:Choice>
              <mc:Fallback>
                <p:oleObj name="Equation" r:id="rId31" imgW="381000" imgH="203200" progId="Equation.DSMT4">
                  <p:embed/>
                  <p:pic>
                    <p:nvPicPr>
                      <p:cNvPr id="0" name="对象 3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320800" y="5878513"/>
                        <a:ext cx="6477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对象 34"/>
          <p:cNvGraphicFramePr>
            <a:graphicFrameLocks noChangeAspect="1"/>
          </p:cNvGraphicFramePr>
          <p:nvPr/>
        </p:nvGraphicFramePr>
        <p:xfrm>
          <a:off x="5148263" y="5911850"/>
          <a:ext cx="1447800" cy="344488"/>
        </p:xfrm>
        <a:graphic>
          <a:graphicData uri="http://schemas.openxmlformats.org/presentationml/2006/ole">
            <mc:AlternateContent xmlns:mc="http://schemas.openxmlformats.org/markup-compatibility/2006">
              <mc:Choice xmlns:v="urn:schemas-microsoft-com:vml" Requires="v">
                <p:oleObj spid="_x0000_s44790" name="Equation" r:id="rId33" imgW="850265" imgH="203200" progId="Equation.DSMT4">
                  <p:embed/>
                </p:oleObj>
              </mc:Choice>
              <mc:Fallback>
                <p:oleObj name="Equation" r:id="rId33" imgW="850265" imgH="203200" progId="Equation.DSMT4">
                  <p:embed/>
                  <p:pic>
                    <p:nvPicPr>
                      <p:cNvPr id="0" name="对象 3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48263" y="5911850"/>
                        <a:ext cx="14478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对象 35"/>
          <p:cNvGraphicFramePr>
            <a:graphicFrameLocks noChangeAspect="1"/>
          </p:cNvGraphicFramePr>
          <p:nvPr/>
        </p:nvGraphicFramePr>
        <p:xfrm>
          <a:off x="2555875" y="6397625"/>
          <a:ext cx="692150" cy="344488"/>
        </p:xfrm>
        <a:graphic>
          <a:graphicData uri="http://schemas.openxmlformats.org/presentationml/2006/ole">
            <mc:AlternateContent xmlns:mc="http://schemas.openxmlformats.org/markup-compatibility/2006">
              <mc:Choice xmlns:v="urn:schemas-microsoft-com:vml" Requires="v">
                <p:oleObj spid="_x0000_s44791" name="Equation" r:id="rId35" imgW="405765" imgH="203200" progId="Equation.DSMT4">
                  <p:embed/>
                </p:oleObj>
              </mc:Choice>
              <mc:Fallback>
                <p:oleObj name="Equation" r:id="rId35" imgW="405765" imgH="203200" progId="Equation.DSMT4">
                  <p:embed/>
                  <p:pic>
                    <p:nvPicPr>
                      <p:cNvPr id="0" name="对象 3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55875" y="6397625"/>
                        <a:ext cx="6921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nodePh="1">
                                  <p:stCondLst>
                                    <p:cond delay="0"/>
                                  </p:stCondLst>
                                  <p:endCondLst>
                                    <p:cond evt="begin" delay="0">
                                      <p:tn val="25"/>
                                    </p:cond>
                                  </p:endCondLst>
                                  <p:childTnLst>
                                    <p:set>
                                      <p:cBhvr>
                                        <p:cTn id="26" dur="1" fill="hold">
                                          <p:stCondLst>
                                            <p:cond delay="0"/>
                                          </p:stCondLst>
                                        </p:cTn>
                                        <p:tgtEl>
                                          <p:spTgt spid="45059"/>
                                        </p:tgtEl>
                                        <p:attrNameLst>
                                          <p:attrName>style.visibility</p:attrName>
                                        </p:attrNameLst>
                                      </p:cBhvr>
                                      <p:to>
                                        <p:strVal val="visible"/>
                                      </p:to>
                                    </p:set>
                                    <p:animEffect transition="in" filter="fade">
                                      <p:cBhvr>
                                        <p:cTn id="27" dur="500"/>
                                        <p:tgtEl>
                                          <p:spTgt spid="4505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5060"/>
                                        </p:tgtEl>
                                        <p:attrNameLst>
                                          <p:attrName>style.visibility</p:attrName>
                                        </p:attrNameLst>
                                      </p:cBhvr>
                                      <p:to>
                                        <p:strVal val="visible"/>
                                      </p:to>
                                    </p:set>
                                    <p:animEffect transition="in" filter="fade">
                                      <p:cBhvr>
                                        <p:cTn id="49" dur="500"/>
                                        <p:tgtEl>
                                          <p:spTgt spid="4506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par>
                                <p:cTn id="56" presetID="10" presetClass="entr" presetSubtype="0" fill="hold"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par>
                                <p:cTn id="62" presetID="10" presetClass="entr" presetSubtype="0" fill="hold"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P spid="45060" grpId="0"/>
      <p:bldP spid="4" grpId="0" animBg="1"/>
      <p:bldP spid="17" grpId="0" animBg="1"/>
      <p:bldP spid="26" grpId="0" animBg="1"/>
      <p:bldP spid="28" grpId="0" animBg="1"/>
      <p:bldP spid="22" grpId="0" animBg="1"/>
      <p:bldP spid="24" grpId="0" animBg="1"/>
      <p:bldP spid="2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1"/>
          <p:cNvSpPr>
            <a:spLocks noChangeArrowheads="1"/>
          </p:cNvSpPr>
          <p:nvPr/>
        </p:nvSpPr>
        <p:spPr bwMode="auto">
          <a:xfrm>
            <a:off x="0" y="0"/>
            <a:ext cx="9144000" cy="13843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FF0000"/>
                </a:solidFill>
                <a:latin typeface="微软雅黑" panose="020B0503020204020204" pitchFamily="34" charset="-122"/>
                <a:ea typeface="微软雅黑" panose="020B0503020204020204" pitchFamily="34" charset="-122"/>
              </a:rPr>
              <a:t>引理 </a:t>
            </a:r>
            <a:r>
              <a:rPr lang="en-US" altLang="zh-CN" sz="2800" b="1">
                <a:solidFill>
                  <a:srgbClr val="FF0000"/>
                </a:solidFill>
                <a:latin typeface="微软雅黑" panose="020B0503020204020204" pitchFamily="34" charset="-122"/>
                <a:ea typeface="微软雅黑" panose="020B0503020204020204" pitchFamily="34" charset="-122"/>
              </a:rPr>
              <a:t>2-2. </a:t>
            </a:r>
            <a:r>
              <a:rPr lang="zh-CN" altLang="en-US" sz="2800" b="1">
                <a:solidFill>
                  <a:schemeClr val="bg2"/>
                </a:solidFill>
                <a:latin typeface="微软雅黑" panose="020B0503020204020204" pitchFamily="34" charset="-122"/>
                <a:ea typeface="微软雅黑" panose="020B0503020204020204" pitchFamily="34" charset="-122"/>
              </a:rPr>
              <a:t>线性规划问题的可行解</a:t>
            </a:r>
            <a:r>
              <a:rPr lang="zh-CN" altLang="en-US" sz="2800" b="1" i="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baseline="-30000">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b="1" i="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sz="2800" b="1" baseline="-30000">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800" b="1" i="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 …, x</a:t>
            </a:r>
            <a:r>
              <a:rPr lang="en-US" altLang="zh-CN" sz="2800" b="1" i="1" baseline="-30000">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800" b="1">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baseline="30000">
                <a:solidFill>
                  <a:schemeClr val="bg2"/>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800" b="1">
                <a:solidFill>
                  <a:schemeClr val="bg2"/>
                </a:solidFill>
                <a:latin typeface="微软雅黑" panose="020B0503020204020204" pitchFamily="34" charset="-122"/>
                <a:ea typeface="微软雅黑" panose="020B0503020204020204" pitchFamily="34" charset="-122"/>
              </a:rPr>
              <a:t>为基可行解的</a:t>
            </a:r>
            <a:r>
              <a:rPr lang="zh-CN" altLang="en-US" sz="2800" b="1">
                <a:solidFill>
                  <a:srgbClr val="FF0000"/>
                </a:solidFill>
                <a:latin typeface="微软雅黑" panose="020B0503020204020204" pitchFamily="34" charset="-122"/>
                <a:ea typeface="微软雅黑" panose="020B0503020204020204" pitchFamily="34" charset="-122"/>
              </a:rPr>
              <a:t>充要条件</a:t>
            </a:r>
            <a:r>
              <a:rPr lang="zh-CN" altLang="en-US" sz="2800" b="1">
                <a:solidFill>
                  <a:schemeClr val="bg2"/>
                </a:solidFill>
                <a:latin typeface="微软雅黑" panose="020B0503020204020204" pitchFamily="34" charset="-122"/>
                <a:ea typeface="微软雅黑" panose="020B0503020204020204" pitchFamily="34" charset="-122"/>
              </a:rPr>
              <a:t>是</a:t>
            </a:r>
            <a:r>
              <a:rPr lang="en-US" altLang="zh-CN" sz="2800" b="1" i="1">
                <a:solidFill>
                  <a:schemeClr val="bg2"/>
                </a:solidFill>
                <a:latin typeface="Times New Roman" panose="02020603050405020304" pitchFamily="18" charset="0"/>
                <a:ea typeface="微软雅黑" panose="020B0503020204020204" pitchFamily="34" charset="-122"/>
              </a:rPr>
              <a:t>x</a:t>
            </a:r>
            <a:r>
              <a:rPr lang="zh-CN" altLang="en-US" sz="2800" b="1">
                <a:solidFill>
                  <a:schemeClr val="bg2"/>
                </a:solidFill>
                <a:latin typeface="微软雅黑" panose="020B0503020204020204" pitchFamily="34" charset="-122"/>
                <a:ea typeface="微软雅黑" panose="020B0503020204020204" pitchFamily="34" charset="-122"/>
              </a:rPr>
              <a:t>的正分量所对应的系数列向量是线性独立的</a:t>
            </a:r>
            <a:endParaRPr lang="zh-CN" altLang="en-US" sz="3200">
              <a:solidFill>
                <a:schemeClr val="bg2"/>
              </a:solidFill>
              <a:latin typeface="Times New Roman" panose="02020603050405020304" pitchFamily="18" charset="0"/>
              <a:ea typeface="华文楷体" panose="02010600040101010101" pitchFamily="2" charset="-122"/>
            </a:endParaRPr>
          </a:p>
        </p:txBody>
      </p:sp>
      <p:sp>
        <p:nvSpPr>
          <p:cNvPr id="19459" name="Rectangle 3"/>
          <p:cNvSpPr>
            <a:spLocks noChangeArrowheads="1"/>
          </p:cNvSpPr>
          <p:nvPr/>
        </p:nvSpPr>
        <p:spPr bwMode="auto">
          <a:xfrm>
            <a:off x="71438" y="1773238"/>
            <a:ext cx="9001125" cy="1125537"/>
          </a:xfrm>
          <a:prstGeom prst="rect">
            <a:avLst/>
          </a:prstGeom>
          <a:noFill/>
          <a:ln w="9525">
            <a:noFill/>
            <a:miter lim="800000"/>
          </a:ln>
        </p:spPr>
        <p:txBody>
          <a:bodyPr anchor="ctr">
            <a:spAutoFit/>
          </a:bodyPr>
          <a:lstStyle/>
          <a:p>
            <a:pPr eaLnBrk="1" hangingPunct="1">
              <a:lnSpc>
                <a:spcPct val="120000"/>
              </a:lnSpc>
              <a:defRPr/>
            </a:pPr>
            <a:r>
              <a:rPr lang="zh-CN" altLang="en-US" sz="2800" b="1" dirty="0">
                <a:solidFill>
                  <a:schemeClr val="folHlink"/>
                </a:solidFill>
                <a:latin typeface="Times New Roman" panose="02020603050405020304" pitchFamily="18" charset="0"/>
                <a:ea typeface="微软雅黑" panose="020B0503020204020204" pitchFamily="34" charset="-122"/>
              </a:rPr>
              <a:t>证</a:t>
            </a:r>
            <a:r>
              <a:rPr lang="en-US" altLang="zh-CN" sz="2800" b="1" dirty="0">
                <a:solidFill>
                  <a:schemeClr val="folHlink"/>
                </a:solidFill>
                <a:latin typeface="Times New Roman" panose="02020603050405020304" pitchFamily="18" charset="0"/>
                <a:ea typeface="微软雅黑" panose="020B0503020204020204" pitchFamily="34" charset="-122"/>
              </a:rPr>
              <a:t>:</a:t>
            </a:r>
            <a:r>
              <a:rPr lang="en-US" altLang="zh-CN" sz="2800" b="1" dirty="0">
                <a:latin typeface="Times New Roman" panose="02020603050405020304" pitchFamily="18" charset="0"/>
                <a:ea typeface="微软雅黑" panose="020B0503020204020204" pitchFamily="34" charset="-122"/>
              </a:rPr>
              <a:t> </a:t>
            </a:r>
            <a:r>
              <a:rPr lang="en-US" altLang="zh-CN" sz="2800" b="1" dirty="0">
                <a:solidFill>
                  <a:srgbClr val="006600"/>
                </a:solidFill>
                <a:latin typeface="Times New Roman" panose="02020603050405020304" pitchFamily="18" charset="0"/>
                <a:ea typeface="微软雅黑" panose="020B0503020204020204" pitchFamily="34" charset="-122"/>
              </a:rPr>
              <a:t>(1) </a:t>
            </a:r>
            <a:r>
              <a:rPr lang="zh-CN" altLang="en-US" sz="2800" b="1" dirty="0">
                <a:solidFill>
                  <a:srgbClr val="006600"/>
                </a:solidFill>
                <a:latin typeface="Times New Roman" panose="02020603050405020304" pitchFamily="18" charset="0"/>
                <a:ea typeface="微软雅黑" panose="020B0503020204020204" pitchFamily="34" charset="-122"/>
              </a:rPr>
              <a:t>必要性由基可行解的定义可知</a:t>
            </a:r>
          </a:p>
          <a:p>
            <a:pPr indent="889000" eaLnBrk="1" hangingPunct="1">
              <a:lnSpc>
                <a:spcPct val="120000"/>
              </a:lnSpc>
              <a:defRPr/>
            </a:pPr>
            <a:endParaRPr lang="en-US" altLang="zh-CN" sz="2800" b="1" dirty="0">
              <a:solidFill>
                <a:srgbClr val="006600"/>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39000" y="6401684"/>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97</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1"/>
          <p:cNvSpPr>
            <a:spLocks noChangeArrowheads="1"/>
          </p:cNvSpPr>
          <p:nvPr/>
        </p:nvSpPr>
        <p:spPr bwMode="auto">
          <a:xfrm>
            <a:off x="0" y="0"/>
            <a:ext cx="9144000" cy="13843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FF0000"/>
                </a:solidFill>
                <a:latin typeface="微软雅黑" panose="020B0503020204020204" pitchFamily="34" charset="-122"/>
                <a:ea typeface="微软雅黑" panose="020B0503020204020204" pitchFamily="34" charset="-122"/>
              </a:rPr>
              <a:t>引理 </a:t>
            </a:r>
            <a:r>
              <a:rPr lang="en-US" altLang="zh-CN" sz="2800" b="1">
                <a:solidFill>
                  <a:srgbClr val="FF0000"/>
                </a:solidFill>
                <a:latin typeface="微软雅黑" panose="020B0503020204020204" pitchFamily="34" charset="-122"/>
                <a:ea typeface="微软雅黑" panose="020B0503020204020204" pitchFamily="34" charset="-122"/>
              </a:rPr>
              <a:t>2-2. </a:t>
            </a:r>
            <a:r>
              <a:rPr lang="zh-CN" altLang="en-US" sz="2800" b="1">
                <a:latin typeface="微软雅黑" panose="020B0503020204020204" pitchFamily="34" charset="-122"/>
                <a:ea typeface="微软雅黑" panose="020B0503020204020204" pitchFamily="34" charset="-122"/>
              </a:rPr>
              <a:t>线性规划问题的可行解</a:t>
            </a:r>
            <a:r>
              <a:rPr lang="zh-CN" altLang="en-US" sz="2800"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 …, x</a:t>
            </a:r>
            <a:r>
              <a:rPr lang="en-US" altLang="zh-CN" sz="2800" b="1" i="1" baseline="-3000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800" b="1">
                <a:latin typeface="微软雅黑" panose="020B0503020204020204" pitchFamily="34" charset="-122"/>
                <a:ea typeface="微软雅黑" panose="020B0503020204020204" pitchFamily="34" charset="-122"/>
              </a:rPr>
              <a:t>为基可行解的</a:t>
            </a:r>
            <a:r>
              <a:rPr lang="zh-CN" altLang="en-US" sz="2800" b="1">
                <a:solidFill>
                  <a:srgbClr val="FF0000"/>
                </a:solidFill>
                <a:latin typeface="微软雅黑" panose="020B0503020204020204" pitchFamily="34" charset="-122"/>
                <a:ea typeface="微软雅黑" panose="020B0503020204020204" pitchFamily="34" charset="-122"/>
              </a:rPr>
              <a:t>充要条件</a:t>
            </a:r>
            <a:r>
              <a:rPr lang="zh-CN" altLang="en-US" sz="2800" b="1">
                <a:latin typeface="微软雅黑" panose="020B0503020204020204" pitchFamily="34" charset="-122"/>
                <a:ea typeface="微软雅黑" panose="020B0503020204020204" pitchFamily="34" charset="-122"/>
              </a:rPr>
              <a:t>是</a:t>
            </a:r>
            <a:r>
              <a:rPr lang="en-US" altLang="zh-CN" sz="2800" b="1" i="1">
                <a:latin typeface="Times New Roman" panose="02020603050405020304" pitchFamily="18" charset="0"/>
                <a:ea typeface="微软雅黑" panose="020B0503020204020204" pitchFamily="34" charset="-122"/>
              </a:rPr>
              <a:t>x</a:t>
            </a:r>
            <a:r>
              <a:rPr lang="zh-CN" altLang="en-US" sz="2800" b="1">
                <a:latin typeface="微软雅黑" panose="020B0503020204020204" pitchFamily="34" charset="-122"/>
                <a:ea typeface="微软雅黑" panose="020B0503020204020204" pitchFamily="34" charset="-122"/>
              </a:rPr>
              <a:t>的正分量所对应的系数列向量是线性独立的</a:t>
            </a:r>
            <a:endParaRPr lang="zh-CN" altLang="en-US" sz="3200">
              <a:latin typeface="Times New Roman" panose="02020603050405020304" pitchFamily="18" charset="0"/>
              <a:ea typeface="华文楷体" panose="02010600040101010101" pitchFamily="2" charset="-122"/>
            </a:endParaRPr>
          </a:p>
        </p:txBody>
      </p:sp>
      <p:sp>
        <p:nvSpPr>
          <p:cNvPr id="19459" name="Rectangle 3"/>
          <p:cNvSpPr>
            <a:spLocks noChangeArrowheads="1"/>
          </p:cNvSpPr>
          <p:nvPr/>
        </p:nvSpPr>
        <p:spPr bwMode="auto">
          <a:xfrm>
            <a:off x="4763" y="1409700"/>
            <a:ext cx="9001125" cy="2160588"/>
          </a:xfrm>
          <a:prstGeom prst="rect">
            <a:avLst/>
          </a:prstGeom>
          <a:noFill/>
          <a:ln w="9525">
            <a:noFill/>
            <a:miter lim="800000"/>
          </a:ln>
        </p:spPr>
        <p:txBody>
          <a:bodyPr anchor="ctr">
            <a:spAutoFit/>
          </a:bodyPr>
          <a:lstStyle/>
          <a:p>
            <a:pPr eaLnBrk="1" hangingPunct="1">
              <a:lnSpc>
                <a:spcPct val="120000"/>
              </a:lnSpc>
              <a:defRPr/>
            </a:pPr>
            <a:r>
              <a:rPr lang="zh-CN" altLang="en-US" sz="2800" b="1" dirty="0">
                <a:solidFill>
                  <a:schemeClr val="folHlink"/>
                </a:solidFill>
                <a:latin typeface="Times New Roman" panose="02020603050405020304" pitchFamily="18" charset="0"/>
                <a:ea typeface="微软雅黑" panose="020B0503020204020204" pitchFamily="34" charset="-122"/>
              </a:rPr>
              <a:t>证</a:t>
            </a:r>
            <a:r>
              <a:rPr lang="en-US" altLang="zh-CN" sz="2800" b="1" dirty="0">
                <a:solidFill>
                  <a:schemeClr val="folHlink"/>
                </a:solidFill>
                <a:latin typeface="Times New Roman" panose="02020603050405020304" pitchFamily="18" charset="0"/>
                <a:ea typeface="微软雅黑" panose="020B0503020204020204" pitchFamily="34" charset="-122"/>
              </a:rPr>
              <a:t>:</a:t>
            </a:r>
            <a:r>
              <a:rPr lang="en-US" altLang="zh-CN" sz="2800" b="1" dirty="0">
                <a:latin typeface="Times New Roman" panose="02020603050405020304" pitchFamily="18" charset="0"/>
                <a:ea typeface="微软雅黑" panose="020B0503020204020204" pitchFamily="34" charset="-122"/>
              </a:rPr>
              <a:t> </a:t>
            </a:r>
            <a:r>
              <a:rPr lang="en-US" altLang="zh-CN" sz="2800" b="1" dirty="0">
                <a:solidFill>
                  <a:srgbClr val="014504"/>
                </a:solidFill>
                <a:latin typeface="Times New Roman" panose="02020603050405020304" pitchFamily="18" charset="0"/>
                <a:ea typeface="微软雅黑" panose="020B0503020204020204" pitchFamily="34" charset="-122"/>
              </a:rPr>
              <a:t>(2) </a:t>
            </a:r>
            <a:r>
              <a:rPr lang="zh-CN" altLang="en-US" sz="2800" b="1" dirty="0">
                <a:solidFill>
                  <a:srgbClr val="014504"/>
                </a:solidFill>
                <a:latin typeface="Times New Roman" panose="02020603050405020304" pitchFamily="18" charset="0"/>
                <a:ea typeface="微软雅黑" panose="020B0503020204020204" pitchFamily="34" charset="-122"/>
              </a:rPr>
              <a:t>充分性</a:t>
            </a:r>
            <a:endParaRPr lang="en-US" altLang="zh-CN" sz="2800" b="1" dirty="0">
              <a:solidFill>
                <a:srgbClr val="014504"/>
              </a:solidFill>
              <a:latin typeface="Times New Roman" panose="02020603050405020304" pitchFamily="18" charset="0"/>
              <a:ea typeface="微软雅黑" panose="020B0503020204020204" pitchFamily="34" charset="-122"/>
            </a:endParaRPr>
          </a:p>
          <a:p>
            <a:pPr indent="542925" eaLnBrk="1" hangingPunct="1">
              <a:lnSpc>
                <a:spcPct val="120000"/>
              </a:lnSpc>
              <a:defRPr/>
            </a:pPr>
            <a:r>
              <a:rPr lang="zh-CN" altLang="en-US" sz="2800" b="1" dirty="0">
                <a:solidFill>
                  <a:srgbClr val="014504"/>
                </a:solidFill>
                <a:latin typeface="Times New Roman" panose="02020603050405020304" pitchFamily="18" charset="0"/>
                <a:ea typeface="微软雅黑" panose="020B0503020204020204" pitchFamily="34" charset="-122"/>
              </a:rPr>
              <a:t>若向量</a:t>
            </a:r>
            <a:r>
              <a:rPr lang="en-US" altLang="zh-CN" sz="2800" b="1" i="1" dirty="0">
                <a:solidFill>
                  <a:srgbClr val="014504"/>
                </a:solidFill>
                <a:latin typeface="Times New Roman" panose="02020603050405020304" pitchFamily="18" charset="0"/>
                <a:ea typeface="微软雅黑" panose="020B0503020204020204" pitchFamily="34" charset="-122"/>
              </a:rPr>
              <a:t>P</a:t>
            </a:r>
            <a:r>
              <a:rPr lang="en-US" altLang="zh-CN" sz="2800" b="1" baseline="-25000" dirty="0">
                <a:solidFill>
                  <a:srgbClr val="014504"/>
                </a:solidFill>
                <a:latin typeface="Times New Roman" panose="02020603050405020304" pitchFamily="18" charset="0"/>
                <a:ea typeface="微软雅黑" panose="020B0503020204020204" pitchFamily="34" charset="-122"/>
              </a:rPr>
              <a:t>1</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solidFill>
                  <a:srgbClr val="014504"/>
                </a:solidFill>
                <a:latin typeface="Times New Roman" panose="02020603050405020304" pitchFamily="18" charset="0"/>
                <a:ea typeface="微软雅黑" panose="020B0503020204020204" pitchFamily="34" charset="-122"/>
              </a:rPr>
              <a:t>P</a:t>
            </a:r>
            <a:r>
              <a:rPr lang="en-US" altLang="zh-CN" sz="2800" b="1" baseline="-25000" dirty="0">
                <a:solidFill>
                  <a:srgbClr val="014504"/>
                </a:solidFill>
                <a:latin typeface="Times New Roman" panose="02020603050405020304" pitchFamily="18" charset="0"/>
                <a:ea typeface="微软雅黑" panose="020B0503020204020204" pitchFamily="34" charset="-122"/>
              </a:rPr>
              <a:t>2</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solidFill>
                  <a:srgbClr val="014504"/>
                </a:solidFill>
                <a:latin typeface="Times New Roman" panose="02020603050405020304" pitchFamily="18" charset="0"/>
                <a:ea typeface="微软雅黑" panose="020B0503020204020204" pitchFamily="34" charset="-122"/>
              </a:rPr>
              <a:t>…</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err="1">
                <a:solidFill>
                  <a:srgbClr val="014504"/>
                </a:solidFill>
                <a:latin typeface="Times New Roman" panose="02020603050405020304" pitchFamily="18" charset="0"/>
                <a:ea typeface="微软雅黑" panose="020B0503020204020204" pitchFamily="34" charset="-122"/>
              </a:rPr>
              <a:t>P</a:t>
            </a:r>
            <a:r>
              <a:rPr lang="en-US" altLang="zh-CN" sz="2800" b="1" i="1" baseline="-25000" dirty="0" err="1">
                <a:solidFill>
                  <a:srgbClr val="014504"/>
                </a:solidFill>
                <a:latin typeface="Times New Roman" panose="02020603050405020304" pitchFamily="18" charset="0"/>
                <a:ea typeface="微软雅黑" panose="020B0503020204020204" pitchFamily="34" charset="-122"/>
              </a:rPr>
              <a:t>k</a:t>
            </a:r>
            <a:r>
              <a:rPr lang="zh-CN" altLang="en-US" sz="2800" b="1" dirty="0">
                <a:solidFill>
                  <a:srgbClr val="014504"/>
                </a:solidFill>
                <a:latin typeface="Times New Roman" panose="02020603050405020304" pitchFamily="18" charset="0"/>
                <a:ea typeface="微软雅黑" panose="020B0503020204020204" pitchFamily="34" charset="-122"/>
              </a:rPr>
              <a:t>线性独立</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rgbClr val="014504"/>
                </a:solidFill>
                <a:latin typeface="Times New Roman" panose="02020603050405020304" pitchFamily="18" charset="0"/>
                <a:ea typeface="微软雅黑" panose="020B0503020204020204" pitchFamily="34" charset="-122"/>
              </a:rPr>
              <a:t>则必有</a:t>
            </a:r>
            <a:r>
              <a:rPr lang="en-US" altLang="zh-CN" sz="2800" b="1" i="1" dirty="0" err="1">
                <a:solidFill>
                  <a:srgbClr val="014504"/>
                </a:solidFill>
                <a:latin typeface="Times New Roman" panose="02020603050405020304" pitchFamily="18" charset="0"/>
                <a:ea typeface="微软雅黑" panose="020B0503020204020204" pitchFamily="34" charset="-122"/>
              </a:rPr>
              <a:t>k≤m</a:t>
            </a:r>
            <a:endParaRPr lang="en-US" altLang="zh-CN" sz="2800" b="1" dirty="0">
              <a:solidFill>
                <a:srgbClr val="014504"/>
              </a:solidFill>
              <a:latin typeface="Times New Roman" panose="02020603050405020304" pitchFamily="18" charset="0"/>
              <a:ea typeface="微软雅黑" panose="020B0503020204020204" pitchFamily="34" charset="-122"/>
            </a:endParaRPr>
          </a:p>
          <a:p>
            <a:pPr eaLnBrk="1" hangingPunct="1">
              <a:lnSpc>
                <a:spcPct val="120000"/>
              </a:lnSpc>
              <a:defRPr/>
            </a:pPr>
            <a:r>
              <a:rPr lang="zh-CN" altLang="en-US" sz="2800" b="1" dirty="0">
                <a:solidFill>
                  <a:schemeClr val="hlink"/>
                </a:solidFill>
                <a:latin typeface="Times New Roman" panose="02020603050405020304" pitchFamily="18" charset="0"/>
                <a:ea typeface="微软雅黑" panose="020B0503020204020204" pitchFamily="34" charset="-122"/>
              </a:rPr>
              <a:t>当</a:t>
            </a:r>
            <a:r>
              <a:rPr lang="en-US" altLang="zh-CN" sz="2800" b="1" i="1" dirty="0">
                <a:solidFill>
                  <a:schemeClr val="hlink"/>
                </a:solidFill>
                <a:latin typeface="Times New Roman" panose="02020603050405020304" pitchFamily="18" charset="0"/>
                <a:ea typeface="微软雅黑" panose="020B0503020204020204" pitchFamily="34" charset="-122"/>
              </a:rPr>
              <a:t>k=m</a:t>
            </a:r>
            <a:r>
              <a:rPr lang="zh-CN" altLang="en-US" sz="2800" b="1" dirty="0">
                <a:solidFill>
                  <a:schemeClr val="hlink"/>
                </a:solidFill>
                <a:latin typeface="Times New Roman" panose="02020603050405020304" pitchFamily="18" charset="0"/>
                <a:ea typeface="微软雅黑" panose="020B0503020204020204" pitchFamily="34" charset="-122"/>
              </a:rPr>
              <a:t>时</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chemeClr val="hlink"/>
                </a:solidFill>
                <a:latin typeface="Times New Roman" panose="02020603050405020304" pitchFamily="18" charset="0"/>
                <a:ea typeface="微软雅黑" panose="020B0503020204020204" pitchFamily="34" charset="-122"/>
              </a:rPr>
              <a:t>它们恰构成一个基</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chemeClr val="hlink"/>
                </a:solidFill>
                <a:latin typeface="Times New Roman" panose="02020603050405020304" pitchFamily="18" charset="0"/>
                <a:ea typeface="微软雅黑" panose="020B0503020204020204" pitchFamily="34" charset="-122"/>
              </a:rPr>
              <a:t>从而</a:t>
            </a:r>
            <a:r>
              <a:rPr lang="zh-CN" altLang="en-US" sz="2800" b="1" i="1" dirty="0">
                <a:solidFill>
                  <a:schemeClr val="hlink"/>
                </a:solidFill>
                <a:latin typeface="Times New Roman" panose="02020603050405020304" pitchFamily="18" charset="0"/>
                <a:ea typeface="微软雅黑" panose="020B0503020204020204" pitchFamily="34" charset="-122"/>
              </a:rPr>
              <a:t>x</a:t>
            </a:r>
            <a:r>
              <a:rPr lang="en-US" altLang="zh-CN" sz="2800" b="1" dirty="0">
                <a:solidFill>
                  <a:schemeClr val="hlink"/>
                </a:solidFill>
                <a:latin typeface="Times New Roman" panose="02020603050405020304" pitchFamily="18" charset="0"/>
                <a:ea typeface="微软雅黑" panose="020B0503020204020204" pitchFamily="34" charset="-122"/>
              </a:rPr>
              <a:t>=(</a:t>
            </a:r>
            <a:r>
              <a:rPr lang="en-US" altLang="zh-CN" sz="2800" b="1" i="1" dirty="0">
                <a:solidFill>
                  <a:schemeClr val="hlink"/>
                </a:solidFill>
                <a:latin typeface="Times New Roman" panose="02020603050405020304" pitchFamily="18" charset="0"/>
                <a:ea typeface="微软雅黑" panose="020B0503020204020204" pitchFamily="34" charset="-122"/>
              </a:rPr>
              <a:t>x</a:t>
            </a:r>
            <a:r>
              <a:rPr lang="en-US" altLang="zh-CN" sz="2800" b="1" baseline="-25000" dirty="0">
                <a:solidFill>
                  <a:schemeClr val="hlink"/>
                </a:solidFill>
                <a:latin typeface="Times New Roman" panose="02020603050405020304" pitchFamily="18" charset="0"/>
                <a:ea typeface="微软雅黑" panose="020B0503020204020204" pitchFamily="34" charset="-122"/>
              </a:rPr>
              <a:t>1</a:t>
            </a:r>
            <a:r>
              <a:rPr lang="en-US" altLang="zh-CN" sz="2800" b="1" dirty="0">
                <a:solidFill>
                  <a:schemeClr val="hlink"/>
                </a:solidFill>
                <a:latin typeface="Times New Roman" panose="02020603050405020304" pitchFamily="18" charset="0"/>
                <a:ea typeface="微软雅黑" panose="020B0503020204020204" pitchFamily="34" charset="-122"/>
              </a:rPr>
              <a:t>, </a:t>
            </a:r>
            <a:r>
              <a:rPr lang="en-US" altLang="zh-CN" sz="2800" b="1" i="1" dirty="0">
                <a:solidFill>
                  <a:schemeClr val="hlink"/>
                </a:solidFill>
                <a:latin typeface="Times New Roman" panose="02020603050405020304" pitchFamily="18" charset="0"/>
                <a:ea typeface="微软雅黑" panose="020B0503020204020204" pitchFamily="34" charset="-122"/>
              </a:rPr>
              <a:t>x</a:t>
            </a:r>
            <a:r>
              <a:rPr lang="en-US" altLang="zh-CN" sz="2800" b="1" baseline="-25000" dirty="0">
                <a:solidFill>
                  <a:schemeClr val="hlink"/>
                </a:solidFill>
                <a:latin typeface="Times New Roman" panose="02020603050405020304" pitchFamily="18" charset="0"/>
                <a:ea typeface="微软雅黑" panose="020B0503020204020204" pitchFamily="34" charset="-122"/>
              </a:rPr>
              <a:t>2</a:t>
            </a:r>
            <a:r>
              <a:rPr lang="en-US" altLang="zh-CN" sz="2800" b="1" dirty="0">
                <a:solidFill>
                  <a:schemeClr val="hlink"/>
                </a:solidFill>
                <a:latin typeface="Times New Roman" panose="02020603050405020304" pitchFamily="18" charset="0"/>
                <a:ea typeface="微软雅黑" panose="020B0503020204020204" pitchFamily="34" charset="-122"/>
              </a:rPr>
              <a:t>, …, </a:t>
            </a:r>
            <a:r>
              <a:rPr lang="en-US" altLang="zh-CN" sz="2800" b="1" i="1" dirty="0" err="1">
                <a:solidFill>
                  <a:schemeClr val="hlink"/>
                </a:solidFill>
                <a:latin typeface="Times New Roman" panose="02020603050405020304" pitchFamily="18" charset="0"/>
                <a:ea typeface="微软雅黑" panose="020B0503020204020204" pitchFamily="34" charset="-122"/>
              </a:rPr>
              <a:t>x</a:t>
            </a:r>
            <a:r>
              <a:rPr lang="en-US" altLang="zh-CN" sz="2800" b="1" i="1" baseline="-25000" dirty="0" err="1">
                <a:solidFill>
                  <a:schemeClr val="hlink"/>
                </a:solidFill>
                <a:latin typeface="Times New Roman" panose="02020603050405020304" pitchFamily="18" charset="0"/>
                <a:ea typeface="微软雅黑" panose="020B0503020204020204" pitchFamily="34" charset="-122"/>
              </a:rPr>
              <a:t>k</a:t>
            </a:r>
            <a:r>
              <a:rPr lang="en-US" altLang="zh-CN" sz="2800" b="1" dirty="0">
                <a:solidFill>
                  <a:schemeClr val="hlink"/>
                </a:solidFill>
                <a:latin typeface="Times New Roman" panose="02020603050405020304" pitchFamily="18" charset="0"/>
                <a:ea typeface="微软雅黑" panose="020B0503020204020204" pitchFamily="34" charset="-122"/>
              </a:rPr>
              <a:t>, 0, …, 0)</a:t>
            </a:r>
            <a:r>
              <a:rPr lang="zh-CN" altLang="en-US" sz="2800" b="1" dirty="0">
                <a:solidFill>
                  <a:schemeClr val="hlink"/>
                </a:solidFill>
                <a:latin typeface="Times New Roman" panose="02020603050405020304" pitchFamily="18" charset="0"/>
                <a:ea typeface="微软雅黑" panose="020B0503020204020204" pitchFamily="34" charset="-122"/>
              </a:rPr>
              <a:t>为相应的基可行解</a:t>
            </a:r>
          </a:p>
        </p:txBody>
      </p:sp>
      <p:graphicFrame>
        <p:nvGraphicFramePr>
          <p:cNvPr id="18" name="Object 34"/>
          <p:cNvGraphicFramePr>
            <a:graphicFrameLocks noChangeAspect="1"/>
          </p:cNvGraphicFramePr>
          <p:nvPr/>
        </p:nvGraphicFramePr>
        <p:xfrm>
          <a:off x="3108325" y="3595688"/>
          <a:ext cx="2949575" cy="952500"/>
        </p:xfrm>
        <a:graphic>
          <a:graphicData uri="http://schemas.openxmlformats.org/presentationml/2006/ole">
            <mc:AlternateContent xmlns:mc="http://schemas.openxmlformats.org/markup-compatibility/2006">
              <mc:Choice xmlns:v="urn:schemas-microsoft-com:vml" Requires="v">
                <p:oleObj spid="_x0000_s45144" name="Equation" r:id="rId3" imgW="1371600" imgH="444500" progId="Equation.DSMT4">
                  <p:embed/>
                </p:oleObj>
              </mc:Choice>
              <mc:Fallback>
                <p:oleObj name="Equation" r:id="rId3" imgW="1371600" imgH="444500" progId="Equation.DSMT4">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8325" y="3595688"/>
                        <a:ext cx="2949575" cy="952500"/>
                      </a:xfrm>
                      <a:prstGeom prst="rect">
                        <a:avLst/>
                      </a:prstGeom>
                      <a:solidFill>
                        <a:srgbClr val="05FB0B"/>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34"/>
          <p:cNvGraphicFramePr>
            <a:graphicFrameLocks noChangeAspect="1"/>
          </p:cNvGraphicFramePr>
          <p:nvPr/>
        </p:nvGraphicFramePr>
        <p:xfrm>
          <a:off x="3084513" y="4737100"/>
          <a:ext cx="2973387" cy="952500"/>
        </p:xfrm>
        <a:graphic>
          <a:graphicData uri="http://schemas.openxmlformats.org/presentationml/2006/ole">
            <mc:AlternateContent xmlns:mc="http://schemas.openxmlformats.org/markup-compatibility/2006">
              <mc:Choice xmlns:v="urn:schemas-microsoft-com:vml" Requires="v">
                <p:oleObj spid="_x0000_s45145" name="Equation" r:id="rId5" imgW="1447165" imgH="444500" progId="Equation.DSMT4">
                  <p:embed/>
                </p:oleObj>
              </mc:Choice>
              <mc:Fallback>
                <p:oleObj name="Equation" r:id="rId5" imgW="1447165" imgH="4445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4513" y="4737100"/>
                        <a:ext cx="2973387" cy="952500"/>
                      </a:xfrm>
                      <a:prstGeom prst="rect">
                        <a:avLst/>
                      </a:prstGeom>
                      <a:solidFill>
                        <a:srgbClr val="05FB0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a:xfrm>
            <a:off x="7231569"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98</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linds(horizontal)">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
          <p:cNvSpPr>
            <a:spLocks noChangeArrowheads="1"/>
          </p:cNvSpPr>
          <p:nvPr/>
        </p:nvSpPr>
        <p:spPr bwMode="auto">
          <a:xfrm>
            <a:off x="0" y="0"/>
            <a:ext cx="9144000" cy="13843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FF0000"/>
                </a:solidFill>
                <a:latin typeface="微软雅黑" panose="020B0503020204020204" pitchFamily="34" charset="-122"/>
                <a:ea typeface="微软雅黑" panose="020B0503020204020204" pitchFamily="34" charset="-122"/>
              </a:rPr>
              <a:t>引理 </a:t>
            </a:r>
            <a:r>
              <a:rPr lang="en-US" altLang="zh-CN" sz="2800" b="1">
                <a:solidFill>
                  <a:srgbClr val="FF0000"/>
                </a:solidFill>
                <a:latin typeface="微软雅黑" panose="020B0503020204020204" pitchFamily="34" charset="-122"/>
                <a:ea typeface="微软雅黑" panose="020B0503020204020204" pitchFamily="34" charset="-122"/>
              </a:rPr>
              <a:t>2-2. </a:t>
            </a:r>
            <a:r>
              <a:rPr lang="zh-CN" altLang="en-US" sz="2800" b="1">
                <a:latin typeface="微软雅黑" panose="020B0503020204020204" pitchFamily="34" charset="-122"/>
                <a:ea typeface="微软雅黑" panose="020B0503020204020204" pitchFamily="34" charset="-122"/>
              </a:rPr>
              <a:t>线性规划问题的可行解</a:t>
            </a:r>
            <a:r>
              <a:rPr lang="zh-CN" altLang="en-US" sz="2800"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 …, x</a:t>
            </a:r>
            <a:r>
              <a:rPr lang="en-US" altLang="zh-CN" sz="2800" b="1" i="1" baseline="-3000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baseline="3000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800" b="1">
                <a:latin typeface="微软雅黑" panose="020B0503020204020204" pitchFamily="34" charset="-122"/>
                <a:ea typeface="微软雅黑" panose="020B0503020204020204" pitchFamily="34" charset="-122"/>
              </a:rPr>
              <a:t>为基可行解的</a:t>
            </a:r>
            <a:r>
              <a:rPr lang="zh-CN" altLang="en-US" sz="2800" b="1">
                <a:solidFill>
                  <a:srgbClr val="FF0000"/>
                </a:solidFill>
                <a:latin typeface="微软雅黑" panose="020B0503020204020204" pitchFamily="34" charset="-122"/>
                <a:ea typeface="微软雅黑" panose="020B0503020204020204" pitchFamily="34" charset="-122"/>
              </a:rPr>
              <a:t>充要条件</a:t>
            </a:r>
            <a:r>
              <a:rPr lang="zh-CN" altLang="en-US" sz="2800" b="1">
                <a:latin typeface="微软雅黑" panose="020B0503020204020204" pitchFamily="34" charset="-122"/>
                <a:ea typeface="微软雅黑" panose="020B0503020204020204" pitchFamily="34" charset="-122"/>
              </a:rPr>
              <a:t>是</a:t>
            </a:r>
            <a:r>
              <a:rPr lang="en-US" altLang="zh-CN" sz="2800" b="1" i="1">
                <a:latin typeface="Times New Roman" panose="02020603050405020304" pitchFamily="18" charset="0"/>
                <a:ea typeface="微软雅黑" panose="020B0503020204020204" pitchFamily="34" charset="-122"/>
              </a:rPr>
              <a:t>x</a:t>
            </a:r>
            <a:r>
              <a:rPr lang="zh-CN" altLang="en-US" sz="2800" b="1">
                <a:latin typeface="微软雅黑" panose="020B0503020204020204" pitchFamily="34" charset="-122"/>
                <a:ea typeface="微软雅黑" panose="020B0503020204020204" pitchFamily="34" charset="-122"/>
              </a:rPr>
              <a:t>的正分量所对应的系数列向量是线性独立的</a:t>
            </a:r>
            <a:endParaRPr lang="zh-CN" altLang="en-US" sz="3200">
              <a:latin typeface="Times New Roman" panose="02020603050405020304" pitchFamily="18" charset="0"/>
              <a:ea typeface="华文楷体" panose="02010600040101010101" pitchFamily="2" charset="-122"/>
            </a:endParaRPr>
          </a:p>
        </p:txBody>
      </p:sp>
      <p:sp>
        <p:nvSpPr>
          <p:cNvPr id="19459" name="Rectangle 3"/>
          <p:cNvSpPr>
            <a:spLocks noChangeArrowheads="1"/>
          </p:cNvSpPr>
          <p:nvPr/>
        </p:nvSpPr>
        <p:spPr bwMode="auto">
          <a:xfrm>
            <a:off x="0" y="1385888"/>
            <a:ext cx="9144000" cy="3711575"/>
          </a:xfrm>
          <a:prstGeom prst="rect">
            <a:avLst/>
          </a:prstGeom>
          <a:noFill/>
          <a:ln w="9525">
            <a:noFill/>
            <a:miter lim="800000"/>
          </a:ln>
        </p:spPr>
        <p:txBody>
          <a:bodyPr anchor="ctr">
            <a:spAutoFit/>
          </a:bodyPr>
          <a:lstStyle/>
          <a:p>
            <a:pPr eaLnBrk="1" hangingPunct="1">
              <a:lnSpc>
                <a:spcPct val="120000"/>
              </a:lnSpc>
              <a:defRPr/>
            </a:pPr>
            <a:r>
              <a:rPr lang="zh-CN" altLang="en-US" sz="2800" b="1" dirty="0">
                <a:solidFill>
                  <a:schemeClr val="folHlink"/>
                </a:solidFill>
                <a:latin typeface="Times New Roman" panose="02020603050405020304" pitchFamily="18" charset="0"/>
                <a:ea typeface="微软雅黑" panose="020B0503020204020204" pitchFamily="34" charset="-122"/>
              </a:rPr>
              <a:t>证</a:t>
            </a:r>
            <a:r>
              <a:rPr lang="en-US" altLang="zh-CN" sz="2800" b="1" dirty="0">
                <a:solidFill>
                  <a:schemeClr val="folHlink"/>
                </a:solidFill>
                <a:latin typeface="Times New Roman" panose="02020603050405020304" pitchFamily="18" charset="0"/>
                <a:ea typeface="微软雅黑" panose="020B0503020204020204" pitchFamily="34" charset="-122"/>
              </a:rPr>
              <a:t>:</a:t>
            </a:r>
            <a:r>
              <a:rPr lang="en-US" altLang="zh-CN" sz="2800" b="1" dirty="0">
                <a:solidFill>
                  <a:srgbClr val="014504"/>
                </a:solidFill>
                <a:latin typeface="Times New Roman" panose="02020603050405020304" pitchFamily="18" charset="0"/>
                <a:ea typeface="微软雅黑" panose="020B0503020204020204" pitchFamily="34" charset="-122"/>
              </a:rPr>
              <a:t>(2) </a:t>
            </a:r>
            <a:r>
              <a:rPr lang="zh-CN" altLang="en-US" sz="2800" b="1" dirty="0">
                <a:solidFill>
                  <a:srgbClr val="014504"/>
                </a:solidFill>
                <a:latin typeface="Times New Roman" panose="02020603050405020304" pitchFamily="18" charset="0"/>
                <a:ea typeface="微软雅黑" panose="020B0503020204020204" pitchFamily="34" charset="-122"/>
              </a:rPr>
              <a:t>充分性</a:t>
            </a:r>
            <a:endParaRPr lang="en-US" altLang="zh-CN" sz="2800" b="1" dirty="0">
              <a:solidFill>
                <a:srgbClr val="014504"/>
              </a:solidFill>
              <a:latin typeface="Times New Roman" panose="02020603050405020304" pitchFamily="18" charset="0"/>
              <a:ea typeface="微软雅黑" panose="020B0503020204020204" pitchFamily="34" charset="-122"/>
            </a:endParaRPr>
          </a:p>
          <a:p>
            <a:pPr indent="542925" eaLnBrk="1" hangingPunct="1">
              <a:lnSpc>
                <a:spcPct val="120000"/>
              </a:lnSpc>
              <a:defRPr/>
            </a:pPr>
            <a:r>
              <a:rPr lang="zh-CN" altLang="en-US" sz="2800" b="1" dirty="0">
                <a:solidFill>
                  <a:srgbClr val="014504"/>
                </a:solidFill>
                <a:latin typeface="Times New Roman" panose="02020603050405020304" pitchFamily="18" charset="0"/>
                <a:ea typeface="微软雅黑" panose="020B0503020204020204" pitchFamily="34" charset="-122"/>
              </a:rPr>
              <a:t>若向量</a:t>
            </a:r>
            <a:r>
              <a:rPr lang="en-US" altLang="zh-CN" sz="2800" b="1" i="1" dirty="0">
                <a:solidFill>
                  <a:srgbClr val="014504"/>
                </a:solidFill>
                <a:latin typeface="Times New Roman" panose="02020603050405020304" pitchFamily="18" charset="0"/>
                <a:ea typeface="微软雅黑" panose="020B0503020204020204" pitchFamily="34" charset="-122"/>
              </a:rPr>
              <a:t>P</a:t>
            </a:r>
            <a:r>
              <a:rPr lang="en-US" altLang="zh-CN" sz="2800" b="1" baseline="-25000" dirty="0">
                <a:solidFill>
                  <a:srgbClr val="014504"/>
                </a:solidFill>
                <a:latin typeface="Times New Roman" panose="02020603050405020304" pitchFamily="18" charset="0"/>
                <a:ea typeface="微软雅黑" panose="020B0503020204020204" pitchFamily="34" charset="-122"/>
              </a:rPr>
              <a:t>1</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solidFill>
                  <a:srgbClr val="014504"/>
                </a:solidFill>
                <a:latin typeface="Times New Roman" panose="02020603050405020304" pitchFamily="18" charset="0"/>
                <a:ea typeface="微软雅黑" panose="020B0503020204020204" pitchFamily="34" charset="-122"/>
              </a:rPr>
              <a:t>P</a:t>
            </a:r>
            <a:r>
              <a:rPr lang="en-US" altLang="zh-CN" sz="2800" b="1" baseline="-25000" dirty="0">
                <a:solidFill>
                  <a:srgbClr val="014504"/>
                </a:solidFill>
                <a:latin typeface="Times New Roman" panose="02020603050405020304" pitchFamily="18" charset="0"/>
                <a:ea typeface="微软雅黑" panose="020B0503020204020204" pitchFamily="34" charset="-122"/>
              </a:rPr>
              <a:t>2</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solidFill>
                  <a:srgbClr val="014504"/>
                </a:solidFill>
                <a:latin typeface="Times New Roman" panose="02020603050405020304" pitchFamily="18" charset="0"/>
                <a:ea typeface="微软雅黑" panose="020B0503020204020204" pitchFamily="34" charset="-122"/>
              </a:rPr>
              <a:t>…</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err="1">
                <a:solidFill>
                  <a:srgbClr val="014504"/>
                </a:solidFill>
                <a:latin typeface="Times New Roman" panose="02020603050405020304" pitchFamily="18" charset="0"/>
                <a:ea typeface="微软雅黑" panose="020B0503020204020204" pitchFamily="34" charset="-122"/>
              </a:rPr>
              <a:t>P</a:t>
            </a:r>
            <a:r>
              <a:rPr lang="en-US" altLang="zh-CN" sz="2800" b="1" i="1" baseline="-25000" dirty="0" err="1">
                <a:solidFill>
                  <a:srgbClr val="014504"/>
                </a:solidFill>
                <a:latin typeface="Times New Roman" panose="02020603050405020304" pitchFamily="18" charset="0"/>
                <a:ea typeface="微软雅黑" panose="020B0503020204020204" pitchFamily="34" charset="-122"/>
              </a:rPr>
              <a:t>k</a:t>
            </a:r>
            <a:r>
              <a:rPr lang="zh-CN" altLang="en-US" sz="2800" b="1" dirty="0">
                <a:solidFill>
                  <a:srgbClr val="014504"/>
                </a:solidFill>
                <a:latin typeface="Times New Roman" panose="02020603050405020304" pitchFamily="18" charset="0"/>
                <a:ea typeface="微软雅黑" panose="020B0503020204020204" pitchFamily="34" charset="-122"/>
              </a:rPr>
              <a:t>线性独立</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rgbClr val="014504"/>
                </a:solidFill>
                <a:latin typeface="Times New Roman" panose="02020603050405020304" pitchFamily="18" charset="0"/>
                <a:ea typeface="微软雅黑" panose="020B0503020204020204" pitchFamily="34" charset="-122"/>
              </a:rPr>
              <a:t>则必有</a:t>
            </a:r>
            <a:r>
              <a:rPr lang="en-US" altLang="zh-CN" sz="2800" b="1" i="1" dirty="0" err="1">
                <a:solidFill>
                  <a:srgbClr val="014504"/>
                </a:solidFill>
                <a:latin typeface="Times New Roman" panose="02020603050405020304" pitchFamily="18" charset="0"/>
                <a:ea typeface="微软雅黑" panose="020B0503020204020204" pitchFamily="34" charset="-122"/>
              </a:rPr>
              <a:t>k≤m</a:t>
            </a:r>
            <a:endParaRPr lang="en-US" altLang="zh-CN" sz="2800" b="1" dirty="0">
              <a:solidFill>
                <a:srgbClr val="014504"/>
              </a:solidFill>
              <a:latin typeface="Times New Roman" panose="02020603050405020304" pitchFamily="18" charset="0"/>
              <a:ea typeface="微软雅黑" panose="020B0503020204020204" pitchFamily="34" charset="-122"/>
            </a:endParaRPr>
          </a:p>
          <a:p>
            <a:pPr eaLnBrk="1" hangingPunct="1">
              <a:lnSpc>
                <a:spcPct val="120000"/>
              </a:lnSpc>
              <a:defRPr/>
            </a:pPr>
            <a:r>
              <a:rPr lang="zh-CN" altLang="en-US" sz="2800" b="1" dirty="0">
                <a:solidFill>
                  <a:schemeClr val="hlink"/>
                </a:solidFill>
                <a:latin typeface="Times New Roman" panose="02020603050405020304" pitchFamily="18" charset="0"/>
                <a:ea typeface="微软雅黑" panose="020B0503020204020204" pitchFamily="34" charset="-122"/>
              </a:rPr>
              <a:t>当</a:t>
            </a:r>
            <a:r>
              <a:rPr lang="en-US" altLang="zh-CN" sz="2800" b="1" i="1" dirty="0">
                <a:solidFill>
                  <a:schemeClr val="hlink"/>
                </a:solidFill>
                <a:latin typeface="Times New Roman" panose="02020603050405020304" pitchFamily="18" charset="0"/>
                <a:ea typeface="微软雅黑" panose="020B0503020204020204" pitchFamily="34" charset="-122"/>
              </a:rPr>
              <a:t>k=m</a:t>
            </a:r>
            <a:r>
              <a:rPr lang="zh-CN" altLang="en-US" sz="2800" b="1" dirty="0">
                <a:solidFill>
                  <a:schemeClr val="hlink"/>
                </a:solidFill>
                <a:latin typeface="Times New Roman" panose="02020603050405020304" pitchFamily="18" charset="0"/>
                <a:ea typeface="微软雅黑" panose="020B0503020204020204" pitchFamily="34" charset="-122"/>
              </a:rPr>
              <a:t>时</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chemeClr val="hlink"/>
                </a:solidFill>
                <a:latin typeface="Times New Roman" panose="02020603050405020304" pitchFamily="18" charset="0"/>
                <a:ea typeface="微软雅黑" panose="020B0503020204020204" pitchFamily="34" charset="-122"/>
              </a:rPr>
              <a:t>它恰构成一个基</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solidFill>
                  <a:schemeClr val="hlink"/>
                </a:solidFill>
                <a:latin typeface="Times New Roman" panose="02020603050405020304" pitchFamily="18" charset="0"/>
                <a:ea typeface="微软雅黑" panose="020B0503020204020204" pitchFamily="34" charset="-122"/>
              </a:rPr>
              <a:t>从而</a:t>
            </a:r>
            <a:r>
              <a:rPr lang="zh-CN" altLang="en-US" sz="2800" b="1" i="1" dirty="0">
                <a:solidFill>
                  <a:schemeClr val="hlink"/>
                </a:solidFill>
                <a:latin typeface="Times New Roman" panose="02020603050405020304" pitchFamily="18" charset="0"/>
                <a:ea typeface="微软雅黑" panose="020B0503020204020204" pitchFamily="34" charset="-122"/>
              </a:rPr>
              <a:t>x</a:t>
            </a:r>
            <a:r>
              <a:rPr lang="en-US" altLang="zh-CN" sz="2800" b="1" dirty="0">
                <a:solidFill>
                  <a:schemeClr val="hlink"/>
                </a:solidFill>
                <a:latin typeface="Times New Roman" panose="02020603050405020304" pitchFamily="18" charset="0"/>
                <a:ea typeface="微软雅黑" panose="020B0503020204020204" pitchFamily="34" charset="-122"/>
              </a:rPr>
              <a:t>=(</a:t>
            </a:r>
            <a:r>
              <a:rPr lang="en-US" altLang="zh-CN" sz="2800" b="1" i="1" dirty="0">
                <a:solidFill>
                  <a:schemeClr val="hlink"/>
                </a:solidFill>
                <a:latin typeface="Times New Roman" panose="02020603050405020304" pitchFamily="18" charset="0"/>
                <a:ea typeface="微软雅黑" panose="020B0503020204020204" pitchFamily="34" charset="-122"/>
              </a:rPr>
              <a:t>x</a:t>
            </a:r>
            <a:r>
              <a:rPr lang="en-US" altLang="zh-CN" sz="2800" b="1" baseline="-25000" dirty="0">
                <a:solidFill>
                  <a:schemeClr val="hlink"/>
                </a:solidFill>
                <a:latin typeface="Times New Roman" panose="02020603050405020304" pitchFamily="18" charset="0"/>
                <a:ea typeface="微软雅黑" panose="020B0503020204020204" pitchFamily="34" charset="-122"/>
              </a:rPr>
              <a:t>1</a:t>
            </a:r>
            <a:r>
              <a:rPr lang="en-US" altLang="zh-CN" sz="2800" b="1" dirty="0">
                <a:solidFill>
                  <a:schemeClr val="hlink"/>
                </a:solidFill>
                <a:latin typeface="Times New Roman" panose="02020603050405020304" pitchFamily="18" charset="0"/>
                <a:ea typeface="微软雅黑" panose="020B0503020204020204" pitchFamily="34" charset="-122"/>
              </a:rPr>
              <a:t>, </a:t>
            </a:r>
            <a:r>
              <a:rPr lang="en-US" altLang="zh-CN" sz="2800" b="1" i="1" dirty="0">
                <a:solidFill>
                  <a:schemeClr val="hlink"/>
                </a:solidFill>
                <a:latin typeface="Times New Roman" panose="02020603050405020304" pitchFamily="18" charset="0"/>
                <a:ea typeface="微软雅黑" panose="020B0503020204020204" pitchFamily="34" charset="-122"/>
              </a:rPr>
              <a:t>x</a:t>
            </a:r>
            <a:r>
              <a:rPr lang="en-US" altLang="zh-CN" sz="2800" b="1" baseline="-25000" dirty="0">
                <a:solidFill>
                  <a:schemeClr val="hlink"/>
                </a:solidFill>
                <a:latin typeface="Times New Roman" panose="02020603050405020304" pitchFamily="18" charset="0"/>
                <a:ea typeface="微软雅黑" panose="020B0503020204020204" pitchFamily="34" charset="-122"/>
              </a:rPr>
              <a:t>2</a:t>
            </a:r>
            <a:r>
              <a:rPr lang="en-US" altLang="zh-CN" sz="2800" b="1" dirty="0">
                <a:solidFill>
                  <a:schemeClr val="hlink"/>
                </a:solidFill>
                <a:latin typeface="Times New Roman" panose="02020603050405020304" pitchFamily="18" charset="0"/>
                <a:ea typeface="微软雅黑" panose="020B0503020204020204" pitchFamily="34" charset="-122"/>
              </a:rPr>
              <a:t>, …, </a:t>
            </a:r>
            <a:r>
              <a:rPr lang="en-US" altLang="zh-CN" sz="2800" b="1" i="1" dirty="0" err="1">
                <a:solidFill>
                  <a:schemeClr val="hlink"/>
                </a:solidFill>
                <a:latin typeface="Times New Roman" panose="02020603050405020304" pitchFamily="18" charset="0"/>
                <a:ea typeface="微软雅黑" panose="020B0503020204020204" pitchFamily="34" charset="-122"/>
              </a:rPr>
              <a:t>x</a:t>
            </a:r>
            <a:r>
              <a:rPr lang="en-US" altLang="zh-CN" sz="2800" b="1" i="1" baseline="-25000" dirty="0" err="1">
                <a:solidFill>
                  <a:schemeClr val="hlink"/>
                </a:solidFill>
                <a:latin typeface="Times New Roman" panose="02020603050405020304" pitchFamily="18" charset="0"/>
                <a:ea typeface="微软雅黑" panose="020B0503020204020204" pitchFamily="34" charset="-122"/>
              </a:rPr>
              <a:t>k</a:t>
            </a:r>
            <a:r>
              <a:rPr lang="en-US" altLang="zh-CN" sz="2800" b="1" dirty="0">
                <a:solidFill>
                  <a:schemeClr val="hlink"/>
                </a:solidFill>
                <a:latin typeface="Times New Roman" panose="02020603050405020304" pitchFamily="18" charset="0"/>
                <a:ea typeface="微软雅黑" panose="020B0503020204020204" pitchFamily="34" charset="-122"/>
              </a:rPr>
              <a:t>, 0, …, 0)</a:t>
            </a:r>
            <a:r>
              <a:rPr lang="zh-CN" altLang="en-US" sz="2800" b="1" dirty="0">
                <a:solidFill>
                  <a:schemeClr val="hlink"/>
                </a:solidFill>
                <a:latin typeface="Times New Roman" panose="02020603050405020304" pitchFamily="18" charset="0"/>
                <a:ea typeface="微软雅黑" panose="020B0503020204020204" pitchFamily="34" charset="-122"/>
              </a:rPr>
              <a:t>为相应的基可行解</a:t>
            </a:r>
          </a:p>
          <a:p>
            <a:pPr eaLnBrk="1" hangingPunct="1">
              <a:lnSpc>
                <a:spcPct val="120000"/>
              </a:lnSpc>
              <a:defRPr/>
            </a:pPr>
            <a:r>
              <a:rPr lang="zh-CN" altLang="en-US" sz="2800" b="1" dirty="0">
                <a:latin typeface="Times New Roman" panose="02020603050405020304" pitchFamily="18" charset="0"/>
                <a:ea typeface="微软雅黑" panose="020B0503020204020204" pitchFamily="34" charset="-122"/>
              </a:rPr>
              <a:t>当</a:t>
            </a:r>
            <a:r>
              <a:rPr lang="en-US" altLang="zh-CN" sz="2800" b="1" i="1" dirty="0">
                <a:latin typeface="Times New Roman" panose="02020603050405020304" pitchFamily="18" charset="0"/>
                <a:ea typeface="微软雅黑" panose="020B0503020204020204" pitchFamily="34" charset="-122"/>
              </a:rPr>
              <a:t>k</a:t>
            </a:r>
            <a:r>
              <a:rPr lang="zh-CN" altLang="en-US" sz="2800" b="1" i="1" dirty="0">
                <a:latin typeface="Times New Roman" panose="02020603050405020304" pitchFamily="18" charset="0"/>
                <a:ea typeface="微软雅黑" panose="020B0503020204020204" pitchFamily="34" charset="-122"/>
              </a:rPr>
              <a:t>＜</a:t>
            </a:r>
            <a:r>
              <a:rPr lang="en-US" altLang="zh-CN" sz="2800" b="1" i="1" dirty="0">
                <a:latin typeface="Times New Roman" panose="02020603050405020304" pitchFamily="18" charset="0"/>
                <a:ea typeface="微软雅黑" panose="020B0503020204020204" pitchFamily="34" charset="-122"/>
              </a:rPr>
              <a:t>m</a:t>
            </a:r>
            <a:r>
              <a:rPr lang="zh-CN" altLang="en-US" sz="2800" b="1" dirty="0">
                <a:latin typeface="Times New Roman" panose="02020603050405020304" pitchFamily="18" charset="0"/>
                <a:ea typeface="微软雅黑" panose="020B0503020204020204" pitchFamily="34" charset="-122"/>
              </a:rPr>
              <a:t>时</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latin typeface="Times New Roman" panose="02020603050405020304" pitchFamily="18" charset="0"/>
                <a:ea typeface="微软雅黑" panose="020B0503020204020204" pitchFamily="34" charset="-122"/>
              </a:rPr>
              <a:t>则一定可以从其余的列向量中取出</a:t>
            </a:r>
            <a:r>
              <a:rPr lang="en-US" altLang="zh-CN" sz="2800" b="1" i="1" dirty="0">
                <a:latin typeface="Times New Roman" panose="02020603050405020304" pitchFamily="18" charset="0"/>
                <a:ea typeface="微软雅黑" panose="020B0503020204020204" pitchFamily="34" charset="-122"/>
              </a:rPr>
              <a:t>m-k</a:t>
            </a:r>
            <a:r>
              <a:rPr lang="zh-CN" altLang="en-US" sz="2800" b="1" dirty="0">
                <a:latin typeface="Times New Roman" panose="02020603050405020304" pitchFamily="18" charset="0"/>
                <a:ea typeface="微软雅黑" panose="020B0503020204020204" pitchFamily="34" charset="-122"/>
              </a:rPr>
              <a:t>个与</a:t>
            </a:r>
            <a:r>
              <a:rPr lang="en-US" altLang="zh-CN" sz="2800" b="1" i="1" dirty="0">
                <a:latin typeface="Times New Roman" panose="02020603050405020304" pitchFamily="18" charset="0"/>
                <a:ea typeface="微软雅黑" panose="020B0503020204020204" pitchFamily="34" charset="-122"/>
              </a:rPr>
              <a:t>P</a:t>
            </a:r>
            <a:r>
              <a:rPr lang="en-US" altLang="zh-CN" sz="2800" b="1" baseline="-25000" dirty="0">
                <a:latin typeface="Times New Roman" panose="02020603050405020304" pitchFamily="18" charset="0"/>
                <a:ea typeface="微软雅黑" panose="020B0503020204020204" pitchFamily="34" charset="-122"/>
              </a:rPr>
              <a:t>1</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latin typeface="Times New Roman" panose="02020603050405020304" pitchFamily="18" charset="0"/>
                <a:ea typeface="微软雅黑" panose="020B0503020204020204" pitchFamily="34" charset="-122"/>
              </a:rPr>
              <a:t>P</a:t>
            </a:r>
            <a:r>
              <a:rPr lang="en-US" altLang="zh-CN" sz="2800" b="1" baseline="-25000" dirty="0">
                <a:latin typeface="Times New Roman" panose="02020603050405020304" pitchFamily="18" charset="0"/>
                <a:ea typeface="微软雅黑" panose="020B0503020204020204" pitchFamily="34" charset="-122"/>
              </a:rPr>
              <a:t>2</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a:latin typeface="Times New Roman" panose="02020603050405020304" pitchFamily="18" charset="0"/>
                <a:ea typeface="微软雅黑" panose="020B0503020204020204" pitchFamily="34" charset="-122"/>
              </a:rPr>
              <a:t>…</a:t>
            </a:r>
            <a:r>
              <a:rPr lang="zh-CN" altLang="en-US" sz="2800" b="1" i="1" dirty="0">
                <a:solidFill>
                  <a:srgbClr val="014504"/>
                </a:solidFill>
                <a:latin typeface="仿宋" panose="02010609060101010101" pitchFamily="49" charset="-122"/>
                <a:ea typeface="仿宋" panose="02010609060101010101" pitchFamily="49" charset="-122"/>
              </a:rPr>
              <a:t>，</a:t>
            </a:r>
            <a:r>
              <a:rPr lang="en-US" altLang="zh-CN" sz="2800" b="1" i="1" dirty="0" err="1">
                <a:latin typeface="Times New Roman" panose="02020603050405020304" pitchFamily="18" charset="0"/>
                <a:ea typeface="微软雅黑" panose="020B0503020204020204" pitchFamily="34" charset="-122"/>
              </a:rPr>
              <a:t>P</a:t>
            </a:r>
            <a:r>
              <a:rPr lang="en-US" altLang="zh-CN" sz="2800" b="1" i="1" baseline="-25000" dirty="0" err="1">
                <a:latin typeface="Times New Roman" panose="02020603050405020304" pitchFamily="18" charset="0"/>
                <a:ea typeface="微软雅黑" panose="020B0503020204020204" pitchFamily="34" charset="-122"/>
              </a:rPr>
              <a:t>k</a:t>
            </a:r>
            <a:r>
              <a:rPr lang="zh-CN" altLang="en-US" sz="2800" b="1" dirty="0">
                <a:latin typeface="Times New Roman" panose="02020603050405020304" pitchFamily="18" charset="0"/>
                <a:ea typeface="微软雅黑" panose="020B0503020204020204" pitchFamily="34" charset="-122"/>
              </a:rPr>
              <a:t>构成最大的线性独立向量组</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latin typeface="Times New Roman" panose="02020603050405020304" pitchFamily="18" charset="0"/>
                <a:ea typeface="微软雅黑" panose="020B0503020204020204" pitchFamily="34" charset="-122"/>
              </a:rPr>
              <a:t>其对应的解恰为</a:t>
            </a:r>
            <a:r>
              <a:rPr lang="en-US" altLang="zh-CN" sz="2800" b="1" i="1" dirty="0">
                <a:latin typeface="Times New Roman" panose="02020603050405020304" pitchFamily="18" charset="0"/>
                <a:ea typeface="微软雅黑" panose="020B0503020204020204" pitchFamily="34" charset="-122"/>
              </a:rPr>
              <a:t>x</a:t>
            </a:r>
            <a:r>
              <a:rPr lang="zh-CN" altLang="en-US" sz="2800" b="1" i="1" dirty="0">
                <a:solidFill>
                  <a:srgbClr val="014504"/>
                </a:solidFill>
                <a:latin typeface="仿宋" panose="02010609060101010101" pitchFamily="49" charset="-122"/>
                <a:ea typeface="仿宋" panose="02010609060101010101" pitchFamily="49" charset="-122"/>
              </a:rPr>
              <a:t>，</a:t>
            </a:r>
            <a:r>
              <a:rPr lang="zh-CN" altLang="en-US" sz="2800" b="1" dirty="0">
                <a:latin typeface="Times New Roman" panose="02020603050405020304" pitchFamily="18" charset="0"/>
                <a:ea typeface="微软雅黑" panose="020B0503020204020204" pitchFamily="34" charset="-122"/>
              </a:rPr>
              <a:t>所以根据定义它是基可行解</a:t>
            </a:r>
          </a:p>
        </p:txBody>
      </p:sp>
      <p:graphicFrame>
        <p:nvGraphicFramePr>
          <p:cNvPr id="4" name="Object 34"/>
          <p:cNvGraphicFramePr>
            <a:graphicFrameLocks noChangeAspect="1"/>
          </p:cNvGraphicFramePr>
          <p:nvPr/>
        </p:nvGraphicFramePr>
        <p:xfrm>
          <a:off x="2330450" y="5386388"/>
          <a:ext cx="4484688" cy="952500"/>
        </p:xfrm>
        <a:graphic>
          <a:graphicData uri="http://schemas.openxmlformats.org/presentationml/2006/ole">
            <mc:AlternateContent xmlns:mc="http://schemas.openxmlformats.org/markup-compatibility/2006">
              <mc:Choice xmlns:v="urn:schemas-microsoft-com:vml" Requires="v">
                <p:oleObj spid="_x0000_s46126" name="Equation" r:id="rId3" imgW="2184400" imgH="444500" progId="Equation.DSMT4">
                  <p:embed/>
                </p:oleObj>
              </mc:Choice>
              <mc:Fallback>
                <p:oleObj name="Equation" r:id="rId3" imgW="2184400" imgH="444500" progId="Equation.DSMT4">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450" y="5386388"/>
                        <a:ext cx="4484688" cy="952500"/>
                      </a:xfrm>
                      <a:prstGeom prst="rect">
                        <a:avLst/>
                      </a:prstGeom>
                      <a:solidFill>
                        <a:srgbClr val="05FB0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99</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animEffect transition="in" filter="fade">
                                      <p:cBhvr>
                                        <p:cTn id="7" dur="500"/>
                                        <p:tgtEl>
                                          <p:spTgt spid="1945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Box 2"/>
          <p:cNvSpPr txBox="1">
            <a:spLocks noChangeArrowheads="1"/>
          </p:cNvSpPr>
          <p:nvPr/>
        </p:nvSpPr>
        <p:spPr bwMode="auto">
          <a:xfrm>
            <a:off x="0" y="44450"/>
            <a:ext cx="9251950" cy="461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solidFill>
                  <a:srgbClr val="FF0000"/>
                </a:solidFill>
                <a:latin typeface="微软雅黑" panose="020B0503020204020204" pitchFamily="34" charset="-122"/>
                <a:ea typeface="微软雅黑" panose="020B0503020204020204" pitchFamily="34" charset="-122"/>
              </a:rPr>
              <a:t>定理</a:t>
            </a:r>
            <a:r>
              <a:rPr lang="en-US" altLang="zh-CN" b="1" dirty="0">
                <a:solidFill>
                  <a:srgbClr val="FF0000"/>
                </a:solidFill>
                <a:latin typeface="微软雅黑" panose="020B0503020204020204" pitchFamily="34" charset="-122"/>
                <a:ea typeface="微软雅黑" panose="020B0503020204020204" pitchFamily="34" charset="-122"/>
              </a:rPr>
              <a:t>2-3.</a:t>
            </a:r>
            <a:r>
              <a:rPr lang="zh-CN" altLang="en-US" b="1" dirty="0">
                <a:solidFill>
                  <a:srgbClr val="FF0000"/>
                </a:solidFill>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线性规划问题的基可行解</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b="1" dirty="0">
                <a:latin typeface="微软雅黑" panose="020B0503020204020204" pitchFamily="34" charset="-122"/>
                <a:ea typeface="微软雅黑" panose="020B0503020204020204" pitchFamily="34" charset="-122"/>
              </a:rPr>
              <a:t>对应于可行域</a:t>
            </a:r>
            <a:r>
              <a:rPr lang="en-US" altLang="zh-CN" b="1" i="1" dirty="0">
                <a:latin typeface="Times New Roman" panose="02020603050405020304" pitchFamily="18" charset="0"/>
                <a:ea typeface="微软雅黑" panose="020B0503020204020204" pitchFamily="34" charset="-122"/>
              </a:rPr>
              <a:t>D</a:t>
            </a:r>
            <a:r>
              <a:rPr lang="zh-CN" altLang="en-US" b="1" dirty="0">
                <a:latin typeface="微软雅黑" panose="020B0503020204020204" pitchFamily="34" charset="-122"/>
                <a:ea typeface="微软雅黑" panose="020B0503020204020204" pitchFamily="34" charset="-122"/>
              </a:rPr>
              <a:t>的顶点</a:t>
            </a:r>
          </a:p>
        </p:txBody>
      </p:sp>
      <p:sp>
        <p:nvSpPr>
          <p:cNvPr id="20483" name="TextBox 3"/>
          <p:cNvSpPr txBox="1">
            <a:spLocks noChangeArrowheads="1"/>
          </p:cNvSpPr>
          <p:nvPr/>
        </p:nvSpPr>
        <p:spPr bwMode="auto">
          <a:xfrm>
            <a:off x="250825" y="620713"/>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folHlink"/>
                </a:solidFill>
                <a:latin typeface="Times New Roman" panose="02020603050405020304" pitchFamily="18" charset="0"/>
                <a:ea typeface="微软雅黑" panose="020B0503020204020204" pitchFamily="34" charset="-122"/>
              </a:rPr>
              <a:t>证：</a:t>
            </a:r>
            <a:r>
              <a:rPr lang="zh-CN" altLang="en-US" b="1">
                <a:latin typeface="Times New Roman" panose="02020603050405020304" pitchFamily="18" charset="0"/>
                <a:ea typeface="微软雅黑" panose="020B0503020204020204" pitchFamily="34" charset="-122"/>
              </a:rPr>
              <a:t>不失一般性</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假设可行解</a:t>
            </a:r>
            <a:r>
              <a:rPr lang="en-US" altLang="zh-CN" b="1" i="1">
                <a:latin typeface="Times New Roman" panose="02020603050405020304" pitchFamily="18" charset="0"/>
                <a:ea typeface="微软雅黑" panose="020B0503020204020204" pitchFamily="34" charset="-122"/>
              </a:rPr>
              <a:t>x</a:t>
            </a:r>
            <a:r>
              <a:rPr lang="zh-CN" altLang="en-US" b="1">
                <a:latin typeface="Times New Roman" panose="02020603050405020304" pitchFamily="18" charset="0"/>
                <a:ea typeface="微软雅黑" panose="020B0503020204020204" pitchFamily="34" charset="-122"/>
              </a:rPr>
              <a:t>的前</a:t>
            </a:r>
            <a:r>
              <a:rPr lang="en-US" altLang="zh-CN" b="1" i="1">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个分量为正。故</a:t>
            </a:r>
          </a:p>
        </p:txBody>
      </p:sp>
      <p:sp>
        <p:nvSpPr>
          <p:cNvPr id="20486" name="矩形 6"/>
          <p:cNvSpPr>
            <a:spLocks noChangeArrowheads="1"/>
          </p:cNvSpPr>
          <p:nvPr/>
        </p:nvSpPr>
        <p:spPr bwMode="auto">
          <a:xfrm>
            <a:off x="0" y="1628775"/>
            <a:ext cx="88931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dirty="0">
                <a:latin typeface="微软雅黑" panose="020B0503020204020204" pitchFamily="34" charset="-122"/>
                <a:ea typeface="微软雅黑" panose="020B0503020204020204" pitchFamily="34" charset="-122"/>
              </a:rPr>
              <a:t>现在分两步来讨论</a:t>
            </a:r>
            <a:r>
              <a:rPr lang="zh-CN" altLang="en-US" b="1" dirty="0">
                <a:latin typeface="宋体" panose="02010600030101010101" pitchFamily="2" charset="-122"/>
              </a:rPr>
              <a:t>，</a:t>
            </a:r>
            <a:r>
              <a:rPr lang="zh-CN" altLang="en-US" b="1" dirty="0">
                <a:latin typeface="微软雅黑" panose="020B0503020204020204" pitchFamily="34" charset="-122"/>
                <a:ea typeface="微软雅黑" panose="020B0503020204020204" pitchFamily="34" charset="-122"/>
              </a:rPr>
              <a:t>分别用反证法。</a:t>
            </a:r>
          </a:p>
        </p:txBody>
      </p:sp>
      <p:sp>
        <p:nvSpPr>
          <p:cNvPr id="20487" name="Rectangle 1026"/>
          <p:cNvSpPr txBox="1">
            <a:spLocks noChangeArrowheads="1"/>
          </p:cNvSpPr>
          <p:nvPr/>
        </p:nvSpPr>
        <p:spPr bwMode="auto">
          <a:xfrm>
            <a:off x="0" y="2060575"/>
            <a:ext cx="9144000" cy="50323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b="1" dirty="0">
                <a:solidFill>
                  <a:schemeClr val="hlink"/>
                </a:solidFill>
                <a:latin typeface="Times New Roman" panose="02020603050405020304" pitchFamily="18" charset="0"/>
                <a:ea typeface="微软雅黑" panose="020B0503020204020204" pitchFamily="34" charset="-122"/>
              </a:rPr>
              <a:t>(1)  </a:t>
            </a:r>
            <a:r>
              <a:rPr lang="zh-CN" altLang="en-US" b="1" dirty="0">
                <a:solidFill>
                  <a:schemeClr val="hlink"/>
                </a:solidFill>
                <a:latin typeface="Times New Roman" panose="02020603050405020304" pitchFamily="18" charset="0"/>
                <a:ea typeface="微软雅黑" panose="020B0503020204020204" pitchFamily="34" charset="-122"/>
              </a:rPr>
              <a:t>若</a:t>
            </a:r>
            <a:r>
              <a:rPr lang="en-US" altLang="zh-CN" b="1" i="1" dirty="0">
                <a:solidFill>
                  <a:schemeClr val="hlink"/>
                </a:solidFill>
                <a:latin typeface="Times New Roman" panose="02020603050405020304" pitchFamily="18" charset="0"/>
                <a:ea typeface="微软雅黑" panose="020B0503020204020204" pitchFamily="34" charset="-122"/>
              </a:rPr>
              <a:t>x</a:t>
            </a:r>
            <a:r>
              <a:rPr lang="zh-CN" altLang="en-US" b="1" dirty="0">
                <a:solidFill>
                  <a:schemeClr val="hlink"/>
                </a:solidFill>
                <a:latin typeface="Times New Roman" panose="02020603050405020304" pitchFamily="18" charset="0"/>
                <a:ea typeface="微软雅黑" panose="020B0503020204020204" pitchFamily="34" charset="-122"/>
              </a:rPr>
              <a:t>不是基可行解</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则它一定不是可行域</a:t>
            </a:r>
            <a:r>
              <a:rPr lang="en-US" altLang="zh-CN" b="1" i="1" dirty="0">
                <a:solidFill>
                  <a:schemeClr val="hlink"/>
                </a:solidFill>
                <a:latin typeface="Times New Roman" panose="02020603050405020304" pitchFamily="18" charset="0"/>
                <a:ea typeface="微软雅黑" panose="020B0503020204020204" pitchFamily="34" charset="-122"/>
              </a:rPr>
              <a:t>D</a:t>
            </a:r>
            <a:r>
              <a:rPr lang="zh-CN" altLang="en-US" b="1" dirty="0">
                <a:solidFill>
                  <a:schemeClr val="hlink"/>
                </a:solidFill>
                <a:latin typeface="Times New Roman" panose="02020603050405020304" pitchFamily="18" charset="0"/>
                <a:ea typeface="微软雅黑" panose="020B0503020204020204" pitchFamily="34" charset="-122"/>
              </a:rPr>
              <a:t>的顶点</a:t>
            </a:r>
            <a:endParaRPr lang="zh-CN" altLang="en-US" dirty="0">
              <a:solidFill>
                <a:schemeClr val="hlink"/>
              </a:solidFill>
              <a:latin typeface="Times New Roman" panose="02020603050405020304" pitchFamily="18" charset="0"/>
              <a:ea typeface="微软雅黑" panose="020B0503020204020204" pitchFamily="34" charset="-122"/>
            </a:endParaRPr>
          </a:p>
        </p:txBody>
      </p:sp>
      <p:sp>
        <p:nvSpPr>
          <p:cNvPr id="20488" name="Rectangle 1027"/>
          <p:cNvSpPr txBox="1">
            <a:spLocks noChangeArrowheads="1"/>
          </p:cNvSpPr>
          <p:nvPr/>
        </p:nvSpPr>
        <p:spPr bwMode="auto">
          <a:xfrm>
            <a:off x="0" y="2538413"/>
            <a:ext cx="9144000" cy="8683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spcBef>
                <a:spcPts val="600"/>
              </a:spcBef>
              <a:buClr>
                <a:schemeClr val="accent1"/>
              </a:buClr>
              <a:buSzPct val="70000"/>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根据引理</a:t>
            </a:r>
            <a:r>
              <a:rPr lang="en-US" altLang="zh-CN" b="1">
                <a:latin typeface="Times New Roman" panose="02020603050405020304" pitchFamily="18" charset="0"/>
                <a:ea typeface="微软雅黑" panose="020B0503020204020204" pitchFamily="34" charset="-122"/>
              </a:rPr>
              <a:t>2-2</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若</a:t>
            </a:r>
            <a:r>
              <a:rPr lang="en-US" altLang="zh-CN" b="1" i="1">
                <a:latin typeface="Times New Roman" panose="02020603050405020304" pitchFamily="18" charset="0"/>
                <a:ea typeface="微软雅黑" panose="020B0503020204020204" pitchFamily="34" charset="-122"/>
              </a:rPr>
              <a:t>x</a:t>
            </a:r>
            <a:r>
              <a:rPr lang="zh-CN" altLang="en-US" b="1">
                <a:latin typeface="Times New Roman" panose="02020603050405020304" pitchFamily="18" charset="0"/>
                <a:ea typeface="微软雅黑" panose="020B0503020204020204" pitchFamily="34" charset="-122"/>
              </a:rPr>
              <a:t>不是基可行解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则其正分量所对应的系数列向量</a:t>
            </a:r>
            <a:r>
              <a:rPr lang="en-US" altLang="zh-CN" b="1" i="1">
                <a:latin typeface="Times New Roman" panose="02020603050405020304" pitchFamily="18" charset="0"/>
                <a:ea typeface="微软雅黑" panose="020B0503020204020204" pitchFamily="34" charset="-122"/>
              </a:rPr>
              <a:t>P</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P</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 </a:t>
            </a:r>
            <a:r>
              <a:rPr lang="en-US" altLang="zh-CN" b="1" i="1">
                <a:latin typeface="Times New Roman" panose="02020603050405020304" pitchFamily="18" charset="0"/>
                <a:ea typeface="微软雅黑" panose="020B0503020204020204" pitchFamily="34" charset="-122"/>
              </a:rPr>
              <a:t>P</a:t>
            </a:r>
            <a:r>
              <a:rPr lang="en-US" altLang="zh-CN" b="1" i="1" baseline="-30000">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线性相关</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即存在一组不全为零的数</a:t>
            </a:r>
            <a:r>
              <a:rPr lang="en-US" altLang="zh-CN" b="1">
                <a:latin typeface="Times New Roman" panose="02020603050405020304" pitchFamily="18" charset="0"/>
                <a:ea typeface="微软雅黑" panose="020B0503020204020204" pitchFamily="34" charset="-122"/>
              </a:rPr>
              <a:t>α</a:t>
            </a:r>
            <a:r>
              <a:rPr lang="en-US" altLang="zh-CN" b="1" i="1" baseline="-30000">
                <a:latin typeface="Times New Roman" panose="02020603050405020304" pitchFamily="18" charset="0"/>
                <a:ea typeface="微软雅黑" panose="020B0503020204020204" pitchFamily="34" charset="-122"/>
              </a:rPr>
              <a:t>i </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i</a:t>
            </a:r>
            <a:r>
              <a:rPr lang="en-US" altLang="zh-CN" b="1">
                <a:latin typeface="Times New Roman" panose="02020603050405020304" pitchFamily="18" charset="0"/>
                <a:ea typeface="微软雅黑" panose="020B0503020204020204" pitchFamily="34" charset="-122"/>
              </a:rPr>
              <a:t>=1, 2, …, </a:t>
            </a:r>
            <a:r>
              <a:rPr lang="en-US" altLang="zh-CN" b="1" i="1">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使</a:t>
            </a:r>
          </a:p>
        </p:txBody>
      </p:sp>
      <p:sp>
        <p:nvSpPr>
          <p:cNvPr id="20489" name="Rectangle 9"/>
          <p:cNvSpPr>
            <a:spLocks noChangeArrowheads="1"/>
          </p:cNvSpPr>
          <p:nvPr/>
        </p:nvSpPr>
        <p:spPr bwMode="auto">
          <a:xfrm>
            <a:off x="2124075" y="3429000"/>
            <a:ext cx="3671888"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Times New Roman" panose="02020603050405020304" pitchFamily="18" charset="0"/>
                <a:ea typeface="微软雅黑" panose="020B0503020204020204" pitchFamily="34" charset="-122"/>
              </a:rPr>
              <a:t>α</a:t>
            </a:r>
            <a:r>
              <a:rPr lang="en-US" altLang="zh-CN" b="1" baseline="-25000">
                <a:latin typeface="Times New Roman" panose="02020603050405020304" pitchFamily="18" charset="0"/>
                <a:ea typeface="微软雅黑" panose="020B0503020204020204" pitchFamily="34" charset="-122"/>
              </a:rPr>
              <a:t>1</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+α</a:t>
            </a:r>
            <a:r>
              <a:rPr lang="en-US" altLang="zh-CN" b="1" baseline="-25000">
                <a:latin typeface="Times New Roman" panose="02020603050405020304" pitchFamily="18" charset="0"/>
                <a:ea typeface="微软雅黑" panose="020B0503020204020204" pitchFamily="34" charset="-122"/>
              </a:rPr>
              <a:t>2</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+…+α</a:t>
            </a:r>
            <a:r>
              <a:rPr lang="en-US" altLang="zh-CN" b="1" i="1" baseline="-25000">
                <a:latin typeface="Times New Roman" panose="02020603050405020304" pitchFamily="18" charset="0"/>
                <a:ea typeface="微软雅黑" panose="020B0503020204020204" pitchFamily="34" charset="-122"/>
              </a:rPr>
              <a:t>k</a:t>
            </a:r>
            <a:r>
              <a:rPr lang="en-US" altLang="zh-CN" b="1" i="1">
                <a:latin typeface="Times New Roman" panose="02020603050405020304" pitchFamily="18" charset="0"/>
                <a:ea typeface="微软雅黑" panose="020B0503020204020204" pitchFamily="34" charset="-122"/>
              </a:rPr>
              <a:t>P</a:t>
            </a:r>
            <a:r>
              <a:rPr lang="en-US" altLang="zh-CN" b="1" i="1" baseline="-25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=0</a:t>
            </a:r>
            <a:endParaRPr lang="zh-CN" altLang="en-US" b="1">
              <a:latin typeface="Times New Roman" panose="02020603050405020304" pitchFamily="18" charset="0"/>
              <a:ea typeface="微软雅黑" panose="020B0503020204020204" pitchFamily="34" charset="-122"/>
            </a:endParaRPr>
          </a:p>
        </p:txBody>
      </p:sp>
      <p:sp>
        <p:nvSpPr>
          <p:cNvPr id="20490" name="Rectangle 10"/>
          <p:cNvSpPr>
            <a:spLocks noChangeArrowheads="1"/>
          </p:cNvSpPr>
          <p:nvPr/>
        </p:nvSpPr>
        <p:spPr bwMode="auto">
          <a:xfrm>
            <a:off x="0" y="3860800"/>
            <a:ext cx="914400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用一个</a:t>
            </a:r>
            <a:r>
              <a:rPr lang="en-US" altLang="zh-CN" b="1" i="1">
                <a:latin typeface="Times New Roman" panose="02020603050405020304" pitchFamily="18" charset="0"/>
                <a:ea typeface="微软雅黑" panose="020B0503020204020204" pitchFamily="34" charset="-122"/>
              </a:rPr>
              <a:t>μ</a:t>
            </a:r>
            <a:r>
              <a:rPr lang="zh-CN" altLang="en-US" b="1">
                <a:latin typeface="Times New Roman" panose="02020603050405020304" pitchFamily="18" charset="0"/>
                <a:ea typeface="微软雅黑" panose="020B0503020204020204" pitchFamily="34" charset="-122"/>
              </a:rPr>
              <a:t>＞</a:t>
            </a:r>
            <a:r>
              <a:rPr lang="en-US" altLang="zh-CN" b="1">
                <a:latin typeface="Times New Roman" panose="02020603050405020304" pitchFamily="18" charset="0"/>
                <a:ea typeface="微软雅黑" panose="020B0503020204020204" pitchFamily="34" charset="-122"/>
              </a:rPr>
              <a:t>0</a:t>
            </a:r>
            <a:r>
              <a:rPr lang="zh-CN" altLang="en-US" b="1">
                <a:latin typeface="Times New Roman" panose="02020603050405020304" pitchFamily="18" charset="0"/>
                <a:ea typeface="微软雅黑" panose="020B0503020204020204" pitchFamily="34" charset="-122"/>
              </a:rPr>
              <a:t>的数乘</a:t>
            </a:r>
            <a:r>
              <a:rPr lang="en-US" altLang="zh-CN" b="1">
                <a:latin typeface="Times New Roman" panose="02020603050405020304" pitchFamily="18" charset="0"/>
                <a:ea typeface="微软雅黑" panose="020B0503020204020204" pitchFamily="34" charset="-122"/>
              </a:rPr>
              <a:t>(2-11)</a:t>
            </a:r>
            <a:r>
              <a:rPr lang="zh-CN" altLang="en-US" b="1">
                <a:latin typeface="Times New Roman" panose="02020603050405020304" pitchFamily="18" charset="0"/>
                <a:ea typeface="微软雅黑" panose="020B0503020204020204" pitchFamily="34" charset="-122"/>
              </a:rPr>
              <a:t>式再分别与</a:t>
            </a:r>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a:t>
            </a:r>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式相加和相减</a:t>
            </a:r>
          </a:p>
        </p:txBody>
      </p:sp>
      <p:sp>
        <p:nvSpPr>
          <p:cNvPr id="20491" name="Rectangle 11"/>
          <p:cNvSpPr>
            <a:spLocks noChangeArrowheads="1"/>
          </p:cNvSpPr>
          <p:nvPr/>
        </p:nvSpPr>
        <p:spPr bwMode="auto">
          <a:xfrm>
            <a:off x="7164388" y="3429000"/>
            <a:ext cx="936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Times New Roman" panose="02020603050405020304" pitchFamily="18" charset="0"/>
                <a:ea typeface="微软雅黑" panose="020B0503020204020204" pitchFamily="34" charset="-122"/>
              </a:rPr>
              <a:t>(2-11)</a:t>
            </a:r>
            <a:endParaRPr lang="zh-CN" altLang="en-US" b="1">
              <a:latin typeface="Times New Roman" panose="02020603050405020304" pitchFamily="18" charset="0"/>
              <a:ea typeface="微软雅黑" panose="020B0503020204020204" pitchFamily="34" charset="-122"/>
            </a:endParaRPr>
          </a:p>
        </p:txBody>
      </p:sp>
      <p:sp>
        <p:nvSpPr>
          <p:cNvPr id="20492" name="Rectangle 12"/>
          <p:cNvSpPr>
            <a:spLocks noChangeArrowheads="1"/>
          </p:cNvSpPr>
          <p:nvPr/>
        </p:nvSpPr>
        <p:spPr bwMode="auto">
          <a:xfrm>
            <a:off x="900113" y="4292600"/>
            <a:ext cx="5664200" cy="83026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1</a:t>
            </a:r>
            <a:r>
              <a:rPr lang="en-US" altLang="zh-CN" b="1" i="1">
                <a:latin typeface="Times New Roman" panose="02020603050405020304" pitchFamily="18" charset="0"/>
                <a:ea typeface="微软雅黑" panose="020B0503020204020204" pitchFamily="34" charset="-122"/>
              </a:rPr>
              <a:t>-μα</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2</a:t>
            </a:r>
            <a:r>
              <a:rPr lang="en-US" altLang="zh-CN" b="1" i="1">
                <a:latin typeface="Times New Roman" panose="02020603050405020304" pitchFamily="18" charset="0"/>
                <a:ea typeface="微软雅黑" panose="020B0503020204020204" pitchFamily="34" charset="-122"/>
              </a:rPr>
              <a:t>-μα</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2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i="1" baseline="-25000">
                <a:latin typeface="Times New Roman" panose="02020603050405020304" pitchFamily="18" charset="0"/>
                <a:ea typeface="微软雅黑" panose="020B0503020204020204" pitchFamily="34" charset="-122"/>
              </a:rPr>
              <a:t>k</a:t>
            </a:r>
            <a:r>
              <a:rPr lang="en-US" altLang="zh-CN" b="1" i="1">
                <a:latin typeface="Times New Roman" panose="02020603050405020304" pitchFamily="18" charset="0"/>
                <a:ea typeface="微软雅黑" panose="020B0503020204020204" pitchFamily="34" charset="-122"/>
              </a:rPr>
              <a:t>-μα</a:t>
            </a:r>
            <a:r>
              <a:rPr lang="en-US" altLang="zh-CN" b="1" i="1" baseline="-25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i="1" baseline="-25000">
                <a:latin typeface="Times New Roman" panose="02020603050405020304" pitchFamily="18" charset="0"/>
                <a:ea typeface="微软雅黑" panose="020B0503020204020204" pitchFamily="34" charset="-122"/>
              </a:rPr>
              <a:t>k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b</a:t>
            </a:r>
            <a:br>
              <a:rPr lang="en-US" altLang="zh-CN" b="1">
                <a:latin typeface="Times New Roman" panose="02020603050405020304" pitchFamily="18" charset="0"/>
                <a:ea typeface="微软雅黑" panose="020B0503020204020204" pitchFamily="34" charset="-122"/>
              </a:rPr>
            </a:b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1</a:t>
            </a:r>
            <a:r>
              <a:rPr lang="en-US" altLang="zh-CN" b="1" i="1">
                <a:latin typeface="Times New Roman" panose="02020603050405020304" pitchFamily="18" charset="0"/>
                <a:ea typeface="微软雅黑" panose="020B0503020204020204" pitchFamily="34" charset="-122"/>
              </a:rPr>
              <a:t>+μα</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2</a:t>
            </a:r>
            <a:r>
              <a:rPr lang="en-US" altLang="zh-CN" b="1" i="1">
                <a:latin typeface="Times New Roman" panose="02020603050405020304" pitchFamily="18" charset="0"/>
                <a:ea typeface="微软雅黑" panose="020B0503020204020204" pitchFamily="34" charset="-122"/>
              </a:rPr>
              <a:t>+μα</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i="1" baseline="-25000">
                <a:latin typeface="Times New Roman" panose="02020603050405020304" pitchFamily="18" charset="0"/>
                <a:ea typeface="微软雅黑" panose="020B0503020204020204" pitchFamily="34" charset="-122"/>
              </a:rPr>
              <a:t>k</a:t>
            </a:r>
            <a:r>
              <a:rPr lang="en-US" altLang="zh-CN" b="1" i="1">
                <a:latin typeface="Times New Roman" panose="02020603050405020304" pitchFamily="18" charset="0"/>
                <a:ea typeface="微软雅黑" panose="020B0503020204020204" pitchFamily="34" charset="-122"/>
              </a:rPr>
              <a:t>+μα</a:t>
            </a:r>
            <a:r>
              <a:rPr lang="en-US" altLang="zh-CN" b="1" i="1" baseline="-25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P</a:t>
            </a:r>
            <a:r>
              <a:rPr lang="en-US" altLang="zh-CN" b="1" i="1" baseline="-25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b</a:t>
            </a:r>
            <a:endParaRPr lang="zh-CN" altLang="en-US" b="1" i="1">
              <a:latin typeface="Times New Roman" panose="02020603050405020304" pitchFamily="18" charset="0"/>
              <a:ea typeface="微软雅黑" panose="020B0503020204020204" pitchFamily="34" charset="-122"/>
            </a:endParaRPr>
          </a:p>
        </p:txBody>
      </p:sp>
      <p:sp>
        <p:nvSpPr>
          <p:cNvPr id="20493" name="矩形 1"/>
          <p:cNvSpPr>
            <a:spLocks noChangeArrowheads="1"/>
          </p:cNvSpPr>
          <p:nvPr/>
        </p:nvSpPr>
        <p:spPr bwMode="auto">
          <a:xfrm>
            <a:off x="0" y="5122863"/>
            <a:ext cx="9144000" cy="8302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现取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  (</a:t>
            </a:r>
            <a:r>
              <a:rPr lang="en-US" altLang="zh-CN" b="1" i="1">
                <a:latin typeface="Times New Roman" panose="02020603050405020304" pitchFamily="18" charset="0"/>
                <a:ea typeface="微软雅黑" panose="020B0503020204020204" pitchFamily="34" charset="-122"/>
              </a:rPr>
              <a:t>x</a:t>
            </a:r>
            <a:r>
              <a:rPr lang="en-US" altLang="zh-CN" b="1" i="1" baseline="-30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i="1" baseline="-30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 0, …, 0</a:t>
            </a:r>
            <a:r>
              <a:rPr lang="zh-CN" altLang="en-US" b="1">
                <a:latin typeface="Times New Roman" panose="02020603050405020304" pitchFamily="18" charset="0"/>
                <a:ea typeface="微软雅黑" panose="020B0503020204020204" pitchFamily="34" charset="-122"/>
              </a:rPr>
              <a:t>］</a:t>
            </a:r>
            <a:br>
              <a:rPr lang="zh-CN" altLang="en-US" b="1">
                <a:latin typeface="Times New Roman" panose="02020603050405020304" pitchFamily="18" charset="0"/>
                <a:ea typeface="微软雅黑" panose="020B0503020204020204" pitchFamily="34" charset="-122"/>
              </a:rPr>
            </a:br>
            <a:r>
              <a:rPr lang="zh-CN" altLang="en-US"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baseline="-30000">
                <a:latin typeface="Times New Roman" panose="02020603050405020304" pitchFamily="18" charset="0"/>
                <a:ea typeface="微软雅黑" panose="020B0503020204020204" pitchFamily="34" charset="-122"/>
              </a:rPr>
              <a:t>2</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i="1" baseline="-30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i="1" baseline="-30000">
                <a:latin typeface="Times New Roman" panose="02020603050405020304" pitchFamily="18" charset="0"/>
                <a:ea typeface="微软雅黑" panose="020B0503020204020204" pitchFamily="34" charset="-122"/>
              </a:rPr>
              <a:t>k</a:t>
            </a:r>
            <a:r>
              <a:rPr lang="en-US" altLang="zh-CN" b="1">
                <a:latin typeface="Times New Roman" panose="02020603050405020304" pitchFamily="18" charset="0"/>
                <a:ea typeface="微软雅黑" panose="020B0503020204020204" pitchFamily="34" charset="-122"/>
              </a:rPr>
              <a:t>), 0, …, 0</a:t>
            </a:r>
            <a:r>
              <a:rPr lang="zh-CN" altLang="en-US" b="1">
                <a:latin typeface="Times New Roman" panose="02020603050405020304" pitchFamily="18" charset="0"/>
                <a:ea typeface="微软雅黑" panose="020B0503020204020204" pitchFamily="34" charset="-122"/>
              </a:rPr>
              <a:t>］</a:t>
            </a:r>
          </a:p>
        </p:txBody>
      </p:sp>
      <p:sp>
        <p:nvSpPr>
          <p:cNvPr id="20494" name="矩形 1"/>
          <p:cNvSpPr>
            <a:spLocks noChangeArrowheads="1"/>
          </p:cNvSpPr>
          <p:nvPr/>
        </p:nvSpPr>
        <p:spPr bwMode="auto">
          <a:xfrm>
            <a:off x="0" y="5876925"/>
            <a:ext cx="925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由</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可以得到</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a:solidFill>
                  <a:schemeClr val="hlink"/>
                </a:solidFill>
                <a:latin typeface="Times New Roman" panose="02020603050405020304" pitchFamily="18" charset="0"/>
                <a:ea typeface="微软雅黑" panose="020B0503020204020204" pitchFamily="34" charset="-122"/>
              </a:rPr>
              <a:t>=</a:t>
            </a:r>
            <a:r>
              <a:rPr lang="zh-CN" altLang="en-US" b="1">
                <a:solidFill>
                  <a:schemeClr val="hlink"/>
                </a:solidFill>
                <a:latin typeface="Times New Roman" panose="02020603050405020304" pitchFamily="18" charset="0"/>
                <a:ea typeface="微软雅黑" panose="020B0503020204020204" pitchFamily="34" charset="-122"/>
              </a:rPr>
              <a:t>（</a:t>
            </a:r>
            <a:r>
              <a:rPr lang="en-US" altLang="zh-CN" b="1">
                <a:solidFill>
                  <a:schemeClr val="hlink"/>
                </a:solidFill>
                <a:latin typeface="Times New Roman" panose="02020603050405020304" pitchFamily="18" charset="0"/>
                <a:ea typeface="微软雅黑" panose="020B0503020204020204" pitchFamily="34" charset="-122"/>
              </a:rPr>
              <a:t>1/2</a:t>
            </a:r>
            <a:r>
              <a:rPr lang="zh-CN" altLang="en-US"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baseline="30000">
                <a:solidFill>
                  <a:schemeClr val="hlink"/>
                </a:solidFill>
                <a:latin typeface="Times New Roman" panose="02020603050405020304" pitchFamily="18" charset="0"/>
                <a:ea typeface="微软雅黑" panose="020B0503020204020204" pitchFamily="34" charset="-122"/>
              </a:rPr>
              <a:t>(1)</a:t>
            </a:r>
            <a:r>
              <a:rPr lang="en-US" altLang="zh-CN" b="1">
                <a:solidFill>
                  <a:schemeClr val="hlink"/>
                </a:solidFill>
                <a:latin typeface="Times New Roman" panose="02020603050405020304" pitchFamily="18" charset="0"/>
                <a:ea typeface="微软雅黑" panose="020B0503020204020204" pitchFamily="34" charset="-122"/>
              </a:rPr>
              <a:t>+</a:t>
            </a:r>
            <a:r>
              <a:rPr lang="zh-CN" altLang="en-US" b="1">
                <a:solidFill>
                  <a:schemeClr val="hlink"/>
                </a:solidFill>
                <a:latin typeface="Times New Roman" panose="02020603050405020304" pitchFamily="18" charset="0"/>
                <a:ea typeface="微软雅黑" panose="020B0503020204020204" pitchFamily="34" charset="-122"/>
              </a:rPr>
              <a:t>（</a:t>
            </a:r>
            <a:r>
              <a:rPr lang="en-US" altLang="zh-CN" b="1">
                <a:solidFill>
                  <a:schemeClr val="hlink"/>
                </a:solidFill>
                <a:latin typeface="Times New Roman" panose="02020603050405020304" pitchFamily="18" charset="0"/>
                <a:ea typeface="微软雅黑" panose="020B0503020204020204" pitchFamily="34" charset="-122"/>
              </a:rPr>
              <a:t>1/2</a:t>
            </a:r>
            <a:r>
              <a:rPr lang="zh-CN" altLang="en-US"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baseline="30000">
                <a:solidFill>
                  <a:schemeClr val="hlink"/>
                </a:solidFill>
                <a:latin typeface="Times New Roman" panose="02020603050405020304" pitchFamily="18" charset="0"/>
                <a:ea typeface="微软雅黑" panose="020B0503020204020204" pitchFamily="34" charset="-122"/>
              </a:rPr>
              <a:t>(2)</a:t>
            </a:r>
            <a:r>
              <a:rPr lang="zh-CN" altLang="en-US" b="1">
                <a:solidFill>
                  <a:schemeClr val="hlink"/>
                </a:solidFill>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另一方面</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当</a:t>
            </a:r>
            <a:r>
              <a:rPr lang="en-US" altLang="zh-CN" b="1" i="1">
                <a:latin typeface="Times New Roman" panose="02020603050405020304" pitchFamily="18" charset="0"/>
                <a:ea typeface="微软雅黑" panose="020B0503020204020204" pitchFamily="34" charset="-122"/>
              </a:rPr>
              <a:t>μ</a:t>
            </a:r>
            <a:r>
              <a:rPr lang="zh-CN" altLang="en-US" b="1">
                <a:latin typeface="Times New Roman" panose="02020603050405020304" pitchFamily="18" charset="0"/>
                <a:ea typeface="微软雅黑" panose="020B0503020204020204" pitchFamily="34" charset="-122"/>
              </a:rPr>
              <a:t>充分小</a:t>
            </a:r>
          </a:p>
        </p:txBody>
      </p:sp>
      <p:sp>
        <p:nvSpPr>
          <p:cNvPr id="20495" name="TextBox 3"/>
          <p:cNvSpPr txBox="1">
            <a:spLocks noChangeArrowheads="1"/>
          </p:cNvSpPr>
          <p:nvPr/>
        </p:nvSpPr>
        <p:spPr bwMode="auto">
          <a:xfrm>
            <a:off x="0" y="6284913"/>
            <a:ext cx="9109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时</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可保证 </a:t>
            </a:r>
            <a:r>
              <a:rPr lang="en-US" altLang="zh-CN" b="1" i="1">
                <a:latin typeface="Times New Roman" panose="02020603050405020304" pitchFamily="18" charset="0"/>
                <a:ea typeface="微软雅黑" panose="020B0503020204020204" pitchFamily="34" charset="-122"/>
              </a:rPr>
              <a:t>x</a:t>
            </a:r>
            <a:r>
              <a:rPr lang="en-US" altLang="zh-CN" b="1" i="1" baseline="-30000">
                <a:latin typeface="Times New Roman" panose="02020603050405020304" pitchFamily="18" charset="0"/>
                <a:ea typeface="微软雅黑" panose="020B0503020204020204" pitchFamily="34" charset="-122"/>
              </a:rPr>
              <a:t>i</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μ</a:t>
            </a:r>
            <a:r>
              <a:rPr lang="en-US" altLang="zh-CN" b="1">
                <a:latin typeface="Times New Roman" panose="02020603050405020304" pitchFamily="18" charset="0"/>
                <a:ea typeface="微软雅黑" panose="020B0503020204020204" pitchFamily="34" charset="-122"/>
              </a:rPr>
              <a:t>α</a:t>
            </a:r>
            <a:r>
              <a:rPr lang="en-US" altLang="zh-CN" b="1" i="1" baseline="-30000">
                <a:latin typeface="Times New Roman" panose="02020603050405020304" pitchFamily="18" charset="0"/>
                <a:ea typeface="微软雅黑" panose="020B0503020204020204" pitchFamily="34" charset="-122"/>
              </a:rPr>
              <a:t>i</a:t>
            </a:r>
            <a:r>
              <a:rPr lang="en-US" altLang="zh-CN" b="1">
                <a:latin typeface="Times New Roman" panose="02020603050405020304" pitchFamily="18" charset="0"/>
                <a:ea typeface="微软雅黑" panose="020B0503020204020204" pitchFamily="34" charset="-122"/>
              </a:rPr>
              <a:t>≥0</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i</a:t>
            </a:r>
            <a:r>
              <a:rPr lang="en-US" altLang="zh-CN" b="1">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a:latin typeface="Times New Roman" panose="02020603050405020304" pitchFamily="18" charset="0"/>
                <a:ea typeface="微软雅黑" panose="020B0503020204020204" pitchFamily="34" charset="-122"/>
              </a:rPr>
              <a:t>2</a:t>
            </a:r>
            <a:r>
              <a:rPr lang="zh-CN" altLang="en-US" b="1">
                <a:latin typeface="仿宋" panose="02010609060101010101" pitchFamily="49" charset="-122"/>
                <a:ea typeface="仿宋" panose="02010609060101010101" pitchFamily="49" charset="-122"/>
              </a:rPr>
              <a:t>，</a:t>
            </a:r>
            <a:r>
              <a:rPr lang="en-US" altLang="zh-CN" b="1">
                <a:latin typeface="Times New Roman" panose="02020603050405020304" pitchFamily="18" charset="0"/>
                <a:ea typeface="微软雅黑" panose="020B0503020204020204" pitchFamily="34" charset="-122"/>
              </a:rPr>
              <a:t>…</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k</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即</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是可行解</a:t>
            </a:r>
          </a:p>
        </p:txBody>
      </p:sp>
      <p:sp>
        <p:nvSpPr>
          <p:cNvPr id="20496" name="Rectangle 2"/>
          <p:cNvSpPr txBox="1">
            <a:spLocks noChangeArrowheads="1"/>
          </p:cNvSpPr>
          <p:nvPr/>
        </p:nvSpPr>
        <p:spPr bwMode="auto">
          <a:xfrm>
            <a:off x="0" y="2492375"/>
            <a:ext cx="9180513" cy="4762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b="1" dirty="0">
                <a:solidFill>
                  <a:schemeClr val="hlink"/>
                </a:solidFill>
                <a:latin typeface="Times New Roman" panose="02020603050405020304" pitchFamily="18" charset="0"/>
                <a:ea typeface="微软雅黑" panose="020B0503020204020204" pitchFamily="34" charset="-122"/>
              </a:rPr>
              <a:t>(2) </a:t>
            </a:r>
            <a:r>
              <a:rPr lang="zh-CN" altLang="en-US" b="1" dirty="0">
                <a:solidFill>
                  <a:schemeClr val="hlink"/>
                </a:solidFill>
                <a:latin typeface="Times New Roman" panose="02020603050405020304" pitchFamily="18" charset="0"/>
                <a:ea typeface="微软雅黑" panose="020B0503020204020204" pitchFamily="34" charset="-122"/>
              </a:rPr>
              <a:t>若</a:t>
            </a:r>
            <a:r>
              <a:rPr lang="en-US" altLang="zh-CN" b="1" i="1" dirty="0">
                <a:solidFill>
                  <a:schemeClr val="hlink"/>
                </a:solidFill>
                <a:latin typeface="Times New Roman" panose="02020603050405020304" pitchFamily="18" charset="0"/>
                <a:ea typeface="微软雅黑" panose="020B0503020204020204" pitchFamily="34" charset="-122"/>
              </a:rPr>
              <a:t>x</a:t>
            </a:r>
            <a:r>
              <a:rPr lang="zh-CN" altLang="en-US" b="1" dirty="0">
                <a:solidFill>
                  <a:schemeClr val="hlink"/>
                </a:solidFill>
                <a:latin typeface="Times New Roman" panose="02020603050405020304" pitchFamily="18" charset="0"/>
                <a:ea typeface="微软雅黑" panose="020B0503020204020204" pitchFamily="34" charset="-122"/>
              </a:rPr>
              <a:t>不是可行域</a:t>
            </a:r>
            <a:r>
              <a:rPr lang="en-US" altLang="zh-CN" b="1" i="1" dirty="0">
                <a:solidFill>
                  <a:schemeClr val="hlink"/>
                </a:solidFill>
                <a:latin typeface="Times New Roman" panose="02020603050405020304" pitchFamily="18" charset="0"/>
                <a:ea typeface="微软雅黑" panose="020B0503020204020204" pitchFamily="34" charset="-122"/>
              </a:rPr>
              <a:t>D</a:t>
            </a:r>
            <a:r>
              <a:rPr lang="zh-CN" altLang="en-US" b="1" dirty="0">
                <a:solidFill>
                  <a:schemeClr val="hlink"/>
                </a:solidFill>
                <a:latin typeface="Times New Roman" panose="02020603050405020304" pitchFamily="18" charset="0"/>
                <a:ea typeface="微软雅黑" panose="020B0503020204020204" pitchFamily="34" charset="-122"/>
              </a:rPr>
              <a:t>的顶点</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则它一定不是基可行解</a:t>
            </a:r>
          </a:p>
        </p:txBody>
      </p:sp>
      <p:sp>
        <p:nvSpPr>
          <p:cNvPr id="16" name="Rectangle 12"/>
          <p:cNvSpPr>
            <a:spLocks noChangeArrowheads="1"/>
          </p:cNvSpPr>
          <p:nvPr/>
        </p:nvSpPr>
        <p:spPr bwMode="auto">
          <a:xfrm>
            <a:off x="2124075" y="1100138"/>
            <a:ext cx="3671888" cy="460375"/>
          </a:xfrm>
          <a:prstGeom prst="rect">
            <a:avLst/>
          </a:prstGeom>
          <a:solidFill>
            <a:srgbClr val="02E0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1</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1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baseline="-25000">
                <a:latin typeface="Times New Roman" panose="02020603050405020304" pitchFamily="18" charset="0"/>
                <a:ea typeface="微软雅黑" panose="020B0503020204020204" pitchFamily="34" charset="-122"/>
              </a:rPr>
              <a:t>2</a:t>
            </a:r>
            <a:r>
              <a:rPr lang="en-US" altLang="zh-CN" b="1" i="1">
                <a:latin typeface="Times New Roman" panose="02020603050405020304" pitchFamily="18" charset="0"/>
                <a:ea typeface="微软雅黑" panose="020B0503020204020204" pitchFamily="34" charset="-122"/>
              </a:rPr>
              <a:t>P</a:t>
            </a:r>
            <a:r>
              <a:rPr lang="en-US" altLang="zh-CN" b="1" baseline="-25000">
                <a:latin typeface="Times New Roman" panose="02020603050405020304" pitchFamily="18" charset="0"/>
                <a:ea typeface="微软雅黑" panose="020B0503020204020204" pitchFamily="34" charset="-122"/>
              </a:rPr>
              <a:t>2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x</a:t>
            </a:r>
            <a:r>
              <a:rPr lang="en-US" altLang="zh-CN" b="1" i="1" baseline="-25000">
                <a:latin typeface="Times New Roman" panose="02020603050405020304" pitchFamily="18" charset="0"/>
                <a:ea typeface="微软雅黑" panose="020B0503020204020204" pitchFamily="34" charset="-122"/>
              </a:rPr>
              <a:t>k</a:t>
            </a:r>
            <a:r>
              <a:rPr lang="en-US" altLang="zh-CN" b="1" i="1">
                <a:latin typeface="Times New Roman" panose="02020603050405020304" pitchFamily="18" charset="0"/>
                <a:ea typeface="微软雅黑" panose="020B0503020204020204" pitchFamily="34" charset="-122"/>
              </a:rPr>
              <a:t>P</a:t>
            </a:r>
            <a:r>
              <a:rPr lang="en-US" altLang="zh-CN" b="1" i="1" baseline="-25000">
                <a:latin typeface="Times New Roman" panose="02020603050405020304" pitchFamily="18" charset="0"/>
                <a:ea typeface="微软雅黑" panose="020B0503020204020204" pitchFamily="34" charset="-122"/>
              </a:rPr>
              <a:t>k  </a:t>
            </a:r>
            <a:r>
              <a:rPr lang="en-US" altLang="zh-CN"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b</a:t>
            </a:r>
            <a:endParaRPr lang="zh-CN" altLang="en-US" b="1" i="1">
              <a:latin typeface="Times New Roman" panose="02020603050405020304" pitchFamily="18" charset="0"/>
              <a:ea typeface="微软雅黑" panose="020B0503020204020204" pitchFamily="34" charset="-122"/>
            </a:endParaRPr>
          </a:p>
        </p:txBody>
      </p:sp>
      <p:sp>
        <p:nvSpPr>
          <p:cNvPr id="17" name="Rectangle 11"/>
          <p:cNvSpPr>
            <a:spLocks noChangeArrowheads="1"/>
          </p:cNvSpPr>
          <p:nvPr/>
        </p:nvSpPr>
        <p:spPr bwMode="auto">
          <a:xfrm>
            <a:off x="7164388" y="1077913"/>
            <a:ext cx="5445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a:t>
            </a:r>
            <a:r>
              <a:rPr lang="en-US" altLang="zh-CN" b="1">
                <a:latin typeface="Times New Roman" panose="02020603050405020304" pitchFamily="18" charset="0"/>
                <a:ea typeface="微软雅黑" panose="020B0503020204020204" pitchFamily="34" charset="-122"/>
              </a:rPr>
              <a:t>)</a:t>
            </a:r>
            <a:endParaRPr lang="zh-CN" altLang="en-US" b="1">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39000" y="639878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100</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dissolve">
                                      <p:cBhvr>
                                        <p:cTn id="7" dur="500"/>
                                        <p:tgtEl>
                                          <p:spTgt spid="204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linds(horizontal)">
                                      <p:cBhvr>
                                        <p:cTn id="10" dur="500"/>
                                        <p:tgtEl>
                                          <p:spTgt spid="1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linds(horizontal)">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0486"/>
                                        </p:tgtEl>
                                        <p:attrNameLst>
                                          <p:attrName>style.visibility</p:attrName>
                                        </p:attrNameLst>
                                      </p:cBhvr>
                                      <p:to>
                                        <p:strVal val="visible"/>
                                      </p:to>
                                    </p:set>
                                    <p:animEffect transition="in" filter="dissolve">
                                      <p:cBhvr>
                                        <p:cTn id="18" dur="500"/>
                                        <p:tgtEl>
                                          <p:spTgt spid="2048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487">
                                            <p:bg/>
                                          </p:spTgt>
                                        </p:tgtEl>
                                        <p:attrNameLst>
                                          <p:attrName>style.visibility</p:attrName>
                                        </p:attrNameLst>
                                      </p:cBhvr>
                                      <p:to>
                                        <p:strVal val="visible"/>
                                      </p:to>
                                    </p:set>
                                    <p:animEffect transition="in" filter="dissolve">
                                      <p:cBhvr>
                                        <p:cTn id="23" dur="500"/>
                                        <p:tgtEl>
                                          <p:spTgt spid="20487">
                                            <p:bg/>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0487">
                                            <p:txEl>
                                              <p:pRg st="0" end="0"/>
                                            </p:txEl>
                                          </p:spTgt>
                                        </p:tgtEl>
                                        <p:attrNameLst>
                                          <p:attrName>style.visibility</p:attrName>
                                        </p:attrNameLst>
                                      </p:cBhvr>
                                      <p:to>
                                        <p:strVal val="visible"/>
                                      </p:to>
                                    </p:set>
                                    <p:animEffect transition="in" filter="dissolve">
                                      <p:cBhvr>
                                        <p:cTn id="26" dur="500"/>
                                        <p:tgtEl>
                                          <p:spTgt spid="2048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0496"/>
                                        </p:tgtEl>
                                        <p:attrNameLst>
                                          <p:attrName>style.visibility</p:attrName>
                                        </p:attrNameLst>
                                      </p:cBhvr>
                                      <p:to>
                                        <p:strVal val="visible"/>
                                      </p:to>
                                    </p:set>
                                    <p:animEffect transition="in" filter="blinds(horizontal)">
                                      <p:cBhvr>
                                        <p:cTn id="31" dur="500"/>
                                        <p:tgtEl>
                                          <p:spTgt spid="2049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1" nodeType="clickEffect">
                                  <p:stCondLst>
                                    <p:cond delay="0"/>
                                  </p:stCondLst>
                                  <p:childTnLst>
                                    <p:animEffect transition="out" filter="blinds(horizontal)">
                                      <p:cBhvr>
                                        <p:cTn id="35" dur="500"/>
                                        <p:tgtEl>
                                          <p:spTgt spid="20496"/>
                                        </p:tgtEl>
                                      </p:cBhvr>
                                    </p:animEffect>
                                    <p:set>
                                      <p:cBhvr>
                                        <p:cTn id="36" dur="1" fill="hold">
                                          <p:stCondLst>
                                            <p:cond delay="499"/>
                                          </p:stCondLst>
                                        </p:cTn>
                                        <p:tgtEl>
                                          <p:spTgt spid="2049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488"/>
                                        </p:tgtEl>
                                        <p:attrNameLst>
                                          <p:attrName>style.visibility</p:attrName>
                                        </p:attrNameLst>
                                      </p:cBhvr>
                                      <p:to>
                                        <p:strVal val="visible"/>
                                      </p:to>
                                    </p:set>
                                    <p:animEffect transition="in" filter="blinds(horizontal)">
                                      <p:cBhvr>
                                        <p:cTn id="41" dur="500"/>
                                        <p:tgtEl>
                                          <p:spTgt spid="20488"/>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0489"/>
                                        </p:tgtEl>
                                        <p:attrNameLst>
                                          <p:attrName>style.visibility</p:attrName>
                                        </p:attrNameLst>
                                      </p:cBhvr>
                                      <p:to>
                                        <p:strVal val="visible"/>
                                      </p:to>
                                    </p:set>
                                    <p:animEffect transition="in" filter="blinds(horizontal)">
                                      <p:cBhvr>
                                        <p:cTn id="44" dur="500"/>
                                        <p:tgtEl>
                                          <p:spTgt spid="20489"/>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0491"/>
                                        </p:tgtEl>
                                        <p:attrNameLst>
                                          <p:attrName>style.visibility</p:attrName>
                                        </p:attrNameLst>
                                      </p:cBhvr>
                                      <p:to>
                                        <p:strVal val="visible"/>
                                      </p:to>
                                    </p:set>
                                    <p:animEffect transition="in" filter="blinds(horizontal)">
                                      <p:cBhvr>
                                        <p:cTn id="47" dur="500"/>
                                        <p:tgtEl>
                                          <p:spTgt spid="2049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90"/>
                                        </p:tgtEl>
                                        <p:attrNameLst>
                                          <p:attrName>style.visibility</p:attrName>
                                        </p:attrNameLst>
                                      </p:cBhvr>
                                      <p:to>
                                        <p:strVal val="visible"/>
                                      </p:to>
                                    </p:set>
                                    <p:animEffect transition="in" filter="blinds(horizontal)">
                                      <p:cBhvr>
                                        <p:cTn id="52" dur="500"/>
                                        <p:tgtEl>
                                          <p:spTgt spid="20490"/>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0492"/>
                                        </p:tgtEl>
                                        <p:attrNameLst>
                                          <p:attrName>style.visibility</p:attrName>
                                        </p:attrNameLst>
                                      </p:cBhvr>
                                      <p:to>
                                        <p:strVal val="visible"/>
                                      </p:to>
                                    </p:set>
                                    <p:animEffect transition="in" filter="blinds(horizontal)">
                                      <p:cBhvr>
                                        <p:cTn id="55" dur="500"/>
                                        <p:tgtEl>
                                          <p:spTgt spid="2049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0493"/>
                                        </p:tgtEl>
                                        <p:attrNameLst>
                                          <p:attrName>style.visibility</p:attrName>
                                        </p:attrNameLst>
                                      </p:cBhvr>
                                      <p:to>
                                        <p:strVal val="visible"/>
                                      </p:to>
                                    </p:set>
                                    <p:animEffect transition="in" filter="blinds(horizontal)">
                                      <p:cBhvr>
                                        <p:cTn id="60" dur="500"/>
                                        <p:tgtEl>
                                          <p:spTgt spid="20493"/>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0494"/>
                                        </p:tgtEl>
                                        <p:attrNameLst>
                                          <p:attrName>style.visibility</p:attrName>
                                        </p:attrNameLst>
                                      </p:cBhvr>
                                      <p:to>
                                        <p:strVal val="visible"/>
                                      </p:to>
                                    </p:set>
                                    <p:animEffect transition="in" filter="blinds(horizontal)">
                                      <p:cBhvr>
                                        <p:cTn id="65" dur="500"/>
                                        <p:tgtEl>
                                          <p:spTgt spid="20494"/>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20495"/>
                                        </p:tgtEl>
                                        <p:attrNameLst>
                                          <p:attrName>style.visibility</p:attrName>
                                        </p:attrNameLst>
                                      </p:cBhvr>
                                      <p:to>
                                        <p:strVal val="visible"/>
                                      </p:to>
                                    </p:set>
                                    <p:animEffect transition="in" filter="blinds(horizontal)">
                                      <p:cBhvr>
                                        <p:cTn id="68" dur="500"/>
                                        <p:tgtEl>
                                          <p:spTgt spid="20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nimBg="1" autoUpdateAnimBg="0"/>
      <p:bldP spid="20487" grpId="0" build="allAtOnce" animBg="1" autoUpdateAnimBg="0"/>
      <p:bldP spid="20488" grpId="0" animBg="1" autoUpdateAnimBg="0"/>
      <p:bldP spid="20489" grpId="0" animBg="1" autoUpdateAnimBg="0"/>
      <p:bldP spid="20490" grpId="0" animBg="1" autoUpdateAnimBg="0"/>
      <p:bldP spid="20491" grpId="0" autoUpdateAnimBg="0"/>
      <p:bldP spid="20492" grpId="0" animBg="1" autoUpdateAnimBg="0"/>
      <p:bldP spid="20493" grpId="0" animBg="1" autoUpdateAnimBg="0"/>
      <p:bldP spid="20494" grpId="0" autoUpdateAnimBg="0"/>
      <p:bldP spid="20495" grpId="0" autoUpdateAnimBg="0"/>
      <p:bldP spid="20496" grpId="0" animBg="1"/>
      <p:bldP spid="20496" grpId="1" animBg="1"/>
      <p:bldP spid="16" grpId="0" animBg="1" autoUpdateAnimBg="0"/>
      <p:bldP spid="17"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txBox="1">
            <a:spLocks noChangeArrowheads="1"/>
          </p:cNvSpPr>
          <p:nvPr/>
        </p:nvSpPr>
        <p:spPr bwMode="auto">
          <a:xfrm>
            <a:off x="0" y="0"/>
            <a:ext cx="9144000" cy="4762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b="1" dirty="0">
                <a:solidFill>
                  <a:schemeClr val="hlink"/>
                </a:solidFill>
                <a:latin typeface="Times New Roman" panose="02020603050405020304" pitchFamily="18" charset="0"/>
                <a:ea typeface="微软雅黑" panose="020B0503020204020204" pitchFamily="34" charset="-122"/>
              </a:rPr>
              <a:t>(2) </a:t>
            </a:r>
            <a:r>
              <a:rPr lang="zh-CN" altLang="en-US" b="1" dirty="0">
                <a:solidFill>
                  <a:schemeClr val="hlink"/>
                </a:solidFill>
                <a:latin typeface="Times New Roman" panose="02020603050405020304" pitchFamily="18" charset="0"/>
                <a:ea typeface="微软雅黑" panose="020B0503020204020204" pitchFamily="34" charset="-122"/>
              </a:rPr>
              <a:t>若</a:t>
            </a:r>
            <a:r>
              <a:rPr lang="en-US" altLang="zh-CN" b="1" i="1" dirty="0">
                <a:solidFill>
                  <a:schemeClr val="hlink"/>
                </a:solidFill>
                <a:latin typeface="Times New Roman" panose="02020603050405020304" pitchFamily="18" charset="0"/>
                <a:ea typeface="微软雅黑" panose="020B0503020204020204" pitchFamily="34" charset="-122"/>
              </a:rPr>
              <a:t>x</a:t>
            </a:r>
            <a:r>
              <a:rPr lang="zh-CN" altLang="en-US" b="1" dirty="0">
                <a:solidFill>
                  <a:schemeClr val="hlink"/>
                </a:solidFill>
                <a:latin typeface="Times New Roman" panose="02020603050405020304" pitchFamily="18" charset="0"/>
                <a:ea typeface="微软雅黑" panose="020B0503020204020204" pitchFamily="34" charset="-122"/>
              </a:rPr>
              <a:t>不是可行域</a:t>
            </a:r>
            <a:r>
              <a:rPr lang="en-US" altLang="zh-CN" b="1" i="1" dirty="0">
                <a:solidFill>
                  <a:schemeClr val="hlink"/>
                </a:solidFill>
                <a:latin typeface="Times New Roman" panose="02020603050405020304" pitchFamily="18" charset="0"/>
                <a:ea typeface="微软雅黑" panose="020B0503020204020204" pitchFamily="34" charset="-122"/>
              </a:rPr>
              <a:t>D</a:t>
            </a:r>
            <a:r>
              <a:rPr lang="zh-CN" altLang="en-US" b="1" dirty="0">
                <a:solidFill>
                  <a:schemeClr val="hlink"/>
                </a:solidFill>
                <a:latin typeface="Times New Roman" panose="02020603050405020304" pitchFamily="18" charset="0"/>
                <a:ea typeface="微软雅黑" panose="020B0503020204020204" pitchFamily="34" charset="-122"/>
              </a:rPr>
              <a:t>的顶点</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则它一定不是基可行解</a:t>
            </a:r>
          </a:p>
        </p:txBody>
      </p:sp>
      <p:sp>
        <p:nvSpPr>
          <p:cNvPr id="21507" name="Rectangle 3"/>
          <p:cNvSpPr txBox="1">
            <a:spLocks noChangeArrowheads="1"/>
          </p:cNvSpPr>
          <p:nvPr/>
        </p:nvSpPr>
        <p:spPr bwMode="auto">
          <a:xfrm>
            <a:off x="0" y="476250"/>
            <a:ext cx="9144000" cy="1657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pPr>
            <a:r>
              <a:rPr lang="zh-CN" altLang="en-US" b="1" dirty="0">
                <a:latin typeface="Times New Roman" panose="02020603050405020304" pitchFamily="18" charset="0"/>
                <a:ea typeface="微软雅黑" panose="020B0503020204020204" pitchFamily="34" charset="-122"/>
              </a:rPr>
              <a:t>因为</a:t>
            </a:r>
            <a:r>
              <a:rPr lang="en-US" altLang="zh-CN" b="1" i="1" dirty="0">
                <a:latin typeface="Times New Roman" panose="02020603050405020304" pitchFamily="18" charset="0"/>
                <a:ea typeface="微软雅黑" panose="020B0503020204020204" pitchFamily="34" charset="-122"/>
              </a:rPr>
              <a:t>x</a:t>
            </a:r>
            <a:r>
              <a:rPr lang="zh-CN" altLang="en-US" b="1" dirty="0">
                <a:latin typeface="Times New Roman" panose="02020603050405020304" pitchFamily="18" charset="0"/>
                <a:ea typeface="微软雅黑" panose="020B0503020204020204" pitchFamily="34" charset="-122"/>
              </a:rPr>
              <a:t>不是可行域</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的顶点</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故在可行域</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中可找到不同的两点</a:t>
            </a:r>
          </a:p>
          <a:p>
            <a:pPr algn="ctr">
              <a:lnSpc>
                <a:spcPct val="90000"/>
              </a:lnSpc>
              <a:spcBef>
                <a:spcPts val="600"/>
              </a:spcBef>
              <a:buClr>
                <a:schemeClr val="accent1"/>
              </a:buClr>
              <a:buSzPct val="70000"/>
              <a:buFont typeface="Wingdings" panose="05000000000000000000" pitchFamily="2" charset="2"/>
              <a:buNone/>
            </a:pP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 </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a:t>
            </a:r>
            <a:r>
              <a:rPr lang="en-US" altLang="zh-CN" b="1" baseline="30000" dirty="0">
                <a:latin typeface="Times New Roman" panose="02020603050405020304" pitchFamily="18" charset="0"/>
                <a:ea typeface="微软雅黑" panose="020B0503020204020204" pitchFamily="34" charset="-122"/>
              </a:rPr>
              <a:t>T</a:t>
            </a:r>
            <a:endParaRPr lang="en-US" altLang="zh-CN" b="1" dirty="0">
              <a:latin typeface="Times New Roman" panose="02020603050405020304" pitchFamily="18" charset="0"/>
              <a:ea typeface="微软雅黑" panose="020B0503020204020204" pitchFamily="34" charset="-122"/>
            </a:endParaRPr>
          </a:p>
          <a:p>
            <a:pPr algn="ctr">
              <a:lnSpc>
                <a:spcPct val="90000"/>
              </a:lnSpc>
              <a:spcBef>
                <a:spcPts val="600"/>
              </a:spcBef>
              <a:buClr>
                <a:schemeClr val="accent1"/>
              </a:buClr>
              <a:buSzPct val="70000"/>
              <a:buFont typeface="Wingdings" panose="05000000000000000000" pitchFamily="2" charset="2"/>
              <a:buNone/>
            </a:pP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 </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a:t>
            </a:r>
            <a:r>
              <a:rPr lang="en-US" altLang="zh-CN" b="1" baseline="30000" dirty="0">
                <a:latin typeface="Times New Roman" panose="02020603050405020304" pitchFamily="18" charset="0"/>
                <a:ea typeface="微软雅黑" panose="020B0503020204020204" pitchFamily="34" charset="-122"/>
              </a:rPr>
              <a:t>T</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使 </a:t>
            </a:r>
            <a:r>
              <a:rPr lang="en-US" altLang="zh-CN" b="1" i="1" dirty="0">
                <a:latin typeface="Times New Roman" panose="02020603050405020304" pitchFamily="18" charset="0"/>
                <a:ea typeface="微软雅黑" panose="020B0503020204020204" pitchFamily="34" charset="-122"/>
              </a:rPr>
              <a:t>x</a:t>
            </a:r>
            <a:r>
              <a:rPr lang="en-US" altLang="zh-CN" b="1" dirty="0">
                <a:latin typeface="Times New Roman" panose="02020603050405020304" pitchFamily="18" charset="0"/>
                <a:ea typeface="微软雅黑" panose="020B0503020204020204" pitchFamily="34" charset="-122"/>
              </a:rPr>
              <a:t>=α</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+(1-α)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a:t>
            </a:r>
            <a:r>
              <a:rPr lang="zh-CN" altLang="en-US" b="1" dirty="0">
                <a:latin typeface="仿宋" panose="02010609060101010101" pitchFamily="49" charset="-122"/>
                <a:ea typeface="仿宋" panose="02010609060101010101" pitchFamily="49" charset="-122"/>
              </a:rPr>
              <a:t>，</a:t>
            </a:r>
            <a:r>
              <a:rPr lang="zh-CN" altLang="en-US" b="1" baseline="30000" dirty="0">
                <a:latin typeface="Times New Roman" panose="02020603050405020304" pitchFamily="18" charset="0"/>
                <a:ea typeface="微软雅黑" panose="020B0503020204020204" pitchFamily="34" charset="-122"/>
              </a:rPr>
              <a:t> </a:t>
            </a:r>
            <a:r>
              <a:rPr lang="en-US" altLang="zh-CN" b="1" dirty="0">
                <a:latin typeface="Times New Roman" panose="02020603050405020304" pitchFamily="18" charset="0"/>
                <a:ea typeface="微软雅黑" panose="020B0503020204020204" pitchFamily="34" charset="-122"/>
              </a:rPr>
              <a:t>0</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α</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1</a:t>
            </a:r>
          </a:p>
        </p:txBody>
      </p:sp>
      <p:sp>
        <p:nvSpPr>
          <p:cNvPr id="21508" name="Rectangle 3"/>
          <p:cNvSpPr txBox="1">
            <a:spLocks noChangeArrowheads="1"/>
          </p:cNvSpPr>
          <p:nvPr/>
        </p:nvSpPr>
        <p:spPr bwMode="auto">
          <a:xfrm>
            <a:off x="0" y="2133600"/>
            <a:ext cx="9144000" cy="10080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1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设</a:t>
            </a:r>
            <a:r>
              <a:rPr lang="en-US" altLang="zh-CN" b="1" i="1">
                <a:solidFill>
                  <a:schemeClr val="hlink"/>
                </a:solidFill>
                <a:latin typeface="Times New Roman" panose="02020603050405020304" pitchFamily="18" charset="0"/>
                <a:ea typeface="微软雅黑" panose="020B0503020204020204" pitchFamily="34" charset="-122"/>
              </a:rPr>
              <a:t>x</a:t>
            </a:r>
            <a:r>
              <a:rPr lang="zh-CN" altLang="en-US" b="1">
                <a:solidFill>
                  <a:schemeClr val="hlink"/>
                </a:solidFill>
                <a:latin typeface="Times New Roman" panose="02020603050405020304" pitchFamily="18" charset="0"/>
                <a:ea typeface="微软雅黑" panose="020B0503020204020204" pitchFamily="34" charset="-122"/>
              </a:rPr>
              <a:t>是基可行解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对应向量组</a:t>
            </a:r>
            <a:r>
              <a:rPr lang="en-US" altLang="zh-CN" b="1" i="1">
                <a:latin typeface="Times New Roman" panose="02020603050405020304" pitchFamily="18" charset="0"/>
                <a:ea typeface="微软雅黑" panose="020B0503020204020204" pitchFamily="34" charset="-122"/>
              </a:rPr>
              <a:t>P</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 </a:t>
            </a:r>
            <a:r>
              <a:rPr lang="en-US" altLang="zh-CN" b="1" i="1">
                <a:latin typeface="Times New Roman" panose="02020603050405020304" pitchFamily="18" charset="0"/>
                <a:ea typeface="微软雅黑" panose="020B0503020204020204" pitchFamily="34" charset="-122"/>
              </a:rPr>
              <a:t>P</a:t>
            </a:r>
            <a:r>
              <a:rPr lang="en-US" altLang="zh-CN" b="1" i="1" baseline="-30000">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线性独立。当</a:t>
            </a:r>
            <a:r>
              <a:rPr lang="en-US" altLang="zh-CN" b="1" i="1">
                <a:latin typeface="Times New Roman" panose="02020603050405020304" pitchFamily="18" charset="0"/>
                <a:ea typeface="微软雅黑" panose="020B0503020204020204" pitchFamily="34" charset="-122"/>
              </a:rPr>
              <a:t>j</a:t>
            </a:r>
            <a:r>
              <a:rPr lang="zh-CN" altLang="en-US"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时</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有</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baseline="30000">
                <a:solidFill>
                  <a:schemeClr val="hlink"/>
                </a:solidFill>
                <a:latin typeface="Times New Roman" panose="02020603050405020304" pitchFamily="18" charset="0"/>
                <a:ea typeface="微软雅黑" panose="020B0503020204020204" pitchFamily="34" charset="-122"/>
              </a:rPr>
              <a:t>(1)</a:t>
            </a:r>
            <a:r>
              <a:rPr lang="en-US" altLang="zh-CN"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baseline="30000">
                <a:solidFill>
                  <a:schemeClr val="hlink"/>
                </a:solidFill>
                <a:latin typeface="Times New Roman" panose="02020603050405020304" pitchFamily="18" charset="0"/>
                <a:ea typeface="微软雅黑" panose="020B0503020204020204" pitchFamily="34" charset="-122"/>
              </a:rPr>
              <a:t>(2)</a:t>
            </a:r>
            <a:r>
              <a:rPr lang="en-US" altLang="zh-CN" b="1">
                <a:solidFill>
                  <a:schemeClr val="hlink"/>
                </a:solidFill>
                <a:latin typeface="Times New Roman" panose="02020603050405020304" pitchFamily="18" charset="0"/>
                <a:ea typeface="微软雅黑" panose="020B0503020204020204" pitchFamily="34" charset="-122"/>
              </a:rPr>
              <a:t>=0</a:t>
            </a:r>
            <a:endParaRPr lang="en-US" altLang="zh-CN" b="1">
              <a:latin typeface="Times New Roman" panose="02020603050405020304" pitchFamily="18" charset="0"/>
              <a:ea typeface="微软雅黑" panose="020B0503020204020204" pitchFamily="34" charset="-122"/>
            </a:endParaRPr>
          </a:p>
        </p:txBody>
      </p:sp>
      <p:graphicFrame>
        <p:nvGraphicFramePr>
          <p:cNvPr id="21509" name="Object 5"/>
          <p:cNvGraphicFramePr>
            <a:graphicFrameLocks noChangeAspect="1"/>
          </p:cNvGraphicFramePr>
          <p:nvPr/>
        </p:nvGraphicFramePr>
        <p:xfrm>
          <a:off x="2262188" y="3155950"/>
          <a:ext cx="3968750" cy="1049338"/>
        </p:xfrm>
        <a:graphic>
          <a:graphicData uri="http://schemas.openxmlformats.org/presentationml/2006/ole">
            <mc:AlternateContent xmlns:mc="http://schemas.openxmlformats.org/markup-compatibility/2006">
              <mc:Choice xmlns:v="urn:schemas-microsoft-com:vml" Requires="v">
                <p:oleObj spid="_x0000_s47468" name="Equation" r:id="rId3" imgW="1968500" imgH="444500" progId="Equation.DSMT4">
                  <p:embed/>
                </p:oleObj>
              </mc:Choice>
              <mc:Fallback>
                <p:oleObj name="Equation" r:id="rId3" imgW="1968500" imgH="4445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2188" y="3155950"/>
                        <a:ext cx="3968750" cy="104933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矩形 10"/>
          <p:cNvSpPr>
            <a:spLocks noChangeArrowheads="1"/>
          </p:cNvSpPr>
          <p:nvPr/>
        </p:nvSpPr>
        <p:spPr bwMode="auto">
          <a:xfrm>
            <a:off x="2627313" y="2565400"/>
            <a:ext cx="5976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由于</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是可行域的两点</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应满足</a:t>
            </a:r>
            <a:endParaRPr lang="zh-CN" altLang="en-US">
              <a:ea typeface="微软雅黑" panose="020B0503020204020204" pitchFamily="34" charset="-122"/>
            </a:endParaRPr>
          </a:p>
        </p:txBody>
      </p:sp>
      <p:sp>
        <p:nvSpPr>
          <p:cNvPr id="21514" name="Line 10"/>
          <p:cNvSpPr>
            <a:spLocks noChangeShapeType="1"/>
          </p:cNvSpPr>
          <p:nvPr/>
        </p:nvSpPr>
        <p:spPr bwMode="auto">
          <a:xfrm flipH="1">
            <a:off x="1441450" y="3106737"/>
            <a:ext cx="34206" cy="1112838"/>
          </a:xfrm>
          <a:prstGeom prst="line">
            <a:avLst/>
          </a:prstGeom>
          <a:noFill/>
          <a:ln w="762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a:spLocks noChangeArrowheads="1"/>
          </p:cNvSpPr>
          <p:nvPr/>
        </p:nvSpPr>
        <p:spPr bwMode="auto">
          <a:xfrm>
            <a:off x="4000500" y="3429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rPr>
              <a:t>与</a:t>
            </a:r>
            <a:endParaRPr lang="zh-CN" altLang="en-US"/>
          </a:p>
        </p:txBody>
      </p:sp>
      <p:grpSp>
        <p:nvGrpSpPr>
          <p:cNvPr id="49164" name="组合 9"/>
          <p:cNvGrpSpPr/>
          <p:nvPr/>
        </p:nvGrpSpPr>
        <p:grpSpPr bwMode="auto">
          <a:xfrm>
            <a:off x="46037" y="4253057"/>
            <a:ext cx="8893175" cy="2395538"/>
            <a:chOff x="125412" y="4252913"/>
            <a:chExt cx="8893175" cy="2396330"/>
          </a:xfrm>
        </p:grpSpPr>
        <p:sp>
          <p:nvSpPr>
            <p:cNvPr id="49165" name="Rectangle 2"/>
            <p:cNvSpPr txBox="1">
              <a:spLocks noChangeArrowheads="1"/>
            </p:cNvSpPr>
            <p:nvPr/>
          </p:nvSpPr>
          <p:spPr bwMode="auto">
            <a:xfrm>
              <a:off x="125412" y="4253706"/>
              <a:ext cx="8893175" cy="2395537"/>
            </a:xfrm>
            <a:prstGeom prst="rect">
              <a:avLst/>
            </a:prstGeom>
            <a:solidFill>
              <a:srgbClr val="FFFFFF"/>
            </a:solidFill>
            <a:ln w="57150">
              <a:solidFill>
                <a:srgbClr val="FF0000"/>
              </a:solidFill>
              <a:miter lim="800000"/>
            </a:ln>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pPr>
              <a:r>
                <a:rPr lang="zh-CN" altLang="en-US" b="1" dirty="0">
                  <a:latin typeface="Times New Roman" panose="02020603050405020304" pitchFamily="18" charset="0"/>
                  <a:ea typeface="微软雅黑" panose="020B0503020204020204" pitchFamily="34" charset="-122"/>
                </a:rPr>
                <a:t>                 </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且                             </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由                                  </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与 </a:t>
              </a:r>
              <a:endParaRPr lang="en-US" altLang="zh-CN" b="1" dirty="0">
                <a:latin typeface="Times New Roman" panose="02020603050405020304" pitchFamily="18" charset="0"/>
                <a:ea typeface="微软雅黑" panose="020B0503020204020204" pitchFamily="34" charset="-122"/>
              </a:endParaRPr>
            </a:p>
            <a:p>
              <a:pPr>
                <a:lnSpc>
                  <a:spcPct val="150000"/>
                </a:lnSpc>
              </a:pPr>
              <a:r>
                <a:rPr lang="en-US" altLang="zh-CN" b="1" dirty="0">
                  <a:latin typeface="Times New Roman" panose="02020603050405020304" pitchFamily="18" charset="0"/>
                  <a:ea typeface="微软雅黑" panose="020B0503020204020204" pitchFamily="34" charset="-122"/>
                </a:rPr>
                <a:t>                   </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             </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并且                                                     </a:t>
              </a:r>
              <a:endParaRPr lang="en-US" altLang="zh-CN" b="1" dirty="0">
                <a:latin typeface="Times New Roman" panose="02020603050405020304" pitchFamily="18" charset="0"/>
                <a:ea typeface="微软雅黑" panose="020B0503020204020204" pitchFamily="34" charset="-122"/>
              </a:endParaRPr>
            </a:p>
            <a:p>
              <a:pPr>
                <a:lnSpc>
                  <a:spcPct val="150000"/>
                </a:lnSpc>
              </a:pPr>
              <a:r>
                <a:rPr lang="zh-CN" altLang="en-US" b="1" dirty="0">
                  <a:latin typeface="Times New Roman" panose="02020603050405020304" pitchFamily="18" charset="0"/>
                  <a:ea typeface="微软雅黑" panose="020B0503020204020204" pitchFamily="34" charset="-122"/>
                </a:rPr>
                <a:t>必可推出</a:t>
              </a:r>
              <a:endParaRPr lang="en-US" altLang="zh-CN" b="1" dirty="0">
                <a:latin typeface="Times New Roman" panose="02020603050405020304" pitchFamily="18" charset="0"/>
                <a:ea typeface="微软雅黑" panose="020B0503020204020204" pitchFamily="34" charset="-122"/>
              </a:endParaRPr>
            </a:p>
            <a:p>
              <a:pPr>
                <a:lnSpc>
                  <a:spcPct val="150000"/>
                </a:lnSpc>
              </a:pPr>
              <a:endParaRPr lang="zh-CN" altLang="en-US" b="1" dirty="0">
                <a:latin typeface="Times New Roman" panose="02020603050405020304" pitchFamily="18" charset="0"/>
                <a:ea typeface="微软雅黑" panose="020B0503020204020204" pitchFamily="34" charset="-122"/>
              </a:endParaRPr>
            </a:p>
          </p:txBody>
        </p:sp>
        <p:graphicFrame>
          <p:nvGraphicFramePr>
            <p:cNvPr id="49166" name="对象 2"/>
            <p:cNvGraphicFramePr>
              <a:graphicFrameLocks noChangeAspect="1"/>
            </p:cNvGraphicFramePr>
            <p:nvPr/>
          </p:nvGraphicFramePr>
          <p:xfrm>
            <a:off x="282575" y="4252913"/>
            <a:ext cx="1306513" cy="788987"/>
          </p:xfrm>
          <a:graphic>
            <a:graphicData uri="http://schemas.openxmlformats.org/presentationml/2006/ole">
              <mc:AlternateContent xmlns:mc="http://schemas.openxmlformats.org/markup-compatibility/2006">
                <mc:Choice xmlns:v="urn:schemas-microsoft-com:vml" Requires="v">
                  <p:oleObj spid="_x0000_s47469" name="Equation" r:id="rId5" imgW="735965" imgH="444500" progId="Equation.DSMT4">
                    <p:embed/>
                  </p:oleObj>
                </mc:Choice>
                <mc:Fallback>
                  <p:oleObj name="Equation" r:id="rId5" imgW="735965" imgH="444500"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75" y="4252913"/>
                          <a:ext cx="1306513"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7" name="对象 3"/>
            <p:cNvGraphicFramePr>
              <a:graphicFrameLocks noChangeAspect="1"/>
            </p:cNvGraphicFramePr>
            <p:nvPr/>
          </p:nvGraphicFramePr>
          <p:xfrm>
            <a:off x="2271713" y="4418013"/>
            <a:ext cx="2132012" cy="457200"/>
          </p:xfrm>
          <a:graphic>
            <a:graphicData uri="http://schemas.openxmlformats.org/presentationml/2006/ole">
              <mc:AlternateContent xmlns:mc="http://schemas.openxmlformats.org/markup-compatibility/2006">
                <mc:Choice xmlns:v="urn:schemas-microsoft-com:vml" Requires="v">
                  <p:oleObj spid="_x0000_s47470" name="Equation" r:id="rId7" imgW="1066800" imgH="228600" progId="Equation.DSMT4">
                    <p:embed/>
                  </p:oleObj>
                </mc:Choice>
                <mc:Fallback>
                  <p:oleObj name="Equation" r:id="rId7" imgW="1066800" imgH="228600" progId="Equation.DSMT4">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1713" y="4418013"/>
                          <a:ext cx="213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8" name="对象 4"/>
            <p:cNvGraphicFramePr>
              <a:graphicFrameLocks noChangeAspect="1"/>
            </p:cNvGraphicFramePr>
            <p:nvPr/>
          </p:nvGraphicFramePr>
          <p:xfrm>
            <a:off x="5016500" y="4418013"/>
            <a:ext cx="2616200" cy="457200"/>
          </p:xfrm>
          <a:graphic>
            <a:graphicData uri="http://schemas.openxmlformats.org/presentationml/2006/ole">
              <mc:AlternateContent xmlns:mc="http://schemas.openxmlformats.org/markup-compatibility/2006">
                <mc:Choice xmlns:v="urn:schemas-microsoft-com:vml" Requires="v">
                  <p:oleObj spid="_x0000_s47471" name="Equation" r:id="rId9" imgW="1308100" imgH="228600" progId="Equation.DSMT4">
                    <p:embed/>
                  </p:oleObj>
                </mc:Choice>
                <mc:Fallback>
                  <p:oleObj name="Equation" r:id="rId9" imgW="1308100" imgH="228600" progId="Equation.DSMT4">
                    <p:embed/>
                    <p:pic>
                      <p:nvPicPr>
                        <p:cNvPr id="0"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6500" y="4418013"/>
                          <a:ext cx="261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9" name="对象 5"/>
            <p:cNvGraphicFramePr>
              <a:graphicFrameLocks noChangeAspect="1"/>
            </p:cNvGraphicFramePr>
            <p:nvPr/>
          </p:nvGraphicFramePr>
          <p:xfrm>
            <a:off x="241300" y="4979988"/>
            <a:ext cx="1473200" cy="457200"/>
          </p:xfrm>
          <a:graphic>
            <a:graphicData uri="http://schemas.openxmlformats.org/presentationml/2006/ole">
              <mc:AlternateContent xmlns:mc="http://schemas.openxmlformats.org/markup-compatibility/2006">
                <mc:Choice xmlns:v="urn:schemas-microsoft-com:vml" Requires="v">
                  <p:oleObj spid="_x0000_s47472" name="Equation" r:id="rId11" imgW="736600" imgH="228600" progId="Equation.DSMT4">
                    <p:embed/>
                  </p:oleObj>
                </mc:Choice>
                <mc:Fallback>
                  <p:oleObj name="Equation" r:id="rId11" imgW="736600" imgH="228600" progId="Equation.DSMT4">
                    <p:embed/>
                    <p:pic>
                      <p:nvPicPr>
                        <p:cNvPr id="0" name="对象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300" y="4979988"/>
                          <a:ext cx="147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70" name="对象 6"/>
            <p:cNvGraphicFramePr>
              <a:graphicFrameLocks noChangeAspect="1"/>
            </p:cNvGraphicFramePr>
            <p:nvPr/>
          </p:nvGraphicFramePr>
          <p:xfrm>
            <a:off x="1864519" y="4995069"/>
            <a:ext cx="1093788" cy="388937"/>
          </p:xfrm>
          <a:graphic>
            <a:graphicData uri="http://schemas.openxmlformats.org/presentationml/2006/ole">
              <mc:AlternateContent xmlns:mc="http://schemas.openxmlformats.org/markup-compatibility/2006">
                <mc:Choice xmlns:v="urn:schemas-microsoft-com:vml" Requires="v">
                  <p:oleObj spid="_x0000_s47473" name="Equation" r:id="rId13" imgW="571500" imgH="203200" progId="Equation.DSMT4">
                    <p:embed/>
                  </p:oleObj>
                </mc:Choice>
                <mc:Fallback>
                  <p:oleObj name="Equation" r:id="rId13" imgW="571500" imgH="203200" progId="Equation.DSMT4">
                    <p:embed/>
                    <p:pic>
                      <p:nvPicPr>
                        <p:cNvPr id="0" name="对象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64519" y="4995069"/>
                          <a:ext cx="1093788"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71" name="对象 7"/>
            <p:cNvGraphicFramePr>
              <a:graphicFrameLocks noChangeAspect="1"/>
            </p:cNvGraphicFramePr>
            <p:nvPr/>
          </p:nvGraphicFramePr>
          <p:xfrm>
            <a:off x="4000500" y="4953000"/>
            <a:ext cx="4276725" cy="457200"/>
          </p:xfrm>
          <a:graphic>
            <a:graphicData uri="http://schemas.openxmlformats.org/presentationml/2006/ole">
              <mc:AlternateContent xmlns:mc="http://schemas.openxmlformats.org/markup-compatibility/2006">
                <mc:Choice xmlns:v="urn:schemas-microsoft-com:vml" Requires="v">
                  <p:oleObj spid="_x0000_s47474" name="Equation" r:id="rId15" imgW="2374900" imgH="254000" progId="Equation.DSMT4">
                    <p:embed/>
                  </p:oleObj>
                </mc:Choice>
                <mc:Fallback>
                  <p:oleObj name="Equation" r:id="rId15" imgW="2374900" imgH="254000" progId="Equation.DSMT4">
                    <p:embed/>
                    <p:pic>
                      <p:nvPicPr>
                        <p:cNvPr id="0" name="对象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0500" y="4953000"/>
                          <a:ext cx="4276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72" name="对象 8"/>
            <p:cNvGraphicFramePr>
              <a:graphicFrameLocks noChangeAspect="1"/>
            </p:cNvGraphicFramePr>
            <p:nvPr/>
          </p:nvGraphicFramePr>
          <p:xfrm>
            <a:off x="3016250" y="6089650"/>
            <a:ext cx="3176588" cy="457200"/>
          </p:xfrm>
          <a:graphic>
            <a:graphicData uri="http://schemas.openxmlformats.org/presentationml/2006/ole">
              <mc:AlternateContent xmlns:mc="http://schemas.openxmlformats.org/markup-compatibility/2006">
                <mc:Choice xmlns:v="urn:schemas-microsoft-com:vml" Requires="v">
                  <p:oleObj spid="_x0000_s47475" name="Equation" r:id="rId17" imgW="1676400" imgH="241300" progId="Equation.DSMT4">
                    <p:embed/>
                  </p:oleObj>
                </mc:Choice>
                <mc:Fallback>
                  <p:oleObj name="Equation" r:id="rId17" imgW="1676400" imgH="241300" progId="Equation.DSMT4">
                    <p:embed/>
                    <p:pic>
                      <p:nvPicPr>
                        <p:cNvPr id="0" name="对象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16250" y="6089650"/>
                          <a:ext cx="3176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 name="灯片编号占位符 2"/>
          <p:cNvSpPr>
            <a:spLocks noGrp="1"/>
          </p:cNvSpPr>
          <p:nvPr>
            <p:ph type="sldNum" sz="quarter" idx="12"/>
          </p:nvPr>
        </p:nvSpPr>
        <p:spPr>
          <a:xfrm>
            <a:off x="7239000" y="6448425"/>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101</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linds(horizontal)">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blinds(horizontal)">
                                      <p:cBhvr>
                                        <p:cTn id="12" dur="500"/>
                                        <p:tgtEl>
                                          <p:spTgt spid="2150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14"/>
                                        </p:tgtEl>
                                        <p:attrNameLst>
                                          <p:attrName>style.visibility</p:attrName>
                                        </p:attrNameLst>
                                      </p:cBhvr>
                                      <p:to>
                                        <p:strVal val="visible"/>
                                      </p:to>
                                    </p:set>
                                    <p:animEffect transition="in" filter="blinds(horizontal)">
                                      <p:cBhvr>
                                        <p:cTn id="17" dur="500"/>
                                        <p:tgtEl>
                                          <p:spTgt spid="215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916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1509"/>
                                        </p:tgtEl>
                                        <p:attrNameLst>
                                          <p:attrName>style.visibility</p:attrName>
                                        </p:attrNameLst>
                                      </p:cBhvr>
                                      <p:to>
                                        <p:strVal val="visible"/>
                                      </p:to>
                                    </p:set>
                                    <p:animEffect transition="in" filter="fade">
                                      <p:cBhvr>
                                        <p:cTn id="31" dur="1000"/>
                                        <p:tgtEl>
                                          <p:spTgt spid="21509"/>
                                        </p:tgtEl>
                                      </p:cBhvr>
                                    </p:animEffect>
                                    <p:anim calcmode="lin" valueType="num">
                                      <p:cBhvr>
                                        <p:cTn id="32" dur="1000" fill="hold"/>
                                        <p:tgtEl>
                                          <p:spTgt spid="21509"/>
                                        </p:tgtEl>
                                        <p:attrNameLst>
                                          <p:attrName>ppt_x</p:attrName>
                                        </p:attrNameLst>
                                      </p:cBhvr>
                                      <p:tavLst>
                                        <p:tav tm="0">
                                          <p:val>
                                            <p:strVal val="#ppt_x"/>
                                          </p:val>
                                        </p:tav>
                                        <p:tav tm="100000">
                                          <p:val>
                                            <p:strVal val="#ppt_x"/>
                                          </p:val>
                                        </p:tav>
                                      </p:tavLst>
                                    </p:anim>
                                    <p:anim calcmode="lin" valueType="num">
                                      <p:cBhvr>
                                        <p:cTn id="33" dur="1000" fill="hold"/>
                                        <p:tgtEl>
                                          <p:spTgt spid="2150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anim calcmode="lin" valueType="num">
                                      <p:cBhvr>
                                        <p:cTn id="37" dur="1000" fill="hold"/>
                                        <p:tgtEl>
                                          <p:spTgt spid="2"/>
                                        </p:tgtEl>
                                        <p:attrNameLst>
                                          <p:attrName>ppt_x</p:attrName>
                                        </p:attrNameLst>
                                      </p:cBhvr>
                                      <p:tavLst>
                                        <p:tav tm="0">
                                          <p:val>
                                            <p:strVal val="#ppt_x"/>
                                          </p:val>
                                        </p:tav>
                                        <p:tav tm="100000">
                                          <p:val>
                                            <p:strVal val="#ppt_x"/>
                                          </p:val>
                                        </p:tav>
                                      </p:tavLst>
                                    </p:anim>
                                    <p:anim calcmode="lin" valueType="num">
                                      <p:cBhvr>
                                        <p:cTn id="3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nodeType="clickEffect">
                                  <p:stCondLst>
                                    <p:cond delay="0"/>
                                  </p:stCondLst>
                                  <p:childTnLst>
                                    <p:animEffect transition="out" filter="blinds(horizontal)">
                                      <p:cBhvr>
                                        <p:cTn id="42" dur="500"/>
                                        <p:tgtEl>
                                          <p:spTgt spid="21514"/>
                                        </p:tgtEl>
                                      </p:cBhvr>
                                    </p:animEffect>
                                    <p:set>
                                      <p:cBhvr>
                                        <p:cTn id="43" dur="1" fill="hold">
                                          <p:stCondLst>
                                            <p:cond delay="499"/>
                                          </p:stCondLst>
                                        </p:cTn>
                                        <p:tgtEl>
                                          <p:spTgt spid="215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autoUpdateAnimBg="0"/>
      <p:bldP spid="21508" grpId="0" animBg="1" autoUpdateAnimBg="0"/>
      <p:bldP spid="11" grpId="0"/>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2" name="TextBox 4"/>
          <p:cNvSpPr txBox="1">
            <a:spLocks noChangeArrowheads="1"/>
          </p:cNvSpPr>
          <p:nvPr/>
        </p:nvSpPr>
        <p:spPr bwMode="auto">
          <a:xfrm>
            <a:off x="0" y="5846763"/>
            <a:ext cx="9144000" cy="83026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Times New Roman" panose="02020603050405020304" pitchFamily="18" charset="0"/>
                <a:ea typeface="微软雅黑" panose="020B0503020204020204" pitchFamily="34" charset="-122"/>
              </a:rPr>
              <a:t>因</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所以上式系数不全为零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故向量组</a:t>
            </a:r>
            <a:r>
              <a:rPr lang="en-US" altLang="zh-CN" b="1" i="1" dirty="0">
                <a:latin typeface="Times New Roman" panose="02020603050405020304" pitchFamily="18" charset="0"/>
                <a:ea typeface="微软雅黑" panose="020B0503020204020204" pitchFamily="34" charset="-122"/>
              </a:rPr>
              <a:t>P</a:t>
            </a:r>
            <a:r>
              <a:rPr lang="en-US" altLang="zh-CN" b="1" baseline="-30000" dirty="0">
                <a:latin typeface="Times New Roman" panose="02020603050405020304" pitchFamily="18" charset="0"/>
                <a:ea typeface="微软雅黑" panose="020B0503020204020204" pitchFamily="34" charset="-122"/>
              </a:rPr>
              <a:t>1</a:t>
            </a:r>
            <a:r>
              <a:rPr lang="zh-CN" altLang="en-US" b="1" dirty="0">
                <a:latin typeface="Times New Roman" panose="02020603050405020304" pitchFamily="18" charset="0"/>
                <a:ea typeface="微软雅黑" panose="020B0503020204020204" pitchFamily="34" charset="-122"/>
              </a:rPr>
              <a:t> </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P</a:t>
            </a:r>
            <a:r>
              <a:rPr lang="en-US" altLang="zh-CN" b="1" baseline="-30000" dirty="0">
                <a:latin typeface="Times New Roman" panose="02020603050405020304" pitchFamily="18" charset="0"/>
                <a:ea typeface="微软雅黑" panose="020B0503020204020204" pitchFamily="34" charset="-122"/>
              </a:rPr>
              <a:t>2</a:t>
            </a:r>
            <a:r>
              <a:rPr lang="zh-CN" altLang="en-US" b="1" dirty="0">
                <a:latin typeface="Times New Roman" panose="02020603050405020304" pitchFamily="18" charset="0"/>
                <a:ea typeface="微软雅黑" panose="020B0503020204020204" pitchFamily="34" charset="-122"/>
              </a:rPr>
              <a:t> </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 </a:t>
            </a:r>
            <a:r>
              <a:rPr lang="en-US" altLang="zh-CN" b="1" dirty="0">
                <a:latin typeface="Times New Roman" panose="02020603050405020304" pitchFamily="18" charset="0"/>
                <a:ea typeface="微软雅黑" panose="020B0503020204020204" pitchFamily="34" charset="-122"/>
              </a:rPr>
              <a:t>…</a:t>
            </a:r>
            <a:r>
              <a:rPr lang="zh-CN" altLang="en-US" b="1" dirty="0">
                <a:latin typeface="仿宋" panose="02010609060101010101" pitchFamily="49" charset="-122"/>
                <a:ea typeface="仿宋" panose="02010609060101010101" pitchFamily="49" charset="-122"/>
              </a:rPr>
              <a:t>，</a:t>
            </a:r>
            <a:r>
              <a:rPr lang="en-US" altLang="zh-CN" b="1" i="1" dirty="0">
                <a:latin typeface="Times New Roman" panose="02020603050405020304" pitchFamily="18" charset="0"/>
                <a:ea typeface="微软雅黑" panose="020B0503020204020204" pitchFamily="34" charset="-122"/>
              </a:rPr>
              <a:t>P</a:t>
            </a:r>
            <a:r>
              <a:rPr lang="en-US" altLang="zh-CN" b="1" i="1" baseline="-30000" dirty="0">
                <a:latin typeface="Times New Roman" panose="02020603050405020304" pitchFamily="18" charset="0"/>
                <a:ea typeface="微软雅黑" panose="020B0503020204020204" pitchFamily="34" charset="-122"/>
              </a:rPr>
              <a:t>k</a:t>
            </a:r>
            <a:r>
              <a:rPr lang="zh-CN" altLang="en-US" b="1" dirty="0">
                <a:latin typeface="Times New Roman" panose="02020603050405020304" pitchFamily="18" charset="0"/>
                <a:ea typeface="微软雅黑" panose="020B0503020204020204" pitchFamily="34" charset="-122"/>
              </a:rPr>
              <a:t>线性相关</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与假设矛盾。即</a:t>
            </a:r>
            <a:r>
              <a:rPr lang="en-US" altLang="zh-CN" b="1" i="1" dirty="0">
                <a:solidFill>
                  <a:schemeClr val="hlink"/>
                </a:solidFill>
                <a:latin typeface="Times New Roman" panose="02020603050405020304" pitchFamily="18" charset="0"/>
                <a:ea typeface="微软雅黑" panose="020B0503020204020204" pitchFamily="34" charset="-122"/>
              </a:rPr>
              <a:t>x</a:t>
            </a:r>
            <a:r>
              <a:rPr lang="zh-CN" altLang="en-US" b="1" dirty="0">
                <a:solidFill>
                  <a:schemeClr val="hlink"/>
                </a:solidFill>
                <a:latin typeface="Times New Roman" panose="02020603050405020304" pitchFamily="18" charset="0"/>
                <a:ea typeface="微软雅黑" panose="020B0503020204020204" pitchFamily="34" charset="-122"/>
              </a:rPr>
              <a:t>不是基可行解</a:t>
            </a:r>
            <a:r>
              <a:rPr lang="zh-CN" altLang="en-US" b="1" dirty="0">
                <a:latin typeface="Times New Roman" panose="02020603050405020304" pitchFamily="18" charset="0"/>
                <a:ea typeface="微软雅黑" panose="020B0503020204020204" pitchFamily="34" charset="-122"/>
              </a:rPr>
              <a:t>。</a:t>
            </a:r>
            <a:endParaRPr lang="zh-CN" altLang="en-US" sz="1800" dirty="0">
              <a:latin typeface="Verdana" panose="020B0604030504040204" pitchFamily="34" charset="0"/>
              <a:ea typeface="华文楷体" panose="02010600040101010101" pitchFamily="2" charset="-122"/>
            </a:endParaRPr>
          </a:p>
        </p:txBody>
      </p:sp>
      <p:sp>
        <p:nvSpPr>
          <p:cNvPr id="49155" name="Rectangle 2"/>
          <p:cNvSpPr txBox="1">
            <a:spLocks noChangeArrowheads="1"/>
          </p:cNvSpPr>
          <p:nvPr/>
        </p:nvSpPr>
        <p:spPr bwMode="auto">
          <a:xfrm>
            <a:off x="0" y="0"/>
            <a:ext cx="9144000" cy="4762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b="1" dirty="0">
                <a:solidFill>
                  <a:schemeClr val="hlink"/>
                </a:solidFill>
                <a:latin typeface="Times New Roman" panose="02020603050405020304" pitchFamily="18" charset="0"/>
                <a:ea typeface="微软雅黑" panose="020B0503020204020204" pitchFamily="34" charset="-122"/>
              </a:rPr>
              <a:t>(2) </a:t>
            </a:r>
            <a:r>
              <a:rPr lang="zh-CN" altLang="en-US" b="1" dirty="0">
                <a:solidFill>
                  <a:schemeClr val="hlink"/>
                </a:solidFill>
                <a:latin typeface="Times New Roman" panose="02020603050405020304" pitchFamily="18" charset="0"/>
                <a:ea typeface="微软雅黑" panose="020B0503020204020204" pitchFamily="34" charset="-122"/>
              </a:rPr>
              <a:t>若</a:t>
            </a:r>
            <a:r>
              <a:rPr lang="en-US" altLang="zh-CN" b="1" i="1" dirty="0">
                <a:solidFill>
                  <a:schemeClr val="hlink"/>
                </a:solidFill>
                <a:latin typeface="Times New Roman" panose="02020603050405020304" pitchFamily="18" charset="0"/>
                <a:ea typeface="微软雅黑" panose="020B0503020204020204" pitchFamily="34" charset="-122"/>
              </a:rPr>
              <a:t>x</a:t>
            </a:r>
            <a:r>
              <a:rPr lang="zh-CN" altLang="en-US" b="1" dirty="0">
                <a:solidFill>
                  <a:schemeClr val="hlink"/>
                </a:solidFill>
                <a:latin typeface="Times New Roman" panose="02020603050405020304" pitchFamily="18" charset="0"/>
                <a:ea typeface="微软雅黑" panose="020B0503020204020204" pitchFamily="34" charset="-122"/>
              </a:rPr>
              <a:t>不是可行域</a:t>
            </a:r>
            <a:r>
              <a:rPr lang="en-US" altLang="zh-CN" b="1" i="1" dirty="0">
                <a:solidFill>
                  <a:schemeClr val="hlink"/>
                </a:solidFill>
                <a:latin typeface="Times New Roman" panose="02020603050405020304" pitchFamily="18" charset="0"/>
                <a:ea typeface="微软雅黑" panose="020B0503020204020204" pitchFamily="34" charset="-122"/>
              </a:rPr>
              <a:t>D</a:t>
            </a:r>
            <a:r>
              <a:rPr lang="zh-CN" altLang="en-US" b="1" dirty="0">
                <a:solidFill>
                  <a:schemeClr val="hlink"/>
                </a:solidFill>
                <a:latin typeface="Times New Roman" panose="02020603050405020304" pitchFamily="18" charset="0"/>
                <a:ea typeface="微软雅黑" panose="020B0503020204020204" pitchFamily="34" charset="-122"/>
              </a:rPr>
              <a:t>的顶点</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则它一定不是基可行解</a:t>
            </a:r>
          </a:p>
        </p:txBody>
      </p:sp>
      <p:sp>
        <p:nvSpPr>
          <p:cNvPr id="21507" name="Rectangle 3"/>
          <p:cNvSpPr txBox="1">
            <a:spLocks noChangeArrowheads="1"/>
          </p:cNvSpPr>
          <p:nvPr/>
        </p:nvSpPr>
        <p:spPr bwMode="auto">
          <a:xfrm>
            <a:off x="0" y="476250"/>
            <a:ext cx="9144000" cy="1657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pPr>
            <a:r>
              <a:rPr lang="zh-CN" altLang="en-US" b="1" dirty="0">
                <a:latin typeface="Times New Roman" panose="02020603050405020304" pitchFamily="18" charset="0"/>
                <a:ea typeface="微软雅黑" panose="020B0503020204020204" pitchFamily="34" charset="-122"/>
              </a:rPr>
              <a:t>因为</a:t>
            </a:r>
            <a:r>
              <a:rPr lang="en-US" altLang="zh-CN" b="1" i="1" dirty="0">
                <a:latin typeface="Times New Roman" panose="02020603050405020304" pitchFamily="18" charset="0"/>
                <a:ea typeface="微软雅黑" panose="020B0503020204020204" pitchFamily="34" charset="-122"/>
              </a:rPr>
              <a:t>x</a:t>
            </a:r>
            <a:r>
              <a:rPr lang="zh-CN" altLang="en-US" b="1" dirty="0">
                <a:latin typeface="Times New Roman" panose="02020603050405020304" pitchFamily="18" charset="0"/>
                <a:ea typeface="微软雅黑" panose="020B0503020204020204" pitchFamily="34" charset="-122"/>
              </a:rPr>
              <a:t>不是可行域</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的顶点</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故在可行域</a:t>
            </a:r>
            <a:r>
              <a:rPr lang="en-US" altLang="zh-CN" b="1" i="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中可找到不同的两点</a:t>
            </a:r>
          </a:p>
          <a:p>
            <a:pPr algn="ctr">
              <a:lnSpc>
                <a:spcPct val="90000"/>
              </a:lnSpc>
              <a:spcBef>
                <a:spcPts val="600"/>
              </a:spcBef>
              <a:buClr>
                <a:schemeClr val="accent1"/>
              </a:buClr>
              <a:buSzPct val="70000"/>
              <a:buFont typeface="Wingdings" panose="05000000000000000000" pitchFamily="2" charset="2"/>
              <a:buNone/>
            </a:pP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 …, </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a:t>
            </a:r>
            <a:r>
              <a:rPr lang="en-US" altLang="zh-CN" b="1" baseline="30000" dirty="0">
                <a:latin typeface="Times New Roman" panose="02020603050405020304" pitchFamily="18" charset="0"/>
                <a:ea typeface="微软雅黑" panose="020B0503020204020204" pitchFamily="34" charset="-122"/>
              </a:rPr>
              <a:t>T</a:t>
            </a:r>
            <a:endParaRPr lang="en-US" altLang="zh-CN" b="1" dirty="0">
              <a:latin typeface="Times New Roman" panose="02020603050405020304" pitchFamily="18" charset="0"/>
              <a:ea typeface="微软雅黑" panose="020B0503020204020204" pitchFamily="34" charset="-122"/>
            </a:endParaRPr>
          </a:p>
          <a:p>
            <a:pPr algn="ctr">
              <a:lnSpc>
                <a:spcPct val="90000"/>
              </a:lnSpc>
              <a:spcBef>
                <a:spcPts val="600"/>
              </a:spcBef>
              <a:buClr>
                <a:schemeClr val="accent1"/>
              </a:buClr>
              <a:buSzPct val="70000"/>
              <a:buFont typeface="Wingdings" panose="05000000000000000000" pitchFamily="2" charset="2"/>
              <a:buNone/>
            </a:pP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 </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a:t>
            </a:r>
            <a:r>
              <a:rPr lang="en-US" altLang="zh-CN" b="1" baseline="30000" dirty="0">
                <a:latin typeface="Times New Roman" panose="02020603050405020304" pitchFamily="18" charset="0"/>
                <a:ea typeface="微软雅黑" panose="020B0503020204020204" pitchFamily="34" charset="-122"/>
              </a:rPr>
              <a:t>T</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使 </a:t>
            </a:r>
            <a:r>
              <a:rPr lang="en-US" altLang="zh-CN" b="1" i="1" dirty="0">
                <a:latin typeface="Times New Roman" panose="02020603050405020304" pitchFamily="18" charset="0"/>
                <a:ea typeface="微软雅黑" panose="020B0503020204020204" pitchFamily="34" charset="-122"/>
              </a:rPr>
              <a:t>x</a:t>
            </a:r>
            <a:r>
              <a:rPr lang="en-US" altLang="zh-CN" b="1" dirty="0">
                <a:latin typeface="Times New Roman" panose="02020603050405020304" pitchFamily="18" charset="0"/>
                <a:ea typeface="微软雅黑" panose="020B0503020204020204" pitchFamily="34" charset="-122"/>
              </a:rPr>
              <a:t>=α</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(1)</a:t>
            </a:r>
            <a:r>
              <a:rPr lang="en-US" altLang="zh-CN" b="1" dirty="0">
                <a:latin typeface="Times New Roman" panose="02020603050405020304" pitchFamily="18" charset="0"/>
                <a:ea typeface="微软雅黑" panose="020B0503020204020204" pitchFamily="34" charset="-122"/>
              </a:rPr>
              <a:t>+(1-α) </a:t>
            </a:r>
            <a:r>
              <a:rPr lang="en-US" altLang="zh-CN" b="1" i="1" dirty="0">
                <a:latin typeface="Times New Roman" panose="02020603050405020304" pitchFamily="18" charset="0"/>
                <a:ea typeface="微软雅黑" panose="020B0503020204020204" pitchFamily="34" charset="-122"/>
              </a:rPr>
              <a:t>x</a:t>
            </a:r>
            <a:r>
              <a:rPr lang="en-US" altLang="zh-CN" b="1" baseline="30000" dirty="0">
                <a:latin typeface="Times New Roman" panose="02020603050405020304" pitchFamily="18" charset="0"/>
                <a:ea typeface="微软雅黑" panose="020B0503020204020204" pitchFamily="34" charset="-122"/>
              </a:rPr>
              <a:t>(2)</a:t>
            </a:r>
            <a:r>
              <a:rPr lang="en-US" altLang="zh-CN" b="1" dirty="0">
                <a:latin typeface="Times New Roman" panose="02020603050405020304" pitchFamily="18" charset="0"/>
                <a:ea typeface="微软雅黑" panose="020B0503020204020204" pitchFamily="34" charset="-122"/>
              </a:rPr>
              <a:t> </a:t>
            </a:r>
            <a:r>
              <a:rPr lang="zh-CN" altLang="en-US" b="1" dirty="0">
                <a:latin typeface="仿宋" panose="02010609060101010101" pitchFamily="49" charset="-122"/>
                <a:ea typeface="仿宋" panose="02010609060101010101" pitchFamily="49" charset="-122"/>
              </a:rPr>
              <a:t>，</a:t>
            </a:r>
            <a:r>
              <a:rPr lang="zh-CN" altLang="en-US" b="1" baseline="30000" dirty="0">
                <a:latin typeface="Times New Roman" panose="02020603050405020304" pitchFamily="18" charset="0"/>
                <a:ea typeface="微软雅黑" panose="020B0503020204020204" pitchFamily="34" charset="-122"/>
              </a:rPr>
              <a:t> </a:t>
            </a:r>
            <a:r>
              <a:rPr lang="en-US" altLang="zh-CN" b="1" dirty="0">
                <a:latin typeface="Times New Roman" panose="02020603050405020304" pitchFamily="18" charset="0"/>
                <a:ea typeface="微软雅黑" panose="020B0503020204020204" pitchFamily="34" charset="-122"/>
              </a:rPr>
              <a:t>0</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α</a:t>
            </a:r>
            <a:r>
              <a:rPr lang="zh-CN" altLang="en-US" b="1" dirty="0">
                <a:latin typeface="Times New Roman" panose="02020603050405020304" pitchFamily="18" charset="0"/>
                <a:ea typeface="微软雅黑" panose="020B0503020204020204" pitchFamily="34" charset="-122"/>
              </a:rPr>
              <a:t>＜</a:t>
            </a:r>
            <a:r>
              <a:rPr lang="en-US" altLang="zh-CN" b="1" dirty="0">
                <a:latin typeface="Times New Roman" panose="02020603050405020304" pitchFamily="18" charset="0"/>
                <a:ea typeface="微软雅黑" panose="020B0503020204020204" pitchFamily="34" charset="-122"/>
              </a:rPr>
              <a:t>1</a:t>
            </a:r>
          </a:p>
        </p:txBody>
      </p:sp>
      <p:sp>
        <p:nvSpPr>
          <p:cNvPr id="21508" name="Rectangle 3"/>
          <p:cNvSpPr txBox="1">
            <a:spLocks noChangeArrowheads="1"/>
          </p:cNvSpPr>
          <p:nvPr/>
        </p:nvSpPr>
        <p:spPr bwMode="auto">
          <a:xfrm>
            <a:off x="0" y="2133600"/>
            <a:ext cx="9144000" cy="10080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1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设</a:t>
            </a:r>
            <a:r>
              <a:rPr lang="en-US" altLang="zh-CN" b="1" i="1">
                <a:solidFill>
                  <a:schemeClr val="hlink"/>
                </a:solidFill>
                <a:latin typeface="Times New Roman" panose="02020603050405020304" pitchFamily="18" charset="0"/>
                <a:ea typeface="微软雅黑" panose="020B0503020204020204" pitchFamily="34" charset="-122"/>
              </a:rPr>
              <a:t>x</a:t>
            </a:r>
            <a:r>
              <a:rPr lang="zh-CN" altLang="en-US" b="1">
                <a:solidFill>
                  <a:schemeClr val="hlink"/>
                </a:solidFill>
                <a:latin typeface="Times New Roman" panose="02020603050405020304" pitchFamily="18" charset="0"/>
                <a:ea typeface="微软雅黑" panose="020B0503020204020204" pitchFamily="34" charset="-122"/>
              </a:rPr>
              <a:t>是基可行解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对应向量组</a:t>
            </a:r>
            <a:r>
              <a:rPr lang="en-US" altLang="zh-CN" b="1" i="1">
                <a:latin typeface="Times New Roman" panose="02020603050405020304" pitchFamily="18" charset="0"/>
                <a:ea typeface="微软雅黑" panose="020B0503020204020204" pitchFamily="34" charset="-122"/>
              </a:rPr>
              <a:t>P</a:t>
            </a:r>
            <a:r>
              <a:rPr lang="en-US" altLang="zh-CN" b="1" baseline="-30000">
                <a:latin typeface="Times New Roman" panose="02020603050405020304" pitchFamily="18" charset="0"/>
                <a:ea typeface="微软雅黑" panose="020B0503020204020204" pitchFamily="34" charset="-122"/>
              </a:rPr>
              <a:t>1</a:t>
            </a:r>
            <a:r>
              <a:rPr lang="en-US" altLang="zh-CN" b="1">
                <a:latin typeface="Times New Roman" panose="02020603050405020304" pitchFamily="18" charset="0"/>
                <a:ea typeface="微软雅黑" panose="020B0503020204020204" pitchFamily="34" charset="-122"/>
              </a:rPr>
              <a:t>, …, </a:t>
            </a:r>
            <a:r>
              <a:rPr lang="en-US" altLang="zh-CN" b="1" i="1">
                <a:latin typeface="Times New Roman" panose="02020603050405020304" pitchFamily="18" charset="0"/>
                <a:ea typeface="微软雅黑" panose="020B0503020204020204" pitchFamily="34" charset="-122"/>
              </a:rPr>
              <a:t>P</a:t>
            </a:r>
            <a:r>
              <a:rPr lang="en-US" altLang="zh-CN" b="1" i="1" baseline="-30000">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线性独立。当</a:t>
            </a:r>
            <a:r>
              <a:rPr lang="en-US" altLang="zh-CN" b="1" i="1">
                <a:latin typeface="Times New Roman" panose="02020603050405020304" pitchFamily="18" charset="0"/>
                <a:ea typeface="微软雅黑" panose="020B0503020204020204" pitchFamily="34" charset="-122"/>
              </a:rPr>
              <a:t>j</a:t>
            </a:r>
            <a:r>
              <a:rPr lang="zh-CN" altLang="en-US" b="1">
                <a:latin typeface="Times New Roman" panose="02020603050405020304" pitchFamily="18" charset="0"/>
                <a:ea typeface="微软雅黑" panose="020B0503020204020204" pitchFamily="34" charset="-122"/>
              </a:rPr>
              <a:t>＞</a:t>
            </a:r>
            <a:r>
              <a:rPr lang="en-US" altLang="zh-CN" b="1" i="1">
                <a:latin typeface="Times New Roman" panose="02020603050405020304" pitchFamily="18" charset="0"/>
                <a:ea typeface="微软雅黑" panose="020B0503020204020204" pitchFamily="34" charset="-122"/>
              </a:rPr>
              <a:t>k</a:t>
            </a:r>
            <a:r>
              <a:rPr lang="zh-CN" altLang="en-US" b="1">
                <a:latin typeface="Times New Roman" panose="02020603050405020304" pitchFamily="18" charset="0"/>
                <a:ea typeface="微软雅黑" panose="020B0503020204020204" pitchFamily="34" charset="-122"/>
              </a:rPr>
              <a:t>时</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有</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baseline="30000">
                <a:solidFill>
                  <a:schemeClr val="hlink"/>
                </a:solidFill>
                <a:latin typeface="Times New Roman" panose="02020603050405020304" pitchFamily="18" charset="0"/>
                <a:ea typeface="微软雅黑" panose="020B0503020204020204" pitchFamily="34" charset="-122"/>
              </a:rPr>
              <a:t>(1)</a:t>
            </a:r>
            <a:r>
              <a:rPr lang="en-US" altLang="zh-CN" b="1">
                <a:solidFill>
                  <a:schemeClr val="hlink"/>
                </a:solidFill>
                <a:latin typeface="Times New Roman" panose="02020603050405020304" pitchFamily="18" charset="0"/>
                <a:ea typeface="微软雅黑" panose="020B0503020204020204" pitchFamily="34" charset="-122"/>
              </a:rPr>
              <a:t>=</a:t>
            </a:r>
            <a:r>
              <a:rPr lang="en-US" altLang="zh-CN" b="1" i="1">
                <a:solidFill>
                  <a:schemeClr val="hlink"/>
                </a:solidFill>
                <a:latin typeface="Times New Roman" panose="02020603050405020304" pitchFamily="18" charset="0"/>
                <a:ea typeface="微软雅黑" panose="020B0503020204020204" pitchFamily="34" charset="-122"/>
              </a:rPr>
              <a:t>x</a:t>
            </a:r>
            <a:r>
              <a:rPr lang="en-US" altLang="zh-CN" b="1" i="1" baseline="-30000">
                <a:solidFill>
                  <a:schemeClr val="hlink"/>
                </a:solidFill>
                <a:latin typeface="Times New Roman" panose="02020603050405020304" pitchFamily="18" charset="0"/>
                <a:ea typeface="微软雅黑" panose="020B0503020204020204" pitchFamily="34" charset="-122"/>
              </a:rPr>
              <a:t>j</a:t>
            </a:r>
            <a:r>
              <a:rPr lang="en-US" altLang="zh-CN" b="1" baseline="30000">
                <a:solidFill>
                  <a:schemeClr val="hlink"/>
                </a:solidFill>
                <a:latin typeface="Times New Roman" panose="02020603050405020304" pitchFamily="18" charset="0"/>
                <a:ea typeface="微软雅黑" panose="020B0503020204020204" pitchFamily="34" charset="-122"/>
              </a:rPr>
              <a:t>(2)</a:t>
            </a:r>
            <a:r>
              <a:rPr lang="en-US" altLang="zh-CN" b="1">
                <a:solidFill>
                  <a:schemeClr val="hlink"/>
                </a:solidFill>
                <a:latin typeface="Times New Roman" panose="02020603050405020304" pitchFamily="18" charset="0"/>
                <a:ea typeface="微软雅黑" panose="020B0503020204020204" pitchFamily="34" charset="-122"/>
              </a:rPr>
              <a:t>=0</a:t>
            </a:r>
            <a:endParaRPr lang="en-US" altLang="zh-CN" b="1">
              <a:latin typeface="Times New Roman" panose="02020603050405020304" pitchFamily="18" charset="0"/>
              <a:ea typeface="微软雅黑" panose="020B0503020204020204" pitchFamily="34" charset="-122"/>
            </a:endParaRPr>
          </a:p>
        </p:txBody>
      </p:sp>
      <p:graphicFrame>
        <p:nvGraphicFramePr>
          <p:cNvPr id="21509" name="Object 5"/>
          <p:cNvGraphicFramePr>
            <a:graphicFrameLocks noChangeAspect="1"/>
          </p:cNvGraphicFramePr>
          <p:nvPr/>
        </p:nvGraphicFramePr>
        <p:xfrm>
          <a:off x="2262188" y="3155950"/>
          <a:ext cx="3968750" cy="1049338"/>
        </p:xfrm>
        <a:graphic>
          <a:graphicData uri="http://schemas.openxmlformats.org/presentationml/2006/ole">
            <mc:AlternateContent xmlns:mc="http://schemas.openxmlformats.org/markup-compatibility/2006">
              <mc:Choice xmlns:v="urn:schemas-microsoft-com:vml" Requires="v">
                <p:oleObj spid="_x0000_s49210" name="Equation" r:id="rId3" imgW="1968500" imgH="444500" progId="Equation.DSMT4">
                  <p:embed/>
                </p:oleObj>
              </mc:Choice>
              <mc:Fallback>
                <p:oleObj name="Equation" r:id="rId3" imgW="1968500" imgH="4445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2188" y="3155950"/>
                        <a:ext cx="3968750" cy="104933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0" name="TextBox 2"/>
          <p:cNvSpPr txBox="1">
            <a:spLocks noChangeArrowheads="1"/>
          </p:cNvSpPr>
          <p:nvPr/>
        </p:nvSpPr>
        <p:spPr bwMode="auto">
          <a:xfrm>
            <a:off x="1" y="4267200"/>
            <a:ext cx="9144000" cy="457200"/>
          </a:xfrm>
          <a:prstGeom prst="rect">
            <a:avLst/>
          </a:prstGeom>
          <a:solidFill>
            <a:srgbClr val="02E6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华文楷体" panose="02010600040101010101" pitchFamily="2" charset="-122"/>
                <a:ea typeface="微软雅黑" panose="020B0503020204020204" pitchFamily="34" charset="-122"/>
              </a:rPr>
              <a:t>将这两式相减</a:t>
            </a:r>
            <a:r>
              <a:rPr lang="zh-CN" altLang="en-US" b="1">
                <a:latin typeface="仿宋" panose="02010609060101010101" pitchFamily="49" charset="-122"/>
                <a:ea typeface="仿宋" panose="02010609060101010101" pitchFamily="49" charset="-122"/>
              </a:rPr>
              <a:t>，</a:t>
            </a:r>
            <a:r>
              <a:rPr lang="zh-CN" altLang="en-US" b="1">
                <a:latin typeface="华文楷体" panose="02010600040101010101" pitchFamily="2" charset="-122"/>
                <a:ea typeface="微软雅黑" panose="020B0503020204020204" pitchFamily="34" charset="-122"/>
              </a:rPr>
              <a:t>即得</a:t>
            </a:r>
            <a:endParaRPr lang="zh-CN" altLang="en-US" b="1">
              <a:latin typeface="Verdana" panose="020B0604030504040204" pitchFamily="34" charset="0"/>
              <a:ea typeface="微软雅黑" panose="020B0503020204020204" pitchFamily="34" charset="-122"/>
            </a:endParaRPr>
          </a:p>
        </p:txBody>
      </p:sp>
      <p:graphicFrame>
        <p:nvGraphicFramePr>
          <p:cNvPr id="21511" name="Object 7"/>
          <p:cNvGraphicFramePr>
            <a:graphicFrameLocks noChangeAspect="1"/>
          </p:cNvGraphicFramePr>
          <p:nvPr/>
        </p:nvGraphicFramePr>
        <p:xfrm>
          <a:off x="2193925" y="4738688"/>
          <a:ext cx="4108450" cy="1050925"/>
        </p:xfrm>
        <a:graphic>
          <a:graphicData uri="http://schemas.openxmlformats.org/presentationml/2006/ole">
            <mc:AlternateContent xmlns:mc="http://schemas.openxmlformats.org/markup-compatibility/2006">
              <mc:Choice xmlns:v="urn:schemas-microsoft-com:vml" Requires="v">
                <p:oleObj spid="_x0000_s49211" name="Equation" r:id="rId5" imgW="1256665" imgH="444500" progId="Equation.DSMT4">
                  <p:embed/>
                </p:oleObj>
              </mc:Choice>
              <mc:Fallback>
                <p:oleObj name="Equation" r:id="rId5" imgW="1256665" imgH="4445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3925" y="4738688"/>
                        <a:ext cx="4108450" cy="105092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矩形 10"/>
          <p:cNvSpPr>
            <a:spLocks noChangeArrowheads="1"/>
          </p:cNvSpPr>
          <p:nvPr/>
        </p:nvSpPr>
        <p:spPr bwMode="auto">
          <a:xfrm>
            <a:off x="2627313" y="2565400"/>
            <a:ext cx="5976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由于</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(1)</a:t>
            </a:r>
            <a:r>
              <a:rPr lang="zh-CN" altLang="en-US" b="1">
                <a:latin typeface="仿宋" panose="02010609060101010101" pitchFamily="49" charset="-122"/>
                <a:ea typeface="仿宋" panose="02010609060101010101" pitchFamily="49" charset="-122"/>
              </a:rPr>
              <a:t>，</a:t>
            </a:r>
            <a:r>
              <a:rPr lang="en-US" altLang="zh-CN" b="1" i="1">
                <a:latin typeface="Times New Roman" panose="02020603050405020304" pitchFamily="18" charset="0"/>
                <a:ea typeface="微软雅黑" panose="020B0503020204020204" pitchFamily="34" charset="-122"/>
              </a:rPr>
              <a:t>x</a:t>
            </a:r>
            <a:r>
              <a:rPr lang="en-US" altLang="zh-CN" b="1" baseline="30000">
                <a:latin typeface="Times New Roman" panose="02020603050405020304" pitchFamily="18" charset="0"/>
                <a:ea typeface="微软雅黑" panose="020B0503020204020204" pitchFamily="34" charset="-122"/>
              </a:rPr>
              <a:t>(2)</a:t>
            </a:r>
            <a:r>
              <a:rPr lang="zh-CN" altLang="en-US" b="1">
                <a:latin typeface="Times New Roman" panose="02020603050405020304" pitchFamily="18" charset="0"/>
                <a:ea typeface="微软雅黑" panose="020B0503020204020204" pitchFamily="34" charset="-122"/>
              </a:rPr>
              <a:t>是可行域的两点</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应满足</a:t>
            </a:r>
            <a:endParaRPr lang="zh-CN" altLang="en-US">
              <a:ea typeface="微软雅黑" panose="020B0503020204020204" pitchFamily="34" charset="-122"/>
            </a:endParaRPr>
          </a:p>
        </p:txBody>
      </p:sp>
      <p:sp>
        <p:nvSpPr>
          <p:cNvPr id="2" name="矩形 1"/>
          <p:cNvSpPr>
            <a:spLocks noChangeArrowheads="1"/>
          </p:cNvSpPr>
          <p:nvPr/>
        </p:nvSpPr>
        <p:spPr bwMode="auto">
          <a:xfrm>
            <a:off x="4000500" y="3429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rPr>
              <a:t>与</a:t>
            </a:r>
            <a:endParaRPr lang="zh-CN" altLang="en-US"/>
          </a:p>
        </p:txBody>
      </p:sp>
      <p:sp>
        <p:nvSpPr>
          <p:cNvPr id="3" name="灯片编号占位符 2"/>
          <p:cNvSpPr>
            <a:spLocks noGrp="1"/>
          </p:cNvSpPr>
          <p:nvPr>
            <p:ph type="sldNum" sz="quarter" idx="12"/>
          </p:nvPr>
        </p:nvSpPr>
        <p:spPr>
          <a:xfrm>
            <a:off x="7239000" y="6448425"/>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102</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511"/>
                                        </p:tgtEl>
                                        <p:attrNameLst>
                                          <p:attrName>style.visibility</p:attrName>
                                        </p:attrNameLst>
                                      </p:cBhvr>
                                      <p:to>
                                        <p:strVal val="visible"/>
                                      </p:to>
                                    </p:set>
                                    <p:animEffect transition="in" filter="fade">
                                      <p:cBhvr>
                                        <p:cTn id="7" dur="1000"/>
                                        <p:tgtEl>
                                          <p:spTgt spid="21511"/>
                                        </p:tgtEl>
                                      </p:cBhvr>
                                    </p:animEffect>
                                    <p:anim calcmode="lin" valueType="num">
                                      <p:cBhvr>
                                        <p:cTn id="8" dur="1000" fill="hold"/>
                                        <p:tgtEl>
                                          <p:spTgt spid="21511"/>
                                        </p:tgtEl>
                                        <p:attrNameLst>
                                          <p:attrName>ppt_x</p:attrName>
                                        </p:attrNameLst>
                                      </p:cBhvr>
                                      <p:tavLst>
                                        <p:tav tm="0">
                                          <p:val>
                                            <p:strVal val="#ppt_x"/>
                                          </p:val>
                                        </p:tav>
                                        <p:tav tm="100000">
                                          <p:val>
                                            <p:strVal val="#ppt_x"/>
                                          </p:val>
                                        </p:tav>
                                      </p:tavLst>
                                    </p:anim>
                                    <p:anim calcmode="lin" valueType="num">
                                      <p:cBhvr>
                                        <p:cTn id="9" dur="1000" fill="hold"/>
                                        <p:tgtEl>
                                          <p:spTgt spid="215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1512"/>
                                        </p:tgtEl>
                                        <p:attrNameLst>
                                          <p:attrName>style.visibility</p:attrName>
                                        </p:attrNameLst>
                                      </p:cBhvr>
                                      <p:to>
                                        <p:strVal val="visible"/>
                                      </p:to>
                                    </p:set>
                                    <p:animEffect transition="in" filter="dissolve">
                                      <p:cBhvr>
                                        <p:cTn id="14" dur="500"/>
                                        <p:tgtEl>
                                          <p:spTgt spid="21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3"/>
          <p:cNvSpPr>
            <a:spLocks noChangeArrowheads="1"/>
          </p:cNvSpPr>
          <p:nvPr/>
        </p:nvSpPr>
        <p:spPr bwMode="auto">
          <a:xfrm>
            <a:off x="-4763" y="-100013"/>
            <a:ext cx="9144001" cy="1689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b="1">
                <a:latin typeface="微软雅黑" panose="020B0503020204020204" pitchFamily="34" charset="-122"/>
                <a:ea typeface="微软雅黑" panose="020B0503020204020204" pitchFamily="34" charset="-122"/>
              </a:rPr>
              <a:t>有时目标函数可能在多个顶点处达到最大</a:t>
            </a:r>
            <a:r>
              <a:rPr lang="zh-CN" altLang="en-US" b="1">
                <a:latin typeface="仿宋" panose="02010609060101010101" pitchFamily="49" charset="-122"/>
                <a:ea typeface="仿宋" panose="02010609060101010101" pitchFamily="49" charset="-122"/>
              </a:rPr>
              <a:t>；</a:t>
            </a:r>
            <a:r>
              <a:rPr lang="zh-CN" altLang="en-US" b="1">
                <a:latin typeface="微软雅黑" panose="020B0503020204020204" pitchFamily="34" charset="-122"/>
                <a:ea typeface="微软雅黑" panose="020B0503020204020204" pitchFamily="34" charset="-122"/>
              </a:rPr>
              <a:t>这时在这些顶点的凸组合上也达到最大值</a:t>
            </a:r>
            <a:endParaRPr lang="en-US" altLang="zh-CN" b="1">
              <a:latin typeface="微软雅黑" panose="020B0503020204020204" pitchFamily="34" charset="-122"/>
              <a:ea typeface="微软雅黑" panose="020B0503020204020204" pitchFamily="34" charset="-122"/>
            </a:endParaRPr>
          </a:p>
          <a:p>
            <a:pPr eaLnBrk="1" hangingPunct="1">
              <a:lnSpc>
                <a:spcPct val="150000"/>
              </a:lnSpc>
            </a:pPr>
            <a:r>
              <a:rPr lang="zh-CN" altLang="en-US" b="1">
                <a:latin typeface="微软雅黑" panose="020B0503020204020204" pitchFamily="34" charset="-122"/>
                <a:ea typeface="微软雅黑" panose="020B0503020204020204" pitchFamily="34" charset="-122"/>
              </a:rPr>
              <a:t>称这种线性规划问题</a:t>
            </a:r>
            <a:r>
              <a:rPr lang="zh-CN" altLang="en-US" b="1">
                <a:solidFill>
                  <a:schemeClr val="hlink"/>
                </a:solidFill>
                <a:latin typeface="微软雅黑" panose="020B0503020204020204" pitchFamily="34" charset="-122"/>
                <a:ea typeface="微软雅黑" panose="020B0503020204020204" pitchFamily="34" charset="-122"/>
              </a:rPr>
              <a:t>有无限多个最优解</a:t>
            </a:r>
          </a:p>
        </p:txBody>
      </p:sp>
      <p:sp>
        <p:nvSpPr>
          <p:cNvPr id="50179" name="矩形 1"/>
          <p:cNvSpPr>
            <a:spLocks noChangeArrowheads="1"/>
          </p:cNvSpPr>
          <p:nvPr/>
        </p:nvSpPr>
        <p:spPr bwMode="auto">
          <a:xfrm>
            <a:off x="-4763" y="1527175"/>
            <a:ext cx="9144001"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b="1">
                <a:latin typeface="微软雅黑" panose="020B0503020204020204" pitchFamily="34" charset="-122"/>
                <a:ea typeface="微软雅黑" panose="020B0503020204020204" pitchFamily="34" charset="-122"/>
              </a:rPr>
              <a:t>假设                                      是目标函数达到最大值的顶点</a:t>
            </a:r>
            <a:endParaRPr lang="en-US" altLang="zh-CN" b="1">
              <a:latin typeface="仿宋" panose="02010609060101010101" pitchFamily="49" charset="-122"/>
              <a:ea typeface="仿宋" panose="02010609060101010101" pitchFamily="49" charset="-122"/>
            </a:endParaRPr>
          </a:p>
          <a:p>
            <a:pPr eaLnBrk="1" hangingPunct="1">
              <a:lnSpc>
                <a:spcPct val="150000"/>
              </a:lnSpc>
            </a:pPr>
            <a:r>
              <a:rPr lang="zh-CN" altLang="en-US" b="1">
                <a:latin typeface="微软雅黑" panose="020B0503020204020204" pitchFamily="34" charset="-122"/>
                <a:ea typeface="微软雅黑" panose="020B0503020204020204" pitchFamily="34" charset="-122"/>
              </a:rPr>
              <a:t>若      是这些顶点的凸组合</a:t>
            </a:r>
            <a:r>
              <a:rPr lang="zh-CN" altLang="en-US" b="1">
                <a:latin typeface="仿宋" panose="02010609060101010101" pitchFamily="49" charset="-122"/>
                <a:ea typeface="仿宋" panose="02010609060101010101" pitchFamily="49" charset="-122"/>
              </a:rPr>
              <a:t>，</a:t>
            </a:r>
            <a:r>
              <a:rPr lang="zh-CN" altLang="en-US" b="1">
                <a:latin typeface="微软雅黑" panose="020B0503020204020204" pitchFamily="34" charset="-122"/>
                <a:ea typeface="微软雅黑" panose="020B0503020204020204" pitchFamily="34" charset="-122"/>
              </a:rPr>
              <a:t>即</a:t>
            </a:r>
          </a:p>
        </p:txBody>
      </p:sp>
      <p:graphicFrame>
        <p:nvGraphicFramePr>
          <p:cNvPr id="50180" name="Object 6"/>
          <p:cNvGraphicFramePr>
            <a:graphicFrameLocks noChangeAspect="1"/>
          </p:cNvGraphicFramePr>
          <p:nvPr/>
        </p:nvGraphicFramePr>
        <p:xfrm>
          <a:off x="1993900" y="2533650"/>
          <a:ext cx="4267200" cy="1016000"/>
        </p:xfrm>
        <a:graphic>
          <a:graphicData uri="http://schemas.openxmlformats.org/presentationml/2006/ole">
            <mc:AlternateContent xmlns:mc="http://schemas.openxmlformats.org/markup-compatibility/2006">
              <mc:Choice xmlns:v="urn:schemas-microsoft-com:vml" Requires="v">
                <p:oleObj spid="_x0000_s48384" name="Equation" r:id="rId3" imgW="1866900" imgH="444500" progId="Equation.DSMT4">
                  <p:embed/>
                </p:oleObj>
              </mc:Choice>
              <mc:Fallback>
                <p:oleObj name="Equation" r:id="rId3" imgW="1866900" imgH="4445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3900" y="2533650"/>
                        <a:ext cx="42672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1" name="Object 7"/>
          <p:cNvGraphicFramePr>
            <a:graphicFrameLocks noChangeAspect="1"/>
          </p:cNvGraphicFramePr>
          <p:nvPr/>
        </p:nvGraphicFramePr>
        <p:xfrm>
          <a:off x="417513" y="2138363"/>
          <a:ext cx="409575" cy="469900"/>
        </p:xfrm>
        <a:graphic>
          <a:graphicData uri="http://schemas.openxmlformats.org/presentationml/2006/ole">
            <mc:AlternateContent xmlns:mc="http://schemas.openxmlformats.org/markup-compatibility/2006">
              <mc:Choice xmlns:v="urn:schemas-microsoft-com:vml" Requires="v">
                <p:oleObj spid="_x0000_s48385" r:id="rId5" imgW="177800" imgH="203200" progId="Equation.DSMT4">
                  <p:embed/>
                </p:oleObj>
              </mc:Choice>
              <mc:Fallback>
                <p:oleObj r:id="rId5" imgW="177800" imgH="203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513" y="2138363"/>
                        <a:ext cx="40957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5" name="Rectangle 6"/>
          <p:cNvSpPr>
            <a:spLocks noChangeArrowheads="1"/>
          </p:cNvSpPr>
          <p:nvPr/>
        </p:nvSpPr>
        <p:spPr bwMode="auto">
          <a:xfrm>
            <a:off x="827088" y="3429000"/>
            <a:ext cx="1103312" cy="457200"/>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于是：</a:t>
            </a:r>
          </a:p>
        </p:txBody>
      </p:sp>
      <p:graphicFrame>
        <p:nvGraphicFramePr>
          <p:cNvPr id="24586" name="Object 10"/>
          <p:cNvGraphicFramePr>
            <a:graphicFrameLocks noChangeAspect="1"/>
          </p:cNvGraphicFramePr>
          <p:nvPr/>
        </p:nvGraphicFramePr>
        <p:xfrm>
          <a:off x="1908175" y="3716338"/>
          <a:ext cx="4352925" cy="1058862"/>
        </p:xfrm>
        <a:graphic>
          <a:graphicData uri="http://schemas.openxmlformats.org/presentationml/2006/ole">
            <mc:AlternateContent xmlns:mc="http://schemas.openxmlformats.org/markup-compatibility/2006">
              <mc:Choice xmlns:v="urn:schemas-microsoft-com:vml" Requires="v">
                <p:oleObj spid="_x0000_s48386" name="Equation" r:id="rId7" imgW="1638300" imgH="444500" progId="Equation.DSMT4">
                  <p:embed/>
                </p:oleObj>
              </mc:Choice>
              <mc:Fallback>
                <p:oleObj name="Equation" r:id="rId7" imgW="1638300" imgH="4445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3716338"/>
                        <a:ext cx="4352925" cy="1058862"/>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7" name="Object 11"/>
          <p:cNvGraphicFramePr>
            <a:graphicFrameLocks noChangeAspect="1"/>
          </p:cNvGraphicFramePr>
          <p:nvPr/>
        </p:nvGraphicFramePr>
        <p:xfrm>
          <a:off x="1919288" y="4954588"/>
          <a:ext cx="4341812" cy="669925"/>
        </p:xfrm>
        <a:graphic>
          <a:graphicData uri="http://schemas.openxmlformats.org/presentationml/2006/ole">
            <mc:AlternateContent xmlns:mc="http://schemas.openxmlformats.org/markup-compatibility/2006">
              <mc:Choice xmlns:v="urn:schemas-microsoft-com:vml" Requires="v">
                <p:oleObj spid="_x0000_s48387" name="Equation" r:id="rId9" imgW="1638300" imgH="241300" progId="Equation.DSMT4">
                  <p:embed/>
                </p:oleObj>
              </mc:Choice>
              <mc:Fallback>
                <p:oleObj name="Equation" r:id="rId9" imgW="1638300" imgH="2413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9288" y="4954588"/>
                        <a:ext cx="4341812" cy="66992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8" name="Rectangle 9"/>
          <p:cNvSpPr>
            <a:spLocks noChangeArrowheads="1"/>
          </p:cNvSpPr>
          <p:nvPr/>
        </p:nvSpPr>
        <p:spPr bwMode="auto">
          <a:xfrm>
            <a:off x="827089" y="4652963"/>
            <a:ext cx="1085850" cy="457200"/>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设：</a:t>
            </a:r>
          </a:p>
        </p:txBody>
      </p:sp>
      <p:graphicFrame>
        <p:nvGraphicFramePr>
          <p:cNvPr id="24589" name="Object 13"/>
          <p:cNvGraphicFramePr>
            <a:graphicFrameLocks noChangeAspect="1"/>
          </p:cNvGraphicFramePr>
          <p:nvPr/>
        </p:nvGraphicFramePr>
        <p:xfrm>
          <a:off x="1889125" y="5756275"/>
          <a:ext cx="4381500" cy="1085850"/>
        </p:xfrm>
        <a:graphic>
          <a:graphicData uri="http://schemas.openxmlformats.org/presentationml/2006/ole">
            <mc:AlternateContent xmlns:mc="http://schemas.openxmlformats.org/markup-compatibility/2006">
              <mc:Choice xmlns:v="urn:schemas-microsoft-com:vml" Requires="v">
                <p:oleObj spid="_x0000_s48388" name="Equation" r:id="rId11" imgW="1422400" imgH="431800" progId="Equation.DSMT4">
                  <p:embed/>
                </p:oleObj>
              </mc:Choice>
              <mc:Fallback>
                <p:oleObj name="Equation" r:id="rId11" imgW="1422400" imgH="4318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9125" y="5756275"/>
                        <a:ext cx="4381500" cy="1085850"/>
                      </a:xfrm>
                      <a:prstGeom prst="rect">
                        <a:avLst/>
                      </a:prstGeom>
                      <a:solidFill>
                        <a:srgbClr val="99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90" name="Rectangle 9"/>
          <p:cNvSpPr>
            <a:spLocks noChangeArrowheads="1"/>
          </p:cNvSpPr>
          <p:nvPr/>
        </p:nvSpPr>
        <p:spPr bwMode="auto">
          <a:xfrm>
            <a:off x="827088" y="5373688"/>
            <a:ext cx="1103312" cy="457200"/>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于是：</a:t>
            </a:r>
          </a:p>
        </p:txBody>
      </p:sp>
      <p:graphicFrame>
        <p:nvGraphicFramePr>
          <p:cNvPr id="50188" name="Object 6"/>
          <p:cNvGraphicFramePr>
            <a:graphicFrameLocks noChangeAspect="1"/>
          </p:cNvGraphicFramePr>
          <p:nvPr/>
        </p:nvGraphicFramePr>
        <p:xfrm>
          <a:off x="703263" y="1584325"/>
          <a:ext cx="3338512" cy="552450"/>
        </p:xfrm>
        <a:graphic>
          <a:graphicData uri="http://schemas.openxmlformats.org/presentationml/2006/ole">
            <mc:AlternateContent xmlns:mc="http://schemas.openxmlformats.org/markup-compatibility/2006">
              <mc:Choice xmlns:v="urn:schemas-microsoft-com:vml" Requires="v">
                <p:oleObj spid="_x0000_s48389" name="Equation" r:id="rId13" imgW="1459865" imgH="241300" progId="Equation.DSMT4">
                  <p:embed/>
                </p:oleObj>
              </mc:Choice>
              <mc:Fallback>
                <p:oleObj name="Equation" r:id="rId13" imgW="1459865" imgH="2413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3263" y="1584325"/>
                        <a:ext cx="3338512"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a:xfrm>
            <a:off x="7234238" y="6384925"/>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103</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5"/>
                                        </p:tgtEl>
                                        <p:attrNameLst>
                                          <p:attrName>style.visibility</p:attrName>
                                        </p:attrNameLst>
                                      </p:cBhvr>
                                      <p:to>
                                        <p:strVal val="visible"/>
                                      </p:to>
                                    </p:set>
                                    <p:animEffect transition="in" filter="blinds(horizontal)">
                                      <p:cBhvr>
                                        <p:cTn id="7" dur="500"/>
                                        <p:tgtEl>
                                          <p:spTgt spid="24585"/>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4586"/>
                                        </p:tgtEl>
                                        <p:attrNameLst>
                                          <p:attrName>style.visibility</p:attrName>
                                        </p:attrNameLst>
                                      </p:cBhvr>
                                      <p:to>
                                        <p:strVal val="visible"/>
                                      </p:to>
                                    </p:set>
                                    <p:animEffect transition="in" filter="blinds(horizontal)">
                                      <p:cBhvr>
                                        <p:cTn id="11" dur="500"/>
                                        <p:tgtEl>
                                          <p:spTgt spid="2458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4588"/>
                                        </p:tgtEl>
                                        <p:attrNameLst>
                                          <p:attrName>style.visibility</p:attrName>
                                        </p:attrNameLst>
                                      </p:cBhvr>
                                      <p:to>
                                        <p:strVal val="visible"/>
                                      </p:to>
                                    </p:set>
                                    <p:animEffect transition="in" filter="blinds(horizontal)">
                                      <p:cBhvr>
                                        <p:cTn id="16" dur="500"/>
                                        <p:tgtEl>
                                          <p:spTgt spid="24588"/>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24587"/>
                                        </p:tgtEl>
                                        <p:attrNameLst>
                                          <p:attrName>style.visibility</p:attrName>
                                        </p:attrNameLst>
                                      </p:cBhvr>
                                      <p:to>
                                        <p:strVal val="visible"/>
                                      </p:to>
                                    </p:set>
                                    <p:animEffect transition="in" filter="blinds(horizontal)">
                                      <p:cBhvr>
                                        <p:cTn id="20" dur="500"/>
                                        <p:tgtEl>
                                          <p:spTgt spid="2458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4590"/>
                                        </p:tgtEl>
                                        <p:attrNameLst>
                                          <p:attrName>style.visibility</p:attrName>
                                        </p:attrNameLst>
                                      </p:cBhvr>
                                      <p:to>
                                        <p:strVal val="visible"/>
                                      </p:to>
                                    </p:set>
                                    <p:animEffect transition="in" filter="blinds(horizontal)">
                                      <p:cBhvr>
                                        <p:cTn id="25" dur="500"/>
                                        <p:tgtEl>
                                          <p:spTgt spid="24590"/>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24589"/>
                                        </p:tgtEl>
                                        <p:attrNameLst>
                                          <p:attrName>style.visibility</p:attrName>
                                        </p:attrNameLst>
                                      </p:cBhvr>
                                      <p:to>
                                        <p:strVal val="visible"/>
                                      </p:to>
                                    </p:set>
                                    <p:animEffect transition="in" filter="blinds(horizontal)">
                                      <p:cBhvr>
                                        <p:cTn id="29" dur="500"/>
                                        <p:tgtEl>
                                          <p:spTgt spid="24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5" grpId="0" animBg="1" autoUpdateAnimBg="0"/>
      <p:bldP spid="24588" grpId="0" animBg="1" autoUpdateAnimBg="0"/>
      <p:bldP spid="24590" grpId="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539750" y="4206875"/>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48131" name="Rectangle 2"/>
          <p:cNvSpPr txBox="1">
            <a:spLocks noChangeArrowheads="1"/>
          </p:cNvSpPr>
          <p:nvPr/>
        </p:nvSpPr>
        <p:spPr bwMode="auto">
          <a:xfrm>
            <a:off x="0" y="44450"/>
            <a:ext cx="91440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800" b="1">
                <a:solidFill>
                  <a:schemeClr val="hlink"/>
                </a:solidFill>
                <a:latin typeface="微软雅黑" panose="020B0503020204020204" pitchFamily="34" charset="-122"/>
                <a:ea typeface="微软雅黑" panose="020B0503020204020204" pitchFamily="34" charset="-122"/>
              </a:rPr>
              <a:t>若可行域为无界</a:t>
            </a:r>
            <a:r>
              <a:rPr lang="zh-CN" altLang="en-US" sz="2800" b="1">
                <a:solidFill>
                  <a:schemeClr val="hlink"/>
                </a:solidFill>
                <a:latin typeface="仿宋" panose="02010609060101010101" pitchFamily="49" charset="-122"/>
                <a:ea typeface="仿宋" panose="02010609060101010101" pitchFamily="49" charset="-122"/>
              </a:rPr>
              <a:t>，</a:t>
            </a:r>
            <a:r>
              <a:rPr lang="zh-CN" altLang="en-US" sz="2800" b="1">
                <a:solidFill>
                  <a:schemeClr val="hlink"/>
                </a:solidFill>
                <a:latin typeface="微软雅黑" panose="020B0503020204020204" pitchFamily="34" charset="-122"/>
                <a:ea typeface="微软雅黑" panose="020B0503020204020204" pitchFamily="34" charset="-122"/>
              </a:rPr>
              <a:t>则可能无最优解</a:t>
            </a:r>
            <a:r>
              <a:rPr lang="zh-CN" altLang="en-US" sz="2800" b="1">
                <a:solidFill>
                  <a:schemeClr val="hlink"/>
                </a:solidFill>
                <a:latin typeface="仿宋" panose="02010609060101010101" pitchFamily="49" charset="-122"/>
                <a:ea typeface="仿宋" panose="02010609060101010101" pitchFamily="49" charset="-122"/>
              </a:rPr>
              <a:t>，</a:t>
            </a:r>
            <a:r>
              <a:rPr lang="zh-CN" altLang="en-US" sz="2800" b="1">
                <a:solidFill>
                  <a:schemeClr val="hlink"/>
                </a:solidFill>
                <a:latin typeface="微软雅黑" panose="020B0503020204020204" pitchFamily="34" charset="-122"/>
                <a:ea typeface="微软雅黑" panose="020B0503020204020204" pitchFamily="34" charset="-122"/>
              </a:rPr>
              <a:t>也可能有最优解</a:t>
            </a:r>
            <a:r>
              <a:rPr lang="zh-CN" altLang="en-US" sz="2800" b="1">
                <a:solidFill>
                  <a:schemeClr val="hlink"/>
                </a:solidFill>
                <a:latin typeface="仿宋" panose="02010609060101010101" pitchFamily="49" charset="-122"/>
                <a:ea typeface="仿宋" panose="02010609060101010101" pitchFamily="49" charset="-122"/>
              </a:rPr>
              <a:t>，</a:t>
            </a:r>
            <a:r>
              <a:rPr lang="zh-CN" altLang="en-US" sz="2800" b="1">
                <a:solidFill>
                  <a:schemeClr val="hlink"/>
                </a:solidFill>
                <a:latin typeface="微软雅黑" panose="020B0503020204020204" pitchFamily="34" charset="-122"/>
                <a:ea typeface="微软雅黑" panose="020B0503020204020204" pitchFamily="34" charset="-122"/>
              </a:rPr>
              <a:t>若有也必定在某顶点上得到。</a:t>
            </a:r>
            <a:endParaRPr lang="en-US" altLang="zh-CN" sz="2800" b="1">
              <a:solidFill>
                <a:schemeClr val="hlink"/>
              </a:solidFill>
              <a:latin typeface="微软雅黑" panose="020B0503020204020204" pitchFamily="34" charset="-122"/>
              <a:ea typeface="微软雅黑" panose="020B0503020204020204" pitchFamily="34" charset="-122"/>
            </a:endParaRPr>
          </a:p>
          <a:p>
            <a:r>
              <a:rPr lang="zh-CN" altLang="en-US" sz="2800" b="1">
                <a:solidFill>
                  <a:schemeClr val="hlink"/>
                </a:solidFill>
                <a:latin typeface="微软雅黑" panose="020B0503020204020204" pitchFamily="34" charset="-122"/>
                <a:ea typeface="微软雅黑" panose="020B0503020204020204" pitchFamily="34" charset="-122"/>
              </a:rPr>
              <a:t>根据以上讨论</a:t>
            </a:r>
            <a:r>
              <a:rPr lang="zh-CN" altLang="en-US" sz="2800" b="1">
                <a:solidFill>
                  <a:schemeClr val="hlink"/>
                </a:solidFill>
                <a:latin typeface="仿宋" panose="02010609060101010101" pitchFamily="49" charset="-122"/>
                <a:ea typeface="仿宋" panose="02010609060101010101" pitchFamily="49" charset="-122"/>
              </a:rPr>
              <a:t>，</a:t>
            </a:r>
            <a:r>
              <a:rPr lang="zh-CN" altLang="en-US" sz="2800" b="1">
                <a:solidFill>
                  <a:schemeClr val="hlink"/>
                </a:solidFill>
                <a:latin typeface="微软雅黑" panose="020B0503020204020204" pitchFamily="34" charset="-122"/>
                <a:ea typeface="微软雅黑" panose="020B0503020204020204" pitchFamily="34" charset="-122"/>
              </a:rPr>
              <a:t>可以得到以下结论：</a:t>
            </a:r>
          </a:p>
        </p:txBody>
      </p:sp>
      <p:sp>
        <p:nvSpPr>
          <p:cNvPr id="25604" name="Rectangle 3"/>
          <p:cNvSpPr txBox="1">
            <a:spLocks noChangeArrowheads="1"/>
          </p:cNvSpPr>
          <p:nvPr/>
        </p:nvSpPr>
        <p:spPr bwMode="auto">
          <a:xfrm>
            <a:off x="0" y="1444625"/>
            <a:ext cx="9144000" cy="162242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50000"/>
              </a:lnSpc>
              <a:spcBef>
                <a:spcPts val="600"/>
              </a:spcBef>
              <a:buClr>
                <a:schemeClr val="accent1"/>
              </a:buClr>
              <a:buSzPct val="70000"/>
            </a:pPr>
            <a:r>
              <a:rPr lang="zh-CN" altLang="en-US" b="1">
                <a:latin typeface="微软雅黑" panose="020B0503020204020204" pitchFamily="34" charset="-122"/>
                <a:ea typeface="微软雅黑" panose="020B0503020204020204" pitchFamily="34" charset="-122"/>
              </a:rPr>
              <a:t>线性规划问题的所有</a:t>
            </a:r>
            <a:r>
              <a:rPr lang="zh-CN" altLang="en-US" b="1">
                <a:solidFill>
                  <a:schemeClr val="hlink"/>
                </a:solidFill>
                <a:latin typeface="微软雅黑" panose="020B0503020204020204" pitchFamily="34" charset="-122"/>
                <a:ea typeface="微软雅黑" panose="020B0503020204020204" pitchFamily="34" charset="-122"/>
              </a:rPr>
              <a:t>可行解</a:t>
            </a:r>
            <a:r>
              <a:rPr lang="zh-CN" altLang="en-US" b="1">
                <a:latin typeface="微软雅黑" panose="020B0503020204020204" pitchFamily="34" charset="-122"/>
                <a:ea typeface="微软雅黑" panose="020B0503020204020204" pitchFamily="34" charset="-122"/>
              </a:rPr>
              <a:t>构成的集合（</a:t>
            </a:r>
            <a:r>
              <a:rPr lang="zh-CN" altLang="en-US" b="1">
                <a:solidFill>
                  <a:schemeClr val="hlink"/>
                </a:solidFill>
                <a:latin typeface="微软雅黑" panose="020B0503020204020204" pitchFamily="34" charset="-122"/>
                <a:ea typeface="微软雅黑" panose="020B0503020204020204" pitchFamily="34" charset="-122"/>
              </a:rPr>
              <a:t>可行域</a:t>
            </a:r>
            <a:r>
              <a:rPr lang="zh-CN" altLang="en-US" b="1">
                <a:latin typeface="微软雅黑" panose="020B0503020204020204" pitchFamily="34" charset="-122"/>
                <a:ea typeface="微软雅黑" panose="020B0503020204020204" pitchFamily="34" charset="-122"/>
              </a:rPr>
              <a:t>）是</a:t>
            </a:r>
            <a:r>
              <a:rPr lang="zh-CN" altLang="en-US" b="1">
                <a:solidFill>
                  <a:schemeClr val="hlink"/>
                </a:solidFill>
                <a:latin typeface="微软雅黑" panose="020B0503020204020204" pitchFamily="34" charset="-122"/>
                <a:ea typeface="微软雅黑" panose="020B0503020204020204" pitchFamily="34" charset="-122"/>
              </a:rPr>
              <a:t>凸集</a:t>
            </a:r>
            <a:r>
              <a:rPr lang="zh-CN" altLang="en-US" b="1">
                <a:latin typeface="仿宋" panose="02010609060101010101" pitchFamily="49" charset="-122"/>
                <a:ea typeface="仿宋" panose="02010609060101010101" pitchFamily="49" charset="-122"/>
              </a:rPr>
              <a:t>，</a:t>
            </a:r>
            <a:r>
              <a:rPr lang="zh-CN" altLang="en-US" b="1">
                <a:latin typeface="微软雅黑" panose="020B0503020204020204" pitchFamily="34" charset="-122"/>
                <a:ea typeface="微软雅黑" panose="020B0503020204020204" pitchFamily="34" charset="-122"/>
              </a:rPr>
              <a:t>也可能为无界域</a:t>
            </a:r>
            <a:r>
              <a:rPr lang="zh-CN" altLang="en-US" b="1">
                <a:latin typeface="仿宋" panose="02010609060101010101" pitchFamily="49" charset="-122"/>
                <a:ea typeface="仿宋" panose="02010609060101010101" pitchFamily="49" charset="-122"/>
              </a:rPr>
              <a:t>，</a:t>
            </a:r>
            <a:r>
              <a:rPr lang="zh-CN" altLang="en-US" b="1">
                <a:latin typeface="微软雅黑" panose="020B0503020204020204" pitchFamily="34" charset="-122"/>
                <a:ea typeface="微软雅黑" panose="020B0503020204020204" pitchFamily="34" charset="-122"/>
              </a:rPr>
              <a:t>它们有</a:t>
            </a:r>
            <a:r>
              <a:rPr lang="zh-CN" altLang="en-US" b="1">
                <a:solidFill>
                  <a:schemeClr val="hlink"/>
                </a:solidFill>
                <a:latin typeface="微软雅黑" panose="020B0503020204020204" pitchFamily="34" charset="-122"/>
                <a:ea typeface="微软雅黑" panose="020B0503020204020204" pitchFamily="34" charset="-122"/>
              </a:rPr>
              <a:t>有限个顶点</a:t>
            </a:r>
            <a:r>
              <a:rPr lang="zh-CN" altLang="en-US" b="1">
                <a:latin typeface="仿宋" panose="02010609060101010101" pitchFamily="49" charset="-122"/>
                <a:ea typeface="仿宋" panose="02010609060101010101" pitchFamily="49" charset="-122"/>
              </a:rPr>
              <a:t>，</a:t>
            </a:r>
            <a:r>
              <a:rPr lang="zh-CN" altLang="en-US" b="1">
                <a:latin typeface="微软雅黑" panose="020B0503020204020204" pitchFamily="34" charset="-122"/>
                <a:ea typeface="微软雅黑" panose="020B0503020204020204" pitchFamily="34" charset="-122"/>
              </a:rPr>
              <a:t>线性规划问题的每个基可行解对应可行域的一个顶点</a:t>
            </a:r>
          </a:p>
        </p:txBody>
      </p:sp>
      <p:sp>
        <p:nvSpPr>
          <p:cNvPr id="25605" name="Rectangle 5"/>
          <p:cNvSpPr>
            <a:spLocks noChangeArrowheads="1"/>
          </p:cNvSpPr>
          <p:nvPr/>
        </p:nvSpPr>
        <p:spPr bwMode="auto">
          <a:xfrm>
            <a:off x="0" y="3398838"/>
            <a:ext cx="9144000" cy="461962"/>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ea typeface="微软雅黑" panose="020B0503020204020204" pitchFamily="34" charset="-122"/>
              </a:rPr>
              <a:t>若线性规划问题有</a:t>
            </a:r>
            <a:r>
              <a:rPr lang="zh-CN" altLang="en-US" b="1">
                <a:solidFill>
                  <a:schemeClr val="hlink"/>
                </a:solidFill>
                <a:ea typeface="微软雅黑" panose="020B0503020204020204" pitchFamily="34" charset="-122"/>
              </a:rPr>
              <a:t>最优解</a:t>
            </a:r>
            <a:r>
              <a:rPr lang="zh-CN" altLang="en-US" b="1">
                <a:latin typeface="仿宋" panose="02010609060101010101" pitchFamily="49" charset="-122"/>
                <a:ea typeface="仿宋" panose="02010609060101010101" pitchFamily="49" charset="-122"/>
              </a:rPr>
              <a:t>，</a:t>
            </a:r>
            <a:r>
              <a:rPr lang="zh-CN" altLang="en-US" b="1">
                <a:ea typeface="微软雅黑" panose="020B0503020204020204" pitchFamily="34" charset="-122"/>
              </a:rPr>
              <a:t>必在可行域的某个顶点达到最优解</a:t>
            </a:r>
            <a:endParaRPr lang="en-US" altLang="zh-CN" b="1">
              <a:ea typeface="微软雅黑" panose="020B0503020204020204" pitchFamily="34" charset="-122"/>
            </a:endParaRPr>
          </a:p>
        </p:txBody>
      </p:sp>
      <p:sp>
        <p:nvSpPr>
          <p:cNvPr id="25606" name="Rectangle 6"/>
          <p:cNvSpPr>
            <a:spLocks noChangeArrowheads="1"/>
          </p:cNvSpPr>
          <p:nvPr/>
        </p:nvSpPr>
        <p:spPr bwMode="auto">
          <a:xfrm>
            <a:off x="0" y="4206875"/>
            <a:ext cx="9144000" cy="223837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b="1">
                <a:ea typeface="微软雅黑" panose="020B0503020204020204" pitchFamily="34" charset="-122"/>
              </a:rPr>
              <a:t>可行域的</a:t>
            </a:r>
            <a:r>
              <a:rPr lang="zh-CN" altLang="en-US" b="1">
                <a:latin typeface="Times New Roman" panose="02020603050405020304" pitchFamily="18" charset="0"/>
                <a:ea typeface="微软雅黑" panose="020B0503020204020204" pitchFamily="34" charset="-122"/>
              </a:rPr>
              <a:t>顶点数目是有限的</a:t>
            </a:r>
            <a:r>
              <a:rPr lang="en-US" altLang="zh-CN" b="1">
                <a:latin typeface="Times New Roman" panose="02020603050405020304" pitchFamily="18" charset="0"/>
                <a:ea typeface="微软雅黑" panose="020B0503020204020204" pitchFamily="34" charset="-122"/>
              </a:rPr>
              <a:t>(</a:t>
            </a:r>
            <a:r>
              <a:rPr lang="zh-CN" altLang="en-US" b="1">
                <a:latin typeface="Times New Roman" panose="02020603050405020304" pitchFamily="18" charset="0"/>
                <a:ea typeface="微软雅黑" panose="020B0503020204020204" pitchFamily="34" charset="-122"/>
              </a:rPr>
              <a:t>它不大于 </a:t>
            </a:r>
            <a:r>
              <a:rPr lang="en-US" altLang="zh-CN" b="1">
                <a:latin typeface="Times New Roman" panose="02020603050405020304" pitchFamily="18" charset="0"/>
                <a:ea typeface="微软雅黑" panose="020B0503020204020204" pitchFamily="34" charset="-122"/>
              </a:rPr>
              <a:t>C</a:t>
            </a:r>
            <a:r>
              <a:rPr lang="en-US" altLang="zh-CN" b="1" i="1" baseline="-25000">
                <a:latin typeface="Times New Roman" panose="02020603050405020304" pitchFamily="18" charset="0"/>
                <a:ea typeface="微软雅黑" panose="020B0503020204020204" pitchFamily="34" charset="-122"/>
              </a:rPr>
              <a:t>n</a:t>
            </a:r>
            <a:r>
              <a:rPr lang="en-US" altLang="zh-CN" b="1" i="1" baseline="30000">
                <a:latin typeface="Times New Roman" panose="02020603050405020304" pitchFamily="18" charset="0"/>
                <a:ea typeface="微软雅黑" panose="020B0503020204020204" pitchFamily="34" charset="-122"/>
              </a:rPr>
              <a:t>m</a:t>
            </a:r>
            <a:r>
              <a:rPr lang="zh-CN" altLang="en-US" b="1">
                <a:latin typeface="Times New Roman" panose="02020603050405020304" pitchFamily="18" charset="0"/>
                <a:ea typeface="微软雅黑" panose="020B0503020204020204" pitchFamily="34" charset="-122"/>
              </a:rPr>
              <a:t>个</a:t>
            </a:r>
            <a:r>
              <a:rPr lang="en-US" altLang="zh-CN" b="1">
                <a:latin typeface="Times New Roman" panose="02020603050405020304" pitchFamily="18" charset="0"/>
                <a:ea typeface="微软雅黑" panose="020B0503020204020204" pitchFamily="34" charset="-122"/>
              </a:rPr>
              <a:t>)</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若采用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枚举法</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找所有基可行解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然后一一比较</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最终可能找到最优解</a:t>
            </a:r>
            <a:endParaRPr lang="en-US" altLang="zh-CN" b="1">
              <a:latin typeface="Times New Roman" panose="02020603050405020304" pitchFamily="18" charset="0"/>
              <a:ea typeface="微软雅黑" panose="020B0503020204020204" pitchFamily="34" charset="-122"/>
            </a:endParaRPr>
          </a:p>
          <a:p>
            <a:pPr eaLnBrk="1" hangingPunct="1">
              <a:lnSpc>
                <a:spcPct val="150000"/>
              </a:lnSpc>
            </a:pPr>
            <a:r>
              <a:rPr lang="zh-CN" altLang="en-US" b="1">
                <a:latin typeface="Times New Roman" panose="02020603050405020304" pitchFamily="18" charset="0"/>
                <a:ea typeface="微软雅黑" panose="020B0503020204020204" pitchFamily="34" charset="-122"/>
              </a:rPr>
              <a:t>但当</a:t>
            </a:r>
            <a:r>
              <a:rPr lang="en-US" altLang="zh-CN" b="1" i="1">
                <a:latin typeface="Times New Roman" panose="02020603050405020304" pitchFamily="18" charset="0"/>
                <a:ea typeface="微软雅黑" panose="020B0503020204020204" pitchFamily="34" charset="-122"/>
              </a:rPr>
              <a:t>n, m</a:t>
            </a:r>
            <a:r>
              <a:rPr lang="zh-CN" altLang="en-US" b="1">
                <a:latin typeface="Times New Roman" panose="02020603050405020304" pitchFamily="18" charset="0"/>
                <a:ea typeface="微软雅黑" panose="020B0503020204020204" pitchFamily="34" charset="-122"/>
              </a:rPr>
              <a:t>较大时</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这种办法是行不通的</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所以要继续讨论</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如何有效地找到最优解</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有多种方法</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这里仅介绍</a:t>
            </a:r>
            <a:r>
              <a:rPr lang="zh-CN" altLang="en-US" b="1">
                <a:solidFill>
                  <a:srgbClr val="FF0000"/>
                </a:solidFill>
                <a:latin typeface="Times New Roman" panose="02020603050405020304" pitchFamily="18" charset="0"/>
                <a:ea typeface="微软雅黑" panose="020B0503020204020204" pitchFamily="34" charset="-122"/>
              </a:rPr>
              <a:t>单纯形法</a:t>
            </a:r>
            <a:endParaRPr lang="en-US" altLang="zh-CN" b="1">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a:xfrm>
            <a:off x="7246276"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104</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xEl>
                                              <p:pRg st="1" end="1"/>
                                            </p:txEl>
                                          </p:spTgt>
                                        </p:tgtEl>
                                        <p:attrNameLst>
                                          <p:attrName>style.visibility</p:attrName>
                                        </p:attrNameLst>
                                      </p:cBhvr>
                                      <p:to>
                                        <p:strVal val="visible"/>
                                      </p:to>
                                    </p:set>
                                    <p:animEffect transition="in" filter="blinds(horizontal)">
                                      <p:cBhvr>
                                        <p:cTn id="7" dur="500"/>
                                        <p:tgtEl>
                                          <p:spTgt spid="48131">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604"/>
                                        </p:tgtEl>
                                        <p:attrNameLst>
                                          <p:attrName>style.visibility</p:attrName>
                                        </p:attrNameLst>
                                      </p:cBhvr>
                                      <p:to>
                                        <p:strVal val="visible"/>
                                      </p:to>
                                    </p:set>
                                    <p:animEffect transition="in" filter="fade">
                                      <p:cBhvr>
                                        <p:cTn id="10" dur="500"/>
                                        <p:tgtEl>
                                          <p:spTgt spid="2560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605"/>
                                        </p:tgtEl>
                                        <p:attrNameLst>
                                          <p:attrName>style.visibility</p:attrName>
                                        </p:attrNameLst>
                                      </p:cBhvr>
                                      <p:to>
                                        <p:strVal val="visible"/>
                                      </p:to>
                                    </p:set>
                                    <p:animEffect transition="in" filter="fade">
                                      <p:cBhvr>
                                        <p:cTn id="15" dur="500"/>
                                        <p:tgtEl>
                                          <p:spTgt spid="256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5606"/>
                                        </p:tgtEl>
                                        <p:attrNameLst>
                                          <p:attrName>style.visibility</p:attrName>
                                        </p:attrNameLst>
                                      </p:cBhvr>
                                      <p:to>
                                        <p:strVal val="visible"/>
                                      </p:to>
                                    </p:set>
                                    <p:animEffect transition="in" filter="fade">
                                      <p:cBhvr>
                                        <p:cTn id="20"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nimBg="1"/>
      <p:bldP spid="25605" grpId="0" animBg="1"/>
      <p:bldP spid="2560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txBox="1">
            <a:spLocks noChangeArrowheads="1"/>
          </p:cNvSpPr>
          <p:nvPr/>
        </p:nvSpPr>
        <p:spPr bwMode="auto">
          <a:xfrm>
            <a:off x="3419872" y="332656"/>
            <a:ext cx="215106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44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4400" b="1" dirty="0">
                <a:solidFill>
                  <a:schemeClr val="folHlink"/>
                </a:solidFill>
                <a:latin typeface="微软雅黑" panose="020B0503020204020204" pitchFamily="34" charset="-122"/>
                <a:ea typeface="微软雅黑" panose="020B0503020204020204" pitchFamily="34" charset="-122"/>
                <a:cs typeface="Times New Roman" panose="02020603050405020304" pitchFamily="18" charset="0"/>
              </a:rPr>
              <a:t>作业</a:t>
            </a:r>
          </a:p>
        </p:txBody>
      </p:sp>
      <p:sp>
        <p:nvSpPr>
          <p:cNvPr id="52227" name="Rectangle 3"/>
          <p:cNvSpPr txBox="1">
            <a:spLocks noChangeArrowheads="1"/>
          </p:cNvSpPr>
          <p:nvPr/>
        </p:nvSpPr>
        <p:spPr bwMode="auto">
          <a:xfrm>
            <a:off x="304800" y="1196752"/>
            <a:ext cx="8534400" cy="54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spcBef>
                <a:spcPts val="600"/>
              </a:spcBef>
              <a:buClr>
                <a:schemeClr val="accent1"/>
              </a:buClr>
              <a:buSzPct val="70000"/>
              <a:buFont typeface="Wingdings" panose="05000000000000000000" pitchFamily="2" charset="2"/>
              <a:buNone/>
            </a:pPr>
            <a:r>
              <a:rPr kumimoji="0" lang="zh-CN" altLang="en-US"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第</a:t>
            </a:r>
            <a:r>
              <a:rPr kumimoji="0" lang="en-US" altLang="zh-CN"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版</a:t>
            </a:r>
            <a:endParaRPr kumimoji="0" lang="en-US" altLang="zh-CN"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ts val="600"/>
              </a:spcBef>
              <a:buClr>
                <a:schemeClr val="accent1"/>
              </a:buClr>
              <a:buSzPct val="70000"/>
              <a:buFont typeface="Wingdings" panose="05000000000000000000" pitchFamily="2" charset="2"/>
              <a:buNone/>
            </a:pPr>
            <a:r>
              <a:rPr kumimoji="0" lang="en-US" altLang="zh-CN"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P68</a:t>
            </a:r>
            <a:r>
              <a:rPr kumimoji="0" lang="zh-CN" altLang="en-US"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2.1 </a:t>
            </a:r>
          </a:p>
          <a:p>
            <a:pPr>
              <a:lnSpc>
                <a:spcPct val="150000"/>
              </a:lnSpc>
              <a:spcBef>
                <a:spcPts val="600"/>
              </a:spcBef>
              <a:buClr>
                <a:schemeClr val="accent1"/>
              </a:buClr>
              <a:buSzPct val="70000"/>
              <a:buFont typeface="Wingdings" panose="05000000000000000000" pitchFamily="2" charset="2"/>
              <a:buNone/>
            </a:pPr>
            <a:r>
              <a:rPr kumimoji="0" lang="en-US" altLang="zh-CN" sz="36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rPr>
              <a:t>            2.2</a:t>
            </a:r>
          </a:p>
        </p:txBody>
      </p:sp>
      <p:sp>
        <p:nvSpPr>
          <p:cNvPr id="2" name="灯片编号占位符 1"/>
          <p:cNvSpPr>
            <a:spLocks noGrp="1"/>
          </p:cNvSpPr>
          <p:nvPr>
            <p:ph type="sldNum" sz="quarter" idx="12"/>
          </p:nvPr>
        </p:nvSpPr>
        <p:spPr>
          <a:xfrm>
            <a:off x="7239000" y="6400800"/>
            <a:ext cx="190500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smtClean="0">
                <a:ln>
                  <a:noFill/>
                </a:ln>
                <a:solidFill>
                  <a:schemeClr val="tx1"/>
                </a:solidFill>
                <a:effectLst/>
                <a:uLnTx/>
                <a:uFillTx/>
                <a:latin typeface="Tahoma" panose="020B0604030504040204" pitchFamily="34" charset="0"/>
                <a:ea typeface="微软雅黑" panose="020B0503020204020204" pitchFamily="34" charset="-122"/>
                <a:cs typeface="+mn-cs"/>
              </a:rPr>
              <a:t>105</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75.825,&quot;left&quot;:49.13842519685039,&quot;top&quot;:114,&quot;width&quot;:844.7615748031496}"/>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23</TotalTime>
  <Words>8447</Words>
  <Application>Microsoft Office PowerPoint</Application>
  <PresentationFormat>全屏显示(4:3)</PresentationFormat>
  <Paragraphs>1044</Paragraphs>
  <Slides>105</Slides>
  <Notes>4</Notes>
  <HiddenSlides>0</HiddenSlides>
  <MMClips>0</MMClips>
  <ScaleCrop>false</ScaleCrop>
  <HeadingPairs>
    <vt:vector size="10"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105</vt:i4>
      </vt:variant>
      <vt:variant>
        <vt:lpstr>自定义放映</vt:lpstr>
      </vt:variant>
      <vt:variant>
        <vt:i4>1</vt:i4>
      </vt:variant>
    </vt:vector>
  </HeadingPairs>
  <TitlesOfParts>
    <vt:vector size="123" baseType="lpstr">
      <vt:lpstr>仿宋</vt:lpstr>
      <vt:lpstr>仿宋_GB2312</vt:lpstr>
      <vt:lpstr>华文楷体</vt:lpstr>
      <vt:lpstr>宋体</vt:lpstr>
      <vt:lpstr>微软雅黑</vt:lpstr>
      <vt:lpstr>Arial</vt:lpstr>
      <vt:lpstr>Calibri</vt:lpstr>
      <vt:lpstr>Tahoma</vt:lpstr>
      <vt:lpstr>Times New Roman</vt:lpstr>
      <vt:lpstr>Verdana</vt:lpstr>
      <vt:lpstr>Wingdings</vt:lpstr>
      <vt:lpstr>Blends</vt:lpstr>
      <vt:lpstr>Microsoft Word 97 - 2003 Document</vt:lpstr>
      <vt:lpstr>MathType 5.0 Equation</vt:lpstr>
      <vt:lpstr>Paintbrush Picture</vt:lpstr>
      <vt:lpstr>Equation</vt:lpstr>
      <vt:lpstr>Microsoft Equation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运筹学解决问题的思路</vt:lpstr>
      <vt:lpstr>PowerPoint 演示文稿</vt:lpstr>
      <vt:lpstr>教学课表</vt:lpstr>
      <vt:lpstr>教学课表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反馈控制理论基础 </dc:title>
  <dc:creator>jakey</dc:creator>
  <cp:lastModifiedBy>Dell</cp:lastModifiedBy>
  <cp:revision>1063</cp:revision>
  <dcterms:created xsi:type="dcterms:W3CDTF">2002-01-10T11:18:00Z</dcterms:created>
  <dcterms:modified xsi:type="dcterms:W3CDTF">2025-10-12T16:53:11Z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8FECA48EB977439587CFC8CD23A44FFF_13</vt:lpwstr>
  </property>
</Properties>
</file>