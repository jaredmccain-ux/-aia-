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359" r:id="rId2"/>
    <p:sldId id="620" r:id="rId3"/>
    <p:sldId id="477" r:id="rId4"/>
    <p:sldId id="478" r:id="rId5"/>
    <p:sldId id="479" r:id="rId6"/>
    <p:sldId id="480" r:id="rId7"/>
    <p:sldId id="481" r:id="rId8"/>
    <p:sldId id="482" r:id="rId9"/>
    <p:sldId id="621" r:id="rId10"/>
    <p:sldId id="483" r:id="rId11"/>
    <p:sldId id="484" r:id="rId12"/>
    <p:sldId id="485" r:id="rId13"/>
    <p:sldId id="486" r:id="rId14"/>
    <p:sldId id="487" r:id="rId15"/>
    <p:sldId id="488" r:id="rId16"/>
    <p:sldId id="489" r:id="rId17"/>
    <p:sldId id="490" r:id="rId18"/>
    <p:sldId id="491" r:id="rId19"/>
    <p:sldId id="492" r:id="rId20"/>
    <p:sldId id="493" r:id="rId21"/>
    <p:sldId id="673" r:id="rId22"/>
    <p:sldId id="495" r:id="rId23"/>
    <p:sldId id="674" r:id="rId24"/>
    <p:sldId id="676" r:id="rId25"/>
    <p:sldId id="678" r:id="rId26"/>
    <p:sldId id="679" r:id="rId27"/>
    <p:sldId id="680" r:id="rId28"/>
    <p:sldId id="677" r:id="rId29"/>
    <p:sldId id="498" r:id="rId30"/>
    <p:sldId id="512" r:id="rId31"/>
    <p:sldId id="513" r:id="rId32"/>
    <p:sldId id="514" r:id="rId33"/>
    <p:sldId id="515" r:id="rId34"/>
    <p:sldId id="516" r:id="rId35"/>
    <p:sldId id="517" r:id="rId36"/>
    <p:sldId id="518" r:id="rId37"/>
    <p:sldId id="519" r:id="rId38"/>
    <p:sldId id="520" r:id="rId39"/>
    <p:sldId id="521" r:id="rId40"/>
    <p:sldId id="522" r:id="rId41"/>
    <p:sldId id="523" r:id="rId42"/>
    <p:sldId id="524" r:id="rId43"/>
    <p:sldId id="525" r:id="rId44"/>
    <p:sldId id="647" r:id="rId45"/>
  </p:sldIdLst>
  <p:sldSz cx="9144000" cy="6858000" type="screen4x3"/>
  <p:notesSz cx="6858000" cy="9144000"/>
  <p:custDataLst>
    <p:tags r:id="rId47"/>
  </p:custDataLst>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06" userDrawn="1">
          <p15:clr>
            <a:srgbClr val="A4A3A4"/>
          </p15:clr>
        </p15:guide>
        <p15:guide id="2" pos="29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0099"/>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111" d="100"/>
          <a:sy n="111" d="100"/>
        </p:scale>
        <p:origin x="422" y="82"/>
      </p:cViewPr>
      <p:guideLst>
        <p:guide orient="horz" pos="2206"/>
        <p:guide pos="2928"/>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ea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ea typeface="宋体" panose="02010600030101010101" pitchFamily="2" charset="-122"/>
              </a:defRPr>
            </a:lvl1pPr>
          </a:lstStyle>
          <a:p>
            <a:pPr>
              <a:defRPr/>
            </a:pPr>
            <a:fld id="{8214A041-0A1D-4316-9235-07D9A567715C}" type="datetimeFigureOut">
              <a:rPr lang="zh-CN" altLang="en-US"/>
              <a:t>2024/12/15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ea typeface="宋体"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fld id="{343E8C28-748D-4A91-9A73-D427D5E712DC}" type="slidenum">
              <a:rPr lang="zh-CN" altLang="en-US"/>
              <a:t>‹#›</a:t>
            </a:fld>
            <a:endParaRPr lang="zh-CN" altLang="en-US"/>
          </a:p>
        </p:txBody>
      </p:sp>
    </p:spTree>
    <p:extLst>
      <p:ext uri="{BB962C8B-B14F-4D97-AF65-F5344CB8AC3E}">
        <p14:creationId xmlns:p14="http://schemas.microsoft.com/office/powerpoint/2010/main" val="33487783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43E8C28-748D-4A91-9A73-D427D5E712DC}" type="slidenum">
              <a:rPr lang="zh-CN" altLang="en-US" smtClean="0"/>
              <a:t>4</a:t>
            </a:fld>
            <a:endParaRPr lang="zh-CN" altLang="en-US"/>
          </a:p>
        </p:txBody>
      </p:sp>
    </p:spTree>
    <p:extLst>
      <p:ext uri="{BB962C8B-B14F-4D97-AF65-F5344CB8AC3E}">
        <p14:creationId xmlns:p14="http://schemas.microsoft.com/office/powerpoint/2010/main" val="2370992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43E8C28-748D-4A91-9A73-D427D5E712DC}" type="slidenum">
              <a:rPr lang="zh-CN" altLang="en-US" smtClean="0"/>
              <a:t>7</a:t>
            </a:fld>
            <a:endParaRPr lang="zh-CN" altLang="en-US"/>
          </a:p>
        </p:txBody>
      </p:sp>
    </p:spTree>
    <p:extLst>
      <p:ext uri="{BB962C8B-B14F-4D97-AF65-F5344CB8AC3E}">
        <p14:creationId xmlns:p14="http://schemas.microsoft.com/office/powerpoint/2010/main" val="1570294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zh-CN" altLang="en-US"/>
          </a:p>
        </p:txBody>
      </p:sp>
      <p:sp>
        <p:nvSpPr>
          <p:cNvPr id="58370" name="Rectangle 2"/>
          <p:cNvSpPr>
            <a:spLocks noGrp="1" noChangeArrowheads="1"/>
          </p:cNvSpPr>
          <p:nvPr>
            <p:ph type="ctrTitle"/>
          </p:nvPr>
        </p:nvSpPr>
        <p:spPr>
          <a:xfrm>
            <a:off x="685800" y="990600"/>
            <a:ext cx="7772400" cy="1371600"/>
          </a:xfrm>
        </p:spPr>
        <p:txBody>
          <a:bodyPr/>
          <a:lstStyle>
            <a:lvl1pPr>
              <a:defRPr sz="4000"/>
            </a:lvl1pPr>
          </a:lstStyle>
          <a:p>
            <a:r>
              <a:rPr lang="zh-CN" altLang="en-US"/>
              <a:t>单击此处编辑母版标题样式</a:t>
            </a:r>
          </a:p>
        </p:txBody>
      </p:sp>
      <p:sp>
        <p:nvSpPr>
          <p:cNvPr id="58371"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r>
              <a:rPr lang="zh-CN" altLang="en-US"/>
              <a:t>单击此处编辑母版副标题样式</a:t>
            </a:r>
          </a:p>
        </p:txBody>
      </p:sp>
      <p:sp>
        <p:nvSpPr>
          <p:cNvPr id="5" name="Rectangle 4"/>
          <p:cNvSpPr>
            <a:spLocks noGrp="1" noChangeArrowheads="1"/>
          </p:cNvSpPr>
          <p:nvPr>
            <p:ph type="dt" sz="half" idx="10"/>
          </p:nvPr>
        </p:nvSpPr>
        <p:spPr>
          <a:xfrm>
            <a:off x="685800" y="6248400"/>
            <a:ext cx="1905000" cy="457200"/>
          </a:xfrm>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xfrm>
            <a:off x="6553200" y="6248400"/>
            <a:ext cx="1905000" cy="457200"/>
          </a:xfrm>
        </p:spPr>
        <p:txBody>
          <a:bodyPr/>
          <a:lstStyle>
            <a:lvl1pPr>
              <a:defRPr/>
            </a:lvl1pPr>
          </a:lstStyle>
          <a:p>
            <a:fld id="{8C45E09F-2EA1-4F2C-9530-1C807C2A0A96}"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a:lvl1pPr>
          </a:lstStyle>
          <a:p>
            <a:fld id="{923BB16A-FC31-4433-9EE0-8CBC40470E57}"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a:lvl1pPr>
          </a:lstStyle>
          <a:p>
            <a:fld id="{29099C35-6043-4711-A482-1BA4F6F15CB2}"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dt" sz="half" idx="10"/>
          </p:nvPr>
        </p:nvSpPr>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p:txBody>
          <a:bodyPr/>
          <a:lstStyle>
            <a:lvl1pPr>
              <a:defRPr/>
            </a:lvl1pPr>
          </a:lstStyle>
          <a:p>
            <a:fld id="{AF652D11-D2FD-4FB6-BF12-0C690E5B52ED}"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dt" sz="half" idx="10"/>
          </p:nvPr>
        </p:nvSpPr>
        <p:spPr/>
        <p:txBody>
          <a:bodyPr/>
          <a:lstStyle>
            <a:lvl1pPr>
              <a:defRPr/>
            </a:lvl1pPr>
          </a:lstStyle>
          <a:p>
            <a:pPr>
              <a:defRPr/>
            </a:pPr>
            <a:endParaRPr lang="en-US" altLang="zh-CN"/>
          </a:p>
        </p:txBody>
      </p:sp>
      <p:sp>
        <p:nvSpPr>
          <p:cNvPr id="8" name="Rectangle 7"/>
          <p:cNvSpPr>
            <a:spLocks noGrp="1" noChangeArrowheads="1"/>
          </p:cNvSpPr>
          <p:nvPr>
            <p:ph type="ftr" sz="quarter" idx="11"/>
          </p:nvPr>
        </p:nvSpPr>
        <p:spPr/>
        <p:txBody>
          <a:bodyPr/>
          <a:lstStyle>
            <a:lvl1pPr>
              <a:defRPr/>
            </a:lvl1pPr>
          </a:lstStyle>
          <a:p>
            <a:pPr>
              <a:defRPr/>
            </a:pPr>
            <a:endParaRPr lang="en-US" altLang="zh-CN"/>
          </a:p>
        </p:txBody>
      </p:sp>
      <p:sp>
        <p:nvSpPr>
          <p:cNvPr id="9" name="Rectangle 8"/>
          <p:cNvSpPr>
            <a:spLocks noGrp="1" noChangeArrowheads="1"/>
          </p:cNvSpPr>
          <p:nvPr>
            <p:ph type="sldNum" sz="quarter" idx="12"/>
          </p:nvPr>
        </p:nvSpPr>
        <p:spPr/>
        <p:txBody>
          <a:bodyPr/>
          <a:lstStyle>
            <a:lvl1pPr>
              <a:defRPr/>
            </a:lvl1pPr>
          </a:lstStyle>
          <a:p>
            <a:fld id="{7FAE49E0-0A9D-4855-A748-F1F9382F67B3}"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dt" sz="half" idx="10"/>
          </p:nvPr>
        </p:nvSpPr>
        <p:spPr/>
        <p:txBody>
          <a:bodyPr/>
          <a:lstStyle>
            <a:lvl1pPr>
              <a:defRPr/>
            </a:lvl1pPr>
          </a:lstStyle>
          <a:p>
            <a:pPr>
              <a:defRPr/>
            </a:pPr>
            <a:endParaRPr lang="en-US" altLang="zh-CN"/>
          </a:p>
        </p:txBody>
      </p:sp>
      <p:sp>
        <p:nvSpPr>
          <p:cNvPr id="4" name="Rectangle 7"/>
          <p:cNvSpPr>
            <a:spLocks noGrp="1" noChangeArrowheads="1"/>
          </p:cNvSpPr>
          <p:nvPr>
            <p:ph type="ftr" sz="quarter" idx="11"/>
          </p:nvPr>
        </p:nvSpPr>
        <p:spPr/>
        <p:txBody>
          <a:bodyPr/>
          <a:lstStyle>
            <a:lvl1pPr>
              <a:defRPr/>
            </a:lvl1pPr>
          </a:lstStyle>
          <a:p>
            <a:pPr>
              <a:defRPr/>
            </a:pPr>
            <a:endParaRPr lang="en-US" altLang="zh-CN"/>
          </a:p>
        </p:txBody>
      </p:sp>
      <p:sp>
        <p:nvSpPr>
          <p:cNvPr id="5" name="Rectangle 8"/>
          <p:cNvSpPr>
            <a:spLocks noGrp="1" noChangeArrowheads="1"/>
          </p:cNvSpPr>
          <p:nvPr>
            <p:ph type="sldNum" sz="quarter" idx="12"/>
          </p:nvPr>
        </p:nvSpPr>
        <p:spPr/>
        <p:txBody>
          <a:bodyPr/>
          <a:lstStyle>
            <a:lvl1pPr>
              <a:defRPr/>
            </a:lvl1pPr>
          </a:lstStyle>
          <a:p>
            <a:fld id="{DB293CD9-FA6D-4084-8443-D9AD85EB8094}"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endParaRPr lang="en-US" altLang="zh-CN"/>
          </a:p>
        </p:txBody>
      </p:sp>
      <p:sp>
        <p:nvSpPr>
          <p:cNvPr id="3" name="Rectangle 7"/>
          <p:cNvSpPr>
            <a:spLocks noGrp="1" noChangeArrowheads="1"/>
          </p:cNvSpPr>
          <p:nvPr>
            <p:ph type="ftr" sz="quarter" idx="11"/>
          </p:nvPr>
        </p:nvSpPr>
        <p:spPr/>
        <p:txBody>
          <a:bodyPr/>
          <a:lstStyle>
            <a:lvl1pPr>
              <a:defRPr/>
            </a:lvl1pPr>
          </a:lstStyle>
          <a:p>
            <a:pPr>
              <a:defRPr/>
            </a:pPr>
            <a:endParaRPr lang="en-US" altLang="zh-CN"/>
          </a:p>
        </p:txBody>
      </p:sp>
      <p:sp>
        <p:nvSpPr>
          <p:cNvPr id="4" name="Rectangle 8"/>
          <p:cNvSpPr>
            <a:spLocks noGrp="1" noChangeArrowheads="1"/>
          </p:cNvSpPr>
          <p:nvPr>
            <p:ph type="sldNum" sz="quarter" idx="12"/>
          </p:nvPr>
        </p:nvSpPr>
        <p:spPr/>
        <p:txBody>
          <a:bodyPr/>
          <a:lstStyle>
            <a:lvl1pPr>
              <a:defRPr/>
            </a:lvl1pPr>
          </a:lstStyle>
          <a:p>
            <a:fld id="{4E940710-497B-4F01-8F6F-91820459E835}"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dt" sz="half" idx="10"/>
          </p:nvPr>
        </p:nvSpPr>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p:txBody>
          <a:bodyPr/>
          <a:lstStyle>
            <a:lvl1pPr>
              <a:defRPr/>
            </a:lvl1pPr>
          </a:lstStyle>
          <a:p>
            <a:fld id="{93EE8C02-8E73-454B-9EA7-61AA8E39BDCD}"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dt" sz="half" idx="10"/>
          </p:nvPr>
        </p:nvSpPr>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p:txBody>
          <a:bodyPr/>
          <a:lstStyle>
            <a:lvl1pPr>
              <a:defRPr/>
            </a:lvl1pPr>
          </a:lstStyle>
          <a:p>
            <a:fld id="{1F6F79D9-1853-4BB2-A07E-879337AAE231}"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a:lvl1pPr>
          </a:lstStyle>
          <a:p>
            <a:fld id="{BCD78C9B-AF89-46BB-9401-3A7DCF98C5CC}"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6738" y="304800"/>
            <a:ext cx="5854700" cy="5715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a:lvl1pPr>
          </a:lstStyle>
          <a:p>
            <a:fld id="{4650BA14-40AC-428F-ABC8-8494C1FD4887}"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a:t>单击此处编辑母版标题样式</a:t>
            </a:r>
          </a:p>
        </p:txBody>
      </p:sp>
      <p:sp>
        <p:nvSpPr>
          <p:cNvPr id="3" name="文本占位符 2"/>
          <p:cNvSpPr>
            <a:spLocks noGrp="1"/>
          </p:cNvSpPr>
          <p:nvPr>
            <p:ph type="body" sz="half" idx="1"/>
          </p:nvPr>
        </p:nvSpPr>
        <p:spPr>
          <a:xfrm>
            <a:off x="566738" y="1752600"/>
            <a:ext cx="39243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3438" y="1752600"/>
            <a:ext cx="39243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dt" sz="half" idx="10"/>
          </p:nvPr>
        </p:nvSpPr>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p:txBody>
          <a:bodyPr/>
          <a:lstStyle>
            <a:lvl1pPr>
              <a:defRPr/>
            </a:lvl1pPr>
          </a:lstStyle>
          <a:p>
            <a:fld id="{50CC4F27-7AEA-4A50-84AC-DD2818CC7585}"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a:t>单击此处编辑母版标题样式</a:t>
            </a:r>
          </a:p>
        </p:txBody>
      </p:sp>
      <p:sp>
        <p:nvSpPr>
          <p:cNvPr id="3" name="文本占位符 2"/>
          <p:cNvSpPr>
            <a:spLocks noGrp="1"/>
          </p:cNvSpPr>
          <p:nvPr>
            <p:ph type="body" sz="half" idx="1"/>
          </p:nvPr>
        </p:nvSpPr>
        <p:spPr>
          <a:xfrm>
            <a:off x="566738" y="1752600"/>
            <a:ext cx="39243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3438" y="1752600"/>
            <a:ext cx="3924300" cy="2057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3438" y="3962400"/>
            <a:ext cx="3924300" cy="2057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6"/>
          <p:cNvSpPr>
            <a:spLocks noGrp="1" noChangeArrowheads="1"/>
          </p:cNvSpPr>
          <p:nvPr>
            <p:ph type="dt" sz="half" idx="10"/>
          </p:nvPr>
        </p:nvSpPr>
        <p:spPr/>
        <p:txBody>
          <a:bodyPr/>
          <a:lstStyle>
            <a:lvl1pPr>
              <a:defRPr/>
            </a:lvl1pPr>
          </a:lstStyle>
          <a:p>
            <a:pPr>
              <a:defRPr/>
            </a:pPr>
            <a:endParaRPr lang="en-US" altLang="zh-CN"/>
          </a:p>
        </p:txBody>
      </p:sp>
      <p:sp>
        <p:nvSpPr>
          <p:cNvPr id="7" name="Rectangle 7"/>
          <p:cNvSpPr>
            <a:spLocks noGrp="1" noChangeArrowheads="1"/>
          </p:cNvSpPr>
          <p:nvPr>
            <p:ph type="ftr" sz="quarter" idx="11"/>
          </p:nvPr>
        </p:nvSpPr>
        <p:spPr/>
        <p:txBody>
          <a:bodyPr/>
          <a:lstStyle>
            <a:lvl1pPr>
              <a:defRPr/>
            </a:lvl1pPr>
          </a:lstStyle>
          <a:p>
            <a:pPr>
              <a:defRPr/>
            </a:pPr>
            <a:endParaRPr lang="en-US" altLang="zh-CN"/>
          </a:p>
        </p:txBody>
      </p:sp>
      <p:sp>
        <p:nvSpPr>
          <p:cNvPr id="8" name="Rectangle 8"/>
          <p:cNvSpPr>
            <a:spLocks noGrp="1" noChangeArrowheads="1"/>
          </p:cNvSpPr>
          <p:nvPr>
            <p:ph type="sldNum" sz="quarter" idx="12"/>
          </p:nvPr>
        </p:nvSpPr>
        <p:spPr/>
        <p:txBody>
          <a:bodyPr/>
          <a:lstStyle>
            <a:lvl1pPr>
              <a:defRPr/>
            </a:lvl1pPr>
          </a:lstStyle>
          <a:p>
            <a:fld id="{A555D5B6-84DE-48AD-81C5-ABF3EDBF8E3C}" type="slidenum">
              <a:rPr lang="en-US" altLang="zh-CN"/>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a:t>单击此处编辑母版标题样式</a:t>
            </a:r>
          </a:p>
        </p:txBody>
      </p:sp>
      <p:sp>
        <p:nvSpPr>
          <p:cNvPr id="3" name="表格占位符 2"/>
          <p:cNvSpPr>
            <a:spLocks noGrp="1"/>
          </p:cNvSpPr>
          <p:nvPr>
            <p:ph type="tbl" idx="1"/>
          </p:nvPr>
        </p:nvSpPr>
        <p:spPr>
          <a:xfrm>
            <a:off x="566738" y="1752600"/>
            <a:ext cx="8001000" cy="4267200"/>
          </a:xfrm>
        </p:spPr>
        <p:txBody>
          <a:bodyPr/>
          <a:lstStyle/>
          <a:p>
            <a:pPr lvl="0"/>
            <a:endParaRPr lang="zh-CN" altLang="en-US" noProof="0"/>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a:lvl1pPr>
          </a:lstStyle>
          <a:p>
            <a:fld id="{AB0D94D8-D508-448B-B39F-0D903F341D7D}"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4675" y="304800"/>
            <a:ext cx="8001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566738"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AutoShape 4"/>
          <p:cNvSpPr>
            <a:spLocks noChangeArrowheads="1"/>
          </p:cNvSpPr>
          <p:nvPr/>
        </p:nvSpPr>
        <p:spPr bwMode="auto">
          <a:xfrm>
            <a:off x="609600" y="1566863"/>
            <a:ext cx="7958138"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zh-CN" altLang="en-US"/>
          </a:p>
        </p:txBody>
      </p:sp>
      <p:sp>
        <p:nvSpPr>
          <p:cNvPr id="1029" name="Line 5"/>
          <p:cNvSpPr>
            <a:spLocks noChangeShapeType="1"/>
          </p:cNvSpPr>
          <p:nvPr/>
        </p:nvSpPr>
        <p:spPr bwMode="auto">
          <a:xfrm flipV="1">
            <a:off x="609600" y="6172200"/>
            <a:ext cx="79248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57350" name="Rectangle 6"/>
          <p:cNvSpPr>
            <a:spLocks noGrp="1" noChangeArrowheads="1"/>
          </p:cNvSpPr>
          <p:nvPr>
            <p:ph type="dt" sz="half" idx="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a:defRPr/>
            </a:pPr>
            <a:endParaRPr lang="en-US" altLang="zh-CN"/>
          </a:p>
        </p:txBody>
      </p:sp>
      <p:sp>
        <p:nvSpPr>
          <p:cNvPr id="57351" name="Rectangle 7"/>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ea typeface="宋体" panose="02010600030101010101" pitchFamily="2" charset="-122"/>
              </a:defRPr>
            </a:lvl1pPr>
          </a:lstStyle>
          <a:p>
            <a:pPr>
              <a:defRPr/>
            </a:pPr>
            <a:endParaRPr lang="en-US" altLang="zh-CN"/>
          </a:p>
        </p:txBody>
      </p:sp>
      <p:sp>
        <p:nvSpPr>
          <p:cNvPr id="57352" name="Rectangle 8"/>
          <p:cNvSpPr>
            <a:spLocks noGrp="1" noChangeArrowheads="1"/>
          </p:cNvSpPr>
          <p:nvPr>
            <p:ph type="sldNum" sz="quarter" idx="4"/>
          </p:nvPr>
        </p:nvSpPr>
        <p:spPr bwMode="auto">
          <a:xfrm>
            <a:off x="6553200" y="6245225"/>
            <a:ext cx="19812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fld id="{36968DF7-550E-4E11-9C31-91B028A63767}"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4.xml"/><Relationship Id="rId1" Type="http://schemas.openxmlformats.org/officeDocument/2006/relationships/slideLayout" Target="../slideLayouts/slideLayout7.xml"/><Relationship Id="rId5" Type="http://schemas.openxmlformats.org/officeDocument/2006/relationships/slide" Target="slide2.xml"/><Relationship Id="rId4" Type="http://schemas.openxmlformats.org/officeDocument/2006/relationships/slide" Target="slide13.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tags" Target="../tags/tag3.xml"/><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4.xml"/><Relationship Id="rId5" Type="http://schemas.openxmlformats.org/officeDocument/2006/relationships/image" Target="../media/image5.wmf"/><Relationship Id="rId4"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slideLayout" Target="../slideLayouts/slideLayout7.xml"/><Relationship Id="rId1" Type="http://schemas.openxmlformats.org/officeDocument/2006/relationships/tags" Target="../tags/tag5.xml"/><Relationship Id="rId5" Type="http://schemas.openxmlformats.org/officeDocument/2006/relationships/image" Target="../media/image7.wmf"/><Relationship Id="rId4" Type="http://schemas.openxmlformats.org/officeDocument/2006/relationships/oleObject" Target="../embeddings/oleObject5.bin"/></Relationships>
</file>

<file path=ppt/slides/_rels/slide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6.bin"/><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14.wmf"/><Relationship Id="rId3" Type="http://schemas.openxmlformats.org/officeDocument/2006/relationships/image" Target="../media/image9.wmf"/><Relationship Id="rId7" Type="http://schemas.openxmlformats.org/officeDocument/2006/relationships/image" Target="../media/image11.wmf"/><Relationship Id="rId12" Type="http://schemas.openxmlformats.org/officeDocument/2006/relationships/oleObject" Target="../embeddings/oleObject12.bin"/><Relationship Id="rId2" Type="http://schemas.openxmlformats.org/officeDocument/2006/relationships/oleObject" Target="../embeddings/oleObject7.bin"/><Relationship Id="rId1" Type="http://schemas.openxmlformats.org/officeDocument/2006/relationships/slideLayout" Target="../slideLayouts/slideLayout7.xml"/><Relationship Id="rId6" Type="http://schemas.openxmlformats.org/officeDocument/2006/relationships/oleObject" Target="../embeddings/oleObject9.bin"/><Relationship Id="rId11" Type="http://schemas.openxmlformats.org/officeDocument/2006/relationships/image" Target="../media/image13.wmf"/><Relationship Id="rId5" Type="http://schemas.openxmlformats.org/officeDocument/2006/relationships/image" Target="../media/image10.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2.wmf"/><Relationship Id="rId14" Type="http://schemas.openxmlformats.org/officeDocument/2006/relationships/image" Target="../media/image15.png"/></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20.wmf"/><Relationship Id="rId3" Type="http://schemas.openxmlformats.org/officeDocument/2006/relationships/image" Target="../media/image15.png"/><Relationship Id="rId7" Type="http://schemas.openxmlformats.org/officeDocument/2006/relationships/image" Target="../media/image17.wmf"/><Relationship Id="rId12"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tags" Target="../tags/tag6.xml"/><Relationship Id="rId6" Type="http://schemas.openxmlformats.org/officeDocument/2006/relationships/oleObject" Target="../embeddings/oleObject14.bin"/><Relationship Id="rId11" Type="http://schemas.openxmlformats.org/officeDocument/2006/relationships/image" Target="../media/image19.wmf"/><Relationship Id="rId5" Type="http://schemas.openxmlformats.org/officeDocument/2006/relationships/image" Target="../media/image16.wmf"/><Relationship Id="rId15" Type="http://schemas.openxmlformats.org/officeDocument/2006/relationships/image" Target="../media/image7.w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18.wmf"/><Relationship Id="rId14" Type="http://schemas.openxmlformats.org/officeDocument/2006/relationships/oleObject" Target="../embeddings/oleObject5.bin"/></Relationships>
</file>

<file path=ppt/slides/_rels/slide12.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8.bin"/><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tags" Target="../tags/tag8.xml"/><Relationship Id="rId6" Type="http://schemas.openxmlformats.org/officeDocument/2006/relationships/image" Target="../media/image23.wmf"/><Relationship Id="rId5" Type="http://schemas.openxmlformats.org/officeDocument/2006/relationships/oleObject" Target="../embeddings/oleObject20.bin"/><Relationship Id="rId4" Type="http://schemas.openxmlformats.org/officeDocument/2006/relationships/image" Target="../media/image22.wmf"/><Relationship Id="rId9" Type="http://schemas.openxmlformats.org/officeDocument/2006/relationships/image" Target="../media/image15.png"/></Relationships>
</file>

<file path=ppt/slides/_rels/slide16.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tags" Target="../tags/tag9.xml"/><Relationship Id="rId6" Type="http://schemas.openxmlformats.org/officeDocument/2006/relationships/image" Target="../media/image26.wmf"/><Relationship Id="rId11" Type="http://schemas.openxmlformats.org/officeDocument/2006/relationships/image" Target="../media/image15.png"/><Relationship Id="rId5" Type="http://schemas.openxmlformats.org/officeDocument/2006/relationships/oleObject" Target="../embeddings/oleObject23.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25.bin"/></Relationships>
</file>

<file path=ppt/slides/_rels/slide17.xml.rels><?xml version="1.0" encoding="UTF-8" standalone="yes"?>
<Relationships xmlns="http://schemas.openxmlformats.org/package/2006/relationships"><Relationship Id="rId8" Type="http://schemas.openxmlformats.org/officeDocument/2006/relationships/image" Target="../media/image30.wmf"/><Relationship Id="rId13" Type="http://schemas.openxmlformats.org/officeDocument/2006/relationships/oleObject" Target="../embeddings/oleObject30.bin"/><Relationship Id="rId3" Type="http://schemas.openxmlformats.org/officeDocument/2006/relationships/tags" Target="../tags/tag12.xml"/><Relationship Id="rId7" Type="http://schemas.openxmlformats.org/officeDocument/2006/relationships/oleObject" Target="../embeddings/oleObject27.bin"/><Relationship Id="rId12" Type="http://schemas.openxmlformats.org/officeDocument/2006/relationships/image" Target="../media/image32.wmf"/><Relationship Id="rId2" Type="http://schemas.openxmlformats.org/officeDocument/2006/relationships/tags" Target="../tags/tag11.xml"/><Relationship Id="rId16" Type="http://schemas.openxmlformats.org/officeDocument/2006/relationships/image" Target="../media/image34.wmf"/><Relationship Id="rId1" Type="http://schemas.openxmlformats.org/officeDocument/2006/relationships/tags" Target="../tags/tag10.xml"/><Relationship Id="rId6" Type="http://schemas.openxmlformats.org/officeDocument/2006/relationships/image" Target="../media/image29.wmf"/><Relationship Id="rId11" Type="http://schemas.openxmlformats.org/officeDocument/2006/relationships/oleObject" Target="../embeddings/oleObject29.bin"/><Relationship Id="rId5" Type="http://schemas.openxmlformats.org/officeDocument/2006/relationships/oleObject" Target="../embeddings/oleObject26.bin"/><Relationship Id="rId15" Type="http://schemas.openxmlformats.org/officeDocument/2006/relationships/oleObject" Target="../embeddings/oleObject31.bin"/><Relationship Id="rId10" Type="http://schemas.openxmlformats.org/officeDocument/2006/relationships/image" Target="../media/image31.wmf"/><Relationship Id="rId4" Type="http://schemas.openxmlformats.org/officeDocument/2006/relationships/slideLayout" Target="../slideLayouts/slideLayout7.xml"/><Relationship Id="rId9" Type="http://schemas.openxmlformats.org/officeDocument/2006/relationships/oleObject" Target="../embeddings/oleObject28.bin"/><Relationship Id="rId14" Type="http://schemas.openxmlformats.org/officeDocument/2006/relationships/image" Target="../media/image33.wmf"/></Relationships>
</file>

<file path=ppt/slides/_rels/slide18.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32.bin"/><Relationship Id="rId7" Type="http://schemas.openxmlformats.org/officeDocument/2006/relationships/oleObject" Target="../embeddings/oleObject34.bin"/><Relationship Id="rId12" Type="http://schemas.openxmlformats.org/officeDocument/2006/relationships/image" Target="../media/image38.wmf"/><Relationship Id="rId2" Type="http://schemas.openxmlformats.org/officeDocument/2006/relationships/slideLayout" Target="../slideLayouts/slideLayout7.xml"/><Relationship Id="rId1" Type="http://schemas.openxmlformats.org/officeDocument/2006/relationships/tags" Target="../tags/tag13.xml"/><Relationship Id="rId6" Type="http://schemas.openxmlformats.org/officeDocument/2006/relationships/image" Target="../media/image36.wmf"/><Relationship Id="rId11" Type="http://schemas.openxmlformats.org/officeDocument/2006/relationships/oleObject" Target="../embeddings/oleObject35.bin"/><Relationship Id="rId5" Type="http://schemas.openxmlformats.org/officeDocument/2006/relationships/oleObject" Target="../embeddings/oleObject33.bin"/><Relationship Id="rId10" Type="http://schemas.openxmlformats.org/officeDocument/2006/relationships/image" Target="../media/image28.wmf"/><Relationship Id="rId4" Type="http://schemas.openxmlformats.org/officeDocument/2006/relationships/image" Target="../media/image35.wmf"/><Relationship Id="rId9" Type="http://schemas.openxmlformats.org/officeDocument/2006/relationships/oleObject" Target="../embeddings/oleObject25.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35.wmf"/><Relationship Id="rId18" Type="http://schemas.openxmlformats.org/officeDocument/2006/relationships/oleObject" Target="../embeddings/oleObject40.bin"/><Relationship Id="rId3" Type="http://schemas.openxmlformats.org/officeDocument/2006/relationships/tags" Target="../tags/tag16.xml"/><Relationship Id="rId7" Type="http://schemas.openxmlformats.org/officeDocument/2006/relationships/slideLayout" Target="../slideLayouts/slideLayout7.xml"/><Relationship Id="rId12" Type="http://schemas.openxmlformats.org/officeDocument/2006/relationships/oleObject" Target="../embeddings/oleObject32.bin"/><Relationship Id="rId17" Type="http://schemas.openxmlformats.org/officeDocument/2006/relationships/image" Target="../media/image42.wmf"/><Relationship Id="rId2" Type="http://schemas.openxmlformats.org/officeDocument/2006/relationships/tags" Target="../tags/tag15.xml"/><Relationship Id="rId16" Type="http://schemas.openxmlformats.org/officeDocument/2006/relationships/oleObject" Target="../embeddings/oleObject39.bin"/><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image" Target="../media/image40.wmf"/><Relationship Id="rId5" Type="http://schemas.openxmlformats.org/officeDocument/2006/relationships/tags" Target="../tags/tag18.xml"/><Relationship Id="rId15" Type="http://schemas.openxmlformats.org/officeDocument/2006/relationships/image" Target="../media/image41.wmf"/><Relationship Id="rId10" Type="http://schemas.openxmlformats.org/officeDocument/2006/relationships/oleObject" Target="../embeddings/oleObject37.bin"/><Relationship Id="rId19" Type="http://schemas.openxmlformats.org/officeDocument/2006/relationships/image" Target="../media/image43.wmf"/><Relationship Id="rId4" Type="http://schemas.openxmlformats.org/officeDocument/2006/relationships/tags" Target="../tags/tag17.xml"/><Relationship Id="rId9" Type="http://schemas.openxmlformats.org/officeDocument/2006/relationships/image" Target="../media/image39.wmf"/><Relationship Id="rId14" Type="http://schemas.openxmlformats.org/officeDocument/2006/relationships/oleObject" Target="../embeddings/oleObject38.bin"/></Relationships>
</file>

<file path=ppt/slides/_rels/slide20.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tags" Target="../tags/tag22.xml"/><Relationship Id="rId7" Type="http://schemas.openxmlformats.org/officeDocument/2006/relationships/oleObject" Target="../embeddings/oleObject41.bin"/><Relationship Id="rId12" Type="http://schemas.openxmlformats.org/officeDocument/2006/relationships/image" Target="../media/image46.wmf"/><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Layout" Target="../slideLayouts/slideLayout7.xml"/><Relationship Id="rId11" Type="http://schemas.openxmlformats.org/officeDocument/2006/relationships/oleObject" Target="../embeddings/oleObject43.bin"/><Relationship Id="rId5" Type="http://schemas.openxmlformats.org/officeDocument/2006/relationships/tags" Target="../tags/tag24.xml"/><Relationship Id="rId10" Type="http://schemas.openxmlformats.org/officeDocument/2006/relationships/image" Target="../media/image45.wmf"/><Relationship Id="rId4" Type="http://schemas.openxmlformats.org/officeDocument/2006/relationships/tags" Target="../tags/tag23.xml"/><Relationship Id="rId9" Type="http://schemas.openxmlformats.org/officeDocument/2006/relationships/oleObject" Target="../embeddings/oleObject42.bin"/></Relationships>
</file>

<file path=ppt/slides/_rels/slide21.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oleObject" Target="../embeddings/oleObject44.bin"/><Relationship Id="rId7" Type="http://schemas.openxmlformats.org/officeDocument/2006/relationships/oleObject" Target="../embeddings/oleObject32.bin"/><Relationship Id="rId12" Type="http://schemas.openxmlformats.org/officeDocument/2006/relationships/image" Target="../media/image42.wmf"/><Relationship Id="rId2" Type="http://schemas.openxmlformats.org/officeDocument/2006/relationships/slideLayout" Target="../slideLayouts/slideLayout7.xml"/><Relationship Id="rId1" Type="http://schemas.openxmlformats.org/officeDocument/2006/relationships/tags" Target="../tags/tag25.xml"/><Relationship Id="rId6" Type="http://schemas.openxmlformats.org/officeDocument/2006/relationships/image" Target="../media/image48.wmf"/><Relationship Id="rId11" Type="http://schemas.openxmlformats.org/officeDocument/2006/relationships/oleObject" Target="../embeddings/oleObject47.bin"/><Relationship Id="rId5" Type="http://schemas.openxmlformats.org/officeDocument/2006/relationships/oleObject" Target="../embeddings/oleObject45.bin"/><Relationship Id="rId10" Type="http://schemas.openxmlformats.org/officeDocument/2006/relationships/image" Target="../media/image49.wmf"/><Relationship Id="rId4" Type="http://schemas.openxmlformats.org/officeDocument/2006/relationships/image" Target="../media/image47.wmf"/><Relationship Id="rId9" Type="http://schemas.openxmlformats.org/officeDocument/2006/relationships/oleObject" Target="../embeddings/oleObject46.bin"/></Relationships>
</file>

<file path=ppt/slides/_rels/slide22.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tags" Target="../tags/tag28.xml"/><Relationship Id="rId7" Type="http://schemas.openxmlformats.org/officeDocument/2006/relationships/oleObject" Target="../embeddings/oleObject49.bin"/><Relationship Id="rId12" Type="http://schemas.openxmlformats.org/officeDocument/2006/relationships/image" Target="../media/image42.wmf"/><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50.wmf"/><Relationship Id="rId11" Type="http://schemas.openxmlformats.org/officeDocument/2006/relationships/oleObject" Target="../embeddings/oleObject47.bin"/><Relationship Id="rId5" Type="http://schemas.openxmlformats.org/officeDocument/2006/relationships/oleObject" Target="../embeddings/oleObject48.bin"/><Relationship Id="rId10" Type="http://schemas.openxmlformats.org/officeDocument/2006/relationships/image" Target="../media/image35.wmf"/><Relationship Id="rId4" Type="http://schemas.openxmlformats.org/officeDocument/2006/relationships/slideLayout" Target="../slideLayouts/slideLayout7.xml"/><Relationship Id="rId9" Type="http://schemas.openxmlformats.org/officeDocument/2006/relationships/oleObject" Target="../embeddings/oleObject32.bin"/></Relationships>
</file>

<file path=ppt/slides/_rels/slide23.xml.rels><?xml version="1.0" encoding="UTF-8" standalone="yes"?>
<Relationships xmlns="http://schemas.openxmlformats.org/package/2006/relationships"><Relationship Id="rId8" Type="http://schemas.openxmlformats.org/officeDocument/2006/relationships/image" Target="../media/image53.wmf"/><Relationship Id="rId13" Type="http://schemas.openxmlformats.org/officeDocument/2006/relationships/oleObject" Target="../embeddings/oleObject54.bin"/><Relationship Id="rId3" Type="http://schemas.openxmlformats.org/officeDocument/2006/relationships/tags" Target="../tags/tag31.xml"/><Relationship Id="rId7" Type="http://schemas.openxmlformats.org/officeDocument/2006/relationships/oleObject" Target="../embeddings/oleObject51.bin"/><Relationship Id="rId12" Type="http://schemas.openxmlformats.org/officeDocument/2006/relationships/image" Target="../media/image55.wmf"/><Relationship Id="rId2" Type="http://schemas.openxmlformats.org/officeDocument/2006/relationships/tags" Target="../tags/tag30.xml"/><Relationship Id="rId16" Type="http://schemas.openxmlformats.org/officeDocument/2006/relationships/image" Target="../media/image57.wmf"/><Relationship Id="rId1" Type="http://schemas.openxmlformats.org/officeDocument/2006/relationships/tags" Target="../tags/tag29.xml"/><Relationship Id="rId6" Type="http://schemas.openxmlformats.org/officeDocument/2006/relationships/image" Target="../media/image52.wmf"/><Relationship Id="rId11" Type="http://schemas.openxmlformats.org/officeDocument/2006/relationships/oleObject" Target="../embeddings/oleObject53.bin"/><Relationship Id="rId5" Type="http://schemas.openxmlformats.org/officeDocument/2006/relationships/oleObject" Target="../embeddings/oleObject50.bin"/><Relationship Id="rId15" Type="http://schemas.openxmlformats.org/officeDocument/2006/relationships/oleObject" Target="../embeddings/oleObject55.bin"/><Relationship Id="rId10" Type="http://schemas.openxmlformats.org/officeDocument/2006/relationships/image" Target="../media/image54.wmf"/><Relationship Id="rId4" Type="http://schemas.openxmlformats.org/officeDocument/2006/relationships/slideLayout" Target="../slideLayouts/slideLayout7.xml"/><Relationship Id="rId9" Type="http://schemas.openxmlformats.org/officeDocument/2006/relationships/oleObject" Target="../embeddings/oleObject52.bin"/><Relationship Id="rId14" Type="http://schemas.openxmlformats.org/officeDocument/2006/relationships/image" Target="../media/image56.wmf"/></Relationships>
</file>

<file path=ppt/slides/_rels/slide24.xml.rels><?xml version="1.0" encoding="UTF-8" standalone="yes"?>
<Relationships xmlns="http://schemas.openxmlformats.org/package/2006/relationships"><Relationship Id="rId8" Type="http://schemas.openxmlformats.org/officeDocument/2006/relationships/image" Target="../media/image58.wmf"/><Relationship Id="rId3" Type="http://schemas.openxmlformats.org/officeDocument/2006/relationships/tags" Target="../tags/tag34.xml"/><Relationship Id="rId7" Type="http://schemas.openxmlformats.org/officeDocument/2006/relationships/oleObject" Target="../embeddings/oleObject56.bin"/><Relationship Id="rId12" Type="http://schemas.openxmlformats.org/officeDocument/2006/relationships/image" Target="../media/image54.wmf"/><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52.wmf"/><Relationship Id="rId11" Type="http://schemas.openxmlformats.org/officeDocument/2006/relationships/oleObject" Target="../embeddings/oleObject52.bin"/><Relationship Id="rId5" Type="http://schemas.openxmlformats.org/officeDocument/2006/relationships/oleObject" Target="../embeddings/oleObject50.bin"/><Relationship Id="rId10" Type="http://schemas.openxmlformats.org/officeDocument/2006/relationships/image" Target="../media/image59.wmf"/><Relationship Id="rId4" Type="http://schemas.openxmlformats.org/officeDocument/2006/relationships/slideLayout" Target="../slideLayouts/slideLayout7.xml"/><Relationship Id="rId9" Type="http://schemas.openxmlformats.org/officeDocument/2006/relationships/oleObject" Target="../embeddings/oleObject57.bin"/></Relationships>
</file>

<file path=ppt/slides/_rels/slide25.x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tags" Target="../tags/tag37.xml"/><Relationship Id="rId7" Type="http://schemas.openxmlformats.org/officeDocument/2006/relationships/oleObject" Target="../embeddings/oleObject58.bin"/><Relationship Id="rId12" Type="http://schemas.openxmlformats.org/officeDocument/2006/relationships/image" Target="../media/image54.w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52.wmf"/><Relationship Id="rId11" Type="http://schemas.openxmlformats.org/officeDocument/2006/relationships/oleObject" Target="../embeddings/oleObject52.bin"/><Relationship Id="rId5" Type="http://schemas.openxmlformats.org/officeDocument/2006/relationships/oleObject" Target="../embeddings/oleObject50.bin"/><Relationship Id="rId10" Type="http://schemas.openxmlformats.org/officeDocument/2006/relationships/image" Target="../media/image61.wmf"/><Relationship Id="rId4" Type="http://schemas.openxmlformats.org/officeDocument/2006/relationships/slideLayout" Target="../slideLayouts/slideLayout7.xml"/><Relationship Id="rId9" Type="http://schemas.openxmlformats.org/officeDocument/2006/relationships/oleObject" Target="../embeddings/oleObject59.bin"/></Relationships>
</file>

<file path=ppt/slides/_rels/slide26.x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tags" Target="../tags/tag40.xml"/><Relationship Id="rId7" Type="http://schemas.openxmlformats.org/officeDocument/2006/relationships/oleObject" Target="../embeddings/oleObject60.bin"/><Relationship Id="rId12" Type="http://schemas.openxmlformats.org/officeDocument/2006/relationships/image" Target="../media/image54.wmf"/><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52.wmf"/><Relationship Id="rId11" Type="http://schemas.openxmlformats.org/officeDocument/2006/relationships/oleObject" Target="../embeddings/oleObject52.bin"/><Relationship Id="rId5" Type="http://schemas.openxmlformats.org/officeDocument/2006/relationships/oleObject" Target="../embeddings/oleObject50.bin"/><Relationship Id="rId10" Type="http://schemas.openxmlformats.org/officeDocument/2006/relationships/image" Target="../media/image63.wmf"/><Relationship Id="rId4" Type="http://schemas.openxmlformats.org/officeDocument/2006/relationships/slideLayout" Target="../slideLayouts/slideLayout7.xml"/><Relationship Id="rId9" Type="http://schemas.openxmlformats.org/officeDocument/2006/relationships/oleObject" Target="../embeddings/oleObject61.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55.bin"/><Relationship Id="rId3" Type="http://schemas.openxmlformats.org/officeDocument/2006/relationships/slideLayout" Target="../slideLayouts/slideLayout7.xml"/><Relationship Id="rId7" Type="http://schemas.openxmlformats.org/officeDocument/2006/relationships/image" Target="../media/image56.wmf"/><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oleObject" Target="../embeddings/oleObject54.bin"/><Relationship Id="rId11" Type="http://schemas.openxmlformats.org/officeDocument/2006/relationships/image" Target="../media/image64.wmf"/><Relationship Id="rId5" Type="http://schemas.openxmlformats.org/officeDocument/2006/relationships/image" Target="../media/image52.wmf"/><Relationship Id="rId10" Type="http://schemas.openxmlformats.org/officeDocument/2006/relationships/oleObject" Target="../embeddings/oleObject62.bin"/><Relationship Id="rId4" Type="http://schemas.openxmlformats.org/officeDocument/2006/relationships/oleObject" Target="../embeddings/oleObject50.bin"/><Relationship Id="rId9" Type="http://schemas.openxmlformats.org/officeDocument/2006/relationships/image" Target="../media/image57.wmf"/></Relationships>
</file>

<file path=ppt/slides/_rels/slide28.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slideLayout" Target="../slideLayouts/slideLayout7.xml"/><Relationship Id="rId7" Type="http://schemas.openxmlformats.org/officeDocument/2006/relationships/image" Target="../media/image66.wmf"/><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oleObject" Target="../embeddings/oleObject64.bin"/><Relationship Id="rId5" Type="http://schemas.openxmlformats.org/officeDocument/2006/relationships/image" Target="../media/image65.wmf"/><Relationship Id="rId4" Type="http://schemas.openxmlformats.org/officeDocument/2006/relationships/oleObject" Target="../embeddings/oleObject63.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67.bin"/><Relationship Id="rId3" Type="http://schemas.openxmlformats.org/officeDocument/2006/relationships/slideLayout" Target="../slideLayouts/slideLayout7.xml"/><Relationship Id="rId7" Type="http://schemas.openxmlformats.org/officeDocument/2006/relationships/image" Target="../media/image69.wmf"/><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oleObject" Target="../embeddings/oleObject66.bin"/><Relationship Id="rId5" Type="http://schemas.openxmlformats.org/officeDocument/2006/relationships/image" Target="../media/image68.wmf"/><Relationship Id="rId4" Type="http://schemas.openxmlformats.org/officeDocument/2006/relationships/oleObject" Target="../embeddings/oleObject65.bin"/><Relationship Id="rId9" Type="http://schemas.openxmlformats.org/officeDocument/2006/relationships/image" Target="../media/image70.wmf"/></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8.xml"/></Relationships>
</file>

<file path=ppt/slides/_rels/slide32.xml.rels><?xml version="1.0" encoding="UTF-8" standalone="yes"?>
<Relationships xmlns="http://schemas.openxmlformats.org/package/2006/relationships"><Relationship Id="rId8" Type="http://schemas.openxmlformats.org/officeDocument/2006/relationships/image" Target="../media/image73.wmf"/><Relationship Id="rId3" Type="http://schemas.openxmlformats.org/officeDocument/2006/relationships/oleObject" Target="../embeddings/oleObject68.bin"/><Relationship Id="rId7" Type="http://schemas.openxmlformats.org/officeDocument/2006/relationships/oleObject" Target="../embeddings/oleObject70.bin"/><Relationship Id="rId2" Type="http://schemas.openxmlformats.org/officeDocument/2006/relationships/slideLayout" Target="../slideLayouts/slideLayout7.xml"/><Relationship Id="rId1" Type="http://schemas.openxmlformats.org/officeDocument/2006/relationships/tags" Target="../tags/tag49.xml"/><Relationship Id="rId6" Type="http://schemas.openxmlformats.org/officeDocument/2006/relationships/image" Target="../media/image72.wmf"/><Relationship Id="rId5" Type="http://schemas.openxmlformats.org/officeDocument/2006/relationships/oleObject" Target="../embeddings/oleObject69.bin"/><Relationship Id="rId4" Type="http://schemas.openxmlformats.org/officeDocument/2006/relationships/image" Target="../media/image71.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7.xml"/><Relationship Id="rId1" Type="http://schemas.openxmlformats.org/officeDocument/2006/relationships/tags" Target="../tags/tag50.xml"/><Relationship Id="rId6" Type="http://schemas.openxmlformats.org/officeDocument/2006/relationships/image" Target="../media/image75.wmf"/><Relationship Id="rId5" Type="http://schemas.openxmlformats.org/officeDocument/2006/relationships/oleObject" Target="../embeddings/oleObject72.bin"/><Relationship Id="rId4" Type="http://schemas.openxmlformats.org/officeDocument/2006/relationships/image" Target="../media/image74.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Layout" Target="../slideLayouts/slideLayout7.xml"/><Relationship Id="rId1" Type="http://schemas.openxmlformats.org/officeDocument/2006/relationships/tags" Target="../tags/tag51.xml"/><Relationship Id="rId6" Type="http://schemas.openxmlformats.org/officeDocument/2006/relationships/image" Target="../media/image77.wmf"/><Relationship Id="rId5" Type="http://schemas.openxmlformats.org/officeDocument/2006/relationships/oleObject" Target="../embeddings/oleObject74.bin"/><Relationship Id="rId4" Type="http://schemas.openxmlformats.org/officeDocument/2006/relationships/image" Target="../media/image76.wmf"/></Relationships>
</file>

<file path=ppt/slides/_rels/slide35.xml.rels><?xml version="1.0" encoding="UTF-8" standalone="yes"?>
<Relationships xmlns="http://schemas.openxmlformats.org/package/2006/relationships"><Relationship Id="rId8" Type="http://schemas.openxmlformats.org/officeDocument/2006/relationships/image" Target="../media/image80.wmf"/><Relationship Id="rId3" Type="http://schemas.openxmlformats.org/officeDocument/2006/relationships/oleObject" Target="../embeddings/oleObject75.bin"/><Relationship Id="rId7" Type="http://schemas.openxmlformats.org/officeDocument/2006/relationships/oleObject" Target="../embeddings/oleObject77.bin"/><Relationship Id="rId2" Type="http://schemas.openxmlformats.org/officeDocument/2006/relationships/slideLayout" Target="../slideLayouts/slideLayout7.xml"/><Relationship Id="rId1" Type="http://schemas.openxmlformats.org/officeDocument/2006/relationships/tags" Target="../tags/tag52.xml"/><Relationship Id="rId6" Type="http://schemas.openxmlformats.org/officeDocument/2006/relationships/image" Target="../media/image79.wmf"/><Relationship Id="rId11" Type="http://schemas.openxmlformats.org/officeDocument/2006/relationships/image" Target="../media/image82.png"/><Relationship Id="rId5" Type="http://schemas.openxmlformats.org/officeDocument/2006/relationships/oleObject" Target="../embeddings/oleObject76.bin"/><Relationship Id="rId10" Type="http://schemas.openxmlformats.org/officeDocument/2006/relationships/image" Target="../media/image81.wmf"/><Relationship Id="rId4" Type="http://schemas.openxmlformats.org/officeDocument/2006/relationships/image" Target="../media/image78.wmf"/><Relationship Id="rId9" Type="http://schemas.openxmlformats.org/officeDocument/2006/relationships/oleObject" Target="../embeddings/oleObject78.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79.bin"/><Relationship Id="rId7" Type="http://schemas.openxmlformats.org/officeDocument/2006/relationships/image" Target="../media/image82.png"/><Relationship Id="rId2" Type="http://schemas.openxmlformats.org/officeDocument/2006/relationships/slideLayout" Target="../slideLayouts/slideLayout7.xml"/><Relationship Id="rId1" Type="http://schemas.openxmlformats.org/officeDocument/2006/relationships/tags" Target="../tags/tag53.xml"/><Relationship Id="rId6" Type="http://schemas.openxmlformats.org/officeDocument/2006/relationships/image" Target="../media/image84.wmf"/><Relationship Id="rId5" Type="http://schemas.openxmlformats.org/officeDocument/2006/relationships/oleObject" Target="../embeddings/oleObject80.bin"/><Relationship Id="rId4" Type="http://schemas.openxmlformats.org/officeDocument/2006/relationships/image" Target="../media/image83.wmf"/></Relationships>
</file>

<file path=ppt/slides/_rels/slide37.xml.rels><?xml version="1.0" encoding="UTF-8" standalone="yes"?>
<Relationships xmlns="http://schemas.openxmlformats.org/package/2006/relationships"><Relationship Id="rId8" Type="http://schemas.openxmlformats.org/officeDocument/2006/relationships/image" Target="../media/image87.wmf"/><Relationship Id="rId3" Type="http://schemas.openxmlformats.org/officeDocument/2006/relationships/oleObject" Target="../embeddings/oleObject81.bin"/><Relationship Id="rId7" Type="http://schemas.openxmlformats.org/officeDocument/2006/relationships/oleObject" Target="../embeddings/oleObject83.bin"/><Relationship Id="rId2" Type="http://schemas.openxmlformats.org/officeDocument/2006/relationships/slideLayout" Target="../slideLayouts/slideLayout7.xml"/><Relationship Id="rId1" Type="http://schemas.openxmlformats.org/officeDocument/2006/relationships/tags" Target="../tags/tag54.xml"/><Relationship Id="rId6" Type="http://schemas.openxmlformats.org/officeDocument/2006/relationships/image" Target="../media/image86.wmf"/><Relationship Id="rId11" Type="http://schemas.openxmlformats.org/officeDocument/2006/relationships/image" Target="../media/image89.png"/><Relationship Id="rId5" Type="http://schemas.openxmlformats.org/officeDocument/2006/relationships/oleObject" Target="../embeddings/oleObject82.bin"/><Relationship Id="rId10" Type="http://schemas.openxmlformats.org/officeDocument/2006/relationships/image" Target="../media/image88.wmf"/><Relationship Id="rId4" Type="http://schemas.openxmlformats.org/officeDocument/2006/relationships/image" Target="../media/image85.wmf"/><Relationship Id="rId9" Type="http://schemas.openxmlformats.org/officeDocument/2006/relationships/oleObject" Target="../embeddings/oleObject84.bin"/></Relationships>
</file>

<file path=ppt/slides/_rels/slide38.xml.rels><?xml version="1.0" encoding="UTF-8" standalone="yes"?>
<Relationships xmlns="http://schemas.openxmlformats.org/package/2006/relationships"><Relationship Id="rId8" Type="http://schemas.openxmlformats.org/officeDocument/2006/relationships/image" Target="../media/image92.wmf"/><Relationship Id="rId13" Type="http://schemas.openxmlformats.org/officeDocument/2006/relationships/oleObject" Target="../embeddings/oleObject84.bin"/><Relationship Id="rId3" Type="http://schemas.openxmlformats.org/officeDocument/2006/relationships/oleObject" Target="../embeddings/oleObject85.bin"/><Relationship Id="rId7" Type="http://schemas.openxmlformats.org/officeDocument/2006/relationships/oleObject" Target="../embeddings/oleObject87.bin"/><Relationship Id="rId12" Type="http://schemas.openxmlformats.org/officeDocument/2006/relationships/image" Target="../media/image94.wmf"/><Relationship Id="rId17" Type="http://schemas.openxmlformats.org/officeDocument/2006/relationships/image" Target="../media/image83.wmf"/><Relationship Id="rId2" Type="http://schemas.openxmlformats.org/officeDocument/2006/relationships/slideLayout" Target="../slideLayouts/slideLayout7.xml"/><Relationship Id="rId16" Type="http://schemas.openxmlformats.org/officeDocument/2006/relationships/oleObject" Target="../embeddings/oleObject79.bin"/><Relationship Id="rId1" Type="http://schemas.openxmlformats.org/officeDocument/2006/relationships/tags" Target="../tags/tag55.xml"/><Relationship Id="rId6" Type="http://schemas.openxmlformats.org/officeDocument/2006/relationships/image" Target="../media/image91.wmf"/><Relationship Id="rId11" Type="http://schemas.openxmlformats.org/officeDocument/2006/relationships/oleObject" Target="../embeddings/oleObject89.bin"/><Relationship Id="rId5" Type="http://schemas.openxmlformats.org/officeDocument/2006/relationships/oleObject" Target="../embeddings/oleObject86.bin"/><Relationship Id="rId15" Type="http://schemas.openxmlformats.org/officeDocument/2006/relationships/image" Target="../media/image82.png"/><Relationship Id="rId10" Type="http://schemas.openxmlformats.org/officeDocument/2006/relationships/image" Target="../media/image93.wmf"/><Relationship Id="rId4" Type="http://schemas.openxmlformats.org/officeDocument/2006/relationships/image" Target="../media/image90.wmf"/><Relationship Id="rId9" Type="http://schemas.openxmlformats.org/officeDocument/2006/relationships/oleObject" Target="../embeddings/oleObject88.bin"/><Relationship Id="rId14" Type="http://schemas.openxmlformats.org/officeDocument/2006/relationships/image" Target="../media/image88.wmf"/></Relationships>
</file>

<file path=ppt/slides/_rels/slide39.xml.rels><?xml version="1.0" encoding="UTF-8" standalone="yes"?>
<Relationships xmlns="http://schemas.openxmlformats.org/package/2006/relationships"><Relationship Id="rId8" Type="http://schemas.openxmlformats.org/officeDocument/2006/relationships/image" Target="../media/image97.wmf"/><Relationship Id="rId3" Type="http://schemas.openxmlformats.org/officeDocument/2006/relationships/oleObject" Target="../embeddings/oleObject90.bin"/><Relationship Id="rId7" Type="http://schemas.openxmlformats.org/officeDocument/2006/relationships/oleObject" Target="../embeddings/oleObject92.bin"/><Relationship Id="rId12" Type="http://schemas.openxmlformats.org/officeDocument/2006/relationships/image" Target="../media/image99.wmf"/><Relationship Id="rId2" Type="http://schemas.openxmlformats.org/officeDocument/2006/relationships/slideLayout" Target="../slideLayouts/slideLayout7.xml"/><Relationship Id="rId1" Type="http://schemas.openxmlformats.org/officeDocument/2006/relationships/tags" Target="../tags/tag56.xml"/><Relationship Id="rId6" Type="http://schemas.openxmlformats.org/officeDocument/2006/relationships/image" Target="../media/image96.wmf"/><Relationship Id="rId11" Type="http://schemas.openxmlformats.org/officeDocument/2006/relationships/oleObject" Target="../embeddings/oleObject94.bin"/><Relationship Id="rId5" Type="http://schemas.openxmlformats.org/officeDocument/2006/relationships/oleObject" Target="../embeddings/oleObject91.bin"/><Relationship Id="rId10" Type="http://schemas.openxmlformats.org/officeDocument/2006/relationships/image" Target="../media/image98.wmf"/><Relationship Id="rId4" Type="http://schemas.openxmlformats.org/officeDocument/2006/relationships/image" Target="../media/image95.wmf"/><Relationship Id="rId9" Type="http://schemas.openxmlformats.org/officeDocument/2006/relationships/oleObject" Target="../embeddings/oleObject93.bin"/></Relationships>
</file>

<file path=ppt/slides/_rels/slide40.xml.rels><?xml version="1.0" encoding="UTF-8" standalone="yes"?>
<Relationships xmlns="http://schemas.openxmlformats.org/package/2006/relationships"><Relationship Id="rId8" Type="http://schemas.openxmlformats.org/officeDocument/2006/relationships/image" Target="../media/image102.wmf"/><Relationship Id="rId3" Type="http://schemas.openxmlformats.org/officeDocument/2006/relationships/oleObject" Target="../embeddings/oleObject95.bin"/><Relationship Id="rId7" Type="http://schemas.openxmlformats.org/officeDocument/2006/relationships/oleObject" Target="../embeddings/oleObject97.bin"/><Relationship Id="rId2" Type="http://schemas.openxmlformats.org/officeDocument/2006/relationships/slideLayout" Target="../slideLayouts/slideLayout7.xml"/><Relationship Id="rId1" Type="http://schemas.openxmlformats.org/officeDocument/2006/relationships/tags" Target="../tags/tag57.xml"/><Relationship Id="rId6" Type="http://schemas.openxmlformats.org/officeDocument/2006/relationships/image" Target="../media/image101.wmf"/><Relationship Id="rId5" Type="http://schemas.openxmlformats.org/officeDocument/2006/relationships/oleObject" Target="../embeddings/oleObject96.bin"/><Relationship Id="rId10" Type="http://schemas.openxmlformats.org/officeDocument/2006/relationships/image" Target="../media/image103.wmf"/><Relationship Id="rId4" Type="http://schemas.openxmlformats.org/officeDocument/2006/relationships/image" Target="../media/image100.wmf"/><Relationship Id="rId9" Type="http://schemas.openxmlformats.org/officeDocument/2006/relationships/oleObject" Target="../embeddings/oleObject98.bin"/></Relationships>
</file>

<file path=ppt/slides/_rels/slide41.xml.rels><?xml version="1.0" encoding="UTF-8" standalone="yes"?>
<Relationships xmlns="http://schemas.openxmlformats.org/package/2006/relationships"><Relationship Id="rId8" Type="http://schemas.openxmlformats.org/officeDocument/2006/relationships/image" Target="../media/image106.wmf"/><Relationship Id="rId3" Type="http://schemas.openxmlformats.org/officeDocument/2006/relationships/oleObject" Target="../embeddings/oleObject99.bin"/><Relationship Id="rId7" Type="http://schemas.openxmlformats.org/officeDocument/2006/relationships/oleObject" Target="../embeddings/oleObject101.bin"/><Relationship Id="rId2" Type="http://schemas.openxmlformats.org/officeDocument/2006/relationships/slideLayout" Target="../slideLayouts/slideLayout7.xml"/><Relationship Id="rId1" Type="http://schemas.openxmlformats.org/officeDocument/2006/relationships/tags" Target="../tags/tag58.xml"/><Relationship Id="rId6" Type="http://schemas.openxmlformats.org/officeDocument/2006/relationships/image" Target="../media/image105.wmf"/><Relationship Id="rId5" Type="http://schemas.openxmlformats.org/officeDocument/2006/relationships/oleObject" Target="../embeddings/oleObject100.bin"/><Relationship Id="rId10" Type="http://schemas.openxmlformats.org/officeDocument/2006/relationships/image" Target="../media/image107.wmf"/><Relationship Id="rId4" Type="http://schemas.openxmlformats.org/officeDocument/2006/relationships/image" Target="../media/image104.wmf"/><Relationship Id="rId9" Type="http://schemas.openxmlformats.org/officeDocument/2006/relationships/oleObject" Target="../embeddings/oleObject102.bin"/></Relationships>
</file>

<file path=ppt/slides/_rels/slide42.xml.rels><?xml version="1.0" encoding="UTF-8" standalone="yes"?>
<Relationships xmlns="http://schemas.openxmlformats.org/package/2006/relationships"><Relationship Id="rId8" Type="http://schemas.openxmlformats.org/officeDocument/2006/relationships/image" Target="../media/image110.wmf"/><Relationship Id="rId3" Type="http://schemas.openxmlformats.org/officeDocument/2006/relationships/oleObject" Target="../embeddings/oleObject103.bin"/><Relationship Id="rId7" Type="http://schemas.openxmlformats.org/officeDocument/2006/relationships/oleObject" Target="../embeddings/oleObject105.bin"/><Relationship Id="rId2" Type="http://schemas.openxmlformats.org/officeDocument/2006/relationships/slideLayout" Target="../slideLayouts/slideLayout7.xml"/><Relationship Id="rId1" Type="http://schemas.openxmlformats.org/officeDocument/2006/relationships/tags" Target="../tags/tag59.xml"/><Relationship Id="rId6" Type="http://schemas.openxmlformats.org/officeDocument/2006/relationships/image" Target="../media/image109.wmf"/><Relationship Id="rId5" Type="http://schemas.openxmlformats.org/officeDocument/2006/relationships/oleObject" Target="../embeddings/oleObject104.bin"/><Relationship Id="rId10" Type="http://schemas.openxmlformats.org/officeDocument/2006/relationships/image" Target="../media/image111.wmf"/><Relationship Id="rId4" Type="http://schemas.openxmlformats.org/officeDocument/2006/relationships/image" Target="../media/image108.wmf"/><Relationship Id="rId9" Type="http://schemas.openxmlformats.org/officeDocument/2006/relationships/oleObject" Target="../embeddings/oleObject106.bin"/></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07.bin"/><Relationship Id="rId2" Type="http://schemas.openxmlformats.org/officeDocument/2006/relationships/slideLayout" Target="../slideLayouts/slideLayout7.xml"/><Relationship Id="rId1" Type="http://schemas.openxmlformats.org/officeDocument/2006/relationships/tags" Target="../tags/tag60.xml"/><Relationship Id="rId4" Type="http://schemas.openxmlformats.org/officeDocument/2006/relationships/image" Target="../media/image112.wmf"/></Relationships>
</file>

<file path=ppt/slides/_rels/slide44.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574675" y="609600"/>
            <a:ext cx="6435725" cy="911225"/>
          </a:xfrm>
        </p:spPr>
        <p:txBody>
          <a:bodyPr/>
          <a:lstStyle/>
          <a:p>
            <a:pPr eaLnBrk="1" hangingPunct="1"/>
            <a:r>
              <a:rPr lang="zh-CN" altLang="en-US" dirty="0"/>
              <a:t>第</a:t>
            </a:r>
            <a:r>
              <a:rPr lang="en-US" altLang="zh-CN" dirty="0"/>
              <a:t>8</a:t>
            </a:r>
            <a:r>
              <a:rPr lang="zh-CN" altLang="en-US" dirty="0"/>
              <a:t>章  动态规划</a:t>
            </a:r>
            <a:r>
              <a:rPr lang="en-US" altLang="zh-CN" dirty="0"/>
              <a:t>-</a:t>
            </a:r>
            <a:r>
              <a:rPr lang="zh-CN" altLang="en-US" dirty="0"/>
              <a:t>应用举例</a:t>
            </a:r>
          </a:p>
        </p:txBody>
      </p:sp>
      <p:sp>
        <p:nvSpPr>
          <p:cNvPr id="5123" name="Rectangle 3"/>
          <p:cNvSpPr>
            <a:spLocks noGrp="1" noChangeArrowheads="1"/>
          </p:cNvSpPr>
          <p:nvPr>
            <p:ph type="body" idx="1"/>
          </p:nvPr>
        </p:nvSpPr>
        <p:spPr>
          <a:xfrm>
            <a:off x="838200" y="2209800"/>
            <a:ext cx="6096000" cy="1981200"/>
          </a:xfrm>
        </p:spPr>
        <p:txBody>
          <a:bodyPr/>
          <a:lstStyle/>
          <a:p>
            <a:pPr eaLnBrk="1" hangingPunct="1">
              <a:lnSpc>
                <a:spcPct val="150000"/>
              </a:lnSpc>
            </a:pPr>
            <a:r>
              <a:rPr lang="en-US" altLang="zh-CN" sz="3200" b="1" dirty="0"/>
              <a:t>1. </a:t>
            </a:r>
            <a:r>
              <a:rPr lang="zh-CN" altLang="en-US" sz="3200" b="1" dirty="0"/>
              <a:t>资源分配问题</a:t>
            </a:r>
            <a:endParaRPr lang="en-US" altLang="zh-CN" sz="3200" b="1" dirty="0"/>
          </a:p>
          <a:p>
            <a:pPr eaLnBrk="1" hangingPunct="1">
              <a:lnSpc>
                <a:spcPct val="150000"/>
              </a:lnSpc>
            </a:pPr>
            <a:r>
              <a:rPr lang="en-US" altLang="zh-CN" sz="3200" b="1" dirty="0"/>
              <a:t>2. </a:t>
            </a:r>
            <a:r>
              <a:rPr lang="zh-CN" altLang="en-US" sz="3200" b="1" dirty="0"/>
              <a:t>生产与存储问题</a:t>
            </a:r>
            <a:endParaRPr lang="en-US" altLang="zh-CN" sz="32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4675" y="762000"/>
            <a:ext cx="4759325" cy="758825"/>
          </a:xfrm>
        </p:spPr>
        <p:txBody>
          <a:bodyPr/>
          <a:lstStyle/>
          <a:p>
            <a:r>
              <a:rPr lang="en-US" altLang="zh-CN" sz="4000" dirty="0"/>
              <a:t>2. </a:t>
            </a:r>
            <a:r>
              <a:rPr lang="zh-CN" altLang="en-US" sz="4000" dirty="0"/>
              <a:t>生产与存储问题</a:t>
            </a:r>
            <a:endParaRPr lang="zh-CN" altLang="en-US" dirty="0"/>
          </a:p>
        </p:txBody>
      </p:sp>
      <p:sp>
        <p:nvSpPr>
          <p:cNvPr id="3" name="内容占位符 2"/>
          <p:cNvSpPr>
            <a:spLocks noGrp="1"/>
          </p:cNvSpPr>
          <p:nvPr>
            <p:ph idx="1"/>
          </p:nvPr>
        </p:nvSpPr>
        <p:spPr>
          <a:xfrm>
            <a:off x="685800" y="1752600"/>
            <a:ext cx="7881938" cy="3733800"/>
          </a:xfrm>
        </p:spPr>
        <p:txBody>
          <a:bodyPr/>
          <a:lstStyle/>
          <a:p>
            <a:pPr>
              <a:lnSpc>
                <a:spcPct val="125000"/>
              </a:lnSpc>
            </a:pPr>
            <a:r>
              <a:rPr lang="zh-CN" altLang="en-US" sz="2600" dirty="0"/>
              <a:t>在生产和经营管理中，经常遇到要合理地安排生产</a:t>
            </a:r>
            <a:r>
              <a:rPr lang="en-US" altLang="zh-CN" sz="2600" dirty="0"/>
              <a:t>(</a:t>
            </a:r>
            <a:r>
              <a:rPr lang="zh-CN" altLang="en-US" sz="2600" dirty="0"/>
              <a:t>或购买</a:t>
            </a:r>
            <a:r>
              <a:rPr lang="en-US" altLang="zh-CN" sz="2600" dirty="0"/>
              <a:t>)</a:t>
            </a:r>
            <a:r>
              <a:rPr lang="zh-CN" altLang="en-US" sz="2600" dirty="0"/>
              <a:t>与库存的问题，达到既要满足社会的需要，又要尽量降低成本费用。</a:t>
            </a:r>
            <a:endParaRPr lang="en-US" altLang="zh-CN" sz="2600" dirty="0"/>
          </a:p>
          <a:p>
            <a:pPr>
              <a:lnSpc>
                <a:spcPct val="125000"/>
              </a:lnSpc>
            </a:pPr>
            <a:r>
              <a:rPr lang="zh-CN" altLang="en-US" sz="2600" dirty="0"/>
              <a:t>因此，正确制定生产</a:t>
            </a:r>
            <a:r>
              <a:rPr lang="en-US" altLang="zh-CN" sz="2600" dirty="0"/>
              <a:t>(</a:t>
            </a:r>
            <a:r>
              <a:rPr lang="zh-CN" altLang="en-US" sz="2600" dirty="0"/>
              <a:t>或采购</a:t>
            </a:r>
            <a:r>
              <a:rPr lang="en-US" altLang="zh-CN" sz="2600" dirty="0"/>
              <a:t>)</a:t>
            </a:r>
            <a:r>
              <a:rPr lang="zh-CN" altLang="en-US" sz="2600" dirty="0"/>
              <a:t>策略，确定不同时期的生产量</a:t>
            </a:r>
            <a:r>
              <a:rPr lang="en-US" altLang="zh-CN" sz="2600" dirty="0"/>
              <a:t>(</a:t>
            </a:r>
            <a:r>
              <a:rPr lang="zh-CN" altLang="en-US" sz="2600" dirty="0"/>
              <a:t>或采购量</a:t>
            </a:r>
            <a:r>
              <a:rPr lang="en-US" altLang="zh-CN" sz="2600" dirty="0"/>
              <a:t>)</a:t>
            </a:r>
            <a:r>
              <a:rPr lang="zh-CN" altLang="en-US" sz="2600" dirty="0"/>
              <a:t>和库存量，以使</a:t>
            </a:r>
            <a:r>
              <a:rPr lang="zh-CN" altLang="en-US" sz="2600" b="1" dirty="0">
                <a:solidFill>
                  <a:srgbClr val="FF0000"/>
                </a:solidFill>
              </a:rPr>
              <a:t>总的生产成本费用</a:t>
            </a:r>
            <a:r>
              <a:rPr lang="zh-CN" altLang="en-US" sz="2600" dirty="0"/>
              <a:t>和</a:t>
            </a:r>
            <a:r>
              <a:rPr lang="zh-CN" altLang="en-US" sz="2600" b="1" dirty="0">
                <a:solidFill>
                  <a:srgbClr val="FF0000"/>
                </a:solidFill>
              </a:rPr>
              <a:t>库存费用</a:t>
            </a:r>
            <a:r>
              <a:rPr lang="zh-CN" altLang="en-US" sz="2600" dirty="0"/>
              <a:t>之和最小，这就是生产与存储问题的最优化目标。</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3"/>
          <p:cNvSpPr>
            <a:spLocks noGrp="1" noChangeArrowheads="1"/>
          </p:cNvSpPr>
          <p:nvPr>
            <p:ph idx="4294967295"/>
          </p:nvPr>
        </p:nvSpPr>
        <p:spPr>
          <a:xfrm>
            <a:off x="1295400" y="1981200"/>
            <a:ext cx="4278312" cy="2579687"/>
          </a:xfrm>
        </p:spPr>
        <p:txBody>
          <a:bodyPr/>
          <a:lstStyle/>
          <a:p>
            <a:pPr eaLnBrk="1" hangingPunct="1">
              <a:lnSpc>
                <a:spcPct val="150000"/>
              </a:lnSpc>
              <a:buFont typeface="Wingdings" panose="05000000000000000000" pitchFamily="2" charset="2"/>
              <a:buChar char="n"/>
            </a:pPr>
            <a:r>
              <a:rPr lang="zh-CN" altLang="en-US" dirty="0"/>
              <a:t>（</a:t>
            </a:r>
            <a:r>
              <a:rPr lang="en-US" altLang="zh-CN" dirty="0"/>
              <a:t>1</a:t>
            </a:r>
            <a:r>
              <a:rPr lang="zh-CN" altLang="en-US" dirty="0"/>
              <a:t>）</a:t>
            </a:r>
            <a:r>
              <a:rPr lang="zh-CN" altLang="en-US" dirty="0">
                <a:solidFill>
                  <a:srgbClr val="00CC00"/>
                </a:solidFill>
                <a:hlinkClick r:id="rId2" action="ppaction://hlinksldjump"/>
              </a:rPr>
              <a:t>生产计划问题</a:t>
            </a:r>
            <a:endParaRPr lang="zh-CN" altLang="en-US" dirty="0">
              <a:solidFill>
                <a:srgbClr val="00CC00"/>
              </a:solidFill>
            </a:endParaRPr>
          </a:p>
          <a:p>
            <a:pPr eaLnBrk="1" hangingPunct="1">
              <a:lnSpc>
                <a:spcPct val="150000"/>
              </a:lnSpc>
              <a:buFont typeface="Wingdings" panose="05000000000000000000" pitchFamily="2" charset="2"/>
              <a:buChar char="n"/>
            </a:pPr>
            <a:r>
              <a:rPr lang="zh-CN" altLang="en-US" dirty="0"/>
              <a:t>（</a:t>
            </a:r>
            <a:r>
              <a:rPr lang="en-US" altLang="zh-CN" dirty="0"/>
              <a:t>2</a:t>
            </a:r>
            <a:r>
              <a:rPr lang="zh-CN" altLang="en-US" dirty="0"/>
              <a:t>）</a:t>
            </a:r>
            <a:r>
              <a:rPr lang="zh-CN" altLang="en-US" dirty="0">
                <a:hlinkClick r:id="rId3" action="ppaction://hlinksldjump"/>
              </a:rPr>
              <a:t>动态规划模型</a:t>
            </a:r>
            <a:endParaRPr lang="zh-CN" altLang="en-US" dirty="0"/>
          </a:p>
          <a:p>
            <a:pPr eaLnBrk="1" hangingPunct="1">
              <a:lnSpc>
                <a:spcPct val="150000"/>
              </a:lnSpc>
              <a:buFont typeface="Wingdings" panose="05000000000000000000" pitchFamily="2" charset="2"/>
              <a:buChar char="n"/>
            </a:pPr>
            <a:r>
              <a:rPr lang="zh-CN" altLang="en-US" dirty="0"/>
              <a:t>（</a:t>
            </a:r>
            <a:r>
              <a:rPr lang="en-US" altLang="zh-CN" dirty="0"/>
              <a:t>3</a:t>
            </a:r>
            <a:r>
              <a:rPr lang="zh-CN" altLang="en-US" dirty="0"/>
              <a:t>）</a:t>
            </a:r>
            <a:r>
              <a:rPr lang="zh-CN" altLang="en-US" dirty="0">
                <a:hlinkClick r:id="rId4" action="ppaction://hlinksldjump"/>
              </a:rPr>
              <a:t>算例</a:t>
            </a:r>
            <a:endParaRPr lang="zh-CN" altLang="en-US" dirty="0"/>
          </a:p>
        </p:txBody>
      </p:sp>
      <p:sp>
        <p:nvSpPr>
          <p:cNvPr id="79876" name="AutoShape 4">
            <a:hlinkClick r:id="rId5" action="ppaction://hlinksldjump" highlightClick="1"/>
          </p:cNvPr>
          <p:cNvSpPr>
            <a:spLocks noChangeArrowheads="1"/>
          </p:cNvSpPr>
          <p:nvPr/>
        </p:nvSpPr>
        <p:spPr bwMode="auto">
          <a:xfrm>
            <a:off x="7885113" y="5949950"/>
            <a:ext cx="647700" cy="503238"/>
          </a:xfrm>
          <a:prstGeom prst="actionButtonEnd">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79878"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BACD6AC9-C67D-46A7-8AC7-C2093383E7A6}" type="slidenum">
              <a:rPr lang="en-US" altLang="zh-CN" sz="1400">
                <a:latin typeface="Times New Roman" panose="02020603050405020304" pitchFamily="18" charset="0"/>
              </a:rPr>
              <a:t>3</a:t>
            </a:fld>
            <a:endParaRPr lang="en-US" altLang="zh-CN" sz="1400">
              <a:latin typeface="Times New Roman" panose="02020603050405020304" pitchFamily="18" charset="0"/>
            </a:endParaRPr>
          </a:p>
        </p:txBody>
      </p:sp>
      <p:sp>
        <p:nvSpPr>
          <p:cNvPr id="7" name="标题 1"/>
          <p:cNvSpPr txBox="1"/>
          <p:nvPr/>
        </p:nvSpPr>
        <p:spPr>
          <a:xfrm>
            <a:off x="574675" y="762000"/>
            <a:ext cx="4759325" cy="758825"/>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en-US" altLang="zh-CN" sz="4000" kern="0" dirty="0"/>
              <a:t>2. </a:t>
            </a:r>
            <a:r>
              <a:rPr lang="zh-CN" altLang="en-US" sz="4000" kern="0" dirty="0"/>
              <a:t>生产计划问题</a:t>
            </a:r>
            <a:endParaRPr lang="zh-CN" altLang="en-US" kern="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3"/>
          <p:cNvSpPr>
            <a:spLocks noGrp="1" noChangeArrowheads="1"/>
          </p:cNvSpPr>
          <p:nvPr>
            <p:ph idx="4294967295"/>
          </p:nvPr>
        </p:nvSpPr>
        <p:spPr>
          <a:xfrm>
            <a:off x="533400" y="1676400"/>
            <a:ext cx="8077200" cy="3810000"/>
          </a:xfrm>
        </p:spPr>
        <p:txBody>
          <a:bodyPr/>
          <a:lstStyle/>
          <a:p>
            <a:pPr eaLnBrk="1" hangingPunct="1">
              <a:lnSpc>
                <a:spcPct val="135000"/>
              </a:lnSpc>
              <a:spcBef>
                <a:spcPts val="0"/>
              </a:spcBef>
              <a:buFont typeface="Wingdings" panose="05000000000000000000" pitchFamily="2" charset="2"/>
              <a:buChar char="p"/>
            </a:pPr>
            <a:r>
              <a:rPr lang="zh-CN" altLang="en-US" sz="2400" dirty="0">
                <a:cs typeface="Times New Roman" panose="02020603050405020304" pitchFamily="18" charset="0"/>
              </a:rPr>
              <a:t>设某公司对某种产品要制定一项</a:t>
            </a:r>
            <a:r>
              <a:rPr lang="en-US" altLang="zh-CN" sz="2400" b="1" i="1" dirty="0">
                <a:latin typeface="Times New Roman" panose="02020603050405020304" pitchFamily="18" charset="0"/>
                <a:cs typeface="Times New Roman" panose="02020603050405020304" pitchFamily="18" charset="0"/>
              </a:rPr>
              <a:t>n</a:t>
            </a:r>
            <a:r>
              <a:rPr lang="zh-CN" altLang="en-US" sz="2400" dirty="0">
                <a:cs typeface="Times New Roman" panose="02020603050405020304" pitchFamily="18" charset="0"/>
              </a:rPr>
              <a:t>个阶段的生产</a:t>
            </a:r>
            <a:r>
              <a:rPr lang="en-US" altLang="zh-CN" sz="2400" dirty="0">
                <a:cs typeface="Times New Roman" panose="02020603050405020304" pitchFamily="18" charset="0"/>
              </a:rPr>
              <a:t>(</a:t>
            </a:r>
            <a:r>
              <a:rPr lang="zh-CN" altLang="en-US" sz="2400" dirty="0">
                <a:cs typeface="Times New Roman" panose="02020603050405020304" pitchFamily="18" charset="0"/>
              </a:rPr>
              <a:t>或购买</a:t>
            </a:r>
            <a:r>
              <a:rPr lang="en-US" altLang="zh-CN" sz="2400" dirty="0">
                <a:cs typeface="Times New Roman" panose="02020603050405020304" pitchFamily="18" charset="0"/>
              </a:rPr>
              <a:t>)</a:t>
            </a:r>
            <a:r>
              <a:rPr lang="zh-CN" altLang="en-US" sz="2400" dirty="0">
                <a:cs typeface="Times New Roman" panose="02020603050405020304" pitchFamily="18" charset="0"/>
              </a:rPr>
              <a:t>计划。</a:t>
            </a:r>
            <a:endParaRPr lang="en-US" altLang="zh-CN" sz="2400" dirty="0">
              <a:cs typeface="Times New Roman" panose="02020603050405020304" pitchFamily="18" charset="0"/>
            </a:endParaRPr>
          </a:p>
          <a:p>
            <a:pPr lvl="1" eaLnBrk="1" hangingPunct="1">
              <a:lnSpc>
                <a:spcPct val="135000"/>
              </a:lnSpc>
              <a:spcBef>
                <a:spcPts val="0"/>
              </a:spcBef>
            </a:pPr>
            <a:r>
              <a:rPr lang="zh-CN" altLang="en-US" sz="2200" dirty="0">
                <a:cs typeface="Times New Roman" panose="02020603050405020304" pitchFamily="18" charset="0"/>
              </a:rPr>
              <a:t>已知它的</a:t>
            </a:r>
            <a:r>
              <a:rPr lang="zh-CN" altLang="en-US" sz="2200" dirty="0">
                <a:solidFill>
                  <a:srgbClr val="C00000"/>
                </a:solidFill>
                <a:cs typeface="Times New Roman" panose="02020603050405020304" pitchFamily="18" charset="0"/>
              </a:rPr>
              <a:t>初始库存量</a:t>
            </a:r>
            <a:r>
              <a:rPr lang="en-US" altLang="zh-CN" sz="2200" i="1" dirty="0">
                <a:solidFill>
                  <a:srgbClr val="C00000"/>
                </a:solidFill>
                <a:latin typeface="Times New Roman" panose="02020603050405020304" pitchFamily="18" charset="0"/>
                <a:cs typeface="Times New Roman" panose="02020603050405020304" pitchFamily="18" charset="0"/>
              </a:rPr>
              <a:t>v</a:t>
            </a:r>
            <a:r>
              <a:rPr lang="en-US" altLang="zh-CN" sz="2200" baseline="-25000" dirty="0">
                <a:solidFill>
                  <a:srgbClr val="C00000"/>
                </a:solidFill>
                <a:cs typeface="Times New Roman" panose="02020603050405020304" pitchFamily="18" charset="0"/>
              </a:rPr>
              <a:t>0</a:t>
            </a:r>
            <a:r>
              <a:rPr lang="en-US" altLang="zh-CN" sz="2200" dirty="0">
                <a:solidFill>
                  <a:srgbClr val="C00000"/>
                </a:solidFill>
                <a:cs typeface="Times New Roman" panose="02020603050405020304" pitchFamily="18" charset="0"/>
              </a:rPr>
              <a:t>=0</a:t>
            </a:r>
            <a:r>
              <a:rPr lang="zh-CN" altLang="en-US" sz="2200" dirty="0">
                <a:solidFill>
                  <a:srgbClr val="C00000"/>
                </a:solidFill>
                <a:cs typeface="Times New Roman" panose="02020603050405020304" pitchFamily="18" charset="0"/>
              </a:rPr>
              <a:t>为零</a:t>
            </a:r>
            <a:r>
              <a:rPr lang="zh-CN" altLang="en-US" sz="2200" dirty="0">
                <a:cs typeface="Times New Roman" panose="02020603050405020304" pitchFamily="18" charset="0"/>
              </a:rPr>
              <a:t>，</a:t>
            </a:r>
            <a:endParaRPr lang="en-US" altLang="zh-CN" sz="2200" dirty="0">
              <a:cs typeface="Times New Roman" panose="02020603050405020304" pitchFamily="18" charset="0"/>
            </a:endParaRPr>
          </a:p>
          <a:p>
            <a:pPr lvl="1" eaLnBrk="1" hangingPunct="1">
              <a:lnSpc>
                <a:spcPct val="135000"/>
              </a:lnSpc>
              <a:spcBef>
                <a:spcPts val="0"/>
              </a:spcBef>
            </a:pPr>
            <a:r>
              <a:rPr lang="zh-CN" altLang="en-US" sz="2200" dirty="0">
                <a:cs typeface="Times New Roman" panose="02020603050405020304" pitchFamily="18" charset="0"/>
              </a:rPr>
              <a:t>每阶段生产该产品的数量有</a:t>
            </a:r>
            <a:r>
              <a:rPr lang="zh-CN" altLang="en-US" sz="2200" dirty="0">
                <a:solidFill>
                  <a:srgbClr val="C00000"/>
                </a:solidFill>
                <a:cs typeface="Times New Roman" panose="02020603050405020304" pitchFamily="18" charset="0"/>
              </a:rPr>
              <a:t>上限的限制</a:t>
            </a:r>
            <a:r>
              <a:rPr lang="en-US" altLang="zh-CN" sz="2200" b="1" i="1" dirty="0" err="1">
                <a:latin typeface="Times New Roman" panose="02020603050405020304" pitchFamily="18" charset="0"/>
                <a:cs typeface="Times New Roman" panose="02020603050405020304" pitchFamily="18" charset="0"/>
              </a:rPr>
              <a:t>x</a:t>
            </a:r>
            <a:r>
              <a:rPr lang="en-US" altLang="zh-CN" sz="2200" b="1" i="1" baseline="-25000" dirty="0" err="1">
                <a:latin typeface="Times New Roman" panose="02020603050405020304" pitchFamily="18" charset="0"/>
                <a:cs typeface="Times New Roman" panose="02020603050405020304" pitchFamily="18" charset="0"/>
              </a:rPr>
              <a:t>k</a:t>
            </a:r>
            <a:r>
              <a:rPr lang="en-US" altLang="zh-CN" sz="2200" b="1" i="1" baseline="-25000" dirty="0">
                <a:latin typeface="Times New Roman" panose="02020603050405020304" pitchFamily="18" charset="0"/>
                <a:cs typeface="Times New Roman" panose="02020603050405020304" pitchFamily="18" charset="0"/>
              </a:rPr>
              <a:t> </a:t>
            </a:r>
            <a:r>
              <a:rPr lang="en-US" altLang="zh-CN" sz="2200" b="1" i="1" dirty="0">
                <a:latin typeface="Times New Roman" panose="02020603050405020304" pitchFamily="18" charset="0"/>
                <a:cs typeface="Times New Roman" panose="02020603050405020304" pitchFamily="18" charset="0"/>
              </a:rPr>
              <a:t>≤ m</a:t>
            </a:r>
            <a:r>
              <a:rPr lang="zh-CN" altLang="en-US" sz="2200" dirty="0">
                <a:cs typeface="Times New Roman" panose="02020603050405020304" pitchFamily="18" charset="0"/>
              </a:rPr>
              <a:t>；</a:t>
            </a:r>
            <a:endParaRPr lang="en-US" altLang="zh-CN" sz="2200" dirty="0">
              <a:cs typeface="Times New Roman" panose="02020603050405020304" pitchFamily="18" charset="0"/>
            </a:endParaRPr>
          </a:p>
          <a:p>
            <a:pPr lvl="1" eaLnBrk="1" hangingPunct="1">
              <a:lnSpc>
                <a:spcPct val="135000"/>
              </a:lnSpc>
              <a:spcBef>
                <a:spcPts val="0"/>
              </a:spcBef>
            </a:pPr>
            <a:r>
              <a:rPr lang="zh-CN" altLang="en-US" sz="2200" dirty="0">
                <a:cs typeface="Times New Roman" panose="02020603050405020304" pitchFamily="18" charset="0"/>
              </a:rPr>
              <a:t>每阶段社会对该产品的</a:t>
            </a:r>
            <a:r>
              <a:rPr lang="zh-CN" altLang="en-US" sz="2200" dirty="0">
                <a:solidFill>
                  <a:srgbClr val="C00000"/>
                </a:solidFill>
                <a:cs typeface="Times New Roman" panose="02020603050405020304" pitchFamily="18" charset="0"/>
              </a:rPr>
              <a:t>需求量</a:t>
            </a:r>
            <a:r>
              <a:rPr lang="en-US" altLang="zh-CN" sz="2200" b="1" i="1" dirty="0" err="1">
                <a:latin typeface="Times New Roman" panose="02020603050405020304" pitchFamily="18" charset="0"/>
                <a:cs typeface="Times New Roman" panose="02020603050405020304" pitchFamily="18" charset="0"/>
              </a:rPr>
              <a:t>d</a:t>
            </a:r>
            <a:r>
              <a:rPr lang="en-US" altLang="zh-CN" sz="2200" b="1" i="1" baseline="-25000" dirty="0" err="1">
                <a:latin typeface="Times New Roman" panose="02020603050405020304" pitchFamily="18" charset="0"/>
                <a:cs typeface="Times New Roman" panose="02020603050405020304" pitchFamily="18" charset="0"/>
              </a:rPr>
              <a:t>k</a:t>
            </a:r>
            <a:r>
              <a:rPr lang="zh-CN" altLang="en-US" sz="2200" dirty="0">
                <a:cs typeface="Times New Roman" panose="02020603050405020304" pitchFamily="18" charset="0"/>
              </a:rPr>
              <a:t>是已知的，公司保证供应；</a:t>
            </a:r>
            <a:endParaRPr lang="en-US" altLang="zh-CN" sz="2200" dirty="0">
              <a:cs typeface="Times New Roman" panose="02020603050405020304" pitchFamily="18" charset="0"/>
            </a:endParaRPr>
          </a:p>
          <a:p>
            <a:pPr lvl="1" eaLnBrk="1" hangingPunct="1">
              <a:lnSpc>
                <a:spcPct val="135000"/>
              </a:lnSpc>
              <a:spcBef>
                <a:spcPts val="0"/>
              </a:spcBef>
            </a:pPr>
            <a:r>
              <a:rPr lang="zh-CN" altLang="en-US" sz="2200" dirty="0">
                <a:cs typeface="Times New Roman" panose="02020603050405020304" pitchFamily="18" charset="0"/>
              </a:rPr>
              <a:t>在</a:t>
            </a:r>
            <a:r>
              <a:rPr lang="en-US" altLang="zh-CN" sz="2200" i="1" dirty="0">
                <a:latin typeface="Times New Roman" panose="02020603050405020304" pitchFamily="18" charset="0"/>
                <a:cs typeface="Times New Roman" panose="02020603050405020304" pitchFamily="18" charset="0"/>
              </a:rPr>
              <a:t>n</a:t>
            </a:r>
            <a:r>
              <a:rPr lang="zh-CN" altLang="en-US" sz="2200" dirty="0">
                <a:cs typeface="Times New Roman" panose="02020603050405020304" pitchFamily="18" charset="0"/>
              </a:rPr>
              <a:t>阶段末的</a:t>
            </a:r>
            <a:r>
              <a:rPr lang="zh-CN" altLang="en-US" sz="2200" dirty="0">
                <a:solidFill>
                  <a:srgbClr val="C00000"/>
                </a:solidFill>
                <a:cs typeface="Times New Roman" panose="02020603050405020304" pitchFamily="18" charset="0"/>
              </a:rPr>
              <a:t>终结库存量为零</a:t>
            </a:r>
            <a:r>
              <a:rPr lang="zh-CN" altLang="en-US" sz="2200" dirty="0">
                <a:cs typeface="Times New Roman" panose="02020603050405020304" pitchFamily="18" charset="0"/>
              </a:rPr>
              <a:t>。</a:t>
            </a:r>
            <a:endParaRPr lang="en-US" altLang="zh-CN" sz="2200" dirty="0">
              <a:cs typeface="Times New Roman" panose="02020603050405020304" pitchFamily="18" charset="0"/>
            </a:endParaRPr>
          </a:p>
          <a:p>
            <a:pPr eaLnBrk="1" hangingPunct="1">
              <a:lnSpc>
                <a:spcPct val="135000"/>
              </a:lnSpc>
              <a:spcBef>
                <a:spcPts val="0"/>
              </a:spcBef>
              <a:buFont typeface="Wingdings" panose="05000000000000000000" pitchFamily="2" charset="2"/>
              <a:buChar char="p"/>
            </a:pPr>
            <a:r>
              <a:rPr lang="zh-CN" altLang="en-US" sz="2400" dirty="0">
                <a:cs typeface="Times New Roman" panose="02020603050405020304" pitchFamily="18" charset="0"/>
              </a:rPr>
              <a:t>问该公司如何制定每个阶段的</a:t>
            </a:r>
            <a:r>
              <a:rPr lang="zh-CN" altLang="en-US" sz="2400" b="1" dirty="0">
                <a:solidFill>
                  <a:srgbClr val="C00000"/>
                </a:solidFill>
                <a:cs typeface="Times New Roman" panose="02020603050405020304" pitchFamily="18" charset="0"/>
              </a:rPr>
              <a:t>生产计划</a:t>
            </a:r>
            <a:r>
              <a:rPr lang="zh-CN" altLang="en-US" sz="2400" dirty="0">
                <a:cs typeface="Times New Roman" panose="02020603050405020304" pitchFamily="18" charset="0"/>
              </a:rPr>
              <a:t>，从而使</a:t>
            </a:r>
            <a:r>
              <a:rPr lang="zh-CN" altLang="en-US" sz="2400" dirty="0">
                <a:solidFill>
                  <a:srgbClr val="C00000"/>
                </a:solidFill>
                <a:cs typeface="Times New Roman" panose="02020603050405020304" pitchFamily="18" charset="0"/>
              </a:rPr>
              <a:t>总成本最小</a:t>
            </a:r>
            <a:r>
              <a:rPr lang="zh-CN" altLang="en-US" sz="2400" dirty="0">
                <a:cs typeface="Times New Roman" panose="02020603050405020304" pitchFamily="18" charset="0"/>
              </a:rPr>
              <a:t>。</a:t>
            </a:r>
          </a:p>
        </p:txBody>
      </p:sp>
      <p:sp>
        <p:nvSpPr>
          <p:cNvPr id="80901"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AAB02142-B8B0-43D1-A4DB-696C502FD4D0}" type="slidenum">
              <a:rPr lang="en-US" altLang="zh-CN" sz="1400">
                <a:latin typeface="Times New Roman" panose="02020603050405020304" pitchFamily="18" charset="0"/>
              </a:rPr>
              <a:t>4</a:t>
            </a:fld>
            <a:endParaRPr lang="en-US" altLang="zh-CN" sz="1400">
              <a:latin typeface="Times New Roman" panose="02020603050405020304" pitchFamily="18" charset="0"/>
            </a:endParaRPr>
          </a:p>
        </p:txBody>
      </p:sp>
      <p:sp>
        <p:nvSpPr>
          <p:cNvPr id="82950" name="矩形 1"/>
          <p:cNvSpPr>
            <a:spLocks noChangeArrowheads="1"/>
          </p:cNvSpPr>
          <p:nvPr/>
        </p:nvSpPr>
        <p:spPr bwMode="auto">
          <a:xfrm>
            <a:off x="1981200" y="5486400"/>
            <a:ext cx="5134739" cy="523220"/>
          </a:xfrm>
          <a:prstGeom prst="rect">
            <a:avLst/>
          </a:prstGeom>
          <a:solidFill>
            <a:schemeClr val="bg1">
              <a:lumMod val="85000"/>
            </a:schemeClr>
          </a:solidFill>
          <a:ln>
            <a:noFill/>
          </a:ln>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b="1" dirty="0">
                <a:cs typeface="Times New Roman" panose="02020603050405020304" pitchFamily="18" charset="0"/>
              </a:rPr>
              <a:t>企业成本</a:t>
            </a:r>
            <a:r>
              <a:rPr lang="en-US" altLang="zh-CN" sz="2800" b="1" dirty="0">
                <a:cs typeface="Times New Roman" panose="02020603050405020304" pitchFamily="18" charset="0"/>
              </a:rPr>
              <a:t>=</a:t>
            </a:r>
            <a:r>
              <a:rPr lang="zh-CN" altLang="en-US" sz="2800" b="1" dirty="0">
                <a:cs typeface="Times New Roman" panose="02020603050405020304" pitchFamily="18" charset="0"/>
              </a:rPr>
              <a:t>生产成本</a:t>
            </a:r>
            <a:r>
              <a:rPr lang="en-US" altLang="zh-CN" sz="2800" b="1" dirty="0">
                <a:cs typeface="Times New Roman" panose="02020603050405020304" pitchFamily="18" charset="0"/>
              </a:rPr>
              <a:t>+</a:t>
            </a:r>
            <a:r>
              <a:rPr lang="zh-CN" altLang="en-US" sz="2800" b="1" dirty="0">
                <a:cs typeface="Times New Roman" panose="02020603050405020304" pitchFamily="18" charset="0"/>
              </a:rPr>
              <a:t>库存成本</a:t>
            </a:r>
            <a:endParaRPr lang="zh-CN" altLang="en-US" sz="2800" dirty="0"/>
          </a:p>
        </p:txBody>
      </p:sp>
      <p:sp>
        <p:nvSpPr>
          <p:cNvPr id="8" name="标题 1"/>
          <p:cNvSpPr txBox="1"/>
          <p:nvPr/>
        </p:nvSpPr>
        <p:spPr>
          <a:xfrm>
            <a:off x="533400" y="910590"/>
            <a:ext cx="3810000" cy="610235"/>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en-US" altLang="zh-CN" sz="3600" kern="0" dirty="0">
                <a:latin typeface="黑体" panose="02010609060101010101" pitchFamily="49" charset="-122"/>
                <a:ea typeface="黑体" panose="02010609060101010101" pitchFamily="49" charset="-122"/>
                <a:cs typeface="黑体" panose="02010609060101010101" pitchFamily="49" charset="-122"/>
              </a:rPr>
              <a:t>2. </a:t>
            </a:r>
            <a:r>
              <a:rPr lang="zh-CN" altLang="en-US" sz="3600" kern="0" dirty="0">
                <a:latin typeface="黑体" panose="02010609060101010101" pitchFamily="49" charset="-122"/>
                <a:ea typeface="黑体" panose="02010609060101010101" pitchFamily="49" charset="-122"/>
                <a:cs typeface="黑体" panose="02010609060101010101" pitchFamily="49" charset="-122"/>
              </a:rPr>
              <a:t>生产计划问题</a:t>
            </a:r>
          </a:p>
        </p:txBody>
      </p:sp>
      <p:pic>
        <p:nvPicPr>
          <p:cNvPr id="3" name="图片 2"/>
          <p:cNvPicPr>
            <a:picLocks noChangeAspect="1"/>
          </p:cNvPicPr>
          <p:nvPr/>
        </p:nvPicPr>
        <p:blipFill>
          <a:blip r:embed="rId3"/>
          <a:stretch>
            <a:fillRect/>
          </a:stretch>
        </p:blipFill>
        <p:spPr>
          <a:xfrm>
            <a:off x="4343400" y="306531"/>
            <a:ext cx="4812716" cy="1065069"/>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animEffect transition="in" filter="dissolve">
                                      <p:cBhvr>
                                        <p:cTn id="7" dur="500"/>
                                        <p:tgtEl>
                                          <p:spTgt spid="849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4995">
                                            <p:txEl>
                                              <p:pRg st="1" end="1"/>
                                            </p:txEl>
                                          </p:spTgt>
                                        </p:tgtEl>
                                        <p:attrNameLst>
                                          <p:attrName>style.visibility</p:attrName>
                                        </p:attrNameLst>
                                      </p:cBhvr>
                                      <p:to>
                                        <p:strVal val="visible"/>
                                      </p:to>
                                    </p:set>
                                    <p:animEffect transition="in" filter="dissolve">
                                      <p:cBhvr>
                                        <p:cTn id="12" dur="500"/>
                                        <p:tgtEl>
                                          <p:spTgt spid="849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4995">
                                            <p:txEl>
                                              <p:pRg st="2" end="2"/>
                                            </p:txEl>
                                          </p:spTgt>
                                        </p:tgtEl>
                                        <p:attrNameLst>
                                          <p:attrName>style.visibility</p:attrName>
                                        </p:attrNameLst>
                                      </p:cBhvr>
                                      <p:to>
                                        <p:strVal val="visible"/>
                                      </p:to>
                                    </p:set>
                                    <p:animEffect transition="in" filter="dissolve">
                                      <p:cBhvr>
                                        <p:cTn id="17" dur="500"/>
                                        <p:tgtEl>
                                          <p:spTgt spid="849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4995">
                                            <p:txEl>
                                              <p:pRg st="3" end="3"/>
                                            </p:txEl>
                                          </p:spTgt>
                                        </p:tgtEl>
                                        <p:attrNameLst>
                                          <p:attrName>style.visibility</p:attrName>
                                        </p:attrNameLst>
                                      </p:cBhvr>
                                      <p:to>
                                        <p:strVal val="visible"/>
                                      </p:to>
                                    </p:set>
                                    <p:animEffect transition="in" filter="dissolve">
                                      <p:cBhvr>
                                        <p:cTn id="22" dur="500"/>
                                        <p:tgtEl>
                                          <p:spTgt spid="849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84995">
                                            <p:txEl>
                                              <p:pRg st="4" end="4"/>
                                            </p:txEl>
                                          </p:spTgt>
                                        </p:tgtEl>
                                        <p:attrNameLst>
                                          <p:attrName>style.visibility</p:attrName>
                                        </p:attrNameLst>
                                      </p:cBhvr>
                                      <p:to>
                                        <p:strVal val="visible"/>
                                      </p:to>
                                    </p:set>
                                    <p:animEffect transition="in" filter="dissolve">
                                      <p:cBhvr>
                                        <p:cTn id="27" dur="500"/>
                                        <p:tgtEl>
                                          <p:spTgt spid="849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84995">
                                            <p:txEl>
                                              <p:pRg st="5" end="5"/>
                                            </p:txEl>
                                          </p:spTgt>
                                        </p:tgtEl>
                                        <p:attrNameLst>
                                          <p:attrName>style.visibility</p:attrName>
                                        </p:attrNameLst>
                                      </p:cBhvr>
                                      <p:to>
                                        <p:strVal val="visible"/>
                                      </p:to>
                                    </p:set>
                                    <p:animEffect transition="in" filter="dissolve">
                                      <p:cBhvr>
                                        <p:cTn id="32" dur="500"/>
                                        <p:tgtEl>
                                          <p:spTgt spid="849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2950"/>
                                        </p:tgtEl>
                                        <p:attrNameLst>
                                          <p:attrName>style.visibility</p:attrName>
                                        </p:attrNameLst>
                                      </p:cBhvr>
                                      <p:to>
                                        <p:strVal val="visible"/>
                                      </p:to>
                                    </p:set>
                                    <p:anim calcmode="lin" valueType="num">
                                      <p:cBhvr additive="base">
                                        <p:cTn id="37" dur="500" fill="hold"/>
                                        <p:tgtEl>
                                          <p:spTgt spid="82950"/>
                                        </p:tgtEl>
                                        <p:attrNameLst>
                                          <p:attrName>ppt_x</p:attrName>
                                        </p:attrNameLst>
                                      </p:cBhvr>
                                      <p:tavLst>
                                        <p:tav tm="0">
                                          <p:val>
                                            <p:strVal val="#ppt_x"/>
                                          </p:val>
                                        </p:tav>
                                        <p:tav tm="100000">
                                          <p:val>
                                            <p:strVal val="#ppt_x"/>
                                          </p:val>
                                        </p:tav>
                                      </p:tavLst>
                                    </p:anim>
                                    <p:anim calcmode="lin" valueType="num">
                                      <p:cBhvr additive="base">
                                        <p:cTn id="38" dur="500" fill="hold"/>
                                        <p:tgtEl>
                                          <p:spTgt spid="829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5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22" name="Object 2"/>
          <p:cNvGraphicFramePr>
            <a:graphicFrameLocks noChangeAspect="1"/>
          </p:cNvGraphicFramePr>
          <p:nvPr/>
        </p:nvGraphicFramePr>
        <p:xfrm>
          <a:off x="1835150" y="3652838"/>
          <a:ext cx="5473700" cy="1477962"/>
        </p:xfrm>
        <a:graphic>
          <a:graphicData uri="http://schemas.openxmlformats.org/presentationml/2006/ole">
            <mc:AlternateContent xmlns:mc="http://schemas.openxmlformats.org/markup-compatibility/2006">
              <mc:Choice xmlns:v="urn:schemas-microsoft-com:vml" Requires="v">
                <p:oleObj r:id="rId3" imgW="2717800" imgH="736600" progId="">
                  <p:embed/>
                </p:oleObj>
              </mc:Choice>
              <mc:Fallback>
                <p:oleObj r:id="rId3" imgW="2717800" imgH="736600" progId="">
                  <p:embed/>
                  <p:pic>
                    <p:nvPicPr>
                      <p:cNvPr id="0" name="Object 2"/>
                      <p:cNvPicPr>
                        <a:picLocks noChangeAspect="1" noChangeArrowheads="1"/>
                      </p:cNvPicPr>
                      <p:nvPr/>
                    </p:nvPicPr>
                    <p:blipFill>
                      <a:blip r:embed="rId4">
                        <a:lum bright="-40000" contrast="-40000"/>
                        <a:extLst>
                          <a:ext uri="{28A0092B-C50C-407E-A947-70E740481C1C}">
                            <a14:useLocalDpi xmlns:a14="http://schemas.microsoft.com/office/drawing/2010/main" val="0"/>
                          </a:ext>
                        </a:extLst>
                      </a:blip>
                      <a:srcRect/>
                      <a:stretch>
                        <a:fillRect/>
                      </a:stretch>
                    </p:blipFill>
                    <p:spPr bwMode="auto">
                      <a:xfrm>
                        <a:off x="1835150" y="3652838"/>
                        <a:ext cx="547370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923" name="Rectangle 5"/>
          <p:cNvSpPr>
            <a:spLocks noChangeArrowheads="1"/>
          </p:cNvSpPr>
          <p:nvPr/>
        </p:nvSpPr>
        <p:spPr bwMode="auto">
          <a:xfrm>
            <a:off x="611188" y="1719437"/>
            <a:ext cx="7921625" cy="1677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en-US" altLang="zh-CN" sz="2400" b="1" i="1" dirty="0">
                <a:cs typeface="Times New Roman" panose="02020603050405020304" pitchFamily="18" charset="0"/>
              </a:rPr>
              <a:t> </a:t>
            </a:r>
            <a:r>
              <a:rPr lang="zh-CN" altLang="en-US" sz="2400" b="1" u="sng" dirty="0">
                <a:solidFill>
                  <a:srgbClr val="FF0000"/>
                </a:solidFill>
                <a:latin typeface="Times New Roman" panose="02020603050405020304" pitchFamily="18" charset="0"/>
                <a:cs typeface="Times New Roman" panose="02020603050405020304" pitchFamily="18" charset="0"/>
              </a:rPr>
              <a:t>生产成本：</a:t>
            </a:r>
            <a:r>
              <a:rPr lang="en-US" altLang="zh-CN" sz="2400" b="1" i="1" dirty="0" err="1">
                <a:latin typeface="Times New Roman" panose="02020603050405020304" pitchFamily="18" charset="0"/>
                <a:cs typeface="Times New Roman" panose="02020603050405020304" pitchFamily="18" charset="0"/>
              </a:rPr>
              <a:t>c</a:t>
            </a:r>
            <a:r>
              <a:rPr lang="en-US" altLang="zh-CN" sz="2400" b="1" i="1" baseline="-25000" dirty="0" err="1">
                <a:latin typeface="Times New Roman" panose="02020603050405020304" pitchFamily="18" charset="0"/>
                <a:cs typeface="Times New Roman" panose="02020603050405020304" pitchFamily="18" charset="0"/>
              </a:rPr>
              <a:t>k</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x</a:t>
            </a:r>
            <a:r>
              <a:rPr lang="en-US" altLang="zh-CN" sz="2400" b="1" i="1" baseline="-25000" dirty="0" err="1">
                <a:latin typeface="Times New Roman" panose="02020603050405020304" pitchFamily="18" charset="0"/>
                <a:cs typeface="Times New Roman" panose="02020603050405020304" pitchFamily="18" charset="0"/>
              </a:rPr>
              <a:t>k</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表示第</a:t>
            </a:r>
            <a:r>
              <a:rPr lang="en-US" altLang="zh-CN" sz="2400" b="1" i="1" dirty="0">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阶段生产产品</a:t>
            </a:r>
            <a:r>
              <a:rPr lang="en-US" altLang="zh-CN" sz="2400" b="1" i="1" dirty="0" err="1">
                <a:latin typeface="Times New Roman" panose="02020603050405020304" pitchFamily="18" charset="0"/>
                <a:cs typeface="Times New Roman" panose="02020603050405020304" pitchFamily="18" charset="0"/>
              </a:rPr>
              <a:t>x</a:t>
            </a:r>
            <a:r>
              <a:rPr lang="en-US" altLang="zh-CN" sz="2400" b="1" i="1" baseline="-25000" dirty="0" err="1">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时的成本费用，它包括</a:t>
            </a:r>
            <a:r>
              <a:rPr lang="zh-CN" altLang="en-US" sz="2400" b="1" dirty="0">
                <a:solidFill>
                  <a:srgbClr val="C00000"/>
                </a:solidFill>
                <a:latin typeface="Times New Roman" panose="02020603050405020304" pitchFamily="18" charset="0"/>
                <a:cs typeface="Times New Roman" panose="02020603050405020304" pitchFamily="18" charset="0"/>
              </a:rPr>
              <a:t>生产准备成本</a:t>
            </a:r>
            <a:r>
              <a:rPr lang="en-US" altLang="zh-CN" sz="2400" b="1" i="1" dirty="0">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和</a:t>
            </a:r>
            <a:r>
              <a:rPr lang="zh-CN" altLang="en-US" sz="2400" b="1" dirty="0">
                <a:solidFill>
                  <a:srgbClr val="C00000"/>
                </a:solidFill>
                <a:latin typeface="Times New Roman" panose="02020603050405020304" pitchFamily="18" charset="0"/>
                <a:cs typeface="Times New Roman" panose="02020603050405020304" pitchFamily="18" charset="0"/>
              </a:rPr>
              <a:t>产品成本</a:t>
            </a:r>
            <a:r>
              <a:rPr lang="en-US" altLang="zh-CN" sz="2400" b="1" i="1" dirty="0" err="1">
                <a:latin typeface="Times New Roman" panose="02020603050405020304" pitchFamily="18" charset="0"/>
                <a:cs typeface="Times New Roman" panose="02020603050405020304" pitchFamily="18" charset="0"/>
              </a:rPr>
              <a:t>ax</a:t>
            </a:r>
            <a:r>
              <a:rPr lang="en-US" altLang="zh-CN" sz="2400" b="1" i="1" baseline="-25000" dirty="0" err="1">
                <a:latin typeface="Times New Roman" panose="02020603050405020304" pitchFamily="18" charset="0"/>
                <a:cs typeface="Times New Roman" panose="02020603050405020304" pitchFamily="18" charset="0"/>
              </a:rPr>
              <a:t>k</a:t>
            </a:r>
            <a:r>
              <a:rPr lang="en-US" altLang="zh-CN" sz="2400" b="1"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其中</a:t>
            </a:r>
            <a:r>
              <a:rPr lang="en-US" altLang="zh-CN" sz="2400" b="1" i="1" dirty="0">
                <a:latin typeface="Times New Roman" panose="02020603050405020304" pitchFamily="18" charset="0"/>
                <a:cs typeface="Times New Roman" panose="02020603050405020304" pitchFamily="18" charset="0"/>
              </a:rPr>
              <a:t>a</a:t>
            </a:r>
            <a:r>
              <a:rPr lang="zh-CN" altLang="en-US" sz="2400" b="1" dirty="0">
                <a:latin typeface="Times New Roman" panose="02020603050405020304" pitchFamily="18" charset="0"/>
                <a:cs typeface="Times New Roman" panose="02020603050405020304" pitchFamily="18" charset="0"/>
              </a:rPr>
              <a:t>是单位产品成本</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两项费用，即</a:t>
            </a:r>
          </a:p>
        </p:txBody>
      </p:sp>
      <p:sp>
        <p:nvSpPr>
          <p:cNvPr id="81924" name="Rectangle 9"/>
          <p:cNvSpPr>
            <a:spLocks noChangeArrowheads="1"/>
          </p:cNvSpPr>
          <p:nvPr/>
        </p:nvSpPr>
        <p:spPr bwMode="auto">
          <a:xfrm>
            <a:off x="1608138" y="5214938"/>
            <a:ext cx="6069012"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en-US" altLang="zh-CN" sz="2400" b="1" i="1" dirty="0">
                <a:latin typeface="Times New Roman" panose="02020603050405020304" pitchFamily="18" charset="0"/>
                <a:cs typeface="Times New Roman" panose="02020603050405020304" pitchFamily="18" charset="0"/>
              </a:rPr>
              <a:t>m</a:t>
            </a:r>
            <a:r>
              <a:rPr lang="zh-CN" altLang="en-US" sz="2400" b="1" dirty="0">
                <a:latin typeface="Times New Roman" panose="02020603050405020304" pitchFamily="18" charset="0"/>
                <a:cs typeface="Times New Roman" panose="02020603050405020304" pitchFamily="18" charset="0"/>
              </a:rPr>
              <a:t>表示每阶段最多能生产该产品的上限数</a:t>
            </a:r>
            <a:r>
              <a:rPr lang="zh-CN" altLang="en-US" sz="2400" b="1" dirty="0">
                <a:cs typeface="Times New Roman" panose="02020603050405020304" pitchFamily="18" charset="0"/>
              </a:rPr>
              <a:t>。 </a:t>
            </a:r>
          </a:p>
        </p:txBody>
      </p:sp>
      <p:sp>
        <p:nvSpPr>
          <p:cNvPr id="81926"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FAF3A576-40AE-41A5-B008-304E15288820}" type="slidenum">
              <a:rPr lang="en-US" altLang="zh-CN" sz="1400">
                <a:latin typeface="Times New Roman" panose="02020603050405020304" pitchFamily="18" charset="0"/>
              </a:rPr>
              <a:t>5</a:t>
            </a:fld>
            <a:endParaRPr lang="en-US" altLang="zh-CN" sz="1400">
              <a:latin typeface="Times New Roman" panose="02020603050405020304" pitchFamily="18" charset="0"/>
            </a:endParaRPr>
          </a:p>
        </p:txBody>
      </p:sp>
      <p:sp>
        <p:nvSpPr>
          <p:cNvPr id="3" name="标题 1"/>
          <p:cNvSpPr txBox="1"/>
          <p:nvPr>
            <p:custDataLst>
              <p:tags r:id="rId1"/>
            </p:custDataLst>
          </p:nvPr>
        </p:nvSpPr>
        <p:spPr>
          <a:xfrm>
            <a:off x="533400" y="910590"/>
            <a:ext cx="3810000" cy="610235"/>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en-US" altLang="zh-CN" sz="3600" kern="0" dirty="0">
                <a:latin typeface="黑体" panose="02010609060101010101" pitchFamily="49" charset="-122"/>
                <a:ea typeface="黑体" panose="02010609060101010101" pitchFamily="49" charset="-122"/>
                <a:cs typeface="黑体" panose="02010609060101010101" pitchFamily="49" charset="-122"/>
              </a:rPr>
              <a:t>2. </a:t>
            </a:r>
            <a:r>
              <a:rPr lang="zh-CN" altLang="en-US" sz="3600" kern="0" dirty="0">
                <a:latin typeface="黑体" panose="02010609060101010101" pitchFamily="49" charset="-122"/>
                <a:ea typeface="黑体" panose="02010609060101010101" pitchFamily="49" charset="-122"/>
                <a:cs typeface="黑体" panose="02010609060101010101" pitchFamily="49" charset="-122"/>
              </a:rPr>
              <a:t>生产计划问题</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ChangeArrowheads="1"/>
          </p:cNvSpPr>
          <p:nvPr/>
        </p:nvSpPr>
        <p:spPr bwMode="auto">
          <a:xfrm>
            <a:off x="613064" y="1717829"/>
            <a:ext cx="7997536" cy="1123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zh-CN" altLang="en-US" sz="2400" b="1" u="sng" dirty="0">
                <a:solidFill>
                  <a:srgbClr val="FF0000"/>
                </a:solidFill>
                <a:latin typeface="Times New Roman" panose="02020603050405020304" pitchFamily="18" charset="0"/>
                <a:cs typeface="Times New Roman" panose="02020603050405020304" pitchFamily="18" charset="0"/>
              </a:rPr>
              <a:t>库存成本：</a:t>
            </a:r>
            <a:r>
              <a:rPr lang="en-US" altLang="zh-CN" sz="2400" b="1" dirty="0">
                <a:latin typeface="Times New Roman" panose="02020603050405020304" pitchFamily="18" charset="0"/>
                <a:cs typeface="Times New Roman" panose="02020603050405020304" pitchFamily="18" charset="0"/>
              </a:rPr>
              <a:t> </a:t>
            </a:r>
            <a:r>
              <a:rPr lang="en-US" altLang="zh-CN" sz="2400" b="1" i="1" dirty="0" err="1">
                <a:latin typeface="Times New Roman" panose="02020603050405020304" pitchFamily="18" charset="0"/>
                <a:cs typeface="Times New Roman" panose="02020603050405020304" pitchFamily="18" charset="0"/>
              </a:rPr>
              <a:t>h</a:t>
            </a:r>
            <a:r>
              <a:rPr lang="en-US" altLang="zh-CN" sz="2400" b="1" i="1" baseline="-25000" dirty="0" err="1">
                <a:latin typeface="Times New Roman" panose="02020603050405020304" pitchFamily="18" charset="0"/>
                <a:cs typeface="Times New Roman" panose="02020603050405020304" pitchFamily="18" charset="0"/>
              </a:rPr>
              <a:t>k</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v</a:t>
            </a:r>
            <a:r>
              <a:rPr lang="en-US" altLang="zh-CN" sz="2400" b="1" i="1" baseline="-25000" dirty="0" err="1">
                <a:latin typeface="Times New Roman" panose="02020603050405020304" pitchFamily="18" charset="0"/>
                <a:cs typeface="Times New Roman" panose="02020603050405020304" pitchFamily="18" charset="0"/>
              </a:rPr>
              <a:t>k</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表示在第</a:t>
            </a:r>
            <a:r>
              <a:rPr lang="en-US" altLang="zh-CN" sz="2400" b="1" i="1" dirty="0">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阶段结束时有</a:t>
            </a:r>
            <a:r>
              <a:rPr lang="zh-CN" altLang="en-US" sz="2400" b="1" dirty="0">
                <a:solidFill>
                  <a:srgbClr val="C00000"/>
                </a:solidFill>
                <a:latin typeface="Times New Roman" panose="02020603050405020304" pitchFamily="18" charset="0"/>
                <a:cs typeface="Times New Roman" panose="02020603050405020304" pitchFamily="18" charset="0"/>
              </a:rPr>
              <a:t>库存量</a:t>
            </a:r>
            <a:r>
              <a:rPr lang="en-US" altLang="zh-CN" sz="2400" b="1" i="1" dirty="0" err="1">
                <a:solidFill>
                  <a:srgbClr val="C00000"/>
                </a:solidFill>
                <a:latin typeface="Times New Roman" panose="02020603050405020304" pitchFamily="18" charset="0"/>
                <a:cs typeface="Times New Roman" panose="02020603050405020304" pitchFamily="18" charset="0"/>
              </a:rPr>
              <a:t>v</a:t>
            </a:r>
            <a:r>
              <a:rPr lang="en-US" altLang="zh-CN" sz="2400" b="1" i="1" baseline="-25000" dirty="0" err="1">
                <a:solidFill>
                  <a:srgbClr val="C00000"/>
                </a:solidFill>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所需的存储费用。</a:t>
            </a:r>
            <a:endParaRPr lang="en-US" altLang="zh-CN" sz="2400" b="1" dirty="0">
              <a:latin typeface="Times New Roman" panose="02020603050405020304" pitchFamily="18" charset="0"/>
              <a:cs typeface="Times New Roman" panose="02020603050405020304" pitchFamily="18" charset="0"/>
            </a:endParaRPr>
          </a:p>
        </p:txBody>
      </p:sp>
      <p:graphicFrame>
        <p:nvGraphicFramePr>
          <p:cNvPr id="82947" name="Object 3"/>
          <p:cNvGraphicFramePr>
            <a:graphicFrameLocks noChangeAspect="1"/>
          </p:cNvGraphicFramePr>
          <p:nvPr/>
        </p:nvGraphicFramePr>
        <p:xfrm>
          <a:off x="4114800" y="5345003"/>
          <a:ext cx="2232025" cy="550862"/>
        </p:xfrm>
        <a:graphic>
          <a:graphicData uri="http://schemas.openxmlformats.org/presentationml/2006/ole">
            <mc:AlternateContent xmlns:mc="http://schemas.openxmlformats.org/markup-compatibility/2006">
              <mc:Choice xmlns:v="urn:schemas-microsoft-com:vml" Requires="v">
                <p:oleObj r:id="rId3" imgW="927735" imgH="228600" progId="">
                  <p:embed/>
                </p:oleObj>
              </mc:Choice>
              <mc:Fallback>
                <p:oleObj r:id="rId3" imgW="927735" imgH="228600" progId="">
                  <p:embed/>
                  <p:pic>
                    <p:nvPicPr>
                      <p:cNvPr id="0" name="Object 3"/>
                      <p:cNvPicPr>
                        <a:picLocks noChangeAspect="1" noChangeArrowheads="1"/>
                      </p:cNvPicPr>
                      <p:nvPr/>
                    </p:nvPicPr>
                    <p:blipFill>
                      <a:blip r:embed="rId4">
                        <a:lum bright="-40000" contrast="-40000"/>
                        <a:extLst>
                          <a:ext uri="{28A0092B-C50C-407E-A947-70E740481C1C}">
                            <a14:useLocalDpi xmlns:a14="http://schemas.microsoft.com/office/drawing/2010/main" val="0"/>
                          </a:ext>
                        </a:extLst>
                      </a:blip>
                      <a:srcRect/>
                      <a:stretch>
                        <a:fillRect/>
                      </a:stretch>
                    </p:blipFill>
                    <p:spPr bwMode="auto">
                      <a:xfrm>
                        <a:off x="4114800" y="5345003"/>
                        <a:ext cx="2232025" cy="550862"/>
                      </a:xfrm>
                      <a:prstGeom prst="rect">
                        <a:avLst/>
                      </a:prstGeom>
                      <a:solidFill>
                        <a:srgbClr val="FFFF00"/>
                      </a:solidFill>
                      <a:ln>
                        <a:noFill/>
                      </a:ln>
                    </p:spPr>
                  </p:pic>
                </p:oleObj>
              </mc:Fallback>
            </mc:AlternateContent>
          </a:graphicData>
        </a:graphic>
      </p:graphicFrame>
      <p:sp>
        <p:nvSpPr>
          <p:cNvPr id="82948" name="日期占位符 1"/>
          <p:cNvSpPr txBox="1">
            <a:spLocks noGrp="1" noChangeArrowheads="1"/>
          </p:cNvSpPr>
          <p:nvPr/>
        </p:nvSpPr>
        <p:spPr bwMode="auto">
          <a:xfrm>
            <a:off x="11620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fld id="{346FE874-898F-412D-81A9-F6A0DEEF5CA5}" type="datetime1">
              <a:rPr lang="zh-CN" altLang="en-US" sz="1400">
                <a:latin typeface="Times New Roman" panose="02020603050405020304" pitchFamily="18" charset="0"/>
              </a:rPr>
              <a:t>2024/12/15</a:t>
            </a:fld>
            <a:endParaRPr lang="en-US" altLang="zh-CN" sz="1400">
              <a:latin typeface="Times New Roman" panose="02020603050405020304" pitchFamily="18" charset="0"/>
            </a:endParaRPr>
          </a:p>
        </p:txBody>
      </p:sp>
      <p:sp>
        <p:nvSpPr>
          <p:cNvPr id="82949"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E7E5A3B0-85BB-48C8-AEC2-456B33291CBE}" type="slidenum">
              <a:rPr lang="en-US" altLang="zh-CN" sz="1400">
                <a:latin typeface="Times New Roman" panose="02020603050405020304" pitchFamily="18" charset="0"/>
              </a:rPr>
              <a:t>6</a:t>
            </a:fld>
            <a:endParaRPr lang="en-US" altLang="zh-CN" sz="1400">
              <a:latin typeface="Times New Roman" panose="02020603050405020304" pitchFamily="18" charset="0"/>
            </a:endParaRPr>
          </a:p>
        </p:txBody>
      </p:sp>
      <p:graphicFrame>
        <p:nvGraphicFramePr>
          <p:cNvPr id="82951" name="Object 7"/>
          <p:cNvGraphicFramePr>
            <a:graphicFrameLocks noChangeAspect="1"/>
          </p:cNvGraphicFramePr>
          <p:nvPr/>
        </p:nvGraphicFramePr>
        <p:xfrm>
          <a:off x="2819400" y="4311649"/>
          <a:ext cx="3238500" cy="685800"/>
        </p:xfrm>
        <a:graphic>
          <a:graphicData uri="http://schemas.openxmlformats.org/presentationml/2006/ole">
            <mc:AlternateContent xmlns:mc="http://schemas.openxmlformats.org/markup-compatibility/2006">
              <mc:Choice xmlns:v="urn:schemas-microsoft-com:vml" Requires="v">
                <p:oleObj r:id="rId5" imgW="1080135" imgH="228600" progId="Equation.DSMT4">
                  <p:embed/>
                </p:oleObj>
              </mc:Choice>
              <mc:Fallback>
                <p:oleObj r:id="rId5" imgW="1080135" imgH="228600" progId="Equation.DSMT4">
                  <p:embed/>
                  <p:pic>
                    <p:nvPicPr>
                      <p:cNvPr id="0" name="Object 7"/>
                      <p:cNvPicPr>
                        <a:picLocks noChangeAspect="1" noChangeArrowheads="1"/>
                      </p:cNvPicPr>
                      <p:nvPr/>
                    </p:nvPicPr>
                    <p:blipFill>
                      <a:blip r:embed="rId6">
                        <a:lum bright="-40000" contrast="-40000"/>
                        <a:extLst>
                          <a:ext uri="{28A0092B-C50C-407E-A947-70E740481C1C}">
                            <a14:useLocalDpi xmlns:a14="http://schemas.microsoft.com/office/drawing/2010/main" val="0"/>
                          </a:ext>
                        </a:extLst>
                      </a:blip>
                      <a:srcRect/>
                      <a:stretch>
                        <a:fillRect/>
                      </a:stretch>
                    </p:blipFill>
                    <p:spPr bwMode="auto">
                      <a:xfrm>
                        <a:off x="2819400" y="4311649"/>
                        <a:ext cx="3238500" cy="685800"/>
                      </a:xfrm>
                      <a:prstGeom prst="rect">
                        <a:avLst/>
                      </a:prstGeom>
                      <a:solidFill>
                        <a:schemeClr val="bg1">
                          <a:lumMod val="85000"/>
                        </a:schemeClr>
                      </a:solidFill>
                      <a:ln>
                        <a:noFill/>
                      </a:ln>
                    </p:spPr>
                  </p:pic>
                </p:oleObj>
              </mc:Fallback>
            </mc:AlternateContent>
          </a:graphicData>
        </a:graphic>
      </p:graphicFrame>
      <p:sp>
        <p:nvSpPr>
          <p:cNvPr id="82952" name="Rectangle 6"/>
          <p:cNvSpPr>
            <a:spLocks noChangeArrowheads="1"/>
          </p:cNvSpPr>
          <p:nvPr/>
        </p:nvSpPr>
        <p:spPr bwMode="auto">
          <a:xfrm>
            <a:off x="647700" y="2965450"/>
            <a:ext cx="7920038" cy="168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en-US" altLang="zh-CN" sz="2400" b="1" dirty="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设</a:t>
            </a:r>
            <a:r>
              <a:rPr lang="en-US" altLang="zh-CN" sz="2400" b="1" i="1" dirty="0">
                <a:latin typeface="Times New Roman" panose="02020603050405020304" pitchFamily="18" charset="0"/>
                <a:cs typeface="Times New Roman" panose="02020603050405020304" pitchFamily="18" charset="0"/>
              </a:rPr>
              <a:t>d</a:t>
            </a:r>
            <a:r>
              <a:rPr lang="en-US" altLang="zh-CN" sz="2400" b="1" i="1" baseline="-25000" dirty="0">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为第</a:t>
            </a:r>
            <a:r>
              <a:rPr lang="en-US" altLang="zh-CN" sz="2400" b="1" i="1" dirty="0">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阶段对产品的需求量，</a:t>
            </a:r>
            <a:r>
              <a:rPr lang="en-US" altLang="zh-CN" sz="2400" b="1" i="1" dirty="0" err="1">
                <a:latin typeface="Times New Roman" panose="02020603050405020304" pitchFamily="18" charset="0"/>
                <a:cs typeface="Times New Roman" panose="02020603050405020304" pitchFamily="18" charset="0"/>
              </a:rPr>
              <a:t>x</a:t>
            </a:r>
            <a:r>
              <a:rPr lang="en-US" altLang="zh-CN" sz="2400" b="1" i="1" baseline="-25000" dirty="0" err="1">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为第</a:t>
            </a:r>
            <a:r>
              <a:rPr lang="en-US" altLang="zh-CN" sz="2400" b="1" i="1" dirty="0">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阶段该产品的生产量</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或采购量</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v</a:t>
            </a:r>
            <a:r>
              <a:rPr lang="en-US" altLang="zh-CN" sz="2400" b="1" i="1" baseline="-25000" dirty="0" err="1">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为第</a:t>
            </a:r>
            <a:r>
              <a:rPr lang="en-US" altLang="zh-CN" sz="2400" b="1" i="1" dirty="0">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阶段</a:t>
            </a:r>
            <a:r>
              <a:rPr lang="zh-CN" altLang="en-US" sz="2400" b="1" dirty="0">
                <a:solidFill>
                  <a:srgbClr val="0070C0"/>
                </a:solidFill>
                <a:latin typeface="Times New Roman" panose="02020603050405020304" pitchFamily="18" charset="0"/>
                <a:cs typeface="Times New Roman" panose="02020603050405020304" pitchFamily="18" charset="0"/>
              </a:rPr>
              <a:t>结束时</a:t>
            </a:r>
            <a:r>
              <a:rPr lang="zh-CN" altLang="en-US" sz="2400" b="1" dirty="0">
                <a:latin typeface="Times New Roman" panose="02020603050405020304" pitchFamily="18" charset="0"/>
                <a:cs typeface="Times New Roman" panose="02020603050405020304" pitchFamily="18" charset="0"/>
              </a:rPr>
              <a:t>的产品库存量，则有</a:t>
            </a:r>
          </a:p>
        </p:txBody>
      </p:sp>
      <p:sp>
        <p:nvSpPr>
          <p:cNvPr id="9" name="Rectangle 7"/>
          <p:cNvSpPr>
            <a:spLocks noChangeArrowheads="1"/>
          </p:cNvSpPr>
          <p:nvPr/>
        </p:nvSpPr>
        <p:spPr bwMode="auto">
          <a:xfrm>
            <a:off x="762000" y="5332310"/>
            <a:ext cx="3305175" cy="576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342900" indent="-342900" algn="just">
              <a:lnSpc>
                <a:spcPct val="150000"/>
              </a:lnSpc>
              <a:buClr>
                <a:srgbClr val="C00000"/>
              </a:buClr>
              <a:buFont typeface="Wingdings" panose="05000000000000000000" pitchFamily="2" charset="2"/>
              <a:buChar char="p"/>
            </a:pPr>
            <a:r>
              <a:rPr lang="en-US" altLang="zh-CN" sz="2400" b="1" i="1" dirty="0">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阶段的成本费用为</a:t>
            </a:r>
          </a:p>
        </p:txBody>
      </p:sp>
      <p:sp>
        <p:nvSpPr>
          <p:cNvPr id="8" name="标题 1"/>
          <p:cNvSpPr txBox="1"/>
          <p:nvPr>
            <p:custDataLst>
              <p:tags r:id="rId1"/>
            </p:custDataLst>
          </p:nvPr>
        </p:nvSpPr>
        <p:spPr>
          <a:xfrm>
            <a:off x="533400" y="910590"/>
            <a:ext cx="3810000" cy="610235"/>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en-US" altLang="zh-CN" sz="3600" kern="0" dirty="0">
                <a:latin typeface="黑体" panose="02010609060101010101" pitchFamily="49" charset="-122"/>
                <a:ea typeface="黑体" panose="02010609060101010101" pitchFamily="49" charset="-122"/>
                <a:cs typeface="黑体" panose="02010609060101010101" pitchFamily="49" charset="-122"/>
              </a:rPr>
              <a:t>2. </a:t>
            </a:r>
            <a:r>
              <a:rPr lang="zh-CN" altLang="en-US" sz="3600" kern="0" dirty="0">
                <a:latin typeface="黑体" panose="02010609060101010101" pitchFamily="49" charset="-122"/>
                <a:ea typeface="黑体" panose="02010609060101010101" pitchFamily="49" charset="-122"/>
                <a:cs typeface="黑体" panose="02010609060101010101" pitchFamily="49" charset="-122"/>
              </a:rPr>
              <a:t>生产计划问题</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圆角矩形 5"/>
          <p:cNvSpPr>
            <a:spLocks noChangeArrowheads="1"/>
          </p:cNvSpPr>
          <p:nvPr/>
        </p:nvSpPr>
        <p:spPr bwMode="auto">
          <a:xfrm>
            <a:off x="1619250" y="2403475"/>
            <a:ext cx="2808288" cy="719138"/>
          </a:xfrm>
          <a:prstGeom prst="roundRect">
            <a:avLst>
              <a:gd name="adj" fmla="val 16667"/>
            </a:avLst>
          </a:prstGeom>
          <a:solidFill>
            <a:srgbClr val="92D050"/>
          </a:solidFill>
          <a:ln w="25400">
            <a:solidFill>
              <a:srgbClr val="00A77A"/>
            </a:solidFill>
            <a:round/>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solidFill>
                <a:srgbClr val="FFFFFF"/>
              </a:solidFill>
              <a:latin typeface="Tahoma" panose="020B0604030504040204" pitchFamily="34" charset="0"/>
              <a:ea typeface="黑体" panose="02010609060101010101" pitchFamily="49" charset="-122"/>
            </a:endParaRPr>
          </a:p>
        </p:txBody>
      </p:sp>
      <p:sp>
        <p:nvSpPr>
          <p:cNvPr id="83971" name="圆角矩形 4"/>
          <p:cNvSpPr>
            <a:spLocks noChangeArrowheads="1"/>
          </p:cNvSpPr>
          <p:nvPr/>
        </p:nvSpPr>
        <p:spPr bwMode="auto">
          <a:xfrm>
            <a:off x="1225550" y="4619624"/>
            <a:ext cx="5403850" cy="1095376"/>
          </a:xfrm>
          <a:prstGeom prst="roundRect">
            <a:avLst>
              <a:gd name="adj" fmla="val 16667"/>
            </a:avLst>
          </a:prstGeom>
          <a:solidFill>
            <a:schemeClr val="bg1"/>
          </a:solidFill>
          <a:ln w="25400">
            <a:solidFill>
              <a:srgbClr val="FFFF00"/>
            </a:solidFill>
            <a:round/>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solidFill>
                <a:srgbClr val="FFFFFF"/>
              </a:solidFill>
              <a:latin typeface="Tahoma" panose="020B0604030504040204" pitchFamily="34" charset="0"/>
              <a:ea typeface="黑体" panose="02010609060101010101" pitchFamily="49" charset="-122"/>
            </a:endParaRPr>
          </a:p>
        </p:txBody>
      </p:sp>
      <p:sp>
        <p:nvSpPr>
          <p:cNvPr id="83972" name="圆角矩形 1"/>
          <p:cNvSpPr>
            <a:spLocks noChangeArrowheads="1"/>
          </p:cNvSpPr>
          <p:nvPr/>
        </p:nvSpPr>
        <p:spPr bwMode="auto">
          <a:xfrm>
            <a:off x="1225550" y="3267075"/>
            <a:ext cx="5403850" cy="1295400"/>
          </a:xfrm>
          <a:prstGeom prst="roundRect">
            <a:avLst>
              <a:gd name="adj" fmla="val 16667"/>
            </a:avLst>
          </a:prstGeom>
          <a:solidFill>
            <a:schemeClr val="bg1"/>
          </a:solidFill>
          <a:ln w="25400">
            <a:solidFill>
              <a:srgbClr val="00A77A"/>
            </a:solidFill>
            <a:round/>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solidFill>
                <a:srgbClr val="FFFFFF"/>
              </a:solidFill>
              <a:latin typeface="Tahoma" panose="020B0604030504040204" pitchFamily="34" charset="0"/>
              <a:ea typeface="黑体" panose="02010609060101010101" pitchFamily="49" charset="-122"/>
            </a:endParaRPr>
          </a:p>
        </p:txBody>
      </p:sp>
      <p:graphicFrame>
        <p:nvGraphicFramePr>
          <p:cNvPr id="83973" name="Object 5"/>
          <p:cNvGraphicFramePr>
            <a:graphicFrameLocks noChangeAspect="1"/>
          </p:cNvGraphicFramePr>
          <p:nvPr/>
        </p:nvGraphicFramePr>
        <p:xfrm>
          <a:off x="742950" y="2322513"/>
          <a:ext cx="5702300" cy="3270250"/>
        </p:xfrm>
        <a:graphic>
          <a:graphicData uri="http://schemas.openxmlformats.org/presentationml/2006/ole">
            <mc:AlternateContent xmlns:mc="http://schemas.openxmlformats.org/markup-compatibility/2006">
              <mc:Choice xmlns:v="urn:schemas-microsoft-com:vml" Requires="v">
                <p:oleObj name="Equation" r:id="rId4" imgW="68275200" imgH="39014400" progId="Equation.DSMT4">
                  <p:embed/>
                </p:oleObj>
              </mc:Choice>
              <mc:Fallback>
                <p:oleObj name="Equation" r:id="rId4" imgW="68275200" imgH="39014400" progId="Equation.DSMT4">
                  <p:embed/>
                  <p:pic>
                    <p:nvPicPr>
                      <p:cNvPr id="0" name="Object 5"/>
                      <p:cNvPicPr>
                        <a:picLocks noChangeAspect="1" noChangeArrowheads="1"/>
                      </p:cNvPicPr>
                      <p:nvPr/>
                    </p:nvPicPr>
                    <p:blipFill>
                      <a:blip r:embed="rId5">
                        <a:lum bright="-40000" contrast="-40000"/>
                      </a:blip>
                      <a:srcRect/>
                      <a:stretch>
                        <a:fillRect/>
                      </a:stretch>
                    </p:blipFill>
                    <p:spPr bwMode="auto">
                      <a:xfrm>
                        <a:off x="742950" y="2322513"/>
                        <a:ext cx="5702300" cy="3270250"/>
                      </a:xfrm>
                      <a:prstGeom prst="rect">
                        <a:avLst/>
                      </a:prstGeom>
                      <a:noFill/>
                      <a:ln>
                        <a:noFill/>
                      </a:ln>
                    </p:spPr>
                  </p:pic>
                </p:oleObj>
              </mc:Fallback>
            </mc:AlternateContent>
          </a:graphicData>
        </a:graphic>
      </p:graphicFrame>
      <p:sp>
        <p:nvSpPr>
          <p:cNvPr id="83974" name="Rectangle 5"/>
          <p:cNvSpPr>
            <a:spLocks noChangeArrowheads="1"/>
          </p:cNvSpPr>
          <p:nvPr/>
        </p:nvSpPr>
        <p:spPr bwMode="auto">
          <a:xfrm>
            <a:off x="1225550" y="1682750"/>
            <a:ext cx="3876675"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zh-CN" altLang="en-US" sz="2400" b="1" dirty="0">
                <a:latin typeface="Arial" panose="020B0604020202020204" pitchFamily="34" charset="0"/>
                <a:cs typeface="Times New Roman" panose="02020603050405020304" pitchFamily="18" charset="0"/>
              </a:rPr>
              <a:t>上述问题的数学模型为	</a:t>
            </a:r>
            <a:endParaRPr lang="zh-CN" altLang="en-US" sz="2400" b="1" dirty="0">
              <a:latin typeface="Arial" panose="020B0604020202020204" pitchFamily="34" charset="0"/>
            </a:endParaRPr>
          </a:p>
        </p:txBody>
      </p:sp>
      <p:sp>
        <p:nvSpPr>
          <p:cNvPr id="83977"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661F05C3-2383-41D7-9EFD-F2629DA4D489}" type="slidenum">
              <a:rPr lang="en-US" altLang="zh-CN" sz="1400">
                <a:latin typeface="Times New Roman" panose="02020603050405020304" pitchFamily="18" charset="0"/>
              </a:rPr>
              <a:t>7</a:t>
            </a:fld>
            <a:endParaRPr lang="en-US" altLang="zh-CN" sz="1400">
              <a:latin typeface="Times New Roman" panose="02020603050405020304" pitchFamily="18" charset="0"/>
            </a:endParaRPr>
          </a:p>
        </p:txBody>
      </p:sp>
      <p:sp>
        <p:nvSpPr>
          <p:cNvPr id="88074" name="矩形 3"/>
          <p:cNvSpPr>
            <a:spLocks noChangeArrowheads="1"/>
          </p:cNvSpPr>
          <p:nvPr/>
        </p:nvSpPr>
        <p:spPr bwMode="auto">
          <a:xfrm>
            <a:off x="7210425" y="3590925"/>
            <a:ext cx="1439863" cy="503238"/>
          </a:xfrm>
          <a:prstGeom prst="rect">
            <a:avLst/>
          </a:prstGeom>
          <a:solidFill>
            <a:schemeClr val="accent1"/>
          </a:solidFill>
          <a:ln w="25400">
            <a:noFill/>
            <a:miter lim="800000"/>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400">
                <a:latin typeface="Tahoma" panose="020B0604030504040204" pitchFamily="34" charset="0"/>
                <a:ea typeface="黑体" panose="02010609060101010101" pitchFamily="49" charset="-122"/>
              </a:rPr>
              <a:t>库存约束</a:t>
            </a:r>
          </a:p>
        </p:txBody>
      </p:sp>
      <p:sp>
        <p:nvSpPr>
          <p:cNvPr id="86027" name="矩形 10"/>
          <p:cNvSpPr>
            <a:spLocks noChangeArrowheads="1"/>
          </p:cNvSpPr>
          <p:nvPr/>
        </p:nvSpPr>
        <p:spPr bwMode="auto">
          <a:xfrm>
            <a:off x="7210425" y="4886325"/>
            <a:ext cx="1439863" cy="504825"/>
          </a:xfrm>
          <a:prstGeom prst="rect">
            <a:avLst/>
          </a:prstGeom>
          <a:solidFill>
            <a:srgbClr val="FFFF00"/>
          </a:solidFill>
          <a:ln w="25400">
            <a:noFill/>
            <a:miter lim="800000"/>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400" dirty="0">
                <a:latin typeface="Tahoma" panose="020B0604030504040204" pitchFamily="34" charset="0"/>
                <a:ea typeface="黑体" panose="02010609060101010101" pitchFamily="49" charset="-122"/>
              </a:rPr>
              <a:t>生产约束</a:t>
            </a:r>
          </a:p>
        </p:txBody>
      </p:sp>
      <p:sp>
        <p:nvSpPr>
          <p:cNvPr id="88076" name="矩形 12"/>
          <p:cNvSpPr>
            <a:spLocks noChangeArrowheads="1"/>
          </p:cNvSpPr>
          <p:nvPr/>
        </p:nvSpPr>
        <p:spPr bwMode="auto">
          <a:xfrm>
            <a:off x="5410200" y="2401888"/>
            <a:ext cx="3240088" cy="503237"/>
          </a:xfrm>
          <a:prstGeom prst="rect">
            <a:avLst/>
          </a:prstGeom>
          <a:solidFill>
            <a:srgbClr val="92D050"/>
          </a:solidFill>
          <a:ln w="25400">
            <a:noFill/>
            <a:miter lim="800000"/>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400">
                <a:latin typeface="Tahoma" panose="020B0604030504040204" pitchFamily="34" charset="0"/>
                <a:ea typeface="黑体" panose="02010609060101010101" pitchFamily="49" charset="-122"/>
              </a:rPr>
              <a:t>生产成本</a:t>
            </a:r>
            <a:r>
              <a:rPr lang="en-US" altLang="zh-CN" sz="2400">
                <a:latin typeface="Tahoma" panose="020B0604030504040204" pitchFamily="34" charset="0"/>
                <a:ea typeface="黑体" panose="02010609060101010101" pitchFamily="49" charset="-122"/>
              </a:rPr>
              <a:t>+</a:t>
            </a:r>
            <a:r>
              <a:rPr lang="zh-CN" altLang="en-US" sz="2400">
                <a:latin typeface="Tahoma" panose="020B0604030504040204" pitchFamily="34" charset="0"/>
                <a:ea typeface="黑体" panose="02010609060101010101" pitchFamily="49" charset="-122"/>
              </a:rPr>
              <a:t>库存成本</a:t>
            </a:r>
          </a:p>
        </p:txBody>
      </p:sp>
      <p:sp>
        <p:nvSpPr>
          <p:cNvPr id="8" name="标题 1"/>
          <p:cNvSpPr txBox="1"/>
          <p:nvPr>
            <p:custDataLst>
              <p:tags r:id="rId1"/>
            </p:custDataLst>
          </p:nvPr>
        </p:nvSpPr>
        <p:spPr>
          <a:xfrm>
            <a:off x="533400" y="910590"/>
            <a:ext cx="3810000" cy="610235"/>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en-US" altLang="zh-CN" sz="3600" kern="0" dirty="0">
                <a:latin typeface="黑体" panose="02010609060101010101" pitchFamily="49" charset="-122"/>
                <a:ea typeface="黑体" panose="02010609060101010101" pitchFamily="49" charset="-122"/>
                <a:cs typeface="黑体" panose="02010609060101010101" pitchFamily="49" charset="-122"/>
              </a:rPr>
              <a:t>2. </a:t>
            </a:r>
            <a:r>
              <a:rPr lang="zh-CN" altLang="en-US" sz="3600" kern="0" dirty="0">
                <a:latin typeface="黑体" panose="02010609060101010101" pitchFamily="49" charset="-122"/>
                <a:ea typeface="黑体" panose="02010609060101010101" pitchFamily="49" charset="-122"/>
                <a:cs typeface="黑体" panose="02010609060101010101" pitchFamily="49" charset="-122"/>
              </a:rPr>
              <a:t>生产计划问题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8076"/>
                                        </p:tgtEl>
                                        <p:attrNameLst>
                                          <p:attrName>style.visibility</p:attrName>
                                        </p:attrNameLst>
                                      </p:cBhvr>
                                      <p:to>
                                        <p:strVal val="visible"/>
                                      </p:to>
                                    </p:set>
                                    <p:animEffect transition="in" filter="fade">
                                      <p:cBhvr>
                                        <p:cTn id="7" dur="500"/>
                                        <p:tgtEl>
                                          <p:spTgt spid="8807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8074"/>
                                        </p:tgtEl>
                                        <p:attrNameLst>
                                          <p:attrName>style.visibility</p:attrName>
                                        </p:attrNameLst>
                                      </p:cBhvr>
                                      <p:to>
                                        <p:strVal val="visible"/>
                                      </p:to>
                                    </p:set>
                                    <p:animEffect transition="in" filter="fade">
                                      <p:cBhvr>
                                        <p:cTn id="12" dur="500"/>
                                        <p:tgtEl>
                                          <p:spTgt spid="88074"/>
                                        </p:tgtEl>
                                      </p:cBhvr>
                                    </p:animEffect>
                                  </p:childTnLst>
                                </p:cTn>
                              </p:par>
                              <p:par>
                                <p:cTn id="13" presetID="2" presetClass="entr" presetSubtype="4" fill="hold" grpId="0" nodeType="withEffect">
                                  <p:stCondLst>
                                    <p:cond delay="0"/>
                                  </p:stCondLst>
                                  <p:childTnLst>
                                    <p:set>
                                      <p:cBhvr>
                                        <p:cTn id="14" dur="1" fill="hold">
                                          <p:stCondLst>
                                            <p:cond delay="0"/>
                                          </p:stCondLst>
                                        </p:cTn>
                                        <p:tgtEl>
                                          <p:spTgt spid="83972"/>
                                        </p:tgtEl>
                                        <p:attrNameLst>
                                          <p:attrName>style.visibility</p:attrName>
                                        </p:attrNameLst>
                                      </p:cBhvr>
                                      <p:to>
                                        <p:strVal val="visible"/>
                                      </p:to>
                                    </p:set>
                                    <p:anim calcmode="lin" valueType="num">
                                      <p:cBhvr additive="base">
                                        <p:cTn id="15" dur="500" fill="hold"/>
                                        <p:tgtEl>
                                          <p:spTgt spid="83972"/>
                                        </p:tgtEl>
                                        <p:attrNameLst>
                                          <p:attrName>ppt_x</p:attrName>
                                        </p:attrNameLst>
                                      </p:cBhvr>
                                      <p:tavLst>
                                        <p:tav tm="0">
                                          <p:val>
                                            <p:strVal val="#ppt_x"/>
                                          </p:val>
                                        </p:tav>
                                        <p:tav tm="100000">
                                          <p:val>
                                            <p:strVal val="#ppt_x"/>
                                          </p:val>
                                        </p:tav>
                                      </p:tavLst>
                                    </p:anim>
                                    <p:anim calcmode="lin" valueType="num">
                                      <p:cBhvr additive="base">
                                        <p:cTn id="16" dur="500" fill="hold"/>
                                        <p:tgtEl>
                                          <p:spTgt spid="8397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6027"/>
                                        </p:tgtEl>
                                        <p:attrNameLst>
                                          <p:attrName>style.visibility</p:attrName>
                                        </p:attrNameLst>
                                      </p:cBhvr>
                                      <p:to>
                                        <p:strVal val="visible"/>
                                      </p:to>
                                    </p:set>
                                    <p:animEffect transition="in" filter="fade">
                                      <p:cBhvr>
                                        <p:cTn id="21" dur="500"/>
                                        <p:tgtEl>
                                          <p:spTgt spid="86027"/>
                                        </p:tgtEl>
                                      </p:cBhvr>
                                    </p:animEffect>
                                  </p:childTnLst>
                                </p:cTn>
                              </p:par>
                              <p:par>
                                <p:cTn id="22" presetID="2" presetClass="entr" presetSubtype="4" fill="hold" grpId="0" nodeType="withEffect">
                                  <p:stCondLst>
                                    <p:cond delay="0"/>
                                  </p:stCondLst>
                                  <p:childTnLst>
                                    <p:set>
                                      <p:cBhvr>
                                        <p:cTn id="23" dur="1" fill="hold">
                                          <p:stCondLst>
                                            <p:cond delay="0"/>
                                          </p:stCondLst>
                                        </p:cTn>
                                        <p:tgtEl>
                                          <p:spTgt spid="83971"/>
                                        </p:tgtEl>
                                        <p:attrNameLst>
                                          <p:attrName>style.visibility</p:attrName>
                                        </p:attrNameLst>
                                      </p:cBhvr>
                                      <p:to>
                                        <p:strVal val="visible"/>
                                      </p:to>
                                    </p:set>
                                    <p:anim calcmode="lin" valueType="num">
                                      <p:cBhvr additive="base">
                                        <p:cTn id="24" dur="500" fill="hold"/>
                                        <p:tgtEl>
                                          <p:spTgt spid="83971"/>
                                        </p:tgtEl>
                                        <p:attrNameLst>
                                          <p:attrName>ppt_x</p:attrName>
                                        </p:attrNameLst>
                                      </p:cBhvr>
                                      <p:tavLst>
                                        <p:tav tm="0">
                                          <p:val>
                                            <p:strVal val="#ppt_x"/>
                                          </p:val>
                                        </p:tav>
                                        <p:tav tm="100000">
                                          <p:val>
                                            <p:strVal val="#ppt_x"/>
                                          </p:val>
                                        </p:tav>
                                      </p:tavLst>
                                    </p:anim>
                                    <p:anim calcmode="lin" valueType="num">
                                      <p:cBhvr additive="base">
                                        <p:cTn id="25" dur="500" fill="hold"/>
                                        <p:tgtEl>
                                          <p:spTgt spid="839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animBg="1"/>
      <p:bldP spid="83972" grpId="0" animBg="1"/>
      <p:bldP spid="88074" grpId="0" animBg="1" autoUpdateAnimBg="0"/>
      <p:bldP spid="86027" grpId="0" animBg="1"/>
      <p:bldP spid="88076"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09600" y="5018964"/>
            <a:ext cx="7924800" cy="160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994" name="Rectangle 2"/>
          <p:cNvSpPr>
            <a:spLocks noGrp="1" noChangeArrowheads="1"/>
          </p:cNvSpPr>
          <p:nvPr>
            <p:ph type="title" idx="4294967295"/>
          </p:nvPr>
        </p:nvSpPr>
        <p:spPr>
          <a:xfrm>
            <a:off x="609600" y="685800"/>
            <a:ext cx="6172200" cy="777238"/>
          </a:xfrm>
        </p:spPr>
        <p:txBody>
          <a:bodyPr/>
          <a:lstStyle/>
          <a:p>
            <a:pPr eaLnBrk="1" hangingPunct="1"/>
            <a:r>
              <a:rPr lang="zh-CN" altLang="zh-CN" sz="4000" u="sng" dirty="0">
                <a:solidFill>
                  <a:schemeClr val="hlink"/>
                </a:solidFill>
              </a:rPr>
              <a:t>动态规划模型</a:t>
            </a:r>
            <a:r>
              <a:rPr lang="en-US" altLang="zh-CN" sz="4000" u="sng" dirty="0">
                <a:solidFill>
                  <a:schemeClr val="hlink"/>
                </a:solidFill>
              </a:rPr>
              <a:t>-----</a:t>
            </a:r>
            <a:r>
              <a:rPr lang="zh-CN" altLang="en-US" sz="4000" u="sng" dirty="0">
                <a:solidFill>
                  <a:schemeClr val="hlink"/>
                </a:solidFill>
              </a:rPr>
              <a:t>顺推法</a:t>
            </a:r>
            <a:endParaRPr lang="zh-CN" altLang="zh-CN" sz="4000" u="sng" dirty="0">
              <a:solidFill>
                <a:schemeClr val="hlink"/>
              </a:solidFill>
            </a:endParaRPr>
          </a:p>
        </p:txBody>
      </p:sp>
      <p:sp>
        <p:nvSpPr>
          <p:cNvPr id="89092" name="Rectangle 6"/>
          <p:cNvSpPr>
            <a:spLocks noChangeArrowheads="1"/>
          </p:cNvSpPr>
          <p:nvPr/>
        </p:nvSpPr>
        <p:spPr bwMode="auto">
          <a:xfrm>
            <a:off x="611188" y="2438400"/>
            <a:ext cx="8075612" cy="1625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342900" indent="-342900" algn="just">
              <a:lnSpc>
                <a:spcPct val="125000"/>
              </a:lnSpc>
              <a:spcBef>
                <a:spcPct val="20000"/>
              </a:spcBef>
              <a:buClr>
                <a:srgbClr val="C00000"/>
              </a:buClr>
              <a:buSzPct val="70000"/>
              <a:buFont typeface="Wingdings" panose="05000000000000000000" pitchFamily="2" charset="2"/>
              <a:buChar char="p"/>
            </a:pPr>
            <a:r>
              <a:rPr lang="zh-CN" altLang="en-US" sz="2400" b="1" dirty="0">
                <a:latin typeface="Times New Roman" panose="02020603050405020304" pitchFamily="18" charset="0"/>
                <a:cs typeface="Times New Roman" panose="02020603050405020304" pitchFamily="18" charset="0"/>
              </a:rPr>
              <a:t>用动态规划方法来求解，可看作一个</a:t>
            </a:r>
            <a:r>
              <a:rPr lang="en-US" altLang="zh-CN" sz="2400" b="1" i="1" dirty="0">
                <a:latin typeface="Times New Roman" panose="02020603050405020304" pitchFamily="18" charset="0"/>
                <a:cs typeface="Times New Roman" panose="02020603050405020304" pitchFamily="18" charset="0"/>
              </a:rPr>
              <a:t>n</a:t>
            </a:r>
            <a:r>
              <a:rPr lang="zh-CN" altLang="en-US" sz="2400" b="1" dirty="0">
                <a:latin typeface="Times New Roman" panose="02020603050405020304" pitchFamily="18" charset="0"/>
                <a:cs typeface="Times New Roman" panose="02020603050405020304" pitchFamily="18" charset="0"/>
              </a:rPr>
              <a:t>阶段决策问题；</a:t>
            </a:r>
            <a:endParaRPr lang="en-US" altLang="zh-CN" sz="2400" b="1" dirty="0">
              <a:latin typeface="Times New Roman" panose="02020603050405020304" pitchFamily="18" charset="0"/>
              <a:cs typeface="Times New Roman" panose="02020603050405020304" pitchFamily="18" charset="0"/>
            </a:endParaRPr>
          </a:p>
          <a:p>
            <a:pPr marL="612140" lvl="1" indent="-342900" algn="just">
              <a:lnSpc>
                <a:spcPct val="125000"/>
              </a:lnSpc>
              <a:spcBef>
                <a:spcPct val="20000"/>
              </a:spcBef>
              <a:buClr>
                <a:srgbClr val="C00000"/>
              </a:buClr>
              <a:buSzPct val="70000"/>
              <a:buFont typeface="Wingdings" panose="05000000000000000000" pitchFamily="2" charset="2"/>
              <a:buChar char="n"/>
            </a:pPr>
            <a:r>
              <a:rPr lang="zh-CN" altLang="en-US" sz="2400" b="1" dirty="0">
                <a:latin typeface="Times New Roman" panose="02020603050405020304" pitchFamily="18" charset="0"/>
                <a:cs typeface="Times New Roman" panose="02020603050405020304" pitchFamily="18" charset="0"/>
              </a:rPr>
              <a:t>令</a:t>
            </a:r>
            <a:r>
              <a:rPr lang="en-US" altLang="zh-CN" sz="2400" b="1" i="1" dirty="0">
                <a:solidFill>
                  <a:srgbClr val="0033CC"/>
                </a:solidFill>
                <a:latin typeface="Times New Roman" panose="02020603050405020304" pitchFamily="18" charset="0"/>
                <a:cs typeface="Times New Roman" panose="02020603050405020304" pitchFamily="18" charset="0"/>
              </a:rPr>
              <a:t>v</a:t>
            </a:r>
            <a:r>
              <a:rPr lang="en-US" altLang="zh-CN" sz="2400" b="1" i="1" baseline="-25000" dirty="0">
                <a:solidFill>
                  <a:srgbClr val="0033CC"/>
                </a:solidFill>
                <a:latin typeface="Times New Roman" panose="02020603050405020304" pitchFamily="18" charset="0"/>
                <a:cs typeface="Times New Roman" panose="02020603050405020304" pitchFamily="18" charset="0"/>
              </a:rPr>
              <a:t>k</a:t>
            </a:r>
            <a:r>
              <a:rPr lang="en-US" altLang="zh-CN" sz="2400" b="1" baseline="-25000" dirty="0">
                <a:solidFill>
                  <a:srgbClr val="0033CC"/>
                </a:solidFill>
                <a:latin typeface="Times New Roman" panose="02020603050405020304" pitchFamily="18" charset="0"/>
                <a:cs typeface="Times New Roman" panose="02020603050405020304" pitchFamily="18" charset="0"/>
              </a:rPr>
              <a:t>-1</a:t>
            </a:r>
            <a:r>
              <a:rPr lang="zh-CN" altLang="en-US" sz="2400" b="1" dirty="0">
                <a:solidFill>
                  <a:srgbClr val="0033CC"/>
                </a:solidFill>
                <a:latin typeface="Times New Roman" panose="02020603050405020304" pitchFamily="18" charset="0"/>
                <a:cs typeface="Times New Roman" panose="02020603050405020304" pitchFamily="18" charset="0"/>
              </a:rPr>
              <a:t>为状态变量</a:t>
            </a:r>
            <a:r>
              <a:rPr lang="zh-CN" altLang="en-US" sz="2400" b="1" dirty="0">
                <a:latin typeface="Times New Roman" panose="02020603050405020304" pitchFamily="18" charset="0"/>
                <a:cs typeface="Times New Roman" panose="02020603050405020304" pitchFamily="18" charset="0"/>
              </a:rPr>
              <a:t>，它表示第</a:t>
            </a:r>
            <a:r>
              <a:rPr lang="en-US" altLang="zh-CN" sz="2400" b="1" i="1" dirty="0">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阶段开始时的库存量；</a:t>
            </a:r>
            <a:endParaRPr lang="en-US" altLang="zh-CN" sz="2400" b="1" dirty="0">
              <a:latin typeface="Times New Roman" panose="02020603050405020304" pitchFamily="18" charset="0"/>
              <a:cs typeface="Times New Roman" panose="02020603050405020304" pitchFamily="18" charset="0"/>
            </a:endParaRPr>
          </a:p>
          <a:p>
            <a:pPr marL="612140" lvl="1" indent="-342900" algn="just">
              <a:lnSpc>
                <a:spcPct val="125000"/>
              </a:lnSpc>
              <a:spcBef>
                <a:spcPct val="20000"/>
              </a:spcBef>
              <a:buClr>
                <a:srgbClr val="C00000"/>
              </a:buClr>
              <a:buSzPct val="70000"/>
              <a:buFont typeface="Wingdings" panose="05000000000000000000" pitchFamily="2" charset="2"/>
              <a:buChar char="n"/>
            </a:pPr>
            <a:r>
              <a:rPr lang="en-US" altLang="zh-CN" sz="2400" b="1" i="1" dirty="0" err="1">
                <a:latin typeface="Times New Roman" panose="02020603050405020304" pitchFamily="18" charset="0"/>
                <a:cs typeface="Times New Roman" panose="02020603050405020304" pitchFamily="18" charset="0"/>
              </a:rPr>
              <a:t>x</a:t>
            </a:r>
            <a:r>
              <a:rPr lang="en-US" altLang="zh-CN" sz="2400" b="1" i="1" baseline="-25000" dirty="0" err="1">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为决策变量，它表示第</a:t>
            </a:r>
            <a:r>
              <a:rPr lang="en-US" altLang="zh-CN" sz="2400" b="1" i="1" dirty="0">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阶段的生产量。</a:t>
            </a:r>
            <a:endParaRPr lang="en-US" altLang="zh-CN" sz="2400" b="1" dirty="0">
              <a:latin typeface="Times New Roman" panose="02020603050405020304" pitchFamily="18" charset="0"/>
              <a:cs typeface="Times New Roman" panose="02020603050405020304" pitchFamily="18" charset="0"/>
            </a:endParaRPr>
          </a:p>
        </p:txBody>
      </p:sp>
      <p:sp>
        <p:nvSpPr>
          <p:cNvPr id="84998" name="灯片编号占位符 3"/>
          <p:cNvSpPr txBox="1">
            <a:spLocks noGrp="1" noChangeArrowheads="1"/>
          </p:cNvSpPr>
          <p:nvPr/>
        </p:nvSpPr>
        <p:spPr bwMode="auto">
          <a:xfrm>
            <a:off x="7042150" y="68580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02B73302-C79F-4309-B3D6-D806B56183A6}" type="slidenum">
              <a:rPr lang="en-US" altLang="zh-CN" sz="1400">
                <a:latin typeface="Times New Roman" panose="02020603050405020304" pitchFamily="18" charset="0"/>
              </a:rPr>
              <a:t>8</a:t>
            </a:fld>
            <a:endParaRPr lang="en-US" altLang="zh-CN" sz="1400">
              <a:latin typeface="Times New Roman" panose="02020603050405020304" pitchFamily="18" charset="0"/>
            </a:endParaRPr>
          </a:p>
        </p:txBody>
      </p:sp>
      <p:sp>
        <p:nvSpPr>
          <p:cNvPr id="84999" name="矩形 1"/>
          <p:cNvSpPr>
            <a:spLocks noChangeArrowheads="1"/>
          </p:cNvSpPr>
          <p:nvPr/>
        </p:nvSpPr>
        <p:spPr bwMode="auto">
          <a:xfrm>
            <a:off x="685800" y="1861762"/>
            <a:ext cx="3635375" cy="571500"/>
          </a:xfrm>
          <a:prstGeom prst="rect">
            <a:avLst/>
          </a:prstGeom>
          <a:solidFill>
            <a:schemeClr val="accent1">
              <a:lumMod val="60000"/>
              <a:lumOff val="40000"/>
            </a:schemeClr>
          </a:solidFill>
          <a:ln w="25400">
            <a:solidFill>
              <a:schemeClr val="accent1">
                <a:lumMod val="75000"/>
              </a:schemeClr>
            </a:solidFill>
            <a:miter lim="800000"/>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400" dirty="0">
                <a:latin typeface="Tahoma" panose="020B0604030504040204" pitchFamily="34" charset="0"/>
                <a:ea typeface="黑体" panose="02010609060101010101" pitchFamily="49" charset="-122"/>
              </a:rPr>
              <a:t>确定状态变量与决策变量</a:t>
            </a:r>
          </a:p>
        </p:txBody>
      </p:sp>
      <p:sp>
        <p:nvSpPr>
          <p:cNvPr id="11" name="Rectangle 6"/>
          <p:cNvSpPr>
            <a:spLocks noChangeArrowheads="1"/>
          </p:cNvSpPr>
          <p:nvPr/>
        </p:nvSpPr>
        <p:spPr bwMode="auto">
          <a:xfrm>
            <a:off x="685800" y="4094202"/>
            <a:ext cx="457200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342900" indent="-342900" algn="just">
              <a:lnSpc>
                <a:spcPct val="125000"/>
              </a:lnSpc>
              <a:spcBef>
                <a:spcPts val="1800"/>
              </a:spcBef>
              <a:buClr>
                <a:srgbClr val="C00000"/>
              </a:buClr>
              <a:buSzPct val="70000"/>
              <a:buFont typeface="Wingdings" panose="05000000000000000000" pitchFamily="2" charset="2"/>
              <a:buChar char="p"/>
            </a:pPr>
            <a:r>
              <a:rPr lang="zh-CN" altLang="en-US" sz="2400" b="1" dirty="0">
                <a:cs typeface="Times New Roman" panose="02020603050405020304" pitchFamily="18" charset="0"/>
              </a:rPr>
              <a:t>状态转移方程为</a:t>
            </a:r>
          </a:p>
        </p:txBody>
      </p:sp>
      <p:grpSp>
        <p:nvGrpSpPr>
          <p:cNvPr id="7" name="组合 6"/>
          <p:cNvGrpSpPr/>
          <p:nvPr/>
        </p:nvGrpSpPr>
        <p:grpSpPr>
          <a:xfrm>
            <a:off x="1087755" y="5039360"/>
            <a:ext cx="6912610" cy="1590040"/>
            <a:chOff x="1713" y="7936"/>
            <a:chExt cx="10886" cy="2504"/>
          </a:xfrm>
        </p:grpSpPr>
        <p:pic>
          <p:nvPicPr>
            <p:cNvPr id="4" name="图片 3"/>
            <p:cNvPicPr>
              <a:picLocks noChangeAspect="1"/>
            </p:cNvPicPr>
            <p:nvPr/>
          </p:nvPicPr>
          <p:blipFill>
            <a:blip r:embed="rId3"/>
            <a:stretch>
              <a:fillRect/>
            </a:stretch>
          </p:blipFill>
          <p:spPr>
            <a:xfrm>
              <a:off x="1713" y="7936"/>
              <a:ext cx="10887" cy="2504"/>
            </a:xfrm>
            <a:prstGeom prst="rect">
              <a:avLst/>
            </a:prstGeom>
            <a:ln>
              <a:solidFill>
                <a:srgbClr val="C00000"/>
              </a:solidFill>
            </a:ln>
          </p:spPr>
        </p:pic>
        <p:sp>
          <p:nvSpPr>
            <p:cNvPr id="5" name="文本框 4"/>
            <p:cNvSpPr txBox="1"/>
            <p:nvPr/>
          </p:nvSpPr>
          <p:spPr>
            <a:xfrm flipH="1">
              <a:off x="6876" y="8040"/>
              <a:ext cx="1372" cy="580"/>
            </a:xfrm>
            <a:prstGeom prst="rect">
              <a:avLst/>
            </a:prstGeom>
            <a:solidFill>
              <a:schemeClr val="bg1"/>
            </a:solidFill>
          </p:spPr>
          <p:txBody>
            <a:bodyPr wrap="square" rtlCol="0">
              <a:spAutoFit/>
            </a:bodyPr>
            <a:lstStyle/>
            <a:p>
              <a:r>
                <a:rPr lang="zh-CN" altLang="en-US" sz="1800" b="1">
                  <a:solidFill>
                    <a:schemeClr val="tx1"/>
                  </a:solidFill>
                  <a:latin typeface="Times New Roman" panose="02020603050405020304" pitchFamily="18" charset="0"/>
                  <a:cs typeface="Times New Roman" panose="02020603050405020304" pitchFamily="18" charset="0"/>
                </a:rPr>
                <a:t>决策</a:t>
              </a:r>
              <a:r>
                <a:rPr lang="en-US" altLang="zh-CN" sz="1800" b="1" i="1">
                  <a:solidFill>
                    <a:schemeClr val="tx1"/>
                  </a:solidFill>
                  <a:latin typeface="Times New Roman" panose="02020603050405020304" pitchFamily="18" charset="0"/>
                  <a:cs typeface="Times New Roman" panose="02020603050405020304" pitchFamily="18" charset="0"/>
                </a:rPr>
                <a:t>x</a:t>
              </a:r>
              <a:r>
                <a:rPr lang="en-US" altLang="zh-CN" sz="1800" b="1" i="1" baseline="-25000">
                  <a:solidFill>
                    <a:schemeClr val="tx1"/>
                  </a:solidFill>
                  <a:uFillTx/>
                  <a:latin typeface="Times New Roman" panose="02020603050405020304" pitchFamily="18" charset="0"/>
                  <a:cs typeface="Times New Roman" panose="02020603050405020304" pitchFamily="18" charset="0"/>
                </a:rPr>
                <a:t>k</a:t>
              </a:r>
            </a:p>
          </p:txBody>
        </p:sp>
        <p:sp>
          <p:nvSpPr>
            <p:cNvPr id="6" name="文本框 5"/>
            <p:cNvSpPr txBox="1"/>
            <p:nvPr>
              <p:custDataLst>
                <p:tags r:id="rId1"/>
              </p:custDataLst>
            </p:nvPr>
          </p:nvSpPr>
          <p:spPr>
            <a:xfrm flipH="1">
              <a:off x="10440" y="8040"/>
              <a:ext cx="1372" cy="580"/>
            </a:xfrm>
            <a:prstGeom prst="rect">
              <a:avLst/>
            </a:prstGeom>
            <a:solidFill>
              <a:schemeClr val="bg1"/>
            </a:solidFill>
          </p:spPr>
          <p:txBody>
            <a:bodyPr wrap="square" rtlCol="0">
              <a:spAutoFit/>
            </a:bodyPr>
            <a:lstStyle/>
            <a:p>
              <a:r>
                <a:rPr lang="zh-CN" altLang="en-US" sz="1800" b="1">
                  <a:solidFill>
                    <a:schemeClr val="tx1"/>
                  </a:solidFill>
                  <a:latin typeface="Times New Roman" panose="02020603050405020304" pitchFamily="18" charset="0"/>
                  <a:cs typeface="Times New Roman" panose="02020603050405020304" pitchFamily="18" charset="0"/>
                </a:rPr>
                <a:t>决策</a:t>
              </a:r>
              <a:r>
                <a:rPr lang="en-US" altLang="zh-CN" sz="1800" b="1" i="1">
                  <a:solidFill>
                    <a:schemeClr val="tx1"/>
                  </a:solidFill>
                  <a:latin typeface="Times New Roman" panose="02020603050405020304" pitchFamily="18" charset="0"/>
                  <a:cs typeface="Times New Roman" panose="02020603050405020304" pitchFamily="18" charset="0"/>
                </a:rPr>
                <a:t>x</a:t>
              </a:r>
              <a:r>
                <a:rPr lang="en-US" altLang="zh-CN" sz="1800" b="1" i="1" baseline="-25000">
                  <a:solidFill>
                    <a:schemeClr val="tx1"/>
                  </a:solidFill>
                  <a:uFillTx/>
                  <a:latin typeface="Times New Roman" panose="02020603050405020304" pitchFamily="18" charset="0"/>
                  <a:cs typeface="Times New Roman" panose="02020603050405020304" pitchFamily="18" charset="0"/>
                </a:rPr>
                <a:t>n</a:t>
              </a:r>
            </a:p>
          </p:txBody>
        </p:sp>
      </p:grpSp>
      <p:graphicFrame>
        <p:nvGraphicFramePr>
          <p:cNvPr id="3" name="Object 3">
            <a:extLst>
              <a:ext uri="{FF2B5EF4-FFF2-40B4-BE49-F238E27FC236}">
                <a16:creationId xmlns:a16="http://schemas.microsoft.com/office/drawing/2014/main" id="{0375CDDD-599F-30F5-23F2-5CB06E4079CE}"/>
              </a:ext>
            </a:extLst>
          </p:cNvPr>
          <p:cNvGraphicFramePr>
            <a:graphicFrameLocks noChangeAspect="1"/>
          </p:cNvGraphicFramePr>
          <p:nvPr>
            <p:extLst>
              <p:ext uri="{D42A27DB-BD31-4B8C-83A1-F6EECF244321}">
                <p14:modId xmlns:p14="http://schemas.microsoft.com/office/powerpoint/2010/main" val="1743275871"/>
              </p:ext>
            </p:extLst>
          </p:nvPr>
        </p:nvGraphicFramePr>
        <p:xfrm>
          <a:off x="3429000" y="4097640"/>
          <a:ext cx="4953000" cy="554038"/>
        </p:xfrm>
        <a:graphic>
          <a:graphicData uri="http://schemas.openxmlformats.org/presentationml/2006/ole">
            <mc:AlternateContent xmlns:mc="http://schemas.openxmlformats.org/markup-compatibility/2006">
              <mc:Choice xmlns:v="urn:schemas-microsoft-com:vml" Requires="v">
                <p:oleObj name="Equation" r:id="rId4" imgW="48158400" imgH="5486400" progId="Equation.DSMT4">
                  <p:embed/>
                </p:oleObj>
              </mc:Choice>
              <mc:Fallback>
                <p:oleObj name="Equation" r:id="rId4" imgW="48158400" imgH="5486400" progId="Equation.DSMT4">
                  <p:embed/>
                  <p:pic>
                    <p:nvPicPr>
                      <p:cNvPr id="25" name="Object 3"/>
                      <p:cNvPicPr>
                        <a:picLocks noChangeAspect="1" noChangeArrowheads="1"/>
                      </p:cNvPicPr>
                      <p:nvPr/>
                    </p:nvPicPr>
                    <p:blipFill>
                      <a:blip r:embed="rId5">
                        <a:lum bright="-40000" contrast="-40000"/>
                      </a:blip>
                      <a:srcRect/>
                      <a:stretch>
                        <a:fillRect/>
                      </a:stretch>
                    </p:blipFill>
                    <p:spPr bwMode="auto">
                      <a:xfrm>
                        <a:off x="3429000" y="4097640"/>
                        <a:ext cx="4953000" cy="554038"/>
                      </a:xfrm>
                      <a:prstGeom prst="rect">
                        <a:avLst/>
                      </a:prstGeom>
                      <a:solidFill>
                        <a:schemeClr val="bg1">
                          <a:lumMod val="85000"/>
                        </a:schemeClr>
                      </a:solidFill>
                      <a:ln>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9092"/>
                                        </p:tgtEl>
                                        <p:attrNameLst>
                                          <p:attrName>style.visibility</p:attrName>
                                        </p:attrNameLst>
                                      </p:cBhvr>
                                      <p:to>
                                        <p:strVal val="visible"/>
                                      </p:to>
                                    </p:set>
                                    <p:anim calcmode="lin" valueType="num">
                                      <p:cBhvr additive="base">
                                        <p:cTn id="7" dur="500" fill="hold"/>
                                        <p:tgtEl>
                                          <p:spTgt spid="89092"/>
                                        </p:tgtEl>
                                        <p:attrNameLst>
                                          <p:attrName>ppt_x</p:attrName>
                                        </p:attrNameLst>
                                      </p:cBhvr>
                                      <p:tavLst>
                                        <p:tav tm="0">
                                          <p:val>
                                            <p:strVal val="#ppt_x"/>
                                          </p:val>
                                        </p:tav>
                                        <p:tav tm="100000">
                                          <p:val>
                                            <p:strVal val="#ppt_x"/>
                                          </p:val>
                                        </p:tav>
                                      </p:tavLst>
                                    </p:anim>
                                    <p:anim calcmode="lin" valueType="num">
                                      <p:cBhvr additive="base">
                                        <p:cTn id="8" dur="500" fill="hold"/>
                                        <p:tgtEl>
                                          <p:spTgt spid="8909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2" grpId="0" autoUpdateAnimBg="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idx="4294967295"/>
          </p:nvPr>
        </p:nvSpPr>
        <p:spPr>
          <a:xfrm>
            <a:off x="609600" y="685800"/>
            <a:ext cx="6172200" cy="777238"/>
          </a:xfrm>
        </p:spPr>
        <p:txBody>
          <a:bodyPr/>
          <a:lstStyle/>
          <a:p>
            <a:pPr eaLnBrk="1" hangingPunct="1"/>
            <a:r>
              <a:rPr lang="zh-CN" altLang="zh-CN" sz="4000" u="sng" dirty="0">
                <a:solidFill>
                  <a:schemeClr val="hlink"/>
                </a:solidFill>
              </a:rPr>
              <a:t>动态规划模型</a:t>
            </a:r>
            <a:r>
              <a:rPr lang="en-US" altLang="zh-CN" sz="4000" u="sng" dirty="0">
                <a:solidFill>
                  <a:schemeClr val="hlink"/>
                </a:solidFill>
              </a:rPr>
              <a:t>-----</a:t>
            </a:r>
            <a:r>
              <a:rPr lang="zh-CN" altLang="en-US" sz="4000" u="sng" dirty="0">
                <a:solidFill>
                  <a:schemeClr val="hlink"/>
                </a:solidFill>
              </a:rPr>
              <a:t>顺推法</a:t>
            </a:r>
            <a:endParaRPr lang="zh-CN" altLang="zh-CN" sz="4000" u="sng" dirty="0">
              <a:solidFill>
                <a:schemeClr val="hlink"/>
              </a:solidFill>
            </a:endParaRPr>
          </a:p>
        </p:txBody>
      </p:sp>
      <p:sp>
        <p:nvSpPr>
          <p:cNvPr id="89092" name="Rectangle 6"/>
          <p:cNvSpPr>
            <a:spLocks noChangeArrowheads="1"/>
          </p:cNvSpPr>
          <p:nvPr/>
        </p:nvSpPr>
        <p:spPr bwMode="auto">
          <a:xfrm>
            <a:off x="609601" y="4202903"/>
            <a:ext cx="7696200" cy="1123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342900" indent="-342900" algn="just">
              <a:lnSpc>
                <a:spcPct val="150000"/>
              </a:lnSpc>
              <a:spcBef>
                <a:spcPct val="20000"/>
              </a:spcBef>
              <a:buClr>
                <a:srgbClr val="C00000"/>
              </a:buClr>
              <a:buSzPct val="70000"/>
              <a:buFont typeface="Wingdings" panose="05000000000000000000" pitchFamily="2" charset="2"/>
              <a:buChar char="p"/>
            </a:pPr>
            <a:r>
              <a:rPr lang="zh-CN" altLang="en-US" sz="2400" b="1" dirty="0">
                <a:solidFill>
                  <a:srgbClr val="C00000"/>
                </a:solidFill>
                <a:latin typeface="Times New Roman" panose="02020603050405020304" pitchFamily="18" charset="0"/>
                <a:cs typeface="Times New Roman" panose="02020603050405020304" pitchFamily="18" charset="0"/>
              </a:rPr>
              <a:t>最优值函数</a:t>
            </a:r>
            <a:r>
              <a:rPr lang="en-US" altLang="zh-CN" sz="2400" b="1" i="1" dirty="0" err="1">
                <a:latin typeface="Times New Roman" panose="02020603050405020304" pitchFamily="18" charset="0"/>
                <a:cs typeface="Times New Roman" panose="02020603050405020304" pitchFamily="18" charset="0"/>
              </a:rPr>
              <a:t>f</a:t>
            </a:r>
            <a:r>
              <a:rPr lang="en-US" altLang="zh-CN" sz="2400" b="1" i="1" baseline="-25000" dirty="0" err="1">
                <a:latin typeface="Times New Roman" panose="02020603050405020304" pitchFamily="18" charset="0"/>
                <a:cs typeface="Times New Roman" panose="02020603050405020304" pitchFamily="18" charset="0"/>
              </a:rPr>
              <a:t>k</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v</a:t>
            </a:r>
            <a:r>
              <a:rPr lang="en-US" altLang="zh-CN" sz="2400" b="1" i="1" baseline="-25000" dirty="0" err="1">
                <a:latin typeface="Times New Roman" panose="02020603050405020304" pitchFamily="18" charset="0"/>
                <a:cs typeface="Times New Roman" panose="02020603050405020304" pitchFamily="18" charset="0"/>
              </a:rPr>
              <a:t>k</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表示从第</a:t>
            </a: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阶段初始库存量为</a:t>
            </a:r>
            <a:r>
              <a:rPr lang="en-US" altLang="zh-CN" sz="2400" b="1"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到第</a:t>
            </a:r>
            <a:r>
              <a:rPr lang="en-US" altLang="zh-CN" sz="2400" b="1" i="1" dirty="0">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阶段末库存量为</a:t>
            </a:r>
            <a:r>
              <a:rPr lang="en-US" altLang="zh-CN" sz="2400" b="1" i="1" dirty="0" err="1">
                <a:latin typeface="Times New Roman" panose="02020603050405020304" pitchFamily="18" charset="0"/>
                <a:cs typeface="Times New Roman" panose="02020603050405020304" pitchFamily="18" charset="0"/>
              </a:rPr>
              <a:t>v</a:t>
            </a:r>
            <a:r>
              <a:rPr lang="en-US" altLang="zh-CN" sz="2400" b="1" i="1" baseline="-25000" dirty="0" err="1">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时的</a:t>
            </a:r>
            <a:r>
              <a:rPr lang="zh-CN" altLang="en-US" sz="2400" b="1" dirty="0">
                <a:solidFill>
                  <a:srgbClr val="C00000"/>
                </a:solidFill>
                <a:latin typeface="Times New Roman" panose="02020603050405020304" pitchFamily="18" charset="0"/>
                <a:cs typeface="Times New Roman" panose="02020603050405020304" pitchFamily="18" charset="0"/>
              </a:rPr>
              <a:t>最小总费用</a:t>
            </a:r>
            <a:r>
              <a:rPr lang="zh-CN" altLang="en-US" sz="2400" b="1" dirty="0">
                <a:cs typeface="Times New Roman" panose="02020603050405020304" pitchFamily="18" charset="0"/>
              </a:rPr>
              <a:t>。</a:t>
            </a:r>
          </a:p>
        </p:txBody>
      </p:sp>
      <p:sp>
        <p:nvSpPr>
          <p:cNvPr id="84998" name="灯片编号占位符 3"/>
          <p:cNvSpPr txBox="1">
            <a:spLocks noGrp="1" noChangeArrowheads="1"/>
          </p:cNvSpPr>
          <p:nvPr/>
        </p:nvSpPr>
        <p:spPr bwMode="auto">
          <a:xfrm>
            <a:off x="8229600" y="6248400"/>
            <a:ext cx="67056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02B73302-C79F-4309-B3D6-D806B56183A6}" type="slidenum">
              <a:rPr lang="en-US" altLang="zh-CN" sz="1400">
                <a:latin typeface="Times New Roman" panose="02020603050405020304" pitchFamily="18" charset="0"/>
              </a:rPr>
              <a:t>9</a:t>
            </a:fld>
            <a:endParaRPr lang="en-US" altLang="zh-CN" sz="1400">
              <a:latin typeface="Times New Roman" panose="02020603050405020304" pitchFamily="18" charset="0"/>
            </a:endParaRPr>
          </a:p>
        </p:txBody>
      </p:sp>
      <p:sp>
        <p:nvSpPr>
          <p:cNvPr id="85000" name="矩形 7"/>
          <p:cNvSpPr>
            <a:spLocks noChangeArrowheads="1"/>
          </p:cNvSpPr>
          <p:nvPr/>
        </p:nvSpPr>
        <p:spPr bwMode="auto">
          <a:xfrm>
            <a:off x="805295" y="1962145"/>
            <a:ext cx="3635375" cy="573088"/>
          </a:xfrm>
          <a:prstGeom prst="rect">
            <a:avLst/>
          </a:prstGeom>
          <a:solidFill>
            <a:schemeClr val="accent1">
              <a:lumMod val="60000"/>
              <a:lumOff val="40000"/>
            </a:schemeClr>
          </a:solidFill>
          <a:ln w="25400">
            <a:solidFill>
              <a:schemeClr val="accent1">
                <a:lumMod val="75000"/>
              </a:schemeClr>
            </a:solidFill>
            <a:miter lim="800000"/>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400">
                <a:latin typeface="Tahoma" panose="020B0604030504040204" pitchFamily="34" charset="0"/>
                <a:ea typeface="黑体" panose="02010609060101010101" pitchFamily="49" charset="-122"/>
              </a:rPr>
              <a:t>确定指标函数</a:t>
            </a:r>
          </a:p>
        </p:txBody>
      </p:sp>
      <p:graphicFrame>
        <p:nvGraphicFramePr>
          <p:cNvPr id="89097" name="Object 9"/>
          <p:cNvGraphicFramePr>
            <a:graphicFrameLocks noChangeAspect="1"/>
          </p:cNvGraphicFramePr>
          <p:nvPr/>
        </p:nvGraphicFramePr>
        <p:xfrm>
          <a:off x="1570038" y="2590800"/>
          <a:ext cx="6534150" cy="1046163"/>
        </p:xfrm>
        <a:graphic>
          <a:graphicData uri="http://schemas.openxmlformats.org/presentationml/2006/ole">
            <mc:AlternateContent xmlns:mc="http://schemas.openxmlformats.org/markup-compatibility/2006">
              <mc:Choice xmlns:v="urn:schemas-microsoft-com:vml" Requires="v">
                <p:oleObj name="Equation" r:id="rId2" imgW="64922400" imgH="10363200" progId="Equation.DSMT4">
                  <p:embed/>
                </p:oleObj>
              </mc:Choice>
              <mc:Fallback>
                <p:oleObj name="Equation" r:id="rId2" imgW="64922400" imgH="10363200" progId="Equation.DSMT4">
                  <p:embed/>
                  <p:pic>
                    <p:nvPicPr>
                      <p:cNvPr id="0" name="图片 1"/>
                      <p:cNvPicPr>
                        <a:picLocks noChangeAspect="1" noChangeArrowheads="1"/>
                      </p:cNvPicPr>
                      <p:nvPr/>
                    </p:nvPicPr>
                    <p:blipFill>
                      <a:blip r:embed="rId3">
                        <a:lum bright="-40000" contrast="-40000"/>
                      </a:blip>
                      <a:srcRect/>
                      <a:stretch>
                        <a:fillRect/>
                      </a:stretch>
                    </p:blipFill>
                    <p:spPr bwMode="auto">
                      <a:xfrm>
                        <a:off x="1570038" y="2590800"/>
                        <a:ext cx="6534150" cy="1046163"/>
                      </a:xfrm>
                      <a:prstGeom prst="rect">
                        <a:avLst/>
                      </a:prstGeom>
                      <a:solidFill>
                        <a:schemeClr val="bg1">
                          <a:lumMod val="85000"/>
                        </a:schemeClr>
                      </a:solidFill>
                      <a:ln>
                        <a:noFill/>
                      </a:ln>
                    </p:spPr>
                  </p:pic>
                </p:oleObj>
              </mc:Fallback>
            </mc:AlternateContent>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圆角矩形 5"/>
          <p:cNvSpPr>
            <a:spLocks noChangeArrowheads="1"/>
          </p:cNvSpPr>
          <p:nvPr/>
        </p:nvSpPr>
        <p:spPr bwMode="auto">
          <a:xfrm>
            <a:off x="1547813" y="3074988"/>
            <a:ext cx="3168650" cy="654050"/>
          </a:xfrm>
          <a:prstGeom prst="roundRect">
            <a:avLst>
              <a:gd name="adj" fmla="val 16667"/>
            </a:avLst>
          </a:prstGeom>
          <a:solidFill>
            <a:schemeClr val="accent1"/>
          </a:solidFill>
          <a:ln w="25400">
            <a:solidFill>
              <a:srgbClr val="00A77A"/>
            </a:solidFill>
            <a:round/>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solidFill>
                <a:srgbClr val="FFFFFF"/>
              </a:solidFill>
              <a:latin typeface="Tahoma" panose="020B0604030504040204" pitchFamily="34" charset="0"/>
              <a:ea typeface="黑体" panose="02010609060101010101" pitchFamily="49" charset="-122"/>
            </a:endParaRPr>
          </a:p>
        </p:txBody>
      </p:sp>
      <p:sp>
        <p:nvSpPr>
          <p:cNvPr id="90115" name="圆角矩形 2"/>
          <p:cNvSpPr>
            <a:spLocks noChangeArrowheads="1"/>
          </p:cNvSpPr>
          <p:nvPr/>
        </p:nvSpPr>
        <p:spPr bwMode="auto">
          <a:xfrm>
            <a:off x="755650" y="5268913"/>
            <a:ext cx="7777163" cy="823912"/>
          </a:xfrm>
          <a:prstGeom prst="roundRect">
            <a:avLst>
              <a:gd name="adj" fmla="val 16667"/>
            </a:avLst>
          </a:prstGeom>
          <a:solidFill>
            <a:schemeClr val="accent1"/>
          </a:solidFill>
          <a:ln w="25400">
            <a:solidFill>
              <a:srgbClr val="00A77A"/>
            </a:solidFill>
            <a:round/>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solidFill>
                <a:srgbClr val="FFFFFF"/>
              </a:solidFill>
              <a:latin typeface="Tahoma" panose="020B0604030504040204" pitchFamily="34" charset="0"/>
              <a:ea typeface="黑体" panose="02010609060101010101" pitchFamily="49" charset="-122"/>
            </a:endParaRPr>
          </a:p>
        </p:txBody>
      </p:sp>
      <p:sp>
        <p:nvSpPr>
          <p:cNvPr id="90116" name="圆角矩形 1"/>
          <p:cNvSpPr>
            <a:spLocks noChangeArrowheads="1"/>
          </p:cNvSpPr>
          <p:nvPr/>
        </p:nvSpPr>
        <p:spPr bwMode="auto">
          <a:xfrm>
            <a:off x="1295400" y="2287588"/>
            <a:ext cx="7129463" cy="711200"/>
          </a:xfrm>
          <a:prstGeom prst="roundRect">
            <a:avLst>
              <a:gd name="adj" fmla="val 16667"/>
            </a:avLst>
          </a:prstGeom>
          <a:solidFill>
            <a:schemeClr val="accent1"/>
          </a:solidFill>
          <a:ln w="25400">
            <a:solidFill>
              <a:srgbClr val="00A77A"/>
            </a:solidFill>
            <a:round/>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solidFill>
                <a:srgbClr val="FFFFFF"/>
              </a:solidFill>
              <a:latin typeface="Tahoma" panose="020B0604030504040204" pitchFamily="34" charset="0"/>
              <a:ea typeface="黑体" panose="02010609060101010101" pitchFamily="49" charset="-122"/>
            </a:endParaRPr>
          </a:p>
        </p:txBody>
      </p:sp>
      <p:graphicFrame>
        <p:nvGraphicFramePr>
          <p:cNvPr id="86021" name="Object 5"/>
          <p:cNvGraphicFramePr>
            <a:graphicFrameLocks noChangeAspect="1"/>
          </p:cNvGraphicFramePr>
          <p:nvPr/>
        </p:nvGraphicFramePr>
        <p:xfrm>
          <a:off x="1511300" y="2309813"/>
          <a:ext cx="6697663" cy="692150"/>
        </p:xfrm>
        <a:graphic>
          <a:graphicData uri="http://schemas.openxmlformats.org/presentationml/2006/ole">
            <mc:AlternateContent xmlns:mc="http://schemas.openxmlformats.org/markup-compatibility/2006">
              <mc:Choice xmlns:v="urn:schemas-microsoft-com:vml" Requires="v">
                <p:oleObj name="Equation" r:id="rId2" imgW="3390900" imgH="304800" progId="Equation.DSMT4">
                  <p:embed/>
                </p:oleObj>
              </mc:Choice>
              <mc:Fallback>
                <p:oleObj name="Equation" r:id="rId2" imgW="3390900" imgH="304800" progId="Equation.DSMT4">
                  <p:embed/>
                  <p:pic>
                    <p:nvPicPr>
                      <p:cNvPr id="0" name="Object 5"/>
                      <p:cNvPicPr>
                        <a:picLocks noChangeAspect="1" noChangeArrowheads="1"/>
                      </p:cNvPicPr>
                      <p:nvPr/>
                    </p:nvPicPr>
                    <p:blipFill>
                      <a:blip r:embed="rId3">
                        <a:lum bright="-40000" contrast="-40000"/>
                        <a:extLst>
                          <a:ext uri="{28A0092B-C50C-407E-A947-70E740481C1C}">
                            <a14:useLocalDpi xmlns:a14="http://schemas.microsoft.com/office/drawing/2010/main" val="0"/>
                          </a:ext>
                        </a:extLst>
                      </a:blip>
                      <a:srcRect/>
                      <a:stretch>
                        <a:fillRect/>
                      </a:stretch>
                    </p:blipFill>
                    <p:spPr bwMode="auto">
                      <a:xfrm>
                        <a:off x="1511300" y="2309813"/>
                        <a:ext cx="66976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6022" name="Rectangle 10"/>
          <p:cNvSpPr>
            <a:spLocks noChangeArrowheads="1"/>
          </p:cNvSpPr>
          <p:nvPr/>
        </p:nvSpPr>
        <p:spPr bwMode="auto">
          <a:xfrm>
            <a:off x="755650" y="1676400"/>
            <a:ext cx="3876675"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zh-CN" altLang="en-US" sz="2400" b="1" dirty="0">
                <a:solidFill>
                  <a:srgbClr val="FF0000"/>
                </a:solidFill>
                <a:latin typeface="Arial" panose="020B0604020202020204" pitchFamily="34" charset="0"/>
                <a:cs typeface="Times New Roman" panose="02020603050405020304" pitchFamily="18" charset="0"/>
              </a:rPr>
              <a:t>顺序递推</a:t>
            </a:r>
            <a:r>
              <a:rPr lang="zh-CN" altLang="en-US" sz="2400" b="1" dirty="0">
                <a:latin typeface="Arial" panose="020B0604020202020204" pitchFamily="34" charset="0"/>
                <a:cs typeface="Times New Roman" panose="02020603050405020304" pitchFamily="18" charset="0"/>
              </a:rPr>
              <a:t>关系式为：	</a:t>
            </a:r>
            <a:endParaRPr lang="zh-CN" altLang="en-US" sz="2400" b="1" dirty="0">
              <a:latin typeface="Arial" panose="020B0604020202020204" pitchFamily="34" charset="0"/>
            </a:endParaRPr>
          </a:p>
        </p:txBody>
      </p:sp>
      <p:sp>
        <p:nvSpPr>
          <p:cNvPr id="86023" name="Rectangle 16"/>
          <p:cNvSpPr>
            <a:spLocks noChangeArrowheads="1"/>
          </p:cNvSpPr>
          <p:nvPr/>
        </p:nvSpPr>
        <p:spPr bwMode="auto">
          <a:xfrm>
            <a:off x="2930525" y="3581400"/>
            <a:ext cx="268288"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en-US" altLang="zh-CN" sz="2400" b="1">
                <a:latin typeface="Arial" panose="020B0604020202020204" pitchFamily="34" charset="0"/>
                <a:cs typeface="Times New Roman" panose="02020603050405020304" pitchFamily="18" charset="0"/>
              </a:rPr>
              <a:t> </a:t>
            </a:r>
            <a:endParaRPr lang="en-US" altLang="zh-CN" sz="2400" b="1">
              <a:latin typeface="Arial" panose="020B0604020202020204" pitchFamily="34" charset="0"/>
            </a:endParaRPr>
          </a:p>
        </p:txBody>
      </p:sp>
      <p:graphicFrame>
        <p:nvGraphicFramePr>
          <p:cNvPr id="90121" name="Object 9"/>
          <p:cNvGraphicFramePr>
            <a:graphicFrameLocks noChangeAspect="1"/>
          </p:cNvGraphicFramePr>
          <p:nvPr/>
        </p:nvGraphicFramePr>
        <p:xfrm>
          <a:off x="2693988" y="5353050"/>
          <a:ext cx="1368425" cy="482600"/>
        </p:xfrm>
        <a:graphic>
          <a:graphicData uri="http://schemas.openxmlformats.org/presentationml/2006/ole">
            <mc:AlternateContent xmlns:mc="http://schemas.openxmlformats.org/markup-compatibility/2006">
              <mc:Choice xmlns:v="urn:schemas-microsoft-com:vml" Requires="v">
                <p:oleObj r:id="rId4" imgW="648335" imgH="228600" progId="">
                  <p:embed/>
                </p:oleObj>
              </mc:Choice>
              <mc:Fallback>
                <p:oleObj r:id="rId4" imgW="648335" imgH="228600" progId="">
                  <p:embed/>
                  <p:pic>
                    <p:nvPicPr>
                      <p:cNvPr id="0" name="Object 9"/>
                      <p:cNvPicPr>
                        <a:picLocks noChangeAspect="1" noChangeArrowheads="1"/>
                      </p:cNvPicPr>
                      <p:nvPr/>
                    </p:nvPicPr>
                    <p:blipFill>
                      <a:blip r:embed="rId5">
                        <a:lum bright="-40000" contrast="-40000"/>
                        <a:extLst>
                          <a:ext uri="{28A0092B-C50C-407E-A947-70E740481C1C}">
                            <a14:useLocalDpi xmlns:a14="http://schemas.microsoft.com/office/drawing/2010/main" val="0"/>
                          </a:ext>
                        </a:extLst>
                      </a:blip>
                      <a:srcRect/>
                      <a:stretch>
                        <a:fillRect/>
                      </a:stretch>
                    </p:blipFill>
                    <p:spPr bwMode="auto">
                      <a:xfrm>
                        <a:off x="2693988" y="5353050"/>
                        <a:ext cx="136842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22" name="Object 10"/>
          <p:cNvGraphicFramePr>
            <a:graphicFrameLocks noChangeAspect="1"/>
          </p:cNvGraphicFramePr>
          <p:nvPr/>
        </p:nvGraphicFramePr>
        <p:xfrm>
          <a:off x="4854575" y="5348288"/>
          <a:ext cx="3311525" cy="592137"/>
        </p:xfrm>
        <a:graphic>
          <a:graphicData uri="http://schemas.openxmlformats.org/presentationml/2006/ole">
            <mc:AlternateContent xmlns:mc="http://schemas.openxmlformats.org/markup-compatibility/2006">
              <mc:Choice xmlns:v="urn:schemas-microsoft-com:vml" Requires="v">
                <p:oleObj r:id="rId6" imgW="1702435" imgH="304800" progId="">
                  <p:embed/>
                </p:oleObj>
              </mc:Choice>
              <mc:Fallback>
                <p:oleObj r:id="rId6" imgW="1702435" imgH="304800" progId="">
                  <p:embed/>
                  <p:pic>
                    <p:nvPicPr>
                      <p:cNvPr id="0" name="Object 10"/>
                      <p:cNvPicPr>
                        <a:picLocks noChangeAspect="1" noChangeArrowheads="1"/>
                      </p:cNvPicPr>
                      <p:nvPr/>
                    </p:nvPicPr>
                    <p:blipFill>
                      <a:blip r:embed="rId7">
                        <a:lum bright="-40000" contrast="-40000"/>
                        <a:extLst>
                          <a:ext uri="{28A0092B-C50C-407E-A947-70E740481C1C}">
                            <a14:useLocalDpi xmlns:a14="http://schemas.microsoft.com/office/drawing/2010/main" val="0"/>
                          </a:ext>
                        </a:extLst>
                      </a:blip>
                      <a:srcRect/>
                      <a:stretch>
                        <a:fillRect/>
                      </a:stretch>
                    </p:blipFill>
                    <p:spPr bwMode="auto">
                      <a:xfrm>
                        <a:off x="4854575" y="5348288"/>
                        <a:ext cx="3311525"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123" name="Rectangle 5"/>
          <p:cNvSpPr>
            <a:spLocks noChangeArrowheads="1"/>
          </p:cNvSpPr>
          <p:nvPr/>
        </p:nvSpPr>
        <p:spPr bwMode="auto">
          <a:xfrm>
            <a:off x="893763" y="5330825"/>
            <a:ext cx="6696075"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a:latin typeface="Arial" panose="020B0604020202020204" pitchFamily="34" charset="0"/>
                <a:cs typeface="Times New Roman" panose="02020603050405020304" pitchFamily="18" charset="0"/>
              </a:rPr>
              <a:t>边界条件为</a:t>
            </a:r>
            <a:endParaRPr lang="zh-CN" altLang="en-US" sz="2400" b="1">
              <a:latin typeface="Arial" panose="020B0604020202020204" pitchFamily="34" charset="0"/>
            </a:endParaRPr>
          </a:p>
        </p:txBody>
      </p:sp>
      <p:sp>
        <p:nvSpPr>
          <p:cNvPr id="90124" name="Rectangle 7"/>
          <p:cNvSpPr>
            <a:spLocks noChangeArrowheads="1"/>
          </p:cNvSpPr>
          <p:nvPr/>
        </p:nvSpPr>
        <p:spPr bwMode="auto">
          <a:xfrm>
            <a:off x="4206875" y="5348288"/>
            <a:ext cx="936625" cy="5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a:latin typeface="Arial" panose="020B0604020202020204" pitchFamily="34" charset="0"/>
                <a:cs typeface="Times New Roman" panose="02020603050405020304" pitchFamily="18" charset="0"/>
              </a:rPr>
              <a:t>或</a:t>
            </a:r>
            <a:endParaRPr lang="zh-CN" altLang="en-US" sz="2400" b="1">
              <a:latin typeface="Arial" panose="020B0604020202020204" pitchFamily="34" charset="0"/>
            </a:endParaRPr>
          </a:p>
        </p:txBody>
      </p:sp>
      <p:sp>
        <p:nvSpPr>
          <p:cNvPr id="86030" name="灯片编号占位符 3"/>
          <p:cNvSpPr txBox="1">
            <a:spLocks noGrp="1" noChangeArrowheads="1"/>
          </p:cNvSpPr>
          <p:nvPr/>
        </p:nvSpPr>
        <p:spPr bwMode="auto">
          <a:xfrm>
            <a:off x="7042150" y="61928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DE969E11-4907-471E-958E-4FF3E104A20C}" type="slidenum">
              <a:rPr lang="en-US" altLang="zh-CN" sz="1400">
                <a:latin typeface="Times New Roman" panose="02020603050405020304" pitchFamily="18" charset="0"/>
              </a:rPr>
              <a:t>10</a:t>
            </a:fld>
            <a:endParaRPr lang="en-US" altLang="zh-CN" sz="1400">
              <a:latin typeface="Times New Roman" panose="02020603050405020304" pitchFamily="18" charset="0"/>
            </a:endParaRPr>
          </a:p>
        </p:txBody>
      </p:sp>
      <p:sp>
        <p:nvSpPr>
          <p:cNvPr id="86031" name="Rectangle 2"/>
          <p:cNvSpPr>
            <a:spLocks noGrp="1" noChangeArrowheads="1"/>
          </p:cNvSpPr>
          <p:nvPr>
            <p:ph type="title" idx="4294967295"/>
          </p:nvPr>
        </p:nvSpPr>
        <p:spPr>
          <a:xfrm>
            <a:off x="574675" y="685800"/>
            <a:ext cx="4141788" cy="835025"/>
          </a:xfrm>
        </p:spPr>
        <p:txBody>
          <a:bodyPr/>
          <a:lstStyle/>
          <a:p>
            <a:pPr eaLnBrk="1" hangingPunct="1"/>
            <a:r>
              <a:rPr lang="zh-CN" altLang="zh-CN" sz="4000" u="sng" dirty="0">
                <a:solidFill>
                  <a:schemeClr val="hlink"/>
                </a:solidFill>
              </a:rPr>
              <a:t>动态规划模型</a:t>
            </a:r>
          </a:p>
        </p:txBody>
      </p:sp>
      <p:grpSp>
        <p:nvGrpSpPr>
          <p:cNvPr id="90128" name="组合 7"/>
          <p:cNvGrpSpPr/>
          <p:nvPr/>
        </p:nvGrpSpPr>
        <p:grpSpPr bwMode="auto">
          <a:xfrm>
            <a:off x="755650" y="3080591"/>
            <a:ext cx="7561263" cy="1694034"/>
            <a:chOff x="0" y="-747"/>
            <a:chExt cx="7561263" cy="1694034"/>
          </a:xfrm>
        </p:grpSpPr>
        <p:grpSp>
          <p:nvGrpSpPr>
            <p:cNvPr id="86033" name="组合 6"/>
            <p:cNvGrpSpPr/>
            <p:nvPr/>
          </p:nvGrpSpPr>
          <p:grpSpPr bwMode="auto">
            <a:xfrm>
              <a:off x="0" y="-747"/>
              <a:ext cx="7561263" cy="1684244"/>
              <a:chOff x="0" y="-747"/>
              <a:chExt cx="7561263" cy="1684244"/>
            </a:xfrm>
          </p:grpSpPr>
          <p:sp>
            <p:nvSpPr>
              <p:cNvPr id="86035" name="Rectangle 11"/>
              <p:cNvSpPr>
                <a:spLocks noChangeArrowheads="1"/>
              </p:cNvSpPr>
              <p:nvPr/>
            </p:nvSpPr>
            <p:spPr bwMode="auto">
              <a:xfrm>
                <a:off x="0" y="-747"/>
                <a:ext cx="7561263" cy="1684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zh-CN" altLang="en-US" sz="2400" b="1" dirty="0">
                    <a:cs typeface="Times New Roman" panose="02020603050405020304" pitchFamily="18" charset="0"/>
                  </a:rPr>
                  <a:t>其中                                </a:t>
                </a:r>
                <a:r>
                  <a:rPr lang="zh-CN" altLang="en-US" sz="2400" b="1" dirty="0"/>
                  <a:t>。</a:t>
                </a:r>
                <a:r>
                  <a:rPr lang="zh-CN" altLang="en-US" sz="2400" b="1" dirty="0">
                    <a:latin typeface="Times New Roman" panose="02020603050405020304" pitchFamily="18" charset="0"/>
                    <a:cs typeface="Times New Roman" panose="02020603050405020304" pitchFamily="18" charset="0"/>
                  </a:rPr>
                  <a:t>这是因为一方面每阶段生产的上限为</a:t>
                </a:r>
                <a:r>
                  <a:rPr lang="en-US" altLang="zh-CN" sz="2400" b="1" i="1" dirty="0">
                    <a:latin typeface="Times New Roman" panose="02020603050405020304" pitchFamily="18" charset="0"/>
                    <a:cs typeface="Times New Roman" panose="02020603050405020304" pitchFamily="18" charset="0"/>
                  </a:rPr>
                  <a:t>m</a:t>
                </a:r>
                <a:r>
                  <a:rPr lang="zh-CN" altLang="en-US" sz="2400" b="1" dirty="0">
                    <a:latin typeface="Times New Roman" panose="02020603050405020304" pitchFamily="18" charset="0"/>
                    <a:cs typeface="Times New Roman" panose="02020603050405020304" pitchFamily="18" charset="0"/>
                  </a:rPr>
                  <a:t>；另一方面由于保证供应，故第</a:t>
                </a:r>
                <a:r>
                  <a:rPr lang="en-US" altLang="zh-CN" sz="2400" b="1" i="1" dirty="0">
                    <a:latin typeface="Times New Roman" panose="02020603050405020304" pitchFamily="18" charset="0"/>
                    <a:cs typeface="Times New Roman" panose="02020603050405020304" pitchFamily="18" charset="0"/>
                  </a:rPr>
                  <a:t>k</a:t>
                </a: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阶段末的库存量</a:t>
                </a:r>
                <a:r>
                  <a:rPr lang="en-US" altLang="zh-CN" sz="2400" b="1" i="1" dirty="0">
                    <a:latin typeface="Times New Roman" panose="02020603050405020304" pitchFamily="18" charset="0"/>
                    <a:cs typeface="Times New Roman" panose="02020603050405020304" pitchFamily="18" charset="0"/>
                  </a:rPr>
                  <a:t>v</a:t>
                </a:r>
                <a:r>
                  <a:rPr lang="en-US" altLang="zh-CN" sz="2400" b="1" i="1" baseline="-25000" dirty="0">
                    <a:latin typeface="Times New Roman" panose="02020603050405020304" pitchFamily="18" charset="0"/>
                    <a:cs typeface="Times New Roman" panose="02020603050405020304" pitchFamily="18" charset="0"/>
                  </a:rPr>
                  <a:t>k-1</a:t>
                </a:r>
                <a:r>
                  <a:rPr lang="zh-CN" altLang="en-US" sz="2400" b="1" dirty="0">
                    <a:latin typeface="Times New Roman" panose="02020603050405020304" pitchFamily="18" charset="0"/>
                    <a:cs typeface="Times New Roman" panose="02020603050405020304" pitchFamily="18" charset="0"/>
                  </a:rPr>
                  <a:t>必须非负，即</a:t>
                </a:r>
              </a:p>
            </p:txBody>
          </p:sp>
          <p:graphicFrame>
            <p:nvGraphicFramePr>
              <p:cNvPr id="86036" name="Object 19"/>
              <p:cNvGraphicFramePr>
                <a:graphicFrameLocks noChangeAspect="1"/>
              </p:cNvGraphicFramePr>
              <p:nvPr/>
            </p:nvGraphicFramePr>
            <p:xfrm>
              <a:off x="847725" y="104998"/>
              <a:ext cx="2987675" cy="523875"/>
            </p:xfrm>
            <a:graphic>
              <a:graphicData uri="http://schemas.openxmlformats.org/presentationml/2006/ole">
                <mc:AlternateContent xmlns:mc="http://schemas.openxmlformats.org/markup-compatibility/2006">
                  <mc:Choice xmlns:v="urn:schemas-microsoft-com:vml" Requires="v">
                    <p:oleObj r:id="rId8" imgW="1283335" imgH="228600" progId="">
                      <p:embed/>
                    </p:oleObj>
                  </mc:Choice>
                  <mc:Fallback>
                    <p:oleObj r:id="rId8" imgW="1283335" imgH="228600" progId="">
                      <p:embed/>
                      <p:pic>
                        <p:nvPicPr>
                          <p:cNvPr id="0" name="Object 19"/>
                          <p:cNvPicPr>
                            <a:picLocks noChangeAspect="1" noChangeArrowheads="1"/>
                          </p:cNvPicPr>
                          <p:nvPr/>
                        </p:nvPicPr>
                        <p:blipFill>
                          <a:blip r:embed="rId9">
                            <a:lum bright="-40000" contrast="-40000"/>
                            <a:extLst>
                              <a:ext uri="{28A0092B-C50C-407E-A947-70E740481C1C}">
                                <a14:useLocalDpi xmlns:a14="http://schemas.microsoft.com/office/drawing/2010/main" val="0"/>
                              </a:ext>
                            </a:extLst>
                          </a:blip>
                          <a:srcRect/>
                          <a:stretch>
                            <a:fillRect/>
                          </a:stretch>
                        </p:blipFill>
                        <p:spPr bwMode="auto">
                          <a:xfrm>
                            <a:off x="847725" y="104998"/>
                            <a:ext cx="29876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86034" name="Object 20"/>
            <p:cNvGraphicFramePr>
              <a:graphicFrameLocks noChangeAspect="1"/>
            </p:cNvGraphicFramePr>
            <p:nvPr/>
          </p:nvGraphicFramePr>
          <p:xfrm>
            <a:off x="4425950" y="1084411"/>
            <a:ext cx="2570810" cy="608876"/>
          </p:xfrm>
          <a:graphic>
            <a:graphicData uri="http://schemas.openxmlformats.org/presentationml/2006/ole">
              <mc:AlternateContent xmlns:mc="http://schemas.openxmlformats.org/markup-compatibility/2006">
                <mc:Choice xmlns:v="urn:schemas-microsoft-com:vml" Requires="v">
                  <p:oleObj name="Equation" r:id="rId10" imgW="965835" imgH="228600" progId="Equation.DSMT4">
                    <p:embed/>
                  </p:oleObj>
                </mc:Choice>
                <mc:Fallback>
                  <p:oleObj name="Equation" r:id="rId10" imgW="965835" imgH="228600" progId="Equation.DSMT4">
                    <p:embed/>
                    <p:pic>
                      <p:nvPicPr>
                        <p:cNvPr id="0" name="Object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25950" y="1084411"/>
                          <a:ext cx="2570810" cy="608876"/>
                        </a:xfrm>
                        <a:prstGeom prst="rect">
                          <a:avLst/>
                        </a:prstGeom>
                        <a:solidFill>
                          <a:schemeClr val="bg1">
                            <a:lumMod val="85000"/>
                          </a:schemeClr>
                        </a:solidFill>
                        <a:ln>
                          <a:noFill/>
                        </a:ln>
                      </p:spPr>
                    </p:pic>
                  </p:oleObj>
                </mc:Fallback>
              </mc:AlternateContent>
            </a:graphicData>
          </a:graphic>
        </p:graphicFrame>
      </p:grpSp>
      <p:sp>
        <p:nvSpPr>
          <p:cNvPr id="22" name="Rectangle 6"/>
          <p:cNvSpPr>
            <a:spLocks noChangeArrowheads="1"/>
          </p:cNvSpPr>
          <p:nvPr/>
        </p:nvSpPr>
        <p:spPr bwMode="auto">
          <a:xfrm>
            <a:off x="4800600" y="347506"/>
            <a:ext cx="4181476" cy="553998"/>
          </a:xfrm>
          <a:prstGeom prst="rect">
            <a:avLst/>
          </a:prstGeom>
          <a:solidFill>
            <a:schemeClr val="bg1">
              <a:lumMod val="85000"/>
            </a:schemeClr>
          </a:solidFill>
          <a:ln>
            <a:noFill/>
          </a:ln>
          <a:effec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342900" indent="-342900" algn="just">
              <a:lnSpc>
                <a:spcPct val="125000"/>
              </a:lnSpc>
              <a:spcBef>
                <a:spcPts val="1800"/>
              </a:spcBef>
              <a:buClr>
                <a:srgbClr val="C00000"/>
              </a:buClr>
              <a:buSzPct val="70000"/>
              <a:buFont typeface="Wingdings" panose="05000000000000000000" pitchFamily="2" charset="2"/>
              <a:buChar char="p"/>
            </a:pPr>
            <a:r>
              <a:rPr lang="zh-CN" altLang="en-US" sz="2400" b="1" dirty="0">
                <a:cs typeface="Times New Roman" panose="02020603050405020304" pitchFamily="18" charset="0"/>
              </a:rPr>
              <a:t>状态转移方程</a:t>
            </a:r>
          </a:p>
        </p:txBody>
      </p:sp>
      <p:graphicFrame>
        <p:nvGraphicFramePr>
          <p:cNvPr id="23" name="Object 3"/>
          <p:cNvGraphicFramePr>
            <a:graphicFrameLocks noChangeAspect="1"/>
          </p:cNvGraphicFramePr>
          <p:nvPr/>
        </p:nvGraphicFramePr>
        <p:xfrm>
          <a:off x="4800600" y="906463"/>
          <a:ext cx="4176713" cy="554037"/>
        </p:xfrm>
        <a:graphic>
          <a:graphicData uri="http://schemas.openxmlformats.org/presentationml/2006/ole">
            <mc:AlternateContent xmlns:mc="http://schemas.openxmlformats.org/markup-compatibility/2006">
              <mc:Choice xmlns:v="urn:schemas-microsoft-com:vml" Requires="v">
                <p:oleObj name="Equation" r:id="rId12" imgW="48158400" imgH="5486400" progId="Equation.DSMT4">
                  <p:embed/>
                </p:oleObj>
              </mc:Choice>
              <mc:Fallback>
                <p:oleObj name="Equation" r:id="rId12" imgW="48158400" imgH="5486400" progId="Equation.DSMT4">
                  <p:embed/>
                  <p:pic>
                    <p:nvPicPr>
                      <p:cNvPr id="0" name="图片 6"/>
                      <p:cNvPicPr>
                        <a:picLocks noChangeAspect="1" noChangeArrowheads="1"/>
                      </p:cNvPicPr>
                      <p:nvPr/>
                    </p:nvPicPr>
                    <p:blipFill>
                      <a:blip r:embed="rId13">
                        <a:lum bright="-40000" contrast="-40000"/>
                      </a:blip>
                      <a:srcRect/>
                      <a:stretch>
                        <a:fillRect/>
                      </a:stretch>
                    </p:blipFill>
                    <p:spPr bwMode="auto">
                      <a:xfrm>
                        <a:off x="4800600" y="906463"/>
                        <a:ext cx="4176713" cy="554037"/>
                      </a:xfrm>
                      <a:prstGeom prst="rect">
                        <a:avLst/>
                      </a:prstGeom>
                      <a:solidFill>
                        <a:schemeClr val="bg1">
                          <a:lumMod val="85000"/>
                        </a:schemeClr>
                      </a:solidFill>
                      <a:ln>
                        <a:noFill/>
                      </a:ln>
                    </p:spPr>
                  </p:pic>
                </p:oleObj>
              </mc:Fallback>
            </mc:AlternateContent>
          </a:graphicData>
        </a:graphic>
      </p:graphicFrame>
      <p:pic>
        <p:nvPicPr>
          <p:cNvPr id="10" name="图片 9"/>
          <p:cNvPicPr>
            <a:picLocks noChangeAspect="1"/>
          </p:cNvPicPr>
          <p:nvPr/>
        </p:nvPicPr>
        <p:blipFill>
          <a:blip r:embed="rId14"/>
          <a:stretch>
            <a:fillRect/>
          </a:stretch>
        </p:blipFill>
        <p:spPr>
          <a:xfrm>
            <a:off x="4092575" y="308610"/>
            <a:ext cx="5051425" cy="122809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0128"/>
                                        </p:tgtEl>
                                        <p:attrNameLst>
                                          <p:attrName>style.visibility</p:attrName>
                                        </p:attrNameLst>
                                      </p:cBhvr>
                                      <p:to>
                                        <p:strVal val="visible"/>
                                      </p:to>
                                    </p:set>
                                    <p:anim calcmode="lin" valueType="num">
                                      <p:cBhvr additive="base">
                                        <p:cTn id="7" dur="500" fill="hold"/>
                                        <p:tgtEl>
                                          <p:spTgt spid="90128"/>
                                        </p:tgtEl>
                                        <p:attrNameLst>
                                          <p:attrName>ppt_x</p:attrName>
                                        </p:attrNameLst>
                                      </p:cBhvr>
                                      <p:tavLst>
                                        <p:tav tm="0">
                                          <p:val>
                                            <p:strVal val="#ppt_x"/>
                                          </p:val>
                                        </p:tav>
                                        <p:tav tm="100000">
                                          <p:val>
                                            <p:strVal val="#ppt_x"/>
                                          </p:val>
                                        </p:tav>
                                      </p:tavLst>
                                    </p:anim>
                                    <p:anim calcmode="lin" valueType="num">
                                      <p:cBhvr additive="base">
                                        <p:cTn id="8" dur="500" fill="hold"/>
                                        <p:tgtEl>
                                          <p:spTgt spid="9012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0114"/>
                                        </p:tgtEl>
                                        <p:attrNameLst>
                                          <p:attrName>style.visibility</p:attrName>
                                        </p:attrNameLst>
                                      </p:cBhvr>
                                      <p:to>
                                        <p:strVal val="visible"/>
                                      </p:to>
                                    </p:set>
                                    <p:anim calcmode="lin" valueType="num">
                                      <p:cBhvr additive="base">
                                        <p:cTn id="11" dur="500" fill="hold"/>
                                        <p:tgtEl>
                                          <p:spTgt spid="90114"/>
                                        </p:tgtEl>
                                        <p:attrNameLst>
                                          <p:attrName>ppt_x</p:attrName>
                                        </p:attrNameLst>
                                      </p:cBhvr>
                                      <p:tavLst>
                                        <p:tav tm="0">
                                          <p:val>
                                            <p:strVal val="#ppt_x"/>
                                          </p:val>
                                        </p:tav>
                                        <p:tav tm="100000">
                                          <p:val>
                                            <p:strVal val="#ppt_x"/>
                                          </p:val>
                                        </p:tav>
                                      </p:tavLst>
                                    </p:anim>
                                    <p:anim calcmode="lin" valueType="num">
                                      <p:cBhvr additive="base">
                                        <p:cTn id="12" dur="500" fill="hold"/>
                                        <p:tgtEl>
                                          <p:spTgt spid="901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0115"/>
                                        </p:tgtEl>
                                        <p:attrNameLst>
                                          <p:attrName>style.visibility</p:attrName>
                                        </p:attrNameLst>
                                      </p:cBhvr>
                                      <p:to>
                                        <p:strVal val="visible"/>
                                      </p:to>
                                    </p:set>
                                    <p:anim calcmode="lin" valueType="num">
                                      <p:cBhvr additive="base">
                                        <p:cTn id="17" dur="500" fill="hold"/>
                                        <p:tgtEl>
                                          <p:spTgt spid="90115"/>
                                        </p:tgtEl>
                                        <p:attrNameLst>
                                          <p:attrName>ppt_x</p:attrName>
                                        </p:attrNameLst>
                                      </p:cBhvr>
                                      <p:tavLst>
                                        <p:tav tm="0">
                                          <p:val>
                                            <p:strVal val="#ppt_x"/>
                                          </p:val>
                                        </p:tav>
                                        <p:tav tm="100000">
                                          <p:val>
                                            <p:strVal val="#ppt_x"/>
                                          </p:val>
                                        </p:tav>
                                      </p:tavLst>
                                    </p:anim>
                                    <p:anim calcmode="lin" valueType="num">
                                      <p:cBhvr additive="base">
                                        <p:cTn id="18" dur="500" fill="hold"/>
                                        <p:tgtEl>
                                          <p:spTgt spid="9011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90121"/>
                                        </p:tgtEl>
                                        <p:attrNameLst>
                                          <p:attrName>style.visibility</p:attrName>
                                        </p:attrNameLst>
                                      </p:cBhvr>
                                      <p:to>
                                        <p:strVal val="visible"/>
                                      </p:to>
                                    </p:set>
                                    <p:anim calcmode="lin" valueType="num">
                                      <p:cBhvr additive="base">
                                        <p:cTn id="21" dur="500" fill="hold"/>
                                        <p:tgtEl>
                                          <p:spTgt spid="90121"/>
                                        </p:tgtEl>
                                        <p:attrNameLst>
                                          <p:attrName>ppt_x</p:attrName>
                                        </p:attrNameLst>
                                      </p:cBhvr>
                                      <p:tavLst>
                                        <p:tav tm="0">
                                          <p:val>
                                            <p:strVal val="#ppt_x"/>
                                          </p:val>
                                        </p:tav>
                                        <p:tav tm="100000">
                                          <p:val>
                                            <p:strVal val="#ppt_x"/>
                                          </p:val>
                                        </p:tav>
                                      </p:tavLst>
                                    </p:anim>
                                    <p:anim calcmode="lin" valueType="num">
                                      <p:cBhvr additive="base">
                                        <p:cTn id="22" dur="500" fill="hold"/>
                                        <p:tgtEl>
                                          <p:spTgt spid="90121"/>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90122"/>
                                        </p:tgtEl>
                                        <p:attrNameLst>
                                          <p:attrName>style.visibility</p:attrName>
                                        </p:attrNameLst>
                                      </p:cBhvr>
                                      <p:to>
                                        <p:strVal val="visible"/>
                                      </p:to>
                                    </p:set>
                                    <p:anim calcmode="lin" valueType="num">
                                      <p:cBhvr additive="base">
                                        <p:cTn id="25" dur="500" fill="hold"/>
                                        <p:tgtEl>
                                          <p:spTgt spid="90122"/>
                                        </p:tgtEl>
                                        <p:attrNameLst>
                                          <p:attrName>ppt_x</p:attrName>
                                        </p:attrNameLst>
                                      </p:cBhvr>
                                      <p:tavLst>
                                        <p:tav tm="0">
                                          <p:val>
                                            <p:strVal val="#ppt_x"/>
                                          </p:val>
                                        </p:tav>
                                        <p:tav tm="100000">
                                          <p:val>
                                            <p:strVal val="#ppt_x"/>
                                          </p:val>
                                        </p:tav>
                                      </p:tavLst>
                                    </p:anim>
                                    <p:anim calcmode="lin" valueType="num">
                                      <p:cBhvr additive="base">
                                        <p:cTn id="26" dur="500" fill="hold"/>
                                        <p:tgtEl>
                                          <p:spTgt spid="90122"/>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90123"/>
                                        </p:tgtEl>
                                        <p:attrNameLst>
                                          <p:attrName>style.visibility</p:attrName>
                                        </p:attrNameLst>
                                      </p:cBhvr>
                                      <p:to>
                                        <p:strVal val="visible"/>
                                      </p:to>
                                    </p:set>
                                    <p:anim calcmode="lin" valueType="num">
                                      <p:cBhvr additive="base">
                                        <p:cTn id="29" dur="500" fill="hold"/>
                                        <p:tgtEl>
                                          <p:spTgt spid="90123"/>
                                        </p:tgtEl>
                                        <p:attrNameLst>
                                          <p:attrName>ppt_x</p:attrName>
                                        </p:attrNameLst>
                                      </p:cBhvr>
                                      <p:tavLst>
                                        <p:tav tm="0">
                                          <p:val>
                                            <p:strVal val="#ppt_x"/>
                                          </p:val>
                                        </p:tav>
                                        <p:tav tm="100000">
                                          <p:val>
                                            <p:strVal val="#ppt_x"/>
                                          </p:val>
                                        </p:tav>
                                      </p:tavLst>
                                    </p:anim>
                                    <p:anim calcmode="lin" valueType="num">
                                      <p:cBhvr additive="base">
                                        <p:cTn id="30" dur="500" fill="hold"/>
                                        <p:tgtEl>
                                          <p:spTgt spid="90123"/>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90124"/>
                                        </p:tgtEl>
                                        <p:attrNameLst>
                                          <p:attrName>style.visibility</p:attrName>
                                        </p:attrNameLst>
                                      </p:cBhvr>
                                      <p:to>
                                        <p:strVal val="visible"/>
                                      </p:to>
                                    </p:set>
                                    <p:anim calcmode="lin" valueType="num">
                                      <p:cBhvr additive="base">
                                        <p:cTn id="33" dur="500" fill="hold"/>
                                        <p:tgtEl>
                                          <p:spTgt spid="90124"/>
                                        </p:tgtEl>
                                        <p:attrNameLst>
                                          <p:attrName>ppt_x</p:attrName>
                                        </p:attrNameLst>
                                      </p:cBhvr>
                                      <p:tavLst>
                                        <p:tav tm="0">
                                          <p:val>
                                            <p:strVal val="#ppt_x"/>
                                          </p:val>
                                        </p:tav>
                                        <p:tav tm="100000">
                                          <p:val>
                                            <p:strVal val="#ppt_x"/>
                                          </p:val>
                                        </p:tav>
                                      </p:tavLst>
                                    </p:anim>
                                    <p:anim calcmode="lin" valueType="num">
                                      <p:cBhvr additive="base">
                                        <p:cTn id="34" dur="500" fill="hold"/>
                                        <p:tgtEl>
                                          <p:spTgt spid="90124"/>
                                        </p:tgtEl>
                                        <p:attrNameLst>
                                          <p:attrName>ppt_y</p:attrName>
                                        </p:attrNameLst>
                                      </p:cBhvr>
                                      <p:tavLst>
                                        <p:tav tm="0">
                                          <p:val>
                                            <p:strVal val="1+#ppt_h/2"/>
                                          </p:val>
                                        </p:tav>
                                        <p:tav tm="100000">
                                          <p:val>
                                            <p:strVal val="#ppt_y"/>
                                          </p:val>
                                        </p:tav>
                                      </p:tavLst>
                                    </p:anim>
                                  </p:childTnLst>
                                </p:cTn>
                              </p:par>
                              <p:par>
                                <p:cTn id="35" presetID="2" presetClass="entr" presetSubtype="1"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additive="base">
                                        <p:cTn id="37" dur="500" fill="hold"/>
                                        <p:tgtEl>
                                          <p:spTgt spid="22"/>
                                        </p:tgtEl>
                                        <p:attrNameLst>
                                          <p:attrName>ppt_x</p:attrName>
                                        </p:attrNameLst>
                                      </p:cBhvr>
                                      <p:tavLst>
                                        <p:tav tm="0">
                                          <p:val>
                                            <p:strVal val="#ppt_x"/>
                                          </p:val>
                                        </p:tav>
                                        <p:tav tm="100000">
                                          <p:val>
                                            <p:strVal val="#ppt_x"/>
                                          </p:val>
                                        </p:tav>
                                      </p:tavLst>
                                    </p:anim>
                                    <p:anim calcmode="lin" valueType="num">
                                      <p:cBhvr additive="base">
                                        <p:cTn id="38" dur="500" fill="hold"/>
                                        <p:tgtEl>
                                          <p:spTgt spid="22"/>
                                        </p:tgtEl>
                                        <p:attrNameLst>
                                          <p:attrName>ppt_y</p:attrName>
                                        </p:attrNameLst>
                                      </p:cBhvr>
                                      <p:tavLst>
                                        <p:tav tm="0">
                                          <p:val>
                                            <p:strVal val="0-#ppt_h/2"/>
                                          </p:val>
                                        </p:tav>
                                        <p:tav tm="100000">
                                          <p:val>
                                            <p:strVal val="#ppt_y"/>
                                          </p:val>
                                        </p:tav>
                                      </p:tavLst>
                                    </p:anim>
                                  </p:childTnLst>
                                </p:cTn>
                              </p:par>
                              <p:par>
                                <p:cTn id="39" presetID="2" presetClass="entr" presetSubtype="1"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anim calcmode="lin" valueType="num">
                                      <p:cBhvr additive="base">
                                        <p:cTn id="41" dur="500" fill="hold"/>
                                        <p:tgtEl>
                                          <p:spTgt spid="23"/>
                                        </p:tgtEl>
                                        <p:attrNameLst>
                                          <p:attrName>ppt_x</p:attrName>
                                        </p:attrNameLst>
                                      </p:cBhvr>
                                      <p:tavLst>
                                        <p:tav tm="0">
                                          <p:val>
                                            <p:strVal val="#ppt_x"/>
                                          </p:val>
                                        </p:tav>
                                        <p:tav tm="100000">
                                          <p:val>
                                            <p:strVal val="#ppt_x"/>
                                          </p:val>
                                        </p:tav>
                                      </p:tavLst>
                                    </p:anim>
                                    <p:anim calcmode="lin" valueType="num">
                                      <p:cBhvr additive="base">
                                        <p:cTn id="42" dur="500" fill="hold"/>
                                        <p:tgtEl>
                                          <p:spTgt spid="23"/>
                                        </p:tgtEl>
                                        <p:attrNameLst>
                                          <p:attrName>ppt_y</p:attrName>
                                        </p:attrNameLst>
                                      </p:cBhvr>
                                      <p:tavLst>
                                        <p:tav tm="0">
                                          <p:val>
                                            <p:strVal val="0-#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1"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ppt_x</p:attrName>
                                        </p:attrNameLst>
                                      </p:cBhvr>
                                      <p:tavLst>
                                        <p:tav tm="0">
                                          <p:val>
                                            <p:strVal val="#ppt_x"/>
                                          </p:val>
                                        </p:tav>
                                        <p:tav tm="100000">
                                          <p:val>
                                            <p:strVal val="#ppt_x"/>
                                          </p:val>
                                        </p:tav>
                                      </p:tavLst>
                                    </p:anim>
                                    <p:anim calcmode="lin" valueType="num">
                                      <p:cBhvr additive="base">
                                        <p:cTn id="48"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animBg="1" autoUpdateAnimBg="0"/>
      <p:bldP spid="90115" grpId="0" animBg="1" autoUpdateAnimBg="0"/>
      <p:bldP spid="90123" grpId="0" autoUpdateAnimBg="0"/>
      <p:bldP spid="90124" grpId="0" autoUpdateAnimBg="0"/>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custDataLst>
              <p:tags r:id="rId1"/>
            </p:custDataLst>
          </p:nvPr>
        </p:nvPicPr>
        <p:blipFill>
          <a:blip r:embed="rId3"/>
          <a:stretch>
            <a:fillRect/>
          </a:stretch>
        </p:blipFill>
        <p:spPr>
          <a:xfrm>
            <a:off x="4427855" y="10384"/>
            <a:ext cx="4716145" cy="1107440"/>
          </a:xfrm>
          <a:prstGeom prst="rect">
            <a:avLst/>
          </a:prstGeom>
        </p:spPr>
      </p:pic>
      <p:sp>
        <p:nvSpPr>
          <p:cNvPr id="90114" name="圆角矩形 5"/>
          <p:cNvSpPr>
            <a:spLocks noChangeArrowheads="1"/>
          </p:cNvSpPr>
          <p:nvPr/>
        </p:nvSpPr>
        <p:spPr bwMode="auto">
          <a:xfrm>
            <a:off x="1547813" y="3719512"/>
            <a:ext cx="3168650" cy="654050"/>
          </a:xfrm>
          <a:prstGeom prst="roundRect">
            <a:avLst>
              <a:gd name="adj" fmla="val 16667"/>
            </a:avLst>
          </a:prstGeom>
          <a:solidFill>
            <a:schemeClr val="accent1"/>
          </a:solidFill>
          <a:ln w="25400">
            <a:noFill/>
            <a:round/>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solidFill>
                <a:srgbClr val="FFFFFF"/>
              </a:solidFill>
              <a:latin typeface="Tahoma" panose="020B0604030504040204" pitchFamily="34" charset="0"/>
              <a:ea typeface="黑体" panose="02010609060101010101" pitchFamily="49" charset="-122"/>
            </a:endParaRPr>
          </a:p>
        </p:txBody>
      </p:sp>
      <p:sp>
        <p:nvSpPr>
          <p:cNvPr id="90115" name="圆角矩形 2"/>
          <p:cNvSpPr>
            <a:spLocks noChangeArrowheads="1"/>
          </p:cNvSpPr>
          <p:nvPr/>
        </p:nvSpPr>
        <p:spPr bwMode="auto">
          <a:xfrm>
            <a:off x="755650" y="5568950"/>
            <a:ext cx="7777163" cy="679450"/>
          </a:xfrm>
          <a:prstGeom prst="roundRect">
            <a:avLst>
              <a:gd name="adj" fmla="val 16667"/>
            </a:avLst>
          </a:prstGeom>
          <a:solidFill>
            <a:schemeClr val="bg2">
              <a:lumMod val="90000"/>
            </a:schemeClr>
          </a:solidFill>
          <a:ln w="25400">
            <a:noFill/>
            <a:round/>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solidFill>
                <a:srgbClr val="FFFFFF"/>
              </a:solidFill>
              <a:latin typeface="Tahoma" panose="020B0604030504040204" pitchFamily="34" charset="0"/>
              <a:ea typeface="黑体" panose="02010609060101010101" pitchFamily="49" charset="-122"/>
            </a:endParaRPr>
          </a:p>
        </p:txBody>
      </p:sp>
      <p:sp>
        <p:nvSpPr>
          <p:cNvPr id="87044" name="Rectangle 16"/>
          <p:cNvSpPr>
            <a:spLocks noChangeArrowheads="1"/>
          </p:cNvSpPr>
          <p:nvPr/>
        </p:nvSpPr>
        <p:spPr bwMode="auto">
          <a:xfrm>
            <a:off x="2930525" y="4373562"/>
            <a:ext cx="268288"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en-US" altLang="zh-CN" sz="2400" b="1">
                <a:latin typeface="Arial" panose="020B0604020202020204" pitchFamily="34" charset="0"/>
                <a:cs typeface="Times New Roman" panose="02020603050405020304" pitchFamily="18" charset="0"/>
              </a:rPr>
              <a:t> </a:t>
            </a:r>
            <a:endParaRPr lang="en-US" altLang="zh-CN" sz="2400" b="1">
              <a:latin typeface="Arial" panose="020B0604020202020204" pitchFamily="34" charset="0"/>
            </a:endParaRPr>
          </a:p>
        </p:txBody>
      </p:sp>
      <p:graphicFrame>
        <p:nvGraphicFramePr>
          <p:cNvPr id="90121" name="Object 9"/>
          <p:cNvGraphicFramePr>
            <a:graphicFrameLocks noChangeAspect="1"/>
          </p:cNvGraphicFramePr>
          <p:nvPr/>
        </p:nvGraphicFramePr>
        <p:xfrm>
          <a:off x="2506663" y="5653087"/>
          <a:ext cx="1743075" cy="482600"/>
        </p:xfrm>
        <a:graphic>
          <a:graphicData uri="http://schemas.openxmlformats.org/presentationml/2006/ole">
            <mc:AlternateContent xmlns:mc="http://schemas.openxmlformats.org/markup-compatibility/2006">
              <mc:Choice xmlns:v="urn:schemas-microsoft-com:vml" Requires="v">
                <p:oleObj name="Equation" r:id="rId4" imgW="825500" imgH="228600" progId="Equation.DSMT4">
                  <p:embed/>
                </p:oleObj>
              </mc:Choice>
              <mc:Fallback>
                <p:oleObj name="Equation" r:id="rId4" imgW="825500" imgH="228600" progId="Equation.DSMT4">
                  <p:embed/>
                  <p:pic>
                    <p:nvPicPr>
                      <p:cNvPr id="0" name="Object 9"/>
                      <p:cNvPicPr>
                        <a:picLocks noChangeAspect="1" noChangeArrowheads="1"/>
                      </p:cNvPicPr>
                      <p:nvPr/>
                    </p:nvPicPr>
                    <p:blipFill>
                      <a:blip r:embed="rId5">
                        <a:lum bright="-40000" contrast="-40000"/>
                        <a:extLst>
                          <a:ext uri="{28A0092B-C50C-407E-A947-70E740481C1C}">
                            <a14:useLocalDpi xmlns:a14="http://schemas.microsoft.com/office/drawing/2010/main" val="0"/>
                          </a:ext>
                        </a:extLst>
                      </a:blip>
                      <a:srcRect/>
                      <a:stretch>
                        <a:fillRect/>
                      </a:stretch>
                    </p:blipFill>
                    <p:spPr bwMode="auto">
                      <a:xfrm>
                        <a:off x="2506663" y="5653087"/>
                        <a:ext cx="174307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22" name="Object 10"/>
          <p:cNvGraphicFramePr>
            <a:graphicFrameLocks noChangeAspect="1"/>
          </p:cNvGraphicFramePr>
          <p:nvPr/>
        </p:nvGraphicFramePr>
        <p:xfrm>
          <a:off x="4756150" y="5649912"/>
          <a:ext cx="3508375" cy="590550"/>
        </p:xfrm>
        <a:graphic>
          <a:graphicData uri="http://schemas.openxmlformats.org/presentationml/2006/ole">
            <mc:AlternateContent xmlns:mc="http://schemas.openxmlformats.org/markup-compatibility/2006">
              <mc:Choice xmlns:v="urn:schemas-microsoft-com:vml" Requires="v">
                <p:oleObj name="Equation" r:id="rId6" imgW="1803400" imgH="304800" progId="Equation.DSMT4">
                  <p:embed/>
                </p:oleObj>
              </mc:Choice>
              <mc:Fallback>
                <p:oleObj name="Equation" r:id="rId6" imgW="1803400" imgH="304800" progId="Equation.DSMT4">
                  <p:embed/>
                  <p:pic>
                    <p:nvPicPr>
                      <p:cNvPr id="0" name="Object 10"/>
                      <p:cNvPicPr>
                        <a:picLocks noChangeAspect="1" noChangeArrowheads="1"/>
                      </p:cNvPicPr>
                      <p:nvPr/>
                    </p:nvPicPr>
                    <p:blipFill>
                      <a:blip r:embed="rId7">
                        <a:lum bright="-40000" contrast="-40000"/>
                        <a:extLst>
                          <a:ext uri="{28A0092B-C50C-407E-A947-70E740481C1C}">
                            <a14:useLocalDpi xmlns:a14="http://schemas.microsoft.com/office/drawing/2010/main" val="0"/>
                          </a:ext>
                        </a:extLst>
                      </a:blip>
                      <a:srcRect/>
                      <a:stretch>
                        <a:fillRect/>
                      </a:stretch>
                    </p:blipFill>
                    <p:spPr bwMode="auto">
                      <a:xfrm>
                        <a:off x="4756150" y="5649912"/>
                        <a:ext cx="3508375"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123" name="Rectangle 5"/>
          <p:cNvSpPr>
            <a:spLocks noChangeArrowheads="1"/>
          </p:cNvSpPr>
          <p:nvPr/>
        </p:nvSpPr>
        <p:spPr bwMode="auto">
          <a:xfrm>
            <a:off x="893763" y="5630862"/>
            <a:ext cx="6696075"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a:latin typeface="Arial" panose="020B0604020202020204" pitchFamily="34" charset="0"/>
                <a:cs typeface="Times New Roman" panose="02020603050405020304" pitchFamily="18" charset="0"/>
              </a:rPr>
              <a:t>边界条件为</a:t>
            </a:r>
            <a:endParaRPr lang="zh-CN" altLang="en-US" sz="2400" b="1">
              <a:latin typeface="Arial" panose="020B0604020202020204" pitchFamily="34" charset="0"/>
            </a:endParaRPr>
          </a:p>
        </p:txBody>
      </p:sp>
      <p:sp>
        <p:nvSpPr>
          <p:cNvPr id="90124" name="Rectangle 7"/>
          <p:cNvSpPr>
            <a:spLocks noChangeArrowheads="1"/>
          </p:cNvSpPr>
          <p:nvPr/>
        </p:nvSpPr>
        <p:spPr bwMode="auto">
          <a:xfrm>
            <a:off x="4206875" y="5648325"/>
            <a:ext cx="936625" cy="5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a:latin typeface="Arial" panose="020B0604020202020204" pitchFamily="34" charset="0"/>
                <a:cs typeface="Times New Roman" panose="02020603050405020304" pitchFamily="18" charset="0"/>
              </a:rPr>
              <a:t>或</a:t>
            </a:r>
            <a:endParaRPr lang="zh-CN" altLang="en-US" sz="2400" b="1">
              <a:latin typeface="Arial" panose="020B0604020202020204" pitchFamily="34" charset="0"/>
            </a:endParaRPr>
          </a:p>
        </p:txBody>
      </p:sp>
      <p:sp>
        <p:nvSpPr>
          <p:cNvPr id="87050" name="灯片编号占位符 3"/>
          <p:cNvSpPr txBox="1">
            <a:spLocks noGrp="1" noChangeArrowheads="1"/>
          </p:cNvSpPr>
          <p:nvPr/>
        </p:nvSpPr>
        <p:spPr bwMode="auto">
          <a:xfrm>
            <a:off x="7072313" y="62182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C8E3F5AF-E9B8-4C4A-A05C-BBFF5FBD940C}" type="slidenum">
              <a:rPr lang="en-US" altLang="zh-CN" sz="1400">
                <a:latin typeface="Times New Roman" panose="02020603050405020304" pitchFamily="18" charset="0"/>
              </a:rPr>
              <a:t>11</a:t>
            </a:fld>
            <a:endParaRPr lang="en-US" altLang="zh-CN" sz="1400">
              <a:latin typeface="Times New Roman" panose="02020603050405020304" pitchFamily="18" charset="0"/>
            </a:endParaRPr>
          </a:p>
        </p:txBody>
      </p:sp>
      <p:grpSp>
        <p:nvGrpSpPr>
          <p:cNvPr id="90128" name="组合 7"/>
          <p:cNvGrpSpPr/>
          <p:nvPr/>
        </p:nvGrpSpPr>
        <p:grpSpPr bwMode="auto">
          <a:xfrm>
            <a:off x="755650" y="3737022"/>
            <a:ext cx="7561263" cy="1684244"/>
            <a:chOff x="-36263" y="57582"/>
            <a:chExt cx="7561263" cy="1684377"/>
          </a:xfrm>
        </p:grpSpPr>
        <p:grpSp>
          <p:nvGrpSpPr>
            <p:cNvPr id="87059" name="组合 6"/>
            <p:cNvGrpSpPr/>
            <p:nvPr/>
          </p:nvGrpSpPr>
          <p:grpSpPr bwMode="auto">
            <a:xfrm>
              <a:off x="-36263" y="57582"/>
              <a:ext cx="7561263" cy="1684377"/>
              <a:chOff x="-36263" y="57582"/>
              <a:chExt cx="7561263" cy="1684377"/>
            </a:xfrm>
          </p:grpSpPr>
          <p:graphicFrame>
            <p:nvGraphicFramePr>
              <p:cNvPr id="87061" name="Object 19"/>
              <p:cNvGraphicFramePr>
                <a:graphicFrameLocks noChangeAspect="1"/>
              </p:cNvGraphicFramePr>
              <p:nvPr/>
            </p:nvGraphicFramePr>
            <p:xfrm>
              <a:off x="759075" y="115564"/>
              <a:ext cx="3165475" cy="523875"/>
            </p:xfrm>
            <a:graphic>
              <a:graphicData uri="http://schemas.openxmlformats.org/presentationml/2006/ole">
                <mc:AlternateContent xmlns:mc="http://schemas.openxmlformats.org/markup-compatibility/2006">
                  <mc:Choice xmlns:v="urn:schemas-microsoft-com:vml" Requires="v">
                    <p:oleObj name="Equation" r:id="rId8" imgW="1358900" imgH="228600" progId="Equation.DSMT4">
                      <p:embed/>
                    </p:oleObj>
                  </mc:Choice>
                  <mc:Fallback>
                    <p:oleObj name="Equation" r:id="rId8" imgW="1358900" imgH="228600" progId="Equation.DSMT4">
                      <p:embed/>
                      <p:pic>
                        <p:nvPicPr>
                          <p:cNvPr id="0" name="Object 19"/>
                          <p:cNvPicPr>
                            <a:picLocks noChangeAspect="1" noChangeArrowheads="1"/>
                          </p:cNvPicPr>
                          <p:nvPr/>
                        </p:nvPicPr>
                        <p:blipFill>
                          <a:blip r:embed="rId9">
                            <a:lum bright="-40000" contrast="-40000"/>
                            <a:extLst>
                              <a:ext uri="{28A0092B-C50C-407E-A947-70E740481C1C}">
                                <a14:useLocalDpi xmlns:a14="http://schemas.microsoft.com/office/drawing/2010/main" val="0"/>
                              </a:ext>
                            </a:extLst>
                          </a:blip>
                          <a:srcRect/>
                          <a:stretch>
                            <a:fillRect/>
                          </a:stretch>
                        </p:blipFill>
                        <p:spPr bwMode="auto">
                          <a:xfrm>
                            <a:off x="759075" y="115564"/>
                            <a:ext cx="31654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7062" name="Rectangle 11"/>
              <p:cNvSpPr>
                <a:spLocks noChangeArrowheads="1"/>
              </p:cNvSpPr>
              <p:nvPr/>
            </p:nvSpPr>
            <p:spPr bwMode="auto">
              <a:xfrm>
                <a:off x="-36263" y="57582"/>
                <a:ext cx="7561263" cy="1684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zh-CN" altLang="en-US" sz="2400" b="1" dirty="0">
                    <a:latin typeface="Times New Roman" panose="02020603050405020304" pitchFamily="18" charset="0"/>
                    <a:cs typeface="Times New Roman" panose="02020603050405020304" pitchFamily="18" charset="0"/>
                  </a:rPr>
                  <a:t>其中                                         。这是因为一方面每阶段生产的下限为</a:t>
                </a:r>
                <a:r>
                  <a:rPr lang="en-US" altLang="zh-CN" sz="2400" b="1"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；另一方面由于保证供应，故第</a:t>
                </a:r>
                <a:r>
                  <a:rPr lang="en-US" altLang="zh-CN" sz="2400" b="1" i="1" dirty="0">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阶段末的库存量</a:t>
                </a:r>
                <a:r>
                  <a:rPr lang="en-US" altLang="zh-CN" sz="2400" b="1" i="1" dirty="0" err="1">
                    <a:latin typeface="Times New Roman" panose="02020603050405020304" pitchFamily="18" charset="0"/>
                    <a:cs typeface="Times New Roman" panose="02020603050405020304" pitchFamily="18" charset="0"/>
                  </a:rPr>
                  <a:t>v</a:t>
                </a:r>
                <a:r>
                  <a:rPr lang="en-US" altLang="zh-CN" sz="2400" b="1" i="1" baseline="-25000" dirty="0" err="1">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必须非负，即</a:t>
                </a:r>
              </a:p>
            </p:txBody>
          </p:sp>
        </p:grpSp>
        <p:graphicFrame>
          <p:nvGraphicFramePr>
            <p:cNvPr id="87060" name="Object 20"/>
            <p:cNvGraphicFramePr>
              <a:graphicFrameLocks noChangeAspect="1"/>
            </p:cNvGraphicFramePr>
            <p:nvPr/>
          </p:nvGraphicFramePr>
          <p:xfrm>
            <a:off x="3845174" y="1207811"/>
            <a:ext cx="2936741" cy="502716"/>
          </p:xfrm>
          <a:graphic>
            <a:graphicData uri="http://schemas.openxmlformats.org/presentationml/2006/ole">
              <mc:AlternateContent xmlns:mc="http://schemas.openxmlformats.org/markup-compatibility/2006">
                <mc:Choice xmlns:v="urn:schemas-microsoft-com:vml" Requires="v">
                  <p:oleObj name="Equation" r:id="rId10" imgW="1333500" imgH="228600" progId="Equation.DSMT4">
                    <p:embed/>
                  </p:oleObj>
                </mc:Choice>
                <mc:Fallback>
                  <p:oleObj name="Equation" r:id="rId10" imgW="1333500" imgH="228600" progId="Equation.DSMT4">
                    <p:embed/>
                    <p:pic>
                      <p:nvPicPr>
                        <p:cNvPr id="0" name="Object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45174" y="1207811"/>
                          <a:ext cx="2936741" cy="502716"/>
                        </a:xfrm>
                        <a:prstGeom prst="rect">
                          <a:avLst/>
                        </a:prstGeom>
                        <a:solidFill>
                          <a:schemeClr val="bg1">
                            <a:lumMod val="85000"/>
                          </a:schemeClr>
                        </a:solidFill>
                        <a:ln>
                          <a:noFill/>
                        </a:ln>
                      </p:spPr>
                    </p:pic>
                  </p:oleObj>
                </mc:Fallback>
              </mc:AlternateContent>
            </a:graphicData>
          </a:graphic>
        </p:graphicFrame>
      </p:grpSp>
      <p:sp>
        <p:nvSpPr>
          <p:cNvPr id="90116" name="圆角矩形 1"/>
          <p:cNvSpPr>
            <a:spLocks noChangeArrowheads="1"/>
          </p:cNvSpPr>
          <p:nvPr/>
        </p:nvSpPr>
        <p:spPr bwMode="auto">
          <a:xfrm>
            <a:off x="1066800" y="2743200"/>
            <a:ext cx="7286625" cy="711200"/>
          </a:xfrm>
          <a:prstGeom prst="roundRect">
            <a:avLst>
              <a:gd name="adj" fmla="val 16667"/>
            </a:avLst>
          </a:prstGeom>
          <a:solidFill>
            <a:schemeClr val="bg2">
              <a:lumMod val="90000"/>
            </a:schemeClr>
          </a:solidFill>
          <a:ln w="25400">
            <a:noFill/>
            <a:round/>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solidFill>
                <a:srgbClr val="FFFFFF"/>
              </a:solidFill>
              <a:latin typeface="Tahoma" panose="020B0604030504040204" pitchFamily="34" charset="0"/>
              <a:ea typeface="黑体" panose="02010609060101010101" pitchFamily="49" charset="-122"/>
            </a:endParaRPr>
          </a:p>
        </p:txBody>
      </p:sp>
      <p:graphicFrame>
        <p:nvGraphicFramePr>
          <p:cNvPr id="89101" name="Object 5"/>
          <p:cNvGraphicFramePr>
            <a:graphicFrameLocks noChangeAspect="1"/>
          </p:cNvGraphicFramePr>
          <p:nvPr/>
        </p:nvGraphicFramePr>
        <p:xfrm>
          <a:off x="1143000" y="2795587"/>
          <a:ext cx="6962775" cy="663575"/>
        </p:xfrm>
        <a:graphic>
          <a:graphicData uri="http://schemas.openxmlformats.org/presentationml/2006/ole">
            <mc:AlternateContent xmlns:mc="http://schemas.openxmlformats.org/markup-compatibility/2006">
              <mc:Choice xmlns:v="urn:schemas-microsoft-com:vml" Requires="v">
                <p:oleObj name="Equation" r:id="rId12" imgW="3429000" imgH="292100" progId="Equation.DSMT4">
                  <p:embed/>
                </p:oleObj>
              </mc:Choice>
              <mc:Fallback>
                <p:oleObj name="Equation" r:id="rId12" imgW="3429000" imgH="292100" progId="Equation.DSMT4">
                  <p:embed/>
                  <p:pic>
                    <p:nvPicPr>
                      <p:cNvPr id="0" name="Object 5"/>
                      <p:cNvPicPr>
                        <a:picLocks noChangeAspect="1" noChangeArrowheads="1"/>
                      </p:cNvPicPr>
                      <p:nvPr/>
                    </p:nvPicPr>
                    <p:blipFill>
                      <a:blip r:embed="rId13">
                        <a:lum bright="-40000" contrast="-40000"/>
                        <a:extLst>
                          <a:ext uri="{28A0092B-C50C-407E-A947-70E740481C1C}">
                            <a14:useLocalDpi xmlns:a14="http://schemas.microsoft.com/office/drawing/2010/main" val="0"/>
                          </a:ext>
                        </a:extLst>
                      </a:blip>
                      <a:srcRect/>
                      <a:stretch>
                        <a:fillRect/>
                      </a:stretch>
                    </p:blipFill>
                    <p:spPr bwMode="auto">
                      <a:xfrm>
                        <a:off x="1143000" y="2795587"/>
                        <a:ext cx="6962775" cy="663575"/>
                      </a:xfrm>
                      <a:prstGeom prst="rect">
                        <a:avLst/>
                      </a:prstGeom>
                      <a:noFill/>
                      <a:ln>
                        <a:noFill/>
                      </a:ln>
                    </p:spPr>
                  </p:pic>
                </p:oleObj>
              </mc:Fallback>
            </mc:AlternateContent>
          </a:graphicData>
        </a:graphic>
      </p:graphicFrame>
      <p:sp>
        <p:nvSpPr>
          <p:cNvPr id="89102" name="Rectangle 10"/>
          <p:cNvSpPr>
            <a:spLocks noChangeArrowheads="1"/>
          </p:cNvSpPr>
          <p:nvPr/>
        </p:nvSpPr>
        <p:spPr bwMode="auto">
          <a:xfrm>
            <a:off x="971550" y="2173287"/>
            <a:ext cx="2954338"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zh-CN" altLang="en-US" sz="2400" b="1" dirty="0">
                <a:solidFill>
                  <a:srgbClr val="FF0000"/>
                </a:solidFill>
                <a:latin typeface="Arial" panose="020B0604020202020204" pitchFamily="34" charset="0"/>
                <a:cs typeface="Times New Roman" panose="02020603050405020304" pitchFamily="18" charset="0"/>
              </a:rPr>
              <a:t>逆推</a:t>
            </a:r>
            <a:r>
              <a:rPr lang="zh-CN" altLang="en-US" sz="2400" b="1" dirty="0">
                <a:latin typeface="Arial" panose="020B0604020202020204" pitchFamily="34" charset="0"/>
                <a:cs typeface="Times New Roman" panose="02020603050405020304" pitchFamily="18" charset="0"/>
              </a:rPr>
              <a:t>关系式为：	</a:t>
            </a:r>
            <a:endParaRPr lang="zh-CN" altLang="en-US" sz="2400" b="1" dirty="0">
              <a:latin typeface="Arial" panose="020B0604020202020204" pitchFamily="34" charset="0"/>
            </a:endParaRPr>
          </a:p>
        </p:txBody>
      </p:sp>
      <p:sp>
        <p:nvSpPr>
          <p:cNvPr id="89103" name="Rectangle 5"/>
          <p:cNvSpPr>
            <a:spLocks noChangeArrowheads="1"/>
          </p:cNvSpPr>
          <p:nvPr/>
        </p:nvSpPr>
        <p:spPr bwMode="auto">
          <a:xfrm>
            <a:off x="919162" y="1598504"/>
            <a:ext cx="243363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zh-CN" altLang="en-US" sz="2400" b="1" dirty="0">
                <a:solidFill>
                  <a:srgbClr val="FF0000"/>
                </a:solidFill>
                <a:cs typeface="Times New Roman" panose="02020603050405020304" pitchFamily="18" charset="0"/>
              </a:rPr>
              <a:t>状态转移方程：</a:t>
            </a:r>
            <a:r>
              <a:rPr lang="en-US" altLang="zh-CN" sz="2400" b="1" dirty="0">
                <a:solidFill>
                  <a:srgbClr val="FF0000"/>
                </a:solidFill>
                <a:cs typeface="Times New Roman" panose="02020603050405020304" pitchFamily="18" charset="0"/>
              </a:rPr>
              <a:t>        </a:t>
            </a:r>
          </a:p>
        </p:txBody>
      </p:sp>
      <p:sp>
        <p:nvSpPr>
          <p:cNvPr id="23" name="Rectangle 2"/>
          <p:cNvSpPr txBox="1">
            <a:spLocks noChangeArrowheads="1"/>
          </p:cNvSpPr>
          <p:nvPr/>
        </p:nvSpPr>
        <p:spPr bwMode="auto">
          <a:xfrm>
            <a:off x="533400" y="767824"/>
            <a:ext cx="6172200" cy="77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zh-CN" sz="3200" u="sng" kern="0" dirty="0">
                <a:solidFill>
                  <a:schemeClr val="hlink"/>
                </a:solidFill>
              </a:rPr>
              <a:t>动态规划模型</a:t>
            </a:r>
            <a:r>
              <a:rPr lang="en-US" altLang="zh-CN" sz="3200" u="sng" kern="0" dirty="0">
                <a:solidFill>
                  <a:schemeClr val="hlink"/>
                </a:solidFill>
              </a:rPr>
              <a:t>-----</a:t>
            </a:r>
            <a:r>
              <a:rPr lang="zh-CN" altLang="en-US" sz="3200" u="sng" kern="0" dirty="0">
                <a:solidFill>
                  <a:schemeClr val="hlink"/>
                </a:solidFill>
              </a:rPr>
              <a:t>逆推法</a:t>
            </a:r>
            <a:endParaRPr lang="zh-CN" altLang="zh-CN" sz="3200" u="sng" kern="0" dirty="0">
              <a:solidFill>
                <a:schemeClr val="hlink"/>
              </a:solidFill>
            </a:endParaRPr>
          </a:p>
        </p:txBody>
      </p:sp>
      <p:graphicFrame>
        <p:nvGraphicFramePr>
          <p:cNvPr id="25" name="Object 3"/>
          <p:cNvGraphicFramePr>
            <a:graphicFrameLocks noChangeAspect="1"/>
          </p:cNvGraphicFramePr>
          <p:nvPr/>
        </p:nvGraphicFramePr>
        <p:xfrm>
          <a:off x="3071813" y="1705987"/>
          <a:ext cx="4953000" cy="554038"/>
        </p:xfrm>
        <a:graphic>
          <a:graphicData uri="http://schemas.openxmlformats.org/presentationml/2006/ole">
            <mc:AlternateContent xmlns:mc="http://schemas.openxmlformats.org/markup-compatibility/2006">
              <mc:Choice xmlns:v="urn:schemas-microsoft-com:vml" Requires="v">
                <p:oleObj name="Equation" r:id="rId14" imgW="48158400" imgH="5486400" progId="Equation.DSMT4">
                  <p:embed/>
                </p:oleObj>
              </mc:Choice>
              <mc:Fallback>
                <p:oleObj name="Equation" r:id="rId14" imgW="48158400" imgH="5486400" progId="Equation.DSMT4">
                  <p:embed/>
                  <p:pic>
                    <p:nvPicPr>
                      <p:cNvPr id="0" name="图片 6"/>
                      <p:cNvPicPr>
                        <a:picLocks noChangeAspect="1" noChangeArrowheads="1"/>
                      </p:cNvPicPr>
                      <p:nvPr/>
                    </p:nvPicPr>
                    <p:blipFill>
                      <a:blip r:embed="rId15">
                        <a:lum bright="-40000" contrast="-40000"/>
                      </a:blip>
                      <a:srcRect/>
                      <a:stretch>
                        <a:fillRect/>
                      </a:stretch>
                    </p:blipFill>
                    <p:spPr bwMode="auto">
                      <a:xfrm>
                        <a:off x="3071813" y="1705987"/>
                        <a:ext cx="4953000" cy="554038"/>
                      </a:xfrm>
                      <a:prstGeom prst="rect">
                        <a:avLst/>
                      </a:prstGeom>
                      <a:solidFill>
                        <a:schemeClr val="bg1">
                          <a:lumMod val="85000"/>
                        </a:schemeClr>
                      </a:solidFill>
                      <a:ln>
                        <a:noFill/>
                      </a:ln>
                    </p:spPr>
                  </p:pic>
                </p:oleObj>
              </mc:Fallback>
            </mc:AlternateContent>
          </a:graphicData>
        </a:graphic>
      </p:graphicFrame>
      <p:sp>
        <p:nvSpPr>
          <p:cNvPr id="8" name="矩形 7"/>
          <p:cNvSpPr/>
          <p:nvPr/>
        </p:nvSpPr>
        <p:spPr>
          <a:xfrm>
            <a:off x="685800" y="3581400"/>
            <a:ext cx="7667625" cy="1905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9102"/>
                                        </p:tgtEl>
                                        <p:attrNameLst>
                                          <p:attrName>style.visibility</p:attrName>
                                        </p:attrNameLst>
                                      </p:cBhvr>
                                      <p:to>
                                        <p:strVal val="visible"/>
                                      </p:to>
                                    </p:set>
                                    <p:anim calcmode="lin" valueType="num">
                                      <p:cBhvr additive="base">
                                        <p:cTn id="7" dur="500" fill="hold"/>
                                        <p:tgtEl>
                                          <p:spTgt spid="89102"/>
                                        </p:tgtEl>
                                        <p:attrNameLst>
                                          <p:attrName>ppt_x</p:attrName>
                                        </p:attrNameLst>
                                      </p:cBhvr>
                                      <p:tavLst>
                                        <p:tav tm="0">
                                          <p:val>
                                            <p:strVal val="#ppt_x"/>
                                          </p:val>
                                        </p:tav>
                                        <p:tav tm="100000">
                                          <p:val>
                                            <p:strVal val="#ppt_x"/>
                                          </p:val>
                                        </p:tav>
                                      </p:tavLst>
                                    </p:anim>
                                    <p:anim calcmode="lin" valueType="num">
                                      <p:cBhvr additive="base">
                                        <p:cTn id="8" dur="500" fill="hold"/>
                                        <p:tgtEl>
                                          <p:spTgt spid="8910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0116"/>
                                        </p:tgtEl>
                                        <p:attrNameLst>
                                          <p:attrName>style.visibility</p:attrName>
                                        </p:attrNameLst>
                                      </p:cBhvr>
                                      <p:to>
                                        <p:strVal val="visible"/>
                                      </p:to>
                                    </p:set>
                                    <p:anim calcmode="lin" valueType="num">
                                      <p:cBhvr additive="base">
                                        <p:cTn id="11" dur="500" fill="hold"/>
                                        <p:tgtEl>
                                          <p:spTgt spid="90116"/>
                                        </p:tgtEl>
                                        <p:attrNameLst>
                                          <p:attrName>ppt_x</p:attrName>
                                        </p:attrNameLst>
                                      </p:cBhvr>
                                      <p:tavLst>
                                        <p:tav tm="0">
                                          <p:val>
                                            <p:strVal val="#ppt_x"/>
                                          </p:val>
                                        </p:tav>
                                        <p:tav tm="100000">
                                          <p:val>
                                            <p:strVal val="#ppt_x"/>
                                          </p:val>
                                        </p:tav>
                                      </p:tavLst>
                                    </p:anim>
                                    <p:anim calcmode="lin" valueType="num">
                                      <p:cBhvr additive="base">
                                        <p:cTn id="12" dur="500" fill="hold"/>
                                        <p:tgtEl>
                                          <p:spTgt spid="9011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9101"/>
                                        </p:tgtEl>
                                        <p:attrNameLst>
                                          <p:attrName>style.visibility</p:attrName>
                                        </p:attrNameLst>
                                      </p:cBhvr>
                                      <p:to>
                                        <p:strVal val="visible"/>
                                      </p:to>
                                    </p:set>
                                    <p:anim calcmode="lin" valueType="num">
                                      <p:cBhvr additive="base">
                                        <p:cTn id="15" dur="500" fill="hold"/>
                                        <p:tgtEl>
                                          <p:spTgt spid="89101"/>
                                        </p:tgtEl>
                                        <p:attrNameLst>
                                          <p:attrName>ppt_x</p:attrName>
                                        </p:attrNameLst>
                                      </p:cBhvr>
                                      <p:tavLst>
                                        <p:tav tm="0">
                                          <p:val>
                                            <p:strVal val="#ppt_x"/>
                                          </p:val>
                                        </p:tav>
                                        <p:tav tm="100000">
                                          <p:val>
                                            <p:strVal val="#ppt_x"/>
                                          </p:val>
                                        </p:tav>
                                      </p:tavLst>
                                    </p:anim>
                                    <p:anim calcmode="lin" valueType="num">
                                      <p:cBhvr additive="base">
                                        <p:cTn id="16" dur="500" fill="hold"/>
                                        <p:tgtEl>
                                          <p:spTgt spid="89101"/>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2" presetClass="entr" presetSubtype="1" fill="hold"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fill="hold"/>
                                        <p:tgtEl>
                                          <p:spTgt spid="11"/>
                                        </p:tgtEl>
                                        <p:attrNameLst>
                                          <p:attrName>ppt_x</p:attrName>
                                        </p:attrNameLst>
                                      </p:cBhvr>
                                      <p:tavLst>
                                        <p:tav tm="0">
                                          <p:val>
                                            <p:strVal val="#ppt_x"/>
                                          </p:val>
                                        </p:tav>
                                        <p:tav tm="100000">
                                          <p:val>
                                            <p:strVal val="#ppt_x"/>
                                          </p:val>
                                        </p:tav>
                                      </p:tavLst>
                                    </p:anim>
                                    <p:anim calcmode="lin" valueType="num">
                                      <p:cBhvr additive="base">
                                        <p:cTn id="21"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90128"/>
                                        </p:tgtEl>
                                        <p:attrNameLst>
                                          <p:attrName>style.visibility</p:attrName>
                                        </p:attrNameLst>
                                      </p:cBhvr>
                                      <p:to>
                                        <p:strVal val="visible"/>
                                      </p:to>
                                    </p:set>
                                    <p:anim calcmode="lin" valueType="num">
                                      <p:cBhvr additive="base">
                                        <p:cTn id="30" dur="500" fill="hold"/>
                                        <p:tgtEl>
                                          <p:spTgt spid="90128"/>
                                        </p:tgtEl>
                                        <p:attrNameLst>
                                          <p:attrName>ppt_x</p:attrName>
                                        </p:attrNameLst>
                                      </p:cBhvr>
                                      <p:tavLst>
                                        <p:tav tm="0">
                                          <p:val>
                                            <p:strVal val="#ppt_x"/>
                                          </p:val>
                                        </p:tav>
                                        <p:tav tm="100000">
                                          <p:val>
                                            <p:strVal val="#ppt_x"/>
                                          </p:val>
                                        </p:tav>
                                      </p:tavLst>
                                    </p:anim>
                                    <p:anim calcmode="lin" valueType="num">
                                      <p:cBhvr additive="base">
                                        <p:cTn id="31" dur="500" fill="hold"/>
                                        <p:tgtEl>
                                          <p:spTgt spid="90128"/>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90114"/>
                                        </p:tgtEl>
                                        <p:attrNameLst>
                                          <p:attrName>style.visibility</p:attrName>
                                        </p:attrNameLst>
                                      </p:cBhvr>
                                      <p:to>
                                        <p:strVal val="visible"/>
                                      </p:to>
                                    </p:set>
                                    <p:anim calcmode="lin" valueType="num">
                                      <p:cBhvr additive="base">
                                        <p:cTn id="34" dur="500" fill="hold"/>
                                        <p:tgtEl>
                                          <p:spTgt spid="90114"/>
                                        </p:tgtEl>
                                        <p:attrNameLst>
                                          <p:attrName>ppt_x</p:attrName>
                                        </p:attrNameLst>
                                      </p:cBhvr>
                                      <p:tavLst>
                                        <p:tav tm="0">
                                          <p:val>
                                            <p:strVal val="#ppt_x"/>
                                          </p:val>
                                        </p:tav>
                                        <p:tav tm="100000">
                                          <p:val>
                                            <p:strVal val="#ppt_x"/>
                                          </p:val>
                                        </p:tav>
                                      </p:tavLst>
                                    </p:anim>
                                    <p:anim calcmode="lin" valueType="num">
                                      <p:cBhvr additive="base">
                                        <p:cTn id="35" dur="500" fill="hold"/>
                                        <p:tgtEl>
                                          <p:spTgt spid="90114"/>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90115"/>
                                        </p:tgtEl>
                                        <p:attrNameLst>
                                          <p:attrName>style.visibility</p:attrName>
                                        </p:attrNameLst>
                                      </p:cBhvr>
                                      <p:to>
                                        <p:strVal val="visible"/>
                                      </p:to>
                                    </p:set>
                                    <p:anim calcmode="lin" valueType="num">
                                      <p:cBhvr additive="base">
                                        <p:cTn id="40" dur="500" fill="hold"/>
                                        <p:tgtEl>
                                          <p:spTgt spid="90115"/>
                                        </p:tgtEl>
                                        <p:attrNameLst>
                                          <p:attrName>ppt_x</p:attrName>
                                        </p:attrNameLst>
                                      </p:cBhvr>
                                      <p:tavLst>
                                        <p:tav tm="0">
                                          <p:val>
                                            <p:strVal val="#ppt_x"/>
                                          </p:val>
                                        </p:tav>
                                        <p:tav tm="100000">
                                          <p:val>
                                            <p:strVal val="#ppt_x"/>
                                          </p:val>
                                        </p:tav>
                                      </p:tavLst>
                                    </p:anim>
                                    <p:anim calcmode="lin" valueType="num">
                                      <p:cBhvr additive="base">
                                        <p:cTn id="41" dur="500" fill="hold"/>
                                        <p:tgtEl>
                                          <p:spTgt spid="90115"/>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90121"/>
                                        </p:tgtEl>
                                        <p:attrNameLst>
                                          <p:attrName>style.visibility</p:attrName>
                                        </p:attrNameLst>
                                      </p:cBhvr>
                                      <p:to>
                                        <p:strVal val="visible"/>
                                      </p:to>
                                    </p:set>
                                    <p:anim calcmode="lin" valueType="num">
                                      <p:cBhvr additive="base">
                                        <p:cTn id="44" dur="500" fill="hold"/>
                                        <p:tgtEl>
                                          <p:spTgt spid="90121"/>
                                        </p:tgtEl>
                                        <p:attrNameLst>
                                          <p:attrName>ppt_x</p:attrName>
                                        </p:attrNameLst>
                                      </p:cBhvr>
                                      <p:tavLst>
                                        <p:tav tm="0">
                                          <p:val>
                                            <p:strVal val="#ppt_x"/>
                                          </p:val>
                                        </p:tav>
                                        <p:tav tm="100000">
                                          <p:val>
                                            <p:strVal val="#ppt_x"/>
                                          </p:val>
                                        </p:tav>
                                      </p:tavLst>
                                    </p:anim>
                                    <p:anim calcmode="lin" valueType="num">
                                      <p:cBhvr additive="base">
                                        <p:cTn id="45" dur="500" fill="hold"/>
                                        <p:tgtEl>
                                          <p:spTgt spid="90121"/>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90122"/>
                                        </p:tgtEl>
                                        <p:attrNameLst>
                                          <p:attrName>style.visibility</p:attrName>
                                        </p:attrNameLst>
                                      </p:cBhvr>
                                      <p:to>
                                        <p:strVal val="visible"/>
                                      </p:to>
                                    </p:set>
                                    <p:anim calcmode="lin" valueType="num">
                                      <p:cBhvr additive="base">
                                        <p:cTn id="48" dur="500" fill="hold"/>
                                        <p:tgtEl>
                                          <p:spTgt spid="90122"/>
                                        </p:tgtEl>
                                        <p:attrNameLst>
                                          <p:attrName>ppt_x</p:attrName>
                                        </p:attrNameLst>
                                      </p:cBhvr>
                                      <p:tavLst>
                                        <p:tav tm="0">
                                          <p:val>
                                            <p:strVal val="#ppt_x"/>
                                          </p:val>
                                        </p:tav>
                                        <p:tav tm="100000">
                                          <p:val>
                                            <p:strVal val="#ppt_x"/>
                                          </p:val>
                                        </p:tav>
                                      </p:tavLst>
                                    </p:anim>
                                    <p:anim calcmode="lin" valueType="num">
                                      <p:cBhvr additive="base">
                                        <p:cTn id="49" dur="500" fill="hold"/>
                                        <p:tgtEl>
                                          <p:spTgt spid="90122"/>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90123"/>
                                        </p:tgtEl>
                                        <p:attrNameLst>
                                          <p:attrName>style.visibility</p:attrName>
                                        </p:attrNameLst>
                                      </p:cBhvr>
                                      <p:to>
                                        <p:strVal val="visible"/>
                                      </p:to>
                                    </p:set>
                                    <p:anim calcmode="lin" valueType="num">
                                      <p:cBhvr additive="base">
                                        <p:cTn id="52" dur="500" fill="hold"/>
                                        <p:tgtEl>
                                          <p:spTgt spid="90123"/>
                                        </p:tgtEl>
                                        <p:attrNameLst>
                                          <p:attrName>ppt_x</p:attrName>
                                        </p:attrNameLst>
                                      </p:cBhvr>
                                      <p:tavLst>
                                        <p:tav tm="0">
                                          <p:val>
                                            <p:strVal val="#ppt_x"/>
                                          </p:val>
                                        </p:tav>
                                        <p:tav tm="100000">
                                          <p:val>
                                            <p:strVal val="#ppt_x"/>
                                          </p:val>
                                        </p:tav>
                                      </p:tavLst>
                                    </p:anim>
                                    <p:anim calcmode="lin" valueType="num">
                                      <p:cBhvr additive="base">
                                        <p:cTn id="53" dur="500" fill="hold"/>
                                        <p:tgtEl>
                                          <p:spTgt spid="90123"/>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90124"/>
                                        </p:tgtEl>
                                        <p:attrNameLst>
                                          <p:attrName>style.visibility</p:attrName>
                                        </p:attrNameLst>
                                      </p:cBhvr>
                                      <p:to>
                                        <p:strVal val="visible"/>
                                      </p:to>
                                    </p:set>
                                    <p:anim calcmode="lin" valueType="num">
                                      <p:cBhvr additive="base">
                                        <p:cTn id="56" dur="500" fill="hold"/>
                                        <p:tgtEl>
                                          <p:spTgt spid="90124"/>
                                        </p:tgtEl>
                                        <p:attrNameLst>
                                          <p:attrName>ppt_x</p:attrName>
                                        </p:attrNameLst>
                                      </p:cBhvr>
                                      <p:tavLst>
                                        <p:tav tm="0">
                                          <p:val>
                                            <p:strVal val="#ppt_x"/>
                                          </p:val>
                                        </p:tav>
                                        <p:tav tm="100000">
                                          <p:val>
                                            <p:strVal val="#ppt_x"/>
                                          </p:val>
                                        </p:tav>
                                      </p:tavLst>
                                    </p:anim>
                                    <p:anim calcmode="lin" valueType="num">
                                      <p:cBhvr additive="base">
                                        <p:cTn id="57" dur="500" fill="hold"/>
                                        <p:tgtEl>
                                          <p:spTgt spid="901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animBg="1" autoUpdateAnimBg="0"/>
      <p:bldP spid="90115" grpId="0" animBg="1" autoUpdateAnimBg="0"/>
      <p:bldP spid="90123" grpId="0" autoUpdateAnimBg="0"/>
      <p:bldP spid="90124" grpId="0" autoUpdateAnimBg="0"/>
      <p:bldP spid="90116" grpId="0" animBg="1"/>
      <p:bldP spid="89102" grpId="0"/>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71" name="Rectangle 17"/>
          <p:cNvSpPr>
            <a:spLocks noChangeArrowheads="1"/>
          </p:cNvSpPr>
          <p:nvPr/>
        </p:nvSpPr>
        <p:spPr bwMode="auto">
          <a:xfrm>
            <a:off x="558800" y="2364291"/>
            <a:ext cx="7366000" cy="1043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zh-CN" altLang="en-US" sz="2200" b="1" dirty="0">
                <a:latin typeface="Times New Roman" panose="02020603050405020304" pitchFamily="18" charset="0"/>
                <a:cs typeface="Times New Roman" panose="02020603050405020304" pitchFamily="18" charset="0"/>
              </a:rPr>
              <a:t>从边界条件出发，利用上面的递推关系式，对每个</a:t>
            </a:r>
            <a:r>
              <a:rPr lang="en-US" altLang="zh-CN" sz="2200" b="1" i="1" dirty="0">
                <a:latin typeface="Times New Roman" panose="02020603050405020304" pitchFamily="18" charset="0"/>
                <a:cs typeface="Times New Roman" panose="02020603050405020304" pitchFamily="18" charset="0"/>
              </a:rPr>
              <a:t>k</a:t>
            </a:r>
            <a:r>
              <a:rPr lang="zh-CN" altLang="en-US" sz="2200" b="1" dirty="0">
                <a:latin typeface="Times New Roman" panose="02020603050405020304" pitchFamily="18" charset="0"/>
                <a:cs typeface="Times New Roman" panose="02020603050405020304" pitchFamily="18" charset="0"/>
              </a:rPr>
              <a:t>，计算出</a:t>
            </a:r>
            <a:r>
              <a:rPr lang="en-US" altLang="zh-CN" sz="2200" b="1" i="1" dirty="0" err="1">
                <a:latin typeface="Times New Roman" panose="02020603050405020304" pitchFamily="18" charset="0"/>
                <a:cs typeface="Times New Roman" panose="02020603050405020304" pitchFamily="18" charset="0"/>
              </a:rPr>
              <a:t>f</a:t>
            </a:r>
            <a:r>
              <a:rPr lang="en-US" altLang="zh-CN" sz="2200" b="1" i="1" baseline="-25000" dirty="0" err="1">
                <a:latin typeface="Times New Roman" panose="02020603050405020304" pitchFamily="18" charset="0"/>
                <a:cs typeface="Times New Roman" panose="02020603050405020304" pitchFamily="18" charset="0"/>
              </a:rPr>
              <a:t>k</a:t>
            </a:r>
            <a:r>
              <a:rPr lang="en-US" altLang="zh-CN" sz="2200" b="1" dirty="0">
                <a:latin typeface="Times New Roman" panose="02020603050405020304" pitchFamily="18" charset="0"/>
                <a:cs typeface="Times New Roman" panose="02020603050405020304" pitchFamily="18" charset="0"/>
              </a:rPr>
              <a:t>(</a:t>
            </a:r>
            <a:r>
              <a:rPr lang="en-US" altLang="zh-CN" sz="2200" b="1" i="1" dirty="0" err="1">
                <a:latin typeface="Times New Roman" panose="02020603050405020304" pitchFamily="18" charset="0"/>
                <a:cs typeface="Times New Roman" panose="02020603050405020304" pitchFamily="18" charset="0"/>
              </a:rPr>
              <a:t>v</a:t>
            </a:r>
            <a:r>
              <a:rPr lang="en-US" altLang="zh-CN" sz="2200" b="1" i="1" baseline="-25000" dirty="0" err="1">
                <a:latin typeface="Times New Roman" panose="02020603050405020304" pitchFamily="18" charset="0"/>
                <a:cs typeface="Times New Roman" panose="02020603050405020304" pitchFamily="18" charset="0"/>
              </a:rPr>
              <a:t>k</a:t>
            </a:r>
            <a:r>
              <a:rPr lang="en-US" altLang="zh-CN" sz="2200" b="1" dirty="0">
                <a:latin typeface="Times New Roman" panose="02020603050405020304" pitchFamily="18" charset="0"/>
                <a:cs typeface="Times New Roman" panose="02020603050405020304" pitchFamily="18" charset="0"/>
              </a:rPr>
              <a:t>)</a:t>
            </a:r>
            <a:r>
              <a:rPr lang="zh-CN" altLang="en-US" sz="2200" b="1" dirty="0">
                <a:latin typeface="Times New Roman" panose="02020603050405020304" pitchFamily="18" charset="0"/>
                <a:cs typeface="Times New Roman" panose="02020603050405020304" pitchFamily="18" charset="0"/>
              </a:rPr>
              <a:t>中的</a:t>
            </a:r>
            <a:r>
              <a:rPr lang="en-US" altLang="zh-CN" sz="2200" b="1" i="1" dirty="0" err="1">
                <a:latin typeface="Times New Roman" panose="02020603050405020304" pitchFamily="18" charset="0"/>
                <a:cs typeface="Times New Roman" panose="02020603050405020304" pitchFamily="18" charset="0"/>
              </a:rPr>
              <a:t>v</a:t>
            </a:r>
            <a:r>
              <a:rPr lang="en-US" altLang="zh-CN" sz="2200" b="1" i="1" baseline="-25000" dirty="0" err="1">
                <a:latin typeface="Times New Roman" panose="02020603050405020304" pitchFamily="18" charset="0"/>
                <a:cs typeface="Times New Roman" panose="02020603050405020304" pitchFamily="18" charset="0"/>
              </a:rPr>
              <a:t>k</a:t>
            </a:r>
            <a:r>
              <a:rPr lang="zh-CN" altLang="en-US" sz="2200" b="1" dirty="0">
                <a:latin typeface="Times New Roman" panose="02020603050405020304" pitchFamily="18" charset="0"/>
                <a:cs typeface="Times New Roman" panose="02020603050405020304" pitchFamily="18" charset="0"/>
              </a:rPr>
              <a:t>在</a:t>
            </a:r>
            <a:r>
              <a:rPr lang="en-US" altLang="zh-CN" sz="2200" b="1" dirty="0">
                <a:latin typeface="Times New Roman" panose="02020603050405020304" pitchFamily="18" charset="0"/>
                <a:cs typeface="Times New Roman" panose="02020603050405020304" pitchFamily="18" charset="0"/>
              </a:rPr>
              <a:t>0</a:t>
            </a:r>
            <a:r>
              <a:rPr lang="zh-CN" altLang="en-US" sz="2200" b="1" dirty="0">
                <a:latin typeface="Times New Roman" panose="02020603050405020304" pitchFamily="18" charset="0"/>
                <a:cs typeface="Times New Roman" panose="02020603050405020304" pitchFamily="18" charset="0"/>
              </a:rPr>
              <a:t>至</a:t>
            </a:r>
          </a:p>
        </p:txBody>
      </p:sp>
      <p:grpSp>
        <p:nvGrpSpPr>
          <p:cNvPr id="91138" name="组合 12"/>
          <p:cNvGrpSpPr/>
          <p:nvPr/>
        </p:nvGrpSpPr>
        <p:grpSpPr bwMode="auto">
          <a:xfrm>
            <a:off x="1600200" y="3124200"/>
            <a:ext cx="3286125" cy="2030413"/>
            <a:chOff x="0" y="0"/>
            <a:chExt cx="3287296" cy="2029907"/>
          </a:xfrm>
          <a:solidFill>
            <a:schemeClr val="bg2"/>
          </a:solidFill>
        </p:grpSpPr>
        <p:sp>
          <p:nvSpPr>
            <p:cNvPr id="88081" name="圆角矩形 1"/>
            <p:cNvSpPr>
              <a:spLocks noChangeArrowheads="1"/>
            </p:cNvSpPr>
            <p:nvPr/>
          </p:nvSpPr>
          <p:spPr bwMode="auto">
            <a:xfrm>
              <a:off x="2207411" y="0"/>
              <a:ext cx="1079885" cy="1103038"/>
            </a:xfrm>
            <a:prstGeom prst="roundRect">
              <a:avLst>
                <a:gd name="adj" fmla="val 16667"/>
              </a:avLst>
            </a:prstGeom>
            <a:grpFill/>
            <a:ln w="25400">
              <a:noFill/>
              <a:round/>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solidFill>
                  <a:srgbClr val="FFFFFF"/>
                </a:solidFill>
                <a:latin typeface="Tahoma" panose="020B0604030504040204" pitchFamily="34" charset="0"/>
                <a:ea typeface="黑体" panose="02010609060101010101" pitchFamily="49" charset="-122"/>
              </a:endParaRPr>
            </a:p>
          </p:txBody>
        </p:sp>
        <p:grpSp>
          <p:nvGrpSpPr>
            <p:cNvPr id="88082" name="组合 7"/>
            <p:cNvGrpSpPr/>
            <p:nvPr/>
          </p:nvGrpSpPr>
          <p:grpSpPr bwMode="auto">
            <a:xfrm>
              <a:off x="0" y="1103038"/>
              <a:ext cx="2927573" cy="926869"/>
              <a:chOff x="0" y="-514"/>
              <a:chExt cx="2927573" cy="926869"/>
            </a:xfrm>
            <a:grpFill/>
          </p:grpSpPr>
          <p:sp>
            <p:nvSpPr>
              <p:cNvPr id="88083" name="矩形 11"/>
              <p:cNvSpPr>
                <a:spLocks noChangeArrowheads="1"/>
              </p:cNvSpPr>
              <p:nvPr/>
            </p:nvSpPr>
            <p:spPr bwMode="auto">
              <a:xfrm>
                <a:off x="0" y="358172"/>
                <a:ext cx="2927573" cy="568183"/>
              </a:xfrm>
              <a:prstGeom prst="rect">
                <a:avLst/>
              </a:prstGeom>
              <a:grpFill/>
              <a:ln w="25400">
                <a:noFill/>
                <a:miter lim="800000"/>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400" dirty="0">
                    <a:latin typeface="Tahoma" panose="020B0604030504040204" pitchFamily="34" charset="0"/>
                    <a:ea typeface="黑体" panose="02010609060101010101" pitchFamily="49" charset="-122"/>
                  </a:rPr>
                  <a:t>满足后阶段所有需求</a:t>
                </a:r>
                <a:endParaRPr lang="en-US" altLang="zh-CN" sz="2400" dirty="0">
                  <a:latin typeface="Tahoma" panose="020B0604030504040204" pitchFamily="34" charset="0"/>
                  <a:ea typeface="黑体" panose="02010609060101010101" pitchFamily="49" charset="-122"/>
                </a:endParaRPr>
              </a:p>
            </p:txBody>
          </p:sp>
          <p:cxnSp>
            <p:nvCxnSpPr>
              <p:cNvPr id="88084" name="直接箭头连接符 3"/>
              <p:cNvCxnSpPr>
                <a:cxnSpLocks noChangeShapeType="1"/>
              </p:cNvCxnSpPr>
              <p:nvPr/>
            </p:nvCxnSpPr>
            <p:spPr bwMode="auto">
              <a:xfrm flipV="1">
                <a:off x="1734168" y="-514"/>
                <a:ext cx="617757" cy="358686"/>
              </a:xfrm>
              <a:prstGeom prst="straightConnector1">
                <a:avLst/>
              </a:prstGeom>
              <a:grpFill/>
              <a:ln w="9525">
                <a:noFill/>
                <a:round/>
                <a:tailEnd type="arrow" w="med" len="med"/>
              </a:ln>
              <a:extLst>
                <a:ext uri="{909E8E84-426E-40DD-AFC4-6F175D3DCCD1}">
                  <a14:hiddenFill xmlns:a14="http://schemas.microsoft.com/office/drawing/2010/main">
                    <a:noFill/>
                  </a14:hiddenFill>
                </a:ext>
              </a:extLst>
            </p:spPr>
          </p:cxnSp>
        </p:grpSp>
      </p:grpSp>
      <p:grpSp>
        <p:nvGrpSpPr>
          <p:cNvPr id="91143" name="组合 13"/>
          <p:cNvGrpSpPr/>
          <p:nvPr/>
        </p:nvGrpSpPr>
        <p:grpSpPr bwMode="auto">
          <a:xfrm>
            <a:off x="4765675" y="3124200"/>
            <a:ext cx="3344863" cy="2400300"/>
            <a:chOff x="-290695" y="0"/>
            <a:chExt cx="3345914" cy="2400463"/>
          </a:xfrm>
          <a:solidFill>
            <a:schemeClr val="bg2"/>
          </a:solidFill>
        </p:grpSpPr>
        <p:sp>
          <p:nvSpPr>
            <p:cNvPr id="88077" name="圆角矩形 4"/>
            <p:cNvSpPr>
              <a:spLocks noChangeArrowheads="1"/>
            </p:cNvSpPr>
            <p:nvPr/>
          </p:nvSpPr>
          <p:spPr bwMode="auto">
            <a:xfrm>
              <a:off x="47635" y="0"/>
              <a:ext cx="863773" cy="1103389"/>
            </a:xfrm>
            <a:prstGeom prst="roundRect">
              <a:avLst>
                <a:gd name="adj" fmla="val 16667"/>
              </a:avLst>
            </a:prstGeom>
            <a:grpFill/>
            <a:ln w="25400">
              <a:noFill/>
              <a:round/>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solidFill>
                  <a:srgbClr val="FFFFFF"/>
                </a:solidFill>
                <a:latin typeface="Tahoma" panose="020B0604030504040204" pitchFamily="34" charset="0"/>
                <a:ea typeface="黑体" panose="02010609060101010101" pitchFamily="49" charset="-122"/>
              </a:endParaRPr>
            </a:p>
          </p:txBody>
        </p:sp>
        <p:grpSp>
          <p:nvGrpSpPr>
            <p:cNvPr id="88078" name="组合 10"/>
            <p:cNvGrpSpPr/>
            <p:nvPr/>
          </p:nvGrpSpPr>
          <p:grpSpPr bwMode="auto">
            <a:xfrm>
              <a:off x="-290695" y="1103389"/>
              <a:ext cx="3345914" cy="1297074"/>
              <a:chOff x="-290695" y="-163"/>
              <a:chExt cx="3345914" cy="1297074"/>
            </a:xfrm>
            <a:grpFill/>
          </p:grpSpPr>
          <p:sp>
            <p:nvSpPr>
              <p:cNvPr id="88079" name="矩形 15"/>
              <p:cNvSpPr>
                <a:spLocks noChangeArrowheads="1"/>
              </p:cNvSpPr>
              <p:nvPr/>
            </p:nvSpPr>
            <p:spPr bwMode="auto">
              <a:xfrm>
                <a:off x="-290695" y="353872"/>
                <a:ext cx="3345914" cy="943039"/>
              </a:xfrm>
              <a:prstGeom prst="rect">
                <a:avLst/>
              </a:prstGeom>
              <a:grpFill/>
              <a:ln w="25400">
                <a:noFill/>
                <a:miter lim="800000"/>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400" i="1" dirty="0">
                    <a:latin typeface="Times New Roman" panose="02020603050405020304" pitchFamily="18" charset="0"/>
                    <a:ea typeface="黑体" panose="02010609060101010101" pitchFamily="49" charset="-122"/>
                    <a:cs typeface="Times New Roman" panose="02020603050405020304" pitchFamily="18" charset="0"/>
                  </a:rPr>
                  <a:t>v</a:t>
                </a:r>
                <a:r>
                  <a:rPr lang="en-US" altLang="zh-CN" sz="2400" i="1" baseline="-25000" dirty="0">
                    <a:latin typeface="Times New Roman" panose="02020603050405020304" pitchFamily="18" charset="0"/>
                    <a:ea typeface="黑体" panose="02010609060101010101" pitchFamily="49" charset="-122"/>
                    <a:cs typeface="Times New Roman" panose="02020603050405020304" pitchFamily="18" charset="0"/>
                  </a:rPr>
                  <a:t>k-</a:t>
                </a:r>
                <a:r>
                  <a:rPr lang="en-US" altLang="zh-CN" sz="2400" baseline="-25000" dirty="0">
                    <a:latin typeface="Times New Roman" panose="02020603050405020304" pitchFamily="18" charset="0"/>
                    <a:ea typeface="黑体" panose="02010609060101010101" pitchFamily="49" charset="-122"/>
                    <a:cs typeface="Times New Roman" panose="02020603050405020304" pitchFamily="18" charset="0"/>
                  </a:rPr>
                  <a:t>1</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时，满负荷生产</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400" i="1" dirty="0" err="1">
                    <a:latin typeface="Times New Roman" panose="02020603050405020304" pitchFamily="18" charset="0"/>
                    <a:ea typeface="黑体" panose="02010609060101010101" pitchFamily="49" charset="-122"/>
                    <a:cs typeface="Times New Roman" panose="02020603050405020304" pitchFamily="18" charset="0"/>
                  </a:rPr>
                  <a:t>x</a:t>
                </a:r>
                <a:r>
                  <a:rPr lang="en-US" altLang="zh-CN" sz="2400" i="1" baseline="-25000" dirty="0" err="1">
                    <a:latin typeface="Times New Roman" panose="02020603050405020304" pitchFamily="18" charset="0"/>
                    <a:ea typeface="黑体" panose="02010609060101010101" pitchFamily="49" charset="-122"/>
                    <a:cs typeface="Times New Roman" panose="02020603050405020304" pitchFamily="18" charset="0"/>
                  </a:rPr>
                  <a:t>k</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=m</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对应的</a:t>
                </a:r>
                <a:r>
                  <a:rPr lang="en-US" altLang="zh-CN" sz="2400" i="1" dirty="0" err="1">
                    <a:latin typeface="Times New Roman" panose="02020603050405020304" pitchFamily="18" charset="0"/>
                    <a:ea typeface="黑体" panose="02010609060101010101" pitchFamily="49" charset="-122"/>
                    <a:cs typeface="Times New Roman" panose="02020603050405020304" pitchFamily="18" charset="0"/>
                  </a:rPr>
                  <a:t>v</a:t>
                </a:r>
                <a:r>
                  <a:rPr lang="en-US" altLang="zh-CN" sz="2400" i="1" baseline="-25000" dirty="0" err="1">
                    <a:latin typeface="Times New Roman" panose="02020603050405020304" pitchFamily="18" charset="0"/>
                    <a:ea typeface="黑体" panose="02010609060101010101" pitchFamily="49" charset="-122"/>
                    <a:cs typeface="Times New Roman" panose="02020603050405020304" pitchFamily="18" charset="0"/>
                  </a:rPr>
                  <a:t>k</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i="1" dirty="0">
                    <a:latin typeface="Times New Roman" panose="02020603050405020304" pitchFamily="18" charset="0"/>
                    <a:ea typeface="黑体" panose="02010609060101010101" pitchFamily="49" charset="-122"/>
                    <a:cs typeface="Times New Roman" panose="02020603050405020304" pitchFamily="18" charset="0"/>
                  </a:rPr>
                  <a:t>m</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i="1" dirty="0" err="1">
                    <a:latin typeface="Times New Roman" panose="02020603050405020304" pitchFamily="18" charset="0"/>
                    <a:ea typeface="黑体" panose="02010609060101010101" pitchFamily="49" charset="-122"/>
                    <a:cs typeface="Times New Roman" panose="02020603050405020304" pitchFamily="18" charset="0"/>
                  </a:rPr>
                  <a:t>d</a:t>
                </a:r>
                <a:r>
                  <a:rPr lang="en-US" altLang="zh-CN" sz="2400" baseline="-25000" dirty="0" err="1">
                    <a:latin typeface="Times New Roman" panose="02020603050405020304" pitchFamily="18" charset="0"/>
                    <a:ea typeface="黑体" panose="02010609060101010101" pitchFamily="49" charset="-122"/>
                    <a:cs typeface="Times New Roman" panose="02020603050405020304" pitchFamily="18" charset="0"/>
                  </a:rPr>
                  <a:t>k</a:t>
                </a:r>
                <a:endParaRPr lang="zh-CN" altLang="en-US" sz="2400" baseline="-25000"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88080" name="直接箭头连接符 6"/>
              <p:cNvCxnSpPr>
                <a:cxnSpLocks noChangeShapeType="1"/>
                <a:stCxn id="88079" idx="0"/>
                <a:endCxn id="88077" idx="2"/>
              </p:cNvCxnSpPr>
              <p:nvPr/>
            </p:nvCxnSpPr>
            <p:spPr bwMode="auto">
              <a:xfrm flipH="1" flipV="1">
                <a:off x="479522" y="-163"/>
                <a:ext cx="902741" cy="354035"/>
              </a:xfrm>
              <a:prstGeom prst="straightConnector1">
                <a:avLst/>
              </a:prstGeom>
              <a:grpFill/>
              <a:ln w="9525">
                <a:noFill/>
                <a:round/>
                <a:tailEnd type="arrow" w="med" len="med"/>
              </a:ln>
              <a:extLst>
                <a:ext uri="{909E8E84-426E-40DD-AFC4-6F175D3DCCD1}">
                  <a14:hiddenFill xmlns:a14="http://schemas.microsoft.com/office/drawing/2010/main">
                    <a:noFill/>
                  </a14:hiddenFill>
                </a:ext>
              </a:extLst>
            </p:spPr>
          </p:cxnSp>
        </p:grpSp>
      </p:grpSp>
      <p:graphicFrame>
        <p:nvGraphicFramePr>
          <p:cNvPr id="88068" name="Object 12"/>
          <p:cNvGraphicFramePr>
            <a:graphicFrameLocks noChangeAspect="1"/>
          </p:cNvGraphicFramePr>
          <p:nvPr>
            <p:extLst>
              <p:ext uri="{D42A27DB-BD31-4B8C-83A1-F6EECF244321}">
                <p14:modId xmlns:p14="http://schemas.microsoft.com/office/powerpoint/2010/main" val="3758434624"/>
              </p:ext>
            </p:extLst>
          </p:nvPr>
        </p:nvGraphicFramePr>
        <p:xfrm>
          <a:off x="3119437" y="3217863"/>
          <a:ext cx="2979738" cy="968375"/>
        </p:xfrm>
        <a:graphic>
          <a:graphicData uri="http://schemas.openxmlformats.org/presentationml/2006/ole">
            <mc:AlternateContent xmlns:mc="http://schemas.openxmlformats.org/markup-compatibility/2006">
              <mc:Choice xmlns:v="urn:schemas-microsoft-com:vml" Requires="v">
                <p:oleObj r:id="rId2" imgW="1498600" imgH="482600" progId="Equation.DSMT4">
                  <p:embed/>
                </p:oleObj>
              </mc:Choice>
              <mc:Fallback>
                <p:oleObj r:id="rId2" imgW="1498600" imgH="482600" progId="Equation.DSMT4">
                  <p:embed/>
                  <p:pic>
                    <p:nvPicPr>
                      <p:cNvPr id="0" name="Object 12"/>
                      <p:cNvPicPr>
                        <a:picLocks noChangeAspect="1" noChangeArrowheads="1"/>
                      </p:cNvPicPr>
                      <p:nvPr/>
                    </p:nvPicPr>
                    <p:blipFill>
                      <a:blip r:embed="rId3">
                        <a:lum bright="-40000" contrast="-40000"/>
                        <a:extLst>
                          <a:ext uri="{28A0092B-C50C-407E-A947-70E740481C1C}">
                            <a14:useLocalDpi xmlns:a14="http://schemas.microsoft.com/office/drawing/2010/main" val="0"/>
                          </a:ext>
                        </a:extLst>
                      </a:blip>
                      <a:srcRect/>
                      <a:stretch>
                        <a:fillRect/>
                      </a:stretch>
                    </p:blipFill>
                    <p:spPr bwMode="auto">
                      <a:xfrm>
                        <a:off x="3119437" y="3217863"/>
                        <a:ext cx="2979738"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8069" name="Rectangle 14"/>
          <p:cNvSpPr>
            <a:spLocks noChangeArrowheads="1"/>
          </p:cNvSpPr>
          <p:nvPr/>
        </p:nvSpPr>
        <p:spPr bwMode="auto">
          <a:xfrm>
            <a:off x="3333750" y="3649663"/>
            <a:ext cx="269875"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en-US" altLang="zh-CN" sz="2400">
                <a:latin typeface="Arial" panose="020B0604020202020204" pitchFamily="34" charset="0"/>
                <a:cs typeface="Times New Roman" panose="02020603050405020304" pitchFamily="18" charset="0"/>
              </a:rPr>
              <a:t> </a:t>
            </a:r>
            <a:endParaRPr lang="en-US" altLang="zh-CN" sz="2400">
              <a:latin typeface="Arial" panose="020B0604020202020204" pitchFamily="34" charset="0"/>
            </a:endParaRPr>
          </a:p>
        </p:txBody>
      </p:sp>
      <p:sp>
        <p:nvSpPr>
          <p:cNvPr id="88070" name="Rectangle 16"/>
          <p:cNvSpPr>
            <a:spLocks noChangeArrowheads="1"/>
          </p:cNvSpPr>
          <p:nvPr/>
        </p:nvSpPr>
        <p:spPr bwMode="auto">
          <a:xfrm>
            <a:off x="709613" y="5555933"/>
            <a:ext cx="784860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zh-CN" altLang="en-US" sz="2400" b="1">
                <a:latin typeface="Times New Roman" panose="02020603050405020304" pitchFamily="18" charset="0"/>
                <a:cs typeface="Times New Roman" panose="02020603050405020304" pitchFamily="18" charset="0"/>
              </a:rPr>
              <a:t>之间的值，最后求得的</a:t>
            </a:r>
            <a:r>
              <a:rPr lang="en-US" altLang="zh-CN" sz="2400" b="1" i="1">
                <a:latin typeface="Times New Roman" panose="02020603050405020304" pitchFamily="18" charset="0"/>
                <a:cs typeface="Times New Roman" panose="02020603050405020304" pitchFamily="18" charset="0"/>
              </a:rPr>
              <a:t>f</a:t>
            </a:r>
            <a:r>
              <a:rPr lang="en-US" altLang="zh-CN" sz="2400" b="1" i="1" baseline="-25000">
                <a:latin typeface="Times New Roman" panose="02020603050405020304" pitchFamily="18" charset="0"/>
                <a:cs typeface="Times New Roman" panose="02020603050405020304" pitchFamily="18" charset="0"/>
              </a:rPr>
              <a:t>n</a:t>
            </a:r>
            <a:r>
              <a:rPr lang="en-US" altLang="zh-CN" sz="2400" b="1">
                <a:latin typeface="Times New Roman" panose="02020603050405020304" pitchFamily="18" charset="0"/>
                <a:cs typeface="Times New Roman" panose="02020603050405020304" pitchFamily="18" charset="0"/>
              </a:rPr>
              <a:t>(0)</a:t>
            </a:r>
            <a:r>
              <a:rPr lang="zh-CN" altLang="en-US" sz="2400" b="1">
                <a:latin typeface="Times New Roman" panose="02020603050405020304" pitchFamily="18" charset="0"/>
                <a:cs typeface="Times New Roman" panose="02020603050405020304" pitchFamily="18" charset="0"/>
              </a:rPr>
              <a:t>即为所求的最小总费用。</a:t>
            </a:r>
          </a:p>
        </p:txBody>
      </p:sp>
      <p:sp>
        <p:nvSpPr>
          <p:cNvPr id="88074"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0BE96AA8-7AC5-497A-9F68-F005A0C820E0}" type="slidenum">
              <a:rPr lang="en-US" altLang="zh-CN" sz="1400">
                <a:latin typeface="Times New Roman" panose="02020603050405020304" pitchFamily="18" charset="0"/>
              </a:rPr>
              <a:t>12</a:t>
            </a:fld>
            <a:endParaRPr lang="en-US" altLang="zh-CN" sz="1400">
              <a:latin typeface="Times New Roman" panose="02020603050405020304" pitchFamily="18" charset="0"/>
            </a:endParaRPr>
          </a:p>
        </p:txBody>
      </p:sp>
      <p:sp>
        <p:nvSpPr>
          <p:cNvPr id="88075" name="矩形 8"/>
          <p:cNvSpPr>
            <a:spLocks noChangeArrowheads="1"/>
          </p:cNvSpPr>
          <p:nvPr/>
        </p:nvSpPr>
        <p:spPr bwMode="auto">
          <a:xfrm>
            <a:off x="593725" y="1758335"/>
            <a:ext cx="4194175" cy="573088"/>
          </a:xfrm>
          <a:prstGeom prst="rect">
            <a:avLst/>
          </a:prstGeom>
          <a:solidFill>
            <a:schemeClr val="bg2"/>
          </a:solidFill>
          <a:ln w="25400">
            <a:noFill/>
            <a:miter lim="800000"/>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确定</a:t>
            </a:r>
            <a:r>
              <a:rPr lang="en-US" altLang="zh-CN" sz="2400" i="1" dirty="0">
                <a:latin typeface="Times New Roman" panose="02020603050405020304" pitchFamily="18" charset="0"/>
                <a:ea typeface="黑体" panose="02010609060101010101" pitchFamily="49" charset="-122"/>
                <a:cs typeface="Times New Roman" panose="02020603050405020304" pitchFamily="18" charset="0"/>
              </a:rPr>
              <a:t>k</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阶段的可达状态集合</a:t>
            </a:r>
          </a:p>
        </p:txBody>
      </p:sp>
      <p:sp>
        <p:nvSpPr>
          <p:cNvPr id="88076" name="Rectangle 2"/>
          <p:cNvSpPr>
            <a:spLocks noGrp="1" noChangeArrowheads="1"/>
          </p:cNvSpPr>
          <p:nvPr>
            <p:ph type="title" idx="4294967295"/>
          </p:nvPr>
        </p:nvSpPr>
        <p:spPr>
          <a:xfrm>
            <a:off x="593725" y="685800"/>
            <a:ext cx="5778500" cy="758825"/>
          </a:xfrm>
        </p:spPr>
        <p:txBody>
          <a:bodyPr/>
          <a:lstStyle/>
          <a:p>
            <a:pPr eaLnBrk="1" hangingPunct="1"/>
            <a:r>
              <a:rPr lang="zh-CN" altLang="zh-CN" sz="4000" u="sng" dirty="0">
                <a:solidFill>
                  <a:schemeClr val="hlink"/>
                </a:solidFill>
              </a:rPr>
              <a:t>动态规划模型</a:t>
            </a:r>
          </a:p>
        </p:txBody>
      </p:sp>
      <p:sp>
        <p:nvSpPr>
          <p:cNvPr id="2" name="文本框 1">
            <a:extLst>
              <a:ext uri="{FF2B5EF4-FFF2-40B4-BE49-F238E27FC236}">
                <a16:creationId xmlns:a16="http://schemas.microsoft.com/office/drawing/2014/main" id="{F7ACC4F5-26A1-2125-A622-3FB50AC48DCD}"/>
              </a:ext>
            </a:extLst>
          </p:cNvPr>
          <p:cNvSpPr txBox="1"/>
          <p:nvPr/>
        </p:nvSpPr>
        <p:spPr>
          <a:xfrm>
            <a:off x="6372225" y="3059668"/>
            <a:ext cx="1933575" cy="369332"/>
          </a:xfrm>
          <a:prstGeom prst="rect">
            <a:avLst/>
          </a:prstGeom>
          <a:solidFill>
            <a:schemeClr val="accent2">
              <a:lumMod val="20000"/>
              <a:lumOff val="80000"/>
            </a:schemeClr>
          </a:solidFill>
          <a:ln>
            <a:noFill/>
          </a:ln>
        </p:spPr>
        <p:txBody>
          <a:bodyPr wrap="square" rtlCol="0">
            <a:spAutoFit/>
          </a:bodyPr>
          <a:lstStyle/>
          <a:p>
            <a:r>
              <a:rPr lang="zh-CN" altLang="en-US" dirty="0"/>
              <a:t>需要考虑加上</a:t>
            </a:r>
            <a:r>
              <a:rPr lang="en-US" altLang="zh-CN" i="1" dirty="0">
                <a:latin typeface="Times New Roman" panose="02020603050405020304" pitchFamily="18" charset="0"/>
                <a:cs typeface="Times New Roman" panose="02020603050405020304" pitchFamily="18" charset="0"/>
              </a:rPr>
              <a:t>v</a:t>
            </a:r>
            <a:r>
              <a:rPr lang="en-US" altLang="zh-CN" i="1" baseline="-25000" dirty="0">
                <a:latin typeface="Times New Roman" panose="02020603050405020304" pitchFamily="18" charset="0"/>
                <a:cs typeface="Times New Roman" panose="02020603050405020304" pitchFamily="18" charset="0"/>
              </a:rPr>
              <a:t>k-1</a:t>
            </a:r>
            <a:endParaRPr lang="zh-CN" altLang="en-US" i="1" baseline="-25000" dirty="0">
              <a:latin typeface="Times New Roman" panose="02020603050405020304" pitchFamily="18" charset="0"/>
              <a:cs typeface="Times New Roman" panose="02020603050405020304" pitchFamily="18" charset="0"/>
            </a:endParaRPr>
          </a:p>
        </p:txBody>
      </p:sp>
      <p:cxnSp>
        <p:nvCxnSpPr>
          <p:cNvPr id="4" name="直接箭头连接符 3">
            <a:extLst>
              <a:ext uri="{FF2B5EF4-FFF2-40B4-BE49-F238E27FC236}">
                <a16:creationId xmlns:a16="http://schemas.microsoft.com/office/drawing/2014/main" id="{626C1CAA-1FF1-4B7E-537F-25F6984160CA}"/>
              </a:ext>
            </a:extLst>
          </p:cNvPr>
          <p:cNvCxnSpPr>
            <a:cxnSpLocks/>
          </p:cNvCxnSpPr>
          <p:nvPr/>
        </p:nvCxnSpPr>
        <p:spPr>
          <a:xfrm flipH="1">
            <a:off x="5638800" y="3217863"/>
            <a:ext cx="657225" cy="16473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1138"/>
                                        </p:tgtEl>
                                        <p:attrNameLst>
                                          <p:attrName>style.visibility</p:attrName>
                                        </p:attrNameLst>
                                      </p:cBhvr>
                                      <p:to>
                                        <p:strVal val="visible"/>
                                      </p:to>
                                    </p:set>
                                    <p:anim calcmode="lin" valueType="num">
                                      <p:cBhvr additive="base">
                                        <p:cTn id="7" dur="500" fill="hold"/>
                                        <p:tgtEl>
                                          <p:spTgt spid="91138"/>
                                        </p:tgtEl>
                                        <p:attrNameLst>
                                          <p:attrName>ppt_x</p:attrName>
                                        </p:attrNameLst>
                                      </p:cBhvr>
                                      <p:tavLst>
                                        <p:tav tm="0">
                                          <p:val>
                                            <p:strVal val="#ppt_x"/>
                                          </p:val>
                                        </p:tav>
                                        <p:tav tm="100000">
                                          <p:val>
                                            <p:strVal val="#ppt_x"/>
                                          </p:val>
                                        </p:tav>
                                      </p:tavLst>
                                    </p:anim>
                                    <p:anim calcmode="lin" valueType="num">
                                      <p:cBhvr additive="base">
                                        <p:cTn id="8" dur="500" fill="hold"/>
                                        <p:tgtEl>
                                          <p:spTgt spid="9113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91143"/>
                                        </p:tgtEl>
                                        <p:attrNameLst>
                                          <p:attrName>style.visibility</p:attrName>
                                        </p:attrNameLst>
                                      </p:cBhvr>
                                      <p:to>
                                        <p:strVal val="visible"/>
                                      </p:to>
                                    </p:set>
                                    <p:anim calcmode="lin" valueType="num">
                                      <p:cBhvr additive="base">
                                        <p:cTn id="12" dur="500" fill="hold"/>
                                        <p:tgtEl>
                                          <p:spTgt spid="91143"/>
                                        </p:tgtEl>
                                        <p:attrNameLst>
                                          <p:attrName>ppt_x</p:attrName>
                                        </p:attrNameLst>
                                      </p:cBhvr>
                                      <p:tavLst>
                                        <p:tav tm="0">
                                          <p:val>
                                            <p:strVal val="#ppt_x"/>
                                          </p:val>
                                        </p:tav>
                                        <p:tav tm="100000">
                                          <p:val>
                                            <p:strVal val="#ppt_x"/>
                                          </p:val>
                                        </p:tav>
                                      </p:tavLst>
                                    </p:anim>
                                    <p:anim calcmode="lin" valueType="num">
                                      <p:cBhvr additive="base">
                                        <p:cTn id="13" dur="500" fill="hold"/>
                                        <p:tgtEl>
                                          <p:spTgt spid="9114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1000"/>
                                        <p:tgtEl>
                                          <p:spTgt spid="4"/>
                                        </p:tgtEl>
                                      </p:cBhvr>
                                    </p:animEffect>
                                    <p:anim calcmode="lin" valueType="num">
                                      <p:cBhvr>
                                        <p:cTn id="19" dur="1000" fill="hold"/>
                                        <p:tgtEl>
                                          <p:spTgt spid="4"/>
                                        </p:tgtEl>
                                        <p:attrNameLst>
                                          <p:attrName>ppt_x</p:attrName>
                                        </p:attrNameLst>
                                      </p:cBhvr>
                                      <p:tavLst>
                                        <p:tav tm="0">
                                          <p:val>
                                            <p:strVal val="#ppt_x"/>
                                          </p:val>
                                        </p:tav>
                                        <p:tav tm="100000">
                                          <p:val>
                                            <p:strVal val="#ppt_x"/>
                                          </p:val>
                                        </p:tav>
                                      </p:tavLst>
                                    </p:anim>
                                    <p:anim calcmode="lin" valueType="num">
                                      <p:cBhvr>
                                        <p:cTn id="20" dur="1000" fill="hold"/>
                                        <p:tgtEl>
                                          <p:spTgt spid="4"/>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1000"/>
                                        <p:tgtEl>
                                          <p:spTgt spid="2"/>
                                        </p:tgtEl>
                                      </p:cBhvr>
                                    </p:animEffect>
                                    <p:anim calcmode="lin" valueType="num">
                                      <p:cBhvr>
                                        <p:cTn id="24" dur="1000" fill="hold"/>
                                        <p:tgtEl>
                                          <p:spTgt spid="2"/>
                                        </p:tgtEl>
                                        <p:attrNameLst>
                                          <p:attrName>ppt_x</p:attrName>
                                        </p:attrNameLst>
                                      </p:cBhvr>
                                      <p:tavLst>
                                        <p:tav tm="0">
                                          <p:val>
                                            <p:strVal val="#ppt_x"/>
                                          </p:val>
                                        </p:tav>
                                        <p:tav tm="100000">
                                          <p:val>
                                            <p:strVal val="#ppt_x"/>
                                          </p:val>
                                        </p:tav>
                                      </p:tavLst>
                                    </p:anim>
                                    <p:anim calcmode="lin" valueType="num">
                                      <p:cBhvr>
                                        <p:cTn id="2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p:cNvSpPr>
            <a:spLocks noChangeArrowheads="1"/>
          </p:cNvSpPr>
          <p:nvPr/>
        </p:nvSpPr>
        <p:spPr bwMode="auto">
          <a:xfrm>
            <a:off x="682625" y="1746250"/>
            <a:ext cx="7777163" cy="168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zh-CN" altLang="en-US" sz="2400" b="1" u="sng" dirty="0">
                <a:cs typeface="Times New Roman" panose="02020603050405020304" pitchFamily="18" charset="0"/>
              </a:rPr>
              <a:t>例</a:t>
            </a:r>
            <a:r>
              <a:rPr lang="en-US" altLang="zh-CN" sz="2400" b="1" u="sng" dirty="0">
                <a:cs typeface="Times New Roman" panose="02020603050405020304" pitchFamily="18" charset="0"/>
              </a:rPr>
              <a:t>3</a:t>
            </a:r>
            <a:r>
              <a:rPr lang="en-US" altLang="zh-CN" sz="2400" b="1" dirty="0">
                <a:latin typeface="宋体" panose="02010600030101010101" pitchFamily="2" charset="-122"/>
                <a:cs typeface="Times New Roman" panose="02020603050405020304" pitchFamily="18" charset="0"/>
              </a:rPr>
              <a:t> </a:t>
            </a:r>
            <a:r>
              <a:rPr lang="zh-CN" altLang="en-US" sz="2400" b="1" dirty="0">
                <a:latin typeface="宋体" panose="02010600030101010101" pitchFamily="2" charset="-122"/>
                <a:cs typeface="Times New Roman" panose="02020603050405020304" pitchFamily="18" charset="0"/>
              </a:rPr>
              <a:t>某工厂要对一种产品制订今后</a:t>
            </a:r>
            <a:r>
              <a:rPr lang="zh-CN" altLang="en-US" sz="2400" b="1" dirty="0">
                <a:highlight>
                  <a:srgbClr val="FFFF00"/>
                </a:highlight>
                <a:latin typeface="宋体" panose="02010600030101010101" pitchFamily="2" charset="-122"/>
                <a:cs typeface="Times New Roman" panose="02020603050405020304" pitchFamily="18" charset="0"/>
              </a:rPr>
              <a:t>四个时期</a:t>
            </a:r>
            <a:r>
              <a:rPr lang="zh-CN" altLang="en-US" sz="2400" b="1" dirty="0">
                <a:latin typeface="宋体" panose="02010600030101010101" pitchFamily="2" charset="-122"/>
                <a:cs typeface="Times New Roman" panose="02020603050405020304" pitchFamily="18" charset="0"/>
              </a:rPr>
              <a:t>的</a:t>
            </a:r>
            <a:r>
              <a:rPr lang="zh-CN" altLang="en-US" sz="2400" b="1" dirty="0">
                <a:highlight>
                  <a:srgbClr val="FFFF00"/>
                </a:highlight>
                <a:latin typeface="宋体" panose="02010600030101010101" pitchFamily="2" charset="-122"/>
                <a:cs typeface="Times New Roman" panose="02020603050405020304" pitchFamily="18" charset="0"/>
              </a:rPr>
              <a:t>生产计划</a:t>
            </a:r>
            <a:r>
              <a:rPr lang="zh-CN" altLang="en-US" sz="2400" b="1" dirty="0">
                <a:latin typeface="宋体" panose="02010600030101010101" pitchFamily="2" charset="-122"/>
                <a:cs typeface="Times New Roman" panose="02020603050405020304" pitchFamily="18" charset="0"/>
              </a:rPr>
              <a:t>，据估计在今后四个时期内，市场对于该产品的需求量如</a:t>
            </a:r>
            <a:r>
              <a:rPr lang="zh-CN" altLang="en-US" sz="2400" b="1" dirty="0">
                <a:solidFill>
                  <a:srgbClr val="C00000"/>
                </a:solidFill>
                <a:latin typeface="宋体" panose="02010600030101010101" pitchFamily="2" charset="-122"/>
                <a:cs typeface="Times New Roman" panose="02020603050405020304" pitchFamily="18" charset="0"/>
              </a:rPr>
              <a:t>表</a:t>
            </a:r>
            <a:r>
              <a:rPr lang="en-US" altLang="zh-CN" sz="2400" b="1" dirty="0">
                <a:solidFill>
                  <a:srgbClr val="C00000"/>
                </a:solidFill>
                <a:cs typeface="Times New Roman" panose="02020603050405020304" pitchFamily="18" charset="0"/>
              </a:rPr>
              <a:t>5</a:t>
            </a:r>
            <a:r>
              <a:rPr lang="zh-CN" altLang="en-US" sz="2400" b="1" dirty="0">
                <a:latin typeface="宋体" panose="02010600030101010101" pitchFamily="2" charset="-122"/>
                <a:cs typeface="Times New Roman" panose="02020603050405020304" pitchFamily="18" charset="0"/>
              </a:rPr>
              <a:t>所示。</a:t>
            </a:r>
            <a:endParaRPr lang="zh-CN" altLang="en-US" sz="2400" b="1" dirty="0">
              <a:latin typeface="宋体" panose="02010600030101010101" pitchFamily="2" charset="-122"/>
            </a:endParaRPr>
          </a:p>
        </p:txBody>
      </p:sp>
      <p:graphicFrame>
        <p:nvGraphicFramePr>
          <p:cNvPr id="92164" name="Group 4"/>
          <p:cNvGraphicFramePr>
            <a:graphicFrameLocks noGrp="1"/>
          </p:cNvGraphicFramePr>
          <p:nvPr/>
        </p:nvGraphicFramePr>
        <p:xfrm>
          <a:off x="1025525" y="4292600"/>
          <a:ext cx="7127875" cy="1000062"/>
        </p:xfrm>
        <a:graphic>
          <a:graphicData uri="http://schemas.openxmlformats.org/drawingml/2006/table">
            <a:tbl>
              <a:tblPr/>
              <a:tblGrid>
                <a:gridCol w="18288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36675">
                  <a:extLst>
                    <a:ext uri="{9D8B030D-6E8A-4147-A177-3AD203B41FA5}">
                      <a16:colId xmlns:a16="http://schemas.microsoft.com/office/drawing/2014/main" val="20004"/>
                    </a:ext>
                  </a:extLst>
                </a:gridCol>
              </a:tblGrid>
              <a:tr h="457200">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时期</a:t>
                      </a:r>
                      <a:r>
                        <a:rPr kumimoji="0" lang="en-US"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en-US" sz="2400" b="1"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r>
                        <a:rPr kumimoji="0" lang="en-US"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sz="2400" b="1"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0"/>
                  </a:ext>
                </a:extLst>
              </a:tr>
              <a:tr h="508000">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需求量</a:t>
                      </a:r>
                      <a:r>
                        <a:rPr kumimoji="0" lang="en-US"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en-US" sz="2400" b="1" i="1"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en-US" sz="2400" b="1" i="1" u="none" strike="noStrike" cap="none" normalizeH="0" baseline="-2500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r>
                        <a:rPr kumimoji="0" lang="en-US"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sz="2400" b="1"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1"/>
                  </a:ext>
                </a:extLst>
              </a:tr>
            </a:tbl>
          </a:graphicData>
        </a:graphic>
      </p:graphicFrame>
      <p:sp>
        <p:nvSpPr>
          <p:cNvPr id="89112" name="Rectangle 25"/>
          <p:cNvSpPr>
            <a:spLocks noChangeArrowheads="1"/>
          </p:cNvSpPr>
          <p:nvPr/>
        </p:nvSpPr>
        <p:spPr bwMode="auto">
          <a:xfrm>
            <a:off x="3851275" y="3475037"/>
            <a:ext cx="2089150" cy="569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47675" indent="-4476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50000"/>
              </a:lnSpc>
            </a:pPr>
            <a:r>
              <a:rPr lang="zh-CN" altLang="en-US" sz="2400" b="1" dirty="0">
                <a:latin typeface="Arial" panose="020B0604020202020204" pitchFamily="34" charset="0"/>
              </a:rPr>
              <a:t>表</a:t>
            </a:r>
            <a:r>
              <a:rPr lang="en-US" altLang="zh-CN" sz="2400" b="1" dirty="0"/>
              <a:t>5</a:t>
            </a:r>
          </a:p>
        </p:txBody>
      </p:sp>
      <p:sp>
        <p:nvSpPr>
          <p:cNvPr id="89114"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9D285B37-A92B-4D17-9257-2B981F5B000E}" type="slidenum">
              <a:rPr lang="en-US" altLang="zh-CN" sz="1400">
                <a:latin typeface="Times New Roman" panose="02020603050405020304" pitchFamily="18" charset="0"/>
              </a:rPr>
              <a:t>13</a:t>
            </a:fld>
            <a:endParaRPr lang="en-US" altLang="zh-CN" sz="1400">
              <a:latin typeface="Times New Roman" panose="02020603050405020304" pitchFamily="18" charset="0"/>
            </a:endParaRPr>
          </a:p>
        </p:txBody>
      </p:sp>
      <p:sp>
        <p:nvSpPr>
          <p:cNvPr id="7" name="标题 1"/>
          <p:cNvSpPr txBox="1"/>
          <p:nvPr>
            <p:custDataLst>
              <p:tags r:id="rId1"/>
            </p:custDataLst>
          </p:nvPr>
        </p:nvSpPr>
        <p:spPr>
          <a:xfrm>
            <a:off x="530225" y="894715"/>
            <a:ext cx="5184775" cy="576580"/>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en-US" sz="3600" b="1" kern="0" dirty="0"/>
              <a:t>生产计划问题 </a:t>
            </a:r>
            <a:r>
              <a:rPr lang="en-US" altLang="zh-CN" sz="3600" b="1" kern="0" dirty="0"/>
              <a:t>– </a:t>
            </a:r>
            <a:r>
              <a:rPr lang="zh-CN" altLang="en-US" sz="3600" b="1" kern="0" dirty="0"/>
              <a:t>例</a:t>
            </a:r>
            <a:r>
              <a:rPr lang="en-US" altLang="zh-CN" sz="3600" b="1" kern="0" dirty="0"/>
              <a:t>3</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4"/>
          <p:cNvSpPr>
            <a:spLocks noChangeArrowheads="1"/>
          </p:cNvSpPr>
          <p:nvPr/>
        </p:nvSpPr>
        <p:spPr bwMode="auto">
          <a:xfrm>
            <a:off x="620713" y="1600805"/>
            <a:ext cx="7991475" cy="4523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342900" indent="-342900" algn="just">
              <a:lnSpc>
                <a:spcPct val="150000"/>
              </a:lnSpc>
              <a:buClr>
                <a:srgbClr val="C00000"/>
              </a:buClr>
              <a:buFont typeface="Wingdings" panose="05000000000000000000" pitchFamily="2" charset="2"/>
              <a:buChar char="p"/>
            </a:pPr>
            <a:r>
              <a:rPr lang="zh-CN" altLang="en-US" sz="2400" b="1" dirty="0">
                <a:solidFill>
                  <a:srgbClr val="FF0000"/>
                </a:solidFill>
                <a:latin typeface="Times New Roman" panose="02020603050405020304" pitchFamily="18" charset="0"/>
                <a:cs typeface="Times New Roman" panose="02020603050405020304" pitchFamily="18" charset="0"/>
              </a:rPr>
              <a:t>假定</a:t>
            </a:r>
            <a:r>
              <a:rPr lang="zh-CN" altLang="en-US" sz="2400" b="1" dirty="0">
                <a:latin typeface="Times New Roman" panose="02020603050405020304" pitchFamily="18" charset="0"/>
                <a:cs typeface="Times New Roman" panose="02020603050405020304" pitchFamily="18" charset="0"/>
              </a:rPr>
              <a:t>：该厂生产每批产品的固定成本为</a:t>
            </a:r>
            <a:r>
              <a:rPr lang="en-US" altLang="zh-CN" sz="2400" b="1" dirty="0">
                <a:latin typeface="Times New Roman" panose="02020603050405020304" pitchFamily="18" charset="0"/>
                <a:cs typeface="Times New Roman" panose="02020603050405020304" pitchFamily="18" charset="0"/>
              </a:rPr>
              <a:t>3</a:t>
            </a:r>
            <a:r>
              <a:rPr lang="zh-CN" altLang="en-US" sz="2400" b="1" dirty="0">
                <a:latin typeface="Times New Roman" panose="02020603050405020304" pitchFamily="18" charset="0"/>
                <a:cs typeface="Times New Roman" panose="02020603050405020304" pitchFamily="18" charset="0"/>
              </a:rPr>
              <a:t>千元，若不生产就为</a:t>
            </a:r>
            <a:r>
              <a:rPr lang="en-US" altLang="zh-CN" sz="2400" b="1"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；每单位产品成本为</a:t>
            </a: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千元；每个时期生产能力所允许的最大生产批量为不超过</a:t>
            </a:r>
            <a:r>
              <a:rPr lang="en-US" altLang="zh-CN" sz="2400" b="1" dirty="0">
                <a:latin typeface="Times New Roman" panose="02020603050405020304" pitchFamily="18" charset="0"/>
                <a:cs typeface="Times New Roman" panose="02020603050405020304" pitchFamily="18" charset="0"/>
              </a:rPr>
              <a:t>6</a:t>
            </a:r>
            <a:r>
              <a:rPr lang="zh-CN" altLang="en-US" sz="2400" b="1" dirty="0">
                <a:latin typeface="Times New Roman" panose="02020603050405020304" pitchFamily="18" charset="0"/>
                <a:cs typeface="Times New Roman" panose="02020603050405020304" pitchFamily="18" charset="0"/>
              </a:rPr>
              <a:t>个单位；每个时期末未售出的产品，每单位需付存储费</a:t>
            </a:r>
            <a:r>
              <a:rPr lang="en-US" altLang="zh-CN" sz="2400" b="1" dirty="0">
                <a:latin typeface="Times New Roman" panose="02020603050405020304" pitchFamily="18" charset="0"/>
                <a:cs typeface="Times New Roman" panose="02020603050405020304" pitchFamily="18" charset="0"/>
              </a:rPr>
              <a:t>0.5</a:t>
            </a:r>
            <a:r>
              <a:rPr lang="zh-CN" altLang="en-US" sz="2400" b="1" dirty="0">
                <a:latin typeface="Times New Roman" panose="02020603050405020304" pitchFamily="18" charset="0"/>
                <a:cs typeface="Times New Roman" panose="02020603050405020304" pitchFamily="18" charset="0"/>
              </a:rPr>
              <a:t>千元。</a:t>
            </a:r>
            <a:endParaRPr lang="en-US" altLang="zh-CN" sz="2400" b="1" dirty="0">
              <a:latin typeface="Times New Roman" panose="02020603050405020304" pitchFamily="18" charset="0"/>
              <a:cs typeface="Times New Roman" panose="02020603050405020304" pitchFamily="18" charset="0"/>
            </a:endParaRPr>
          </a:p>
          <a:p>
            <a:pPr marL="342900" indent="-342900" algn="just">
              <a:lnSpc>
                <a:spcPct val="150000"/>
              </a:lnSpc>
              <a:buClr>
                <a:srgbClr val="C00000"/>
              </a:buClr>
              <a:buFont typeface="Wingdings" panose="05000000000000000000" pitchFamily="2" charset="2"/>
              <a:buChar char="p"/>
            </a:pPr>
            <a:r>
              <a:rPr lang="zh-CN" altLang="en-US" sz="2400" b="1" dirty="0">
                <a:solidFill>
                  <a:srgbClr val="FF0000"/>
                </a:solidFill>
                <a:latin typeface="Times New Roman" panose="02020603050405020304" pitchFamily="18" charset="0"/>
                <a:cs typeface="Times New Roman" panose="02020603050405020304" pitchFamily="18" charset="0"/>
              </a:rPr>
              <a:t>还假定</a:t>
            </a:r>
            <a:r>
              <a:rPr lang="zh-CN" altLang="en-US" sz="2400" b="1" dirty="0">
                <a:latin typeface="Times New Roman" panose="02020603050405020304" pitchFamily="18" charset="0"/>
                <a:cs typeface="Times New Roman" panose="02020603050405020304" pitchFamily="18" charset="0"/>
              </a:rPr>
              <a:t>：在第一个时期的初始库存量为</a:t>
            </a:r>
            <a:r>
              <a:rPr lang="en-US" altLang="zh-CN" sz="2400" b="1"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，第四个时期之末的库存量也为</a:t>
            </a:r>
            <a:r>
              <a:rPr lang="en-US" altLang="zh-CN" sz="2400" b="1"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marL="342900" indent="-342900" algn="just">
              <a:lnSpc>
                <a:spcPct val="150000"/>
              </a:lnSpc>
              <a:buClr>
                <a:srgbClr val="C00000"/>
              </a:buClr>
              <a:buFont typeface="Wingdings" panose="05000000000000000000" pitchFamily="2" charset="2"/>
              <a:buChar char="p"/>
            </a:pPr>
            <a:r>
              <a:rPr lang="zh-CN" altLang="en-US" sz="2400" b="1" dirty="0">
                <a:solidFill>
                  <a:srgbClr val="FF0000"/>
                </a:solidFill>
                <a:latin typeface="Times New Roman" panose="02020603050405020304" pitchFamily="18" charset="0"/>
                <a:cs typeface="Times New Roman" panose="02020603050405020304" pitchFamily="18" charset="0"/>
              </a:rPr>
              <a:t>试问</a:t>
            </a:r>
            <a:r>
              <a:rPr lang="zh-CN" altLang="en-US" sz="2400" b="1" dirty="0">
                <a:latin typeface="Times New Roman" panose="02020603050405020304" pitchFamily="18" charset="0"/>
                <a:cs typeface="Times New Roman" panose="02020603050405020304" pitchFamily="18" charset="0"/>
              </a:rPr>
              <a:t>：该厂应如何安排各个时期的生产与库存，才能在满足市场需要的条件下，使</a:t>
            </a:r>
            <a:r>
              <a:rPr lang="zh-CN" altLang="en-US" sz="2400" b="1" dirty="0">
                <a:solidFill>
                  <a:srgbClr val="FF0000"/>
                </a:solidFill>
                <a:latin typeface="Times New Roman" panose="02020603050405020304" pitchFamily="18" charset="0"/>
                <a:cs typeface="Times New Roman" panose="02020603050405020304" pitchFamily="18" charset="0"/>
              </a:rPr>
              <a:t>总成本最小</a:t>
            </a:r>
            <a:r>
              <a:rPr lang="zh-CN" altLang="en-US" sz="2400" b="1" dirty="0">
                <a:latin typeface="Times New Roman" panose="02020603050405020304" pitchFamily="18" charset="0"/>
                <a:cs typeface="Times New Roman" panose="02020603050405020304" pitchFamily="18" charset="0"/>
              </a:rPr>
              <a:t>。</a:t>
            </a:r>
          </a:p>
        </p:txBody>
      </p:sp>
      <p:sp>
        <p:nvSpPr>
          <p:cNvPr id="90115" name="日期占位符 1"/>
          <p:cNvSpPr txBox="1">
            <a:spLocks noGrp="1" noChangeArrowheads="1"/>
          </p:cNvSpPr>
          <p:nvPr/>
        </p:nvSpPr>
        <p:spPr bwMode="auto">
          <a:xfrm>
            <a:off x="11620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fld id="{C5BB1FA2-07FC-442E-B9F8-EA45A22CFE14}" type="datetime1">
              <a:rPr lang="zh-CN" altLang="en-US" sz="1400">
                <a:latin typeface="Times New Roman" panose="02020603050405020304" pitchFamily="18" charset="0"/>
              </a:rPr>
              <a:t>2024/12/15</a:t>
            </a:fld>
            <a:endParaRPr lang="en-US" altLang="zh-CN" sz="1400">
              <a:latin typeface="Times New Roman" panose="02020603050405020304" pitchFamily="18" charset="0"/>
            </a:endParaRPr>
          </a:p>
        </p:txBody>
      </p:sp>
      <p:sp>
        <p:nvSpPr>
          <p:cNvPr id="90116"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3D8CF5D0-F55F-4BB3-8B56-FDF80FC1C50A}" type="slidenum">
              <a:rPr lang="en-US" altLang="zh-CN" sz="1400">
                <a:latin typeface="Times New Roman" panose="02020603050405020304" pitchFamily="18" charset="0"/>
              </a:rPr>
              <a:t>14</a:t>
            </a:fld>
            <a:endParaRPr lang="en-US" altLang="zh-CN" sz="1400">
              <a:latin typeface="Times New Roman" panose="02020603050405020304" pitchFamily="18" charset="0"/>
            </a:endParaRPr>
          </a:p>
        </p:txBody>
      </p:sp>
      <p:sp>
        <p:nvSpPr>
          <p:cNvPr id="7" name="标题 1"/>
          <p:cNvSpPr txBox="1"/>
          <p:nvPr/>
        </p:nvSpPr>
        <p:spPr>
          <a:xfrm>
            <a:off x="530225" y="894715"/>
            <a:ext cx="5184775" cy="576580"/>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en-US" sz="3600" b="1" kern="0" dirty="0"/>
              <a:t>生产计划问题 </a:t>
            </a:r>
            <a:r>
              <a:rPr lang="en-US" altLang="zh-CN" sz="3600" b="1" kern="0" dirty="0"/>
              <a:t>– </a:t>
            </a:r>
            <a:r>
              <a:rPr lang="zh-CN" altLang="en-US" sz="3600" b="1" kern="0" dirty="0"/>
              <a:t>例</a:t>
            </a:r>
            <a:r>
              <a:rPr lang="en-US" altLang="zh-CN" sz="3600" b="1" kern="0" dirty="0"/>
              <a:t>3</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1138" name="Object 2"/>
          <p:cNvGraphicFramePr>
            <a:graphicFrameLocks noChangeAspect="1"/>
          </p:cNvGraphicFramePr>
          <p:nvPr/>
        </p:nvGraphicFramePr>
        <p:xfrm>
          <a:off x="2444750" y="3200400"/>
          <a:ext cx="4908738" cy="1524000"/>
        </p:xfrm>
        <a:graphic>
          <a:graphicData uri="http://schemas.openxmlformats.org/presentationml/2006/ole">
            <mc:AlternateContent xmlns:mc="http://schemas.openxmlformats.org/markup-compatibility/2006">
              <mc:Choice xmlns:v="urn:schemas-microsoft-com:vml" Requires="v">
                <p:oleObj name="Equation" r:id="rId3" imgW="2298700" imgH="711200" progId="Equation.DSMT4">
                  <p:embed/>
                </p:oleObj>
              </mc:Choice>
              <mc:Fallback>
                <p:oleObj name="Equation" r:id="rId3" imgW="2298700" imgH="711200" progId="Equation.DSMT4">
                  <p:embed/>
                  <p:pic>
                    <p:nvPicPr>
                      <p:cNvPr id="0" name="Object 2"/>
                      <p:cNvPicPr>
                        <a:picLocks noChangeAspect="1" noChangeArrowheads="1"/>
                      </p:cNvPicPr>
                      <p:nvPr/>
                    </p:nvPicPr>
                    <p:blipFill>
                      <a:blip r:embed="rId4">
                        <a:lum bright="-40000" contrast="-40000"/>
                        <a:extLst>
                          <a:ext uri="{28A0092B-C50C-407E-A947-70E740481C1C}">
                            <a14:useLocalDpi xmlns:a14="http://schemas.microsoft.com/office/drawing/2010/main" val="0"/>
                          </a:ext>
                        </a:extLst>
                      </a:blip>
                      <a:srcRect/>
                      <a:stretch>
                        <a:fillRect/>
                      </a:stretch>
                    </p:blipFill>
                    <p:spPr bwMode="auto">
                      <a:xfrm>
                        <a:off x="2444750" y="3200400"/>
                        <a:ext cx="4908738" cy="1524000"/>
                      </a:xfrm>
                      <a:prstGeom prst="rect">
                        <a:avLst/>
                      </a:prstGeom>
                      <a:solidFill>
                        <a:schemeClr val="bg1">
                          <a:lumMod val="75000"/>
                        </a:schemeClr>
                      </a:solidFill>
                      <a:ln>
                        <a:noFill/>
                      </a:ln>
                    </p:spPr>
                  </p:pic>
                </p:oleObj>
              </mc:Fallback>
            </mc:AlternateContent>
          </a:graphicData>
        </a:graphic>
      </p:graphicFrame>
      <p:sp>
        <p:nvSpPr>
          <p:cNvPr id="91139" name="Rectangle 4"/>
          <p:cNvSpPr>
            <a:spLocks noChangeArrowheads="1"/>
          </p:cNvSpPr>
          <p:nvPr/>
        </p:nvSpPr>
        <p:spPr bwMode="auto">
          <a:xfrm>
            <a:off x="611188" y="1558062"/>
            <a:ext cx="80645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zh-CN" altLang="en-US" sz="2400" b="1" u="sng" dirty="0">
                <a:solidFill>
                  <a:srgbClr val="FF0000"/>
                </a:solidFill>
                <a:cs typeface="Times New Roman" panose="02020603050405020304" pitchFamily="18" charset="0"/>
              </a:rPr>
              <a:t>解</a:t>
            </a:r>
            <a:r>
              <a:rPr lang="en-US" altLang="zh-CN" sz="2400" b="1" dirty="0">
                <a:cs typeface="Times New Roman" panose="02020603050405020304" pitchFamily="18" charset="0"/>
              </a:rPr>
              <a:t>:  </a:t>
            </a:r>
            <a:r>
              <a:rPr lang="zh-CN" altLang="en-US" sz="2400" b="1" dirty="0">
                <a:cs typeface="Times New Roman" panose="02020603050405020304" pitchFamily="18" charset="0"/>
              </a:rPr>
              <a:t>用动态规划方法来求解，其符号含义与上面相同。按四个时期将问题分为四个阶段。由题意知，在第</a:t>
            </a:r>
            <a:r>
              <a:rPr lang="en-US" altLang="zh-CN" sz="2400" b="1" i="1" dirty="0">
                <a:cs typeface="Times New Roman" panose="02020603050405020304" pitchFamily="18" charset="0"/>
              </a:rPr>
              <a:t>k</a:t>
            </a:r>
            <a:r>
              <a:rPr lang="zh-CN" altLang="en-US" sz="2400" b="1" dirty="0">
                <a:cs typeface="Times New Roman" panose="02020603050405020304" pitchFamily="18" charset="0"/>
              </a:rPr>
              <a:t>时期内的</a:t>
            </a:r>
            <a:r>
              <a:rPr lang="zh-CN" altLang="en-US" sz="2400" b="1" dirty="0">
                <a:solidFill>
                  <a:srgbClr val="FF0000"/>
                </a:solidFill>
                <a:cs typeface="Times New Roman" panose="02020603050405020304" pitchFamily="18" charset="0"/>
              </a:rPr>
              <a:t>生产成本</a:t>
            </a:r>
            <a:r>
              <a:rPr lang="zh-CN" altLang="en-US" sz="2400" b="1" dirty="0">
                <a:cs typeface="Times New Roman" panose="02020603050405020304" pitchFamily="18" charset="0"/>
              </a:rPr>
              <a:t>为</a:t>
            </a:r>
          </a:p>
        </p:txBody>
      </p:sp>
      <p:graphicFrame>
        <p:nvGraphicFramePr>
          <p:cNvPr id="91140" name="Object 4"/>
          <p:cNvGraphicFramePr>
            <a:graphicFrameLocks noChangeAspect="1"/>
          </p:cNvGraphicFramePr>
          <p:nvPr/>
        </p:nvGraphicFramePr>
        <p:xfrm>
          <a:off x="5981700" y="4919662"/>
          <a:ext cx="1943100" cy="512763"/>
        </p:xfrm>
        <a:graphic>
          <a:graphicData uri="http://schemas.openxmlformats.org/presentationml/2006/ole">
            <mc:AlternateContent xmlns:mc="http://schemas.openxmlformats.org/markup-compatibility/2006">
              <mc:Choice xmlns:v="urn:schemas-microsoft-com:vml" Requires="v">
                <p:oleObj r:id="rId5" imgW="863600" imgH="228600" progId="">
                  <p:embed/>
                </p:oleObj>
              </mc:Choice>
              <mc:Fallback>
                <p:oleObj r:id="rId5" imgW="863600" imgH="228600" progId="">
                  <p:embed/>
                  <p:pic>
                    <p:nvPicPr>
                      <p:cNvPr id="0" name="Object 4"/>
                      <p:cNvPicPr>
                        <a:picLocks noChangeAspect="1" noChangeArrowheads="1"/>
                      </p:cNvPicPr>
                      <p:nvPr/>
                    </p:nvPicPr>
                    <p:blipFill>
                      <a:blip r:embed="rId6">
                        <a:lum bright="-40000" contrast="-40000"/>
                        <a:extLst>
                          <a:ext uri="{28A0092B-C50C-407E-A947-70E740481C1C}">
                            <a14:useLocalDpi xmlns:a14="http://schemas.microsoft.com/office/drawing/2010/main" val="0"/>
                          </a:ext>
                        </a:extLst>
                      </a:blip>
                      <a:srcRect/>
                      <a:stretch>
                        <a:fillRect/>
                      </a:stretch>
                    </p:blipFill>
                    <p:spPr bwMode="auto">
                      <a:xfrm>
                        <a:off x="5981700" y="4919662"/>
                        <a:ext cx="1943100"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1141" name="Object 5"/>
          <p:cNvGraphicFramePr>
            <a:graphicFrameLocks noChangeAspect="1"/>
          </p:cNvGraphicFramePr>
          <p:nvPr/>
        </p:nvGraphicFramePr>
        <p:xfrm>
          <a:off x="4211638" y="5602287"/>
          <a:ext cx="2303462" cy="569913"/>
        </p:xfrm>
        <a:graphic>
          <a:graphicData uri="http://schemas.openxmlformats.org/presentationml/2006/ole">
            <mc:AlternateContent xmlns:mc="http://schemas.openxmlformats.org/markup-compatibility/2006">
              <mc:Choice xmlns:v="urn:schemas-microsoft-com:vml" Requires="v">
                <p:oleObj r:id="rId7" imgW="927735" imgH="228600" progId="">
                  <p:embed/>
                </p:oleObj>
              </mc:Choice>
              <mc:Fallback>
                <p:oleObj r:id="rId7" imgW="927735" imgH="228600" progId="">
                  <p:embed/>
                  <p:pic>
                    <p:nvPicPr>
                      <p:cNvPr id="0" name="Object 5"/>
                      <p:cNvPicPr>
                        <a:picLocks noChangeAspect="1" noChangeArrowheads="1"/>
                      </p:cNvPicPr>
                      <p:nvPr/>
                    </p:nvPicPr>
                    <p:blipFill>
                      <a:blip r:embed="rId8">
                        <a:lum bright="-40000" contrast="-40000"/>
                        <a:extLst>
                          <a:ext uri="{28A0092B-C50C-407E-A947-70E740481C1C}">
                            <a14:useLocalDpi xmlns:a14="http://schemas.microsoft.com/office/drawing/2010/main" val="0"/>
                          </a:ext>
                        </a:extLst>
                      </a:blip>
                      <a:srcRect/>
                      <a:stretch>
                        <a:fillRect/>
                      </a:stretch>
                    </p:blipFill>
                    <p:spPr bwMode="auto">
                      <a:xfrm>
                        <a:off x="4211638" y="5602287"/>
                        <a:ext cx="2303462"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1142" name="Rectangle 10"/>
          <p:cNvSpPr>
            <a:spLocks noChangeArrowheads="1"/>
          </p:cNvSpPr>
          <p:nvPr/>
        </p:nvSpPr>
        <p:spPr bwMode="auto">
          <a:xfrm>
            <a:off x="754287" y="4820920"/>
            <a:ext cx="5160645"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zh-CN" altLang="en-US" sz="2400" b="1" dirty="0">
                <a:latin typeface="Times New Roman" panose="02020603050405020304" pitchFamily="18" charset="0"/>
                <a:cs typeface="Times New Roman" panose="02020603050405020304" pitchFamily="18" charset="0"/>
              </a:rPr>
              <a:t>第</a:t>
            </a:r>
            <a:r>
              <a:rPr lang="en-US" altLang="zh-CN" sz="2400" b="1" i="1" dirty="0">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时期末库存量为</a:t>
            </a:r>
            <a:r>
              <a:rPr lang="en-US" altLang="zh-CN" sz="2400" b="1" i="1" dirty="0" err="1">
                <a:latin typeface="Times New Roman" panose="02020603050405020304" pitchFamily="18" charset="0"/>
                <a:cs typeface="Times New Roman" panose="02020603050405020304" pitchFamily="18" charset="0"/>
              </a:rPr>
              <a:t>v</a:t>
            </a:r>
            <a:r>
              <a:rPr lang="en-US" altLang="zh-CN" sz="2400" b="1" i="1" baseline="-25000" dirty="0" err="1">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时的</a:t>
            </a:r>
            <a:r>
              <a:rPr lang="zh-CN" altLang="en-US" sz="2400" b="1" dirty="0">
                <a:solidFill>
                  <a:srgbClr val="FF0000"/>
                </a:solidFill>
                <a:latin typeface="Times New Roman" panose="02020603050405020304" pitchFamily="18" charset="0"/>
                <a:cs typeface="Times New Roman" panose="02020603050405020304" pitchFamily="18" charset="0"/>
              </a:rPr>
              <a:t>存储费用</a:t>
            </a:r>
            <a:r>
              <a:rPr lang="zh-CN" altLang="en-US" sz="2400" b="1" dirty="0">
                <a:latin typeface="Times New Roman" panose="02020603050405020304" pitchFamily="18" charset="0"/>
                <a:cs typeface="Times New Roman" panose="02020603050405020304" pitchFamily="18" charset="0"/>
              </a:rPr>
              <a:t>为</a:t>
            </a:r>
          </a:p>
        </p:txBody>
      </p:sp>
      <p:sp>
        <p:nvSpPr>
          <p:cNvPr id="91143" name="Rectangle 11"/>
          <p:cNvSpPr>
            <a:spLocks noChangeArrowheads="1"/>
          </p:cNvSpPr>
          <p:nvPr/>
        </p:nvSpPr>
        <p:spPr bwMode="auto">
          <a:xfrm>
            <a:off x="683260" y="5540058"/>
            <a:ext cx="339598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zh-CN" altLang="en-US" sz="2400" b="1" dirty="0">
                <a:latin typeface="Times New Roman" panose="02020603050405020304" pitchFamily="18" charset="0"/>
                <a:cs typeface="Times New Roman" panose="02020603050405020304" pitchFamily="18" charset="0"/>
              </a:rPr>
              <a:t>故第</a:t>
            </a:r>
            <a:r>
              <a:rPr lang="en-US" altLang="zh-CN" sz="2400" b="1" i="1" dirty="0">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时期内的</a:t>
            </a:r>
            <a:r>
              <a:rPr lang="zh-CN" altLang="en-US" sz="2400" b="1" dirty="0">
                <a:solidFill>
                  <a:srgbClr val="FF0000"/>
                </a:solidFill>
                <a:latin typeface="Times New Roman" panose="02020603050405020304" pitchFamily="18" charset="0"/>
                <a:cs typeface="Times New Roman" panose="02020603050405020304" pitchFamily="18" charset="0"/>
              </a:rPr>
              <a:t>总成本</a:t>
            </a:r>
            <a:r>
              <a:rPr lang="zh-CN" altLang="en-US" sz="2400" b="1" dirty="0">
                <a:latin typeface="Times New Roman" panose="02020603050405020304" pitchFamily="18" charset="0"/>
                <a:cs typeface="Times New Roman" panose="02020603050405020304" pitchFamily="18" charset="0"/>
              </a:rPr>
              <a:t>为</a:t>
            </a:r>
          </a:p>
        </p:txBody>
      </p:sp>
      <p:sp>
        <p:nvSpPr>
          <p:cNvPr id="91145"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ABF7AA5E-0704-4FAF-AD55-E36EEDB1312F}" type="slidenum">
              <a:rPr lang="en-US" altLang="zh-CN" sz="1400">
                <a:latin typeface="Times New Roman" panose="02020603050405020304" pitchFamily="18" charset="0"/>
              </a:rPr>
              <a:t>15</a:t>
            </a:fld>
            <a:endParaRPr lang="en-US" altLang="zh-CN" sz="1400">
              <a:latin typeface="Times New Roman" panose="02020603050405020304" pitchFamily="18" charset="0"/>
            </a:endParaRPr>
          </a:p>
        </p:txBody>
      </p:sp>
      <p:sp>
        <p:nvSpPr>
          <p:cNvPr id="12" name="标题 1"/>
          <p:cNvSpPr txBox="1"/>
          <p:nvPr/>
        </p:nvSpPr>
        <p:spPr>
          <a:xfrm>
            <a:off x="530225" y="712470"/>
            <a:ext cx="2004695" cy="758825"/>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en-US" sz="3600" b="1" kern="0" dirty="0"/>
              <a:t>例</a:t>
            </a:r>
            <a:r>
              <a:rPr lang="en-US" altLang="zh-CN" sz="3600" b="1" kern="0" dirty="0"/>
              <a:t>3</a:t>
            </a:r>
          </a:p>
        </p:txBody>
      </p:sp>
      <p:pic>
        <p:nvPicPr>
          <p:cNvPr id="10" name="图片 9"/>
          <p:cNvPicPr>
            <a:picLocks noChangeAspect="1"/>
          </p:cNvPicPr>
          <p:nvPr>
            <p:custDataLst>
              <p:tags r:id="rId1"/>
            </p:custDataLst>
          </p:nvPr>
        </p:nvPicPr>
        <p:blipFill>
          <a:blip r:embed="rId9"/>
          <a:stretch>
            <a:fillRect/>
          </a:stretch>
        </p:blipFill>
        <p:spPr>
          <a:xfrm>
            <a:off x="4092575" y="308610"/>
            <a:ext cx="5051425" cy="122809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11"/>
          <p:cNvSpPr>
            <a:spLocks noChangeArrowheads="1"/>
          </p:cNvSpPr>
          <p:nvPr/>
        </p:nvSpPr>
        <p:spPr bwMode="auto">
          <a:xfrm>
            <a:off x="869419" y="3585690"/>
            <a:ext cx="5493812" cy="49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dirty="0">
                <a:latin typeface="Arial" panose="020B0604020202020204" pitchFamily="34" charset="0"/>
                <a:cs typeface="Times New Roman" panose="02020603050405020304" pitchFamily="18" charset="0"/>
              </a:rPr>
              <a:t>其中                                     和</a:t>
            </a:r>
            <a:r>
              <a:rPr lang="zh-CN" altLang="en-US" sz="2400" b="1" dirty="0">
                <a:solidFill>
                  <a:srgbClr val="FF0000"/>
                </a:solidFill>
                <a:latin typeface="Arial" panose="020B0604020202020204" pitchFamily="34" charset="0"/>
                <a:cs typeface="Times New Roman" panose="02020603050405020304" pitchFamily="18" charset="0"/>
              </a:rPr>
              <a:t>边界条件</a:t>
            </a:r>
            <a:endParaRPr lang="zh-CN" altLang="en-US" sz="2400" b="1" dirty="0">
              <a:solidFill>
                <a:srgbClr val="FF0000"/>
              </a:solidFill>
              <a:latin typeface="Arial" panose="020B0604020202020204" pitchFamily="34" charset="0"/>
            </a:endParaRPr>
          </a:p>
        </p:txBody>
      </p:sp>
      <p:graphicFrame>
        <p:nvGraphicFramePr>
          <p:cNvPr id="92163" name="Object 3"/>
          <p:cNvGraphicFramePr>
            <a:graphicFrameLocks noChangeAspect="1"/>
          </p:cNvGraphicFramePr>
          <p:nvPr/>
        </p:nvGraphicFramePr>
        <p:xfrm>
          <a:off x="838200" y="2630487"/>
          <a:ext cx="7467600" cy="681038"/>
        </p:xfrm>
        <a:graphic>
          <a:graphicData uri="http://schemas.openxmlformats.org/presentationml/2006/ole">
            <mc:AlternateContent xmlns:mc="http://schemas.openxmlformats.org/markup-compatibility/2006">
              <mc:Choice xmlns:v="urn:schemas-microsoft-com:vml" Requires="v">
                <p:oleObj r:id="rId3" imgW="3771900" imgH="304800" progId="">
                  <p:embed/>
                </p:oleObj>
              </mc:Choice>
              <mc:Fallback>
                <p:oleObj r:id="rId3" imgW="3771900" imgH="304800" progId="">
                  <p:embed/>
                  <p:pic>
                    <p:nvPicPr>
                      <p:cNvPr id="0" name="Object 3"/>
                      <p:cNvPicPr>
                        <a:picLocks noChangeAspect="1" noChangeArrowheads="1"/>
                      </p:cNvPicPr>
                      <p:nvPr/>
                    </p:nvPicPr>
                    <p:blipFill>
                      <a:blip r:embed="rId4">
                        <a:lum bright="-40000" contrast="-40000"/>
                        <a:extLst>
                          <a:ext uri="{28A0092B-C50C-407E-A947-70E740481C1C}">
                            <a14:useLocalDpi xmlns:a14="http://schemas.microsoft.com/office/drawing/2010/main" val="0"/>
                          </a:ext>
                        </a:extLst>
                      </a:blip>
                      <a:srcRect/>
                      <a:stretch>
                        <a:fillRect/>
                      </a:stretch>
                    </p:blipFill>
                    <p:spPr bwMode="auto">
                      <a:xfrm>
                        <a:off x="838200" y="2630487"/>
                        <a:ext cx="7467600" cy="681038"/>
                      </a:xfrm>
                      <a:prstGeom prst="rect">
                        <a:avLst/>
                      </a:prstGeom>
                      <a:noFill/>
                      <a:ln>
                        <a:noFill/>
                      </a:ln>
                    </p:spPr>
                  </p:pic>
                </p:oleObj>
              </mc:Fallback>
            </mc:AlternateContent>
          </a:graphicData>
        </a:graphic>
      </p:graphicFrame>
      <p:graphicFrame>
        <p:nvGraphicFramePr>
          <p:cNvPr id="92164" name="Object 4"/>
          <p:cNvGraphicFramePr>
            <a:graphicFrameLocks noChangeAspect="1"/>
          </p:cNvGraphicFramePr>
          <p:nvPr/>
        </p:nvGraphicFramePr>
        <p:xfrm>
          <a:off x="1701800" y="3565525"/>
          <a:ext cx="2617787" cy="479425"/>
        </p:xfrm>
        <a:graphic>
          <a:graphicData uri="http://schemas.openxmlformats.org/presentationml/2006/ole">
            <mc:AlternateContent xmlns:mc="http://schemas.openxmlformats.org/markup-compatibility/2006">
              <mc:Choice xmlns:v="urn:schemas-microsoft-com:vml" Requires="v">
                <p:oleObj r:id="rId5" imgW="1245235" imgH="228600" progId="">
                  <p:embed/>
                </p:oleObj>
              </mc:Choice>
              <mc:Fallback>
                <p:oleObj r:id="rId5" imgW="1245235" imgH="228600" progId="">
                  <p:embed/>
                  <p:pic>
                    <p:nvPicPr>
                      <p:cNvPr id="0" name="Object 4"/>
                      <p:cNvPicPr>
                        <a:picLocks noChangeAspect="1" noChangeArrowheads="1"/>
                      </p:cNvPicPr>
                      <p:nvPr/>
                    </p:nvPicPr>
                    <p:blipFill>
                      <a:blip r:embed="rId6">
                        <a:lum bright="-40000" contrast="-40000"/>
                        <a:extLst>
                          <a:ext uri="{28A0092B-C50C-407E-A947-70E740481C1C}">
                            <a14:useLocalDpi xmlns:a14="http://schemas.microsoft.com/office/drawing/2010/main" val="0"/>
                          </a:ext>
                        </a:extLst>
                      </a:blip>
                      <a:srcRect/>
                      <a:stretch>
                        <a:fillRect/>
                      </a:stretch>
                    </p:blipFill>
                    <p:spPr bwMode="auto">
                      <a:xfrm>
                        <a:off x="1701800" y="3565525"/>
                        <a:ext cx="261778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165" name="Object 5"/>
          <p:cNvGraphicFramePr>
            <a:graphicFrameLocks noChangeAspect="1"/>
          </p:cNvGraphicFramePr>
          <p:nvPr/>
        </p:nvGraphicFramePr>
        <p:xfrm>
          <a:off x="2133600" y="4357687"/>
          <a:ext cx="4548378" cy="671513"/>
        </p:xfrm>
        <a:graphic>
          <a:graphicData uri="http://schemas.openxmlformats.org/presentationml/2006/ole">
            <mc:AlternateContent xmlns:mc="http://schemas.openxmlformats.org/markup-compatibility/2006">
              <mc:Choice xmlns:v="urn:schemas-microsoft-com:vml" Requires="v">
                <p:oleObj r:id="rId7" imgW="2070735" imgH="304800" progId="">
                  <p:embed/>
                </p:oleObj>
              </mc:Choice>
              <mc:Fallback>
                <p:oleObj r:id="rId7" imgW="2070735" imgH="304800" progId="">
                  <p:embed/>
                  <p:pic>
                    <p:nvPicPr>
                      <p:cNvPr id="0" name="Object 5"/>
                      <p:cNvPicPr>
                        <a:picLocks noChangeAspect="1" noChangeArrowheads="1"/>
                      </p:cNvPicPr>
                      <p:nvPr/>
                    </p:nvPicPr>
                    <p:blipFill>
                      <a:blip r:embed="rId8">
                        <a:lum bright="-40000" contrast="-40000"/>
                        <a:extLst>
                          <a:ext uri="{28A0092B-C50C-407E-A947-70E740481C1C}">
                            <a14:useLocalDpi xmlns:a14="http://schemas.microsoft.com/office/drawing/2010/main" val="0"/>
                          </a:ext>
                        </a:extLst>
                      </a:blip>
                      <a:srcRect/>
                      <a:stretch>
                        <a:fillRect/>
                      </a:stretch>
                    </p:blipFill>
                    <p:spPr bwMode="auto">
                      <a:xfrm>
                        <a:off x="2133600" y="4357687"/>
                        <a:ext cx="4548378" cy="671513"/>
                      </a:xfrm>
                      <a:prstGeom prst="rect">
                        <a:avLst/>
                      </a:prstGeom>
                      <a:noFill/>
                      <a:ln>
                        <a:noFill/>
                      </a:ln>
                    </p:spPr>
                  </p:pic>
                </p:oleObj>
              </mc:Fallback>
            </mc:AlternateContent>
          </a:graphicData>
        </a:graphic>
      </p:graphicFrame>
      <p:sp>
        <p:nvSpPr>
          <p:cNvPr id="92166" name="Rectangle 10"/>
          <p:cNvSpPr>
            <a:spLocks noChangeArrowheads="1"/>
          </p:cNvSpPr>
          <p:nvPr/>
        </p:nvSpPr>
        <p:spPr bwMode="auto">
          <a:xfrm>
            <a:off x="908050" y="1930400"/>
            <a:ext cx="4802187"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a:latin typeface="Arial" panose="020B0604020202020204" pitchFamily="34" charset="0"/>
                <a:cs typeface="Times New Roman" panose="02020603050405020304" pitchFamily="18" charset="0"/>
              </a:rPr>
              <a:t>动态规划的</a:t>
            </a:r>
            <a:r>
              <a:rPr lang="zh-CN" altLang="en-US" sz="2400" b="1">
                <a:solidFill>
                  <a:srgbClr val="FF0000"/>
                </a:solidFill>
                <a:latin typeface="Arial" panose="020B0604020202020204" pitchFamily="34" charset="0"/>
                <a:cs typeface="Times New Roman" panose="02020603050405020304" pitchFamily="18" charset="0"/>
              </a:rPr>
              <a:t>顺序递推</a:t>
            </a:r>
            <a:r>
              <a:rPr lang="zh-CN" altLang="en-US" sz="2400" b="1">
                <a:latin typeface="Arial" panose="020B0604020202020204" pitchFamily="34" charset="0"/>
                <a:cs typeface="Times New Roman" panose="02020603050405020304" pitchFamily="18" charset="0"/>
              </a:rPr>
              <a:t>关系式为	</a:t>
            </a:r>
            <a:endParaRPr lang="zh-CN" altLang="en-US" sz="2400" b="1">
              <a:latin typeface="Arial" panose="020B0604020202020204" pitchFamily="34" charset="0"/>
            </a:endParaRPr>
          </a:p>
        </p:txBody>
      </p:sp>
      <p:sp>
        <p:nvSpPr>
          <p:cNvPr id="92168"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F52E93D1-3026-4D16-8D0E-95F1CAD81A83}" type="slidenum">
              <a:rPr lang="en-US" altLang="zh-CN" sz="1400">
                <a:latin typeface="Times New Roman" panose="02020603050405020304" pitchFamily="18" charset="0"/>
              </a:rPr>
              <a:t>16</a:t>
            </a:fld>
            <a:endParaRPr lang="en-US" altLang="zh-CN" sz="1400">
              <a:latin typeface="Times New Roman" panose="02020603050405020304" pitchFamily="18" charset="0"/>
            </a:endParaRPr>
          </a:p>
        </p:txBody>
      </p:sp>
      <p:sp>
        <p:nvSpPr>
          <p:cNvPr id="11" name="标题 1"/>
          <p:cNvSpPr txBox="1"/>
          <p:nvPr/>
        </p:nvSpPr>
        <p:spPr>
          <a:xfrm>
            <a:off x="533400" y="762000"/>
            <a:ext cx="1443355" cy="758825"/>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en-US" sz="3600" b="1" kern="0" dirty="0"/>
              <a:t>例</a:t>
            </a:r>
            <a:r>
              <a:rPr lang="en-US" altLang="zh-CN" sz="3600" b="1" kern="0" dirty="0"/>
              <a:t>3</a:t>
            </a:r>
          </a:p>
        </p:txBody>
      </p:sp>
      <p:graphicFrame>
        <p:nvGraphicFramePr>
          <p:cNvPr id="10" name="Object 3"/>
          <p:cNvGraphicFramePr>
            <a:graphicFrameLocks noChangeAspect="1"/>
          </p:cNvGraphicFramePr>
          <p:nvPr/>
        </p:nvGraphicFramePr>
        <p:xfrm>
          <a:off x="854076" y="5943600"/>
          <a:ext cx="4181475" cy="554038"/>
        </p:xfrm>
        <a:graphic>
          <a:graphicData uri="http://schemas.openxmlformats.org/presentationml/2006/ole">
            <mc:AlternateContent xmlns:mc="http://schemas.openxmlformats.org/markup-compatibility/2006">
              <mc:Choice xmlns:v="urn:schemas-microsoft-com:vml" Requires="v">
                <p:oleObj name="Equation" r:id="rId9" imgW="2171700" imgH="228600" progId="Equation.DSMT4">
                  <p:embed/>
                </p:oleObj>
              </mc:Choice>
              <mc:Fallback>
                <p:oleObj name="Equation" r:id="rId9" imgW="2171700" imgH="228600" progId="Equation.DSMT4">
                  <p:embed/>
                  <p:pic>
                    <p:nvPicPr>
                      <p:cNvPr id="0" name="图片 4"/>
                      <p:cNvPicPr>
                        <a:picLocks noChangeAspect="1" noChangeArrowheads="1"/>
                      </p:cNvPicPr>
                      <p:nvPr/>
                    </p:nvPicPr>
                    <p:blipFill>
                      <a:blip r:embed="rId10">
                        <a:lum bright="-40000" contrast="-40000"/>
                        <a:extLst>
                          <a:ext uri="{28A0092B-C50C-407E-A947-70E740481C1C}">
                            <a14:useLocalDpi xmlns:a14="http://schemas.microsoft.com/office/drawing/2010/main" val="0"/>
                          </a:ext>
                        </a:extLst>
                      </a:blip>
                      <a:srcRect/>
                      <a:stretch>
                        <a:fillRect/>
                      </a:stretch>
                    </p:blipFill>
                    <p:spPr bwMode="auto">
                      <a:xfrm>
                        <a:off x="854076" y="5943600"/>
                        <a:ext cx="4181475" cy="554038"/>
                      </a:xfrm>
                      <a:prstGeom prst="rect">
                        <a:avLst/>
                      </a:prstGeom>
                      <a:solidFill>
                        <a:schemeClr val="bg1">
                          <a:lumMod val="85000"/>
                        </a:schemeClr>
                      </a:solidFill>
                      <a:ln>
                        <a:noFill/>
                      </a:ln>
                    </p:spPr>
                  </p:pic>
                </p:oleObj>
              </mc:Fallback>
            </mc:AlternateContent>
          </a:graphicData>
        </a:graphic>
      </p:graphicFrame>
      <p:sp>
        <p:nvSpPr>
          <p:cNvPr id="12" name="Rectangle 6"/>
          <p:cNvSpPr>
            <a:spLocks noChangeArrowheads="1"/>
          </p:cNvSpPr>
          <p:nvPr/>
        </p:nvSpPr>
        <p:spPr bwMode="auto">
          <a:xfrm>
            <a:off x="854075" y="5521364"/>
            <a:ext cx="4181476" cy="553998"/>
          </a:xfrm>
          <a:prstGeom prst="rect">
            <a:avLst/>
          </a:prstGeom>
          <a:solidFill>
            <a:schemeClr val="bg1">
              <a:lumMod val="85000"/>
            </a:schemeClr>
          </a:solidFill>
          <a:ln>
            <a:noFill/>
          </a:ln>
          <a:effec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342900" indent="-342900" algn="just">
              <a:lnSpc>
                <a:spcPct val="125000"/>
              </a:lnSpc>
              <a:spcBef>
                <a:spcPts val="1800"/>
              </a:spcBef>
              <a:buClr>
                <a:srgbClr val="C00000"/>
              </a:buClr>
              <a:buSzPct val="70000"/>
              <a:buFont typeface="Wingdings" panose="05000000000000000000" pitchFamily="2" charset="2"/>
              <a:buChar char="p"/>
            </a:pPr>
            <a:r>
              <a:rPr lang="zh-CN" altLang="en-US" sz="2400" b="1" dirty="0">
                <a:cs typeface="Times New Roman" panose="02020603050405020304" pitchFamily="18" charset="0"/>
              </a:rPr>
              <a:t>状态转移方程</a:t>
            </a:r>
          </a:p>
        </p:txBody>
      </p:sp>
      <p:pic>
        <p:nvPicPr>
          <p:cNvPr id="6" name="图片 5"/>
          <p:cNvPicPr>
            <a:picLocks noChangeAspect="1"/>
          </p:cNvPicPr>
          <p:nvPr>
            <p:custDataLst>
              <p:tags r:id="rId1"/>
            </p:custDataLst>
          </p:nvPr>
        </p:nvPicPr>
        <p:blipFill>
          <a:blip r:embed="rId11"/>
          <a:stretch>
            <a:fillRect/>
          </a:stretch>
        </p:blipFill>
        <p:spPr>
          <a:xfrm>
            <a:off x="4092575" y="308610"/>
            <a:ext cx="5051425" cy="122809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3186" name="Object 2"/>
          <p:cNvGraphicFramePr>
            <a:graphicFrameLocks noChangeAspect="1"/>
          </p:cNvGraphicFramePr>
          <p:nvPr/>
        </p:nvGraphicFramePr>
        <p:xfrm>
          <a:off x="2601913" y="1639888"/>
          <a:ext cx="4057650" cy="608012"/>
        </p:xfrm>
        <a:graphic>
          <a:graphicData uri="http://schemas.openxmlformats.org/presentationml/2006/ole">
            <mc:AlternateContent xmlns:mc="http://schemas.openxmlformats.org/markup-compatibility/2006">
              <mc:Choice xmlns:v="urn:schemas-microsoft-com:vml" Requires="v">
                <p:oleObj name="Equation" r:id="rId5" imgW="2045335" imgH="304800" progId="Equation.DSMT4">
                  <p:embed/>
                </p:oleObj>
              </mc:Choice>
              <mc:Fallback>
                <p:oleObj name="Equation" r:id="rId5" imgW="2045335" imgH="304800" progId="Equation.DSMT4">
                  <p:embed/>
                  <p:pic>
                    <p:nvPicPr>
                      <p:cNvPr id="0" name="Object 2"/>
                      <p:cNvPicPr>
                        <a:picLocks noChangeAspect="1" noChangeArrowheads="1"/>
                      </p:cNvPicPr>
                      <p:nvPr/>
                    </p:nvPicPr>
                    <p:blipFill>
                      <a:blip r:embed="rId6">
                        <a:lum bright="-40000" contrast="-40000"/>
                        <a:extLst>
                          <a:ext uri="{28A0092B-C50C-407E-A947-70E740481C1C}">
                            <a14:useLocalDpi xmlns:a14="http://schemas.microsoft.com/office/drawing/2010/main" val="0"/>
                          </a:ext>
                        </a:extLst>
                      </a:blip>
                      <a:srcRect/>
                      <a:stretch>
                        <a:fillRect/>
                      </a:stretch>
                    </p:blipFill>
                    <p:spPr bwMode="auto">
                      <a:xfrm>
                        <a:off x="2601913" y="1639888"/>
                        <a:ext cx="4057650"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3187" name="Object 3"/>
          <p:cNvGraphicFramePr>
            <a:graphicFrameLocks noChangeAspect="1"/>
          </p:cNvGraphicFramePr>
          <p:nvPr/>
        </p:nvGraphicFramePr>
        <p:xfrm>
          <a:off x="2236787" y="2228850"/>
          <a:ext cx="4316413" cy="938213"/>
        </p:xfrm>
        <a:graphic>
          <a:graphicData uri="http://schemas.openxmlformats.org/presentationml/2006/ole">
            <mc:AlternateContent xmlns:mc="http://schemas.openxmlformats.org/markup-compatibility/2006">
              <mc:Choice xmlns:v="urn:schemas-microsoft-com:vml" Requires="v">
                <p:oleObj name="Equation" r:id="rId7" imgW="56997600" imgH="11582400" progId="Equation.DSMT4">
                  <p:embed/>
                </p:oleObj>
              </mc:Choice>
              <mc:Fallback>
                <p:oleObj name="Equation" r:id="rId7" imgW="56997600" imgH="11582400" progId="Equation.DSMT4">
                  <p:embed/>
                  <p:pic>
                    <p:nvPicPr>
                      <p:cNvPr id="0" name="Object 3"/>
                      <p:cNvPicPr>
                        <a:picLocks noChangeAspect="1" noChangeArrowheads="1"/>
                      </p:cNvPicPr>
                      <p:nvPr/>
                    </p:nvPicPr>
                    <p:blipFill>
                      <a:blip r:embed="rId8">
                        <a:lum bright="-40000" contrast="-40000"/>
                      </a:blip>
                      <a:srcRect/>
                      <a:stretch>
                        <a:fillRect/>
                      </a:stretch>
                    </p:blipFill>
                    <p:spPr bwMode="auto">
                      <a:xfrm>
                        <a:off x="2236787" y="2228850"/>
                        <a:ext cx="4316413" cy="93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3188" name="Rectangle 7"/>
          <p:cNvSpPr>
            <a:spLocks noChangeArrowheads="1"/>
          </p:cNvSpPr>
          <p:nvPr/>
        </p:nvSpPr>
        <p:spPr bwMode="auto">
          <a:xfrm>
            <a:off x="606425" y="1640364"/>
            <a:ext cx="1885950" cy="53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20000"/>
              </a:lnSpc>
            </a:pPr>
            <a:r>
              <a:rPr lang="zh-CN" altLang="en-US" sz="2400" b="1">
                <a:solidFill>
                  <a:srgbClr val="FF0000"/>
                </a:solidFill>
                <a:latin typeface="Times New Roman" panose="02020603050405020304" pitchFamily="18" charset="0"/>
                <a:cs typeface="Times New Roman" panose="02020603050405020304" pitchFamily="18" charset="0"/>
              </a:rPr>
              <a:t>当</a:t>
            </a:r>
            <a:r>
              <a:rPr lang="en-US" altLang="zh-CN" sz="2400" b="1" i="1">
                <a:solidFill>
                  <a:srgbClr val="FF0000"/>
                </a:solidFill>
                <a:latin typeface="Times New Roman" panose="02020603050405020304" pitchFamily="18" charset="0"/>
                <a:cs typeface="Times New Roman" panose="02020603050405020304" pitchFamily="18" charset="0"/>
              </a:rPr>
              <a:t>k</a:t>
            </a:r>
            <a:r>
              <a:rPr lang="en-US" altLang="zh-CN" sz="2400" b="1">
                <a:solidFill>
                  <a:srgbClr val="FF0000"/>
                </a:solidFill>
                <a:latin typeface="Times New Roman" panose="02020603050405020304" pitchFamily="18" charset="0"/>
                <a:cs typeface="Times New Roman" panose="02020603050405020304" pitchFamily="18" charset="0"/>
              </a:rPr>
              <a:t>=1</a:t>
            </a:r>
            <a:r>
              <a:rPr lang="zh-CN" altLang="en-US" sz="2400" b="1">
                <a:solidFill>
                  <a:srgbClr val="FF0000"/>
                </a:solidFill>
                <a:latin typeface="Times New Roman" panose="02020603050405020304" pitchFamily="18" charset="0"/>
                <a:cs typeface="Times New Roman" panose="02020603050405020304" pitchFamily="18" charset="0"/>
              </a:rPr>
              <a:t>时，</a:t>
            </a:r>
            <a:r>
              <a:rPr lang="zh-CN" altLang="en-US" sz="2400" b="1">
                <a:latin typeface="Times New Roman" panose="02020603050405020304" pitchFamily="18" charset="0"/>
                <a:cs typeface="Times New Roman" panose="02020603050405020304" pitchFamily="18" charset="0"/>
              </a:rPr>
              <a:t>由</a:t>
            </a:r>
          </a:p>
        </p:txBody>
      </p:sp>
      <p:sp>
        <p:nvSpPr>
          <p:cNvPr id="93189" name="Rectangle 8"/>
          <p:cNvSpPr>
            <a:spLocks noChangeArrowheads="1"/>
          </p:cNvSpPr>
          <p:nvPr/>
        </p:nvSpPr>
        <p:spPr bwMode="auto">
          <a:xfrm>
            <a:off x="595313" y="2430939"/>
            <a:ext cx="1640205" cy="53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20000"/>
              </a:lnSpc>
            </a:pPr>
            <a:r>
              <a:rPr lang="zh-CN" altLang="en-US" sz="2400" b="1">
                <a:latin typeface="Times New Roman" panose="02020603050405020304" pitchFamily="18" charset="0"/>
                <a:cs typeface="Times New Roman" panose="02020603050405020304" pitchFamily="18" charset="0"/>
              </a:rPr>
              <a:t>对</a:t>
            </a:r>
            <a:r>
              <a:rPr lang="en-US" altLang="zh-CN" sz="2400" b="1" i="1">
                <a:latin typeface="Times New Roman" panose="02020603050405020304" pitchFamily="18" charset="0"/>
                <a:cs typeface="Times New Roman" panose="02020603050405020304" pitchFamily="18" charset="0"/>
              </a:rPr>
              <a:t>v</a:t>
            </a:r>
            <a:r>
              <a:rPr lang="en-US" altLang="zh-CN" sz="2400" b="1" baseline="-25000">
                <a:latin typeface="Times New Roman" panose="02020603050405020304" pitchFamily="18" charset="0"/>
                <a:cs typeface="Times New Roman" panose="02020603050405020304" pitchFamily="18" charset="0"/>
              </a:rPr>
              <a:t>1</a:t>
            </a:r>
            <a:r>
              <a:rPr lang="zh-CN" altLang="en-US" sz="2400" b="1">
                <a:latin typeface="Times New Roman" panose="02020603050405020304" pitchFamily="18" charset="0"/>
                <a:cs typeface="Times New Roman" panose="02020603050405020304" pitchFamily="18" charset="0"/>
              </a:rPr>
              <a:t>在</a:t>
            </a:r>
            <a:r>
              <a:rPr lang="en-US" altLang="zh-CN" sz="2400" b="1">
                <a:latin typeface="Times New Roman" panose="02020603050405020304" pitchFamily="18" charset="0"/>
                <a:cs typeface="Times New Roman" panose="02020603050405020304" pitchFamily="18" charset="0"/>
              </a:rPr>
              <a:t> 0 </a:t>
            </a:r>
            <a:r>
              <a:rPr lang="zh-CN" altLang="en-US" sz="2400" b="1">
                <a:latin typeface="Times New Roman" panose="02020603050405020304" pitchFamily="18" charset="0"/>
                <a:cs typeface="Times New Roman" panose="02020603050405020304" pitchFamily="18" charset="0"/>
              </a:rPr>
              <a:t>至</a:t>
            </a:r>
          </a:p>
        </p:txBody>
      </p:sp>
      <p:sp>
        <p:nvSpPr>
          <p:cNvPr id="93190" name="Rectangle 9"/>
          <p:cNvSpPr>
            <a:spLocks noChangeArrowheads="1"/>
          </p:cNvSpPr>
          <p:nvPr/>
        </p:nvSpPr>
        <p:spPr bwMode="auto">
          <a:xfrm>
            <a:off x="6499225" y="2387600"/>
            <a:ext cx="1437640" cy="53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266700">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indent="0" algn="l" latinLnBrk="0">
              <a:lnSpc>
                <a:spcPct val="120000"/>
              </a:lnSpc>
            </a:pPr>
            <a:r>
              <a:rPr lang="zh-CN" altLang="en-US" sz="2400" b="1">
                <a:latin typeface="Arial" panose="020B0604020202020204" pitchFamily="34" charset="0"/>
                <a:cs typeface="Times New Roman" panose="02020603050405020304" pitchFamily="18" charset="0"/>
              </a:rPr>
              <a:t>之间的值</a:t>
            </a:r>
            <a:endParaRPr lang="zh-CN" altLang="en-US" sz="2400" b="1">
              <a:latin typeface="Arial" panose="020B0604020202020204" pitchFamily="34" charset="0"/>
            </a:endParaRPr>
          </a:p>
        </p:txBody>
      </p:sp>
      <p:sp>
        <p:nvSpPr>
          <p:cNvPr id="93191" name="矩形 1"/>
          <p:cNvSpPr>
            <a:spLocks noChangeArrowheads="1"/>
          </p:cNvSpPr>
          <p:nvPr/>
        </p:nvSpPr>
        <p:spPr bwMode="auto">
          <a:xfrm>
            <a:off x="611505" y="3075305"/>
            <a:ext cx="244348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66700">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indent="0" latinLnBrk="0">
              <a:lnSpc>
                <a:spcPct val="120000"/>
              </a:lnSpc>
            </a:pPr>
            <a:r>
              <a:rPr lang="zh-CN" altLang="en-US" sz="2400" b="1">
                <a:latin typeface="Arial" panose="020B0604020202020204" pitchFamily="34" charset="0"/>
                <a:cs typeface="Times New Roman" panose="02020603050405020304" pitchFamily="18" charset="0"/>
              </a:rPr>
              <a:t>分别进行计算。</a:t>
            </a:r>
            <a:endParaRPr lang="zh-CN" altLang="en-US" sz="2400" b="1">
              <a:latin typeface="Arial" panose="020B0604020202020204" pitchFamily="34" charset="0"/>
            </a:endParaRPr>
          </a:p>
        </p:txBody>
      </p:sp>
      <p:graphicFrame>
        <p:nvGraphicFramePr>
          <p:cNvPr id="93192" name="Object 8"/>
          <p:cNvGraphicFramePr>
            <a:graphicFrameLocks noChangeAspect="1"/>
          </p:cNvGraphicFramePr>
          <p:nvPr/>
        </p:nvGraphicFramePr>
        <p:xfrm>
          <a:off x="1009650" y="3813175"/>
          <a:ext cx="6237288" cy="1727200"/>
        </p:xfrm>
        <a:graphic>
          <a:graphicData uri="http://schemas.openxmlformats.org/presentationml/2006/ole">
            <mc:AlternateContent xmlns:mc="http://schemas.openxmlformats.org/markup-compatibility/2006">
              <mc:Choice xmlns:v="urn:schemas-microsoft-com:vml" Requires="v">
                <p:oleObj r:id="rId9" imgW="3517900" imgH="939800" progId="Equation.DSMT4">
                  <p:embed/>
                </p:oleObj>
              </mc:Choice>
              <mc:Fallback>
                <p:oleObj r:id="rId9" imgW="3517900" imgH="939800" progId="Equation.DSMT4">
                  <p:embed/>
                  <p:pic>
                    <p:nvPicPr>
                      <p:cNvPr id="0" name="Object 8"/>
                      <p:cNvPicPr>
                        <a:picLocks noChangeAspect="1" noChangeArrowheads="1"/>
                      </p:cNvPicPr>
                      <p:nvPr/>
                    </p:nvPicPr>
                    <p:blipFill>
                      <a:blip r:embed="rId10">
                        <a:lum bright="-40000" contrast="-40000"/>
                        <a:extLst>
                          <a:ext uri="{28A0092B-C50C-407E-A947-70E740481C1C}">
                            <a14:useLocalDpi xmlns:a14="http://schemas.microsoft.com/office/drawing/2010/main" val="0"/>
                          </a:ext>
                        </a:extLst>
                      </a:blip>
                      <a:srcRect/>
                      <a:stretch>
                        <a:fillRect/>
                      </a:stretch>
                    </p:blipFill>
                    <p:spPr bwMode="auto">
                      <a:xfrm>
                        <a:off x="1009650" y="3813175"/>
                        <a:ext cx="6237288"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3194"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468B2453-0EE2-47EC-B37F-228FC3F341E3}" type="slidenum">
              <a:rPr lang="en-US" altLang="zh-CN" sz="1400">
                <a:latin typeface="Times New Roman" panose="02020603050405020304" pitchFamily="18" charset="0"/>
              </a:rPr>
              <a:t>17</a:t>
            </a:fld>
            <a:endParaRPr lang="en-US" altLang="zh-CN" sz="1400">
              <a:latin typeface="Times New Roman" panose="02020603050405020304" pitchFamily="18" charset="0"/>
            </a:endParaRPr>
          </a:p>
        </p:txBody>
      </p:sp>
      <p:sp>
        <p:nvSpPr>
          <p:cNvPr id="93198" name="Rectangle 10"/>
          <p:cNvSpPr>
            <a:spLocks noChangeArrowheads="1"/>
          </p:cNvSpPr>
          <p:nvPr/>
        </p:nvSpPr>
        <p:spPr bwMode="auto">
          <a:xfrm>
            <a:off x="867410" y="5470525"/>
            <a:ext cx="1393190" cy="651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20000"/>
              </a:lnSpc>
            </a:pPr>
            <a:r>
              <a:rPr lang="zh-CN" altLang="en-US" sz="2400" b="1">
                <a:latin typeface="Arial" panose="020B0604020202020204" pitchFamily="34" charset="0"/>
                <a:cs typeface="Times New Roman" panose="02020603050405020304" pitchFamily="18" charset="0"/>
              </a:rPr>
              <a:t>同理得</a:t>
            </a:r>
            <a:endParaRPr lang="zh-CN" altLang="en-US" sz="2400" b="1">
              <a:latin typeface="Arial" panose="020B0604020202020204" pitchFamily="34" charset="0"/>
            </a:endParaRPr>
          </a:p>
        </p:txBody>
      </p:sp>
      <p:grpSp>
        <p:nvGrpSpPr>
          <p:cNvPr id="6" name="组合 5"/>
          <p:cNvGrpSpPr/>
          <p:nvPr/>
        </p:nvGrpSpPr>
        <p:grpSpPr bwMode="auto">
          <a:xfrm>
            <a:off x="4114800" y="3083685"/>
            <a:ext cx="2503062" cy="839028"/>
            <a:chOff x="4572000" y="2734486"/>
            <a:chExt cx="2502903" cy="838530"/>
          </a:xfrm>
        </p:grpSpPr>
        <p:graphicFrame>
          <p:nvGraphicFramePr>
            <p:cNvPr id="93200" name="对象 1"/>
            <p:cNvGraphicFramePr>
              <a:graphicFrameLocks noChangeAspect="1"/>
            </p:cNvGraphicFramePr>
            <p:nvPr/>
          </p:nvGraphicFramePr>
          <p:xfrm>
            <a:off x="4856989" y="2734486"/>
            <a:ext cx="2217914" cy="588930"/>
          </p:xfrm>
          <a:graphic>
            <a:graphicData uri="http://schemas.openxmlformats.org/presentationml/2006/ole">
              <mc:AlternateContent xmlns:mc="http://schemas.openxmlformats.org/markup-compatibility/2006">
                <mc:Choice xmlns:v="urn:schemas-microsoft-com:vml" Requires="v">
                  <p:oleObj name="Equation" r:id="rId11" imgW="812800" imgH="215900" progId="Equation.DSMT4">
                    <p:embed/>
                  </p:oleObj>
                </mc:Choice>
                <mc:Fallback>
                  <p:oleObj name="Equation" r:id="rId11" imgW="812800" imgH="215900" progId="Equation.DSMT4">
                    <p:embed/>
                    <p:pic>
                      <p:nvPicPr>
                        <p:cNvPr id="0" name="对象 1"/>
                        <p:cNvPicPr>
                          <a:picLocks noChangeAspect="1" noChangeArrowheads="1"/>
                        </p:cNvPicPr>
                        <p:nvPr/>
                      </p:nvPicPr>
                      <p:blipFill>
                        <a:blip r:embed="rId12"/>
                        <a:srcRect/>
                        <a:stretch>
                          <a:fillRect/>
                        </a:stretch>
                      </p:blipFill>
                      <p:spPr bwMode="auto">
                        <a:xfrm>
                          <a:off x="4856989" y="2734486"/>
                          <a:ext cx="2217914" cy="58893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93201" name="直接箭头连接符 3"/>
            <p:cNvCxnSpPr>
              <a:cxnSpLocks noChangeShapeType="1"/>
            </p:cNvCxnSpPr>
            <p:nvPr/>
          </p:nvCxnSpPr>
          <p:spPr bwMode="auto">
            <a:xfrm flipH="1">
              <a:off x="4572000" y="3212976"/>
              <a:ext cx="504056" cy="36004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8" name="标题 1"/>
          <p:cNvSpPr txBox="1"/>
          <p:nvPr/>
        </p:nvSpPr>
        <p:spPr>
          <a:xfrm>
            <a:off x="533400" y="712470"/>
            <a:ext cx="3001010" cy="758825"/>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en-US" sz="3600" b="1" kern="0" dirty="0">
                <a:sym typeface="+mn-ea"/>
              </a:rPr>
              <a:t>例</a:t>
            </a:r>
            <a:r>
              <a:rPr lang="en-US" altLang="zh-CN" sz="3600" b="1" kern="0" dirty="0">
                <a:sym typeface="+mn-ea"/>
              </a:rPr>
              <a:t>3</a:t>
            </a:r>
            <a:r>
              <a:rPr lang="zh-CN" altLang="en-US" sz="3600" b="1" kern="0" dirty="0"/>
              <a:t> </a:t>
            </a:r>
            <a:r>
              <a:rPr lang="en-US" altLang="zh-CN" sz="3600" b="1" kern="0" dirty="0"/>
              <a:t>– </a:t>
            </a:r>
            <a:r>
              <a:rPr lang="zh-CN" altLang="en-US" sz="2800" b="1" kern="0" dirty="0">
                <a:solidFill>
                  <a:srgbClr val="0070C0"/>
                </a:solidFill>
              </a:rPr>
              <a:t>顺推法</a:t>
            </a:r>
            <a:r>
              <a:rPr lang="en-US" altLang="zh-CN" sz="3600" b="1" kern="0" dirty="0"/>
              <a:t> </a:t>
            </a:r>
            <a:endParaRPr lang="zh-CN" altLang="en-US" sz="3600" b="1" kern="0" dirty="0"/>
          </a:p>
        </p:txBody>
      </p:sp>
      <p:graphicFrame>
        <p:nvGraphicFramePr>
          <p:cNvPr id="8" name="Object 8"/>
          <p:cNvGraphicFramePr>
            <a:graphicFrameLocks noChangeAspect="1"/>
          </p:cNvGraphicFramePr>
          <p:nvPr>
            <p:custDataLst>
              <p:tags r:id="rId1"/>
            </p:custDataLst>
          </p:nvPr>
        </p:nvGraphicFramePr>
        <p:xfrm>
          <a:off x="2068037" y="5715000"/>
          <a:ext cx="3941445" cy="840740"/>
        </p:xfrm>
        <a:graphic>
          <a:graphicData uri="http://schemas.openxmlformats.org/presentationml/2006/ole">
            <mc:AlternateContent xmlns:mc="http://schemas.openxmlformats.org/markup-compatibility/2006">
              <mc:Choice xmlns:v="urn:schemas-microsoft-com:vml" Requires="v">
                <p:oleObj r:id="rId13" imgW="2222500" imgH="457200" progId="Equation.DSMT4">
                  <p:embed/>
                </p:oleObj>
              </mc:Choice>
              <mc:Fallback>
                <p:oleObj r:id="rId13" imgW="2222500" imgH="457200" progId="Equation.DSMT4">
                  <p:embed/>
                  <p:pic>
                    <p:nvPicPr>
                      <p:cNvPr id="0" name="Object 8"/>
                      <p:cNvPicPr>
                        <a:picLocks noChangeAspect="1" noChangeArrowheads="1"/>
                      </p:cNvPicPr>
                      <p:nvPr/>
                    </p:nvPicPr>
                    <p:blipFill>
                      <a:blip r:embed="rId14">
                        <a:lum bright="-40000" contrast="-40000"/>
                      </a:blip>
                      <a:srcRect/>
                      <a:stretch>
                        <a:fillRect/>
                      </a:stretch>
                    </p:blipFill>
                    <p:spPr bwMode="auto">
                      <a:xfrm>
                        <a:off x="2068037" y="5715000"/>
                        <a:ext cx="3941445" cy="840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2"/>
          <p:cNvGraphicFramePr>
            <a:graphicFrameLocks noChangeAspect="1"/>
          </p:cNvGraphicFramePr>
          <p:nvPr>
            <p:custDataLst>
              <p:tags r:id="rId2"/>
            </p:custDataLst>
          </p:nvPr>
        </p:nvGraphicFramePr>
        <p:xfrm>
          <a:off x="7435850" y="4572000"/>
          <a:ext cx="1117600" cy="1870710"/>
        </p:xfrm>
        <a:graphic>
          <a:graphicData uri="http://schemas.openxmlformats.org/presentationml/2006/ole">
            <mc:AlternateContent xmlns:mc="http://schemas.openxmlformats.org/markup-compatibility/2006">
              <mc:Choice xmlns:v="urn:schemas-microsoft-com:vml" Requires="v">
                <p:oleObj name="Equation" r:id="rId15" imgW="685800" imgH="1143000" progId="Equation.DSMT4">
                  <p:embed/>
                </p:oleObj>
              </mc:Choice>
              <mc:Fallback>
                <p:oleObj name="Equation" r:id="rId15" imgW="685800" imgH="1143000" progId="Equation.DSMT4">
                  <p:embed/>
                  <p:pic>
                    <p:nvPicPr>
                      <p:cNvPr id="0" name="Object 2"/>
                      <p:cNvPicPr>
                        <a:picLocks noChangeAspect="1" noChangeArrowheads="1"/>
                      </p:cNvPicPr>
                      <p:nvPr/>
                    </p:nvPicPr>
                    <p:blipFill>
                      <a:blip r:embed="rId16">
                        <a:lum bright="-40000" contrast="-40000"/>
                      </a:blip>
                      <a:srcRect/>
                      <a:stretch>
                        <a:fillRect/>
                      </a:stretch>
                    </p:blipFill>
                    <p:spPr bwMode="auto">
                      <a:xfrm>
                        <a:off x="7435850" y="4572000"/>
                        <a:ext cx="1117600" cy="1870710"/>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Group 4"/>
          <p:cNvGraphicFramePr>
            <a:graphicFrameLocks noGrp="1"/>
          </p:cNvGraphicFramePr>
          <p:nvPr>
            <p:custDataLst>
              <p:tags r:id="rId3"/>
            </p:custDataLst>
          </p:nvPr>
        </p:nvGraphicFramePr>
        <p:xfrm>
          <a:off x="5717540" y="525780"/>
          <a:ext cx="2931160" cy="1184466"/>
        </p:xfrm>
        <a:graphic>
          <a:graphicData uri="http://schemas.openxmlformats.org/drawingml/2006/table">
            <a:tbl>
              <a:tblPr/>
              <a:tblGrid>
                <a:gridCol w="751840">
                  <a:extLst>
                    <a:ext uri="{9D8B030D-6E8A-4147-A177-3AD203B41FA5}">
                      <a16:colId xmlns:a16="http://schemas.microsoft.com/office/drawing/2014/main" val="20000"/>
                    </a:ext>
                  </a:extLst>
                </a:gridCol>
                <a:gridCol w="502285">
                  <a:extLst>
                    <a:ext uri="{9D8B030D-6E8A-4147-A177-3AD203B41FA5}">
                      <a16:colId xmlns:a16="http://schemas.microsoft.com/office/drawing/2014/main" val="20001"/>
                    </a:ext>
                  </a:extLst>
                </a:gridCol>
                <a:gridCol w="563245">
                  <a:extLst>
                    <a:ext uri="{9D8B030D-6E8A-4147-A177-3AD203B41FA5}">
                      <a16:colId xmlns:a16="http://schemas.microsoft.com/office/drawing/2014/main" val="20002"/>
                    </a:ext>
                  </a:extLst>
                </a:gridCol>
                <a:gridCol w="564515">
                  <a:extLst>
                    <a:ext uri="{9D8B030D-6E8A-4147-A177-3AD203B41FA5}">
                      <a16:colId xmlns:a16="http://schemas.microsoft.com/office/drawing/2014/main" val="20003"/>
                    </a:ext>
                  </a:extLst>
                </a:gridCol>
                <a:gridCol w="549275">
                  <a:extLst>
                    <a:ext uri="{9D8B030D-6E8A-4147-A177-3AD203B41FA5}">
                      <a16:colId xmlns:a16="http://schemas.microsoft.com/office/drawing/2014/main" val="20004"/>
                    </a:ext>
                  </a:extLst>
                </a:gridCol>
              </a:tblGrid>
              <a:tr h="357505">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时期</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0"/>
                  </a:ext>
                </a:extLst>
              </a:tr>
              <a:tr h="603250">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需求量</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en-US" sz="1400" b="1"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en-US" sz="1400" b="1" i="0" u="none" strike="noStrike" cap="none" normalizeH="0" baseline="-2500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1"/>
                  </a:ext>
                </a:extLst>
              </a:tr>
            </a:tbl>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8"/>
          <p:cNvSpPr>
            <a:spLocks noChangeArrowheads="1"/>
          </p:cNvSpPr>
          <p:nvPr/>
        </p:nvSpPr>
        <p:spPr bwMode="auto">
          <a:xfrm>
            <a:off x="1344295" y="3865880"/>
            <a:ext cx="1732280" cy="53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dirty="0">
                <a:latin typeface="Times New Roman" panose="02020603050405020304" pitchFamily="18" charset="0"/>
                <a:cs typeface="Times New Roman" panose="02020603050405020304" pitchFamily="18" charset="0"/>
              </a:rPr>
              <a:t>对</a:t>
            </a:r>
            <a:r>
              <a:rPr lang="en-US" altLang="zh-CN" sz="2400" b="1" i="1" dirty="0">
                <a:latin typeface="Times New Roman" panose="02020603050405020304" pitchFamily="18" charset="0"/>
                <a:cs typeface="Times New Roman" panose="02020603050405020304" pitchFamily="18" charset="0"/>
              </a:rPr>
              <a:t>v</a:t>
            </a:r>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在</a:t>
            </a:r>
            <a:r>
              <a:rPr lang="en-US" altLang="zh-CN" sz="2400" b="1" dirty="0">
                <a:latin typeface="Times New Roman" panose="02020603050405020304" pitchFamily="18" charset="0"/>
                <a:cs typeface="Times New Roman" panose="02020603050405020304" pitchFamily="18" charset="0"/>
              </a:rPr>
              <a:t> 0 </a:t>
            </a:r>
            <a:r>
              <a:rPr lang="zh-CN" altLang="en-US" sz="2400" b="1" dirty="0">
                <a:latin typeface="Times New Roman" panose="02020603050405020304" pitchFamily="18" charset="0"/>
                <a:cs typeface="Times New Roman" panose="02020603050405020304" pitchFamily="18" charset="0"/>
              </a:rPr>
              <a:t>至</a:t>
            </a:r>
          </a:p>
        </p:txBody>
      </p:sp>
      <p:graphicFrame>
        <p:nvGraphicFramePr>
          <p:cNvPr id="94211" name="Object 3"/>
          <p:cNvGraphicFramePr>
            <a:graphicFrameLocks noChangeAspect="1"/>
          </p:cNvGraphicFramePr>
          <p:nvPr/>
        </p:nvGraphicFramePr>
        <p:xfrm>
          <a:off x="1547813" y="2371725"/>
          <a:ext cx="6192837" cy="660400"/>
        </p:xfrm>
        <a:graphic>
          <a:graphicData uri="http://schemas.openxmlformats.org/presentationml/2006/ole">
            <mc:AlternateContent xmlns:mc="http://schemas.openxmlformats.org/markup-compatibility/2006">
              <mc:Choice xmlns:v="urn:schemas-microsoft-com:vml" Requires="v">
                <p:oleObj r:id="rId3" imgW="2857500" imgH="304800" progId="Equation.DSMT4">
                  <p:embed/>
                </p:oleObj>
              </mc:Choice>
              <mc:Fallback>
                <p:oleObj r:id="rId3" imgW="2857500" imgH="304800" progId="Equation.DSMT4">
                  <p:embed/>
                  <p:pic>
                    <p:nvPicPr>
                      <p:cNvPr id="0" name="Object 3"/>
                      <p:cNvPicPr>
                        <a:picLocks noChangeAspect="1" noChangeArrowheads="1"/>
                      </p:cNvPicPr>
                      <p:nvPr/>
                    </p:nvPicPr>
                    <p:blipFill>
                      <a:blip r:embed="rId4">
                        <a:lum bright="-40000" contrast="-40000"/>
                        <a:extLst>
                          <a:ext uri="{28A0092B-C50C-407E-A947-70E740481C1C}">
                            <a14:useLocalDpi xmlns:a14="http://schemas.microsoft.com/office/drawing/2010/main" val="0"/>
                          </a:ext>
                        </a:extLst>
                      </a:blip>
                      <a:srcRect/>
                      <a:stretch>
                        <a:fillRect/>
                      </a:stretch>
                    </p:blipFill>
                    <p:spPr bwMode="auto">
                      <a:xfrm>
                        <a:off x="1547813" y="2371725"/>
                        <a:ext cx="6192837"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212" name="Object 4"/>
          <p:cNvGraphicFramePr>
            <a:graphicFrameLocks noChangeAspect="1"/>
          </p:cNvGraphicFramePr>
          <p:nvPr/>
        </p:nvGraphicFramePr>
        <p:xfrm>
          <a:off x="1543368" y="3163729"/>
          <a:ext cx="2574290" cy="487680"/>
        </p:xfrm>
        <a:graphic>
          <a:graphicData uri="http://schemas.openxmlformats.org/presentationml/2006/ole">
            <mc:AlternateContent xmlns:mc="http://schemas.openxmlformats.org/markup-compatibility/2006">
              <mc:Choice xmlns:v="urn:schemas-microsoft-com:vml" Requires="v">
                <p:oleObj r:id="rId5" imgW="1206500" imgH="228600" progId="Equation.DSMT4">
                  <p:embed/>
                </p:oleObj>
              </mc:Choice>
              <mc:Fallback>
                <p:oleObj r:id="rId5" imgW="1206500" imgH="228600" progId="Equation.DSMT4">
                  <p:embed/>
                  <p:pic>
                    <p:nvPicPr>
                      <p:cNvPr id="0" name="Object 4"/>
                      <p:cNvPicPr>
                        <a:picLocks noChangeAspect="1" noChangeArrowheads="1"/>
                      </p:cNvPicPr>
                      <p:nvPr/>
                    </p:nvPicPr>
                    <p:blipFill>
                      <a:blip r:embed="rId6">
                        <a:lum bright="-40000" contrast="-40000"/>
                      </a:blip>
                      <a:srcRect/>
                      <a:stretch>
                        <a:fillRect/>
                      </a:stretch>
                    </p:blipFill>
                    <p:spPr bwMode="auto">
                      <a:xfrm>
                        <a:off x="1543368" y="3163729"/>
                        <a:ext cx="2574290" cy="487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213" name="Object 5"/>
          <p:cNvGraphicFramePr>
            <a:graphicFrameLocks noChangeAspect="1"/>
          </p:cNvGraphicFramePr>
          <p:nvPr/>
        </p:nvGraphicFramePr>
        <p:xfrm>
          <a:off x="2971800" y="3726006"/>
          <a:ext cx="4148335" cy="941388"/>
        </p:xfrm>
        <a:graphic>
          <a:graphicData uri="http://schemas.openxmlformats.org/presentationml/2006/ole">
            <mc:AlternateContent xmlns:mc="http://schemas.openxmlformats.org/markup-compatibility/2006">
              <mc:Choice xmlns:v="urn:schemas-microsoft-com:vml" Requires="v">
                <p:oleObj r:id="rId7" imgW="1969135" imgH="444500" progId="">
                  <p:embed/>
                </p:oleObj>
              </mc:Choice>
              <mc:Fallback>
                <p:oleObj r:id="rId7" imgW="1969135" imgH="444500" progId="">
                  <p:embed/>
                  <p:pic>
                    <p:nvPicPr>
                      <p:cNvPr id="0" name="Object 5"/>
                      <p:cNvPicPr>
                        <a:picLocks noChangeAspect="1" noChangeArrowheads="1"/>
                      </p:cNvPicPr>
                      <p:nvPr/>
                    </p:nvPicPr>
                    <p:blipFill>
                      <a:blip r:embed="rId8">
                        <a:lum bright="-40000" contrast="-40000"/>
                        <a:extLst>
                          <a:ext uri="{28A0092B-C50C-407E-A947-70E740481C1C}">
                            <a14:useLocalDpi xmlns:a14="http://schemas.microsoft.com/office/drawing/2010/main" val="0"/>
                          </a:ext>
                        </a:extLst>
                      </a:blip>
                      <a:srcRect/>
                      <a:stretch>
                        <a:fillRect/>
                      </a:stretch>
                    </p:blipFill>
                    <p:spPr bwMode="auto">
                      <a:xfrm>
                        <a:off x="2971800" y="3726006"/>
                        <a:ext cx="4148335" cy="941388"/>
                      </a:xfrm>
                      <a:prstGeom prst="rect">
                        <a:avLst/>
                      </a:prstGeom>
                      <a:noFill/>
                      <a:ln>
                        <a:noFill/>
                      </a:ln>
                    </p:spPr>
                  </p:pic>
                </p:oleObj>
              </mc:Fallback>
            </mc:AlternateContent>
          </a:graphicData>
        </a:graphic>
      </p:graphicFrame>
      <p:sp>
        <p:nvSpPr>
          <p:cNvPr id="94214" name="Rectangle 7"/>
          <p:cNvSpPr>
            <a:spLocks noChangeArrowheads="1"/>
          </p:cNvSpPr>
          <p:nvPr/>
        </p:nvSpPr>
        <p:spPr bwMode="auto">
          <a:xfrm>
            <a:off x="980281" y="1732439"/>
            <a:ext cx="1885950" cy="53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a:solidFill>
                  <a:srgbClr val="FF0000"/>
                </a:solidFill>
                <a:latin typeface="Times New Roman" panose="02020603050405020304" pitchFamily="18" charset="0"/>
                <a:cs typeface="Times New Roman" panose="02020603050405020304" pitchFamily="18" charset="0"/>
              </a:rPr>
              <a:t>当</a:t>
            </a:r>
            <a:r>
              <a:rPr lang="en-US" altLang="zh-CN" sz="2400" b="1" i="1">
                <a:solidFill>
                  <a:srgbClr val="FF0000"/>
                </a:solidFill>
                <a:latin typeface="Times New Roman" panose="02020603050405020304" pitchFamily="18" charset="0"/>
                <a:cs typeface="Times New Roman" panose="02020603050405020304" pitchFamily="18" charset="0"/>
              </a:rPr>
              <a:t>k</a:t>
            </a:r>
            <a:r>
              <a:rPr lang="en-US" altLang="zh-CN" sz="2400" b="1">
                <a:solidFill>
                  <a:srgbClr val="FF0000"/>
                </a:solidFill>
                <a:latin typeface="Times New Roman" panose="02020603050405020304" pitchFamily="18" charset="0"/>
                <a:cs typeface="Times New Roman" panose="02020603050405020304" pitchFamily="18" charset="0"/>
              </a:rPr>
              <a:t>=2</a:t>
            </a:r>
            <a:r>
              <a:rPr lang="zh-CN" altLang="en-US" sz="2400" b="1">
                <a:solidFill>
                  <a:srgbClr val="FF0000"/>
                </a:solidFill>
                <a:latin typeface="Times New Roman" panose="02020603050405020304" pitchFamily="18" charset="0"/>
                <a:cs typeface="Times New Roman" panose="02020603050405020304" pitchFamily="18" charset="0"/>
              </a:rPr>
              <a:t>时，由</a:t>
            </a:r>
          </a:p>
        </p:txBody>
      </p:sp>
      <p:sp>
        <p:nvSpPr>
          <p:cNvPr id="94215" name="Rectangle 10"/>
          <p:cNvSpPr>
            <a:spLocks noChangeArrowheads="1"/>
          </p:cNvSpPr>
          <p:nvPr/>
        </p:nvSpPr>
        <p:spPr bwMode="auto">
          <a:xfrm>
            <a:off x="1403350" y="4646612"/>
            <a:ext cx="3587750" cy="5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dirty="0">
                <a:latin typeface="Arial" panose="020B0604020202020204" pitchFamily="34" charset="0"/>
                <a:cs typeface="Times New Roman" panose="02020603050405020304" pitchFamily="18" charset="0"/>
              </a:rPr>
              <a:t>之间的值分别进行计算。</a:t>
            </a:r>
            <a:endParaRPr lang="zh-CN" altLang="en-US" sz="2400" b="1" dirty="0">
              <a:latin typeface="Arial" panose="020B0604020202020204" pitchFamily="34" charset="0"/>
            </a:endParaRPr>
          </a:p>
        </p:txBody>
      </p:sp>
      <p:sp>
        <p:nvSpPr>
          <p:cNvPr id="94217"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53676E27-BDEE-47D8-BC79-3F4BBA8A399B}" type="slidenum">
              <a:rPr lang="en-US" altLang="zh-CN" sz="1400">
                <a:latin typeface="Times New Roman" panose="02020603050405020304" pitchFamily="18" charset="0"/>
              </a:rPr>
              <a:t>18</a:t>
            </a:fld>
            <a:endParaRPr lang="en-US" altLang="zh-CN" sz="1400">
              <a:latin typeface="Times New Roman" panose="02020603050405020304" pitchFamily="18" charset="0"/>
            </a:endParaRPr>
          </a:p>
        </p:txBody>
      </p:sp>
      <p:sp>
        <p:nvSpPr>
          <p:cNvPr id="12" name="标题 1"/>
          <p:cNvSpPr txBox="1"/>
          <p:nvPr/>
        </p:nvSpPr>
        <p:spPr>
          <a:xfrm>
            <a:off x="533400" y="712470"/>
            <a:ext cx="3661410" cy="758825"/>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en-US" sz="3600" b="1" kern="0" dirty="0">
                <a:sym typeface="+mn-ea"/>
              </a:rPr>
              <a:t>例</a:t>
            </a:r>
            <a:r>
              <a:rPr lang="en-US" altLang="zh-CN" sz="3600" b="1" kern="0" dirty="0">
                <a:sym typeface="+mn-ea"/>
              </a:rPr>
              <a:t>3</a:t>
            </a:r>
            <a:r>
              <a:rPr lang="zh-CN" altLang="en-US" sz="3600" b="1" kern="0" dirty="0">
                <a:sym typeface="+mn-ea"/>
              </a:rPr>
              <a:t> </a:t>
            </a:r>
            <a:r>
              <a:rPr lang="en-US" altLang="zh-CN" sz="3600" b="1" kern="0" dirty="0">
                <a:sym typeface="+mn-ea"/>
              </a:rPr>
              <a:t>– </a:t>
            </a:r>
            <a:r>
              <a:rPr lang="zh-CN" altLang="en-US" sz="2800" b="1" kern="0" dirty="0">
                <a:solidFill>
                  <a:srgbClr val="0070C0"/>
                </a:solidFill>
                <a:sym typeface="+mn-ea"/>
              </a:rPr>
              <a:t>顺推法</a:t>
            </a:r>
            <a:endParaRPr lang="zh-CN" altLang="en-US" sz="2800" b="1" kern="0" dirty="0"/>
          </a:p>
        </p:txBody>
      </p:sp>
      <p:graphicFrame>
        <p:nvGraphicFramePr>
          <p:cNvPr id="13" name="Object 3"/>
          <p:cNvGraphicFramePr>
            <a:graphicFrameLocks noChangeAspect="1"/>
          </p:cNvGraphicFramePr>
          <p:nvPr/>
        </p:nvGraphicFramePr>
        <p:xfrm>
          <a:off x="854076" y="5943600"/>
          <a:ext cx="4181475" cy="554038"/>
        </p:xfrm>
        <a:graphic>
          <a:graphicData uri="http://schemas.openxmlformats.org/presentationml/2006/ole">
            <mc:AlternateContent xmlns:mc="http://schemas.openxmlformats.org/markup-compatibility/2006">
              <mc:Choice xmlns:v="urn:schemas-microsoft-com:vml" Requires="v">
                <p:oleObj name="Equation" r:id="rId9" imgW="2171700" imgH="228600" progId="Equation.DSMT4">
                  <p:embed/>
                </p:oleObj>
              </mc:Choice>
              <mc:Fallback>
                <p:oleObj name="Equation" r:id="rId9" imgW="2171700" imgH="228600" progId="Equation.DSMT4">
                  <p:embed/>
                  <p:pic>
                    <p:nvPicPr>
                      <p:cNvPr id="0" name="图片 4"/>
                      <p:cNvPicPr>
                        <a:picLocks noChangeAspect="1" noChangeArrowheads="1"/>
                      </p:cNvPicPr>
                      <p:nvPr/>
                    </p:nvPicPr>
                    <p:blipFill>
                      <a:blip r:embed="rId10">
                        <a:lum bright="-40000" contrast="-40000"/>
                        <a:extLst>
                          <a:ext uri="{28A0092B-C50C-407E-A947-70E740481C1C}">
                            <a14:useLocalDpi xmlns:a14="http://schemas.microsoft.com/office/drawing/2010/main" val="0"/>
                          </a:ext>
                        </a:extLst>
                      </a:blip>
                      <a:srcRect/>
                      <a:stretch>
                        <a:fillRect/>
                      </a:stretch>
                    </p:blipFill>
                    <p:spPr bwMode="auto">
                      <a:xfrm>
                        <a:off x="854076" y="5943600"/>
                        <a:ext cx="4181475" cy="554038"/>
                      </a:xfrm>
                      <a:prstGeom prst="rect">
                        <a:avLst/>
                      </a:prstGeom>
                      <a:solidFill>
                        <a:schemeClr val="bg1">
                          <a:lumMod val="85000"/>
                        </a:schemeClr>
                      </a:solidFill>
                      <a:ln>
                        <a:noFill/>
                      </a:ln>
                    </p:spPr>
                  </p:pic>
                </p:oleObj>
              </mc:Fallback>
            </mc:AlternateContent>
          </a:graphicData>
        </a:graphic>
      </p:graphicFrame>
      <p:sp>
        <p:nvSpPr>
          <p:cNvPr id="14" name="Rectangle 6"/>
          <p:cNvSpPr>
            <a:spLocks noChangeArrowheads="1"/>
          </p:cNvSpPr>
          <p:nvPr/>
        </p:nvSpPr>
        <p:spPr bwMode="auto">
          <a:xfrm>
            <a:off x="854075" y="5521364"/>
            <a:ext cx="4181476" cy="553998"/>
          </a:xfrm>
          <a:prstGeom prst="rect">
            <a:avLst/>
          </a:prstGeom>
          <a:solidFill>
            <a:schemeClr val="bg1">
              <a:lumMod val="85000"/>
            </a:schemeClr>
          </a:solidFill>
          <a:ln>
            <a:noFill/>
          </a:ln>
          <a:effec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342900" indent="-342900" algn="just">
              <a:lnSpc>
                <a:spcPct val="125000"/>
              </a:lnSpc>
              <a:spcBef>
                <a:spcPts val="1800"/>
              </a:spcBef>
              <a:buClr>
                <a:srgbClr val="C00000"/>
              </a:buClr>
              <a:buSzPct val="70000"/>
              <a:buFont typeface="Wingdings" panose="05000000000000000000" pitchFamily="2" charset="2"/>
              <a:buChar char="p"/>
            </a:pPr>
            <a:r>
              <a:rPr lang="zh-CN" altLang="en-US" sz="2400" b="1" dirty="0">
                <a:cs typeface="Times New Roman" panose="02020603050405020304" pitchFamily="18" charset="0"/>
              </a:rPr>
              <a:t>状态转移方程</a:t>
            </a:r>
          </a:p>
        </p:txBody>
      </p:sp>
      <p:graphicFrame>
        <p:nvGraphicFramePr>
          <p:cNvPr id="15" name="Object 3"/>
          <p:cNvGraphicFramePr>
            <a:graphicFrameLocks noChangeAspect="1"/>
          </p:cNvGraphicFramePr>
          <p:nvPr/>
        </p:nvGraphicFramePr>
        <p:xfrm>
          <a:off x="6103504" y="5715000"/>
          <a:ext cx="1419225" cy="554038"/>
        </p:xfrm>
        <a:graphic>
          <a:graphicData uri="http://schemas.openxmlformats.org/presentationml/2006/ole">
            <mc:AlternateContent xmlns:mc="http://schemas.openxmlformats.org/markup-compatibility/2006">
              <mc:Choice xmlns:v="urn:schemas-microsoft-com:vml" Requires="v">
                <p:oleObj name="Equation" r:id="rId11" imgW="17678400" imgH="5486400" progId="Equation.DSMT4">
                  <p:embed/>
                </p:oleObj>
              </mc:Choice>
              <mc:Fallback>
                <p:oleObj name="Equation" r:id="rId11" imgW="17678400" imgH="5486400" progId="Equation.DSMT4">
                  <p:embed/>
                  <p:pic>
                    <p:nvPicPr>
                      <p:cNvPr id="0" name="图片 5"/>
                      <p:cNvPicPr>
                        <a:picLocks noChangeAspect="1" noChangeArrowheads="1"/>
                      </p:cNvPicPr>
                      <p:nvPr/>
                    </p:nvPicPr>
                    <p:blipFill>
                      <a:blip r:embed="rId12">
                        <a:lum bright="-40000" contrast="-40000"/>
                      </a:blip>
                      <a:srcRect/>
                      <a:stretch>
                        <a:fillRect/>
                      </a:stretch>
                    </p:blipFill>
                    <p:spPr bwMode="auto">
                      <a:xfrm>
                        <a:off x="6103504" y="5715000"/>
                        <a:ext cx="1419225" cy="554038"/>
                      </a:xfrm>
                      <a:prstGeom prst="rect">
                        <a:avLst/>
                      </a:prstGeom>
                      <a:solidFill>
                        <a:schemeClr val="bg1">
                          <a:lumMod val="85000"/>
                        </a:schemeClr>
                      </a:solidFill>
                      <a:ln>
                        <a:noFill/>
                      </a:ln>
                    </p:spPr>
                  </p:pic>
                </p:oleObj>
              </mc:Fallback>
            </mc:AlternateContent>
          </a:graphicData>
        </a:graphic>
      </p:graphicFrame>
      <p:sp>
        <p:nvSpPr>
          <p:cNvPr id="7" name="右箭头 6"/>
          <p:cNvSpPr/>
          <p:nvPr/>
        </p:nvSpPr>
        <p:spPr>
          <a:xfrm>
            <a:off x="5181600" y="5867400"/>
            <a:ext cx="762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8" name="Group 4"/>
          <p:cNvGraphicFramePr>
            <a:graphicFrameLocks noGrp="1"/>
          </p:cNvGraphicFramePr>
          <p:nvPr>
            <p:custDataLst>
              <p:tags r:id="rId1"/>
            </p:custDataLst>
          </p:nvPr>
        </p:nvGraphicFramePr>
        <p:xfrm>
          <a:off x="5589270" y="540385"/>
          <a:ext cx="3051175" cy="967105"/>
        </p:xfrm>
        <a:graphic>
          <a:graphicData uri="http://schemas.openxmlformats.org/drawingml/2006/table">
            <a:tbl>
              <a:tblPr/>
              <a:tblGrid>
                <a:gridCol w="782955">
                  <a:extLst>
                    <a:ext uri="{9D8B030D-6E8A-4147-A177-3AD203B41FA5}">
                      <a16:colId xmlns:a16="http://schemas.microsoft.com/office/drawing/2014/main" val="20000"/>
                    </a:ext>
                  </a:extLst>
                </a:gridCol>
                <a:gridCol w="521970">
                  <a:extLst>
                    <a:ext uri="{9D8B030D-6E8A-4147-A177-3AD203B41FA5}">
                      <a16:colId xmlns:a16="http://schemas.microsoft.com/office/drawing/2014/main" val="20001"/>
                    </a:ext>
                  </a:extLst>
                </a:gridCol>
                <a:gridCol w="587375">
                  <a:extLst>
                    <a:ext uri="{9D8B030D-6E8A-4147-A177-3AD203B41FA5}">
                      <a16:colId xmlns:a16="http://schemas.microsoft.com/office/drawing/2014/main" val="20002"/>
                    </a:ext>
                  </a:extLst>
                </a:gridCol>
                <a:gridCol w="586740">
                  <a:extLst>
                    <a:ext uri="{9D8B030D-6E8A-4147-A177-3AD203B41FA5}">
                      <a16:colId xmlns:a16="http://schemas.microsoft.com/office/drawing/2014/main" val="20003"/>
                    </a:ext>
                  </a:extLst>
                </a:gridCol>
                <a:gridCol w="572135">
                  <a:extLst>
                    <a:ext uri="{9D8B030D-6E8A-4147-A177-3AD203B41FA5}">
                      <a16:colId xmlns:a16="http://schemas.microsoft.com/office/drawing/2014/main" val="20004"/>
                    </a:ext>
                  </a:extLst>
                </a:gridCol>
              </a:tblGrid>
              <a:tr h="363855">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时期</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0"/>
                  </a:ext>
                </a:extLst>
              </a:tr>
              <a:tr h="603250">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需求量</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en-US" sz="1400" b="1"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en-US" sz="1400" b="1" i="0" u="none" strike="noStrike" cap="none" normalizeH="0" baseline="-2500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1"/>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234" name="Object 2"/>
          <p:cNvGraphicFramePr>
            <a:graphicFrameLocks noChangeAspect="1"/>
          </p:cNvGraphicFramePr>
          <p:nvPr/>
        </p:nvGraphicFramePr>
        <p:xfrm>
          <a:off x="1295400" y="2419350"/>
          <a:ext cx="7223760" cy="2140585"/>
        </p:xfrm>
        <a:graphic>
          <a:graphicData uri="http://schemas.openxmlformats.org/presentationml/2006/ole">
            <mc:AlternateContent xmlns:mc="http://schemas.openxmlformats.org/markup-compatibility/2006">
              <mc:Choice xmlns:v="urn:schemas-microsoft-com:vml" Requires="v">
                <p:oleObj r:id="rId8" imgW="4203065" imgH="1244600" progId="Equation.DSMT4">
                  <p:embed/>
                </p:oleObj>
              </mc:Choice>
              <mc:Fallback>
                <p:oleObj r:id="rId8" imgW="4203065" imgH="1244600" progId="Equation.DSMT4">
                  <p:embed/>
                  <p:pic>
                    <p:nvPicPr>
                      <p:cNvPr id="0" name="Object 2"/>
                      <p:cNvPicPr>
                        <a:picLocks noChangeAspect="1" noChangeArrowheads="1"/>
                      </p:cNvPicPr>
                      <p:nvPr/>
                    </p:nvPicPr>
                    <p:blipFill>
                      <a:blip r:embed="rId9">
                        <a:lum bright="-40000" contrast="-40000"/>
                      </a:blip>
                      <a:srcRect/>
                      <a:stretch>
                        <a:fillRect/>
                      </a:stretch>
                    </p:blipFill>
                    <p:spPr bwMode="auto">
                      <a:xfrm>
                        <a:off x="1295400" y="2419350"/>
                        <a:ext cx="7223760" cy="2140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5236" name="灯片编号占位符 3"/>
          <p:cNvSpPr txBox="1">
            <a:spLocks noGrp="1" noChangeArrowheads="1"/>
          </p:cNvSpPr>
          <p:nvPr/>
        </p:nvSpPr>
        <p:spPr bwMode="auto">
          <a:xfrm>
            <a:off x="7042150" y="63119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C254AD2E-5E64-4031-A94A-5F63AD2332A5}" type="slidenum">
              <a:rPr lang="en-US" altLang="zh-CN" sz="1400">
                <a:latin typeface="Times New Roman" panose="02020603050405020304" pitchFamily="18" charset="0"/>
              </a:rPr>
              <a:t>19</a:t>
            </a:fld>
            <a:endParaRPr lang="en-US" altLang="zh-CN" sz="1400">
              <a:latin typeface="Times New Roman" panose="02020603050405020304" pitchFamily="18" charset="0"/>
            </a:endParaRPr>
          </a:p>
        </p:txBody>
      </p:sp>
      <p:graphicFrame>
        <p:nvGraphicFramePr>
          <p:cNvPr id="95240" name="对象 2"/>
          <p:cNvGraphicFramePr>
            <a:graphicFrameLocks noChangeAspect="1"/>
          </p:cNvGraphicFramePr>
          <p:nvPr/>
        </p:nvGraphicFramePr>
        <p:xfrm>
          <a:off x="6085205" y="2289175"/>
          <a:ext cx="2520315" cy="415290"/>
        </p:xfrm>
        <a:graphic>
          <a:graphicData uri="http://schemas.openxmlformats.org/presentationml/2006/ole">
            <mc:AlternateContent xmlns:mc="http://schemas.openxmlformats.org/markup-compatibility/2006">
              <mc:Choice xmlns:v="urn:schemas-microsoft-com:vml" Requires="v">
                <p:oleObj name="Equation" r:id="rId10" imgW="1384300" imgH="228600" progId="Equation.DSMT4">
                  <p:embed/>
                </p:oleObj>
              </mc:Choice>
              <mc:Fallback>
                <p:oleObj name="Equation" r:id="rId10" imgW="1384300" imgH="228600" progId="Equation.DSMT4">
                  <p:embed/>
                  <p:pic>
                    <p:nvPicPr>
                      <p:cNvPr id="0" name="对象 2"/>
                      <p:cNvPicPr>
                        <a:picLocks noChangeAspect="1" noChangeArrowheads="1"/>
                      </p:cNvPicPr>
                      <p:nvPr/>
                    </p:nvPicPr>
                    <p:blipFill>
                      <a:blip r:embed="rId11">
                        <a:lum bright="-40000" contrast="-40000"/>
                        <a:extLst>
                          <a:ext uri="{28A0092B-C50C-407E-A947-70E740481C1C}">
                            <a14:useLocalDpi xmlns:a14="http://schemas.microsoft.com/office/drawing/2010/main" val="0"/>
                          </a:ext>
                        </a:extLst>
                      </a:blip>
                      <a:srcRect/>
                      <a:stretch>
                        <a:fillRect/>
                      </a:stretch>
                    </p:blipFill>
                    <p:spPr bwMode="auto">
                      <a:xfrm>
                        <a:off x="6085205" y="2289175"/>
                        <a:ext cx="2520315" cy="415290"/>
                      </a:xfrm>
                      <a:prstGeom prst="rect">
                        <a:avLst/>
                      </a:prstGeom>
                      <a:solidFill>
                        <a:srgbClr val="FFFF00"/>
                      </a:solidFill>
                      <a:ln w="9525">
                        <a:solidFill>
                          <a:schemeClr val="tx1"/>
                        </a:solidFill>
                        <a:miter lim="800000"/>
                        <a:headEnd/>
                        <a:tailEnd/>
                      </a:ln>
                    </p:spPr>
                  </p:pic>
                </p:oleObj>
              </mc:Fallback>
            </mc:AlternateContent>
          </a:graphicData>
        </a:graphic>
      </p:graphicFrame>
      <p:graphicFrame>
        <p:nvGraphicFramePr>
          <p:cNvPr id="95241" name="对象 3"/>
          <p:cNvGraphicFramePr>
            <a:graphicFrameLocks noChangeAspect="1"/>
          </p:cNvGraphicFramePr>
          <p:nvPr/>
        </p:nvGraphicFramePr>
        <p:xfrm>
          <a:off x="611188" y="1641760"/>
          <a:ext cx="6192837" cy="660400"/>
        </p:xfrm>
        <a:graphic>
          <a:graphicData uri="http://schemas.openxmlformats.org/presentationml/2006/ole">
            <mc:AlternateContent xmlns:mc="http://schemas.openxmlformats.org/markup-compatibility/2006">
              <mc:Choice xmlns:v="urn:schemas-microsoft-com:vml" Requires="v">
                <p:oleObj r:id="rId12" imgW="2857500" imgH="304800" progId="Equation.DSMT4">
                  <p:embed/>
                </p:oleObj>
              </mc:Choice>
              <mc:Fallback>
                <p:oleObj r:id="rId12" imgW="2857500" imgH="304800" progId="Equation.DSMT4">
                  <p:embed/>
                  <p:pic>
                    <p:nvPicPr>
                      <p:cNvPr id="0" name="对象 3"/>
                      <p:cNvPicPr>
                        <a:picLocks noChangeAspect="1" noChangeArrowheads="1"/>
                      </p:cNvPicPr>
                      <p:nvPr/>
                    </p:nvPicPr>
                    <p:blipFill>
                      <a:blip r:embed="rId13">
                        <a:lum bright="-40000" contrast="-40000"/>
                        <a:extLst>
                          <a:ext uri="{28A0092B-C50C-407E-A947-70E740481C1C}">
                            <a14:useLocalDpi xmlns:a14="http://schemas.microsoft.com/office/drawing/2010/main" val="0"/>
                          </a:ext>
                        </a:extLst>
                      </a:blip>
                      <a:srcRect/>
                      <a:stretch>
                        <a:fillRect/>
                      </a:stretch>
                    </p:blipFill>
                    <p:spPr bwMode="auto">
                      <a:xfrm>
                        <a:off x="611188" y="1641760"/>
                        <a:ext cx="6192837"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3"/>
          <p:cNvGraphicFramePr>
            <a:graphicFrameLocks noChangeAspect="1"/>
          </p:cNvGraphicFramePr>
          <p:nvPr/>
        </p:nvGraphicFramePr>
        <p:xfrm>
          <a:off x="6021070" y="917575"/>
          <a:ext cx="1849755" cy="466725"/>
        </p:xfrm>
        <a:graphic>
          <a:graphicData uri="http://schemas.openxmlformats.org/presentationml/2006/ole">
            <mc:AlternateContent xmlns:mc="http://schemas.openxmlformats.org/markup-compatibility/2006">
              <mc:Choice xmlns:v="urn:schemas-microsoft-com:vml" Requires="v">
                <p:oleObj name="Equation" r:id="rId14" imgW="25908000" imgH="5486400" progId="Equation.DSMT4">
                  <p:embed/>
                </p:oleObj>
              </mc:Choice>
              <mc:Fallback>
                <p:oleObj name="Equation" r:id="rId14" imgW="25908000" imgH="5486400" progId="Equation.DSMT4">
                  <p:embed/>
                  <p:pic>
                    <p:nvPicPr>
                      <p:cNvPr id="0" name="图片 4"/>
                      <p:cNvPicPr>
                        <a:picLocks noChangeAspect="1" noChangeArrowheads="1"/>
                      </p:cNvPicPr>
                      <p:nvPr/>
                    </p:nvPicPr>
                    <p:blipFill>
                      <a:blip r:embed="rId15">
                        <a:lum bright="-40000" contrast="-40000"/>
                      </a:blip>
                      <a:srcRect/>
                      <a:stretch>
                        <a:fillRect/>
                      </a:stretch>
                    </p:blipFill>
                    <p:spPr bwMode="auto">
                      <a:xfrm>
                        <a:off x="6021070" y="917575"/>
                        <a:ext cx="1849755" cy="466725"/>
                      </a:xfrm>
                      <a:prstGeom prst="rect">
                        <a:avLst/>
                      </a:prstGeom>
                      <a:solidFill>
                        <a:schemeClr val="bg1">
                          <a:lumMod val="85000"/>
                        </a:schemeClr>
                      </a:solidFill>
                      <a:ln>
                        <a:noFill/>
                      </a:ln>
                    </p:spPr>
                  </p:pic>
                </p:oleObj>
              </mc:Fallback>
            </mc:AlternateContent>
          </a:graphicData>
        </a:graphic>
      </p:graphicFrame>
      <p:sp>
        <p:nvSpPr>
          <p:cNvPr id="12" name="Rectangle 6"/>
          <p:cNvSpPr>
            <a:spLocks noChangeArrowheads="1"/>
          </p:cNvSpPr>
          <p:nvPr/>
        </p:nvSpPr>
        <p:spPr bwMode="auto">
          <a:xfrm>
            <a:off x="6021070" y="642620"/>
            <a:ext cx="1849755" cy="295910"/>
          </a:xfrm>
          <a:prstGeom prst="rect">
            <a:avLst/>
          </a:prstGeom>
          <a:solidFill>
            <a:schemeClr val="bg1">
              <a:lumMod val="85000"/>
            </a:schemeClr>
          </a:solidFill>
          <a:ln>
            <a:noFill/>
          </a:ln>
          <a:effectLst/>
        </p:spPr>
        <p:txBody>
          <a:bodyPr wrap="square" anchor="ctr">
            <a:no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5000"/>
              </a:lnSpc>
              <a:spcBef>
                <a:spcPts val="1800"/>
              </a:spcBef>
              <a:buClr>
                <a:srgbClr val="C00000"/>
              </a:buClr>
              <a:buSzPct val="70000"/>
            </a:pPr>
            <a:r>
              <a:rPr lang="zh-CN" altLang="en-US" sz="1800" b="1" dirty="0">
                <a:cs typeface="Times New Roman" panose="02020603050405020304" pitchFamily="18" charset="0"/>
              </a:rPr>
              <a:t>状态转移方程：</a:t>
            </a:r>
          </a:p>
        </p:txBody>
      </p:sp>
      <p:sp>
        <p:nvSpPr>
          <p:cNvPr id="13" name="椭圆 12"/>
          <p:cNvSpPr/>
          <p:nvPr/>
        </p:nvSpPr>
        <p:spPr>
          <a:xfrm>
            <a:off x="5219700" y="2931460"/>
            <a:ext cx="1905000" cy="3810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Object 2"/>
          <p:cNvGraphicFramePr>
            <a:graphicFrameLocks noChangeAspect="1"/>
          </p:cNvGraphicFramePr>
          <p:nvPr/>
        </p:nvGraphicFramePr>
        <p:xfrm>
          <a:off x="7980045" y="233045"/>
          <a:ext cx="945515" cy="1583055"/>
        </p:xfrm>
        <a:graphic>
          <a:graphicData uri="http://schemas.openxmlformats.org/presentationml/2006/ole">
            <mc:AlternateContent xmlns:mc="http://schemas.openxmlformats.org/markup-compatibility/2006">
              <mc:Choice xmlns:v="urn:schemas-microsoft-com:vml" Requires="v">
                <p:oleObj name="Equation" r:id="rId16" imgW="685800" imgH="1143000" progId="Equation.DSMT4">
                  <p:embed/>
                </p:oleObj>
              </mc:Choice>
              <mc:Fallback>
                <p:oleObj name="Equation" r:id="rId16" imgW="685800" imgH="1143000" progId="Equation.DSMT4">
                  <p:embed/>
                  <p:pic>
                    <p:nvPicPr>
                      <p:cNvPr id="0" name="Object 2"/>
                      <p:cNvPicPr>
                        <a:picLocks noChangeAspect="1" noChangeArrowheads="1"/>
                      </p:cNvPicPr>
                      <p:nvPr/>
                    </p:nvPicPr>
                    <p:blipFill>
                      <a:blip r:embed="rId17">
                        <a:lum bright="-40000" contrast="-40000"/>
                      </a:blip>
                      <a:srcRect/>
                      <a:stretch>
                        <a:fillRect/>
                      </a:stretch>
                    </p:blipFill>
                    <p:spPr bwMode="auto">
                      <a:xfrm>
                        <a:off x="7980045" y="233045"/>
                        <a:ext cx="945515" cy="1583055"/>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圆角矩形 1"/>
          <p:cNvSpPr>
            <a:spLocks noChangeArrowheads="1"/>
          </p:cNvSpPr>
          <p:nvPr>
            <p:custDataLst>
              <p:tags r:id="rId1"/>
            </p:custDataLst>
          </p:nvPr>
        </p:nvSpPr>
        <p:spPr bwMode="auto">
          <a:xfrm>
            <a:off x="457200" y="2410460"/>
            <a:ext cx="706120" cy="33782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1800" i="1" dirty="0">
                <a:latin typeface="Times New Roman" panose="02020603050405020304" pitchFamily="18" charset="0"/>
                <a:cs typeface="Times New Roman" panose="02020603050405020304" pitchFamily="18" charset="0"/>
              </a:rPr>
              <a:t>v</a:t>
            </a:r>
            <a:r>
              <a:rPr lang="en-US" altLang="zh-CN" sz="1800" baseline="-25000" dirty="0">
                <a:latin typeface="Times New Roman" panose="02020603050405020304" pitchFamily="18" charset="0"/>
                <a:cs typeface="Times New Roman" panose="02020603050405020304" pitchFamily="18" charset="0"/>
              </a:rPr>
              <a:t>2</a:t>
            </a: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p:txBody>
      </p:sp>
      <p:sp>
        <p:nvSpPr>
          <p:cNvPr id="17" name="圆角矩形 1"/>
          <p:cNvSpPr>
            <a:spLocks noChangeArrowheads="1"/>
          </p:cNvSpPr>
          <p:nvPr/>
        </p:nvSpPr>
        <p:spPr bwMode="auto">
          <a:xfrm>
            <a:off x="457200" y="5934710"/>
            <a:ext cx="1449070" cy="337820"/>
          </a:xfrm>
          <a:prstGeom prst="roundRect">
            <a:avLst>
              <a:gd name="adj" fmla="val 16667"/>
            </a:avLst>
          </a:prstGeom>
          <a:solidFill>
            <a:schemeClr val="bg1">
              <a:lumMod val="95000"/>
            </a:schemeClr>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1800" i="1" dirty="0">
                <a:latin typeface="Times New Roman" panose="02020603050405020304" pitchFamily="18" charset="0"/>
                <a:cs typeface="Times New Roman" panose="02020603050405020304" pitchFamily="18" charset="0"/>
              </a:rPr>
              <a:t>v</a:t>
            </a:r>
            <a:r>
              <a:rPr lang="en-US" altLang="zh-CN" sz="1800" baseline="-25000" dirty="0">
                <a:latin typeface="Times New Roman" panose="02020603050405020304" pitchFamily="18" charset="0"/>
                <a:cs typeface="Times New Roman" panose="02020603050405020304" pitchFamily="18" charset="0"/>
              </a:rPr>
              <a:t>2</a:t>
            </a:r>
            <a:r>
              <a:rPr lang="en-US" altLang="zh-CN" sz="1800" dirty="0">
                <a:latin typeface="Times New Roman" panose="02020603050405020304" pitchFamily="18" charset="0"/>
                <a:cs typeface="Times New Roman" panose="02020603050405020304" pitchFamily="18" charset="0"/>
              </a:rPr>
              <a:t>=3, ...</a:t>
            </a:r>
            <a:endParaRPr lang="zh-CN" altLang="en-US" sz="1800" dirty="0">
              <a:latin typeface="Times New Roman" panose="02020603050405020304" pitchFamily="18" charset="0"/>
              <a:cs typeface="Times New Roman" panose="02020603050405020304" pitchFamily="18" charset="0"/>
            </a:endParaRPr>
          </a:p>
        </p:txBody>
      </p:sp>
      <p:grpSp>
        <p:nvGrpSpPr>
          <p:cNvPr id="20" name="组合 19"/>
          <p:cNvGrpSpPr/>
          <p:nvPr/>
        </p:nvGrpSpPr>
        <p:grpSpPr>
          <a:xfrm>
            <a:off x="381000" y="4417060"/>
            <a:ext cx="7611745" cy="1481455"/>
            <a:chOff x="600" y="6836"/>
            <a:chExt cx="11987" cy="2333"/>
          </a:xfrm>
        </p:grpSpPr>
        <p:sp>
          <p:nvSpPr>
            <p:cNvPr id="8" name="圆角矩形 1"/>
            <p:cNvSpPr>
              <a:spLocks noChangeArrowheads="1"/>
            </p:cNvSpPr>
            <p:nvPr>
              <p:custDataLst>
                <p:tags r:id="rId3"/>
              </p:custDataLst>
            </p:nvPr>
          </p:nvSpPr>
          <p:spPr bwMode="auto">
            <a:xfrm>
              <a:off x="720" y="7486"/>
              <a:ext cx="1112" cy="532"/>
            </a:xfrm>
            <a:prstGeom prst="roundRect">
              <a:avLst>
                <a:gd name="adj" fmla="val 16667"/>
              </a:avLst>
            </a:prstGeom>
            <a:solidFill>
              <a:schemeClr val="bg1">
                <a:lumMod val="95000"/>
              </a:schemeClr>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1800" i="1" dirty="0">
                  <a:latin typeface="Times New Roman" panose="02020603050405020304" pitchFamily="18" charset="0"/>
                  <a:cs typeface="Times New Roman" panose="02020603050405020304" pitchFamily="18" charset="0"/>
                </a:rPr>
                <a:t>v</a:t>
              </a:r>
              <a:r>
                <a:rPr lang="en-US" altLang="zh-CN" sz="1800" baseline="-25000" dirty="0">
                  <a:latin typeface="Times New Roman" panose="02020603050405020304" pitchFamily="18" charset="0"/>
                  <a:cs typeface="Times New Roman" panose="02020603050405020304" pitchFamily="18" charset="0"/>
                </a:rPr>
                <a:t>2</a:t>
              </a:r>
              <a:r>
                <a:rPr lang="en-US" altLang="zh-CN" sz="1800" dirty="0">
                  <a:latin typeface="Times New Roman" panose="02020603050405020304" pitchFamily="18" charset="0"/>
                  <a:cs typeface="Times New Roman" panose="02020603050405020304" pitchFamily="18" charset="0"/>
                </a:rPr>
                <a:t>=1</a:t>
              </a:r>
              <a:endParaRPr lang="zh-CN" altLang="en-US" sz="1800" dirty="0">
                <a:latin typeface="Times New Roman" panose="02020603050405020304" pitchFamily="18" charset="0"/>
                <a:cs typeface="Times New Roman" panose="02020603050405020304" pitchFamily="18" charset="0"/>
              </a:endParaRPr>
            </a:p>
          </p:txBody>
        </p:sp>
        <p:sp>
          <p:nvSpPr>
            <p:cNvPr id="16" name="圆角矩形 1"/>
            <p:cNvSpPr>
              <a:spLocks noChangeArrowheads="1"/>
            </p:cNvSpPr>
            <p:nvPr>
              <p:custDataLst>
                <p:tags r:id="rId4"/>
              </p:custDataLst>
            </p:nvPr>
          </p:nvSpPr>
          <p:spPr bwMode="auto">
            <a:xfrm>
              <a:off x="720" y="8366"/>
              <a:ext cx="1112" cy="532"/>
            </a:xfrm>
            <a:prstGeom prst="roundRect">
              <a:avLst>
                <a:gd name="adj" fmla="val 16667"/>
              </a:avLst>
            </a:prstGeom>
            <a:solidFill>
              <a:schemeClr val="bg1">
                <a:lumMod val="95000"/>
              </a:schemeClr>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1800" i="1" dirty="0">
                  <a:latin typeface="Times New Roman" panose="02020603050405020304" pitchFamily="18" charset="0"/>
                  <a:cs typeface="Times New Roman" panose="02020603050405020304" pitchFamily="18" charset="0"/>
                </a:rPr>
                <a:t>v</a:t>
              </a:r>
              <a:r>
                <a:rPr lang="en-US" altLang="zh-CN" sz="1800" baseline="-25000" dirty="0">
                  <a:latin typeface="Times New Roman" panose="02020603050405020304" pitchFamily="18" charset="0"/>
                  <a:cs typeface="Times New Roman" panose="02020603050405020304" pitchFamily="18" charset="0"/>
                </a:rPr>
                <a:t>2</a:t>
              </a:r>
              <a:r>
                <a:rPr lang="en-US" altLang="zh-CN" sz="1800" dirty="0">
                  <a:latin typeface="Times New Roman" panose="02020603050405020304" pitchFamily="18" charset="0"/>
                  <a:cs typeface="Times New Roman" panose="02020603050405020304" pitchFamily="18" charset="0"/>
                </a:rPr>
                <a:t>=2</a:t>
              </a:r>
              <a:endParaRPr lang="zh-CN" altLang="en-US" sz="1800" dirty="0">
                <a:latin typeface="Times New Roman" panose="02020603050405020304" pitchFamily="18" charset="0"/>
                <a:cs typeface="Times New Roman" panose="02020603050405020304" pitchFamily="18" charset="0"/>
              </a:endParaRPr>
            </a:p>
          </p:txBody>
        </p:sp>
        <p:sp>
          <p:nvSpPr>
            <p:cNvPr id="93198" name="Rectangle 10"/>
            <p:cNvSpPr>
              <a:spLocks noChangeArrowheads="1"/>
            </p:cNvSpPr>
            <p:nvPr>
              <p:custDataLst>
                <p:tags r:id="rId5"/>
              </p:custDataLst>
            </p:nvPr>
          </p:nvSpPr>
          <p:spPr bwMode="auto">
            <a:xfrm>
              <a:off x="600" y="6836"/>
              <a:ext cx="1707" cy="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20000"/>
                </a:lnSpc>
              </a:pPr>
              <a:r>
                <a:rPr lang="zh-CN" altLang="en-US" sz="2000" b="1">
                  <a:latin typeface="Arial" panose="020B0604020202020204" pitchFamily="34" charset="0"/>
                  <a:cs typeface="Times New Roman" panose="02020603050405020304" pitchFamily="18" charset="0"/>
                </a:rPr>
                <a:t>同理得</a:t>
              </a:r>
              <a:endParaRPr lang="zh-CN" altLang="en-US" sz="2000" b="1">
                <a:latin typeface="Arial" panose="020B0604020202020204" pitchFamily="34" charset="0"/>
              </a:endParaRPr>
            </a:p>
          </p:txBody>
        </p:sp>
        <p:graphicFrame>
          <p:nvGraphicFramePr>
            <p:cNvPr id="18" name="Object 2"/>
            <p:cNvGraphicFramePr>
              <a:graphicFrameLocks noChangeAspect="1"/>
            </p:cNvGraphicFramePr>
            <p:nvPr>
              <p:custDataLst>
                <p:tags r:id="rId6"/>
              </p:custDataLst>
            </p:nvPr>
          </p:nvGraphicFramePr>
          <p:xfrm>
            <a:off x="1961" y="7501"/>
            <a:ext cx="10627" cy="1668"/>
          </p:xfrm>
          <a:graphic>
            <a:graphicData uri="http://schemas.openxmlformats.org/presentationml/2006/ole">
              <mc:AlternateContent xmlns:mc="http://schemas.openxmlformats.org/markup-compatibility/2006">
                <mc:Choice xmlns:v="urn:schemas-microsoft-com:vml" Requires="v">
                  <p:oleObj r:id="rId18" imgW="3886200" imgH="609600" progId="Equation.DSMT4">
                    <p:embed/>
                  </p:oleObj>
                </mc:Choice>
                <mc:Fallback>
                  <p:oleObj r:id="rId18" imgW="3886200" imgH="609600" progId="Equation.DSMT4">
                    <p:embed/>
                    <p:pic>
                      <p:nvPicPr>
                        <p:cNvPr id="0" name="Object 2"/>
                        <p:cNvPicPr>
                          <a:picLocks noChangeAspect="1" noChangeArrowheads="1"/>
                        </p:cNvPicPr>
                        <p:nvPr/>
                      </p:nvPicPr>
                      <p:blipFill>
                        <a:blip r:embed="rId19">
                          <a:lum bright="-40000" contrast="-40000"/>
                        </a:blip>
                        <a:srcRect/>
                        <a:stretch>
                          <a:fillRect/>
                        </a:stretch>
                      </p:blipFill>
                      <p:spPr bwMode="auto">
                        <a:xfrm>
                          <a:off x="1961" y="7501"/>
                          <a:ext cx="10627" cy="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96260" name="矩形 8"/>
          <p:cNvSpPr>
            <a:spLocks noChangeArrowheads="1"/>
          </p:cNvSpPr>
          <p:nvPr/>
        </p:nvSpPr>
        <p:spPr bwMode="auto">
          <a:xfrm>
            <a:off x="2362200" y="5918835"/>
            <a:ext cx="4458970" cy="572770"/>
          </a:xfrm>
          <a:prstGeom prst="rect">
            <a:avLst/>
          </a:prstGeom>
          <a:solidFill>
            <a:schemeClr val="accent1">
              <a:lumMod val="60000"/>
              <a:lumOff val="40000"/>
            </a:schemeClr>
          </a:solidFill>
          <a:ln w="25400">
            <a:noFill/>
            <a:miter lim="800000"/>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400">
                <a:latin typeface="Times New Roman" panose="02020603050405020304" pitchFamily="18" charset="0"/>
                <a:ea typeface="黑体" panose="02010609060101010101" pitchFamily="49" charset="-122"/>
                <a:cs typeface="Times New Roman" panose="02020603050405020304" pitchFamily="18" charset="0"/>
              </a:rPr>
              <a:t>请思考：</a:t>
            </a:r>
            <a:r>
              <a:rPr lang="en-US" altLang="zh-CN" sz="2400" i="1">
                <a:latin typeface="Times New Roman" panose="02020603050405020304" pitchFamily="18" charset="0"/>
                <a:ea typeface="黑体" panose="02010609060101010101" pitchFamily="49" charset="-122"/>
                <a:cs typeface="Times New Roman" panose="02020603050405020304" pitchFamily="18" charset="0"/>
              </a:rPr>
              <a:t>k</a:t>
            </a:r>
            <a:r>
              <a:rPr lang="zh-CN" altLang="en-US" sz="2400">
                <a:latin typeface="Times New Roman" panose="02020603050405020304" pitchFamily="18" charset="0"/>
                <a:ea typeface="黑体" panose="02010609060101010101" pitchFamily="49" charset="-122"/>
                <a:cs typeface="Times New Roman" panose="02020603050405020304" pitchFamily="18" charset="0"/>
              </a:rPr>
              <a:t>阶段的可达状态集合</a:t>
            </a:r>
          </a:p>
        </p:txBody>
      </p:sp>
      <p:sp>
        <p:nvSpPr>
          <p:cNvPr id="21" name="标题 1"/>
          <p:cNvSpPr txBox="1"/>
          <p:nvPr>
            <p:custDataLst>
              <p:tags r:id="rId2"/>
            </p:custDataLst>
          </p:nvPr>
        </p:nvSpPr>
        <p:spPr>
          <a:xfrm>
            <a:off x="533400" y="712470"/>
            <a:ext cx="3661410" cy="758825"/>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en-US" sz="3600" b="1" kern="0" dirty="0">
                <a:sym typeface="+mn-ea"/>
              </a:rPr>
              <a:t>例</a:t>
            </a:r>
            <a:r>
              <a:rPr lang="en-US" altLang="zh-CN" sz="3600" b="1" kern="0" dirty="0">
                <a:sym typeface="+mn-ea"/>
              </a:rPr>
              <a:t>3</a:t>
            </a:r>
            <a:r>
              <a:rPr lang="zh-CN" altLang="en-US" sz="3600" b="1" kern="0" dirty="0">
                <a:sym typeface="+mn-ea"/>
              </a:rPr>
              <a:t> </a:t>
            </a:r>
            <a:r>
              <a:rPr lang="en-US" altLang="zh-CN" sz="3600" b="1" kern="0" dirty="0">
                <a:sym typeface="+mn-ea"/>
              </a:rPr>
              <a:t>– </a:t>
            </a:r>
            <a:r>
              <a:rPr lang="zh-CN" altLang="en-US" sz="2800" b="1" kern="0" dirty="0">
                <a:solidFill>
                  <a:srgbClr val="0070C0"/>
                </a:solidFill>
                <a:sym typeface="+mn-ea"/>
              </a:rPr>
              <a:t>顺推法</a:t>
            </a:r>
            <a:endParaRPr lang="zh-CN" altLang="en-US" sz="2800" b="1" kern="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ppt_x"/>
                                          </p:val>
                                        </p:tav>
                                        <p:tav tm="100000">
                                          <p:val>
                                            <p:strVal val="#ppt_x"/>
                                          </p:val>
                                        </p:tav>
                                      </p:tavLst>
                                    </p:anim>
                                    <p:anim calcmode="lin" valueType="num">
                                      <p:cBhvr additive="base">
                                        <p:cTn id="2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6260"/>
                                        </p:tgtEl>
                                        <p:attrNameLst>
                                          <p:attrName>style.visibility</p:attrName>
                                        </p:attrNameLst>
                                      </p:cBhvr>
                                      <p:to>
                                        <p:strVal val="visible"/>
                                      </p:to>
                                    </p:set>
                                    <p:anim calcmode="lin" valueType="num">
                                      <p:cBhvr additive="base">
                                        <p:cTn id="31" dur="500" fill="hold"/>
                                        <p:tgtEl>
                                          <p:spTgt spid="96260"/>
                                        </p:tgtEl>
                                        <p:attrNameLst>
                                          <p:attrName>ppt_x</p:attrName>
                                        </p:attrNameLst>
                                      </p:cBhvr>
                                      <p:tavLst>
                                        <p:tav tm="0">
                                          <p:val>
                                            <p:strVal val="#ppt_x"/>
                                          </p:val>
                                        </p:tav>
                                        <p:tav tm="100000">
                                          <p:val>
                                            <p:strVal val="#ppt_x"/>
                                          </p:val>
                                        </p:tav>
                                      </p:tavLst>
                                    </p:anim>
                                    <p:anim calcmode="lin" valueType="num">
                                      <p:cBhvr additive="base">
                                        <p:cTn id="32" dur="500" fill="hold"/>
                                        <p:tgtEl>
                                          <p:spTgt spid="962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7" grpId="0" animBg="1"/>
      <p:bldP spid="17" grpId="1" animBg="1"/>
      <p:bldP spid="96260" grpId="0" animBg="1"/>
      <p:bldP spid="96260"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Box 1"/>
          <p:cNvSpPr txBox="1">
            <a:spLocks noChangeArrowheads="1"/>
          </p:cNvSpPr>
          <p:nvPr/>
        </p:nvSpPr>
        <p:spPr bwMode="auto">
          <a:xfrm>
            <a:off x="1042988" y="1905000"/>
            <a:ext cx="22336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800" b="1" dirty="0">
                <a:solidFill>
                  <a:srgbClr val="FF0000"/>
                </a:solidFill>
                <a:latin typeface="Times New Roman" panose="02020603050405020304" pitchFamily="18" charset="0"/>
              </a:rPr>
              <a:t>为什么</a:t>
            </a:r>
          </a:p>
        </p:txBody>
      </p:sp>
      <p:graphicFrame>
        <p:nvGraphicFramePr>
          <p:cNvPr id="96259" name="对象 2"/>
          <p:cNvGraphicFramePr>
            <a:graphicFrameLocks noChangeAspect="1"/>
          </p:cNvGraphicFramePr>
          <p:nvPr>
            <p:extLst>
              <p:ext uri="{D42A27DB-BD31-4B8C-83A1-F6EECF244321}">
                <p14:modId xmlns:p14="http://schemas.microsoft.com/office/powerpoint/2010/main" val="2957721162"/>
              </p:ext>
            </p:extLst>
          </p:nvPr>
        </p:nvGraphicFramePr>
        <p:xfrm>
          <a:off x="3371850" y="2819400"/>
          <a:ext cx="2779713" cy="1144588"/>
        </p:xfrm>
        <a:graphic>
          <a:graphicData uri="http://schemas.openxmlformats.org/presentationml/2006/ole">
            <mc:AlternateContent xmlns:mc="http://schemas.openxmlformats.org/markup-compatibility/2006">
              <mc:Choice xmlns:v="urn:schemas-microsoft-com:vml" Requires="v">
                <p:oleObj name="Equation" r:id="rId7" imgW="1333440" imgH="482400" progId="Equation.DSMT4">
                  <p:embed/>
                </p:oleObj>
              </mc:Choice>
              <mc:Fallback>
                <p:oleObj name="Equation" r:id="rId7" imgW="1333440" imgH="482400" progId="Equation.DSMT4">
                  <p:embed/>
                  <p:pic>
                    <p:nvPicPr>
                      <p:cNvPr id="0" name="对象 2"/>
                      <p:cNvPicPr>
                        <a:picLocks noChangeAspect="1" noChangeArrowheads="1"/>
                      </p:cNvPicPr>
                      <p:nvPr/>
                    </p:nvPicPr>
                    <p:blipFill>
                      <a:blip r:embed="rId8">
                        <a:lum bright="-40000" contrast="-40000"/>
                      </a:blip>
                      <a:srcRect/>
                      <a:stretch>
                        <a:fillRect/>
                      </a:stretch>
                    </p:blipFill>
                    <p:spPr bwMode="auto">
                      <a:xfrm>
                        <a:off x="3371850" y="2819400"/>
                        <a:ext cx="2779713" cy="1144588"/>
                      </a:xfrm>
                      <a:prstGeom prst="rect">
                        <a:avLst/>
                      </a:prstGeom>
                      <a:solidFill>
                        <a:srgbClr val="FFFF00"/>
                      </a:solidFill>
                      <a:ln w="9525">
                        <a:noFill/>
                        <a:miter lim="800000"/>
                        <a:headEnd/>
                        <a:tailEnd/>
                      </a:ln>
                    </p:spPr>
                  </p:pic>
                </p:oleObj>
              </mc:Fallback>
            </mc:AlternateContent>
          </a:graphicData>
        </a:graphic>
      </p:graphicFrame>
      <p:sp>
        <p:nvSpPr>
          <p:cNvPr id="96260" name="矩形 8"/>
          <p:cNvSpPr>
            <a:spLocks noChangeArrowheads="1"/>
          </p:cNvSpPr>
          <p:nvPr/>
        </p:nvSpPr>
        <p:spPr bwMode="auto">
          <a:xfrm>
            <a:off x="2916238" y="1905000"/>
            <a:ext cx="4194175" cy="573087"/>
          </a:xfrm>
          <a:prstGeom prst="rect">
            <a:avLst/>
          </a:prstGeom>
          <a:solidFill>
            <a:srgbClr val="92D050"/>
          </a:solidFill>
          <a:ln w="25400">
            <a:solidFill>
              <a:srgbClr val="00A77A"/>
            </a:solidFill>
            <a:miter lim="800000"/>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400" i="1">
                <a:latin typeface="Times New Roman" panose="02020603050405020304" pitchFamily="18" charset="0"/>
                <a:ea typeface="黑体" panose="02010609060101010101" pitchFamily="49" charset="-122"/>
                <a:cs typeface="Times New Roman" panose="02020603050405020304" pitchFamily="18" charset="0"/>
              </a:rPr>
              <a:t>k</a:t>
            </a:r>
            <a:r>
              <a:rPr lang="zh-CN" altLang="en-US" sz="2400">
                <a:latin typeface="Times New Roman" panose="02020603050405020304" pitchFamily="18" charset="0"/>
                <a:ea typeface="黑体" panose="02010609060101010101" pitchFamily="49" charset="-122"/>
                <a:cs typeface="Times New Roman" panose="02020603050405020304" pitchFamily="18" charset="0"/>
              </a:rPr>
              <a:t>阶段的可达状态集合</a:t>
            </a:r>
          </a:p>
        </p:txBody>
      </p:sp>
      <p:sp>
        <p:nvSpPr>
          <p:cNvPr id="96261" name="矩形 4"/>
          <p:cNvSpPr>
            <a:spLocks noChangeArrowheads="1"/>
          </p:cNvSpPr>
          <p:nvPr/>
        </p:nvSpPr>
        <p:spPr bwMode="auto">
          <a:xfrm>
            <a:off x="1525905" y="3144520"/>
            <a:ext cx="153797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400" b="1" i="1" dirty="0" err="1">
                <a:latin typeface="Times New Roman" panose="02020603050405020304" pitchFamily="18" charset="0"/>
                <a:cs typeface="Times New Roman" panose="02020603050405020304" pitchFamily="18" charset="0"/>
              </a:rPr>
              <a:t>v</a:t>
            </a:r>
            <a:r>
              <a:rPr lang="en-US" altLang="zh-CN" sz="2400" b="1" i="1" baseline="-25000" dirty="0" err="1">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在</a:t>
            </a:r>
            <a:r>
              <a:rPr lang="en-US" altLang="zh-CN" sz="2400" b="1" dirty="0">
                <a:latin typeface="Times New Roman" panose="02020603050405020304" pitchFamily="18" charset="0"/>
                <a:cs typeface="Times New Roman" panose="02020603050405020304" pitchFamily="18" charset="0"/>
              </a:rPr>
              <a:t> 0 </a:t>
            </a:r>
            <a:r>
              <a:rPr lang="zh-CN" altLang="en-US" sz="2400" b="1" dirty="0">
                <a:latin typeface="Times New Roman" panose="02020603050405020304" pitchFamily="18" charset="0"/>
                <a:cs typeface="Times New Roman" panose="02020603050405020304" pitchFamily="18" charset="0"/>
              </a:rPr>
              <a:t>至</a:t>
            </a:r>
            <a:endParaRPr lang="zh-CN" altLang="en-US" sz="2400" dirty="0">
              <a:latin typeface="Times New Roman" panose="02020603050405020304" pitchFamily="18" charset="0"/>
            </a:endParaRPr>
          </a:p>
        </p:txBody>
      </p:sp>
      <p:grpSp>
        <p:nvGrpSpPr>
          <p:cNvPr id="4" name="组合 3"/>
          <p:cNvGrpSpPr/>
          <p:nvPr/>
        </p:nvGrpSpPr>
        <p:grpSpPr>
          <a:xfrm>
            <a:off x="1676400" y="4038600"/>
            <a:ext cx="6545580" cy="1296035"/>
            <a:chOff x="2640" y="6840"/>
            <a:chExt cx="10308" cy="2041"/>
          </a:xfrm>
        </p:grpSpPr>
        <p:sp>
          <p:nvSpPr>
            <p:cNvPr id="88083" name="矩形 11"/>
            <p:cNvSpPr>
              <a:spLocks noChangeArrowheads="1"/>
            </p:cNvSpPr>
            <p:nvPr>
              <p:custDataLst>
                <p:tags r:id="rId2"/>
              </p:custDataLst>
            </p:nvPr>
          </p:nvSpPr>
          <p:spPr bwMode="auto">
            <a:xfrm>
              <a:off x="2640" y="7525"/>
              <a:ext cx="4609" cy="895"/>
            </a:xfrm>
            <a:prstGeom prst="rect">
              <a:avLst/>
            </a:prstGeom>
            <a:solidFill>
              <a:schemeClr val="accent1">
                <a:lumMod val="60000"/>
                <a:lumOff val="40000"/>
              </a:schemeClr>
            </a:solidFill>
            <a:ln w="25400">
              <a:noFill/>
              <a:miter lim="800000"/>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000">
                  <a:ln>
                    <a:noFill/>
                  </a:ln>
                  <a:solidFill>
                    <a:schemeClr val="tx1"/>
                  </a:solidFill>
                  <a:latin typeface="Times New Roman" panose="02020603050405020304" pitchFamily="18" charset="0"/>
                  <a:ea typeface="+mn-ea"/>
                </a:rPr>
                <a:t>满足后阶段所有需求</a:t>
              </a:r>
            </a:p>
          </p:txBody>
        </p:sp>
        <p:cxnSp>
          <p:nvCxnSpPr>
            <p:cNvPr id="88084" name="直接箭头连接符 3"/>
            <p:cNvCxnSpPr>
              <a:cxnSpLocks noChangeShapeType="1"/>
            </p:cNvCxnSpPr>
            <p:nvPr>
              <p:custDataLst>
                <p:tags r:id="rId3"/>
              </p:custDataLst>
            </p:nvPr>
          </p:nvCxnSpPr>
          <p:spPr bwMode="auto">
            <a:xfrm flipV="1">
              <a:off x="5370" y="6960"/>
              <a:ext cx="973" cy="565"/>
            </a:xfrm>
            <a:prstGeom prst="straightConnector1">
              <a:avLst/>
            </a:prstGeom>
            <a:solidFill>
              <a:schemeClr val="accent1">
                <a:lumMod val="60000"/>
                <a:lumOff val="40000"/>
              </a:schemeClr>
            </a:solidFill>
            <a:ln w="9525">
              <a:solidFill>
                <a:schemeClr val="tx1"/>
              </a:solidFill>
              <a:round/>
              <a:tailEnd type="arrow" w="med" len="med"/>
            </a:ln>
          </p:spPr>
        </p:cxnSp>
        <p:sp>
          <p:nvSpPr>
            <p:cNvPr id="88079" name="矩形 15"/>
            <p:cNvSpPr>
              <a:spLocks noChangeArrowheads="1"/>
            </p:cNvSpPr>
            <p:nvPr>
              <p:custDataLst>
                <p:tags r:id="rId4"/>
              </p:custDataLst>
            </p:nvPr>
          </p:nvSpPr>
          <p:spPr bwMode="auto">
            <a:xfrm>
              <a:off x="7680" y="7397"/>
              <a:ext cx="5268" cy="1485"/>
            </a:xfrm>
            <a:prstGeom prst="rect">
              <a:avLst/>
            </a:prstGeom>
            <a:solidFill>
              <a:schemeClr val="accent1">
                <a:lumMod val="60000"/>
                <a:lumOff val="40000"/>
              </a:schemeClr>
            </a:solidFill>
            <a:ln w="25400">
              <a:noFill/>
              <a:miter lim="800000"/>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i="1" dirty="0">
                  <a:ln>
                    <a:noFill/>
                  </a:ln>
                  <a:solidFill>
                    <a:schemeClr val="tx1"/>
                  </a:solidFill>
                  <a:latin typeface="Times New Roman" panose="02020603050405020304" pitchFamily="18" charset="0"/>
                  <a:ea typeface="+mn-ea"/>
                  <a:cs typeface="Times New Roman" panose="02020603050405020304" pitchFamily="18" charset="0"/>
                </a:rPr>
                <a:t>v</a:t>
              </a:r>
              <a:r>
                <a:rPr lang="en-US" altLang="zh-CN" sz="2000" i="1" baseline="-25000" dirty="0">
                  <a:ln>
                    <a:noFill/>
                  </a:ln>
                  <a:solidFill>
                    <a:schemeClr val="tx1"/>
                  </a:solidFill>
                  <a:latin typeface="Times New Roman" panose="02020603050405020304" pitchFamily="18" charset="0"/>
                  <a:ea typeface="+mn-ea"/>
                  <a:cs typeface="Times New Roman" panose="02020603050405020304" pitchFamily="18" charset="0"/>
                </a:rPr>
                <a:t>k-</a:t>
              </a:r>
              <a:r>
                <a:rPr lang="en-US" altLang="zh-CN" sz="2000" baseline="-25000" dirty="0">
                  <a:ln>
                    <a:noFill/>
                  </a:ln>
                  <a:solidFill>
                    <a:schemeClr val="tx1"/>
                  </a:solidFill>
                  <a:latin typeface="Times New Roman" panose="02020603050405020304" pitchFamily="18" charset="0"/>
                  <a:ea typeface="+mn-ea"/>
                  <a:cs typeface="Times New Roman" panose="02020603050405020304" pitchFamily="18" charset="0"/>
                </a:rPr>
                <a:t>1</a:t>
              </a:r>
              <a:r>
                <a:rPr lang="en-US" altLang="zh-CN" sz="2000" dirty="0">
                  <a:ln>
                    <a:noFill/>
                  </a:ln>
                  <a:solidFill>
                    <a:schemeClr val="tx1"/>
                  </a:solidFill>
                  <a:latin typeface="Times New Roman" panose="02020603050405020304" pitchFamily="18" charset="0"/>
                  <a:ea typeface="+mn-ea"/>
                  <a:cs typeface="Times New Roman" panose="02020603050405020304" pitchFamily="18" charset="0"/>
                </a:rPr>
                <a:t>=0</a:t>
              </a:r>
              <a:r>
                <a:rPr lang="zh-CN" altLang="en-US" sz="2000" dirty="0">
                  <a:ln>
                    <a:noFill/>
                  </a:ln>
                  <a:solidFill>
                    <a:schemeClr val="tx1"/>
                  </a:solidFill>
                  <a:latin typeface="Times New Roman" panose="02020603050405020304" pitchFamily="18" charset="0"/>
                  <a:ea typeface="+mn-ea"/>
                  <a:cs typeface="Times New Roman" panose="02020603050405020304" pitchFamily="18" charset="0"/>
                </a:rPr>
                <a:t>时，满负荷生产</a:t>
              </a:r>
              <a:r>
                <a:rPr lang="en-US" altLang="zh-CN" sz="2000" dirty="0">
                  <a:ln>
                    <a:noFill/>
                  </a:ln>
                  <a:solidFill>
                    <a:schemeClr val="tx1"/>
                  </a:solidFill>
                  <a:latin typeface="Times New Roman" panose="02020603050405020304" pitchFamily="18" charset="0"/>
                  <a:ea typeface="+mn-ea"/>
                  <a:cs typeface="Times New Roman" panose="02020603050405020304" pitchFamily="18" charset="0"/>
                </a:rPr>
                <a:t> </a:t>
              </a:r>
              <a:r>
                <a:rPr lang="en-US" altLang="zh-CN" sz="2000" i="1" dirty="0" err="1">
                  <a:ln>
                    <a:noFill/>
                  </a:ln>
                  <a:solidFill>
                    <a:schemeClr val="tx1"/>
                  </a:solidFill>
                  <a:latin typeface="Times New Roman" panose="02020603050405020304" pitchFamily="18" charset="0"/>
                  <a:ea typeface="+mn-ea"/>
                  <a:cs typeface="Times New Roman" panose="02020603050405020304" pitchFamily="18" charset="0"/>
                </a:rPr>
                <a:t>x</a:t>
              </a:r>
              <a:r>
                <a:rPr lang="en-US" altLang="zh-CN" sz="2000" i="1" baseline="-25000" dirty="0" err="1">
                  <a:ln>
                    <a:noFill/>
                  </a:ln>
                  <a:solidFill>
                    <a:schemeClr val="tx1"/>
                  </a:solidFill>
                  <a:latin typeface="Times New Roman" panose="02020603050405020304" pitchFamily="18" charset="0"/>
                  <a:ea typeface="+mn-ea"/>
                  <a:cs typeface="Times New Roman" panose="02020603050405020304" pitchFamily="18" charset="0"/>
                </a:rPr>
                <a:t>k</a:t>
              </a:r>
              <a:r>
                <a:rPr lang="en-US" altLang="zh-CN" sz="2000" dirty="0">
                  <a:ln>
                    <a:noFill/>
                  </a:ln>
                  <a:solidFill>
                    <a:schemeClr val="tx1"/>
                  </a:solidFill>
                  <a:latin typeface="Times New Roman" panose="02020603050405020304" pitchFamily="18" charset="0"/>
                  <a:ea typeface="+mn-ea"/>
                  <a:cs typeface="Times New Roman" panose="02020603050405020304" pitchFamily="18" charset="0"/>
                </a:rPr>
                <a:t>=</a:t>
              </a:r>
              <a:r>
                <a:rPr lang="en-US" altLang="zh-CN" sz="2000" i="1" dirty="0">
                  <a:ln>
                    <a:noFill/>
                  </a:ln>
                  <a:solidFill>
                    <a:schemeClr val="tx1"/>
                  </a:solidFill>
                  <a:latin typeface="Times New Roman" panose="02020603050405020304" pitchFamily="18" charset="0"/>
                  <a:ea typeface="+mn-ea"/>
                  <a:cs typeface="Times New Roman" panose="02020603050405020304" pitchFamily="18" charset="0"/>
                </a:rPr>
                <a:t>m</a:t>
              </a:r>
              <a:r>
                <a:rPr lang="zh-CN" altLang="en-US" sz="2000" dirty="0">
                  <a:ln>
                    <a:noFill/>
                  </a:ln>
                  <a:solidFill>
                    <a:schemeClr val="tx1"/>
                  </a:solidFill>
                  <a:latin typeface="Times New Roman" panose="02020603050405020304" pitchFamily="18" charset="0"/>
                  <a:ea typeface="+mn-ea"/>
                  <a:cs typeface="Times New Roman" panose="02020603050405020304" pitchFamily="18" charset="0"/>
                </a:rPr>
                <a:t>对应的</a:t>
              </a:r>
              <a:r>
                <a:rPr lang="en-US" altLang="zh-CN" sz="2000" i="1" dirty="0" err="1">
                  <a:ln>
                    <a:noFill/>
                  </a:ln>
                  <a:solidFill>
                    <a:schemeClr val="tx1"/>
                  </a:solidFill>
                  <a:latin typeface="Times New Roman" panose="02020603050405020304" pitchFamily="18" charset="0"/>
                  <a:ea typeface="+mn-ea"/>
                  <a:cs typeface="Times New Roman" panose="02020603050405020304" pitchFamily="18" charset="0"/>
                </a:rPr>
                <a:t>v</a:t>
              </a:r>
              <a:r>
                <a:rPr lang="en-US" altLang="zh-CN" sz="2000" i="1" baseline="-25000" dirty="0" err="1">
                  <a:ln>
                    <a:noFill/>
                  </a:ln>
                  <a:solidFill>
                    <a:schemeClr val="tx1"/>
                  </a:solidFill>
                  <a:latin typeface="Times New Roman" panose="02020603050405020304" pitchFamily="18" charset="0"/>
                  <a:ea typeface="+mn-ea"/>
                  <a:cs typeface="Times New Roman" panose="02020603050405020304" pitchFamily="18" charset="0"/>
                </a:rPr>
                <a:t>k</a:t>
              </a:r>
              <a:r>
                <a:rPr lang="en-US" altLang="zh-CN" sz="2000" dirty="0">
                  <a:ln>
                    <a:noFill/>
                  </a:ln>
                  <a:solidFill>
                    <a:schemeClr val="tx1"/>
                  </a:solidFill>
                  <a:latin typeface="Times New Roman" panose="02020603050405020304" pitchFamily="18" charset="0"/>
                  <a:ea typeface="+mn-ea"/>
                  <a:cs typeface="Times New Roman" panose="02020603050405020304" pitchFamily="18" charset="0"/>
                </a:rPr>
                <a:t>=</a:t>
              </a:r>
              <a:r>
                <a:rPr lang="en-US" altLang="zh-CN" sz="2000" i="1" dirty="0">
                  <a:ln>
                    <a:noFill/>
                  </a:ln>
                  <a:solidFill>
                    <a:schemeClr val="tx1"/>
                  </a:solidFill>
                  <a:latin typeface="Times New Roman" panose="02020603050405020304" pitchFamily="18" charset="0"/>
                  <a:ea typeface="+mn-ea"/>
                  <a:cs typeface="Times New Roman" panose="02020603050405020304" pitchFamily="18" charset="0"/>
                </a:rPr>
                <a:t>m</a:t>
              </a:r>
              <a:r>
                <a:rPr lang="en-US" altLang="zh-CN" sz="2000" dirty="0">
                  <a:ln>
                    <a:noFill/>
                  </a:ln>
                  <a:solidFill>
                    <a:schemeClr val="tx1"/>
                  </a:solidFill>
                  <a:latin typeface="Times New Roman" panose="02020603050405020304" pitchFamily="18" charset="0"/>
                  <a:ea typeface="+mn-ea"/>
                  <a:cs typeface="Times New Roman" panose="02020603050405020304" pitchFamily="18" charset="0"/>
                </a:rPr>
                <a:t>-</a:t>
              </a:r>
              <a:r>
                <a:rPr lang="en-US" altLang="zh-CN" sz="2000" i="1" dirty="0" err="1">
                  <a:ln>
                    <a:noFill/>
                  </a:ln>
                  <a:solidFill>
                    <a:schemeClr val="tx1"/>
                  </a:solidFill>
                  <a:latin typeface="Times New Roman" panose="02020603050405020304" pitchFamily="18" charset="0"/>
                  <a:ea typeface="+mn-ea"/>
                  <a:cs typeface="Times New Roman" panose="02020603050405020304" pitchFamily="18" charset="0"/>
                </a:rPr>
                <a:t>d</a:t>
              </a:r>
              <a:r>
                <a:rPr lang="en-US" altLang="zh-CN" sz="2000" baseline="-25000" dirty="0" err="1">
                  <a:ln>
                    <a:noFill/>
                  </a:ln>
                  <a:solidFill>
                    <a:schemeClr val="tx1"/>
                  </a:solidFill>
                  <a:latin typeface="Times New Roman" panose="02020603050405020304" pitchFamily="18" charset="0"/>
                  <a:ea typeface="+mn-ea"/>
                  <a:cs typeface="Times New Roman" panose="02020603050405020304" pitchFamily="18" charset="0"/>
                </a:rPr>
                <a:t>k</a:t>
              </a:r>
            </a:p>
          </p:txBody>
        </p:sp>
        <p:cxnSp>
          <p:nvCxnSpPr>
            <p:cNvPr id="88080" name="直接箭头连接符 6"/>
            <p:cNvCxnSpPr>
              <a:cxnSpLocks noChangeShapeType="1"/>
              <a:stCxn id="88079" idx="0"/>
              <a:endCxn id="88077" idx="2"/>
            </p:cNvCxnSpPr>
            <p:nvPr>
              <p:custDataLst>
                <p:tags r:id="rId5"/>
              </p:custDataLst>
            </p:nvPr>
          </p:nvCxnSpPr>
          <p:spPr bwMode="auto">
            <a:xfrm flipH="1" flipV="1">
              <a:off x="8893" y="6840"/>
              <a:ext cx="1421" cy="557"/>
            </a:xfrm>
            <a:prstGeom prst="straightConnector1">
              <a:avLst/>
            </a:prstGeom>
            <a:solidFill>
              <a:schemeClr val="accent1">
                <a:lumMod val="60000"/>
                <a:lumOff val="40000"/>
              </a:schemeClr>
            </a:solidFill>
            <a:ln w="9525">
              <a:solidFill>
                <a:schemeClr val="tx1"/>
              </a:solidFill>
              <a:round/>
              <a:tailEnd type="arrow" w="med" len="med"/>
            </a:ln>
          </p:spPr>
        </p:cxnSp>
      </p:grpSp>
      <p:graphicFrame>
        <p:nvGraphicFramePr>
          <p:cNvPr id="11" name="Group 4"/>
          <p:cNvGraphicFramePr>
            <a:graphicFrameLocks noGrp="1"/>
          </p:cNvGraphicFramePr>
          <p:nvPr>
            <p:custDataLst>
              <p:tags r:id="rId1"/>
            </p:custDataLst>
            <p:extLst>
              <p:ext uri="{D42A27DB-BD31-4B8C-83A1-F6EECF244321}">
                <p14:modId xmlns:p14="http://schemas.microsoft.com/office/powerpoint/2010/main" val="4022354459"/>
              </p:ext>
            </p:extLst>
          </p:nvPr>
        </p:nvGraphicFramePr>
        <p:xfrm>
          <a:off x="5867400" y="280384"/>
          <a:ext cx="2931160" cy="1184466"/>
        </p:xfrm>
        <a:graphic>
          <a:graphicData uri="http://schemas.openxmlformats.org/drawingml/2006/table">
            <a:tbl>
              <a:tblPr/>
              <a:tblGrid>
                <a:gridCol w="751840">
                  <a:extLst>
                    <a:ext uri="{9D8B030D-6E8A-4147-A177-3AD203B41FA5}">
                      <a16:colId xmlns:a16="http://schemas.microsoft.com/office/drawing/2014/main" val="20000"/>
                    </a:ext>
                  </a:extLst>
                </a:gridCol>
                <a:gridCol w="502285">
                  <a:extLst>
                    <a:ext uri="{9D8B030D-6E8A-4147-A177-3AD203B41FA5}">
                      <a16:colId xmlns:a16="http://schemas.microsoft.com/office/drawing/2014/main" val="20001"/>
                    </a:ext>
                  </a:extLst>
                </a:gridCol>
                <a:gridCol w="563245">
                  <a:extLst>
                    <a:ext uri="{9D8B030D-6E8A-4147-A177-3AD203B41FA5}">
                      <a16:colId xmlns:a16="http://schemas.microsoft.com/office/drawing/2014/main" val="20002"/>
                    </a:ext>
                  </a:extLst>
                </a:gridCol>
                <a:gridCol w="564515">
                  <a:extLst>
                    <a:ext uri="{9D8B030D-6E8A-4147-A177-3AD203B41FA5}">
                      <a16:colId xmlns:a16="http://schemas.microsoft.com/office/drawing/2014/main" val="20003"/>
                    </a:ext>
                  </a:extLst>
                </a:gridCol>
                <a:gridCol w="549275">
                  <a:extLst>
                    <a:ext uri="{9D8B030D-6E8A-4147-A177-3AD203B41FA5}">
                      <a16:colId xmlns:a16="http://schemas.microsoft.com/office/drawing/2014/main" val="20004"/>
                    </a:ext>
                  </a:extLst>
                </a:gridCol>
              </a:tblGrid>
              <a:tr h="357505">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时期</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0"/>
                  </a:ext>
                </a:extLst>
              </a:tr>
              <a:tr h="603250">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需求量</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en-US" sz="1400" b="1"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en-US" sz="1400" b="1" i="0" u="none" strike="noStrike" cap="none" normalizeH="0" baseline="-2500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1"/>
                  </a:ext>
                </a:extLst>
              </a:tr>
            </a:tbl>
          </a:graphicData>
        </a:graphic>
      </p:graphicFrame>
      <p:graphicFrame>
        <p:nvGraphicFramePr>
          <p:cNvPr id="12" name="对象 2"/>
          <p:cNvGraphicFramePr>
            <a:graphicFrameLocks noChangeAspect="1"/>
          </p:cNvGraphicFramePr>
          <p:nvPr>
            <p:extLst>
              <p:ext uri="{D42A27DB-BD31-4B8C-83A1-F6EECF244321}">
                <p14:modId xmlns:p14="http://schemas.microsoft.com/office/powerpoint/2010/main" val="3189756049"/>
              </p:ext>
            </p:extLst>
          </p:nvPr>
        </p:nvGraphicFramePr>
        <p:xfrm>
          <a:off x="661987" y="5580434"/>
          <a:ext cx="5662613" cy="927702"/>
        </p:xfrm>
        <a:graphic>
          <a:graphicData uri="http://schemas.openxmlformats.org/presentationml/2006/ole">
            <mc:AlternateContent xmlns:mc="http://schemas.openxmlformats.org/markup-compatibility/2006">
              <mc:Choice xmlns:v="urn:schemas-microsoft-com:vml" Requires="v">
                <p:oleObj name="Equation" r:id="rId9" imgW="3085920" imgH="444240" progId="Equation.DSMT4">
                  <p:embed/>
                </p:oleObj>
              </mc:Choice>
              <mc:Fallback>
                <p:oleObj name="Equation" r:id="rId9" imgW="3085920" imgH="444240" progId="Equation.DSMT4">
                  <p:embed/>
                  <p:pic>
                    <p:nvPicPr>
                      <p:cNvPr id="0" name=""/>
                      <p:cNvPicPr>
                        <a:picLocks noChangeAspect="1" noChangeArrowheads="1"/>
                      </p:cNvPicPr>
                      <p:nvPr/>
                    </p:nvPicPr>
                    <p:blipFill>
                      <a:blip r:embed="rId10">
                        <a:lum bright="-40000" contrast="-40000"/>
                      </a:blip>
                      <a:srcRect/>
                      <a:stretch>
                        <a:fillRect/>
                      </a:stretch>
                    </p:blipFill>
                    <p:spPr bwMode="auto">
                      <a:xfrm>
                        <a:off x="661987" y="5580434"/>
                        <a:ext cx="5662613" cy="927702"/>
                      </a:xfrm>
                      <a:prstGeom prst="rect">
                        <a:avLst/>
                      </a:prstGeom>
                      <a:solidFill>
                        <a:schemeClr val="bg1">
                          <a:lumMod val="85000"/>
                        </a:schemeClr>
                      </a:solidFill>
                      <a:ln w="9525">
                        <a:noFill/>
                        <a:miter lim="800000"/>
                        <a:headEnd/>
                        <a:tailEnd/>
                      </a:ln>
                    </p:spPr>
                  </p:pic>
                </p:oleObj>
              </mc:Fallback>
            </mc:AlternateContent>
          </a:graphicData>
        </a:graphic>
      </p:graphicFrame>
      <p:graphicFrame>
        <p:nvGraphicFramePr>
          <p:cNvPr id="14" name="对象 2"/>
          <p:cNvGraphicFramePr>
            <a:graphicFrameLocks noChangeAspect="1"/>
          </p:cNvGraphicFramePr>
          <p:nvPr>
            <p:extLst>
              <p:ext uri="{D42A27DB-BD31-4B8C-83A1-F6EECF244321}">
                <p14:modId xmlns:p14="http://schemas.microsoft.com/office/powerpoint/2010/main" val="592576424"/>
              </p:ext>
            </p:extLst>
          </p:nvPr>
        </p:nvGraphicFramePr>
        <p:xfrm>
          <a:off x="7139100" y="5731920"/>
          <a:ext cx="1143000" cy="477837"/>
        </p:xfrm>
        <a:graphic>
          <a:graphicData uri="http://schemas.openxmlformats.org/presentationml/2006/ole">
            <mc:AlternateContent xmlns:mc="http://schemas.openxmlformats.org/markup-compatibility/2006">
              <mc:Choice xmlns:v="urn:schemas-microsoft-com:vml" Requires="v">
                <p:oleObj name="Equation" r:id="rId11" imgW="622080" imgH="228600" progId="Equation.DSMT4">
                  <p:embed/>
                </p:oleObj>
              </mc:Choice>
              <mc:Fallback>
                <p:oleObj name="Equation" r:id="rId11" imgW="622080" imgH="228600" progId="Equation.DSMT4">
                  <p:embed/>
                  <p:pic>
                    <p:nvPicPr>
                      <p:cNvPr id="0" name=""/>
                      <p:cNvPicPr>
                        <a:picLocks noChangeAspect="1" noChangeArrowheads="1"/>
                      </p:cNvPicPr>
                      <p:nvPr/>
                    </p:nvPicPr>
                    <p:blipFill>
                      <a:blip r:embed="rId12">
                        <a:lum bright="-40000" contrast="-40000"/>
                      </a:blip>
                      <a:srcRect/>
                      <a:stretch>
                        <a:fillRect/>
                      </a:stretch>
                    </p:blipFill>
                    <p:spPr bwMode="auto">
                      <a:xfrm>
                        <a:off x="7139100" y="5731920"/>
                        <a:ext cx="1143000" cy="477837"/>
                      </a:xfrm>
                      <a:prstGeom prst="rect">
                        <a:avLst/>
                      </a:prstGeom>
                      <a:solidFill>
                        <a:srgbClr val="FFFF00"/>
                      </a:solidFill>
                      <a:ln w="9525">
                        <a:noFill/>
                        <a:miter lim="800000"/>
                        <a:headEnd/>
                        <a:tailEnd/>
                      </a:ln>
                    </p:spPr>
                  </p:pic>
                </p:oleObj>
              </mc:Fallback>
            </mc:AlternateContent>
          </a:graphicData>
        </a:graphic>
      </p:graphicFrame>
      <p:sp>
        <p:nvSpPr>
          <p:cNvPr id="2" name="右箭头 1"/>
          <p:cNvSpPr/>
          <p:nvPr/>
        </p:nvSpPr>
        <p:spPr>
          <a:xfrm>
            <a:off x="6480810" y="5898281"/>
            <a:ext cx="5334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对象 6"/>
          <p:cNvGraphicFramePr>
            <a:graphicFrameLocks noChangeAspect="1"/>
          </p:cNvGraphicFramePr>
          <p:nvPr/>
        </p:nvGraphicFramePr>
        <p:xfrm>
          <a:off x="1291590" y="3435985"/>
          <a:ext cx="7020560" cy="2724150"/>
        </p:xfrm>
        <a:graphic>
          <a:graphicData uri="http://schemas.openxmlformats.org/presentationml/2006/ole">
            <mc:AlternateContent xmlns:mc="http://schemas.openxmlformats.org/markup-compatibility/2006">
              <mc:Choice xmlns:v="urn:schemas-microsoft-com:vml" Requires="v">
                <p:oleObj name="Equation" r:id="rId3" imgW="4191000" imgH="1625600" progId="Equation.DSMT4">
                  <p:embed/>
                </p:oleObj>
              </mc:Choice>
              <mc:Fallback>
                <p:oleObj name="Equation" r:id="rId3" imgW="4191000" imgH="1625600" progId="Equation.DSMT4">
                  <p:embed/>
                  <p:pic>
                    <p:nvPicPr>
                      <p:cNvPr id="0" name="对象 1"/>
                      <p:cNvPicPr>
                        <a:picLocks noChangeAspect="1" noChangeArrowheads="1"/>
                      </p:cNvPicPr>
                      <p:nvPr/>
                    </p:nvPicPr>
                    <p:blipFill>
                      <a:blip r:embed="rId4">
                        <a:lum bright="-40000" contrast="-40000"/>
                      </a:blip>
                      <a:srcRect/>
                      <a:stretch>
                        <a:fillRect/>
                      </a:stretch>
                    </p:blipFill>
                    <p:spPr bwMode="auto">
                      <a:xfrm>
                        <a:off x="1291590" y="3435985"/>
                        <a:ext cx="7020560"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7283"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79A2BA94-C222-49BA-BAE2-5F2923CB87BE}" type="slidenum">
              <a:rPr lang="en-US" altLang="zh-CN" sz="1400">
                <a:latin typeface="Times New Roman" panose="02020603050405020304" pitchFamily="18" charset="0"/>
              </a:rPr>
              <a:t>21</a:t>
            </a:fld>
            <a:endParaRPr lang="en-US" altLang="zh-CN" sz="1400">
              <a:latin typeface="Times New Roman" panose="02020603050405020304" pitchFamily="18" charset="0"/>
            </a:endParaRPr>
          </a:p>
        </p:txBody>
      </p:sp>
      <p:graphicFrame>
        <p:nvGraphicFramePr>
          <p:cNvPr id="97287" name="对象 2"/>
          <p:cNvGraphicFramePr>
            <a:graphicFrameLocks noChangeAspect="1"/>
          </p:cNvGraphicFramePr>
          <p:nvPr/>
        </p:nvGraphicFramePr>
        <p:xfrm>
          <a:off x="2070100" y="2161540"/>
          <a:ext cx="2832100" cy="397510"/>
        </p:xfrm>
        <a:graphic>
          <a:graphicData uri="http://schemas.openxmlformats.org/presentationml/2006/ole">
            <mc:AlternateContent xmlns:mc="http://schemas.openxmlformats.org/markup-compatibility/2006">
              <mc:Choice xmlns:v="urn:schemas-microsoft-com:vml" Requires="v">
                <p:oleObj name="Equation" r:id="rId5" imgW="1625600" imgH="228600" progId="Equation.DSMT4">
                  <p:embed/>
                </p:oleObj>
              </mc:Choice>
              <mc:Fallback>
                <p:oleObj name="Equation" r:id="rId5" imgW="1625600" imgH="228600" progId="Equation.DSMT4">
                  <p:embed/>
                  <p:pic>
                    <p:nvPicPr>
                      <p:cNvPr id="0" name="对象 2"/>
                      <p:cNvPicPr>
                        <a:picLocks noChangeAspect="1" noChangeArrowheads="1"/>
                      </p:cNvPicPr>
                      <p:nvPr/>
                    </p:nvPicPr>
                    <p:blipFill>
                      <a:blip r:embed="rId6">
                        <a:lum bright="-40000" contrast="-40000"/>
                      </a:blip>
                      <a:srcRect/>
                      <a:stretch>
                        <a:fillRect/>
                      </a:stretch>
                    </p:blipFill>
                    <p:spPr bwMode="auto">
                      <a:xfrm>
                        <a:off x="2070100" y="2161540"/>
                        <a:ext cx="2832100" cy="397510"/>
                      </a:xfrm>
                      <a:prstGeom prst="rect">
                        <a:avLst/>
                      </a:prstGeom>
                      <a:solidFill>
                        <a:srgbClr val="FFFF00"/>
                      </a:solidFill>
                      <a:ln w="9525">
                        <a:solidFill>
                          <a:schemeClr val="tx1"/>
                        </a:solidFill>
                        <a:miter lim="800000"/>
                        <a:headEnd/>
                        <a:tailEnd/>
                      </a:ln>
                    </p:spPr>
                  </p:pic>
                </p:oleObj>
              </mc:Fallback>
            </mc:AlternateContent>
          </a:graphicData>
        </a:graphic>
      </p:graphicFrame>
      <p:graphicFrame>
        <p:nvGraphicFramePr>
          <p:cNvPr id="97288" name="对象 3"/>
          <p:cNvGraphicFramePr>
            <a:graphicFrameLocks noChangeAspect="1"/>
          </p:cNvGraphicFramePr>
          <p:nvPr/>
        </p:nvGraphicFramePr>
        <p:xfrm>
          <a:off x="611505" y="1304925"/>
          <a:ext cx="5748655" cy="641985"/>
        </p:xfrm>
        <a:graphic>
          <a:graphicData uri="http://schemas.openxmlformats.org/presentationml/2006/ole">
            <mc:AlternateContent xmlns:mc="http://schemas.openxmlformats.org/markup-compatibility/2006">
              <mc:Choice xmlns:v="urn:schemas-microsoft-com:vml" Requires="v">
                <p:oleObj r:id="rId7" imgW="2857500" imgH="304800" progId="Equation.DSMT4">
                  <p:embed/>
                </p:oleObj>
              </mc:Choice>
              <mc:Fallback>
                <p:oleObj r:id="rId7" imgW="2857500" imgH="304800" progId="Equation.DSMT4">
                  <p:embed/>
                  <p:pic>
                    <p:nvPicPr>
                      <p:cNvPr id="0" name="对象 3"/>
                      <p:cNvPicPr>
                        <a:picLocks noChangeAspect="1" noChangeArrowheads="1"/>
                      </p:cNvPicPr>
                      <p:nvPr/>
                    </p:nvPicPr>
                    <p:blipFill>
                      <a:blip r:embed="rId8">
                        <a:lum bright="-40000" contrast="-40000"/>
                        <a:extLst>
                          <a:ext uri="{28A0092B-C50C-407E-A947-70E740481C1C}">
                            <a14:useLocalDpi xmlns:a14="http://schemas.microsoft.com/office/drawing/2010/main" val="0"/>
                          </a:ext>
                        </a:extLst>
                      </a:blip>
                      <a:srcRect/>
                      <a:stretch>
                        <a:fillRect/>
                      </a:stretch>
                    </p:blipFill>
                    <p:spPr bwMode="auto">
                      <a:xfrm>
                        <a:off x="611505" y="1304925"/>
                        <a:ext cx="5748655" cy="641985"/>
                      </a:xfrm>
                      <a:prstGeom prst="rect">
                        <a:avLst/>
                      </a:prstGeom>
                      <a:solidFill>
                        <a:schemeClr val="bg1">
                          <a:lumMod val="75000"/>
                        </a:schemeClr>
                      </a:solidFill>
                      <a:ln>
                        <a:noFill/>
                      </a:ln>
                    </p:spPr>
                  </p:pic>
                </p:oleObj>
              </mc:Fallback>
            </mc:AlternateContent>
          </a:graphicData>
        </a:graphic>
      </p:graphicFrame>
      <p:graphicFrame>
        <p:nvGraphicFramePr>
          <p:cNvPr id="4" name="对象 3"/>
          <p:cNvGraphicFramePr>
            <a:graphicFrameLocks noChangeAspect="1"/>
          </p:cNvGraphicFramePr>
          <p:nvPr/>
        </p:nvGraphicFramePr>
        <p:xfrm>
          <a:off x="611188" y="2773363"/>
          <a:ext cx="4257675" cy="535305"/>
        </p:xfrm>
        <a:graphic>
          <a:graphicData uri="http://schemas.openxmlformats.org/presentationml/2006/ole">
            <mc:AlternateContent xmlns:mc="http://schemas.openxmlformats.org/markup-compatibility/2006">
              <mc:Choice xmlns:v="urn:schemas-microsoft-com:vml" Requires="v">
                <p:oleObj name="Equation" r:id="rId9" imgW="2425700" imgH="304800" progId="Equation.DSMT4">
                  <p:embed/>
                </p:oleObj>
              </mc:Choice>
              <mc:Fallback>
                <p:oleObj name="Equation" r:id="rId9" imgW="2425700" imgH="304800" progId="Equation.DSMT4">
                  <p:embed/>
                  <p:pic>
                    <p:nvPicPr>
                      <p:cNvPr id="0" name="对象 1"/>
                      <p:cNvPicPr>
                        <a:picLocks noChangeAspect="1" noChangeArrowheads="1"/>
                      </p:cNvPicPr>
                      <p:nvPr/>
                    </p:nvPicPr>
                    <p:blipFill>
                      <a:blip r:embed="rId10">
                        <a:lum bright="-40000" contrast="-40000"/>
                      </a:blip>
                      <a:srcRect/>
                      <a:stretch>
                        <a:fillRect/>
                      </a:stretch>
                    </p:blipFill>
                    <p:spPr bwMode="auto">
                      <a:xfrm>
                        <a:off x="611188" y="2773363"/>
                        <a:ext cx="4257675" cy="535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标题 1"/>
          <p:cNvSpPr txBox="1"/>
          <p:nvPr/>
        </p:nvSpPr>
        <p:spPr>
          <a:xfrm>
            <a:off x="606126" y="460375"/>
            <a:ext cx="5185074" cy="758825"/>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en-US" altLang="zh-CN" sz="3600" kern="0" dirty="0"/>
              <a:t>2.</a:t>
            </a:r>
            <a:r>
              <a:rPr lang="zh-CN" altLang="en-US" sz="3600" b="1" kern="0" dirty="0"/>
              <a:t>生产计划问题 </a:t>
            </a:r>
            <a:r>
              <a:rPr lang="en-US" altLang="zh-CN" sz="3600" b="1" kern="0" dirty="0"/>
              <a:t>– </a:t>
            </a:r>
            <a:r>
              <a:rPr lang="zh-CN" altLang="en-US" sz="3600" b="1" kern="0" dirty="0"/>
              <a:t>例</a:t>
            </a:r>
            <a:r>
              <a:rPr lang="en-US" altLang="zh-CN" sz="3600" b="1" kern="0" dirty="0"/>
              <a:t>3</a:t>
            </a:r>
          </a:p>
        </p:txBody>
      </p:sp>
      <p:sp>
        <p:nvSpPr>
          <p:cNvPr id="11" name="圆角矩形 1"/>
          <p:cNvSpPr>
            <a:spLocks noChangeArrowheads="1"/>
          </p:cNvSpPr>
          <p:nvPr/>
        </p:nvSpPr>
        <p:spPr bwMode="auto">
          <a:xfrm>
            <a:off x="579438" y="2090880"/>
            <a:ext cx="868362" cy="525177"/>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400" i="1" dirty="0">
                <a:latin typeface="Times New Roman" panose="02020603050405020304" pitchFamily="18" charset="0"/>
                <a:cs typeface="Times New Roman" panose="02020603050405020304" pitchFamily="18" charset="0"/>
              </a:rPr>
              <a:t>v</a:t>
            </a:r>
            <a:r>
              <a:rPr lang="en-US" altLang="zh-CN" sz="2400" baseline="-25000" dirty="0">
                <a:latin typeface="Times New Roman" panose="02020603050405020304" pitchFamily="18" charset="0"/>
                <a:cs typeface="Times New Roman" panose="02020603050405020304" pitchFamily="18" charset="0"/>
              </a:rPr>
              <a:t>2</a:t>
            </a:r>
            <a:r>
              <a:rPr lang="en-US" altLang="zh-CN" sz="2400" dirty="0">
                <a:latin typeface="Times New Roman" panose="02020603050405020304" pitchFamily="18" charset="0"/>
                <a:cs typeface="Times New Roman" panose="02020603050405020304" pitchFamily="18" charset="0"/>
              </a:rPr>
              <a:t>=3</a:t>
            </a:r>
            <a:endParaRPr lang="zh-CN" altLang="en-US" sz="2400" dirty="0">
              <a:latin typeface="Times New Roman" panose="02020603050405020304" pitchFamily="18" charset="0"/>
              <a:cs typeface="Times New Roman" panose="02020603050405020304" pitchFamily="18" charset="0"/>
            </a:endParaRPr>
          </a:p>
        </p:txBody>
      </p:sp>
      <p:sp>
        <p:nvSpPr>
          <p:cNvPr id="6" name="椭圆 5"/>
          <p:cNvSpPr/>
          <p:nvPr/>
        </p:nvSpPr>
        <p:spPr>
          <a:xfrm>
            <a:off x="4648200" y="5715000"/>
            <a:ext cx="1905000" cy="3810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 name="Object 2"/>
          <p:cNvGraphicFramePr>
            <a:graphicFrameLocks noChangeAspect="1"/>
          </p:cNvGraphicFramePr>
          <p:nvPr>
            <p:custDataLst>
              <p:tags r:id="rId1"/>
            </p:custDataLst>
          </p:nvPr>
        </p:nvGraphicFramePr>
        <p:xfrm>
          <a:off x="7848600" y="304800"/>
          <a:ext cx="945515" cy="1583055"/>
        </p:xfrm>
        <a:graphic>
          <a:graphicData uri="http://schemas.openxmlformats.org/presentationml/2006/ole">
            <mc:AlternateContent xmlns:mc="http://schemas.openxmlformats.org/markup-compatibility/2006">
              <mc:Choice xmlns:v="urn:schemas-microsoft-com:vml" Requires="v">
                <p:oleObj name="Equation" r:id="rId11" imgW="685800" imgH="1143000" progId="Equation.DSMT4">
                  <p:embed/>
                </p:oleObj>
              </mc:Choice>
              <mc:Fallback>
                <p:oleObj name="Equation" r:id="rId11" imgW="685800" imgH="1143000" progId="Equation.DSMT4">
                  <p:embed/>
                  <p:pic>
                    <p:nvPicPr>
                      <p:cNvPr id="0" name="Object 2"/>
                      <p:cNvPicPr>
                        <a:picLocks noChangeAspect="1" noChangeArrowheads="1"/>
                      </p:cNvPicPr>
                      <p:nvPr/>
                    </p:nvPicPr>
                    <p:blipFill>
                      <a:blip r:embed="rId12">
                        <a:lum bright="-40000" contrast="-40000"/>
                      </a:blip>
                      <a:srcRect/>
                      <a:stretch>
                        <a:fillRect/>
                      </a:stretch>
                    </p:blipFill>
                    <p:spPr bwMode="auto">
                      <a:xfrm>
                        <a:off x="7848600" y="304800"/>
                        <a:ext cx="945515" cy="1583055"/>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234" name="Object 2"/>
          <p:cNvGraphicFramePr>
            <a:graphicFrameLocks noChangeAspect="1"/>
          </p:cNvGraphicFramePr>
          <p:nvPr>
            <p:extLst>
              <p:ext uri="{D42A27DB-BD31-4B8C-83A1-F6EECF244321}">
                <p14:modId xmlns:p14="http://schemas.microsoft.com/office/powerpoint/2010/main" val="1275099107"/>
              </p:ext>
            </p:extLst>
          </p:nvPr>
        </p:nvGraphicFramePr>
        <p:xfrm>
          <a:off x="492125" y="2743200"/>
          <a:ext cx="8118475" cy="3351213"/>
        </p:xfrm>
        <a:graphic>
          <a:graphicData uri="http://schemas.openxmlformats.org/presentationml/2006/ole">
            <mc:AlternateContent xmlns:mc="http://schemas.openxmlformats.org/markup-compatibility/2006">
              <mc:Choice xmlns:v="urn:schemas-microsoft-com:vml" Requires="v">
                <p:oleObj name="Equation" r:id="rId5" imgW="4762440" imgH="1955520" progId="Equation.DSMT4">
                  <p:embed/>
                </p:oleObj>
              </mc:Choice>
              <mc:Fallback>
                <p:oleObj name="Equation" r:id="rId5" imgW="4762440" imgH="1955520" progId="Equation.DSMT4">
                  <p:embed/>
                  <p:pic>
                    <p:nvPicPr>
                      <p:cNvPr id="0" name="Object 2"/>
                      <p:cNvPicPr>
                        <a:picLocks noChangeAspect="1" noChangeArrowheads="1"/>
                      </p:cNvPicPr>
                      <p:nvPr/>
                    </p:nvPicPr>
                    <p:blipFill>
                      <a:blip r:embed="rId6">
                        <a:lum bright="-40000" contrast="-40000"/>
                      </a:blip>
                      <a:srcRect/>
                      <a:stretch>
                        <a:fillRect/>
                      </a:stretch>
                    </p:blipFill>
                    <p:spPr bwMode="auto">
                      <a:xfrm>
                        <a:off x="492125" y="2743200"/>
                        <a:ext cx="8118475" cy="3351213"/>
                      </a:xfrm>
                      <a:prstGeom prst="rect">
                        <a:avLst/>
                      </a:prstGeom>
                      <a:noFill/>
                      <a:ln>
                        <a:noFill/>
                      </a:ln>
                    </p:spPr>
                  </p:pic>
                </p:oleObj>
              </mc:Fallback>
            </mc:AlternateContent>
          </a:graphicData>
        </a:graphic>
      </p:graphicFrame>
      <p:sp>
        <p:nvSpPr>
          <p:cNvPr id="98308"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9AA11E7B-1758-42F7-A2D4-3C93F85E28B6}" type="slidenum">
              <a:rPr lang="en-US" altLang="zh-CN" sz="1400">
                <a:latin typeface="Times New Roman" panose="02020603050405020304" pitchFamily="18" charset="0"/>
              </a:rPr>
              <a:t>22</a:t>
            </a:fld>
            <a:endParaRPr lang="en-US" altLang="zh-CN" sz="1400">
              <a:latin typeface="Times New Roman" panose="02020603050405020304" pitchFamily="18" charset="0"/>
            </a:endParaRPr>
          </a:p>
        </p:txBody>
      </p:sp>
      <p:graphicFrame>
        <p:nvGraphicFramePr>
          <p:cNvPr id="98312" name="对象 2"/>
          <p:cNvGraphicFramePr>
            <a:graphicFrameLocks noChangeAspect="1"/>
          </p:cNvGraphicFramePr>
          <p:nvPr/>
        </p:nvGraphicFramePr>
        <p:xfrm>
          <a:off x="3124200" y="2172970"/>
          <a:ext cx="3222625" cy="378460"/>
        </p:xfrm>
        <a:graphic>
          <a:graphicData uri="http://schemas.openxmlformats.org/presentationml/2006/ole">
            <mc:AlternateContent xmlns:mc="http://schemas.openxmlformats.org/markup-compatibility/2006">
              <mc:Choice xmlns:v="urn:schemas-microsoft-com:vml" Requires="v">
                <p:oleObj name="Equation" r:id="rId7" imgW="1651000" imgH="228600" progId="Equation.DSMT4">
                  <p:embed/>
                </p:oleObj>
              </mc:Choice>
              <mc:Fallback>
                <p:oleObj name="Equation" r:id="rId7" imgW="1651000" imgH="228600" progId="Equation.DSMT4">
                  <p:embed/>
                  <p:pic>
                    <p:nvPicPr>
                      <p:cNvPr id="0" name="对象 2"/>
                      <p:cNvPicPr>
                        <a:picLocks noChangeAspect="1" noChangeArrowheads="1"/>
                      </p:cNvPicPr>
                      <p:nvPr/>
                    </p:nvPicPr>
                    <p:blipFill>
                      <a:blip r:embed="rId8">
                        <a:lum bright="-40000" contrast="-40000"/>
                      </a:blip>
                      <a:srcRect/>
                      <a:stretch>
                        <a:fillRect/>
                      </a:stretch>
                    </p:blipFill>
                    <p:spPr bwMode="auto">
                      <a:xfrm>
                        <a:off x="3124200" y="2172970"/>
                        <a:ext cx="3222625" cy="378460"/>
                      </a:xfrm>
                      <a:prstGeom prst="rect">
                        <a:avLst/>
                      </a:prstGeom>
                      <a:solidFill>
                        <a:srgbClr val="FFFF00"/>
                      </a:solidFill>
                      <a:ln w="9525">
                        <a:solidFill>
                          <a:schemeClr val="tx1"/>
                        </a:solidFill>
                        <a:miter lim="800000"/>
                        <a:headEnd/>
                        <a:tailEnd/>
                      </a:ln>
                    </p:spPr>
                  </p:pic>
                </p:oleObj>
              </mc:Fallback>
            </mc:AlternateContent>
          </a:graphicData>
        </a:graphic>
      </p:graphicFrame>
      <p:graphicFrame>
        <p:nvGraphicFramePr>
          <p:cNvPr id="12" name="对象 3"/>
          <p:cNvGraphicFramePr>
            <a:graphicFrameLocks noChangeAspect="1"/>
          </p:cNvGraphicFramePr>
          <p:nvPr/>
        </p:nvGraphicFramePr>
        <p:xfrm>
          <a:off x="611505" y="1330325"/>
          <a:ext cx="5056505" cy="565150"/>
        </p:xfrm>
        <a:graphic>
          <a:graphicData uri="http://schemas.openxmlformats.org/presentationml/2006/ole">
            <mc:AlternateContent xmlns:mc="http://schemas.openxmlformats.org/markup-compatibility/2006">
              <mc:Choice xmlns:v="urn:schemas-microsoft-com:vml" Requires="v">
                <p:oleObj r:id="rId9" imgW="2857500" imgH="304800" progId="Equation.DSMT4">
                  <p:embed/>
                </p:oleObj>
              </mc:Choice>
              <mc:Fallback>
                <p:oleObj r:id="rId9" imgW="2857500" imgH="304800" progId="Equation.DSMT4">
                  <p:embed/>
                  <p:pic>
                    <p:nvPicPr>
                      <p:cNvPr id="0" name="图片 3"/>
                      <p:cNvPicPr>
                        <a:picLocks noChangeAspect="1" noChangeArrowheads="1"/>
                      </p:cNvPicPr>
                      <p:nvPr/>
                    </p:nvPicPr>
                    <p:blipFill>
                      <a:blip r:embed="rId10">
                        <a:lum bright="-40000" contrast="-40000"/>
                        <a:extLst>
                          <a:ext uri="{28A0092B-C50C-407E-A947-70E740481C1C}">
                            <a14:useLocalDpi xmlns:a14="http://schemas.microsoft.com/office/drawing/2010/main" val="0"/>
                          </a:ext>
                        </a:extLst>
                      </a:blip>
                      <a:srcRect/>
                      <a:stretch>
                        <a:fillRect/>
                      </a:stretch>
                    </p:blipFill>
                    <p:spPr bwMode="auto">
                      <a:xfrm>
                        <a:off x="611505" y="1330325"/>
                        <a:ext cx="5056505" cy="565150"/>
                      </a:xfrm>
                      <a:prstGeom prst="rect">
                        <a:avLst/>
                      </a:prstGeom>
                      <a:solidFill>
                        <a:schemeClr val="bg1">
                          <a:lumMod val="75000"/>
                        </a:schemeClr>
                      </a:solidFill>
                      <a:ln>
                        <a:noFill/>
                      </a:ln>
                    </p:spPr>
                  </p:pic>
                </p:oleObj>
              </mc:Fallback>
            </mc:AlternateContent>
          </a:graphicData>
        </a:graphic>
      </p:graphicFrame>
      <p:sp>
        <p:nvSpPr>
          <p:cNvPr id="14" name="圆角矩形 1"/>
          <p:cNvSpPr>
            <a:spLocks noChangeArrowheads="1"/>
          </p:cNvSpPr>
          <p:nvPr/>
        </p:nvSpPr>
        <p:spPr bwMode="auto">
          <a:xfrm>
            <a:off x="685800" y="2092325"/>
            <a:ext cx="2057400" cy="525177"/>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400" i="1" dirty="0">
                <a:latin typeface="Times New Roman" panose="02020603050405020304" pitchFamily="18" charset="0"/>
                <a:cs typeface="Times New Roman" panose="02020603050405020304" pitchFamily="18" charset="0"/>
              </a:rPr>
              <a:t>v</a:t>
            </a:r>
            <a:r>
              <a:rPr lang="en-US" altLang="zh-CN" sz="2400" baseline="-25000" dirty="0">
                <a:latin typeface="Times New Roman" panose="02020603050405020304" pitchFamily="18" charset="0"/>
                <a:cs typeface="Times New Roman" panose="02020603050405020304" pitchFamily="18" charset="0"/>
              </a:rPr>
              <a:t>2</a:t>
            </a:r>
            <a:r>
              <a:rPr lang="en-US" altLang="zh-CN" sz="2400" dirty="0">
                <a:latin typeface="Times New Roman" panose="02020603050405020304" pitchFamily="18" charset="0"/>
                <a:cs typeface="Times New Roman" panose="02020603050405020304" pitchFamily="18" charset="0"/>
              </a:rPr>
              <a:t>=4 &gt; </a:t>
            </a:r>
            <a:r>
              <a:rPr lang="en-US" altLang="zh-CN" sz="2400" i="1" dirty="0">
                <a:latin typeface="Times New Roman" panose="02020603050405020304" pitchFamily="18" charset="0"/>
                <a:cs typeface="Times New Roman" panose="02020603050405020304" pitchFamily="18" charset="0"/>
              </a:rPr>
              <a:t>m - </a:t>
            </a:r>
            <a:r>
              <a:rPr lang="en-US" altLang="zh-CN" sz="2400" i="1" dirty="0" err="1">
                <a:latin typeface="Times New Roman" panose="02020603050405020304" pitchFamily="18" charset="0"/>
                <a:cs typeface="Times New Roman" panose="02020603050405020304" pitchFamily="18" charset="0"/>
              </a:rPr>
              <a:t>d</a:t>
            </a:r>
            <a:r>
              <a:rPr lang="en-US" altLang="zh-CN" sz="2400" i="1" baseline="-25000" dirty="0" err="1">
                <a:latin typeface="Times New Roman" panose="02020603050405020304" pitchFamily="18" charset="0"/>
                <a:cs typeface="Times New Roman" panose="02020603050405020304" pitchFamily="18" charset="0"/>
              </a:rPr>
              <a:t>k</a:t>
            </a:r>
            <a:endParaRPr lang="zh-CN" altLang="en-US" sz="2400" i="1" baseline="-25000" dirty="0">
              <a:latin typeface="Times New Roman" panose="02020603050405020304" pitchFamily="18" charset="0"/>
              <a:cs typeface="Times New Roman" panose="02020603050405020304" pitchFamily="18" charset="0"/>
            </a:endParaRPr>
          </a:p>
        </p:txBody>
      </p:sp>
      <p:graphicFrame>
        <p:nvGraphicFramePr>
          <p:cNvPr id="15" name="Group 4"/>
          <p:cNvGraphicFramePr>
            <a:graphicFrameLocks noGrp="1"/>
          </p:cNvGraphicFramePr>
          <p:nvPr>
            <p:custDataLst>
              <p:tags r:id="rId1"/>
            </p:custDataLst>
          </p:nvPr>
        </p:nvGraphicFramePr>
        <p:xfrm>
          <a:off x="5749925" y="180975"/>
          <a:ext cx="3079115" cy="1057910"/>
        </p:xfrm>
        <a:graphic>
          <a:graphicData uri="http://schemas.openxmlformats.org/drawingml/2006/table">
            <a:tbl>
              <a:tblPr/>
              <a:tblGrid>
                <a:gridCol w="789940">
                  <a:extLst>
                    <a:ext uri="{9D8B030D-6E8A-4147-A177-3AD203B41FA5}">
                      <a16:colId xmlns:a16="http://schemas.microsoft.com/office/drawing/2014/main" val="20000"/>
                    </a:ext>
                  </a:extLst>
                </a:gridCol>
                <a:gridCol w="527050">
                  <a:extLst>
                    <a:ext uri="{9D8B030D-6E8A-4147-A177-3AD203B41FA5}">
                      <a16:colId xmlns:a16="http://schemas.microsoft.com/office/drawing/2014/main" val="20001"/>
                    </a:ext>
                  </a:extLst>
                </a:gridCol>
                <a:gridCol w="591820">
                  <a:extLst>
                    <a:ext uri="{9D8B030D-6E8A-4147-A177-3AD203B41FA5}">
                      <a16:colId xmlns:a16="http://schemas.microsoft.com/office/drawing/2014/main" val="20002"/>
                    </a:ext>
                  </a:extLst>
                </a:gridCol>
                <a:gridCol w="593090">
                  <a:extLst>
                    <a:ext uri="{9D8B030D-6E8A-4147-A177-3AD203B41FA5}">
                      <a16:colId xmlns:a16="http://schemas.microsoft.com/office/drawing/2014/main" val="20003"/>
                    </a:ext>
                  </a:extLst>
                </a:gridCol>
                <a:gridCol w="577215">
                  <a:extLst>
                    <a:ext uri="{9D8B030D-6E8A-4147-A177-3AD203B41FA5}">
                      <a16:colId xmlns:a16="http://schemas.microsoft.com/office/drawing/2014/main" val="20004"/>
                    </a:ext>
                  </a:extLst>
                </a:gridCol>
              </a:tblGrid>
              <a:tr h="454660">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时期</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0"/>
                  </a:ext>
                </a:extLst>
              </a:tr>
              <a:tr h="603250">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需求量</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en-US" sz="1400" b="1"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en-US" sz="1400" b="1" i="0" u="none" strike="noStrike" cap="none" normalizeH="0" baseline="-2500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1"/>
                  </a:ext>
                </a:extLst>
              </a:tr>
            </a:tbl>
          </a:graphicData>
        </a:graphic>
      </p:graphicFrame>
      <p:graphicFrame>
        <p:nvGraphicFramePr>
          <p:cNvPr id="6" name="Object 2"/>
          <p:cNvGraphicFramePr>
            <a:graphicFrameLocks noChangeAspect="1"/>
          </p:cNvGraphicFramePr>
          <p:nvPr>
            <p:custDataLst>
              <p:tags r:id="rId2"/>
            </p:custDataLst>
          </p:nvPr>
        </p:nvGraphicFramePr>
        <p:xfrm>
          <a:off x="7620000" y="1600200"/>
          <a:ext cx="945515" cy="1583055"/>
        </p:xfrm>
        <a:graphic>
          <a:graphicData uri="http://schemas.openxmlformats.org/presentationml/2006/ole">
            <mc:AlternateContent xmlns:mc="http://schemas.openxmlformats.org/markup-compatibility/2006">
              <mc:Choice xmlns:v="urn:schemas-microsoft-com:vml" Requires="v">
                <p:oleObj name="Equation" r:id="rId11" imgW="685800" imgH="1143000" progId="Equation.DSMT4">
                  <p:embed/>
                </p:oleObj>
              </mc:Choice>
              <mc:Fallback>
                <p:oleObj name="Equation" r:id="rId11" imgW="685800" imgH="1143000" progId="Equation.DSMT4">
                  <p:embed/>
                  <p:pic>
                    <p:nvPicPr>
                      <p:cNvPr id="0" name="Object 2"/>
                      <p:cNvPicPr>
                        <a:picLocks noChangeAspect="1" noChangeArrowheads="1"/>
                      </p:cNvPicPr>
                      <p:nvPr/>
                    </p:nvPicPr>
                    <p:blipFill>
                      <a:blip r:embed="rId12">
                        <a:lum bright="-40000" contrast="-40000"/>
                      </a:blip>
                      <a:srcRect/>
                      <a:stretch>
                        <a:fillRect/>
                      </a:stretch>
                    </p:blipFill>
                    <p:spPr bwMode="auto">
                      <a:xfrm>
                        <a:off x="7620000" y="1600200"/>
                        <a:ext cx="945515" cy="1583055"/>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标题 1"/>
          <p:cNvSpPr txBox="1"/>
          <p:nvPr>
            <p:custDataLst>
              <p:tags r:id="rId3"/>
            </p:custDataLst>
          </p:nvPr>
        </p:nvSpPr>
        <p:spPr>
          <a:xfrm>
            <a:off x="533400" y="533400"/>
            <a:ext cx="3661410" cy="758825"/>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en-US" sz="3600" b="1" kern="0" dirty="0">
                <a:sym typeface="+mn-ea"/>
              </a:rPr>
              <a:t>例</a:t>
            </a:r>
            <a:r>
              <a:rPr lang="en-US" altLang="zh-CN" sz="3600" b="1" kern="0" dirty="0">
                <a:sym typeface="+mn-ea"/>
              </a:rPr>
              <a:t>3</a:t>
            </a:r>
            <a:r>
              <a:rPr lang="zh-CN" altLang="en-US" sz="3600" b="1" kern="0" dirty="0">
                <a:sym typeface="+mn-ea"/>
              </a:rPr>
              <a:t> </a:t>
            </a:r>
            <a:r>
              <a:rPr lang="en-US" altLang="zh-CN" sz="3600" b="1" kern="0" dirty="0">
                <a:sym typeface="+mn-ea"/>
              </a:rPr>
              <a:t>– </a:t>
            </a:r>
            <a:r>
              <a:rPr lang="zh-CN" altLang="en-US" sz="2800" b="1" kern="0" dirty="0">
                <a:solidFill>
                  <a:srgbClr val="0070C0"/>
                </a:solidFill>
                <a:sym typeface="+mn-ea"/>
              </a:rPr>
              <a:t>顺推法</a:t>
            </a:r>
            <a:endParaRPr lang="zh-CN" altLang="en-US" sz="2800" b="1" kern="0" dirty="0"/>
          </a:p>
        </p:txBody>
      </p:sp>
      <p:sp>
        <p:nvSpPr>
          <p:cNvPr id="10" name="椭圆 9"/>
          <p:cNvSpPr/>
          <p:nvPr/>
        </p:nvSpPr>
        <p:spPr>
          <a:xfrm>
            <a:off x="4495800" y="5638800"/>
            <a:ext cx="2514600" cy="3810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5234"/>
                                        </p:tgtEl>
                                        <p:attrNameLst>
                                          <p:attrName>style.visibility</p:attrName>
                                        </p:attrNameLst>
                                      </p:cBhvr>
                                      <p:to>
                                        <p:strVal val="visible"/>
                                      </p:to>
                                    </p:set>
                                    <p:anim calcmode="lin" valueType="num">
                                      <p:cBhvr additive="base">
                                        <p:cTn id="7" dur="500" fill="hold"/>
                                        <p:tgtEl>
                                          <p:spTgt spid="95234"/>
                                        </p:tgtEl>
                                        <p:attrNameLst>
                                          <p:attrName>ppt_x</p:attrName>
                                        </p:attrNameLst>
                                      </p:cBhvr>
                                      <p:tavLst>
                                        <p:tav tm="0">
                                          <p:val>
                                            <p:strVal val="#ppt_x"/>
                                          </p:val>
                                        </p:tav>
                                        <p:tav tm="100000">
                                          <p:val>
                                            <p:strVal val="#ppt_x"/>
                                          </p:val>
                                        </p:tav>
                                      </p:tavLst>
                                    </p:anim>
                                    <p:anim calcmode="lin" valueType="num">
                                      <p:cBhvr additive="base">
                                        <p:cTn id="8" dur="500" fill="hold"/>
                                        <p:tgtEl>
                                          <p:spTgt spid="95234"/>
                                        </p:tgtEl>
                                        <p:attrNameLst>
                                          <p:attrName>ppt_y</p:attrName>
                                        </p:attrNameLst>
                                      </p:cBhvr>
                                      <p:tavLst>
                                        <p:tav tm="0">
                                          <p:val>
                                            <p:strVal val="1+#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0-#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9331" name="Object 3"/>
          <p:cNvGraphicFramePr>
            <a:graphicFrameLocks noChangeAspect="1"/>
          </p:cNvGraphicFramePr>
          <p:nvPr>
            <p:extLst>
              <p:ext uri="{D42A27DB-BD31-4B8C-83A1-F6EECF244321}">
                <p14:modId xmlns:p14="http://schemas.microsoft.com/office/powerpoint/2010/main" val="2583241246"/>
              </p:ext>
            </p:extLst>
          </p:nvPr>
        </p:nvGraphicFramePr>
        <p:xfrm>
          <a:off x="2567622" y="1765911"/>
          <a:ext cx="6299835" cy="680085"/>
        </p:xfrm>
        <a:graphic>
          <a:graphicData uri="http://schemas.openxmlformats.org/presentationml/2006/ole">
            <mc:AlternateContent xmlns:mc="http://schemas.openxmlformats.org/markup-compatibility/2006">
              <mc:Choice xmlns:v="urn:schemas-microsoft-com:vml" Requires="v">
                <p:oleObj r:id="rId5" imgW="2832100" imgH="304800" progId="">
                  <p:embed/>
                </p:oleObj>
              </mc:Choice>
              <mc:Fallback>
                <p:oleObj r:id="rId5" imgW="2832100" imgH="304800" progId="">
                  <p:embed/>
                  <p:pic>
                    <p:nvPicPr>
                      <p:cNvPr id="0" name=""/>
                      <p:cNvPicPr>
                        <a:picLocks noChangeAspect="1" noChangeArrowheads="1"/>
                      </p:cNvPicPr>
                      <p:nvPr/>
                    </p:nvPicPr>
                    <p:blipFill>
                      <a:blip r:embed="rId6">
                        <a:lum bright="-40000" contrast="-40000"/>
                        <a:extLst>
                          <a:ext uri="{28A0092B-C50C-407E-A947-70E740481C1C}">
                            <a14:useLocalDpi xmlns:a14="http://schemas.microsoft.com/office/drawing/2010/main" val="0"/>
                          </a:ext>
                        </a:extLst>
                      </a:blip>
                      <a:srcRect/>
                      <a:stretch>
                        <a:fillRect/>
                      </a:stretch>
                    </p:blipFill>
                    <p:spPr bwMode="auto">
                      <a:xfrm>
                        <a:off x="2567622" y="1765911"/>
                        <a:ext cx="6299835" cy="680085"/>
                      </a:xfrm>
                      <a:prstGeom prst="rect">
                        <a:avLst/>
                      </a:prstGeom>
                      <a:solidFill>
                        <a:schemeClr val="bg1">
                          <a:lumMod val="85000"/>
                        </a:schemeClr>
                      </a:solidFill>
                      <a:ln>
                        <a:noFill/>
                      </a:ln>
                    </p:spPr>
                  </p:pic>
                </p:oleObj>
              </mc:Fallback>
            </mc:AlternateContent>
          </a:graphicData>
        </a:graphic>
      </p:graphicFrame>
      <p:sp>
        <p:nvSpPr>
          <p:cNvPr id="99334" name="Rectangle 8"/>
          <p:cNvSpPr>
            <a:spLocks noChangeArrowheads="1"/>
          </p:cNvSpPr>
          <p:nvPr/>
        </p:nvSpPr>
        <p:spPr bwMode="auto">
          <a:xfrm>
            <a:off x="533400" y="1695530"/>
            <a:ext cx="1905000" cy="5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dirty="0">
                <a:solidFill>
                  <a:srgbClr val="FF0000"/>
                </a:solidFill>
                <a:cs typeface="Times New Roman" panose="02020603050405020304" pitchFamily="18" charset="0"/>
              </a:rPr>
              <a:t>当</a:t>
            </a:r>
            <a:r>
              <a:rPr lang="en-US" altLang="zh-CN" sz="2400" b="1" i="1" dirty="0">
                <a:solidFill>
                  <a:srgbClr val="FF0000"/>
                </a:solidFill>
                <a:cs typeface="Times New Roman" panose="02020603050405020304" pitchFamily="18" charset="0"/>
              </a:rPr>
              <a:t>k</a:t>
            </a:r>
            <a:r>
              <a:rPr lang="en-US" altLang="zh-CN" sz="2400" b="1" dirty="0">
                <a:solidFill>
                  <a:srgbClr val="FF0000"/>
                </a:solidFill>
                <a:cs typeface="Times New Roman" panose="02020603050405020304" pitchFamily="18" charset="0"/>
              </a:rPr>
              <a:t>=3</a:t>
            </a:r>
            <a:r>
              <a:rPr lang="zh-CN" altLang="en-US" sz="2400" b="1" dirty="0">
                <a:solidFill>
                  <a:srgbClr val="FF0000"/>
                </a:solidFill>
              </a:rPr>
              <a:t>时，</a:t>
            </a:r>
            <a:r>
              <a:rPr lang="zh-CN" altLang="en-US" sz="2400" b="1" dirty="0"/>
              <a:t>由</a:t>
            </a:r>
          </a:p>
        </p:txBody>
      </p:sp>
      <p:sp>
        <p:nvSpPr>
          <p:cNvPr id="99338" name="灯片编号占位符 3"/>
          <p:cNvSpPr txBox="1">
            <a:spLocks noGrp="1" noChangeArrowheads="1"/>
          </p:cNvSpPr>
          <p:nvPr/>
        </p:nvSpPr>
        <p:spPr bwMode="auto">
          <a:xfrm>
            <a:off x="7010400" y="6629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DAD9B57A-6CED-4685-954D-B95051C11D22}" type="slidenum">
              <a:rPr lang="en-US" altLang="zh-CN" sz="1400">
                <a:latin typeface="Times New Roman" panose="02020603050405020304" pitchFamily="18" charset="0"/>
              </a:rPr>
              <a:t>23</a:t>
            </a:fld>
            <a:endParaRPr lang="en-US" altLang="zh-CN" sz="1400">
              <a:latin typeface="Times New Roman" panose="02020603050405020304" pitchFamily="18" charset="0"/>
            </a:endParaRPr>
          </a:p>
        </p:txBody>
      </p:sp>
      <p:graphicFrame>
        <p:nvGraphicFramePr>
          <p:cNvPr id="14" name="Group 4"/>
          <p:cNvGraphicFramePr>
            <a:graphicFrameLocks noGrp="1"/>
          </p:cNvGraphicFramePr>
          <p:nvPr>
            <p:custDataLst>
              <p:tags r:id="rId1"/>
            </p:custDataLst>
          </p:nvPr>
        </p:nvGraphicFramePr>
        <p:xfrm>
          <a:off x="5717540" y="347832"/>
          <a:ext cx="2931160" cy="1184466"/>
        </p:xfrm>
        <a:graphic>
          <a:graphicData uri="http://schemas.openxmlformats.org/drawingml/2006/table">
            <a:tbl>
              <a:tblPr/>
              <a:tblGrid>
                <a:gridCol w="751840">
                  <a:extLst>
                    <a:ext uri="{9D8B030D-6E8A-4147-A177-3AD203B41FA5}">
                      <a16:colId xmlns:a16="http://schemas.microsoft.com/office/drawing/2014/main" val="20000"/>
                    </a:ext>
                  </a:extLst>
                </a:gridCol>
                <a:gridCol w="502285">
                  <a:extLst>
                    <a:ext uri="{9D8B030D-6E8A-4147-A177-3AD203B41FA5}">
                      <a16:colId xmlns:a16="http://schemas.microsoft.com/office/drawing/2014/main" val="20001"/>
                    </a:ext>
                  </a:extLst>
                </a:gridCol>
                <a:gridCol w="563245">
                  <a:extLst>
                    <a:ext uri="{9D8B030D-6E8A-4147-A177-3AD203B41FA5}">
                      <a16:colId xmlns:a16="http://schemas.microsoft.com/office/drawing/2014/main" val="20002"/>
                    </a:ext>
                  </a:extLst>
                </a:gridCol>
                <a:gridCol w="564515">
                  <a:extLst>
                    <a:ext uri="{9D8B030D-6E8A-4147-A177-3AD203B41FA5}">
                      <a16:colId xmlns:a16="http://schemas.microsoft.com/office/drawing/2014/main" val="20003"/>
                    </a:ext>
                  </a:extLst>
                </a:gridCol>
                <a:gridCol w="549275">
                  <a:extLst>
                    <a:ext uri="{9D8B030D-6E8A-4147-A177-3AD203B41FA5}">
                      <a16:colId xmlns:a16="http://schemas.microsoft.com/office/drawing/2014/main" val="20004"/>
                    </a:ext>
                  </a:extLst>
                </a:gridCol>
              </a:tblGrid>
              <a:tr h="357505">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时期</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0"/>
                  </a:ext>
                </a:extLst>
              </a:tr>
              <a:tr h="603250">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需求量</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en-US" sz="1400" b="1"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en-US" sz="1400" b="1" i="0" u="none" strike="noStrike" cap="none" normalizeH="0" baseline="-2500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1"/>
                  </a:ext>
                </a:extLst>
              </a:tr>
            </a:tbl>
          </a:graphicData>
        </a:graphic>
      </p:graphicFrame>
      <p:sp>
        <p:nvSpPr>
          <p:cNvPr id="12" name="标题 1"/>
          <p:cNvSpPr txBox="1"/>
          <p:nvPr>
            <p:custDataLst>
              <p:tags r:id="rId2"/>
            </p:custDataLst>
          </p:nvPr>
        </p:nvSpPr>
        <p:spPr>
          <a:xfrm>
            <a:off x="533400" y="712470"/>
            <a:ext cx="3661410" cy="758825"/>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en-US" sz="3600" b="1" kern="0" dirty="0">
                <a:sym typeface="+mn-ea"/>
              </a:rPr>
              <a:t>例</a:t>
            </a:r>
            <a:r>
              <a:rPr lang="en-US" altLang="zh-CN" sz="3600" b="1" kern="0" dirty="0">
                <a:sym typeface="+mn-ea"/>
              </a:rPr>
              <a:t>3</a:t>
            </a:r>
            <a:r>
              <a:rPr lang="zh-CN" altLang="en-US" sz="3600" b="1" kern="0" dirty="0">
                <a:sym typeface="+mn-ea"/>
              </a:rPr>
              <a:t> </a:t>
            </a:r>
            <a:r>
              <a:rPr lang="en-US" altLang="zh-CN" sz="3600" b="1" kern="0" dirty="0">
                <a:sym typeface="+mn-ea"/>
              </a:rPr>
              <a:t>– </a:t>
            </a:r>
            <a:r>
              <a:rPr lang="zh-CN" altLang="en-US" sz="2800" b="1" kern="0" dirty="0">
                <a:solidFill>
                  <a:srgbClr val="0070C0"/>
                </a:solidFill>
                <a:sym typeface="+mn-ea"/>
              </a:rPr>
              <a:t>顺推法</a:t>
            </a:r>
            <a:endParaRPr lang="zh-CN" altLang="en-US" sz="2800" b="1" kern="0" dirty="0"/>
          </a:p>
        </p:txBody>
      </p:sp>
      <p:graphicFrame>
        <p:nvGraphicFramePr>
          <p:cNvPr id="13" name="Object 2"/>
          <p:cNvGraphicFramePr>
            <a:graphicFrameLocks noChangeAspect="1"/>
          </p:cNvGraphicFramePr>
          <p:nvPr>
            <p:extLst>
              <p:ext uri="{D42A27DB-BD31-4B8C-83A1-F6EECF244321}">
                <p14:modId xmlns:p14="http://schemas.microsoft.com/office/powerpoint/2010/main" val="2836421967"/>
              </p:ext>
            </p:extLst>
          </p:nvPr>
        </p:nvGraphicFramePr>
        <p:xfrm>
          <a:off x="857250" y="4347856"/>
          <a:ext cx="5924550" cy="2205344"/>
        </p:xfrm>
        <a:graphic>
          <a:graphicData uri="http://schemas.openxmlformats.org/presentationml/2006/ole">
            <mc:AlternateContent xmlns:mc="http://schemas.openxmlformats.org/markup-compatibility/2006">
              <mc:Choice xmlns:v="urn:schemas-microsoft-com:vml" Requires="v">
                <p:oleObj name="Equation" r:id="rId7" imgW="3632040" imgH="1257120" progId="Equation.DSMT4">
                  <p:embed/>
                </p:oleObj>
              </mc:Choice>
              <mc:Fallback>
                <p:oleObj name="Equation" r:id="rId7" imgW="3632040" imgH="1257120" progId="Equation.DSMT4">
                  <p:embed/>
                  <p:pic>
                    <p:nvPicPr>
                      <p:cNvPr id="0" name=""/>
                      <p:cNvPicPr>
                        <a:picLocks noChangeAspect="1" noChangeArrowheads="1"/>
                      </p:cNvPicPr>
                      <p:nvPr/>
                    </p:nvPicPr>
                    <p:blipFill>
                      <a:blip r:embed="rId8">
                        <a:lum bright="-40000" contrast="-40000"/>
                      </a:blip>
                      <a:srcRect/>
                      <a:stretch>
                        <a:fillRect/>
                      </a:stretch>
                    </p:blipFill>
                    <p:spPr bwMode="auto">
                      <a:xfrm>
                        <a:off x="857250" y="4347856"/>
                        <a:ext cx="5924550" cy="2205344"/>
                      </a:xfrm>
                      <a:prstGeom prst="rect">
                        <a:avLst/>
                      </a:prstGeom>
                      <a:noFill/>
                      <a:ln>
                        <a:noFill/>
                      </a:ln>
                    </p:spPr>
                  </p:pic>
                </p:oleObj>
              </mc:Fallback>
            </mc:AlternateContent>
          </a:graphicData>
        </a:graphic>
      </p:graphicFrame>
      <p:graphicFrame>
        <p:nvGraphicFramePr>
          <p:cNvPr id="15" name="Object 2"/>
          <p:cNvGraphicFramePr>
            <a:graphicFrameLocks noChangeAspect="1"/>
          </p:cNvGraphicFramePr>
          <p:nvPr>
            <p:custDataLst>
              <p:tags r:id="rId3"/>
            </p:custDataLst>
            <p:extLst>
              <p:ext uri="{D42A27DB-BD31-4B8C-83A1-F6EECF244321}">
                <p14:modId xmlns:p14="http://schemas.microsoft.com/office/powerpoint/2010/main" val="2334606970"/>
              </p:ext>
            </p:extLst>
          </p:nvPr>
        </p:nvGraphicFramePr>
        <p:xfrm>
          <a:off x="7629208" y="3018154"/>
          <a:ext cx="1238249" cy="2423018"/>
        </p:xfrm>
        <a:graphic>
          <a:graphicData uri="http://schemas.openxmlformats.org/presentationml/2006/ole">
            <mc:AlternateContent xmlns:mc="http://schemas.openxmlformats.org/markup-compatibility/2006">
              <mc:Choice xmlns:v="urn:schemas-microsoft-com:vml" Requires="v">
                <p:oleObj name="Equation" r:id="rId9" imgW="825480" imgH="1612800" progId="Equation.DSMT4">
                  <p:embed/>
                </p:oleObj>
              </mc:Choice>
              <mc:Fallback>
                <p:oleObj name="Equation" r:id="rId9" imgW="825480" imgH="1612800" progId="Equation.DSMT4">
                  <p:embed/>
                  <p:pic>
                    <p:nvPicPr>
                      <p:cNvPr id="0" name=""/>
                      <p:cNvPicPr>
                        <a:picLocks noChangeAspect="1" noChangeArrowheads="1"/>
                      </p:cNvPicPr>
                      <p:nvPr/>
                    </p:nvPicPr>
                    <p:blipFill>
                      <a:blip r:embed="rId10">
                        <a:lum bright="-40000" contrast="-40000"/>
                      </a:blip>
                      <a:srcRect/>
                      <a:stretch>
                        <a:fillRect/>
                      </a:stretch>
                    </p:blipFill>
                    <p:spPr bwMode="auto">
                      <a:xfrm>
                        <a:off x="7629208" y="3018154"/>
                        <a:ext cx="1238249" cy="2423018"/>
                      </a:xfrm>
                      <a:prstGeom prst="rect">
                        <a:avLst/>
                      </a:prstGeom>
                      <a:solidFill>
                        <a:schemeClr val="bg1">
                          <a:lumMod val="85000"/>
                        </a:schemeClr>
                      </a:solidFill>
                      <a:ln>
                        <a:noFill/>
                      </a:ln>
                    </p:spPr>
                  </p:pic>
                </p:oleObj>
              </mc:Fallback>
            </mc:AlternateContent>
          </a:graphicData>
        </a:graphic>
      </p:graphicFrame>
      <p:graphicFrame>
        <p:nvGraphicFramePr>
          <p:cNvPr id="18" name="对象 2"/>
          <p:cNvGraphicFramePr>
            <a:graphicFrameLocks noChangeAspect="1"/>
          </p:cNvGraphicFramePr>
          <p:nvPr>
            <p:extLst>
              <p:ext uri="{D42A27DB-BD31-4B8C-83A1-F6EECF244321}">
                <p14:modId xmlns:p14="http://schemas.microsoft.com/office/powerpoint/2010/main" val="1156109709"/>
              </p:ext>
            </p:extLst>
          </p:nvPr>
        </p:nvGraphicFramePr>
        <p:xfrm>
          <a:off x="2681288" y="3712366"/>
          <a:ext cx="3171825" cy="377825"/>
        </p:xfrm>
        <a:graphic>
          <a:graphicData uri="http://schemas.openxmlformats.org/presentationml/2006/ole">
            <mc:AlternateContent xmlns:mc="http://schemas.openxmlformats.org/markup-compatibility/2006">
              <mc:Choice xmlns:v="urn:schemas-microsoft-com:vml" Requires="v">
                <p:oleObj name="Equation" r:id="rId11" imgW="1625400" imgH="228600" progId="Equation.DSMT4">
                  <p:embed/>
                </p:oleObj>
              </mc:Choice>
              <mc:Fallback>
                <p:oleObj name="Equation" r:id="rId11" imgW="1625400" imgH="228600" progId="Equation.DSMT4">
                  <p:embed/>
                  <p:pic>
                    <p:nvPicPr>
                      <p:cNvPr id="0" name=""/>
                      <p:cNvPicPr>
                        <a:picLocks noChangeAspect="1" noChangeArrowheads="1"/>
                      </p:cNvPicPr>
                      <p:nvPr/>
                    </p:nvPicPr>
                    <p:blipFill>
                      <a:blip r:embed="rId12">
                        <a:lum bright="-40000" contrast="-40000"/>
                      </a:blip>
                      <a:srcRect/>
                      <a:stretch>
                        <a:fillRect/>
                      </a:stretch>
                    </p:blipFill>
                    <p:spPr bwMode="auto">
                      <a:xfrm>
                        <a:off x="2681288" y="3712366"/>
                        <a:ext cx="3171825" cy="377825"/>
                      </a:xfrm>
                      <a:prstGeom prst="rect">
                        <a:avLst/>
                      </a:prstGeom>
                      <a:solidFill>
                        <a:srgbClr val="FFFF00"/>
                      </a:solidFill>
                      <a:ln w="9525">
                        <a:solidFill>
                          <a:schemeClr val="tx1"/>
                        </a:solidFill>
                        <a:miter lim="800000"/>
                        <a:headEnd/>
                        <a:tailEnd/>
                      </a:ln>
                    </p:spPr>
                  </p:pic>
                </p:oleObj>
              </mc:Fallback>
            </mc:AlternateContent>
          </a:graphicData>
        </a:graphic>
      </p:graphicFrame>
      <p:sp>
        <p:nvSpPr>
          <p:cNvPr id="19" name="圆角矩形 1"/>
          <p:cNvSpPr>
            <a:spLocks noChangeArrowheads="1"/>
          </p:cNvSpPr>
          <p:nvPr/>
        </p:nvSpPr>
        <p:spPr bwMode="auto">
          <a:xfrm>
            <a:off x="722779" y="3562630"/>
            <a:ext cx="1143635" cy="525177"/>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400" i="1" dirty="0">
                <a:latin typeface="Times New Roman" panose="02020603050405020304" pitchFamily="18" charset="0"/>
                <a:cs typeface="Times New Roman" panose="02020603050405020304" pitchFamily="18" charset="0"/>
              </a:rPr>
              <a:t>v</a:t>
            </a:r>
            <a:r>
              <a:rPr lang="en-US" altLang="zh-CN" sz="2400" baseline="-25000" dirty="0">
                <a:latin typeface="Times New Roman" panose="02020603050405020304" pitchFamily="18" charset="0"/>
                <a:cs typeface="Times New Roman" panose="02020603050405020304" pitchFamily="18" charset="0"/>
              </a:rPr>
              <a:t>3</a:t>
            </a:r>
            <a:r>
              <a:rPr lang="en-US" altLang="zh-CN" sz="2400" dirty="0">
                <a:latin typeface="Times New Roman" panose="02020603050405020304" pitchFamily="18" charset="0"/>
                <a:cs typeface="Times New Roman" panose="02020603050405020304" pitchFamily="18" charset="0"/>
              </a:rPr>
              <a:t>=0</a:t>
            </a:r>
            <a:endParaRPr lang="zh-CN" altLang="en-US" sz="2400" i="1" baseline="-25000" dirty="0">
              <a:latin typeface="Times New Roman" panose="02020603050405020304" pitchFamily="18" charset="0"/>
              <a:cs typeface="Times New Roman" panose="02020603050405020304" pitchFamily="18" charset="0"/>
            </a:endParaRPr>
          </a:p>
        </p:txBody>
      </p:sp>
      <p:sp>
        <p:nvSpPr>
          <p:cNvPr id="20" name="Rectangle 9"/>
          <p:cNvSpPr>
            <a:spLocks noChangeArrowheads="1"/>
          </p:cNvSpPr>
          <p:nvPr/>
        </p:nvSpPr>
        <p:spPr bwMode="auto">
          <a:xfrm>
            <a:off x="617219" y="2503916"/>
            <a:ext cx="4735830"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l">
              <a:lnSpc>
                <a:spcPct val="120000"/>
              </a:lnSpc>
            </a:pPr>
            <a:r>
              <a:rPr lang="zh-CN" altLang="en-US" sz="2200" b="1" dirty="0">
                <a:latin typeface="Times New Roman" panose="02020603050405020304" pitchFamily="18" charset="0"/>
                <a:cs typeface="Times New Roman" panose="02020603050405020304" pitchFamily="18" charset="0"/>
              </a:rPr>
              <a:t>其中 </a:t>
            </a:r>
            <a:r>
              <a:rPr lang="en-US" altLang="zh-CN" sz="2200" b="1" dirty="0">
                <a:latin typeface="Times New Roman" panose="02020603050405020304" pitchFamily="18" charset="0"/>
                <a:cs typeface="Times New Roman" panose="02020603050405020304" pitchFamily="18" charset="0"/>
              </a:rPr>
              <a:t>       </a:t>
            </a:r>
            <a:r>
              <a:rPr lang="zh-CN" altLang="en-US" sz="2200" b="1" dirty="0">
                <a:latin typeface="Times New Roman" panose="02020603050405020304" pitchFamily="18" charset="0"/>
                <a:cs typeface="Times New Roman" panose="02020603050405020304" pitchFamily="18" charset="0"/>
              </a:rPr>
              <a:t>                          。对</a:t>
            </a:r>
            <a:r>
              <a:rPr lang="en-US" altLang="zh-CN" sz="2200" b="1" i="1" dirty="0">
                <a:latin typeface="Times New Roman" panose="02020603050405020304" pitchFamily="18" charset="0"/>
                <a:cs typeface="Times New Roman" panose="02020603050405020304" pitchFamily="18" charset="0"/>
              </a:rPr>
              <a:t>v</a:t>
            </a:r>
            <a:r>
              <a:rPr lang="en-US" altLang="zh-CN" sz="2200" b="1" baseline="-25000" dirty="0">
                <a:latin typeface="Times New Roman" panose="02020603050405020304" pitchFamily="18" charset="0"/>
                <a:cs typeface="Times New Roman" panose="02020603050405020304" pitchFamily="18" charset="0"/>
              </a:rPr>
              <a:t>3</a:t>
            </a:r>
            <a:r>
              <a:rPr lang="zh-CN" altLang="en-US" sz="2200" b="1" dirty="0">
                <a:latin typeface="Times New Roman" panose="02020603050405020304" pitchFamily="18" charset="0"/>
                <a:cs typeface="Times New Roman" panose="02020603050405020304" pitchFamily="18" charset="0"/>
              </a:rPr>
              <a:t>在</a:t>
            </a:r>
            <a:r>
              <a:rPr lang="en-US" altLang="zh-CN" sz="2200" b="1" dirty="0">
                <a:latin typeface="Times New Roman" panose="02020603050405020304" pitchFamily="18" charset="0"/>
                <a:cs typeface="Times New Roman" panose="02020603050405020304" pitchFamily="18" charset="0"/>
              </a:rPr>
              <a:t> 0 </a:t>
            </a:r>
            <a:r>
              <a:rPr lang="zh-CN" altLang="en-US" sz="2200" b="1" dirty="0">
                <a:latin typeface="Times New Roman" panose="02020603050405020304" pitchFamily="18" charset="0"/>
                <a:cs typeface="Times New Roman" panose="02020603050405020304" pitchFamily="18" charset="0"/>
              </a:rPr>
              <a:t>至</a:t>
            </a:r>
          </a:p>
        </p:txBody>
      </p:sp>
      <p:graphicFrame>
        <p:nvGraphicFramePr>
          <p:cNvPr id="21" name="Object 4"/>
          <p:cNvGraphicFramePr>
            <a:graphicFrameLocks noChangeAspect="1"/>
          </p:cNvGraphicFramePr>
          <p:nvPr>
            <p:extLst>
              <p:ext uri="{D42A27DB-BD31-4B8C-83A1-F6EECF244321}">
                <p14:modId xmlns:p14="http://schemas.microsoft.com/office/powerpoint/2010/main" val="3209288486"/>
              </p:ext>
            </p:extLst>
          </p:nvPr>
        </p:nvGraphicFramePr>
        <p:xfrm>
          <a:off x="1272540" y="2518362"/>
          <a:ext cx="2257425" cy="444500"/>
        </p:xfrm>
        <a:graphic>
          <a:graphicData uri="http://schemas.openxmlformats.org/presentationml/2006/ole">
            <mc:AlternateContent xmlns:mc="http://schemas.openxmlformats.org/markup-compatibility/2006">
              <mc:Choice xmlns:v="urn:schemas-microsoft-com:vml" Requires="v">
                <p:oleObj name="Equation" r:id="rId13" imgW="1206500" imgH="228600" progId="Equation.DSMT4">
                  <p:embed/>
                </p:oleObj>
              </mc:Choice>
              <mc:Fallback>
                <p:oleObj name="Equation" r:id="rId13" imgW="1206500" imgH="228600" progId="Equation.DSMT4">
                  <p:embed/>
                  <p:pic>
                    <p:nvPicPr>
                      <p:cNvPr id="0" name=""/>
                      <p:cNvPicPr>
                        <a:picLocks noChangeAspect="1" noChangeArrowheads="1"/>
                      </p:cNvPicPr>
                      <p:nvPr/>
                    </p:nvPicPr>
                    <p:blipFill>
                      <a:blip r:embed="rId14">
                        <a:lum bright="-40000" contrast="-40000"/>
                      </a:blip>
                      <a:srcRect/>
                      <a:stretch>
                        <a:fillRect/>
                      </a:stretch>
                    </p:blipFill>
                    <p:spPr bwMode="auto">
                      <a:xfrm>
                        <a:off x="1272540" y="2518362"/>
                        <a:ext cx="2257425"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5"/>
          <p:cNvGraphicFramePr>
            <a:graphicFrameLocks noChangeAspect="1"/>
          </p:cNvGraphicFramePr>
          <p:nvPr>
            <p:extLst>
              <p:ext uri="{D42A27DB-BD31-4B8C-83A1-F6EECF244321}">
                <p14:modId xmlns:p14="http://schemas.microsoft.com/office/powerpoint/2010/main" val="1489296902"/>
              </p:ext>
            </p:extLst>
          </p:nvPr>
        </p:nvGraphicFramePr>
        <p:xfrm>
          <a:off x="5353050" y="2503757"/>
          <a:ext cx="1962150" cy="450215"/>
        </p:xfrm>
        <a:graphic>
          <a:graphicData uri="http://schemas.openxmlformats.org/presentationml/2006/ole">
            <mc:AlternateContent xmlns:mc="http://schemas.openxmlformats.org/markup-compatibility/2006">
              <mc:Choice xmlns:v="urn:schemas-microsoft-com:vml" Requires="v">
                <p:oleObj r:id="rId15" imgW="2371090" imgH="535305" progId="Equation.DSMT4">
                  <p:embed/>
                </p:oleObj>
              </mc:Choice>
              <mc:Fallback>
                <p:oleObj r:id="rId15" imgW="2371090" imgH="535305" progId="Equation.DSMT4">
                  <p:embed/>
                  <p:pic>
                    <p:nvPicPr>
                      <p:cNvPr id="0" name=""/>
                      <p:cNvPicPr>
                        <a:picLocks noChangeAspect="1" noChangeArrowheads="1"/>
                      </p:cNvPicPr>
                      <p:nvPr/>
                    </p:nvPicPr>
                    <p:blipFill>
                      <a:blip r:embed="rId16">
                        <a:lum bright="-40000" contrast="-40000"/>
                      </a:blip>
                      <a:srcRect/>
                      <a:stretch>
                        <a:fillRect/>
                      </a:stretch>
                    </p:blipFill>
                    <p:spPr bwMode="auto">
                      <a:xfrm>
                        <a:off x="5353050" y="2503757"/>
                        <a:ext cx="1962150" cy="450215"/>
                      </a:xfrm>
                      <a:prstGeom prst="rect">
                        <a:avLst/>
                      </a:prstGeom>
                      <a:solidFill>
                        <a:srgbClr val="FFFF00"/>
                      </a:solidFill>
                      <a:ln>
                        <a:noFill/>
                      </a:ln>
                    </p:spPr>
                  </p:pic>
                </p:oleObj>
              </mc:Fallback>
            </mc:AlternateContent>
          </a:graphicData>
        </a:graphic>
      </p:graphicFrame>
      <p:sp>
        <p:nvSpPr>
          <p:cNvPr id="23" name="Rectangle 11"/>
          <p:cNvSpPr>
            <a:spLocks noChangeArrowheads="1"/>
          </p:cNvSpPr>
          <p:nvPr/>
        </p:nvSpPr>
        <p:spPr bwMode="auto">
          <a:xfrm>
            <a:off x="613728" y="2872216"/>
            <a:ext cx="3270250"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200" b="1">
                <a:cs typeface="Times New Roman" panose="02020603050405020304" pitchFamily="18" charset="0"/>
              </a:rPr>
              <a:t>之间的值分别进行计算。</a:t>
            </a:r>
          </a:p>
        </p:txBody>
      </p:sp>
      <p:sp>
        <p:nvSpPr>
          <p:cNvPr id="24" name="椭圆 23"/>
          <p:cNvSpPr/>
          <p:nvPr/>
        </p:nvSpPr>
        <p:spPr>
          <a:xfrm>
            <a:off x="4495800" y="4878126"/>
            <a:ext cx="2133600" cy="3810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451943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4"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9331" name="Object 3"/>
          <p:cNvGraphicFramePr>
            <a:graphicFrameLocks noChangeAspect="1"/>
          </p:cNvGraphicFramePr>
          <p:nvPr>
            <p:extLst>
              <p:ext uri="{D42A27DB-BD31-4B8C-83A1-F6EECF244321}">
                <p14:modId xmlns:p14="http://schemas.microsoft.com/office/powerpoint/2010/main" val="1522907263"/>
              </p:ext>
            </p:extLst>
          </p:nvPr>
        </p:nvGraphicFramePr>
        <p:xfrm>
          <a:off x="2567623" y="1765911"/>
          <a:ext cx="6042978" cy="596289"/>
        </p:xfrm>
        <a:graphic>
          <a:graphicData uri="http://schemas.openxmlformats.org/presentationml/2006/ole">
            <mc:AlternateContent xmlns:mc="http://schemas.openxmlformats.org/markup-compatibility/2006">
              <mc:Choice xmlns:v="urn:schemas-microsoft-com:vml" Requires="v">
                <p:oleObj r:id="rId5" imgW="2832100" imgH="304800" progId="">
                  <p:embed/>
                </p:oleObj>
              </mc:Choice>
              <mc:Fallback>
                <p:oleObj r:id="rId5" imgW="2832100" imgH="304800" progId="">
                  <p:embed/>
                  <p:pic>
                    <p:nvPicPr>
                      <p:cNvPr id="0" name=""/>
                      <p:cNvPicPr>
                        <a:picLocks noChangeAspect="1" noChangeArrowheads="1"/>
                      </p:cNvPicPr>
                      <p:nvPr/>
                    </p:nvPicPr>
                    <p:blipFill>
                      <a:blip r:embed="rId6">
                        <a:lum bright="-40000" contrast="-40000"/>
                        <a:extLst>
                          <a:ext uri="{28A0092B-C50C-407E-A947-70E740481C1C}">
                            <a14:useLocalDpi xmlns:a14="http://schemas.microsoft.com/office/drawing/2010/main" val="0"/>
                          </a:ext>
                        </a:extLst>
                      </a:blip>
                      <a:srcRect/>
                      <a:stretch>
                        <a:fillRect/>
                      </a:stretch>
                    </p:blipFill>
                    <p:spPr bwMode="auto">
                      <a:xfrm>
                        <a:off x="2567623" y="1765911"/>
                        <a:ext cx="6042978" cy="596289"/>
                      </a:xfrm>
                      <a:prstGeom prst="rect">
                        <a:avLst/>
                      </a:prstGeom>
                      <a:solidFill>
                        <a:schemeClr val="bg1">
                          <a:lumMod val="85000"/>
                        </a:schemeClr>
                      </a:solidFill>
                      <a:ln>
                        <a:noFill/>
                      </a:ln>
                    </p:spPr>
                  </p:pic>
                </p:oleObj>
              </mc:Fallback>
            </mc:AlternateContent>
          </a:graphicData>
        </a:graphic>
      </p:graphicFrame>
      <p:sp>
        <p:nvSpPr>
          <p:cNvPr id="99334" name="Rectangle 8"/>
          <p:cNvSpPr>
            <a:spLocks noChangeArrowheads="1"/>
          </p:cNvSpPr>
          <p:nvPr/>
        </p:nvSpPr>
        <p:spPr bwMode="auto">
          <a:xfrm>
            <a:off x="533400" y="1695530"/>
            <a:ext cx="1905000" cy="5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dirty="0">
                <a:solidFill>
                  <a:srgbClr val="FF0000"/>
                </a:solidFill>
                <a:cs typeface="Times New Roman" panose="02020603050405020304" pitchFamily="18" charset="0"/>
              </a:rPr>
              <a:t>当</a:t>
            </a:r>
            <a:r>
              <a:rPr lang="en-US" altLang="zh-CN" sz="2400" b="1" i="1" dirty="0">
                <a:solidFill>
                  <a:srgbClr val="FF0000"/>
                </a:solidFill>
                <a:cs typeface="Times New Roman" panose="02020603050405020304" pitchFamily="18" charset="0"/>
              </a:rPr>
              <a:t>k</a:t>
            </a:r>
            <a:r>
              <a:rPr lang="en-US" altLang="zh-CN" sz="2400" b="1" dirty="0">
                <a:solidFill>
                  <a:srgbClr val="FF0000"/>
                </a:solidFill>
                <a:cs typeface="Times New Roman" panose="02020603050405020304" pitchFamily="18" charset="0"/>
              </a:rPr>
              <a:t>=3</a:t>
            </a:r>
            <a:r>
              <a:rPr lang="zh-CN" altLang="en-US" sz="2400" b="1" dirty="0">
                <a:solidFill>
                  <a:srgbClr val="FF0000"/>
                </a:solidFill>
              </a:rPr>
              <a:t>时，</a:t>
            </a:r>
            <a:r>
              <a:rPr lang="zh-CN" altLang="en-US" sz="2400" b="1" dirty="0"/>
              <a:t>由</a:t>
            </a:r>
          </a:p>
        </p:txBody>
      </p:sp>
      <p:sp>
        <p:nvSpPr>
          <p:cNvPr id="99338" name="灯片编号占位符 3"/>
          <p:cNvSpPr txBox="1">
            <a:spLocks noGrp="1" noChangeArrowheads="1"/>
          </p:cNvSpPr>
          <p:nvPr/>
        </p:nvSpPr>
        <p:spPr bwMode="auto">
          <a:xfrm>
            <a:off x="7010400" y="6629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DAD9B57A-6CED-4685-954D-B95051C11D22}" type="slidenum">
              <a:rPr lang="en-US" altLang="zh-CN" sz="1400">
                <a:latin typeface="Times New Roman" panose="02020603050405020304" pitchFamily="18" charset="0"/>
              </a:rPr>
              <a:t>24</a:t>
            </a:fld>
            <a:endParaRPr lang="en-US" altLang="zh-CN" sz="1400">
              <a:latin typeface="Times New Roman" panose="02020603050405020304" pitchFamily="18" charset="0"/>
            </a:endParaRPr>
          </a:p>
        </p:txBody>
      </p:sp>
      <p:graphicFrame>
        <p:nvGraphicFramePr>
          <p:cNvPr id="14" name="Group 4"/>
          <p:cNvGraphicFramePr>
            <a:graphicFrameLocks noGrp="1"/>
          </p:cNvGraphicFramePr>
          <p:nvPr>
            <p:custDataLst>
              <p:tags r:id="rId1"/>
            </p:custDataLst>
          </p:nvPr>
        </p:nvGraphicFramePr>
        <p:xfrm>
          <a:off x="5717540" y="347832"/>
          <a:ext cx="2931160" cy="1184466"/>
        </p:xfrm>
        <a:graphic>
          <a:graphicData uri="http://schemas.openxmlformats.org/drawingml/2006/table">
            <a:tbl>
              <a:tblPr/>
              <a:tblGrid>
                <a:gridCol w="751840">
                  <a:extLst>
                    <a:ext uri="{9D8B030D-6E8A-4147-A177-3AD203B41FA5}">
                      <a16:colId xmlns:a16="http://schemas.microsoft.com/office/drawing/2014/main" val="20000"/>
                    </a:ext>
                  </a:extLst>
                </a:gridCol>
                <a:gridCol w="502285">
                  <a:extLst>
                    <a:ext uri="{9D8B030D-6E8A-4147-A177-3AD203B41FA5}">
                      <a16:colId xmlns:a16="http://schemas.microsoft.com/office/drawing/2014/main" val="20001"/>
                    </a:ext>
                  </a:extLst>
                </a:gridCol>
                <a:gridCol w="563245">
                  <a:extLst>
                    <a:ext uri="{9D8B030D-6E8A-4147-A177-3AD203B41FA5}">
                      <a16:colId xmlns:a16="http://schemas.microsoft.com/office/drawing/2014/main" val="20002"/>
                    </a:ext>
                  </a:extLst>
                </a:gridCol>
                <a:gridCol w="564515">
                  <a:extLst>
                    <a:ext uri="{9D8B030D-6E8A-4147-A177-3AD203B41FA5}">
                      <a16:colId xmlns:a16="http://schemas.microsoft.com/office/drawing/2014/main" val="20003"/>
                    </a:ext>
                  </a:extLst>
                </a:gridCol>
                <a:gridCol w="549275">
                  <a:extLst>
                    <a:ext uri="{9D8B030D-6E8A-4147-A177-3AD203B41FA5}">
                      <a16:colId xmlns:a16="http://schemas.microsoft.com/office/drawing/2014/main" val="20004"/>
                    </a:ext>
                  </a:extLst>
                </a:gridCol>
              </a:tblGrid>
              <a:tr h="357505">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时期</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0"/>
                  </a:ext>
                </a:extLst>
              </a:tr>
              <a:tr h="603250">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需求量</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en-US" sz="1400" b="1"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en-US" sz="1400" b="1" i="0" u="none" strike="noStrike" cap="none" normalizeH="0" baseline="-2500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1"/>
                  </a:ext>
                </a:extLst>
              </a:tr>
            </a:tbl>
          </a:graphicData>
        </a:graphic>
      </p:graphicFrame>
      <p:sp>
        <p:nvSpPr>
          <p:cNvPr id="12" name="标题 1"/>
          <p:cNvSpPr txBox="1"/>
          <p:nvPr>
            <p:custDataLst>
              <p:tags r:id="rId2"/>
            </p:custDataLst>
          </p:nvPr>
        </p:nvSpPr>
        <p:spPr>
          <a:xfrm>
            <a:off x="533400" y="712470"/>
            <a:ext cx="3661410" cy="758825"/>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en-US" sz="3600" b="1" kern="0" dirty="0">
                <a:sym typeface="+mn-ea"/>
              </a:rPr>
              <a:t>例</a:t>
            </a:r>
            <a:r>
              <a:rPr lang="en-US" altLang="zh-CN" sz="3600" b="1" kern="0" dirty="0">
                <a:sym typeface="+mn-ea"/>
              </a:rPr>
              <a:t>3</a:t>
            </a:r>
            <a:r>
              <a:rPr lang="zh-CN" altLang="en-US" sz="3600" b="1" kern="0" dirty="0">
                <a:sym typeface="+mn-ea"/>
              </a:rPr>
              <a:t> </a:t>
            </a:r>
            <a:r>
              <a:rPr lang="en-US" altLang="zh-CN" sz="3600" b="1" kern="0" dirty="0">
                <a:sym typeface="+mn-ea"/>
              </a:rPr>
              <a:t>– </a:t>
            </a:r>
            <a:r>
              <a:rPr lang="zh-CN" altLang="en-US" sz="2800" b="1" kern="0" dirty="0">
                <a:solidFill>
                  <a:srgbClr val="0070C0"/>
                </a:solidFill>
                <a:sym typeface="+mn-ea"/>
              </a:rPr>
              <a:t>顺推法</a:t>
            </a:r>
            <a:endParaRPr lang="zh-CN" altLang="en-US" sz="2800" b="1" kern="0" dirty="0"/>
          </a:p>
        </p:txBody>
      </p:sp>
      <p:graphicFrame>
        <p:nvGraphicFramePr>
          <p:cNvPr id="13" name="Object 2"/>
          <p:cNvGraphicFramePr>
            <a:graphicFrameLocks noChangeAspect="1"/>
          </p:cNvGraphicFramePr>
          <p:nvPr>
            <p:extLst>
              <p:ext uri="{D42A27DB-BD31-4B8C-83A1-F6EECF244321}">
                <p14:modId xmlns:p14="http://schemas.microsoft.com/office/powerpoint/2010/main" val="2584410671"/>
              </p:ext>
            </p:extLst>
          </p:nvPr>
        </p:nvGraphicFramePr>
        <p:xfrm>
          <a:off x="512763" y="3238500"/>
          <a:ext cx="7072312" cy="2933700"/>
        </p:xfrm>
        <a:graphic>
          <a:graphicData uri="http://schemas.openxmlformats.org/presentationml/2006/ole">
            <mc:AlternateContent xmlns:mc="http://schemas.openxmlformats.org/markup-compatibility/2006">
              <mc:Choice xmlns:v="urn:schemas-microsoft-com:vml" Requires="v">
                <p:oleObj name="Equation" r:id="rId7" imgW="3886200" imgH="1498320" progId="Equation.DSMT4">
                  <p:embed/>
                </p:oleObj>
              </mc:Choice>
              <mc:Fallback>
                <p:oleObj name="Equation" r:id="rId7" imgW="3886200" imgH="1498320" progId="Equation.DSMT4">
                  <p:embed/>
                  <p:pic>
                    <p:nvPicPr>
                      <p:cNvPr id="0" name=""/>
                      <p:cNvPicPr>
                        <a:picLocks noChangeAspect="1" noChangeArrowheads="1"/>
                      </p:cNvPicPr>
                      <p:nvPr/>
                    </p:nvPicPr>
                    <p:blipFill>
                      <a:blip r:embed="rId8">
                        <a:lum bright="-40000" contrast="-40000"/>
                      </a:blip>
                      <a:srcRect/>
                      <a:stretch>
                        <a:fillRect/>
                      </a:stretch>
                    </p:blipFill>
                    <p:spPr bwMode="auto">
                      <a:xfrm>
                        <a:off x="512763" y="3238500"/>
                        <a:ext cx="7072312" cy="2933700"/>
                      </a:xfrm>
                      <a:prstGeom prst="rect">
                        <a:avLst/>
                      </a:prstGeom>
                      <a:noFill/>
                      <a:ln>
                        <a:noFill/>
                      </a:ln>
                    </p:spPr>
                  </p:pic>
                </p:oleObj>
              </mc:Fallback>
            </mc:AlternateContent>
          </a:graphicData>
        </a:graphic>
      </p:graphicFrame>
      <p:graphicFrame>
        <p:nvGraphicFramePr>
          <p:cNvPr id="18" name="对象 2"/>
          <p:cNvGraphicFramePr>
            <a:graphicFrameLocks noChangeAspect="1"/>
          </p:cNvGraphicFramePr>
          <p:nvPr>
            <p:extLst>
              <p:ext uri="{D42A27DB-BD31-4B8C-83A1-F6EECF244321}">
                <p14:modId xmlns:p14="http://schemas.microsoft.com/office/powerpoint/2010/main" val="469412142"/>
              </p:ext>
            </p:extLst>
          </p:nvPr>
        </p:nvGraphicFramePr>
        <p:xfrm>
          <a:off x="2438400" y="2647323"/>
          <a:ext cx="3171825" cy="377825"/>
        </p:xfrm>
        <a:graphic>
          <a:graphicData uri="http://schemas.openxmlformats.org/presentationml/2006/ole">
            <mc:AlternateContent xmlns:mc="http://schemas.openxmlformats.org/markup-compatibility/2006">
              <mc:Choice xmlns:v="urn:schemas-microsoft-com:vml" Requires="v">
                <p:oleObj name="Equation" r:id="rId9" imgW="1625400" imgH="228600" progId="Equation.DSMT4">
                  <p:embed/>
                </p:oleObj>
              </mc:Choice>
              <mc:Fallback>
                <p:oleObj name="Equation" r:id="rId9" imgW="1625400" imgH="228600" progId="Equation.DSMT4">
                  <p:embed/>
                  <p:pic>
                    <p:nvPicPr>
                      <p:cNvPr id="0" name=""/>
                      <p:cNvPicPr>
                        <a:picLocks noChangeAspect="1" noChangeArrowheads="1"/>
                      </p:cNvPicPr>
                      <p:nvPr/>
                    </p:nvPicPr>
                    <p:blipFill>
                      <a:blip r:embed="rId10">
                        <a:lum bright="-40000" contrast="-40000"/>
                      </a:blip>
                      <a:srcRect/>
                      <a:stretch>
                        <a:fillRect/>
                      </a:stretch>
                    </p:blipFill>
                    <p:spPr bwMode="auto">
                      <a:xfrm>
                        <a:off x="2438400" y="2647323"/>
                        <a:ext cx="3171825" cy="377825"/>
                      </a:xfrm>
                      <a:prstGeom prst="rect">
                        <a:avLst/>
                      </a:prstGeom>
                      <a:solidFill>
                        <a:srgbClr val="FFFF00"/>
                      </a:solidFill>
                      <a:ln w="9525">
                        <a:solidFill>
                          <a:schemeClr val="tx1"/>
                        </a:solidFill>
                        <a:miter lim="800000"/>
                        <a:headEnd/>
                        <a:tailEnd/>
                      </a:ln>
                    </p:spPr>
                  </p:pic>
                </p:oleObj>
              </mc:Fallback>
            </mc:AlternateContent>
          </a:graphicData>
        </a:graphic>
      </p:graphicFrame>
      <p:sp>
        <p:nvSpPr>
          <p:cNvPr id="19" name="圆角矩形 1"/>
          <p:cNvSpPr>
            <a:spLocks noChangeArrowheads="1"/>
          </p:cNvSpPr>
          <p:nvPr/>
        </p:nvSpPr>
        <p:spPr bwMode="auto">
          <a:xfrm>
            <a:off x="685800" y="2514600"/>
            <a:ext cx="1143635" cy="525177"/>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400" i="1" dirty="0">
                <a:latin typeface="Times New Roman" panose="02020603050405020304" pitchFamily="18" charset="0"/>
                <a:cs typeface="Times New Roman" panose="02020603050405020304" pitchFamily="18" charset="0"/>
              </a:rPr>
              <a:t>v</a:t>
            </a:r>
            <a:r>
              <a:rPr lang="en-US" altLang="zh-CN" sz="2400" baseline="-25000" dirty="0">
                <a:latin typeface="Times New Roman" panose="02020603050405020304" pitchFamily="18" charset="0"/>
                <a:cs typeface="Times New Roman" panose="02020603050405020304" pitchFamily="18" charset="0"/>
              </a:rPr>
              <a:t>3</a:t>
            </a:r>
            <a:r>
              <a:rPr lang="en-US" altLang="zh-CN" sz="2400" dirty="0">
                <a:latin typeface="Times New Roman" panose="02020603050405020304" pitchFamily="18" charset="0"/>
                <a:cs typeface="Times New Roman" panose="02020603050405020304" pitchFamily="18" charset="0"/>
              </a:rPr>
              <a:t>=1</a:t>
            </a:r>
            <a:endParaRPr lang="zh-CN" altLang="en-US" sz="2400" i="1" baseline="-25000" dirty="0">
              <a:latin typeface="Times New Roman" panose="02020603050405020304" pitchFamily="18" charset="0"/>
              <a:cs typeface="Times New Roman" panose="02020603050405020304" pitchFamily="18" charset="0"/>
            </a:endParaRPr>
          </a:p>
        </p:txBody>
      </p:sp>
      <p:sp>
        <p:nvSpPr>
          <p:cNvPr id="11" name="椭圆 10"/>
          <p:cNvSpPr/>
          <p:nvPr/>
        </p:nvSpPr>
        <p:spPr>
          <a:xfrm>
            <a:off x="4572000" y="5257800"/>
            <a:ext cx="2514600" cy="3810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4572000" y="3886200"/>
            <a:ext cx="2514600" cy="3810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7" name="Object 2"/>
          <p:cNvGraphicFramePr>
            <a:graphicFrameLocks noChangeAspect="1"/>
          </p:cNvGraphicFramePr>
          <p:nvPr>
            <p:custDataLst>
              <p:tags r:id="rId3"/>
            </p:custDataLst>
            <p:extLst>
              <p:ext uri="{D42A27DB-BD31-4B8C-83A1-F6EECF244321}">
                <p14:modId xmlns:p14="http://schemas.microsoft.com/office/powerpoint/2010/main" val="2182125415"/>
              </p:ext>
            </p:extLst>
          </p:nvPr>
        </p:nvGraphicFramePr>
        <p:xfrm>
          <a:off x="7677151" y="2880611"/>
          <a:ext cx="1238249" cy="2423018"/>
        </p:xfrm>
        <a:graphic>
          <a:graphicData uri="http://schemas.openxmlformats.org/presentationml/2006/ole">
            <mc:AlternateContent xmlns:mc="http://schemas.openxmlformats.org/markup-compatibility/2006">
              <mc:Choice xmlns:v="urn:schemas-microsoft-com:vml" Requires="v">
                <p:oleObj name="Equation" r:id="rId11" imgW="825480" imgH="1612800" progId="Equation.DSMT4">
                  <p:embed/>
                </p:oleObj>
              </mc:Choice>
              <mc:Fallback>
                <p:oleObj name="Equation" r:id="rId11" imgW="825480" imgH="1612800" progId="Equation.DSMT4">
                  <p:embed/>
                  <p:pic>
                    <p:nvPicPr>
                      <p:cNvPr id="0" name=""/>
                      <p:cNvPicPr>
                        <a:picLocks noChangeAspect="1" noChangeArrowheads="1"/>
                      </p:cNvPicPr>
                      <p:nvPr/>
                    </p:nvPicPr>
                    <p:blipFill>
                      <a:blip r:embed="rId12">
                        <a:lum bright="-40000" contrast="-40000"/>
                      </a:blip>
                      <a:srcRect/>
                      <a:stretch>
                        <a:fillRect/>
                      </a:stretch>
                    </p:blipFill>
                    <p:spPr bwMode="auto">
                      <a:xfrm>
                        <a:off x="7677151" y="2880611"/>
                        <a:ext cx="1238249" cy="2423018"/>
                      </a:xfrm>
                      <a:prstGeom prst="rect">
                        <a:avLst/>
                      </a:prstGeom>
                      <a:solidFill>
                        <a:schemeClr val="bg1">
                          <a:lumMod val="85000"/>
                        </a:schemeClr>
                      </a:solidFill>
                      <a:ln>
                        <a:noFill/>
                      </a:ln>
                    </p:spPr>
                  </p:pic>
                </p:oleObj>
              </mc:Fallback>
            </mc:AlternateContent>
          </a:graphicData>
        </a:graphic>
      </p:graphicFrame>
    </p:spTree>
    <p:extLst>
      <p:ext uri="{BB962C8B-B14F-4D97-AF65-F5344CB8AC3E}">
        <p14:creationId xmlns:p14="http://schemas.microsoft.com/office/powerpoint/2010/main" val="16532940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6" grpId="0" animBg="1"/>
      <p:bldP spid="16"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9331" name="Object 3"/>
          <p:cNvGraphicFramePr>
            <a:graphicFrameLocks noChangeAspect="1"/>
          </p:cNvGraphicFramePr>
          <p:nvPr/>
        </p:nvGraphicFramePr>
        <p:xfrm>
          <a:off x="2567623" y="1765911"/>
          <a:ext cx="6042978" cy="596289"/>
        </p:xfrm>
        <a:graphic>
          <a:graphicData uri="http://schemas.openxmlformats.org/presentationml/2006/ole">
            <mc:AlternateContent xmlns:mc="http://schemas.openxmlformats.org/markup-compatibility/2006">
              <mc:Choice xmlns:v="urn:schemas-microsoft-com:vml" Requires="v">
                <p:oleObj r:id="rId5" imgW="2832100" imgH="304800" progId="">
                  <p:embed/>
                </p:oleObj>
              </mc:Choice>
              <mc:Fallback>
                <p:oleObj r:id="rId5" imgW="2832100" imgH="304800" progId="">
                  <p:embed/>
                  <p:pic>
                    <p:nvPicPr>
                      <p:cNvPr id="0" name=""/>
                      <p:cNvPicPr>
                        <a:picLocks noChangeAspect="1" noChangeArrowheads="1"/>
                      </p:cNvPicPr>
                      <p:nvPr/>
                    </p:nvPicPr>
                    <p:blipFill>
                      <a:blip r:embed="rId6">
                        <a:lum bright="-40000" contrast="-40000"/>
                        <a:extLst>
                          <a:ext uri="{28A0092B-C50C-407E-A947-70E740481C1C}">
                            <a14:useLocalDpi xmlns:a14="http://schemas.microsoft.com/office/drawing/2010/main" val="0"/>
                          </a:ext>
                        </a:extLst>
                      </a:blip>
                      <a:srcRect/>
                      <a:stretch>
                        <a:fillRect/>
                      </a:stretch>
                    </p:blipFill>
                    <p:spPr bwMode="auto">
                      <a:xfrm>
                        <a:off x="2567623" y="1765911"/>
                        <a:ext cx="6042978" cy="596289"/>
                      </a:xfrm>
                      <a:prstGeom prst="rect">
                        <a:avLst/>
                      </a:prstGeom>
                      <a:solidFill>
                        <a:schemeClr val="bg1">
                          <a:lumMod val="85000"/>
                        </a:schemeClr>
                      </a:solidFill>
                      <a:ln>
                        <a:noFill/>
                      </a:ln>
                    </p:spPr>
                  </p:pic>
                </p:oleObj>
              </mc:Fallback>
            </mc:AlternateContent>
          </a:graphicData>
        </a:graphic>
      </p:graphicFrame>
      <p:sp>
        <p:nvSpPr>
          <p:cNvPr id="99334" name="Rectangle 8"/>
          <p:cNvSpPr>
            <a:spLocks noChangeArrowheads="1"/>
          </p:cNvSpPr>
          <p:nvPr/>
        </p:nvSpPr>
        <p:spPr bwMode="auto">
          <a:xfrm>
            <a:off x="533400" y="1695530"/>
            <a:ext cx="1905000" cy="5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dirty="0">
                <a:solidFill>
                  <a:srgbClr val="FF0000"/>
                </a:solidFill>
                <a:cs typeface="Times New Roman" panose="02020603050405020304" pitchFamily="18" charset="0"/>
              </a:rPr>
              <a:t>当</a:t>
            </a:r>
            <a:r>
              <a:rPr lang="en-US" altLang="zh-CN" sz="2400" b="1" i="1" dirty="0">
                <a:solidFill>
                  <a:srgbClr val="FF0000"/>
                </a:solidFill>
                <a:cs typeface="Times New Roman" panose="02020603050405020304" pitchFamily="18" charset="0"/>
              </a:rPr>
              <a:t>k</a:t>
            </a:r>
            <a:r>
              <a:rPr lang="en-US" altLang="zh-CN" sz="2400" b="1" dirty="0">
                <a:solidFill>
                  <a:srgbClr val="FF0000"/>
                </a:solidFill>
                <a:cs typeface="Times New Roman" panose="02020603050405020304" pitchFamily="18" charset="0"/>
              </a:rPr>
              <a:t>=3</a:t>
            </a:r>
            <a:r>
              <a:rPr lang="zh-CN" altLang="en-US" sz="2400" b="1" dirty="0">
                <a:solidFill>
                  <a:srgbClr val="FF0000"/>
                </a:solidFill>
              </a:rPr>
              <a:t>时，</a:t>
            </a:r>
            <a:r>
              <a:rPr lang="zh-CN" altLang="en-US" sz="2400" b="1" dirty="0"/>
              <a:t>由</a:t>
            </a:r>
          </a:p>
        </p:txBody>
      </p:sp>
      <p:sp>
        <p:nvSpPr>
          <p:cNvPr id="99338" name="灯片编号占位符 3"/>
          <p:cNvSpPr txBox="1">
            <a:spLocks noGrp="1" noChangeArrowheads="1"/>
          </p:cNvSpPr>
          <p:nvPr/>
        </p:nvSpPr>
        <p:spPr bwMode="auto">
          <a:xfrm>
            <a:off x="7010400" y="6629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DAD9B57A-6CED-4685-954D-B95051C11D22}" type="slidenum">
              <a:rPr lang="en-US" altLang="zh-CN" sz="1400">
                <a:latin typeface="Times New Roman" panose="02020603050405020304" pitchFamily="18" charset="0"/>
              </a:rPr>
              <a:t>25</a:t>
            </a:fld>
            <a:endParaRPr lang="en-US" altLang="zh-CN" sz="1400">
              <a:latin typeface="Times New Roman" panose="02020603050405020304" pitchFamily="18" charset="0"/>
            </a:endParaRPr>
          </a:p>
        </p:txBody>
      </p:sp>
      <p:graphicFrame>
        <p:nvGraphicFramePr>
          <p:cNvPr id="14" name="Group 4"/>
          <p:cNvGraphicFramePr>
            <a:graphicFrameLocks noGrp="1"/>
          </p:cNvGraphicFramePr>
          <p:nvPr>
            <p:custDataLst>
              <p:tags r:id="rId1"/>
            </p:custDataLst>
          </p:nvPr>
        </p:nvGraphicFramePr>
        <p:xfrm>
          <a:off x="5717540" y="347832"/>
          <a:ext cx="2931160" cy="1184466"/>
        </p:xfrm>
        <a:graphic>
          <a:graphicData uri="http://schemas.openxmlformats.org/drawingml/2006/table">
            <a:tbl>
              <a:tblPr/>
              <a:tblGrid>
                <a:gridCol w="751840">
                  <a:extLst>
                    <a:ext uri="{9D8B030D-6E8A-4147-A177-3AD203B41FA5}">
                      <a16:colId xmlns:a16="http://schemas.microsoft.com/office/drawing/2014/main" val="20000"/>
                    </a:ext>
                  </a:extLst>
                </a:gridCol>
                <a:gridCol w="502285">
                  <a:extLst>
                    <a:ext uri="{9D8B030D-6E8A-4147-A177-3AD203B41FA5}">
                      <a16:colId xmlns:a16="http://schemas.microsoft.com/office/drawing/2014/main" val="20001"/>
                    </a:ext>
                  </a:extLst>
                </a:gridCol>
                <a:gridCol w="563245">
                  <a:extLst>
                    <a:ext uri="{9D8B030D-6E8A-4147-A177-3AD203B41FA5}">
                      <a16:colId xmlns:a16="http://schemas.microsoft.com/office/drawing/2014/main" val="20002"/>
                    </a:ext>
                  </a:extLst>
                </a:gridCol>
                <a:gridCol w="564515">
                  <a:extLst>
                    <a:ext uri="{9D8B030D-6E8A-4147-A177-3AD203B41FA5}">
                      <a16:colId xmlns:a16="http://schemas.microsoft.com/office/drawing/2014/main" val="20003"/>
                    </a:ext>
                  </a:extLst>
                </a:gridCol>
                <a:gridCol w="549275">
                  <a:extLst>
                    <a:ext uri="{9D8B030D-6E8A-4147-A177-3AD203B41FA5}">
                      <a16:colId xmlns:a16="http://schemas.microsoft.com/office/drawing/2014/main" val="20004"/>
                    </a:ext>
                  </a:extLst>
                </a:gridCol>
              </a:tblGrid>
              <a:tr h="357505">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时期</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0"/>
                  </a:ext>
                </a:extLst>
              </a:tr>
              <a:tr h="603250">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需求量</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en-US" sz="1400" b="1"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en-US" sz="1400" b="1" i="0" u="none" strike="noStrike" cap="none" normalizeH="0" baseline="-2500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1"/>
                  </a:ext>
                </a:extLst>
              </a:tr>
            </a:tbl>
          </a:graphicData>
        </a:graphic>
      </p:graphicFrame>
      <p:sp>
        <p:nvSpPr>
          <p:cNvPr id="12" name="标题 1"/>
          <p:cNvSpPr txBox="1"/>
          <p:nvPr>
            <p:custDataLst>
              <p:tags r:id="rId2"/>
            </p:custDataLst>
          </p:nvPr>
        </p:nvSpPr>
        <p:spPr>
          <a:xfrm>
            <a:off x="533400" y="712470"/>
            <a:ext cx="3661410" cy="758825"/>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en-US" sz="3600" b="1" kern="0" dirty="0">
                <a:sym typeface="+mn-ea"/>
              </a:rPr>
              <a:t>例</a:t>
            </a:r>
            <a:r>
              <a:rPr lang="en-US" altLang="zh-CN" sz="3600" b="1" kern="0" dirty="0">
                <a:sym typeface="+mn-ea"/>
              </a:rPr>
              <a:t>3</a:t>
            </a:r>
            <a:r>
              <a:rPr lang="zh-CN" altLang="en-US" sz="3600" b="1" kern="0" dirty="0">
                <a:sym typeface="+mn-ea"/>
              </a:rPr>
              <a:t> </a:t>
            </a:r>
            <a:r>
              <a:rPr lang="en-US" altLang="zh-CN" sz="3600" b="1" kern="0" dirty="0">
                <a:sym typeface="+mn-ea"/>
              </a:rPr>
              <a:t>– </a:t>
            </a:r>
            <a:r>
              <a:rPr lang="zh-CN" altLang="en-US" sz="2800" b="1" kern="0" dirty="0">
                <a:solidFill>
                  <a:srgbClr val="0070C0"/>
                </a:solidFill>
                <a:sym typeface="+mn-ea"/>
              </a:rPr>
              <a:t>顺推法</a:t>
            </a:r>
            <a:endParaRPr lang="zh-CN" altLang="en-US" sz="2800" b="1" kern="0" dirty="0"/>
          </a:p>
        </p:txBody>
      </p:sp>
      <p:graphicFrame>
        <p:nvGraphicFramePr>
          <p:cNvPr id="13" name="Object 2"/>
          <p:cNvGraphicFramePr>
            <a:graphicFrameLocks noChangeAspect="1"/>
          </p:cNvGraphicFramePr>
          <p:nvPr>
            <p:extLst>
              <p:ext uri="{D42A27DB-BD31-4B8C-83A1-F6EECF244321}">
                <p14:modId xmlns:p14="http://schemas.microsoft.com/office/powerpoint/2010/main" val="2491156632"/>
              </p:ext>
            </p:extLst>
          </p:nvPr>
        </p:nvGraphicFramePr>
        <p:xfrm>
          <a:off x="477838" y="3171825"/>
          <a:ext cx="7142162" cy="3381375"/>
        </p:xfrm>
        <a:graphic>
          <a:graphicData uri="http://schemas.openxmlformats.org/presentationml/2006/ole">
            <mc:AlternateContent xmlns:mc="http://schemas.openxmlformats.org/markup-compatibility/2006">
              <mc:Choice xmlns:v="urn:schemas-microsoft-com:vml" Requires="v">
                <p:oleObj name="Equation" r:id="rId7" imgW="3924000" imgH="1726920" progId="Equation.DSMT4">
                  <p:embed/>
                </p:oleObj>
              </mc:Choice>
              <mc:Fallback>
                <p:oleObj name="Equation" r:id="rId7" imgW="3924000" imgH="1726920" progId="Equation.DSMT4">
                  <p:embed/>
                  <p:pic>
                    <p:nvPicPr>
                      <p:cNvPr id="0" name=""/>
                      <p:cNvPicPr>
                        <a:picLocks noChangeAspect="1" noChangeArrowheads="1"/>
                      </p:cNvPicPr>
                      <p:nvPr/>
                    </p:nvPicPr>
                    <p:blipFill>
                      <a:blip r:embed="rId8">
                        <a:lum bright="-40000" contrast="-40000"/>
                      </a:blip>
                      <a:srcRect/>
                      <a:stretch>
                        <a:fillRect/>
                      </a:stretch>
                    </p:blipFill>
                    <p:spPr bwMode="auto">
                      <a:xfrm>
                        <a:off x="477838" y="3171825"/>
                        <a:ext cx="7142162" cy="3381375"/>
                      </a:xfrm>
                      <a:prstGeom prst="rect">
                        <a:avLst/>
                      </a:prstGeom>
                      <a:noFill/>
                      <a:ln>
                        <a:noFill/>
                      </a:ln>
                    </p:spPr>
                  </p:pic>
                </p:oleObj>
              </mc:Fallback>
            </mc:AlternateContent>
          </a:graphicData>
        </a:graphic>
      </p:graphicFrame>
      <p:graphicFrame>
        <p:nvGraphicFramePr>
          <p:cNvPr id="18" name="对象 2"/>
          <p:cNvGraphicFramePr>
            <a:graphicFrameLocks noChangeAspect="1"/>
          </p:cNvGraphicFramePr>
          <p:nvPr>
            <p:extLst>
              <p:ext uri="{D42A27DB-BD31-4B8C-83A1-F6EECF244321}">
                <p14:modId xmlns:p14="http://schemas.microsoft.com/office/powerpoint/2010/main" val="943707799"/>
              </p:ext>
            </p:extLst>
          </p:nvPr>
        </p:nvGraphicFramePr>
        <p:xfrm>
          <a:off x="2438400" y="2647323"/>
          <a:ext cx="3171825" cy="377825"/>
        </p:xfrm>
        <a:graphic>
          <a:graphicData uri="http://schemas.openxmlformats.org/presentationml/2006/ole">
            <mc:AlternateContent xmlns:mc="http://schemas.openxmlformats.org/markup-compatibility/2006">
              <mc:Choice xmlns:v="urn:schemas-microsoft-com:vml" Requires="v">
                <p:oleObj name="Equation" r:id="rId9" imgW="1625400" imgH="228600" progId="Equation.DSMT4">
                  <p:embed/>
                </p:oleObj>
              </mc:Choice>
              <mc:Fallback>
                <p:oleObj name="Equation" r:id="rId9" imgW="1625400" imgH="228600" progId="Equation.DSMT4">
                  <p:embed/>
                  <p:pic>
                    <p:nvPicPr>
                      <p:cNvPr id="0" name=""/>
                      <p:cNvPicPr>
                        <a:picLocks noChangeAspect="1" noChangeArrowheads="1"/>
                      </p:cNvPicPr>
                      <p:nvPr/>
                    </p:nvPicPr>
                    <p:blipFill>
                      <a:blip r:embed="rId10">
                        <a:lum bright="-40000" contrast="-40000"/>
                      </a:blip>
                      <a:srcRect/>
                      <a:stretch>
                        <a:fillRect/>
                      </a:stretch>
                    </p:blipFill>
                    <p:spPr bwMode="auto">
                      <a:xfrm>
                        <a:off x="2438400" y="2647323"/>
                        <a:ext cx="3171825" cy="377825"/>
                      </a:xfrm>
                      <a:prstGeom prst="rect">
                        <a:avLst/>
                      </a:prstGeom>
                      <a:solidFill>
                        <a:srgbClr val="FFFF00"/>
                      </a:solidFill>
                      <a:ln w="9525">
                        <a:solidFill>
                          <a:schemeClr val="tx1"/>
                        </a:solidFill>
                        <a:miter lim="800000"/>
                        <a:headEnd/>
                        <a:tailEnd/>
                      </a:ln>
                    </p:spPr>
                  </p:pic>
                </p:oleObj>
              </mc:Fallback>
            </mc:AlternateContent>
          </a:graphicData>
        </a:graphic>
      </p:graphicFrame>
      <p:sp>
        <p:nvSpPr>
          <p:cNvPr id="19" name="圆角矩形 1"/>
          <p:cNvSpPr>
            <a:spLocks noChangeArrowheads="1"/>
          </p:cNvSpPr>
          <p:nvPr/>
        </p:nvSpPr>
        <p:spPr bwMode="auto">
          <a:xfrm>
            <a:off x="685800" y="2514600"/>
            <a:ext cx="1143635" cy="525177"/>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400" i="1" dirty="0">
                <a:latin typeface="Times New Roman" panose="02020603050405020304" pitchFamily="18" charset="0"/>
                <a:cs typeface="Times New Roman" panose="02020603050405020304" pitchFamily="18" charset="0"/>
              </a:rPr>
              <a:t>v</a:t>
            </a:r>
            <a:r>
              <a:rPr lang="en-US" altLang="zh-CN" sz="2400" baseline="-25000" dirty="0">
                <a:latin typeface="Times New Roman" panose="02020603050405020304" pitchFamily="18" charset="0"/>
                <a:cs typeface="Times New Roman" panose="02020603050405020304" pitchFamily="18" charset="0"/>
              </a:rPr>
              <a:t>3</a:t>
            </a:r>
            <a:r>
              <a:rPr lang="en-US" altLang="zh-CN" sz="2400" dirty="0">
                <a:latin typeface="Times New Roman" panose="02020603050405020304" pitchFamily="18" charset="0"/>
                <a:cs typeface="Times New Roman" panose="02020603050405020304" pitchFamily="18" charset="0"/>
              </a:rPr>
              <a:t>=2</a:t>
            </a:r>
            <a:endParaRPr lang="zh-CN" altLang="en-US" sz="2400" i="1" baseline="-25000" dirty="0">
              <a:latin typeface="Times New Roman" panose="02020603050405020304" pitchFamily="18" charset="0"/>
              <a:cs typeface="Times New Roman" panose="02020603050405020304" pitchFamily="18" charset="0"/>
            </a:endParaRPr>
          </a:p>
        </p:txBody>
      </p:sp>
      <p:graphicFrame>
        <p:nvGraphicFramePr>
          <p:cNvPr id="11" name="Object 2"/>
          <p:cNvGraphicFramePr>
            <a:graphicFrameLocks noChangeAspect="1"/>
          </p:cNvGraphicFramePr>
          <p:nvPr>
            <p:custDataLst>
              <p:tags r:id="rId3"/>
            </p:custDataLst>
            <p:extLst>
              <p:ext uri="{D42A27DB-BD31-4B8C-83A1-F6EECF244321}">
                <p14:modId xmlns:p14="http://schemas.microsoft.com/office/powerpoint/2010/main" val="1052293441"/>
              </p:ext>
            </p:extLst>
          </p:nvPr>
        </p:nvGraphicFramePr>
        <p:xfrm>
          <a:off x="7677151" y="2836977"/>
          <a:ext cx="1238249" cy="2423018"/>
        </p:xfrm>
        <a:graphic>
          <a:graphicData uri="http://schemas.openxmlformats.org/presentationml/2006/ole">
            <mc:AlternateContent xmlns:mc="http://schemas.openxmlformats.org/markup-compatibility/2006">
              <mc:Choice xmlns:v="urn:schemas-microsoft-com:vml" Requires="v">
                <p:oleObj name="Equation" r:id="rId11" imgW="825480" imgH="1612800" progId="Equation.DSMT4">
                  <p:embed/>
                </p:oleObj>
              </mc:Choice>
              <mc:Fallback>
                <p:oleObj name="Equation" r:id="rId11" imgW="825480" imgH="1612800" progId="Equation.DSMT4">
                  <p:embed/>
                  <p:pic>
                    <p:nvPicPr>
                      <p:cNvPr id="0" name=""/>
                      <p:cNvPicPr>
                        <a:picLocks noChangeAspect="1" noChangeArrowheads="1"/>
                      </p:cNvPicPr>
                      <p:nvPr/>
                    </p:nvPicPr>
                    <p:blipFill>
                      <a:blip r:embed="rId12">
                        <a:lum bright="-40000" contrast="-40000"/>
                      </a:blip>
                      <a:srcRect/>
                      <a:stretch>
                        <a:fillRect/>
                      </a:stretch>
                    </p:blipFill>
                    <p:spPr bwMode="auto">
                      <a:xfrm>
                        <a:off x="7677151" y="2836977"/>
                        <a:ext cx="1238249" cy="2423018"/>
                      </a:xfrm>
                      <a:prstGeom prst="rect">
                        <a:avLst/>
                      </a:prstGeom>
                      <a:solidFill>
                        <a:schemeClr val="bg1">
                          <a:lumMod val="85000"/>
                        </a:schemeClr>
                      </a:solidFill>
                      <a:ln>
                        <a:noFill/>
                      </a:ln>
                    </p:spPr>
                  </p:pic>
                </p:oleObj>
              </mc:Fallback>
            </mc:AlternateContent>
          </a:graphicData>
        </a:graphic>
      </p:graphicFrame>
      <p:sp>
        <p:nvSpPr>
          <p:cNvPr id="16" name="椭圆 15"/>
          <p:cNvSpPr/>
          <p:nvPr/>
        </p:nvSpPr>
        <p:spPr>
          <a:xfrm>
            <a:off x="4572000" y="5638800"/>
            <a:ext cx="2514600" cy="3810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430231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9331" name="Object 3"/>
          <p:cNvGraphicFramePr>
            <a:graphicFrameLocks noChangeAspect="1"/>
          </p:cNvGraphicFramePr>
          <p:nvPr/>
        </p:nvGraphicFramePr>
        <p:xfrm>
          <a:off x="2567623" y="1765911"/>
          <a:ext cx="6042978" cy="596289"/>
        </p:xfrm>
        <a:graphic>
          <a:graphicData uri="http://schemas.openxmlformats.org/presentationml/2006/ole">
            <mc:AlternateContent xmlns:mc="http://schemas.openxmlformats.org/markup-compatibility/2006">
              <mc:Choice xmlns:v="urn:schemas-microsoft-com:vml" Requires="v">
                <p:oleObj r:id="rId5" imgW="2832100" imgH="304800" progId="">
                  <p:embed/>
                </p:oleObj>
              </mc:Choice>
              <mc:Fallback>
                <p:oleObj r:id="rId5" imgW="2832100" imgH="304800" progId="">
                  <p:embed/>
                  <p:pic>
                    <p:nvPicPr>
                      <p:cNvPr id="0" name=""/>
                      <p:cNvPicPr>
                        <a:picLocks noChangeAspect="1" noChangeArrowheads="1"/>
                      </p:cNvPicPr>
                      <p:nvPr/>
                    </p:nvPicPr>
                    <p:blipFill>
                      <a:blip r:embed="rId6">
                        <a:lum bright="-40000" contrast="-40000"/>
                        <a:extLst>
                          <a:ext uri="{28A0092B-C50C-407E-A947-70E740481C1C}">
                            <a14:useLocalDpi xmlns:a14="http://schemas.microsoft.com/office/drawing/2010/main" val="0"/>
                          </a:ext>
                        </a:extLst>
                      </a:blip>
                      <a:srcRect/>
                      <a:stretch>
                        <a:fillRect/>
                      </a:stretch>
                    </p:blipFill>
                    <p:spPr bwMode="auto">
                      <a:xfrm>
                        <a:off x="2567623" y="1765911"/>
                        <a:ext cx="6042978" cy="596289"/>
                      </a:xfrm>
                      <a:prstGeom prst="rect">
                        <a:avLst/>
                      </a:prstGeom>
                      <a:solidFill>
                        <a:schemeClr val="bg1">
                          <a:lumMod val="85000"/>
                        </a:schemeClr>
                      </a:solidFill>
                      <a:ln>
                        <a:noFill/>
                      </a:ln>
                    </p:spPr>
                  </p:pic>
                </p:oleObj>
              </mc:Fallback>
            </mc:AlternateContent>
          </a:graphicData>
        </a:graphic>
      </p:graphicFrame>
      <p:sp>
        <p:nvSpPr>
          <p:cNvPr id="99334" name="Rectangle 8"/>
          <p:cNvSpPr>
            <a:spLocks noChangeArrowheads="1"/>
          </p:cNvSpPr>
          <p:nvPr/>
        </p:nvSpPr>
        <p:spPr bwMode="auto">
          <a:xfrm>
            <a:off x="533400" y="1695530"/>
            <a:ext cx="1905000" cy="5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dirty="0">
                <a:solidFill>
                  <a:srgbClr val="FF0000"/>
                </a:solidFill>
                <a:cs typeface="Times New Roman" panose="02020603050405020304" pitchFamily="18" charset="0"/>
              </a:rPr>
              <a:t>当</a:t>
            </a:r>
            <a:r>
              <a:rPr lang="en-US" altLang="zh-CN" sz="2400" b="1" i="1" dirty="0">
                <a:solidFill>
                  <a:srgbClr val="FF0000"/>
                </a:solidFill>
                <a:cs typeface="Times New Roman" panose="02020603050405020304" pitchFamily="18" charset="0"/>
              </a:rPr>
              <a:t>k</a:t>
            </a:r>
            <a:r>
              <a:rPr lang="en-US" altLang="zh-CN" sz="2400" b="1" dirty="0">
                <a:solidFill>
                  <a:srgbClr val="FF0000"/>
                </a:solidFill>
                <a:cs typeface="Times New Roman" panose="02020603050405020304" pitchFamily="18" charset="0"/>
              </a:rPr>
              <a:t>=3</a:t>
            </a:r>
            <a:r>
              <a:rPr lang="zh-CN" altLang="en-US" sz="2400" b="1" dirty="0">
                <a:solidFill>
                  <a:srgbClr val="FF0000"/>
                </a:solidFill>
              </a:rPr>
              <a:t>时，</a:t>
            </a:r>
            <a:r>
              <a:rPr lang="zh-CN" altLang="en-US" sz="2400" b="1" dirty="0"/>
              <a:t>由</a:t>
            </a:r>
          </a:p>
        </p:txBody>
      </p:sp>
      <p:sp>
        <p:nvSpPr>
          <p:cNvPr id="99338" name="灯片编号占位符 3"/>
          <p:cNvSpPr txBox="1">
            <a:spLocks noGrp="1" noChangeArrowheads="1"/>
          </p:cNvSpPr>
          <p:nvPr/>
        </p:nvSpPr>
        <p:spPr bwMode="auto">
          <a:xfrm>
            <a:off x="7010400" y="6629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DAD9B57A-6CED-4685-954D-B95051C11D22}" type="slidenum">
              <a:rPr lang="en-US" altLang="zh-CN" sz="1400">
                <a:latin typeface="Times New Roman" panose="02020603050405020304" pitchFamily="18" charset="0"/>
              </a:rPr>
              <a:t>26</a:t>
            </a:fld>
            <a:endParaRPr lang="en-US" altLang="zh-CN" sz="1400">
              <a:latin typeface="Times New Roman" panose="02020603050405020304" pitchFamily="18" charset="0"/>
            </a:endParaRPr>
          </a:p>
        </p:txBody>
      </p:sp>
      <p:graphicFrame>
        <p:nvGraphicFramePr>
          <p:cNvPr id="14" name="Group 4"/>
          <p:cNvGraphicFramePr>
            <a:graphicFrameLocks noGrp="1"/>
          </p:cNvGraphicFramePr>
          <p:nvPr>
            <p:custDataLst>
              <p:tags r:id="rId1"/>
            </p:custDataLst>
          </p:nvPr>
        </p:nvGraphicFramePr>
        <p:xfrm>
          <a:off x="5717540" y="347832"/>
          <a:ext cx="2931160" cy="1184466"/>
        </p:xfrm>
        <a:graphic>
          <a:graphicData uri="http://schemas.openxmlformats.org/drawingml/2006/table">
            <a:tbl>
              <a:tblPr/>
              <a:tblGrid>
                <a:gridCol w="751840">
                  <a:extLst>
                    <a:ext uri="{9D8B030D-6E8A-4147-A177-3AD203B41FA5}">
                      <a16:colId xmlns:a16="http://schemas.microsoft.com/office/drawing/2014/main" val="20000"/>
                    </a:ext>
                  </a:extLst>
                </a:gridCol>
                <a:gridCol w="502285">
                  <a:extLst>
                    <a:ext uri="{9D8B030D-6E8A-4147-A177-3AD203B41FA5}">
                      <a16:colId xmlns:a16="http://schemas.microsoft.com/office/drawing/2014/main" val="20001"/>
                    </a:ext>
                  </a:extLst>
                </a:gridCol>
                <a:gridCol w="563245">
                  <a:extLst>
                    <a:ext uri="{9D8B030D-6E8A-4147-A177-3AD203B41FA5}">
                      <a16:colId xmlns:a16="http://schemas.microsoft.com/office/drawing/2014/main" val="20002"/>
                    </a:ext>
                  </a:extLst>
                </a:gridCol>
                <a:gridCol w="564515">
                  <a:extLst>
                    <a:ext uri="{9D8B030D-6E8A-4147-A177-3AD203B41FA5}">
                      <a16:colId xmlns:a16="http://schemas.microsoft.com/office/drawing/2014/main" val="20003"/>
                    </a:ext>
                  </a:extLst>
                </a:gridCol>
                <a:gridCol w="549275">
                  <a:extLst>
                    <a:ext uri="{9D8B030D-6E8A-4147-A177-3AD203B41FA5}">
                      <a16:colId xmlns:a16="http://schemas.microsoft.com/office/drawing/2014/main" val="20004"/>
                    </a:ext>
                  </a:extLst>
                </a:gridCol>
              </a:tblGrid>
              <a:tr h="357505">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时期</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0"/>
                  </a:ext>
                </a:extLst>
              </a:tr>
              <a:tr h="603250">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需求量</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en-US" sz="1400" b="1"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en-US" sz="1400" b="1" i="0" u="none" strike="noStrike" cap="none" normalizeH="0" baseline="-2500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1"/>
                  </a:ext>
                </a:extLst>
              </a:tr>
            </a:tbl>
          </a:graphicData>
        </a:graphic>
      </p:graphicFrame>
      <p:sp>
        <p:nvSpPr>
          <p:cNvPr id="12" name="标题 1"/>
          <p:cNvSpPr txBox="1"/>
          <p:nvPr>
            <p:custDataLst>
              <p:tags r:id="rId2"/>
            </p:custDataLst>
          </p:nvPr>
        </p:nvSpPr>
        <p:spPr>
          <a:xfrm>
            <a:off x="533400" y="712470"/>
            <a:ext cx="3661410" cy="758825"/>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en-US" sz="3600" b="1" kern="0" dirty="0">
                <a:sym typeface="+mn-ea"/>
              </a:rPr>
              <a:t>例</a:t>
            </a:r>
            <a:r>
              <a:rPr lang="en-US" altLang="zh-CN" sz="3600" b="1" kern="0" dirty="0">
                <a:sym typeface="+mn-ea"/>
              </a:rPr>
              <a:t>3</a:t>
            </a:r>
            <a:r>
              <a:rPr lang="zh-CN" altLang="en-US" sz="3600" b="1" kern="0" dirty="0">
                <a:sym typeface="+mn-ea"/>
              </a:rPr>
              <a:t> </a:t>
            </a:r>
            <a:r>
              <a:rPr lang="en-US" altLang="zh-CN" sz="3600" b="1" kern="0" dirty="0">
                <a:sym typeface="+mn-ea"/>
              </a:rPr>
              <a:t>– </a:t>
            </a:r>
            <a:r>
              <a:rPr lang="zh-CN" altLang="en-US" sz="2800" b="1" kern="0" dirty="0">
                <a:solidFill>
                  <a:srgbClr val="0070C0"/>
                </a:solidFill>
                <a:sym typeface="+mn-ea"/>
              </a:rPr>
              <a:t>顺推法</a:t>
            </a:r>
            <a:endParaRPr lang="zh-CN" altLang="en-US" sz="2800" b="1" kern="0" dirty="0"/>
          </a:p>
        </p:txBody>
      </p:sp>
      <p:graphicFrame>
        <p:nvGraphicFramePr>
          <p:cNvPr id="13" name="Object 2"/>
          <p:cNvGraphicFramePr>
            <a:graphicFrameLocks noChangeAspect="1"/>
          </p:cNvGraphicFramePr>
          <p:nvPr>
            <p:extLst>
              <p:ext uri="{D42A27DB-BD31-4B8C-83A1-F6EECF244321}">
                <p14:modId xmlns:p14="http://schemas.microsoft.com/office/powerpoint/2010/main" val="2260441701"/>
              </p:ext>
            </p:extLst>
          </p:nvPr>
        </p:nvGraphicFramePr>
        <p:xfrm>
          <a:off x="641350" y="3004241"/>
          <a:ext cx="6597650" cy="3548959"/>
        </p:xfrm>
        <a:graphic>
          <a:graphicData uri="http://schemas.openxmlformats.org/presentationml/2006/ole">
            <mc:AlternateContent xmlns:mc="http://schemas.openxmlformats.org/markup-compatibility/2006">
              <mc:Choice xmlns:v="urn:schemas-microsoft-com:vml" Requires="v">
                <p:oleObj name="Equation" r:id="rId7" imgW="3911400" imgH="1955520" progId="Equation.DSMT4">
                  <p:embed/>
                </p:oleObj>
              </mc:Choice>
              <mc:Fallback>
                <p:oleObj name="Equation" r:id="rId7" imgW="3911400" imgH="1955520" progId="Equation.DSMT4">
                  <p:embed/>
                  <p:pic>
                    <p:nvPicPr>
                      <p:cNvPr id="0" name=""/>
                      <p:cNvPicPr>
                        <a:picLocks noChangeAspect="1" noChangeArrowheads="1"/>
                      </p:cNvPicPr>
                      <p:nvPr/>
                    </p:nvPicPr>
                    <p:blipFill>
                      <a:blip r:embed="rId8">
                        <a:lum bright="-40000" contrast="-40000"/>
                      </a:blip>
                      <a:srcRect/>
                      <a:stretch>
                        <a:fillRect/>
                      </a:stretch>
                    </p:blipFill>
                    <p:spPr bwMode="auto">
                      <a:xfrm>
                        <a:off x="641350" y="3004241"/>
                        <a:ext cx="6597650" cy="3548959"/>
                      </a:xfrm>
                      <a:prstGeom prst="rect">
                        <a:avLst/>
                      </a:prstGeom>
                      <a:noFill/>
                      <a:ln>
                        <a:noFill/>
                      </a:ln>
                    </p:spPr>
                  </p:pic>
                </p:oleObj>
              </mc:Fallback>
            </mc:AlternateContent>
          </a:graphicData>
        </a:graphic>
      </p:graphicFrame>
      <p:graphicFrame>
        <p:nvGraphicFramePr>
          <p:cNvPr id="18" name="对象 2"/>
          <p:cNvGraphicFramePr>
            <a:graphicFrameLocks noChangeAspect="1"/>
          </p:cNvGraphicFramePr>
          <p:nvPr>
            <p:extLst>
              <p:ext uri="{D42A27DB-BD31-4B8C-83A1-F6EECF244321}">
                <p14:modId xmlns:p14="http://schemas.microsoft.com/office/powerpoint/2010/main" val="2093818322"/>
              </p:ext>
            </p:extLst>
          </p:nvPr>
        </p:nvGraphicFramePr>
        <p:xfrm>
          <a:off x="2438400" y="2571123"/>
          <a:ext cx="3171825" cy="377825"/>
        </p:xfrm>
        <a:graphic>
          <a:graphicData uri="http://schemas.openxmlformats.org/presentationml/2006/ole">
            <mc:AlternateContent xmlns:mc="http://schemas.openxmlformats.org/markup-compatibility/2006">
              <mc:Choice xmlns:v="urn:schemas-microsoft-com:vml" Requires="v">
                <p:oleObj name="Equation" r:id="rId9" imgW="1625400" imgH="228600" progId="Equation.DSMT4">
                  <p:embed/>
                </p:oleObj>
              </mc:Choice>
              <mc:Fallback>
                <p:oleObj name="Equation" r:id="rId9" imgW="1625400" imgH="228600" progId="Equation.DSMT4">
                  <p:embed/>
                  <p:pic>
                    <p:nvPicPr>
                      <p:cNvPr id="0" name=""/>
                      <p:cNvPicPr>
                        <a:picLocks noChangeAspect="1" noChangeArrowheads="1"/>
                      </p:cNvPicPr>
                      <p:nvPr/>
                    </p:nvPicPr>
                    <p:blipFill>
                      <a:blip r:embed="rId10">
                        <a:lum bright="-40000" contrast="-40000"/>
                      </a:blip>
                      <a:srcRect/>
                      <a:stretch>
                        <a:fillRect/>
                      </a:stretch>
                    </p:blipFill>
                    <p:spPr bwMode="auto">
                      <a:xfrm>
                        <a:off x="2438400" y="2571123"/>
                        <a:ext cx="3171825" cy="377825"/>
                      </a:xfrm>
                      <a:prstGeom prst="rect">
                        <a:avLst/>
                      </a:prstGeom>
                      <a:solidFill>
                        <a:srgbClr val="FFFF00"/>
                      </a:solidFill>
                      <a:ln w="9525">
                        <a:solidFill>
                          <a:schemeClr val="tx1"/>
                        </a:solidFill>
                        <a:miter lim="800000"/>
                        <a:headEnd/>
                        <a:tailEnd/>
                      </a:ln>
                    </p:spPr>
                  </p:pic>
                </p:oleObj>
              </mc:Fallback>
            </mc:AlternateContent>
          </a:graphicData>
        </a:graphic>
      </p:graphicFrame>
      <p:sp>
        <p:nvSpPr>
          <p:cNvPr id="19" name="圆角矩形 1"/>
          <p:cNvSpPr>
            <a:spLocks noChangeArrowheads="1"/>
          </p:cNvSpPr>
          <p:nvPr/>
        </p:nvSpPr>
        <p:spPr bwMode="auto">
          <a:xfrm>
            <a:off x="685800" y="2438400"/>
            <a:ext cx="1143635" cy="525177"/>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400" i="1" dirty="0">
                <a:latin typeface="Times New Roman" panose="02020603050405020304" pitchFamily="18" charset="0"/>
                <a:cs typeface="Times New Roman" panose="02020603050405020304" pitchFamily="18" charset="0"/>
              </a:rPr>
              <a:t>v</a:t>
            </a:r>
            <a:r>
              <a:rPr lang="en-US" altLang="zh-CN" sz="2400" baseline="-25000" dirty="0">
                <a:latin typeface="Times New Roman" panose="02020603050405020304" pitchFamily="18" charset="0"/>
                <a:cs typeface="Times New Roman" panose="02020603050405020304" pitchFamily="18" charset="0"/>
              </a:rPr>
              <a:t>3</a:t>
            </a:r>
            <a:r>
              <a:rPr lang="en-US" altLang="zh-CN" sz="2400" dirty="0">
                <a:latin typeface="Times New Roman" panose="02020603050405020304" pitchFamily="18" charset="0"/>
                <a:cs typeface="Times New Roman" panose="02020603050405020304" pitchFamily="18" charset="0"/>
              </a:rPr>
              <a:t>=3</a:t>
            </a:r>
            <a:endParaRPr lang="zh-CN" altLang="en-US" sz="2400" i="1" baseline="-25000" dirty="0">
              <a:latin typeface="Times New Roman" panose="02020603050405020304" pitchFamily="18" charset="0"/>
              <a:cs typeface="Times New Roman" panose="02020603050405020304" pitchFamily="18" charset="0"/>
            </a:endParaRPr>
          </a:p>
        </p:txBody>
      </p:sp>
      <p:sp>
        <p:nvSpPr>
          <p:cNvPr id="11" name="椭圆 10"/>
          <p:cNvSpPr/>
          <p:nvPr/>
        </p:nvSpPr>
        <p:spPr>
          <a:xfrm>
            <a:off x="4419600" y="5665695"/>
            <a:ext cx="2514600" cy="3810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6" name="Object 2"/>
          <p:cNvGraphicFramePr>
            <a:graphicFrameLocks noChangeAspect="1"/>
          </p:cNvGraphicFramePr>
          <p:nvPr>
            <p:custDataLst>
              <p:tags r:id="rId3"/>
            </p:custDataLst>
            <p:extLst>
              <p:ext uri="{D42A27DB-BD31-4B8C-83A1-F6EECF244321}">
                <p14:modId xmlns:p14="http://schemas.microsoft.com/office/powerpoint/2010/main" val="2363801229"/>
              </p:ext>
            </p:extLst>
          </p:nvPr>
        </p:nvGraphicFramePr>
        <p:xfrm>
          <a:off x="7677151" y="2836977"/>
          <a:ext cx="1238249" cy="2423018"/>
        </p:xfrm>
        <a:graphic>
          <a:graphicData uri="http://schemas.openxmlformats.org/presentationml/2006/ole">
            <mc:AlternateContent xmlns:mc="http://schemas.openxmlformats.org/markup-compatibility/2006">
              <mc:Choice xmlns:v="urn:schemas-microsoft-com:vml" Requires="v">
                <p:oleObj name="Equation" r:id="rId11" imgW="825480" imgH="1612800" progId="Equation.DSMT4">
                  <p:embed/>
                </p:oleObj>
              </mc:Choice>
              <mc:Fallback>
                <p:oleObj name="Equation" r:id="rId11" imgW="825480" imgH="1612800" progId="Equation.DSMT4">
                  <p:embed/>
                  <p:pic>
                    <p:nvPicPr>
                      <p:cNvPr id="0" name=""/>
                      <p:cNvPicPr>
                        <a:picLocks noChangeAspect="1" noChangeArrowheads="1"/>
                      </p:cNvPicPr>
                      <p:nvPr/>
                    </p:nvPicPr>
                    <p:blipFill>
                      <a:blip r:embed="rId12">
                        <a:lum bright="-40000" contrast="-40000"/>
                      </a:blip>
                      <a:srcRect/>
                      <a:stretch>
                        <a:fillRect/>
                      </a:stretch>
                    </p:blipFill>
                    <p:spPr bwMode="auto">
                      <a:xfrm>
                        <a:off x="7677151" y="2836977"/>
                        <a:ext cx="1238249" cy="2423018"/>
                      </a:xfrm>
                      <a:prstGeom prst="rect">
                        <a:avLst/>
                      </a:prstGeom>
                      <a:solidFill>
                        <a:schemeClr val="bg1">
                          <a:lumMod val="85000"/>
                        </a:schemeClr>
                      </a:solidFill>
                      <a:ln>
                        <a:noFill/>
                      </a:ln>
                    </p:spPr>
                  </p:pic>
                </p:oleObj>
              </mc:Fallback>
            </mc:AlternateContent>
          </a:graphicData>
        </a:graphic>
      </p:graphicFrame>
    </p:spTree>
    <p:extLst>
      <p:ext uri="{BB962C8B-B14F-4D97-AF65-F5344CB8AC3E}">
        <p14:creationId xmlns:p14="http://schemas.microsoft.com/office/powerpoint/2010/main" val="17827906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9"/>
          <p:cNvSpPr>
            <a:spLocks noChangeArrowheads="1"/>
          </p:cNvSpPr>
          <p:nvPr/>
        </p:nvSpPr>
        <p:spPr bwMode="auto">
          <a:xfrm>
            <a:off x="890904" y="2919254"/>
            <a:ext cx="4735830"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l">
              <a:lnSpc>
                <a:spcPct val="120000"/>
              </a:lnSpc>
            </a:pPr>
            <a:r>
              <a:rPr lang="zh-CN" altLang="en-US" sz="2200" b="1" dirty="0">
                <a:latin typeface="Times New Roman" panose="02020603050405020304" pitchFamily="18" charset="0"/>
                <a:cs typeface="Times New Roman" panose="02020603050405020304" pitchFamily="18" charset="0"/>
              </a:rPr>
              <a:t>其中 </a:t>
            </a:r>
            <a:r>
              <a:rPr lang="en-US" altLang="zh-CN" sz="2200" b="1" dirty="0">
                <a:latin typeface="Times New Roman" panose="02020603050405020304" pitchFamily="18" charset="0"/>
                <a:cs typeface="Times New Roman" panose="02020603050405020304" pitchFamily="18" charset="0"/>
              </a:rPr>
              <a:t>       </a:t>
            </a:r>
            <a:r>
              <a:rPr lang="zh-CN" altLang="en-US" sz="2200" b="1" dirty="0">
                <a:latin typeface="Times New Roman" panose="02020603050405020304" pitchFamily="18" charset="0"/>
                <a:cs typeface="Times New Roman" panose="02020603050405020304" pitchFamily="18" charset="0"/>
              </a:rPr>
              <a:t>                          。对</a:t>
            </a:r>
            <a:r>
              <a:rPr lang="en-US" altLang="zh-CN" sz="2200" b="1" i="1" dirty="0">
                <a:latin typeface="Times New Roman" panose="02020603050405020304" pitchFamily="18" charset="0"/>
                <a:cs typeface="Times New Roman" panose="02020603050405020304" pitchFamily="18" charset="0"/>
              </a:rPr>
              <a:t>v</a:t>
            </a:r>
            <a:r>
              <a:rPr lang="en-US" altLang="zh-CN" sz="2200" b="1" baseline="-25000" dirty="0">
                <a:latin typeface="Times New Roman" panose="02020603050405020304" pitchFamily="18" charset="0"/>
                <a:cs typeface="Times New Roman" panose="02020603050405020304" pitchFamily="18" charset="0"/>
              </a:rPr>
              <a:t>3</a:t>
            </a:r>
            <a:r>
              <a:rPr lang="zh-CN" altLang="en-US" sz="2200" b="1" dirty="0">
                <a:latin typeface="Times New Roman" panose="02020603050405020304" pitchFamily="18" charset="0"/>
                <a:cs typeface="Times New Roman" panose="02020603050405020304" pitchFamily="18" charset="0"/>
              </a:rPr>
              <a:t>在</a:t>
            </a:r>
            <a:r>
              <a:rPr lang="en-US" altLang="zh-CN" sz="2200" b="1" dirty="0">
                <a:latin typeface="Times New Roman" panose="02020603050405020304" pitchFamily="18" charset="0"/>
                <a:cs typeface="Times New Roman" panose="02020603050405020304" pitchFamily="18" charset="0"/>
              </a:rPr>
              <a:t> 0 </a:t>
            </a:r>
            <a:r>
              <a:rPr lang="zh-CN" altLang="en-US" sz="2200" b="1" dirty="0">
                <a:latin typeface="Times New Roman" panose="02020603050405020304" pitchFamily="18" charset="0"/>
                <a:cs typeface="Times New Roman" panose="02020603050405020304" pitchFamily="18" charset="0"/>
              </a:rPr>
              <a:t>至</a:t>
            </a:r>
          </a:p>
        </p:txBody>
      </p:sp>
      <p:graphicFrame>
        <p:nvGraphicFramePr>
          <p:cNvPr id="99331" name="Object 3"/>
          <p:cNvGraphicFramePr>
            <a:graphicFrameLocks noChangeAspect="1"/>
          </p:cNvGraphicFramePr>
          <p:nvPr/>
        </p:nvGraphicFramePr>
        <p:xfrm>
          <a:off x="1341755" y="2139950"/>
          <a:ext cx="6299835" cy="680085"/>
        </p:xfrm>
        <a:graphic>
          <a:graphicData uri="http://schemas.openxmlformats.org/presentationml/2006/ole">
            <mc:AlternateContent xmlns:mc="http://schemas.openxmlformats.org/markup-compatibility/2006">
              <mc:Choice xmlns:v="urn:schemas-microsoft-com:vml" Requires="v">
                <p:oleObj r:id="rId4" imgW="2832100" imgH="304800" progId="">
                  <p:embed/>
                </p:oleObj>
              </mc:Choice>
              <mc:Fallback>
                <p:oleObj r:id="rId4" imgW="2832100" imgH="304800" progId="">
                  <p:embed/>
                  <p:pic>
                    <p:nvPicPr>
                      <p:cNvPr id="0" name=""/>
                      <p:cNvPicPr>
                        <a:picLocks noChangeAspect="1" noChangeArrowheads="1"/>
                      </p:cNvPicPr>
                      <p:nvPr/>
                    </p:nvPicPr>
                    <p:blipFill>
                      <a:blip r:embed="rId5">
                        <a:lum bright="-40000" contrast="-40000"/>
                        <a:extLst>
                          <a:ext uri="{28A0092B-C50C-407E-A947-70E740481C1C}">
                            <a14:useLocalDpi xmlns:a14="http://schemas.microsoft.com/office/drawing/2010/main" val="0"/>
                          </a:ext>
                        </a:extLst>
                      </a:blip>
                      <a:srcRect/>
                      <a:stretch>
                        <a:fillRect/>
                      </a:stretch>
                    </p:blipFill>
                    <p:spPr bwMode="auto">
                      <a:xfrm>
                        <a:off x="1341755" y="2139950"/>
                        <a:ext cx="6299835" cy="680085"/>
                      </a:xfrm>
                      <a:prstGeom prst="rect">
                        <a:avLst/>
                      </a:prstGeom>
                      <a:solidFill>
                        <a:schemeClr val="bg1">
                          <a:lumMod val="85000"/>
                        </a:schemeClr>
                      </a:solidFill>
                      <a:ln>
                        <a:noFill/>
                      </a:ln>
                    </p:spPr>
                  </p:pic>
                </p:oleObj>
              </mc:Fallback>
            </mc:AlternateContent>
          </a:graphicData>
        </a:graphic>
      </p:graphicFrame>
      <p:graphicFrame>
        <p:nvGraphicFramePr>
          <p:cNvPr id="99332" name="Object 4"/>
          <p:cNvGraphicFramePr>
            <a:graphicFrameLocks noChangeAspect="1"/>
          </p:cNvGraphicFramePr>
          <p:nvPr/>
        </p:nvGraphicFramePr>
        <p:xfrm>
          <a:off x="1546225" y="2933700"/>
          <a:ext cx="2257425" cy="444500"/>
        </p:xfrm>
        <a:graphic>
          <a:graphicData uri="http://schemas.openxmlformats.org/presentationml/2006/ole">
            <mc:AlternateContent xmlns:mc="http://schemas.openxmlformats.org/markup-compatibility/2006">
              <mc:Choice xmlns:v="urn:schemas-microsoft-com:vml" Requires="v">
                <p:oleObj name="Equation" r:id="rId6" imgW="1206500" imgH="228600" progId="Equation.DSMT4">
                  <p:embed/>
                </p:oleObj>
              </mc:Choice>
              <mc:Fallback>
                <p:oleObj name="Equation" r:id="rId6" imgW="1206500" imgH="228600" progId="Equation.DSMT4">
                  <p:embed/>
                  <p:pic>
                    <p:nvPicPr>
                      <p:cNvPr id="0" name=""/>
                      <p:cNvPicPr>
                        <a:picLocks noChangeAspect="1" noChangeArrowheads="1"/>
                      </p:cNvPicPr>
                      <p:nvPr/>
                    </p:nvPicPr>
                    <p:blipFill>
                      <a:blip r:embed="rId7">
                        <a:lum bright="-40000" contrast="-40000"/>
                      </a:blip>
                      <a:srcRect/>
                      <a:stretch>
                        <a:fillRect/>
                      </a:stretch>
                    </p:blipFill>
                    <p:spPr bwMode="auto">
                      <a:xfrm>
                        <a:off x="1546225" y="2933700"/>
                        <a:ext cx="2257425"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9333" name="Object 5"/>
          <p:cNvGraphicFramePr>
            <a:graphicFrameLocks noChangeAspect="1"/>
          </p:cNvGraphicFramePr>
          <p:nvPr/>
        </p:nvGraphicFramePr>
        <p:xfrm>
          <a:off x="5626735" y="2919095"/>
          <a:ext cx="1962150" cy="450215"/>
        </p:xfrm>
        <a:graphic>
          <a:graphicData uri="http://schemas.openxmlformats.org/presentationml/2006/ole">
            <mc:AlternateContent xmlns:mc="http://schemas.openxmlformats.org/markup-compatibility/2006">
              <mc:Choice xmlns:v="urn:schemas-microsoft-com:vml" Requires="v">
                <p:oleObj r:id="rId8" imgW="2371090" imgH="535305" progId="Equation.DSMT4">
                  <p:embed/>
                </p:oleObj>
              </mc:Choice>
              <mc:Fallback>
                <p:oleObj r:id="rId8" imgW="2371090" imgH="535305" progId="Equation.DSMT4">
                  <p:embed/>
                  <p:pic>
                    <p:nvPicPr>
                      <p:cNvPr id="0" name=""/>
                      <p:cNvPicPr>
                        <a:picLocks noChangeAspect="1" noChangeArrowheads="1"/>
                      </p:cNvPicPr>
                      <p:nvPr/>
                    </p:nvPicPr>
                    <p:blipFill>
                      <a:blip r:embed="rId9">
                        <a:lum bright="-40000" contrast="-40000"/>
                      </a:blip>
                      <a:srcRect/>
                      <a:stretch>
                        <a:fillRect/>
                      </a:stretch>
                    </p:blipFill>
                    <p:spPr bwMode="auto">
                      <a:xfrm>
                        <a:off x="5626735" y="2919095"/>
                        <a:ext cx="1962150" cy="450215"/>
                      </a:xfrm>
                      <a:prstGeom prst="rect">
                        <a:avLst/>
                      </a:prstGeom>
                      <a:solidFill>
                        <a:srgbClr val="FFFF00"/>
                      </a:solidFill>
                      <a:ln>
                        <a:noFill/>
                      </a:ln>
                    </p:spPr>
                  </p:pic>
                </p:oleObj>
              </mc:Fallback>
            </mc:AlternateContent>
          </a:graphicData>
        </a:graphic>
      </p:graphicFrame>
      <p:sp>
        <p:nvSpPr>
          <p:cNvPr id="99334" name="Rectangle 8"/>
          <p:cNvSpPr>
            <a:spLocks noChangeArrowheads="1"/>
          </p:cNvSpPr>
          <p:nvPr/>
        </p:nvSpPr>
        <p:spPr bwMode="auto">
          <a:xfrm>
            <a:off x="1182688" y="1604963"/>
            <a:ext cx="1905000" cy="5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dirty="0">
                <a:solidFill>
                  <a:srgbClr val="FF0000"/>
                </a:solidFill>
                <a:cs typeface="Times New Roman" panose="02020603050405020304" pitchFamily="18" charset="0"/>
              </a:rPr>
              <a:t>当</a:t>
            </a:r>
            <a:r>
              <a:rPr lang="en-US" altLang="zh-CN" sz="2400" b="1" i="1" dirty="0">
                <a:solidFill>
                  <a:srgbClr val="FF0000"/>
                </a:solidFill>
                <a:cs typeface="Times New Roman" panose="02020603050405020304" pitchFamily="18" charset="0"/>
              </a:rPr>
              <a:t>k</a:t>
            </a:r>
            <a:r>
              <a:rPr lang="en-US" altLang="zh-CN" sz="2400" b="1" dirty="0">
                <a:solidFill>
                  <a:srgbClr val="FF0000"/>
                </a:solidFill>
                <a:cs typeface="Times New Roman" panose="02020603050405020304" pitchFamily="18" charset="0"/>
              </a:rPr>
              <a:t>=3</a:t>
            </a:r>
            <a:r>
              <a:rPr lang="zh-CN" altLang="en-US" sz="2400" b="1" dirty="0">
                <a:solidFill>
                  <a:srgbClr val="FF0000"/>
                </a:solidFill>
              </a:rPr>
              <a:t>时，</a:t>
            </a:r>
            <a:r>
              <a:rPr lang="zh-CN" altLang="en-US" sz="2400" b="1" dirty="0"/>
              <a:t>由</a:t>
            </a:r>
          </a:p>
        </p:txBody>
      </p:sp>
      <p:sp>
        <p:nvSpPr>
          <p:cNvPr id="99335" name="Rectangle 11"/>
          <p:cNvSpPr>
            <a:spLocks noChangeArrowheads="1"/>
          </p:cNvSpPr>
          <p:nvPr/>
        </p:nvSpPr>
        <p:spPr bwMode="auto">
          <a:xfrm>
            <a:off x="887413" y="3287554"/>
            <a:ext cx="3270250"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200" b="1">
                <a:cs typeface="Times New Roman" panose="02020603050405020304" pitchFamily="18" charset="0"/>
              </a:rPr>
              <a:t>之间的值分别进行计算。</a:t>
            </a:r>
          </a:p>
        </p:txBody>
      </p:sp>
      <p:graphicFrame>
        <p:nvGraphicFramePr>
          <p:cNvPr id="99336" name="Object 8"/>
          <p:cNvGraphicFramePr>
            <a:graphicFrameLocks noChangeAspect="1"/>
          </p:cNvGraphicFramePr>
          <p:nvPr>
            <p:extLst>
              <p:ext uri="{D42A27DB-BD31-4B8C-83A1-F6EECF244321}">
                <p14:modId xmlns:p14="http://schemas.microsoft.com/office/powerpoint/2010/main" val="1334571749"/>
              </p:ext>
            </p:extLst>
          </p:nvPr>
        </p:nvGraphicFramePr>
        <p:xfrm>
          <a:off x="2492954" y="3885565"/>
          <a:ext cx="3822065" cy="2227580"/>
        </p:xfrm>
        <a:graphic>
          <a:graphicData uri="http://schemas.openxmlformats.org/presentationml/2006/ole">
            <mc:AlternateContent xmlns:mc="http://schemas.openxmlformats.org/markup-compatibility/2006">
              <mc:Choice xmlns:v="urn:schemas-microsoft-com:vml" Requires="v">
                <p:oleObj r:id="rId10" imgW="2044700" imgH="1193800" progId="Equation.DSMT4">
                  <p:embed/>
                </p:oleObj>
              </mc:Choice>
              <mc:Fallback>
                <p:oleObj r:id="rId10" imgW="2044700" imgH="1193800" progId="Equation.DSMT4">
                  <p:embed/>
                  <p:pic>
                    <p:nvPicPr>
                      <p:cNvPr id="0" name=""/>
                      <p:cNvPicPr>
                        <a:picLocks noChangeAspect="1" noChangeArrowheads="1"/>
                      </p:cNvPicPr>
                      <p:nvPr/>
                    </p:nvPicPr>
                    <p:blipFill>
                      <a:blip r:embed="rId11">
                        <a:lum bright="-40000" contrast="-40000"/>
                      </a:blip>
                      <a:srcRect/>
                      <a:stretch>
                        <a:fillRect/>
                      </a:stretch>
                    </p:blipFill>
                    <p:spPr bwMode="auto">
                      <a:xfrm>
                        <a:off x="2492954" y="3885565"/>
                        <a:ext cx="3822065" cy="2227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9338" name="灯片编号占位符 3"/>
          <p:cNvSpPr txBox="1">
            <a:spLocks noGrp="1" noChangeArrowheads="1"/>
          </p:cNvSpPr>
          <p:nvPr/>
        </p:nvSpPr>
        <p:spPr bwMode="auto">
          <a:xfrm>
            <a:off x="7010400" y="6629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DAD9B57A-6CED-4685-954D-B95051C11D22}" type="slidenum">
              <a:rPr lang="en-US" altLang="zh-CN" sz="1400">
                <a:latin typeface="Times New Roman" panose="02020603050405020304" pitchFamily="18" charset="0"/>
              </a:rPr>
              <a:t>27</a:t>
            </a:fld>
            <a:endParaRPr lang="en-US" altLang="zh-CN" sz="1400">
              <a:latin typeface="Times New Roman" panose="02020603050405020304" pitchFamily="18" charset="0"/>
            </a:endParaRPr>
          </a:p>
        </p:txBody>
      </p:sp>
      <p:graphicFrame>
        <p:nvGraphicFramePr>
          <p:cNvPr id="14" name="Group 4"/>
          <p:cNvGraphicFramePr>
            <a:graphicFrameLocks noGrp="1"/>
          </p:cNvGraphicFramePr>
          <p:nvPr>
            <p:custDataLst>
              <p:tags r:id="rId1"/>
            </p:custDataLst>
          </p:nvPr>
        </p:nvGraphicFramePr>
        <p:xfrm>
          <a:off x="5717540" y="347832"/>
          <a:ext cx="2931160" cy="1184466"/>
        </p:xfrm>
        <a:graphic>
          <a:graphicData uri="http://schemas.openxmlformats.org/drawingml/2006/table">
            <a:tbl>
              <a:tblPr/>
              <a:tblGrid>
                <a:gridCol w="751840">
                  <a:extLst>
                    <a:ext uri="{9D8B030D-6E8A-4147-A177-3AD203B41FA5}">
                      <a16:colId xmlns:a16="http://schemas.microsoft.com/office/drawing/2014/main" val="20000"/>
                    </a:ext>
                  </a:extLst>
                </a:gridCol>
                <a:gridCol w="502285">
                  <a:extLst>
                    <a:ext uri="{9D8B030D-6E8A-4147-A177-3AD203B41FA5}">
                      <a16:colId xmlns:a16="http://schemas.microsoft.com/office/drawing/2014/main" val="20001"/>
                    </a:ext>
                  </a:extLst>
                </a:gridCol>
                <a:gridCol w="563245">
                  <a:extLst>
                    <a:ext uri="{9D8B030D-6E8A-4147-A177-3AD203B41FA5}">
                      <a16:colId xmlns:a16="http://schemas.microsoft.com/office/drawing/2014/main" val="20002"/>
                    </a:ext>
                  </a:extLst>
                </a:gridCol>
                <a:gridCol w="564515">
                  <a:extLst>
                    <a:ext uri="{9D8B030D-6E8A-4147-A177-3AD203B41FA5}">
                      <a16:colId xmlns:a16="http://schemas.microsoft.com/office/drawing/2014/main" val="20003"/>
                    </a:ext>
                  </a:extLst>
                </a:gridCol>
                <a:gridCol w="549275">
                  <a:extLst>
                    <a:ext uri="{9D8B030D-6E8A-4147-A177-3AD203B41FA5}">
                      <a16:colId xmlns:a16="http://schemas.microsoft.com/office/drawing/2014/main" val="20004"/>
                    </a:ext>
                  </a:extLst>
                </a:gridCol>
              </a:tblGrid>
              <a:tr h="357505">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时期</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0"/>
                  </a:ext>
                </a:extLst>
              </a:tr>
              <a:tr h="603250">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需求量</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en-US" sz="1400" b="1"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en-US" sz="1400" b="1" i="0" u="none" strike="noStrike" cap="none" normalizeH="0" baseline="-2500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1"/>
                  </a:ext>
                </a:extLst>
              </a:tr>
            </a:tbl>
          </a:graphicData>
        </a:graphic>
      </p:graphicFrame>
      <p:sp>
        <p:nvSpPr>
          <p:cNvPr id="12" name="标题 1"/>
          <p:cNvSpPr txBox="1"/>
          <p:nvPr>
            <p:custDataLst>
              <p:tags r:id="rId2"/>
            </p:custDataLst>
          </p:nvPr>
        </p:nvSpPr>
        <p:spPr>
          <a:xfrm>
            <a:off x="533400" y="712470"/>
            <a:ext cx="3661410" cy="758825"/>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en-US" sz="3600" b="1" kern="0" dirty="0">
                <a:sym typeface="+mn-ea"/>
              </a:rPr>
              <a:t>例</a:t>
            </a:r>
            <a:r>
              <a:rPr lang="en-US" altLang="zh-CN" sz="3600" b="1" kern="0" dirty="0">
                <a:sym typeface="+mn-ea"/>
              </a:rPr>
              <a:t>3</a:t>
            </a:r>
            <a:r>
              <a:rPr lang="zh-CN" altLang="en-US" sz="3600" b="1" kern="0" dirty="0">
                <a:sym typeface="+mn-ea"/>
              </a:rPr>
              <a:t> </a:t>
            </a:r>
            <a:r>
              <a:rPr lang="en-US" altLang="zh-CN" sz="3600" b="1" kern="0" dirty="0">
                <a:sym typeface="+mn-ea"/>
              </a:rPr>
              <a:t>– </a:t>
            </a:r>
            <a:r>
              <a:rPr lang="zh-CN" altLang="en-US" sz="2800" b="1" kern="0" dirty="0">
                <a:solidFill>
                  <a:srgbClr val="0070C0"/>
                </a:solidFill>
                <a:sym typeface="+mn-ea"/>
              </a:rPr>
              <a:t>顺推法</a:t>
            </a:r>
            <a:endParaRPr lang="zh-CN" altLang="en-US" sz="2800" b="1" kern="0" dirty="0"/>
          </a:p>
        </p:txBody>
      </p:sp>
    </p:spTree>
    <p:extLst>
      <p:ext uri="{BB962C8B-B14F-4D97-AF65-F5344CB8AC3E}">
        <p14:creationId xmlns:p14="http://schemas.microsoft.com/office/powerpoint/2010/main" val="416948142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a:spLocks noChangeArrowheads="1"/>
          </p:cNvSpPr>
          <p:nvPr/>
        </p:nvSpPr>
        <p:spPr bwMode="auto">
          <a:xfrm>
            <a:off x="4664650" y="3657600"/>
            <a:ext cx="1355150" cy="452147"/>
          </a:xfrm>
          <a:prstGeom prst="roundRect">
            <a:avLst>
              <a:gd name="adj" fmla="val 16667"/>
            </a:avLst>
          </a:prstGeom>
          <a:noFill/>
          <a:ln w="9525" algn="ctr">
            <a:solidFill>
              <a:srgbClr val="FF0000"/>
            </a:solidFill>
            <a:round/>
          </a:ln>
          <a:effec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p>
        </p:txBody>
      </p:sp>
      <p:graphicFrame>
        <p:nvGraphicFramePr>
          <p:cNvPr id="100355" name="Object 2"/>
          <p:cNvGraphicFramePr>
            <a:graphicFrameLocks noChangeAspect="1"/>
          </p:cNvGraphicFramePr>
          <p:nvPr/>
        </p:nvGraphicFramePr>
        <p:xfrm>
          <a:off x="914400" y="3048000"/>
          <a:ext cx="7421563" cy="2935288"/>
        </p:xfrm>
        <a:graphic>
          <a:graphicData uri="http://schemas.openxmlformats.org/presentationml/2006/ole">
            <mc:AlternateContent xmlns:mc="http://schemas.openxmlformats.org/markup-compatibility/2006">
              <mc:Choice xmlns:v="urn:schemas-microsoft-com:vml" Requires="v">
                <p:oleObj name="Equation" r:id="rId4" imgW="3975100" imgH="1498600" progId="Equation.DSMT4">
                  <p:embed/>
                </p:oleObj>
              </mc:Choice>
              <mc:Fallback>
                <p:oleObj name="Equation" r:id="rId4" imgW="3975100" imgH="1498600" progId="Equation.DSMT4">
                  <p:embed/>
                  <p:pic>
                    <p:nvPicPr>
                      <p:cNvPr id="0" name=""/>
                      <p:cNvPicPr>
                        <a:picLocks noChangeAspect="1" noChangeArrowheads="1"/>
                      </p:cNvPicPr>
                      <p:nvPr/>
                    </p:nvPicPr>
                    <p:blipFill>
                      <a:blip r:embed="rId5">
                        <a:lum bright="-40000" contrast="-40000"/>
                        <a:extLst>
                          <a:ext uri="{28A0092B-C50C-407E-A947-70E740481C1C}">
                            <a14:useLocalDpi xmlns:a14="http://schemas.microsoft.com/office/drawing/2010/main" val="0"/>
                          </a:ext>
                        </a:extLst>
                      </a:blip>
                      <a:srcRect/>
                      <a:stretch>
                        <a:fillRect/>
                      </a:stretch>
                    </p:blipFill>
                    <p:spPr bwMode="auto">
                      <a:xfrm>
                        <a:off x="914400" y="3048000"/>
                        <a:ext cx="7421563" cy="2935288"/>
                      </a:xfrm>
                      <a:prstGeom prst="rect">
                        <a:avLst/>
                      </a:prstGeom>
                      <a:noFill/>
                      <a:ln>
                        <a:noFill/>
                      </a:ln>
                    </p:spPr>
                  </p:pic>
                </p:oleObj>
              </mc:Fallback>
            </mc:AlternateContent>
          </a:graphicData>
        </a:graphic>
      </p:graphicFrame>
      <p:sp>
        <p:nvSpPr>
          <p:cNvPr id="100356" name="Rectangle 5"/>
          <p:cNvSpPr>
            <a:spLocks noChangeArrowheads="1"/>
          </p:cNvSpPr>
          <p:nvPr/>
        </p:nvSpPr>
        <p:spPr bwMode="auto">
          <a:xfrm>
            <a:off x="685800" y="1752918"/>
            <a:ext cx="6629400" cy="977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dirty="0">
                <a:solidFill>
                  <a:srgbClr val="FF0000"/>
                </a:solidFill>
                <a:latin typeface="Times New Roman" panose="02020603050405020304" pitchFamily="18" charset="0"/>
                <a:cs typeface="Times New Roman" panose="02020603050405020304" pitchFamily="18" charset="0"/>
              </a:rPr>
              <a:t>当</a:t>
            </a:r>
            <a:r>
              <a:rPr lang="en-US" altLang="zh-CN" sz="2400" b="1" i="1" dirty="0">
                <a:solidFill>
                  <a:srgbClr val="FF0000"/>
                </a:solidFill>
                <a:latin typeface="Times New Roman" panose="02020603050405020304" pitchFamily="18" charset="0"/>
                <a:cs typeface="Times New Roman" panose="02020603050405020304" pitchFamily="18" charset="0"/>
              </a:rPr>
              <a:t>k</a:t>
            </a:r>
            <a:r>
              <a:rPr lang="en-US" altLang="zh-CN" sz="2400" b="1" dirty="0">
                <a:solidFill>
                  <a:srgbClr val="FF0000"/>
                </a:solidFill>
                <a:latin typeface="Times New Roman" panose="02020603050405020304" pitchFamily="18" charset="0"/>
                <a:cs typeface="Times New Roman" panose="02020603050405020304" pitchFamily="18" charset="0"/>
              </a:rPr>
              <a:t>=4</a:t>
            </a:r>
            <a:r>
              <a:rPr lang="zh-CN" altLang="en-US" sz="2400" b="1" dirty="0">
                <a:solidFill>
                  <a:srgbClr val="FF0000"/>
                </a:solidFill>
                <a:latin typeface="Times New Roman" panose="02020603050405020304" pitchFamily="18" charset="0"/>
                <a:cs typeface="Times New Roman" panose="02020603050405020304" pitchFamily="18" charset="0"/>
              </a:rPr>
              <a:t>时</a:t>
            </a:r>
            <a:r>
              <a:rPr lang="zh-CN" altLang="en-US" sz="2400" b="1" dirty="0">
                <a:latin typeface="Times New Roman" panose="02020603050405020304" pitchFamily="18" charset="0"/>
                <a:cs typeface="Times New Roman" panose="02020603050405020304" pitchFamily="18" charset="0"/>
              </a:rPr>
              <a:t>，因要求第</a:t>
            </a:r>
            <a:r>
              <a:rPr lang="en-US" altLang="zh-CN" sz="2400" b="1" dirty="0">
                <a:latin typeface="Times New Roman" panose="02020603050405020304" pitchFamily="18" charset="0"/>
                <a:cs typeface="Times New Roman" panose="02020603050405020304" pitchFamily="18" charset="0"/>
              </a:rPr>
              <a:t>4</a:t>
            </a:r>
            <a:r>
              <a:rPr lang="zh-CN" altLang="en-US" sz="2400" b="1" dirty="0">
                <a:latin typeface="Times New Roman" panose="02020603050405020304" pitchFamily="18" charset="0"/>
                <a:cs typeface="Times New Roman" panose="02020603050405020304" pitchFamily="18" charset="0"/>
              </a:rPr>
              <a:t>时期之末的库存量为</a:t>
            </a:r>
            <a:r>
              <a:rPr lang="en-US" altLang="zh-CN" sz="2400" b="1"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，即</a:t>
            </a:r>
            <a:r>
              <a:rPr lang="en-US" altLang="zh-CN" sz="2400" b="1" i="1" dirty="0">
                <a:latin typeface="Times New Roman" panose="02020603050405020304" pitchFamily="18" charset="0"/>
                <a:cs typeface="Times New Roman" panose="02020603050405020304" pitchFamily="18" charset="0"/>
              </a:rPr>
              <a:t>v</a:t>
            </a:r>
            <a:r>
              <a:rPr lang="en-US" altLang="zh-CN" sz="2400" b="1" baseline="-25000" dirty="0">
                <a:latin typeface="Times New Roman" panose="02020603050405020304" pitchFamily="18" charset="0"/>
                <a:cs typeface="Times New Roman" panose="02020603050405020304" pitchFamily="18" charset="0"/>
              </a:rPr>
              <a:t>4</a:t>
            </a:r>
            <a:r>
              <a:rPr lang="en-US" altLang="zh-CN" sz="2400" b="1"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，故有</a:t>
            </a:r>
          </a:p>
        </p:txBody>
      </p:sp>
      <p:sp>
        <p:nvSpPr>
          <p:cNvPr id="100358"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51B1D7F5-79DE-4B98-8D80-D5F1201F281D}" type="slidenum">
              <a:rPr lang="en-US" altLang="zh-CN" sz="1400">
                <a:latin typeface="Times New Roman" panose="02020603050405020304" pitchFamily="18" charset="0"/>
              </a:rPr>
              <a:t>28</a:t>
            </a:fld>
            <a:endParaRPr lang="en-US" altLang="zh-CN" sz="1400">
              <a:latin typeface="Times New Roman" panose="02020603050405020304" pitchFamily="18" charset="0"/>
            </a:endParaRPr>
          </a:p>
        </p:txBody>
      </p:sp>
      <p:graphicFrame>
        <p:nvGraphicFramePr>
          <p:cNvPr id="100361" name="对象 1"/>
          <p:cNvGraphicFramePr>
            <a:graphicFrameLocks noChangeAspect="1"/>
          </p:cNvGraphicFramePr>
          <p:nvPr/>
        </p:nvGraphicFramePr>
        <p:xfrm>
          <a:off x="2911157" y="2309623"/>
          <a:ext cx="2178685" cy="440690"/>
        </p:xfrm>
        <a:graphic>
          <a:graphicData uri="http://schemas.openxmlformats.org/presentationml/2006/ole">
            <mc:AlternateContent xmlns:mc="http://schemas.openxmlformats.org/markup-compatibility/2006">
              <mc:Choice xmlns:v="urn:schemas-microsoft-com:vml" Requires="v">
                <p:oleObj name="Equation" r:id="rId6" imgW="1168400" imgH="228600" progId="Equation.DSMT4">
                  <p:embed/>
                </p:oleObj>
              </mc:Choice>
              <mc:Fallback>
                <p:oleObj name="Equation" r:id="rId6" imgW="1168400" imgH="228600" progId="Equation.DSMT4">
                  <p:embed/>
                  <p:pic>
                    <p:nvPicPr>
                      <p:cNvPr id="0" name=""/>
                      <p:cNvPicPr>
                        <a:picLocks noChangeAspect="1" noChangeArrowheads="1"/>
                      </p:cNvPicPr>
                      <p:nvPr/>
                    </p:nvPicPr>
                    <p:blipFill>
                      <a:blip r:embed="rId7">
                        <a:lum bright="-40000" contrast="-40000"/>
                        <a:extLst>
                          <a:ext uri="{28A0092B-C50C-407E-A947-70E740481C1C}">
                            <a14:useLocalDpi xmlns:a14="http://schemas.microsoft.com/office/drawing/2010/main" val="0"/>
                          </a:ext>
                        </a:extLst>
                      </a:blip>
                      <a:srcRect/>
                      <a:stretch>
                        <a:fillRect/>
                      </a:stretch>
                    </p:blipFill>
                    <p:spPr bwMode="auto">
                      <a:xfrm>
                        <a:off x="2911157" y="2309623"/>
                        <a:ext cx="2178685" cy="440690"/>
                      </a:xfrm>
                      <a:prstGeom prst="rect">
                        <a:avLst/>
                      </a:prstGeom>
                      <a:solidFill>
                        <a:srgbClr val="FFFF00"/>
                      </a:solidFill>
                      <a:ln>
                        <a:noFill/>
                      </a:ln>
                    </p:spPr>
                  </p:pic>
                </p:oleObj>
              </mc:Fallback>
            </mc:AlternateContent>
          </a:graphicData>
        </a:graphic>
      </p:graphicFrame>
      <p:graphicFrame>
        <p:nvGraphicFramePr>
          <p:cNvPr id="14" name="Group 4"/>
          <p:cNvGraphicFramePr>
            <a:graphicFrameLocks noGrp="1"/>
          </p:cNvGraphicFramePr>
          <p:nvPr>
            <p:custDataLst>
              <p:tags r:id="rId1"/>
            </p:custDataLst>
          </p:nvPr>
        </p:nvGraphicFramePr>
        <p:xfrm>
          <a:off x="5717540" y="525780"/>
          <a:ext cx="2931160" cy="1184466"/>
        </p:xfrm>
        <a:graphic>
          <a:graphicData uri="http://schemas.openxmlformats.org/drawingml/2006/table">
            <a:tbl>
              <a:tblPr/>
              <a:tblGrid>
                <a:gridCol w="751840">
                  <a:extLst>
                    <a:ext uri="{9D8B030D-6E8A-4147-A177-3AD203B41FA5}">
                      <a16:colId xmlns:a16="http://schemas.microsoft.com/office/drawing/2014/main" val="20000"/>
                    </a:ext>
                  </a:extLst>
                </a:gridCol>
                <a:gridCol w="502285">
                  <a:extLst>
                    <a:ext uri="{9D8B030D-6E8A-4147-A177-3AD203B41FA5}">
                      <a16:colId xmlns:a16="http://schemas.microsoft.com/office/drawing/2014/main" val="20001"/>
                    </a:ext>
                  </a:extLst>
                </a:gridCol>
                <a:gridCol w="563245">
                  <a:extLst>
                    <a:ext uri="{9D8B030D-6E8A-4147-A177-3AD203B41FA5}">
                      <a16:colId xmlns:a16="http://schemas.microsoft.com/office/drawing/2014/main" val="20002"/>
                    </a:ext>
                  </a:extLst>
                </a:gridCol>
                <a:gridCol w="564515">
                  <a:extLst>
                    <a:ext uri="{9D8B030D-6E8A-4147-A177-3AD203B41FA5}">
                      <a16:colId xmlns:a16="http://schemas.microsoft.com/office/drawing/2014/main" val="20003"/>
                    </a:ext>
                  </a:extLst>
                </a:gridCol>
                <a:gridCol w="549275">
                  <a:extLst>
                    <a:ext uri="{9D8B030D-6E8A-4147-A177-3AD203B41FA5}">
                      <a16:colId xmlns:a16="http://schemas.microsoft.com/office/drawing/2014/main" val="20004"/>
                    </a:ext>
                  </a:extLst>
                </a:gridCol>
              </a:tblGrid>
              <a:tr h="357505">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时期</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0"/>
                  </a:ext>
                </a:extLst>
              </a:tr>
              <a:tr h="603250">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需求量</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en-US" sz="1400" b="1"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en-US" sz="1400" b="1" i="0" u="none" strike="noStrike" cap="none" normalizeH="0" baseline="-2500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1"/>
                  </a:ext>
                </a:extLst>
              </a:tr>
            </a:tbl>
          </a:graphicData>
        </a:graphic>
      </p:graphicFrame>
      <p:sp>
        <p:nvSpPr>
          <p:cNvPr id="12" name="标题 1"/>
          <p:cNvSpPr txBox="1"/>
          <p:nvPr>
            <p:custDataLst>
              <p:tags r:id="rId2"/>
            </p:custDataLst>
          </p:nvPr>
        </p:nvSpPr>
        <p:spPr>
          <a:xfrm>
            <a:off x="533400" y="712470"/>
            <a:ext cx="3661410" cy="758825"/>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en-US" sz="3600" b="1" kern="0" dirty="0">
                <a:sym typeface="+mn-ea"/>
              </a:rPr>
              <a:t>例</a:t>
            </a:r>
            <a:r>
              <a:rPr lang="en-US" altLang="zh-CN" sz="3600" b="1" kern="0" dirty="0">
                <a:sym typeface="+mn-ea"/>
              </a:rPr>
              <a:t>3</a:t>
            </a:r>
            <a:r>
              <a:rPr lang="zh-CN" altLang="en-US" sz="3600" b="1" kern="0" dirty="0">
                <a:sym typeface="+mn-ea"/>
              </a:rPr>
              <a:t> </a:t>
            </a:r>
            <a:r>
              <a:rPr lang="en-US" altLang="zh-CN" sz="3600" b="1" kern="0" dirty="0">
                <a:sym typeface="+mn-ea"/>
              </a:rPr>
              <a:t>– </a:t>
            </a:r>
            <a:r>
              <a:rPr lang="zh-CN" altLang="en-US" sz="2800" b="1" kern="0" dirty="0">
                <a:solidFill>
                  <a:srgbClr val="0070C0"/>
                </a:solidFill>
                <a:sym typeface="+mn-ea"/>
              </a:rPr>
              <a:t>顺推法</a:t>
            </a:r>
            <a:endParaRPr lang="zh-CN" altLang="en-US" sz="2800" b="1" kern="0" dirty="0"/>
          </a:p>
        </p:txBody>
      </p:sp>
      <p:pic>
        <p:nvPicPr>
          <p:cNvPr id="3" name="图片 2"/>
          <p:cNvPicPr>
            <a:picLocks noChangeAspect="1"/>
          </p:cNvPicPr>
          <p:nvPr/>
        </p:nvPicPr>
        <p:blipFill>
          <a:blip r:embed="rId8"/>
          <a:stretch>
            <a:fillRect/>
          </a:stretch>
        </p:blipFill>
        <p:spPr>
          <a:xfrm>
            <a:off x="7543800" y="2262695"/>
            <a:ext cx="1123950" cy="1547305"/>
          </a:xfrm>
          <a:prstGeom prst="rect">
            <a:avLst/>
          </a:prstGeom>
          <a:solidFill>
            <a:schemeClr val="bg1">
              <a:lumMod val="75000"/>
            </a:schemeClr>
          </a:solidFill>
        </p:spPr>
      </p:pic>
    </p:spTree>
    <p:extLst>
      <p:ext uri="{BB962C8B-B14F-4D97-AF65-F5344CB8AC3E}">
        <p14:creationId xmlns:p14="http://schemas.microsoft.com/office/powerpoint/2010/main" val="4207275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1378" name="Object 2"/>
          <p:cNvGraphicFramePr>
            <a:graphicFrameLocks noChangeAspect="1"/>
          </p:cNvGraphicFramePr>
          <p:nvPr/>
        </p:nvGraphicFramePr>
        <p:xfrm>
          <a:off x="981364" y="2914738"/>
          <a:ext cx="4603750" cy="533400"/>
        </p:xfrm>
        <a:graphic>
          <a:graphicData uri="http://schemas.openxmlformats.org/presentationml/2006/ole">
            <mc:AlternateContent xmlns:mc="http://schemas.openxmlformats.org/markup-compatibility/2006">
              <mc:Choice xmlns:v="urn:schemas-microsoft-com:vml" Requires="v">
                <p:oleObj name="Equation" r:id="rId4" imgW="47548800" imgH="5486400" progId="Equation.DSMT4">
                  <p:embed/>
                </p:oleObj>
              </mc:Choice>
              <mc:Fallback>
                <p:oleObj name="Equation" r:id="rId4" imgW="47548800" imgH="5486400" progId="Equation.DSMT4">
                  <p:embed/>
                  <p:pic>
                    <p:nvPicPr>
                      <p:cNvPr id="0" name="Object 2"/>
                      <p:cNvPicPr>
                        <a:picLocks noChangeAspect="1" noChangeArrowheads="1"/>
                      </p:cNvPicPr>
                      <p:nvPr/>
                    </p:nvPicPr>
                    <p:blipFill>
                      <a:blip r:embed="rId5">
                        <a:lum bright="-40000" contrast="-40000"/>
                      </a:blip>
                      <a:srcRect/>
                      <a:stretch>
                        <a:fillRect/>
                      </a:stretch>
                    </p:blipFill>
                    <p:spPr bwMode="auto">
                      <a:xfrm>
                        <a:off x="981364" y="2914738"/>
                        <a:ext cx="4603750" cy="533400"/>
                      </a:xfrm>
                      <a:prstGeom prst="rect">
                        <a:avLst/>
                      </a:prstGeom>
                      <a:solidFill>
                        <a:srgbClr val="FFFF00"/>
                      </a:solidFill>
                      <a:ln>
                        <a:noFill/>
                      </a:ln>
                    </p:spPr>
                  </p:pic>
                </p:oleObj>
              </mc:Fallback>
            </mc:AlternateContent>
          </a:graphicData>
        </a:graphic>
      </p:graphicFrame>
      <p:sp>
        <p:nvSpPr>
          <p:cNvPr id="101379" name="Rectangle 6"/>
          <p:cNvSpPr>
            <a:spLocks noChangeArrowheads="1"/>
          </p:cNvSpPr>
          <p:nvPr/>
        </p:nvSpPr>
        <p:spPr bwMode="auto">
          <a:xfrm>
            <a:off x="684213" y="1752600"/>
            <a:ext cx="4954587"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342900" indent="-342900">
              <a:lnSpc>
                <a:spcPct val="120000"/>
              </a:lnSpc>
              <a:buClr>
                <a:srgbClr val="C00000"/>
              </a:buClr>
              <a:buFont typeface="Wingdings" panose="05000000000000000000" pitchFamily="2" charset="2"/>
              <a:buChar char="p"/>
            </a:pPr>
            <a:r>
              <a:rPr lang="zh-CN" altLang="en-US" sz="2400" b="1" dirty="0">
                <a:cs typeface="Times New Roman" panose="02020603050405020304" pitchFamily="18" charset="0"/>
              </a:rPr>
              <a:t>再按计算的顺序反推算，可找出每个时期的最优生产决策为：	</a:t>
            </a:r>
            <a:endParaRPr lang="zh-CN" altLang="en-US" sz="2400" b="1" dirty="0"/>
          </a:p>
        </p:txBody>
      </p:sp>
      <p:sp>
        <p:nvSpPr>
          <p:cNvPr id="101380" name="Rectangle 7"/>
          <p:cNvSpPr>
            <a:spLocks noChangeArrowheads="1"/>
          </p:cNvSpPr>
          <p:nvPr/>
        </p:nvSpPr>
        <p:spPr bwMode="auto">
          <a:xfrm>
            <a:off x="603567" y="3784926"/>
            <a:ext cx="5038090" cy="53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342900" indent="-342900" algn="just">
              <a:lnSpc>
                <a:spcPct val="120000"/>
              </a:lnSpc>
              <a:buClr>
                <a:srgbClr val="C00000"/>
              </a:buClr>
              <a:buFont typeface="Wingdings" panose="05000000000000000000" pitchFamily="2" charset="2"/>
              <a:buChar char="p"/>
            </a:pPr>
            <a:r>
              <a:rPr lang="zh-CN" altLang="en-US" sz="2400" b="1" dirty="0">
                <a:latin typeface="Times New Roman" panose="02020603050405020304" pitchFamily="18" charset="0"/>
                <a:cs typeface="Times New Roman" panose="02020603050405020304" pitchFamily="18" charset="0"/>
              </a:rPr>
              <a:t>其相应的最小总成本为</a:t>
            </a:r>
            <a:r>
              <a:rPr lang="en-US" altLang="zh-CN" sz="2400" b="1" dirty="0">
                <a:latin typeface="Times New Roman" panose="02020603050405020304" pitchFamily="18" charset="0"/>
                <a:cs typeface="Times New Roman" panose="02020603050405020304" pitchFamily="18" charset="0"/>
              </a:rPr>
              <a:t>20.5</a:t>
            </a:r>
            <a:r>
              <a:rPr lang="zh-CN" altLang="en-US" sz="2400" b="1" dirty="0">
                <a:latin typeface="Times New Roman" panose="02020603050405020304" pitchFamily="18" charset="0"/>
                <a:cs typeface="Times New Roman" panose="02020603050405020304" pitchFamily="18" charset="0"/>
              </a:rPr>
              <a:t>千元。</a:t>
            </a:r>
          </a:p>
        </p:txBody>
      </p:sp>
      <p:sp>
        <p:nvSpPr>
          <p:cNvPr id="101383"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F1153B86-31DB-4189-97ED-549C19FE0D23}" type="slidenum">
              <a:rPr lang="en-US" altLang="zh-CN" sz="1400">
                <a:latin typeface="Times New Roman" panose="02020603050405020304" pitchFamily="18" charset="0"/>
              </a:rPr>
              <a:t>29</a:t>
            </a:fld>
            <a:endParaRPr lang="en-US" altLang="zh-CN" sz="1400">
              <a:latin typeface="Times New Roman" panose="02020603050405020304" pitchFamily="18" charset="0"/>
            </a:endParaRPr>
          </a:p>
        </p:txBody>
      </p:sp>
      <p:graphicFrame>
        <p:nvGraphicFramePr>
          <p:cNvPr id="14" name="Object 2"/>
          <p:cNvGraphicFramePr>
            <a:graphicFrameLocks noChangeAspect="1"/>
          </p:cNvGraphicFramePr>
          <p:nvPr>
            <p:extLst>
              <p:ext uri="{D42A27DB-BD31-4B8C-83A1-F6EECF244321}">
                <p14:modId xmlns:p14="http://schemas.microsoft.com/office/powerpoint/2010/main" val="1220885354"/>
              </p:ext>
            </p:extLst>
          </p:nvPr>
        </p:nvGraphicFramePr>
        <p:xfrm>
          <a:off x="7100888" y="2008188"/>
          <a:ext cx="1547812" cy="1962150"/>
        </p:xfrm>
        <a:graphic>
          <a:graphicData uri="http://schemas.openxmlformats.org/presentationml/2006/ole">
            <mc:AlternateContent xmlns:mc="http://schemas.openxmlformats.org/markup-compatibility/2006">
              <mc:Choice xmlns:v="urn:schemas-microsoft-com:vml" Requires="v">
                <p:oleObj name="Equation" r:id="rId6" imgW="863280" imgH="1143000" progId="Equation.DSMT4">
                  <p:embed/>
                </p:oleObj>
              </mc:Choice>
              <mc:Fallback>
                <p:oleObj name="Equation" r:id="rId6" imgW="863280" imgH="1143000" progId="Equation.DSMT4">
                  <p:embed/>
                  <p:pic>
                    <p:nvPicPr>
                      <p:cNvPr id="0" name="图片 3"/>
                      <p:cNvPicPr>
                        <a:picLocks noChangeAspect="1" noChangeArrowheads="1"/>
                      </p:cNvPicPr>
                      <p:nvPr/>
                    </p:nvPicPr>
                    <p:blipFill>
                      <a:blip r:embed="rId7">
                        <a:lum bright="-40000" contrast="-40000"/>
                      </a:blip>
                      <a:srcRect/>
                      <a:stretch>
                        <a:fillRect/>
                      </a:stretch>
                    </p:blipFill>
                    <p:spPr bwMode="auto">
                      <a:xfrm>
                        <a:off x="7100888" y="2008188"/>
                        <a:ext cx="1547812" cy="1962150"/>
                      </a:xfrm>
                      <a:prstGeom prst="rect">
                        <a:avLst/>
                      </a:prstGeom>
                      <a:solidFill>
                        <a:schemeClr val="accent1">
                          <a:lumMod val="60000"/>
                          <a:lumOff val="40000"/>
                        </a:schemeClr>
                      </a:solidFill>
                      <a:ln>
                        <a:noFill/>
                      </a:ln>
                    </p:spPr>
                  </p:pic>
                </p:oleObj>
              </mc:Fallback>
            </mc:AlternateContent>
          </a:graphicData>
        </a:graphic>
      </p:graphicFrame>
      <p:graphicFrame>
        <p:nvGraphicFramePr>
          <p:cNvPr id="5" name="Group 4"/>
          <p:cNvGraphicFramePr>
            <a:graphicFrameLocks noGrp="1"/>
          </p:cNvGraphicFramePr>
          <p:nvPr>
            <p:custDataLst>
              <p:tags r:id="rId1"/>
            </p:custDataLst>
            <p:extLst>
              <p:ext uri="{D42A27DB-BD31-4B8C-83A1-F6EECF244321}">
                <p14:modId xmlns:p14="http://schemas.microsoft.com/office/powerpoint/2010/main" val="3458199805"/>
              </p:ext>
            </p:extLst>
          </p:nvPr>
        </p:nvGraphicFramePr>
        <p:xfrm>
          <a:off x="5717540" y="347832"/>
          <a:ext cx="2931160" cy="1184466"/>
        </p:xfrm>
        <a:graphic>
          <a:graphicData uri="http://schemas.openxmlformats.org/drawingml/2006/table">
            <a:tbl>
              <a:tblPr/>
              <a:tblGrid>
                <a:gridCol w="751840">
                  <a:extLst>
                    <a:ext uri="{9D8B030D-6E8A-4147-A177-3AD203B41FA5}">
                      <a16:colId xmlns:a16="http://schemas.microsoft.com/office/drawing/2014/main" val="20000"/>
                    </a:ext>
                  </a:extLst>
                </a:gridCol>
                <a:gridCol w="502285">
                  <a:extLst>
                    <a:ext uri="{9D8B030D-6E8A-4147-A177-3AD203B41FA5}">
                      <a16:colId xmlns:a16="http://schemas.microsoft.com/office/drawing/2014/main" val="20001"/>
                    </a:ext>
                  </a:extLst>
                </a:gridCol>
                <a:gridCol w="563245">
                  <a:extLst>
                    <a:ext uri="{9D8B030D-6E8A-4147-A177-3AD203B41FA5}">
                      <a16:colId xmlns:a16="http://schemas.microsoft.com/office/drawing/2014/main" val="20002"/>
                    </a:ext>
                  </a:extLst>
                </a:gridCol>
                <a:gridCol w="564515">
                  <a:extLst>
                    <a:ext uri="{9D8B030D-6E8A-4147-A177-3AD203B41FA5}">
                      <a16:colId xmlns:a16="http://schemas.microsoft.com/office/drawing/2014/main" val="20003"/>
                    </a:ext>
                  </a:extLst>
                </a:gridCol>
                <a:gridCol w="549275">
                  <a:extLst>
                    <a:ext uri="{9D8B030D-6E8A-4147-A177-3AD203B41FA5}">
                      <a16:colId xmlns:a16="http://schemas.microsoft.com/office/drawing/2014/main" val="20004"/>
                    </a:ext>
                  </a:extLst>
                </a:gridCol>
              </a:tblGrid>
              <a:tr h="357505">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时期</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0"/>
                  </a:ext>
                </a:extLst>
              </a:tr>
              <a:tr h="603250">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需求量</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en-US" sz="1400" b="1"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en-US" sz="1400" b="1" i="0" u="none" strike="noStrike" cap="none" normalizeH="0" baseline="-2500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tc>
                  <a:txBody>
                    <a:bodyPr/>
                    <a:lstStyle/>
                    <a:p>
                      <a:pPr marL="0" marR="0" lvl="0" indent="0" algn="ctr" defTabSz="914400" rtl="0" eaLnBrk="1" fontAlgn="base" latinLnBrk="0" hangingPunct="1">
                        <a:lnSpc>
                          <a:spcPct val="120000"/>
                        </a:lnSpc>
                        <a:spcBef>
                          <a:spcPct val="0"/>
                        </a:spcBef>
                        <a:spcAft>
                          <a:spcPct val="0"/>
                        </a:spcAft>
                        <a:buClrTx/>
                        <a:buSzPct val="100000"/>
                        <a:buFontTx/>
                        <a:buNone/>
                      </a:pPr>
                      <a:r>
                        <a:rPr kumimoji="0" lang="en-US" sz="1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1"/>
                  </a:ext>
                </a:extLst>
              </a:tr>
            </a:tbl>
          </a:graphicData>
        </a:graphic>
      </p:graphicFrame>
      <p:sp>
        <p:nvSpPr>
          <p:cNvPr id="7" name="标题 1"/>
          <p:cNvSpPr txBox="1"/>
          <p:nvPr>
            <p:custDataLst>
              <p:tags r:id="rId2"/>
            </p:custDataLst>
          </p:nvPr>
        </p:nvSpPr>
        <p:spPr>
          <a:xfrm>
            <a:off x="530225" y="818515"/>
            <a:ext cx="5184775" cy="576580"/>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en-US" sz="3600" b="1" kern="0" dirty="0"/>
              <a:t>生产计划问题 </a:t>
            </a:r>
            <a:r>
              <a:rPr lang="en-US" altLang="zh-CN" sz="3600" b="1" kern="0" dirty="0"/>
              <a:t>– </a:t>
            </a:r>
            <a:r>
              <a:rPr lang="zh-CN" altLang="en-US" sz="3600" b="1" kern="0" dirty="0"/>
              <a:t>例</a:t>
            </a:r>
            <a:r>
              <a:rPr lang="en-US" altLang="zh-CN" sz="3600" b="1" kern="0" dirty="0"/>
              <a:t>3</a:t>
            </a:r>
          </a:p>
        </p:txBody>
      </p:sp>
      <p:graphicFrame>
        <p:nvGraphicFramePr>
          <p:cNvPr id="10" name="Object 3"/>
          <p:cNvGraphicFramePr>
            <a:graphicFrameLocks noChangeAspect="1"/>
          </p:cNvGraphicFramePr>
          <p:nvPr>
            <p:extLst>
              <p:ext uri="{D42A27DB-BD31-4B8C-83A1-F6EECF244321}">
                <p14:modId xmlns:p14="http://schemas.microsoft.com/office/powerpoint/2010/main" val="4212434695"/>
              </p:ext>
            </p:extLst>
          </p:nvPr>
        </p:nvGraphicFramePr>
        <p:xfrm>
          <a:off x="7105949" y="4343400"/>
          <a:ext cx="1524000" cy="772438"/>
        </p:xfrm>
        <a:graphic>
          <a:graphicData uri="http://schemas.openxmlformats.org/presentationml/2006/ole">
            <mc:AlternateContent xmlns:mc="http://schemas.openxmlformats.org/markup-compatibility/2006">
              <mc:Choice xmlns:v="urn:schemas-microsoft-com:vml" Requires="v">
                <p:oleObj name="Equation" r:id="rId8" imgW="1079280" imgH="457200" progId="Equation.DSMT4">
                  <p:embed/>
                </p:oleObj>
              </mc:Choice>
              <mc:Fallback>
                <p:oleObj name="Equation" r:id="rId8" imgW="1079280" imgH="457200" progId="Equation.DSMT4">
                  <p:embed/>
                  <p:pic>
                    <p:nvPicPr>
                      <p:cNvPr id="0" name=""/>
                      <p:cNvPicPr>
                        <a:picLocks noChangeAspect="1" noChangeArrowheads="1"/>
                      </p:cNvPicPr>
                      <p:nvPr/>
                    </p:nvPicPr>
                    <p:blipFill>
                      <a:blip r:embed="rId9">
                        <a:lum bright="-40000" contrast="-40000"/>
                      </a:blip>
                      <a:srcRect/>
                      <a:stretch>
                        <a:fillRect/>
                      </a:stretch>
                    </p:blipFill>
                    <p:spPr bwMode="auto">
                      <a:xfrm>
                        <a:off x="7105949" y="4343400"/>
                        <a:ext cx="1524000" cy="772438"/>
                      </a:xfrm>
                      <a:prstGeom prst="rect">
                        <a:avLst/>
                      </a:prstGeom>
                      <a:solidFill>
                        <a:schemeClr val="bg1">
                          <a:lumMod val="85000"/>
                        </a:schemeClr>
                      </a:solidFill>
                      <a:ln>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1+#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3"/>
          <p:cNvSpPr>
            <a:spLocks noChangeArrowheads="1"/>
          </p:cNvSpPr>
          <p:nvPr/>
        </p:nvSpPr>
        <p:spPr bwMode="auto">
          <a:xfrm>
            <a:off x="577850" y="1650104"/>
            <a:ext cx="7956550" cy="2861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5000"/>
              </a:lnSpc>
            </a:pPr>
            <a:r>
              <a:rPr lang="zh-CN" altLang="en-US" sz="2400" b="1" u="sng" dirty="0">
                <a:latin typeface="Times New Roman" panose="02020603050405020304" pitchFamily="18" charset="0"/>
                <a:cs typeface="Times New Roman" panose="02020603050405020304" pitchFamily="18" charset="0"/>
              </a:rPr>
              <a:t>例</a:t>
            </a:r>
            <a:r>
              <a:rPr lang="en-US" altLang="zh-CN" sz="2400" b="1" u="sng" dirty="0">
                <a:latin typeface="Times New Roman" panose="02020603050405020304" pitchFamily="18" charset="0"/>
                <a:cs typeface="Times New Roman" panose="02020603050405020304" pitchFamily="18" charset="0"/>
              </a:rPr>
              <a:t>5</a:t>
            </a:r>
            <a:r>
              <a:rPr lang="en-US" altLang="zh-CN" sz="2400" b="1"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某车间需要按月在月底供应一定数量的某种部件给总装车间，由于生产条件的变化，该车间在各月份中生产每单位这种部件所需耗费的工时不同，</a:t>
            </a:r>
            <a:r>
              <a:rPr lang="zh-CN" altLang="en-US" sz="2400" b="1" dirty="0">
                <a:solidFill>
                  <a:srgbClr val="FF0000"/>
                </a:solidFill>
                <a:latin typeface="Times New Roman" panose="02020603050405020304" pitchFamily="18" charset="0"/>
                <a:cs typeface="Times New Roman" panose="02020603050405020304" pitchFamily="18" charset="0"/>
              </a:rPr>
              <a:t>各月份的生产量于当月的月底前，全部要存入仓库以备后用</a:t>
            </a:r>
            <a:r>
              <a:rPr lang="zh-CN" altLang="en-US" sz="2400" b="1" dirty="0">
                <a:latin typeface="Times New Roman" panose="02020603050405020304" pitchFamily="18" charset="0"/>
                <a:cs typeface="Times New Roman" panose="02020603050405020304" pitchFamily="18" charset="0"/>
              </a:rPr>
              <a:t>。已知总装车间的各个月份的需求量以及在加工车间生产该部件每单位数量所需工时数如</a:t>
            </a:r>
            <a:r>
              <a:rPr lang="zh-CN" altLang="en-US" sz="2400" b="1" dirty="0">
                <a:solidFill>
                  <a:srgbClr val="C00000"/>
                </a:solidFill>
                <a:latin typeface="Times New Roman" panose="02020603050405020304" pitchFamily="18" charset="0"/>
                <a:cs typeface="Times New Roman" panose="02020603050405020304" pitchFamily="18" charset="0"/>
              </a:rPr>
              <a:t>表</a:t>
            </a:r>
            <a:r>
              <a:rPr lang="en-US" altLang="zh-CN" sz="2400" b="1" dirty="0">
                <a:solidFill>
                  <a:srgbClr val="C00000"/>
                </a:solidFill>
                <a:latin typeface="Times New Roman" panose="02020603050405020304" pitchFamily="18" charset="0"/>
                <a:cs typeface="Times New Roman" panose="02020603050405020304" pitchFamily="18" charset="0"/>
              </a:rPr>
              <a:t>7</a:t>
            </a:r>
            <a:r>
              <a:rPr lang="zh-CN" altLang="en-US" sz="2400" b="1" dirty="0">
                <a:latin typeface="Times New Roman" panose="02020603050405020304" pitchFamily="18" charset="0"/>
                <a:cs typeface="Times New Roman" panose="02020603050405020304" pitchFamily="18" charset="0"/>
              </a:rPr>
              <a:t>所示。</a:t>
            </a:r>
          </a:p>
        </p:txBody>
      </p:sp>
      <p:graphicFrame>
        <p:nvGraphicFramePr>
          <p:cNvPr id="116740" name="Group 4"/>
          <p:cNvGraphicFramePr>
            <a:graphicFrameLocks noGrp="1"/>
          </p:cNvGraphicFramePr>
          <p:nvPr/>
        </p:nvGraphicFramePr>
        <p:xfrm>
          <a:off x="1025525" y="4648200"/>
          <a:ext cx="7127875" cy="1473200"/>
        </p:xfrm>
        <a:graphic>
          <a:graphicData uri="http://schemas.openxmlformats.org/drawingml/2006/table">
            <a:tbl>
              <a:tblPr/>
              <a:tblGrid>
                <a:gridCol w="1439863">
                  <a:extLst>
                    <a:ext uri="{9D8B030D-6E8A-4147-A177-3AD203B41FA5}">
                      <a16:colId xmlns:a16="http://schemas.microsoft.com/office/drawing/2014/main" val="20000"/>
                    </a:ext>
                  </a:extLst>
                </a:gridCol>
                <a:gridCol w="687387">
                  <a:extLst>
                    <a:ext uri="{9D8B030D-6E8A-4147-A177-3AD203B41FA5}">
                      <a16:colId xmlns:a16="http://schemas.microsoft.com/office/drawing/2014/main" val="20001"/>
                    </a:ext>
                  </a:extLst>
                </a:gridCol>
                <a:gridCol w="833438">
                  <a:extLst>
                    <a:ext uri="{9D8B030D-6E8A-4147-A177-3AD203B41FA5}">
                      <a16:colId xmlns:a16="http://schemas.microsoft.com/office/drawing/2014/main" val="20002"/>
                    </a:ext>
                  </a:extLst>
                </a:gridCol>
                <a:gridCol w="833437">
                  <a:extLst>
                    <a:ext uri="{9D8B030D-6E8A-4147-A177-3AD203B41FA5}">
                      <a16:colId xmlns:a16="http://schemas.microsoft.com/office/drawing/2014/main" val="20003"/>
                    </a:ext>
                  </a:extLst>
                </a:gridCol>
                <a:gridCol w="835025">
                  <a:extLst>
                    <a:ext uri="{9D8B030D-6E8A-4147-A177-3AD203B41FA5}">
                      <a16:colId xmlns:a16="http://schemas.microsoft.com/office/drawing/2014/main" val="20004"/>
                    </a:ext>
                  </a:extLst>
                </a:gridCol>
                <a:gridCol w="830263">
                  <a:extLst>
                    <a:ext uri="{9D8B030D-6E8A-4147-A177-3AD203B41FA5}">
                      <a16:colId xmlns:a16="http://schemas.microsoft.com/office/drawing/2014/main" val="20005"/>
                    </a:ext>
                  </a:extLst>
                </a:gridCol>
                <a:gridCol w="833437">
                  <a:extLst>
                    <a:ext uri="{9D8B030D-6E8A-4147-A177-3AD203B41FA5}">
                      <a16:colId xmlns:a16="http://schemas.microsoft.com/office/drawing/2014/main" val="20006"/>
                    </a:ext>
                  </a:extLst>
                </a:gridCol>
                <a:gridCol w="835025">
                  <a:extLst>
                    <a:ext uri="{9D8B030D-6E8A-4147-A177-3AD203B41FA5}">
                      <a16:colId xmlns:a16="http://schemas.microsoft.com/office/drawing/2014/main" val="20007"/>
                    </a:ext>
                  </a:extLst>
                </a:gridCol>
              </a:tblGrid>
              <a:tr h="457200">
                <a:tc>
                  <a:txBody>
                    <a:bodyPr/>
                    <a:lstStyle/>
                    <a:p>
                      <a:pPr marL="0" marR="0" lvl="0" indent="0" algn="just"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月份</a:t>
                      </a:r>
                      <a:r>
                        <a:rPr kumimoji="0" lang="en-US" sz="2000" b="1"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6</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0"/>
                  </a:ext>
                </a:extLst>
              </a:tr>
              <a:tr h="508000">
                <a:tc>
                  <a:txBody>
                    <a:bodyPr/>
                    <a:lstStyle/>
                    <a:p>
                      <a:pPr marL="0" marR="0" lvl="0" indent="0" algn="just"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需求量</a:t>
                      </a:r>
                      <a:r>
                        <a:rPr kumimoji="0" lang="en-US" sz="20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en-US" sz="2000" b="1" i="1" u="none" strike="noStrike" cap="none" normalizeH="0" baseline="-25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endParaRPr kumimoji="0" lang="en-US" sz="2000" b="1" i="1" u="none" strike="noStrike" cap="none" normalizeH="0" baseline="-2500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8</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7</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1"/>
                  </a:ext>
                </a:extLst>
              </a:tr>
              <a:tr h="508000">
                <a:tc>
                  <a:txBody>
                    <a:bodyPr/>
                    <a:lstStyle/>
                    <a:p>
                      <a:pPr marL="0" marR="0" lvl="0" indent="0" algn="just"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单位工时</a:t>
                      </a:r>
                      <a:r>
                        <a:rPr kumimoji="0" lang="en-US" sz="20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a:t>
                      </a:r>
                      <a:r>
                        <a:rPr kumimoji="0" lang="en-US" sz="2000" b="1" i="1" u="none" strike="noStrike" cap="none" normalizeH="0" baseline="-25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endParaRPr kumimoji="0" lang="en-US" sz="2000" b="1" i="1" u="none" strike="noStrike" cap="none" normalizeH="0" baseline="-2500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11</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18</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13</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17</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10</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zh-CN"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2"/>
                  </a:ext>
                </a:extLst>
              </a:tr>
            </a:tbl>
          </a:graphicData>
        </a:graphic>
      </p:graphicFrame>
      <p:sp>
        <p:nvSpPr>
          <p:cNvPr id="115755" name="Rectangle 44"/>
          <p:cNvSpPr>
            <a:spLocks noChangeArrowheads="1"/>
          </p:cNvSpPr>
          <p:nvPr/>
        </p:nvSpPr>
        <p:spPr bwMode="auto">
          <a:xfrm>
            <a:off x="7387422" y="4221163"/>
            <a:ext cx="625492" cy="42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47675" indent="-4476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000" b="1" dirty="0"/>
              <a:t>表</a:t>
            </a:r>
            <a:r>
              <a:rPr lang="en-US" altLang="zh-CN" sz="2000" b="1" dirty="0"/>
              <a:t>7</a:t>
            </a:r>
          </a:p>
        </p:txBody>
      </p:sp>
      <p:sp>
        <p:nvSpPr>
          <p:cNvPr id="115756" name="日期占位符 1"/>
          <p:cNvSpPr txBox="1">
            <a:spLocks noGrp="1" noChangeArrowheads="1"/>
          </p:cNvSpPr>
          <p:nvPr/>
        </p:nvSpPr>
        <p:spPr bwMode="auto">
          <a:xfrm>
            <a:off x="11620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fld id="{8808EE3B-5B67-41A2-9FA1-E4C38E312CBD}" type="datetime1">
              <a:rPr lang="zh-CN" altLang="en-US" sz="1400">
                <a:latin typeface="Times New Roman" panose="02020603050405020304" pitchFamily="18" charset="0"/>
              </a:rPr>
              <a:t>2024/12/15</a:t>
            </a:fld>
            <a:endParaRPr lang="en-US" altLang="zh-CN" sz="1400">
              <a:latin typeface="Times New Roman" panose="02020603050405020304" pitchFamily="18" charset="0"/>
            </a:endParaRPr>
          </a:p>
        </p:txBody>
      </p:sp>
      <p:sp>
        <p:nvSpPr>
          <p:cNvPr id="115757" name="灯片编号占位符 4"/>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F0B55BFB-5B0D-4E1F-904C-84AE54BCE6D8}" type="slidenum">
              <a:rPr lang="en-US" altLang="zh-CN" sz="1400">
                <a:latin typeface="Times New Roman" panose="02020603050405020304" pitchFamily="18" charset="0"/>
              </a:rPr>
              <a:t>30</a:t>
            </a:fld>
            <a:endParaRPr lang="en-US" altLang="zh-CN" sz="1400">
              <a:latin typeface="Times New Roman" panose="02020603050405020304" pitchFamily="18" charset="0"/>
            </a:endParaRPr>
          </a:p>
        </p:txBody>
      </p:sp>
      <p:sp>
        <p:nvSpPr>
          <p:cNvPr id="2" name="Rectangle 2"/>
          <p:cNvSpPr txBox="1">
            <a:spLocks noChangeArrowheads="1"/>
          </p:cNvSpPr>
          <p:nvPr>
            <p:custDataLst>
              <p:tags r:id="rId1"/>
            </p:custDataLst>
          </p:nvPr>
        </p:nvSpPr>
        <p:spPr bwMode="auto">
          <a:xfrm>
            <a:off x="685800" y="836930"/>
            <a:ext cx="4362450" cy="610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3600" u="sng" dirty="0">
                <a:solidFill>
                  <a:schemeClr val="hlink"/>
                </a:solidFill>
                <a:latin typeface="Tahoma" panose="020B0604030504040204" pitchFamily="34" charset="0"/>
                <a:ea typeface="黑体" panose="02010609060101010101" pitchFamily="49" charset="-122"/>
              </a:rPr>
              <a:t>生产计划问题</a:t>
            </a:r>
            <a:r>
              <a:rPr lang="en-US" altLang="zh-CN" sz="3600" u="sng" dirty="0">
                <a:solidFill>
                  <a:schemeClr val="hlink"/>
                </a:solidFill>
                <a:latin typeface="Tahoma" panose="020B0604030504040204" pitchFamily="34" charset="0"/>
                <a:ea typeface="黑体" panose="02010609060101010101" pitchFamily="49" charset="-122"/>
              </a:rPr>
              <a:t>--</a:t>
            </a:r>
            <a:r>
              <a:rPr lang="zh-CN" altLang="en-US" sz="2800" b="1" dirty="0">
                <a:solidFill>
                  <a:srgbClr val="FF0000"/>
                </a:solidFill>
                <a:cs typeface="Times New Roman" panose="02020603050405020304" pitchFamily="18" charset="0"/>
              </a:rPr>
              <a:t>逆推法</a:t>
            </a:r>
            <a:endParaRPr lang="en-US" altLang="zh-CN" sz="2800" u="sng" dirty="0">
              <a:solidFill>
                <a:schemeClr val="hlink"/>
              </a:solidFill>
              <a:latin typeface="Tahoma" panose="020B0604030504040204" pitchFamily="34" charset="0"/>
              <a:ea typeface="黑体" panose="02010609060101010101" pitchFamily="49"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42"/>
          <p:cNvSpPr>
            <a:spLocks noChangeArrowheads="1"/>
          </p:cNvSpPr>
          <p:nvPr/>
        </p:nvSpPr>
        <p:spPr bwMode="auto">
          <a:xfrm>
            <a:off x="762000" y="1728069"/>
            <a:ext cx="7705725" cy="3415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en-US" altLang="zh-CN" sz="2400" b="1" dirty="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设仓库容量限制为</a:t>
            </a:r>
            <a:r>
              <a:rPr lang="en-US" altLang="zh-CN" sz="2400" b="1" dirty="0">
                <a:latin typeface="Times New Roman" panose="02020603050405020304" pitchFamily="18" charset="0"/>
                <a:cs typeface="Times New Roman" panose="02020603050405020304" pitchFamily="18" charset="0"/>
              </a:rPr>
              <a:t>H=9</a:t>
            </a:r>
            <a:r>
              <a:rPr lang="zh-CN" altLang="en-US" sz="2400" b="1" dirty="0">
                <a:latin typeface="Times New Roman" panose="02020603050405020304" pitchFamily="18" charset="0"/>
                <a:cs typeface="Times New Roman" panose="02020603050405020304" pitchFamily="18" charset="0"/>
              </a:rPr>
              <a:t>，</a:t>
            </a:r>
            <a:r>
              <a:rPr lang="zh-CN" altLang="en-US" sz="2400" b="1" dirty="0">
                <a:solidFill>
                  <a:srgbClr val="0070C0"/>
                </a:solidFill>
                <a:latin typeface="Times New Roman" panose="02020603050405020304" pitchFamily="18" charset="0"/>
                <a:cs typeface="Times New Roman" panose="02020603050405020304" pitchFamily="18" charset="0"/>
              </a:rPr>
              <a:t>开始库存量为</a:t>
            </a:r>
            <a:r>
              <a:rPr lang="en-US" altLang="zh-CN" sz="2400" b="1" dirty="0">
                <a:solidFill>
                  <a:srgbClr val="0070C0"/>
                </a:solidFill>
                <a:latin typeface="Times New Roman" panose="02020603050405020304" pitchFamily="18" charset="0"/>
                <a:cs typeface="Times New Roman" panose="02020603050405020304" pitchFamily="18" charset="0"/>
              </a:rPr>
              <a:t>2</a:t>
            </a:r>
            <a:r>
              <a:rPr lang="zh-CN" altLang="en-US" sz="2400" b="1" dirty="0">
                <a:solidFill>
                  <a:srgbClr val="0070C0"/>
                </a:solidFill>
                <a:latin typeface="Times New Roman" panose="02020603050405020304" pitchFamily="18" charset="0"/>
                <a:cs typeface="Times New Roman" panose="02020603050405020304" pitchFamily="18" charset="0"/>
              </a:rPr>
              <a:t>，期终库存量为</a:t>
            </a:r>
            <a:r>
              <a:rPr lang="en-US" altLang="zh-CN" sz="2400" b="1" dirty="0">
                <a:solidFill>
                  <a:srgbClr val="0070C0"/>
                </a:solidFill>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，需要制定一个</a:t>
            </a:r>
            <a:r>
              <a:rPr lang="zh-CN" altLang="en-US" sz="2400" b="1" dirty="0">
                <a:solidFill>
                  <a:srgbClr val="C00000"/>
                </a:solidFill>
                <a:latin typeface="Times New Roman" panose="02020603050405020304" pitchFamily="18" charset="0"/>
                <a:cs typeface="Times New Roman" panose="02020603050405020304" pitchFamily="18" charset="0"/>
              </a:rPr>
              <a:t>半年</a:t>
            </a:r>
            <a:r>
              <a:rPr lang="zh-CN" altLang="en-US" sz="2400" b="1" dirty="0">
                <a:latin typeface="Times New Roman" panose="02020603050405020304" pitchFamily="18" charset="0"/>
                <a:cs typeface="Times New Roman" panose="02020603050405020304" pitchFamily="18" charset="0"/>
              </a:rPr>
              <a:t>的</a:t>
            </a:r>
            <a:r>
              <a:rPr lang="zh-CN" altLang="en-US" sz="2400" b="1" dirty="0">
                <a:solidFill>
                  <a:srgbClr val="C00000"/>
                </a:solidFill>
                <a:latin typeface="Times New Roman" panose="02020603050405020304" pitchFamily="18" charset="0"/>
                <a:cs typeface="Times New Roman" panose="02020603050405020304" pitchFamily="18" charset="0"/>
              </a:rPr>
              <a:t>逐月生产计划</a:t>
            </a:r>
            <a:r>
              <a:rPr lang="zh-CN" altLang="en-US" sz="2400" b="1" dirty="0">
                <a:latin typeface="Times New Roman" panose="02020603050405020304" pitchFamily="18" charset="0"/>
                <a:cs typeface="Times New Roman" panose="02020603050405020304" pitchFamily="18" charset="0"/>
              </a:rPr>
              <a:t>，既使得满足需要和库容量的限制，又使得生产这种部件的</a:t>
            </a:r>
            <a:r>
              <a:rPr lang="zh-CN" altLang="en-US" sz="2400" b="1" dirty="0">
                <a:solidFill>
                  <a:srgbClr val="C00000"/>
                </a:solidFill>
                <a:latin typeface="Times New Roman" panose="02020603050405020304" pitchFamily="18" charset="0"/>
                <a:cs typeface="Times New Roman" panose="02020603050405020304" pitchFamily="18" charset="0"/>
              </a:rPr>
              <a:t>总耗费工时数为最少</a:t>
            </a:r>
            <a:r>
              <a:rPr lang="zh-CN" altLang="en-US" sz="2400" b="1" dirty="0">
                <a:latin typeface="Times New Roman" panose="02020603050405020304" pitchFamily="18" charset="0"/>
                <a:cs typeface="Times New Roman" panose="02020603050405020304" pitchFamily="18" charset="0"/>
              </a:rPr>
              <a:t>。</a:t>
            </a:r>
            <a:endParaRPr lang="en-US" altLang="zh-CN" sz="2400" b="1" dirty="0">
              <a:cs typeface="Times New Roman" panose="02020603050405020304" pitchFamily="18" charset="0"/>
            </a:endParaRPr>
          </a:p>
          <a:p>
            <a:pPr algn="just">
              <a:lnSpc>
                <a:spcPct val="150000"/>
              </a:lnSpc>
            </a:pPr>
            <a:endParaRPr lang="en-US" altLang="zh-CN" sz="2400" b="1" dirty="0">
              <a:solidFill>
                <a:srgbClr val="FF0000"/>
              </a:solidFill>
              <a:cs typeface="Times New Roman" panose="02020603050405020304" pitchFamily="18" charset="0"/>
            </a:endParaRPr>
          </a:p>
          <a:p>
            <a:pPr algn="just">
              <a:lnSpc>
                <a:spcPct val="150000"/>
              </a:lnSpc>
            </a:pPr>
            <a:r>
              <a:rPr lang="en-US" altLang="zh-CN" sz="2400" b="1" dirty="0">
                <a:solidFill>
                  <a:srgbClr val="FF0000"/>
                </a:solidFill>
                <a:cs typeface="Times New Roman" panose="02020603050405020304" pitchFamily="18" charset="0"/>
              </a:rPr>
              <a:t>(</a:t>
            </a:r>
            <a:r>
              <a:rPr lang="zh-CN" altLang="en-US" sz="2400" b="1" dirty="0">
                <a:solidFill>
                  <a:srgbClr val="FF0000"/>
                </a:solidFill>
                <a:cs typeface="Times New Roman" panose="02020603050405020304" pitchFamily="18" charset="0"/>
              </a:rPr>
              <a:t>逆推法</a:t>
            </a:r>
            <a:r>
              <a:rPr lang="en-US" altLang="zh-CN" sz="2400" b="1" dirty="0">
                <a:solidFill>
                  <a:srgbClr val="FF0000"/>
                </a:solidFill>
                <a:cs typeface="Times New Roman" panose="02020603050405020304" pitchFamily="18" charset="0"/>
              </a:rPr>
              <a:t>)</a:t>
            </a:r>
            <a:endParaRPr lang="zh-CN" altLang="en-US" sz="2400" b="1" dirty="0">
              <a:solidFill>
                <a:srgbClr val="FF0000"/>
              </a:solidFill>
              <a:cs typeface="Times New Roman" panose="02020603050405020304" pitchFamily="18" charset="0"/>
            </a:endParaRPr>
          </a:p>
        </p:txBody>
      </p:sp>
      <p:sp>
        <p:nvSpPr>
          <p:cNvPr id="116739" name="日期占位符 1"/>
          <p:cNvSpPr txBox="1">
            <a:spLocks noGrp="1" noChangeArrowheads="1"/>
          </p:cNvSpPr>
          <p:nvPr/>
        </p:nvSpPr>
        <p:spPr bwMode="auto">
          <a:xfrm>
            <a:off x="11620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fld id="{D72D091B-D50C-4552-ADE3-419A142067F0}" type="datetime1">
              <a:rPr lang="zh-CN" altLang="en-US" sz="1400">
                <a:latin typeface="Times New Roman" panose="02020603050405020304" pitchFamily="18" charset="0"/>
              </a:rPr>
              <a:t>2024/12/15</a:t>
            </a:fld>
            <a:endParaRPr lang="en-US" altLang="zh-CN" sz="1400">
              <a:latin typeface="Times New Roman" panose="02020603050405020304" pitchFamily="18" charset="0"/>
            </a:endParaRPr>
          </a:p>
        </p:txBody>
      </p:sp>
      <p:sp>
        <p:nvSpPr>
          <p:cNvPr id="116740"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5F5BB967-40EC-448E-8ED9-CD689C8FB0CC}" type="slidenum">
              <a:rPr lang="en-US" altLang="zh-CN" sz="1400">
                <a:latin typeface="Times New Roman" panose="02020603050405020304" pitchFamily="18" charset="0"/>
              </a:rPr>
              <a:t>31</a:t>
            </a:fld>
            <a:endParaRPr lang="en-US" altLang="zh-CN" sz="1400">
              <a:latin typeface="Times New Roman" panose="02020603050405020304" pitchFamily="18" charset="0"/>
            </a:endParaRPr>
          </a:p>
        </p:txBody>
      </p:sp>
      <p:sp>
        <p:nvSpPr>
          <p:cNvPr id="115758" name="Rectangle 2"/>
          <p:cNvSpPr txBox="1">
            <a:spLocks noChangeArrowheads="1"/>
          </p:cNvSpPr>
          <p:nvPr>
            <p:custDataLst>
              <p:tags r:id="rId1"/>
            </p:custDataLst>
          </p:nvPr>
        </p:nvSpPr>
        <p:spPr bwMode="auto">
          <a:xfrm>
            <a:off x="685800" y="836930"/>
            <a:ext cx="4362450" cy="610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3600" u="sng">
                <a:solidFill>
                  <a:schemeClr val="hlink"/>
                </a:solidFill>
                <a:latin typeface="Tahoma" panose="020B0604030504040204" pitchFamily="34" charset="0"/>
                <a:ea typeface="黑体" panose="02010609060101010101" pitchFamily="49" charset="-122"/>
              </a:rPr>
              <a:t>生产计划问题</a:t>
            </a:r>
            <a:r>
              <a:rPr lang="en-US" altLang="zh-CN" sz="3600" u="sng">
                <a:solidFill>
                  <a:schemeClr val="hlink"/>
                </a:solidFill>
                <a:latin typeface="Tahoma" panose="020B0604030504040204" pitchFamily="34" charset="0"/>
                <a:ea typeface="黑体" panose="02010609060101010101" pitchFamily="49" charset="-122"/>
              </a:rPr>
              <a:t>--</a:t>
            </a:r>
            <a:r>
              <a:rPr lang="zh-CN" altLang="en-US" sz="2800" u="sng">
                <a:solidFill>
                  <a:schemeClr val="hlink"/>
                </a:solidFill>
                <a:latin typeface="Tahoma" panose="020B0604030504040204" pitchFamily="34" charset="0"/>
                <a:ea typeface="黑体" panose="02010609060101010101" pitchFamily="49" charset="-122"/>
              </a:rPr>
              <a:t>算例</a:t>
            </a:r>
            <a:r>
              <a:rPr lang="en-US" altLang="zh-CN" sz="2800" u="sng">
                <a:solidFill>
                  <a:schemeClr val="hlink"/>
                </a:solidFill>
                <a:latin typeface="Tahoma" panose="020B0604030504040204" pitchFamily="34" charset="0"/>
                <a:ea typeface="黑体" panose="02010609060101010101" pitchFamily="49" charset="-122"/>
              </a:rPr>
              <a:t>5</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6"/>
          <p:cNvSpPr>
            <a:spLocks noChangeArrowheads="1"/>
          </p:cNvSpPr>
          <p:nvPr/>
        </p:nvSpPr>
        <p:spPr bwMode="auto">
          <a:xfrm>
            <a:off x="803275" y="1518285"/>
            <a:ext cx="7848600" cy="2306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zh-CN" altLang="en-US" sz="2400" b="1" dirty="0">
                <a:cs typeface="Times New Roman" panose="02020603050405020304" pitchFamily="18" charset="0"/>
              </a:rPr>
              <a:t>解</a:t>
            </a:r>
            <a:r>
              <a:rPr lang="en-US" altLang="zh-CN" sz="2400" b="1" dirty="0">
                <a:cs typeface="Times New Roman" panose="02020603050405020304" pitchFamily="18" charset="0"/>
              </a:rPr>
              <a:t>:  </a:t>
            </a:r>
            <a:r>
              <a:rPr lang="zh-CN" altLang="en-US" sz="2400" b="1" dirty="0">
                <a:cs typeface="Times New Roman" panose="02020603050405020304" pitchFamily="18" charset="0"/>
              </a:rPr>
              <a:t>按月份划分阶段，用</a:t>
            </a:r>
            <a:r>
              <a:rPr lang="en-US" altLang="zh-CN" sz="2400" b="1" i="1" dirty="0">
                <a:cs typeface="Times New Roman" panose="02020603050405020304" pitchFamily="18" charset="0"/>
              </a:rPr>
              <a:t>k</a:t>
            </a:r>
            <a:r>
              <a:rPr lang="zh-CN" altLang="en-US" sz="2400" b="1" dirty="0">
                <a:cs typeface="Times New Roman" panose="02020603050405020304" pitchFamily="18" charset="0"/>
              </a:rPr>
              <a:t>表示月份序号。</a:t>
            </a:r>
            <a:endParaRPr lang="en-US" altLang="zh-CN" sz="2400" b="1" dirty="0">
              <a:cs typeface="Times New Roman" panose="02020603050405020304" pitchFamily="18" charset="0"/>
            </a:endParaRPr>
          </a:p>
          <a:p>
            <a:pPr algn="just">
              <a:lnSpc>
                <a:spcPct val="150000"/>
              </a:lnSpc>
            </a:pPr>
            <a:r>
              <a:rPr lang="zh-CN" altLang="en-US" sz="2400" b="1" dirty="0">
                <a:cs typeface="Times New Roman" panose="02020603050405020304" pitchFamily="18" charset="0"/>
              </a:rPr>
              <a:t>设</a:t>
            </a:r>
            <a:r>
              <a:rPr lang="en-US" altLang="zh-CN" sz="2400" b="1" dirty="0">
                <a:cs typeface="Times New Roman" panose="02020603050405020304" pitchFamily="18" charset="0"/>
              </a:rPr>
              <a:t> </a:t>
            </a:r>
            <a:r>
              <a:rPr lang="zh-CN" altLang="en-US" sz="2400" b="1" u="sng" dirty="0">
                <a:solidFill>
                  <a:srgbClr val="0033CC"/>
                </a:solidFill>
                <a:latin typeface="Times New Roman" panose="02020603050405020304" pitchFamily="18" charset="0"/>
                <a:cs typeface="Times New Roman" panose="02020603050405020304" pitchFamily="18" charset="0"/>
              </a:rPr>
              <a:t>状态变量</a:t>
            </a:r>
            <a:r>
              <a:rPr lang="en-US" altLang="zh-CN" sz="2400" b="1" i="1" u="sng" dirty="0" err="1">
                <a:latin typeface="Times New Roman" panose="02020603050405020304" pitchFamily="18" charset="0"/>
                <a:cs typeface="Times New Roman" panose="02020603050405020304" pitchFamily="18" charset="0"/>
              </a:rPr>
              <a:t>s</a:t>
            </a:r>
            <a:r>
              <a:rPr lang="en-US" altLang="zh-CN" sz="2400" b="1" i="1" u="sng" baseline="-25000" dirty="0" err="1">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为第</a:t>
            </a:r>
            <a:r>
              <a:rPr lang="en-US" altLang="zh-CN" sz="2400" b="1" i="1" dirty="0">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段开始时</a:t>
            </a:r>
            <a:r>
              <a:rPr lang="en-US" altLang="zh-CN" sz="2400" b="1" dirty="0">
                <a:latin typeface="Times New Roman" panose="02020603050405020304" pitchFamily="18" charset="0"/>
                <a:cs typeface="Times New Roman" panose="02020603050405020304" pitchFamily="18" charset="0"/>
              </a:rPr>
              <a:t>(</a:t>
            </a:r>
            <a:r>
              <a:rPr lang="zh-CN" altLang="en-US" sz="2400" b="1" u="sng" dirty="0">
                <a:latin typeface="Times New Roman" panose="02020603050405020304" pitchFamily="18" charset="0"/>
                <a:cs typeface="Times New Roman" panose="02020603050405020304" pitchFamily="18" charset="0"/>
              </a:rPr>
              <a:t>本段需求量送出之前，上段产品送入之后</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部件库存量。</a:t>
            </a:r>
            <a:endParaRPr lang="en-US" altLang="zh-CN" sz="2400" b="1" dirty="0">
              <a:latin typeface="Times New Roman" panose="02020603050405020304" pitchFamily="18" charset="0"/>
              <a:cs typeface="Times New Roman" panose="02020603050405020304" pitchFamily="18" charset="0"/>
            </a:endParaRPr>
          </a:p>
          <a:p>
            <a:pPr algn="just">
              <a:lnSpc>
                <a:spcPct val="150000"/>
              </a:lnSpc>
            </a:pPr>
            <a:r>
              <a:rPr lang="en-US" altLang="zh-CN" sz="2400" b="1" dirty="0">
                <a:latin typeface="Times New Roman" panose="02020603050405020304" pitchFamily="18" charset="0"/>
                <a:cs typeface="Times New Roman" panose="02020603050405020304" pitchFamily="18" charset="0"/>
              </a:rPr>
              <a:t>      </a:t>
            </a:r>
            <a:r>
              <a:rPr lang="zh-CN" altLang="en-US" sz="2400" b="1" u="sng" dirty="0">
                <a:solidFill>
                  <a:srgbClr val="0033CC"/>
                </a:solidFill>
                <a:latin typeface="Times New Roman" panose="02020603050405020304" pitchFamily="18" charset="0"/>
                <a:cs typeface="Times New Roman" panose="02020603050405020304" pitchFamily="18" charset="0"/>
              </a:rPr>
              <a:t>决策变量</a:t>
            </a:r>
            <a:r>
              <a:rPr lang="en-US" altLang="zh-CN" sz="2400" b="1" i="1" dirty="0" err="1">
                <a:latin typeface="Times New Roman" panose="02020603050405020304" pitchFamily="18" charset="0"/>
                <a:cs typeface="Times New Roman" panose="02020603050405020304" pitchFamily="18" charset="0"/>
              </a:rPr>
              <a:t>u</a:t>
            </a:r>
            <a:r>
              <a:rPr lang="en-US" altLang="zh-CN" sz="2400" b="1" i="1" baseline="-25000" dirty="0" err="1">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为第</a:t>
            </a:r>
            <a:r>
              <a:rPr lang="en-US" altLang="zh-CN" sz="2400" b="1" i="1" dirty="0">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段内的部件生产量。</a:t>
            </a:r>
          </a:p>
        </p:txBody>
      </p:sp>
      <p:sp>
        <p:nvSpPr>
          <p:cNvPr id="117764"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AC34C7F8-4A68-47FA-9758-95ED6D8E4E82}" type="slidenum">
              <a:rPr lang="en-US" altLang="zh-CN" sz="1400">
                <a:latin typeface="Times New Roman" panose="02020603050405020304" pitchFamily="18" charset="0"/>
              </a:rPr>
              <a:t>32</a:t>
            </a:fld>
            <a:endParaRPr lang="en-US" altLang="zh-CN" sz="1400">
              <a:latin typeface="Times New Roman" panose="02020603050405020304" pitchFamily="18" charset="0"/>
            </a:endParaRPr>
          </a:p>
        </p:txBody>
      </p:sp>
      <p:sp>
        <p:nvSpPr>
          <p:cNvPr id="117767" name="Rectangle 7"/>
          <p:cNvSpPr>
            <a:spLocks noChangeArrowheads="1"/>
          </p:cNvSpPr>
          <p:nvPr/>
        </p:nvSpPr>
        <p:spPr bwMode="auto">
          <a:xfrm>
            <a:off x="831850" y="3908041"/>
            <a:ext cx="2393950" cy="486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dirty="0">
                <a:solidFill>
                  <a:srgbClr val="FF0000"/>
                </a:solidFill>
                <a:cs typeface="Times New Roman" panose="02020603050405020304" pitchFamily="18" charset="0"/>
              </a:rPr>
              <a:t>状态转移方程</a:t>
            </a:r>
            <a:r>
              <a:rPr lang="zh-CN" altLang="en-US" sz="2400" b="1" dirty="0">
                <a:cs typeface="Times New Roman" panose="02020603050405020304" pitchFamily="18" charset="0"/>
              </a:rPr>
              <a:t>：</a:t>
            </a:r>
          </a:p>
        </p:txBody>
      </p:sp>
      <p:graphicFrame>
        <p:nvGraphicFramePr>
          <p:cNvPr id="117768" name="对象 1"/>
          <p:cNvGraphicFramePr>
            <a:graphicFrameLocks noChangeAspect="1"/>
          </p:cNvGraphicFramePr>
          <p:nvPr>
            <p:extLst>
              <p:ext uri="{D42A27DB-BD31-4B8C-83A1-F6EECF244321}">
                <p14:modId xmlns:p14="http://schemas.microsoft.com/office/powerpoint/2010/main" val="1903644013"/>
              </p:ext>
            </p:extLst>
          </p:nvPr>
        </p:nvGraphicFramePr>
        <p:xfrm>
          <a:off x="3225800" y="3977086"/>
          <a:ext cx="4235450" cy="523875"/>
        </p:xfrm>
        <a:graphic>
          <a:graphicData uri="http://schemas.openxmlformats.org/presentationml/2006/ole">
            <mc:AlternateContent xmlns:mc="http://schemas.openxmlformats.org/markup-compatibility/2006">
              <mc:Choice xmlns:v="urn:schemas-microsoft-com:vml" Requires="v">
                <p:oleObj name="Equation" r:id="rId3" imgW="2070000" imgH="228600" progId="Equation.DSMT4">
                  <p:embed/>
                </p:oleObj>
              </mc:Choice>
              <mc:Fallback>
                <p:oleObj name="Equation" r:id="rId3" imgW="2070000" imgH="228600" progId="Equation.DSMT4">
                  <p:embed/>
                  <p:pic>
                    <p:nvPicPr>
                      <p:cNvPr id="0" name="对象 1"/>
                      <p:cNvPicPr>
                        <a:picLocks noChangeAspect="1" noChangeArrowheads="1"/>
                      </p:cNvPicPr>
                      <p:nvPr/>
                    </p:nvPicPr>
                    <p:blipFill>
                      <a:blip r:embed="rId4">
                        <a:lum bright="-40000" contrast="-40000"/>
                      </a:blip>
                      <a:srcRect/>
                      <a:stretch>
                        <a:fillRect/>
                      </a:stretch>
                    </p:blipFill>
                    <p:spPr bwMode="auto">
                      <a:xfrm>
                        <a:off x="3225800" y="3977086"/>
                        <a:ext cx="4235450" cy="523875"/>
                      </a:xfrm>
                      <a:prstGeom prst="rect">
                        <a:avLst/>
                      </a:prstGeom>
                      <a:solidFill>
                        <a:schemeClr val="bg1">
                          <a:lumMod val="85000"/>
                        </a:schemeClr>
                      </a:solidFill>
                      <a:ln>
                        <a:noFill/>
                      </a:ln>
                    </p:spPr>
                  </p:pic>
                </p:oleObj>
              </mc:Fallback>
            </mc:AlternateContent>
          </a:graphicData>
        </a:graphic>
      </p:graphicFrame>
      <p:sp>
        <p:nvSpPr>
          <p:cNvPr id="117769" name="Rectangle 2"/>
          <p:cNvSpPr>
            <a:spLocks noChangeArrowheads="1"/>
          </p:cNvSpPr>
          <p:nvPr/>
        </p:nvSpPr>
        <p:spPr bwMode="auto">
          <a:xfrm>
            <a:off x="2408237" y="4561206"/>
            <a:ext cx="917575" cy="5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dirty="0">
                <a:latin typeface="Arial" panose="020B0604020202020204" pitchFamily="34" charset="0"/>
                <a:cs typeface="Times New Roman" panose="02020603050405020304" pitchFamily="18" charset="0"/>
              </a:rPr>
              <a:t>且</a:t>
            </a:r>
          </a:p>
        </p:txBody>
      </p:sp>
      <p:graphicFrame>
        <p:nvGraphicFramePr>
          <p:cNvPr id="117770" name="对象 2"/>
          <p:cNvGraphicFramePr>
            <a:graphicFrameLocks noChangeAspect="1"/>
          </p:cNvGraphicFramePr>
          <p:nvPr>
            <p:extLst>
              <p:ext uri="{D42A27DB-BD31-4B8C-83A1-F6EECF244321}">
                <p14:modId xmlns:p14="http://schemas.microsoft.com/office/powerpoint/2010/main" val="4207574076"/>
              </p:ext>
            </p:extLst>
          </p:nvPr>
        </p:nvGraphicFramePr>
        <p:xfrm>
          <a:off x="3233821" y="4640003"/>
          <a:ext cx="1789112" cy="490537"/>
        </p:xfrm>
        <a:graphic>
          <a:graphicData uri="http://schemas.openxmlformats.org/presentationml/2006/ole">
            <mc:AlternateContent xmlns:mc="http://schemas.openxmlformats.org/markup-compatibility/2006">
              <mc:Choice xmlns:v="urn:schemas-microsoft-com:vml" Requires="v">
                <p:oleObj name="Equation" r:id="rId5" imgW="876240" imgH="228600" progId="Equation.DSMT4">
                  <p:embed/>
                </p:oleObj>
              </mc:Choice>
              <mc:Fallback>
                <p:oleObj name="Equation" r:id="rId5" imgW="876240" imgH="228600" progId="Equation.DSMT4">
                  <p:embed/>
                  <p:pic>
                    <p:nvPicPr>
                      <p:cNvPr id="0" name="对象 2"/>
                      <p:cNvPicPr>
                        <a:picLocks noChangeAspect="1" noChangeArrowheads="1"/>
                      </p:cNvPicPr>
                      <p:nvPr/>
                    </p:nvPicPr>
                    <p:blipFill>
                      <a:blip r:embed="rId6">
                        <a:lum bright="-40000" contrast="-40000"/>
                      </a:blip>
                      <a:srcRect/>
                      <a:stretch>
                        <a:fillRect/>
                      </a:stretch>
                    </p:blipFill>
                    <p:spPr bwMode="auto">
                      <a:xfrm>
                        <a:off x="3233821" y="4640003"/>
                        <a:ext cx="1789112" cy="490537"/>
                      </a:xfrm>
                      <a:prstGeom prst="rect">
                        <a:avLst/>
                      </a:prstGeom>
                      <a:solidFill>
                        <a:schemeClr val="bg1">
                          <a:lumMod val="85000"/>
                        </a:schemeClr>
                      </a:solidFill>
                      <a:ln>
                        <a:noFill/>
                      </a:ln>
                    </p:spPr>
                  </p:pic>
                </p:oleObj>
              </mc:Fallback>
            </mc:AlternateContent>
          </a:graphicData>
        </a:graphic>
      </p:graphicFrame>
      <p:graphicFrame>
        <p:nvGraphicFramePr>
          <p:cNvPr id="117771" name="Object 5"/>
          <p:cNvGraphicFramePr>
            <a:graphicFrameLocks noChangeAspect="1"/>
          </p:cNvGraphicFramePr>
          <p:nvPr>
            <p:extLst>
              <p:ext uri="{D42A27DB-BD31-4B8C-83A1-F6EECF244321}">
                <p14:modId xmlns:p14="http://schemas.microsoft.com/office/powerpoint/2010/main" val="3401727939"/>
              </p:ext>
            </p:extLst>
          </p:nvPr>
        </p:nvGraphicFramePr>
        <p:xfrm>
          <a:off x="1408113" y="5680075"/>
          <a:ext cx="6943725" cy="530225"/>
        </p:xfrm>
        <a:graphic>
          <a:graphicData uri="http://schemas.openxmlformats.org/presentationml/2006/ole">
            <mc:AlternateContent xmlns:mc="http://schemas.openxmlformats.org/markup-compatibility/2006">
              <mc:Choice xmlns:v="urn:schemas-microsoft-com:vml" Requires="v">
                <p:oleObj name="Equation" r:id="rId7" imgW="3365280" imgH="253800" progId="Equation.DSMT4">
                  <p:embed/>
                </p:oleObj>
              </mc:Choice>
              <mc:Fallback>
                <p:oleObj name="Equation" r:id="rId7" imgW="3365280" imgH="253800" progId="Equation.DSMT4">
                  <p:embed/>
                  <p:pic>
                    <p:nvPicPr>
                      <p:cNvPr id="0" name="Object 5"/>
                      <p:cNvPicPr>
                        <a:picLocks noChangeAspect="1" noChangeArrowheads="1"/>
                      </p:cNvPicPr>
                      <p:nvPr/>
                    </p:nvPicPr>
                    <p:blipFill>
                      <a:blip r:embed="rId8">
                        <a:lum bright="-40000" contrast="-40000"/>
                      </a:blip>
                      <a:srcRect/>
                      <a:stretch>
                        <a:fillRect/>
                      </a:stretch>
                    </p:blipFill>
                    <p:spPr bwMode="auto">
                      <a:xfrm>
                        <a:off x="1408113" y="5680075"/>
                        <a:ext cx="6943725" cy="530225"/>
                      </a:xfrm>
                      <a:prstGeom prst="rect">
                        <a:avLst/>
                      </a:prstGeom>
                      <a:solidFill>
                        <a:schemeClr val="bg1">
                          <a:lumMod val="85000"/>
                        </a:schemeClr>
                      </a:solidFill>
                      <a:ln>
                        <a:noFill/>
                      </a:ln>
                    </p:spPr>
                  </p:pic>
                </p:oleObj>
              </mc:Fallback>
            </mc:AlternateContent>
          </a:graphicData>
        </a:graphic>
      </p:graphicFrame>
      <p:sp>
        <p:nvSpPr>
          <p:cNvPr id="117772" name="Rectangle 8"/>
          <p:cNvSpPr>
            <a:spLocks noChangeArrowheads="1"/>
          </p:cNvSpPr>
          <p:nvPr/>
        </p:nvSpPr>
        <p:spPr bwMode="auto">
          <a:xfrm>
            <a:off x="803275" y="5180014"/>
            <a:ext cx="3429000" cy="49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dirty="0">
                <a:latin typeface="Arial" panose="020B0604020202020204" pitchFamily="34" charset="0"/>
                <a:cs typeface="Times New Roman" panose="02020603050405020304" pitchFamily="18" charset="0"/>
              </a:rPr>
              <a:t>故允许决策集合为	</a:t>
            </a:r>
          </a:p>
        </p:txBody>
      </p:sp>
      <p:sp>
        <p:nvSpPr>
          <p:cNvPr id="115758" name="Rectangle 2"/>
          <p:cNvSpPr txBox="1">
            <a:spLocks noChangeArrowheads="1"/>
          </p:cNvSpPr>
          <p:nvPr>
            <p:custDataLst>
              <p:tags r:id="rId1"/>
            </p:custDataLst>
          </p:nvPr>
        </p:nvSpPr>
        <p:spPr bwMode="auto">
          <a:xfrm>
            <a:off x="685800" y="836930"/>
            <a:ext cx="4362450" cy="610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3600" u="sng">
                <a:solidFill>
                  <a:schemeClr val="hlink"/>
                </a:solidFill>
                <a:latin typeface="Tahoma" panose="020B0604030504040204" pitchFamily="34" charset="0"/>
                <a:ea typeface="黑体" panose="02010609060101010101" pitchFamily="49" charset="-122"/>
              </a:rPr>
              <a:t>生产计划问题</a:t>
            </a:r>
            <a:r>
              <a:rPr lang="en-US" altLang="zh-CN" sz="3600" u="sng">
                <a:solidFill>
                  <a:schemeClr val="hlink"/>
                </a:solidFill>
                <a:latin typeface="Tahoma" panose="020B0604030504040204" pitchFamily="34" charset="0"/>
                <a:ea typeface="黑体" panose="02010609060101010101" pitchFamily="49" charset="-122"/>
              </a:rPr>
              <a:t>--</a:t>
            </a:r>
            <a:r>
              <a:rPr lang="zh-CN" altLang="en-US" sz="2800" u="sng">
                <a:solidFill>
                  <a:schemeClr val="hlink"/>
                </a:solidFill>
                <a:latin typeface="Tahoma" panose="020B0604030504040204" pitchFamily="34" charset="0"/>
                <a:ea typeface="黑体" panose="02010609060101010101" pitchFamily="49" charset="-122"/>
              </a:rPr>
              <a:t>算例</a:t>
            </a:r>
            <a:r>
              <a:rPr lang="en-US" altLang="zh-CN" sz="2800" u="sng">
                <a:solidFill>
                  <a:schemeClr val="hlink"/>
                </a:solidFill>
                <a:latin typeface="Tahoma" panose="020B0604030504040204" pitchFamily="34" charset="0"/>
                <a:ea typeface="黑体" panose="02010609060101010101" pitchFamily="49" charset="-122"/>
              </a:rPr>
              <a:t>5</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6"/>
          <p:cNvSpPr>
            <a:spLocks noChangeArrowheads="1"/>
          </p:cNvSpPr>
          <p:nvPr/>
        </p:nvSpPr>
        <p:spPr bwMode="auto">
          <a:xfrm>
            <a:off x="762000" y="1743122"/>
            <a:ext cx="7848600" cy="1684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en-US" altLang="zh-CN" sz="2400" b="1" dirty="0">
                <a:cs typeface="Times New Roman" panose="02020603050405020304" pitchFamily="18" charset="0"/>
              </a:rPr>
              <a:t>  </a:t>
            </a:r>
            <a:r>
              <a:rPr lang="zh-CN" altLang="en-US" sz="2400" b="1" dirty="0">
                <a:solidFill>
                  <a:srgbClr val="0033CC"/>
                </a:solidFill>
                <a:latin typeface="Times New Roman" panose="02020603050405020304" pitchFamily="18" charset="0"/>
                <a:cs typeface="Times New Roman" panose="02020603050405020304" pitchFamily="18" charset="0"/>
              </a:rPr>
              <a:t>最优值函数</a:t>
            </a:r>
            <a:r>
              <a:rPr lang="en-US" altLang="zh-CN" sz="2400" b="1" dirty="0">
                <a:solidFill>
                  <a:srgbClr val="0033CC"/>
                </a:solidFill>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        表示在第</a:t>
            </a:r>
            <a:r>
              <a:rPr lang="en-US" altLang="zh-CN" sz="2400" b="1" i="1" dirty="0">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段开始的库存量为</a:t>
            </a:r>
            <a:r>
              <a:rPr lang="en-US" altLang="zh-CN" sz="2400" b="1" i="1" dirty="0" err="1">
                <a:latin typeface="Times New Roman" panose="02020603050405020304" pitchFamily="18" charset="0"/>
                <a:cs typeface="Times New Roman" panose="02020603050405020304" pitchFamily="18" charset="0"/>
              </a:rPr>
              <a:t>s</a:t>
            </a:r>
            <a:r>
              <a:rPr lang="en-US" altLang="zh-CN" sz="2400" b="1" i="1" baseline="-25000" dirty="0" err="1">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时，从第</a:t>
            </a:r>
            <a:r>
              <a:rPr lang="en-US" altLang="zh-CN" sz="2400" b="1" i="1" dirty="0">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段至第</a:t>
            </a:r>
            <a:r>
              <a:rPr lang="en-US" altLang="zh-CN" sz="2400" b="1" dirty="0">
                <a:latin typeface="Times New Roman" panose="02020603050405020304" pitchFamily="18" charset="0"/>
                <a:cs typeface="Times New Roman" panose="02020603050405020304" pitchFamily="18" charset="0"/>
              </a:rPr>
              <a:t>6</a:t>
            </a:r>
            <a:r>
              <a:rPr lang="zh-CN" altLang="en-US" sz="2400" b="1" dirty="0">
                <a:latin typeface="Times New Roman" panose="02020603050405020304" pitchFamily="18" charset="0"/>
                <a:cs typeface="Times New Roman" panose="02020603050405020304" pitchFamily="18" charset="0"/>
              </a:rPr>
              <a:t>段所生产部件的最小累计工时数，因此，</a:t>
            </a:r>
            <a:r>
              <a:rPr lang="zh-CN" altLang="en-US" sz="2400" b="1" dirty="0">
                <a:solidFill>
                  <a:srgbClr val="FF0000"/>
                </a:solidFill>
                <a:latin typeface="Times New Roman" panose="02020603050405020304" pitchFamily="18" charset="0"/>
                <a:cs typeface="Times New Roman" panose="02020603050405020304" pitchFamily="18" charset="0"/>
              </a:rPr>
              <a:t>逆推</a:t>
            </a:r>
            <a:r>
              <a:rPr lang="zh-CN" altLang="en-US" sz="2400" b="1" dirty="0">
                <a:latin typeface="Times New Roman" panose="02020603050405020304" pitchFamily="18" charset="0"/>
                <a:cs typeface="Times New Roman" panose="02020603050405020304" pitchFamily="18" charset="0"/>
              </a:rPr>
              <a:t>关系式为</a:t>
            </a:r>
          </a:p>
        </p:txBody>
      </p:sp>
      <p:graphicFrame>
        <p:nvGraphicFramePr>
          <p:cNvPr id="118787" name="Object 3"/>
          <p:cNvGraphicFramePr>
            <a:graphicFrameLocks noChangeAspect="1"/>
          </p:cNvGraphicFramePr>
          <p:nvPr>
            <p:extLst>
              <p:ext uri="{D42A27DB-BD31-4B8C-83A1-F6EECF244321}">
                <p14:modId xmlns:p14="http://schemas.microsoft.com/office/powerpoint/2010/main" val="4065982168"/>
              </p:ext>
            </p:extLst>
          </p:nvPr>
        </p:nvGraphicFramePr>
        <p:xfrm>
          <a:off x="2625970" y="1863970"/>
          <a:ext cx="838760" cy="457200"/>
        </p:xfrm>
        <a:graphic>
          <a:graphicData uri="http://schemas.openxmlformats.org/presentationml/2006/ole">
            <mc:AlternateContent xmlns:mc="http://schemas.openxmlformats.org/markup-compatibility/2006">
              <mc:Choice xmlns:v="urn:schemas-microsoft-com:vml" Requires="v">
                <p:oleObj r:id="rId3" imgW="419735" imgH="228600" progId="">
                  <p:embed/>
                </p:oleObj>
              </mc:Choice>
              <mc:Fallback>
                <p:oleObj r:id="rId3" imgW="419735" imgH="228600" progId="">
                  <p:embed/>
                  <p:pic>
                    <p:nvPicPr>
                      <p:cNvPr id="0" name="Object 3"/>
                      <p:cNvPicPr>
                        <a:picLocks noChangeAspect="1" noChangeArrowheads="1"/>
                      </p:cNvPicPr>
                      <p:nvPr/>
                    </p:nvPicPr>
                    <p:blipFill>
                      <a:blip r:embed="rId4">
                        <a:lum bright="-40000" contrast="-40000"/>
                        <a:extLst>
                          <a:ext uri="{28A0092B-C50C-407E-A947-70E740481C1C}">
                            <a14:useLocalDpi xmlns:a14="http://schemas.microsoft.com/office/drawing/2010/main" val="0"/>
                          </a:ext>
                        </a:extLst>
                      </a:blip>
                      <a:srcRect/>
                      <a:stretch>
                        <a:fillRect/>
                      </a:stretch>
                    </p:blipFill>
                    <p:spPr bwMode="auto">
                      <a:xfrm>
                        <a:off x="2625970" y="1863970"/>
                        <a:ext cx="838760" cy="457200"/>
                      </a:xfrm>
                      <a:prstGeom prst="rect">
                        <a:avLst/>
                      </a:prstGeom>
                      <a:noFill/>
                      <a:ln>
                        <a:noFill/>
                      </a:ln>
                    </p:spPr>
                  </p:pic>
                </p:oleObj>
              </mc:Fallback>
            </mc:AlternateContent>
          </a:graphicData>
        </a:graphic>
      </p:graphicFrame>
      <p:graphicFrame>
        <p:nvGraphicFramePr>
          <p:cNvPr id="118788" name="Object 4"/>
          <p:cNvGraphicFramePr>
            <a:graphicFrameLocks noChangeAspect="1"/>
          </p:cNvGraphicFramePr>
          <p:nvPr/>
        </p:nvGraphicFramePr>
        <p:xfrm>
          <a:off x="828675" y="3824288"/>
          <a:ext cx="7632700" cy="1281112"/>
        </p:xfrm>
        <a:graphic>
          <a:graphicData uri="http://schemas.openxmlformats.org/presentationml/2006/ole">
            <mc:AlternateContent xmlns:mc="http://schemas.openxmlformats.org/markup-compatibility/2006">
              <mc:Choice xmlns:v="urn:schemas-microsoft-com:vml" Requires="v">
                <p:oleObj r:id="rId5" imgW="3543300" imgH="558800" progId="">
                  <p:embed/>
                </p:oleObj>
              </mc:Choice>
              <mc:Fallback>
                <p:oleObj r:id="rId5" imgW="3543300" imgH="558800" progId="">
                  <p:embed/>
                  <p:pic>
                    <p:nvPicPr>
                      <p:cNvPr id="0" name="Object 4"/>
                      <p:cNvPicPr>
                        <a:picLocks noChangeAspect="1" noChangeArrowheads="1"/>
                      </p:cNvPicPr>
                      <p:nvPr/>
                    </p:nvPicPr>
                    <p:blipFill>
                      <a:blip r:embed="rId6">
                        <a:lum bright="-40000" contrast="-40000"/>
                        <a:extLst>
                          <a:ext uri="{28A0092B-C50C-407E-A947-70E740481C1C}">
                            <a14:useLocalDpi xmlns:a14="http://schemas.microsoft.com/office/drawing/2010/main" val="0"/>
                          </a:ext>
                        </a:extLst>
                      </a:blip>
                      <a:srcRect/>
                      <a:stretch>
                        <a:fillRect/>
                      </a:stretch>
                    </p:blipFill>
                    <p:spPr bwMode="auto">
                      <a:xfrm>
                        <a:off x="828675" y="3824288"/>
                        <a:ext cx="7632700" cy="128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8790"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77040EF3-A0B9-4407-BB36-86C8A4712474}" type="slidenum">
              <a:rPr lang="en-US" altLang="zh-CN" sz="1400">
                <a:latin typeface="Times New Roman" panose="02020603050405020304" pitchFamily="18" charset="0"/>
              </a:rPr>
              <a:t>33</a:t>
            </a:fld>
            <a:endParaRPr lang="en-US" altLang="zh-CN" sz="1400">
              <a:latin typeface="Times New Roman" panose="02020603050405020304" pitchFamily="18" charset="0"/>
            </a:endParaRPr>
          </a:p>
        </p:txBody>
      </p:sp>
      <p:sp>
        <p:nvSpPr>
          <p:cNvPr id="115758" name="Rectangle 2"/>
          <p:cNvSpPr txBox="1">
            <a:spLocks noChangeArrowheads="1"/>
          </p:cNvSpPr>
          <p:nvPr>
            <p:custDataLst>
              <p:tags r:id="rId1"/>
            </p:custDataLst>
          </p:nvPr>
        </p:nvSpPr>
        <p:spPr bwMode="auto">
          <a:xfrm>
            <a:off x="685800" y="836930"/>
            <a:ext cx="4362450" cy="610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3600" u="sng" dirty="0">
                <a:solidFill>
                  <a:schemeClr val="hlink"/>
                </a:solidFill>
                <a:latin typeface="Tahoma" panose="020B0604030504040204" pitchFamily="34" charset="0"/>
                <a:ea typeface="黑体" panose="02010609060101010101" pitchFamily="49" charset="-122"/>
              </a:rPr>
              <a:t>生产计划问题</a:t>
            </a:r>
            <a:r>
              <a:rPr lang="en-US" altLang="zh-CN" sz="3600" u="sng" dirty="0">
                <a:solidFill>
                  <a:schemeClr val="hlink"/>
                </a:solidFill>
                <a:latin typeface="Tahoma" panose="020B0604030504040204" pitchFamily="34" charset="0"/>
                <a:ea typeface="黑体" panose="02010609060101010101" pitchFamily="49" charset="-122"/>
              </a:rPr>
              <a:t>--</a:t>
            </a:r>
            <a:r>
              <a:rPr lang="zh-CN" altLang="en-US" sz="2800" u="sng" dirty="0">
                <a:solidFill>
                  <a:schemeClr val="hlink"/>
                </a:solidFill>
                <a:latin typeface="Tahoma" panose="020B0604030504040204" pitchFamily="34" charset="0"/>
                <a:ea typeface="黑体" panose="02010609060101010101" pitchFamily="49" charset="-122"/>
              </a:rPr>
              <a:t>算例</a:t>
            </a:r>
            <a:r>
              <a:rPr lang="en-US" altLang="zh-CN" sz="2800" u="sng" dirty="0">
                <a:solidFill>
                  <a:schemeClr val="hlink"/>
                </a:solidFill>
                <a:latin typeface="Tahoma" panose="020B0604030504040204" pitchFamily="34" charset="0"/>
                <a:ea typeface="黑体" panose="02010609060101010101" pitchFamily="49" charset="-122"/>
              </a:rPr>
              <a:t>5</a:t>
            </a:r>
          </a:p>
        </p:txBody>
      </p:sp>
      <p:sp>
        <p:nvSpPr>
          <p:cNvPr id="2" name="Rectangle 7">
            <a:extLst>
              <a:ext uri="{FF2B5EF4-FFF2-40B4-BE49-F238E27FC236}">
                <a16:creationId xmlns:a16="http://schemas.microsoft.com/office/drawing/2014/main" id="{C10EB541-6A71-907B-8F77-247F6E9E84D8}"/>
              </a:ext>
            </a:extLst>
          </p:cNvPr>
          <p:cNvSpPr>
            <a:spLocks noChangeArrowheads="1"/>
          </p:cNvSpPr>
          <p:nvPr/>
        </p:nvSpPr>
        <p:spPr bwMode="auto">
          <a:xfrm>
            <a:off x="4419600" y="4862128"/>
            <a:ext cx="2393950" cy="486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dirty="0">
                <a:solidFill>
                  <a:srgbClr val="FF0000"/>
                </a:solidFill>
                <a:cs typeface="Times New Roman" panose="02020603050405020304" pitchFamily="18" charset="0"/>
              </a:rPr>
              <a:t>状态转移方程</a:t>
            </a:r>
            <a:endParaRPr lang="zh-CN" altLang="en-US" sz="2400" b="1" dirty="0">
              <a:cs typeface="Times New Roman" panose="02020603050405020304" pitchFamily="18" charset="0"/>
            </a:endParaRPr>
          </a:p>
        </p:txBody>
      </p:sp>
      <p:cxnSp>
        <p:nvCxnSpPr>
          <p:cNvPr id="4" name="直接箭头连接符 3">
            <a:extLst>
              <a:ext uri="{FF2B5EF4-FFF2-40B4-BE49-F238E27FC236}">
                <a16:creationId xmlns:a16="http://schemas.microsoft.com/office/drawing/2014/main" id="{195F4710-D6CC-464A-FF75-29FB6140400B}"/>
              </a:ext>
            </a:extLst>
          </p:cNvPr>
          <p:cNvCxnSpPr>
            <a:cxnSpLocks/>
          </p:cNvCxnSpPr>
          <p:nvPr/>
        </p:nvCxnSpPr>
        <p:spPr>
          <a:xfrm flipV="1">
            <a:off x="5334000" y="4495800"/>
            <a:ext cx="0" cy="4572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4"/>
          <p:cNvSpPr>
            <a:spLocks noChangeArrowheads="1"/>
          </p:cNvSpPr>
          <p:nvPr/>
        </p:nvSpPr>
        <p:spPr bwMode="auto">
          <a:xfrm>
            <a:off x="609600" y="1627664"/>
            <a:ext cx="7993062" cy="1753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en-US" altLang="zh-CN" sz="2400" b="1" dirty="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当</a:t>
            </a:r>
            <a:r>
              <a:rPr lang="en-US" altLang="zh-CN" sz="2400" b="1" i="1" dirty="0">
                <a:latin typeface="Times New Roman" panose="02020603050405020304" pitchFamily="18" charset="0"/>
                <a:cs typeface="Times New Roman" panose="02020603050405020304" pitchFamily="18" charset="0"/>
              </a:rPr>
              <a:t>k</a:t>
            </a:r>
            <a:r>
              <a:rPr lang="en-US" altLang="zh-CN" sz="2400" b="1" dirty="0">
                <a:latin typeface="Times New Roman" panose="02020603050405020304" pitchFamily="18" charset="0"/>
                <a:cs typeface="Times New Roman" panose="02020603050405020304" pitchFamily="18" charset="0"/>
              </a:rPr>
              <a:t>=6</a:t>
            </a:r>
            <a:r>
              <a:rPr lang="zh-CN" altLang="en-US" sz="2400" b="1" dirty="0">
                <a:latin typeface="Times New Roman" panose="02020603050405020304" pitchFamily="18" charset="0"/>
                <a:cs typeface="Times New Roman" panose="02020603050405020304" pitchFamily="18" charset="0"/>
              </a:rPr>
              <a:t>时，因要求期终库存量为</a:t>
            </a:r>
            <a:r>
              <a:rPr lang="en-US" altLang="zh-CN" sz="2400" b="1"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，即</a:t>
            </a:r>
            <a:r>
              <a:rPr lang="en-US" altLang="zh-CN" sz="2400" b="1" i="1" dirty="0">
                <a:latin typeface="Times New Roman" panose="02020603050405020304" pitchFamily="18" charset="0"/>
                <a:cs typeface="Times New Roman" panose="02020603050405020304" pitchFamily="18" charset="0"/>
              </a:rPr>
              <a:t>s</a:t>
            </a:r>
            <a:r>
              <a:rPr lang="en-US" altLang="zh-CN" sz="2400" b="1" baseline="-25000" dirty="0">
                <a:latin typeface="Times New Roman" panose="02020603050405020304" pitchFamily="18" charset="0"/>
                <a:cs typeface="Times New Roman" panose="02020603050405020304" pitchFamily="18" charset="0"/>
              </a:rPr>
              <a:t>7</a:t>
            </a:r>
            <a:r>
              <a:rPr lang="en-US" altLang="zh-CN" sz="2400" b="1" dirty="0">
                <a:latin typeface="Times New Roman" panose="02020603050405020304" pitchFamily="18" charset="0"/>
                <a:cs typeface="Times New Roman" panose="02020603050405020304" pitchFamily="18" charset="0"/>
              </a:rPr>
              <a:t>=0 </a:t>
            </a:r>
            <a:r>
              <a:rPr lang="zh-CN" altLang="en-US" sz="2400" b="1" dirty="0">
                <a:latin typeface="Times New Roman" panose="02020603050405020304" pitchFamily="18" charset="0"/>
                <a:cs typeface="Times New Roman" panose="02020603050405020304" pitchFamily="18" charset="0"/>
              </a:rPr>
              <a:t>。因</a:t>
            </a:r>
            <a:r>
              <a:rPr lang="zh-CN" altLang="en-US" sz="2400" b="1" u="sng" dirty="0">
                <a:solidFill>
                  <a:srgbClr val="FF0000"/>
                </a:solidFill>
                <a:latin typeface="Times New Roman" panose="02020603050405020304" pitchFamily="18" charset="0"/>
                <a:cs typeface="Times New Roman" panose="02020603050405020304" pitchFamily="18" charset="0"/>
              </a:rPr>
              <a:t>每月的生产是供应下月的需求</a:t>
            </a:r>
            <a:r>
              <a:rPr lang="zh-CN" altLang="en-US" sz="2400" b="1" dirty="0">
                <a:latin typeface="Times New Roman" panose="02020603050405020304" pitchFamily="18" charset="0"/>
                <a:cs typeface="Times New Roman" panose="02020603050405020304" pitchFamily="18" charset="0"/>
              </a:rPr>
              <a:t>，故第</a:t>
            </a:r>
            <a:r>
              <a:rPr lang="en-US" altLang="zh-CN" sz="2400" b="1" dirty="0">
                <a:latin typeface="Times New Roman" panose="02020603050405020304" pitchFamily="18" charset="0"/>
                <a:cs typeface="Times New Roman" panose="02020603050405020304" pitchFamily="18" charset="0"/>
              </a:rPr>
              <a:t>6</a:t>
            </a:r>
            <a:r>
              <a:rPr lang="zh-CN" altLang="en-US" sz="2400" b="1" dirty="0">
                <a:latin typeface="Times New Roman" panose="02020603050405020304" pitchFamily="18" charset="0"/>
                <a:cs typeface="Times New Roman" panose="02020603050405020304" pitchFamily="18" charset="0"/>
              </a:rPr>
              <a:t>个月不用生产，即</a:t>
            </a:r>
            <a:r>
              <a:rPr lang="en-US" altLang="zh-CN" sz="2400" b="1" i="1" dirty="0">
                <a:latin typeface="Times New Roman" panose="02020603050405020304" pitchFamily="18" charset="0"/>
                <a:cs typeface="Times New Roman" panose="02020603050405020304" pitchFamily="18" charset="0"/>
              </a:rPr>
              <a:t>u</a:t>
            </a:r>
            <a:r>
              <a:rPr lang="en-US" altLang="zh-CN" sz="2400" b="1" baseline="-25000" dirty="0">
                <a:latin typeface="Times New Roman" panose="02020603050405020304" pitchFamily="18" charset="0"/>
                <a:cs typeface="Times New Roman" panose="02020603050405020304" pitchFamily="18" charset="0"/>
              </a:rPr>
              <a:t>6</a:t>
            </a:r>
            <a:r>
              <a:rPr lang="en-US" altLang="zh-CN" sz="2400" b="1"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。因此</a:t>
            </a:r>
            <a:r>
              <a:rPr lang="en-US" altLang="zh-CN" sz="2400" b="1" i="1" dirty="0">
                <a:latin typeface="Times New Roman" panose="02020603050405020304" pitchFamily="18" charset="0"/>
                <a:cs typeface="Times New Roman" panose="02020603050405020304" pitchFamily="18" charset="0"/>
              </a:rPr>
              <a:t>f</a:t>
            </a:r>
            <a:r>
              <a:rPr lang="en-US" altLang="zh-CN" sz="2400" b="1" baseline="-25000" dirty="0">
                <a:latin typeface="Times New Roman" panose="02020603050405020304" pitchFamily="18" charset="0"/>
                <a:cs typeface="Times New Roman" panose="02020603050405020304" pitchFamily="18" charset="0"/>
              </a:rPr>
              <a:t>6</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s</a:t>
            </a:r>
            <a:r>
              <a:rPr lang="en-US" altLang="zh-CN" sz="2400" b="1" baseline="-25000" dirty="0">
                <a:latin typeface="Times New Roman" panose="02020603050405020304" pitchFamily="18" charset="0"/>
                <a:cs typeface="Times New Roman" panose="02020603050405020304" pitchFamily="18" charset="0"/>
              </a:rPr>
              <a:t>6</a:t>
            </a:r>
            <a:r>
              <a:rPr lang="en-US" altLang="zh-CN" sz="2400" b="1"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，而由</a:t>
            </a:r>
            <a:r>
              <a:rPr lang="en-US" altLang="zh-CN" sz="2400" b="1" dirty="0">
                <a:latin typeface="Times New Roman" panose="02020603050405020304" pitchFamily="18" charset="0"/>
                <a:cs typeface="Times New Roman" panose="02020603050405020304" pitchFamily="18" charset="0"/>
              </a:rPr>
              <a:t>(2-9)</a:t>
            </a:r>
            <a:r>
              <a:rPr lang="zh-CN" altLang="en-US" sz="2400" b="1" dirty="0">
                <a:latin typeface="Times New Roman" panose="02020603050405020304" pitchFamily="18" charset="0"/>
                <a:cs typeface="Times New Roman" panose="02020603050405020304" pitchFamily="18" charset="0"/>
              </a:rPr>
              <a:t>式有</a:t>
            </a:r>
          </a:p>
        </p:txBody>
      </p:sp>
      <p:graphicFrame>
        <p:nvGraphicFramePr>
          <p:cNvPr id="119811" name="Object 3"/>
          <p:cNvGraphicFramePr>
            <a:graphicFrameLocks noChangeAspect="1"/>
          </p:cNvGraphicFramePr>
          <p:nvPr/>
        </p:nvGraphicFramePr>
        <p:xfrm>
          <a:off x="3275012" y="3606800"/>
          <a:ext cx="1873250" cy="615950"/>
        </p:xfrm>
        <a:graphic>
          <a:graphicData uri="http://schemas.openxmlformats.org/presentationml/2006/ole">
            <mc:AlternateContent xmlns:mc="http://schemas.openxmlformats.org/markup-compatibility/2006">
              <mc:Choice xmlns:v="urn:schemas-microsoft-com:vml" Requires="v">
                <p:oleObj r:id="rId3" imgW="699135" imgH="228600" progId="">
                  <p:embed/>
                </p:oleObj>
              </mc:Choice>
              <mc:Fallback>
                <p:oleObj r:id="rId3" imgW="699135" imgH="228600" progId="">
                  <p:embed/>
                  <p:pic>
                    <p:nvPicPr>
                      <p:cNvPr id="0" name="Object 3"/>
                      <p:cNvPicPr>
                        <a:picLocks noChangeAspect="1" noChangeArrowheads="1"/>
                      </p:cNvPicPr>
                      <p:nvPr/>
                    </p:nvPicPr>
                    <p:blipFill>
                      <a:blip r:embed="rId4">
                        <a:lum bright="-40000" contrast="-40000"/>
                        <a:extLst>
                          <a:ext uri="{28A0092B-C50C-407E-A947-70E740481C1C}">
                            <a14:useLocalDpi xmlns:a14="http://schemas.microsoft.com/office/drawing/2010/main" val="0"/>
                          </a:ext>
                        </a:extLst>
                      </a:blip>
                      <a:srcRect/>
                      <a:stretch>
                        <a:fillRect/>
                      </a:stretch>
                    </p:blipFill>
                    <p:spPr bwMode="auto">
                      <a:xfrm>
                        <a:off x="3275012" y="3606800"/>
                        <a:ext cx="18732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9813"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63FE3568-418D-4FFA-9841-992DBBA9D1E5}" type="slidenum">
              <a:rPr lang="en-US" altLang="zh-CN" sz="1400">
                <a:latin typeface="Times New Roman" panose="02020603050405020304" pitchFamily="18" charset="0"/>
              </a:rPr>
              <a:t>34</a:t>
            </a:fld>
            <a:endParaRPr lang="en-US" altLang="zh-CN" sz="1400">
              <a:latin typeface="Times New Roman" panose="02020603050405020304" pitchFamily="18" charset="0"/>
            </a:endParaRPr>
          </a:p>
        </p:txBody>
      </p:sp>
      <p:graphicFrame>
        <p:nvGraphicFramePr>
          <p:cNvPr id="8" name="Group 4"/>
          <p:cNvGraphicFramePr>
            <a:graphicFrameLocks noGrp="1"/>
          </p:cNvGraphicFramePr>
          <p:nvPr>
            <p:extLst>
              <p:ext uri="{D42A27DB-BD31-4B8C-83A1-F6EECF244321}">
                <p14:modId xmlns:p14="http://schemas.microsoft.com/office/powerpoint/2010/main" val="1389942531"/>
              </p:ext>
            </p:extLst>
          </p:nvPr>
        </p:nvGraphicFramePr>
        <p:xfrm>
          <a:off x="754062" y="4470400"/>
          <a:ext cx="7127875" cy="1473200"/>
        </p:xfrm>
        <a:graphic>
          <a:graphicData uri="http://schemas.openxmlformats.org/drawingml/2006/table">
            <a:tbl>
              <a:tblPr/>
              <a:tblGrid>
                <a:gridCol w="1439863">
                  <a:extLst>
                    <a:ext uri="{9D8B030D-6E8A-4147-A177-3AD203B41FA5}">
                      <a16:colId xmlns:a16="http://schemas.microsoft.com/office/drawing/2014/main" val="20000"/>
                    </a:ext>
                  </a:extLst>
                </a:gridCol>
                <a:gridCol w="687387">
                  <a:extLst>
                    <a:ext uri="{9D8B030D-6E8A-4147-A177-3AD203B41FA5}">
                      <a16:colId xmlns:a16="http://schemas.microsoft.com/office/drawing/2014/main" val="20001"/>
                    </a:ext>
                  </a:extLst>
                </a:gridCol>
                <a:gridCol w="833438">
                  <a:extLst>
                    <a:ext uri="{9D8B030D-6E8A-4147-A177-3AD203B41FA5}">
                      <a16:colId xmlns:a16="http://schemas.microsoft.com/office/drawing/2014/main" val="20002"/>
                    </a:ext>
                  </a:extLst>
                </a:gridCol>
                <a:gridCol w="833437">
                  <a:extLst>
                    <a:ext uri="{9D8B030D-6E8A-4147-A177-3AD203B41FA5}">
                      <a16:colId xmlns:a16="http://schemas.microsoft.com/office/drawing/2014/main" val="20003"/>
                    </a:ext>
                  </a:extLst>
                </a:gridCol>
                <a:gridCol w="835025">
                  <a:extLst>
                    <a:ext uri="{9D8B030D-6E8A-4147-A177-3AD203B41FA5}">
                      <a16:colId xmlns:a16="http://schemas.microsoft.com/office/drawing/2014/main" val="20004"/>
                    </a:ext>
                  </a:extLst>
                </a:gridCol>
                <a:gridCol w="830263">
                  <a:extLst>
                    <a:ext uri="{9D8B030D-6E8A-4147-A177-3AD203B41FA5}">
                      <a16:colId xmlns:a16="http://schemas.microsoft.com/office/drawing/2014/main" val="20005"/>
                    </a:ext>
                  </a:extLst>
                </a:gridCol>
                <a:gridCol w="833437">
                  <a:extLst>
                    <a:ext uri="{9D8B030D-6E8A-4147-A177-3AD203B41FA5}">
                      <a16:colId xmlns:a16="http://schemas.microsoft.com/office/drawing/2014/main" val="20006"/>
                    </a:ext>
                  </a:extLst>
                </a:gridCol>
                <a:gridCol w="835025">
                  <a:extLst>
                    <a:ext uri="{9D8B030D-6E8A-4147-A177-3AD203B41FA5}">
                      <a16:colId xmlns:a16="http://schemas.microsoft.com/office/drawing/2014/main" val="20007"/>
                    </a:ext>
                  </a:extLst>
                </a:gridCol>
              </a:tblGrid>
              <a:tr h="457200">
                <a:tc>
                  <a:txBody>
                    <a:bodyPr/>
                    <a:lstStyle/>
                    <a:p>
                      <a:pPr marL="0" marR="0" lvl="0" indent="0" algn="just"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月份</a:t>
                      </a:r>
                      <a:r>
                        <a:rPr kumimoji="0" lang="en-US" sz="2000" b="1"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endParaRPr kumimoji="0" lang="en-US" sz="2000" b="1" i="1"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6</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0"/>
                  </a:ext>
                </a:extLst>
              </a:tr>
              <a:tr h="508000">
                <a:tc>
                  <a:txBody>
                    <a:bodyPr/>
                    <a:lstStyle/>
                    <a:p>
                      <a:pPr marL="0" marR="0" lvl="0" indent="0" algn="just"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需求量</a:t>
                      </a:r>
                      <a:r>
                        <a:rPr kumimoji="0" lang="en-US" sz="20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en-US" sz="2000" b="1" i="1" u="none" strike="noStrike" cap="none" normalizeH="0" baseline="-25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endParaRPr kumimoji="0" lang="en-US" sz="2000" b="1" i="1" u="none" strike="noStrike" cap="none" normalizeH="0" baseline="-2500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8</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7</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sz="2000" b="1" i="0" u="none" strike="noStrike" cap="none" normalizeH="0" baseline="0" dirty="0">
                        <a:ln>
                          <a:noFill/>
                        </a:ln>
                        <a:solidFill>
                          <a:srgbClr val="FF0000"/>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1"/>
                  </a:ext>
                </a:extLst>
              </a:tr>
              <a:tr h="508000">
                <a:tc>
                  <a:txBody>
                    <a:bodyPr/>
                    <a:lstStyle/>
                    <a:p>
                      <a:pPr marL="0" marR="0" lvl="0" indent="0" algn="just"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单位工时</a:t>
                      </a:r>
                      <a:r>
                        <a:rPr kumimoji="0" lang="en-US" sz="20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a:t>
                      </a:r>
                      <a:r>
                        <a:rPr kumimoji="0" lang="en-US" sz="2000" b="1" i="1" u="none" strike="noStrike" cap="none" normalizeH="0" baseline="-25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endParaRPr kumimoji="0" lang="en-US" sz="2000" b="1" i="1" u="none" strike="noStrike" cap="none" normalizeH="0" baseline="-2500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11</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18</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13</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17</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10</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zh-CN"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2"/>
                  </a:ext>
                </a:extLst>
              </a:tr>
            </a:tbl>
          </a:graphicData>
        </a:graphic>
      </p:graphicFrame>
      <p:cxnSp>
        <p:nvCxnSpPr>
          <p:cNvPr id="3" name="直接箭头连接符 2"/>
          <p:cNvCxnSpPr>
            <a:cxnSpLocks noChangeShapeType="1"/>
          </p:cNvCxnSpPr>
          <p:nvPr/>
        </p:nvCxnSpPr>
        <p:spPr bwMode="auto">
          <a:xfrm>
            <a:off x="5291137" y="3894138"/>
            <a:ext cx="1943100" cy="433387"/>
          </a:xfrm>
          <a:prstGeom prst="straightConnector1">
            <a:avLst/>
          </a:prstGeom>
          <a:noFill/>
          <a:ln w="9525" algn="ctr">
            <a:solidFill>
              <a:schemeClr val="tx1"/>
            </a:solidFill>
            <a:rou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0" name="对象 1"/>
          <p:cNvGraphicFramePr>
            <a:graphicFrameLocks noChangeAspect="1"/>
          </p:cNvGraphicFramePr>
          <p:nvPr>
            <p:extLst>
              <p:ext uri="{D42A27DB-BD31-4B8C-83A1-F6EECF244321}">
                <p14:modId xmlns:p14="http://schemas.microsoft.com/office/powerpoint/2010/main" val="3369166051"/>
              </p:ext>
            </p:extLst>
          </p:nvPr>
        </p:nvGraphicFramePr>
        <p:xfrm>
          <a:off x="4964113" y="221915"/>
          <a:ext cx="3983038" cy="435151"/>
        </p:xfrm>
        <a:graphic>
          <a:graphicData uri="http://schemas.openxmlformats.org/presentationml/2006/ole">
            <mc:AlternateContent xmlns:mc="http://schemas.openxmlformats.org/markup-compatibility/2006">
              <mc:Choice xmlns:v="urn:schemas-microsoft-com:vml" Requires="v">
                <p:oleObj name="Equation" r:id="rId5" imgW="2031840" imgH="228600" progId="Equation.DSMT4">
                  <p:embed/>
                </p:oleObj>
              </mc:Choice>
              <mc:Fallback>
                <p:oleObj name="Equation" r:id="rId5" imgW="2031840" imgH="228600" progId="Equation.DSMT4">
                  <p:embed/>
                  <p:pic>
                    <p:nvPicPr>
                      <p:cNvPr id="0" name="图片 3"/>
                      <p:cNvPicPr>
                        <a:picLocks noChangeAspect="1" noChangeArrowheads="1"/>
                      </p:cNvPicPr>
                      <p:nvPr/>
                    </p:nvPicPr>
                    <p:blipFill>
                      <a:blip r:embed="rId6">
                        <a:lum bright="-40000" contrast="-40000"/>
                      </a:blip>
                      <a:srcRect/>
                      <a:stretch>
                        <a:fillRect/>
                      </a:stretch>
                    </p:blipFill>
                    <p:spPr bwMode="auto">
                      <a:xfrm>
                        <a:off x="4964113" y="221915"/>
                        <a:ext cx="3983038" cy="435151"/>
                      </a:xfrm>
                      <a:prstGeom prst="rect">
                        <a:avLst/>
                      </a:prstGeom>
                      <a:solidFill>
                        <a:schemeClr val="bg1">
                          <a:lumMod val="85000"/>
                        </a:schemeClr>
                      </a:solidFill>
                      <a:ln>
                        <a:noFill/>
                      </a:ln>
                    </p:spPr>
                  </p:pic>
                </p:oleObj>
              </mc:Fallback>
            </mc:AlternateContent>
          </a:graphicData>
        </a:graphic>
      </p:graphicFrame>
      <p:sp>
        <p:nvSpPr>
          <p:cNvPr id="115758" name="Rectangle 2"/>
          <p:cNvSpPr txBox="1">
            <a:spLocks noChangeArrowheads="1"/>
          </p:cNvSpPr>
          <p:nvPr>
            <p:custDataLst>
              <p:tags r:id="rId1"/>
            </p:custDataLst>
          </p:nvPr>
        </p:nvSpPr>
        <p:spPr bwMode="auto">
          <a:xfrm>
            <a:off x="685800" y="836930"/>
            <a:ext cx="4362450" cy="610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3600" u="sng" dirty="0">
                <a:solidFill>
                  <a:schemeClr val="hlink"/>
                </a:solidFill>
                <a:latin typeface="Tahoma" panose="020B0604030504040204" pitchFamily="34" charset="0"/>
                <a:ea typeface="黑体" panose="02010609060101010101" pitchFamily="49" charset="-122"/>
              </a:rPr>
              <a:t>生产计划问题</a:t>
            </a:r>
            <a:r>
              <a:rPr lang="en-US" altLang="zh-CN" sz="3600" u="sng" dirty="0">
                <a:solidFill>
                  <a:schemeClr val="hlink"/>
                </a:solidFill>
                <a:latin typeface="Tahoma" panose="020B0604030504040204" pitchFamily="34" charset="0"/>
                <a:ea typeface="黑体" panose="02010609060101010101" pitchFamily="49" charset="-122"/>
              </a:rPr>
              <a:t>--</a:t>
            </a:r>
            <a:r>
              <a:rPr lang="zh-CN" altLang="en-US" sz="2800" u="sng" dirty="0">
                <a:solidFill>
                  <a:schemeClr val="hlink"/>
                </a:solidFill>
                <a:latin typeface="Tahoma" panose="020B0604030504040204" pitchFamily="34" charset="0"/>
                <a:ea typeface="黑体" panose="02010609060101010101" pitchFamily="49" charset="-122"/>
              </a:rPr>
              <a:t>算例</a:t>
            </a:r>
            <a:r>
              <a:rPr lang="en-US" altLang="zh-CN" sz="2800" u="sng" dirty="0">
                <a:solidFill>
                  <a:schemeClr val="hlink"/>
                </a:solidFill>
                <a:latin typeface="Tahoma" panose="020B0604030504040204" pitchFamily="34" charset="0"/>
                <a:ea typeface="黑体" panose="02010609060101010101" pitchFamily="49" charset="-122"/>
              </a:rPr>
              <a:t>5</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0-#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0835" name="Object 3"/>
          <p:cNvGraphicFramePr>
            <a:graphicFrameLocks noChangeAspect="1"/>
          </p:cNvGraphicFramePr>
          <p:nvPr/>
        </p:nvGraphicFramePr>
        <p:xfrm>
          <a:off x="4803775" y="1612900"/>
          <a:ext cx="2665412" cy="631825"/>
        </p:xfrm>
        <a:graphic>
          <a:graphicData uri="http://schemas.openxmlformats.org/presentationml/2006/ole">
            <mc:AlternateContent xmlns:mc="http://schemas.openxmlformats.org/markup-compatibility/2006">
              <mc:Choice xmlns:v="urn:schemas-microsoft-com:vml" Requires="v">
                <p:oleObj r:id="rId3" imgW="965835" imgH="228600" progId="">
                  <p:embed/>
                </p:oleObj>
              </mc:Choice>
              <mc:Fallback>
                <p:oleObj r:id="rId3" imgW="965835" imgH="228600" progId="">
                  <p:embed/>
                  <p:pic>
                    <p:nvPicPr>
                      <p:cNvPr id="0" name="Object 3"/>
                      <p:cNvPicPr>
                        <a:picLocks noChangeAspect="1" noChangeArrowheads="1"/>
                      </p:cNvPicPr>
                      <p:nvPr/>
                    </p:nvPicPr>
                    <p:blipFill>
                      <a:blip r:embed="rId4">
                        <a:lum bright="-40000" contrast="-40000"/>
                        <a:extLst>
                          <a:ext uri="{28A0092B-C50C-407E-A947-70E740481C1C}">
                            <a14:useLocalDpi xmlns:a14="http://schemas.microsoft.com/office/drawing/2010/main" val="0"/>
                          </a:ext>
                        </a:extLst>
                      </a:blip>
                      <a:srcRect/>
                      <a:stretch>
                        <a:fillRect/>
                      </a:stretch>
                    </p:blipFill>
                    <p:spPr bwMode="auto">
                      <a:xfrm>
                        <a:off x="4803775" y="1612900"/>
                        <a:ext cx="2665412"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0836" name="Object 4"/>
          <p:cNvGraphicFramePr>
            <a:graphicFrameLocks noChangeAspect="1"/>
          </p:cNvGraphicFramePr>
          <p:nvPr>
            <p:extLst>
              <p:ext uri="{D42A27DB-BD31-4B8C-83A1-F6EECF244321}">
                <p14:modId xmlns:p14="http://schemas.microsoft.com/office/powerpoint/2010/main" val="1070716316"/>
              </p:ext>
            </p:extLst>
          </p:nvPr>
        </p:nvGraphicFramePr>
        <p:xfrm>
          <a:off x="791135" y="2288663"/>
          <a:ext cx="5546725" cy="528638"/>
        </p:xfrm>
        <a:graphic>
          <a:graphicData uri="http://schemas.openxmlformats.org/presentationml/2006/ole">
            <mc:AlternateContent xmlns:mc="http://schemas.openxmlformats.org/markup-compatibility/2006">
              <mc:Choice xmlns:v="urn:schemas-microsoft-com:vml" Requires="v">
                <p:oleObj name="Equation" r:id="rId5" imgW="2400120" imgH="228600" progId="Equation.DSMT4">
                  <p:embed/>
                </p:oleObj>
              </mc:Choice>
              <mc:Fallback>
                <p:oleObj name="Equation" r:id="rId5" imgW="2400120" imgH="228600" progId="Equation.DSMT4">
                  <p:embed/>
                  <p:pic>
                    <p:nvPicPr>
                      <p:cNvPr id="0" name="Object 4"/>
                      <p:cNvPicPr>
                        <a:picLocks noChangeAspect="1" noChangeArrowheads="1"/>
                      </p:cNvPicPr>
                      <p:nvPr/>
                    </p:nvPicPr>
                    <p:blipFill>
                      <a:blip r:embed="rId6">
                        <a:lum bright="-40000" contrast="-40000"/>
                      </a:blip>
                      <a:srcRect/>
                      <a:stretch>
                        <a:fillRect/>
                      </a:stretch>
                    </p:blipFill>
                    <p:spPr bwMode="auto">
                      <a:xfrm>
                        <a:off x="791135" y="2288663"/>
                        <a:ext cx="55467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0837" name="Object 5"/>
          <p:cNvGraphicFramePr>
            <a:graphicFrameLocks noChangeAspect="1"/>
          </p:cNvGraphicFramePr>
          <p:nvPr>
            <p:extLst>
              <p:ext uri="{D42A27DB-BD31-4B8C-83A1-F6EECF244321}">
                <p14:modId xmlns:p14="http://schemas.microsoft.com/office/powerpoint/2010/main" val="3983959795"/>
              </p:ext>
            </p:extLst>
          </p:nvPr>
        </p:nvGraphicFramePr>
        <p:xfrm>
          <a:off x="1524001" y="3124201"/>
          <a:ext cx="6019799" cy="635956"/>
        </p:xfrm>
        <a:graphic>
          <a:graphicData uri="http://schemas.openxmlformats.org/presentationml/2006/ole">
            <mc:AlternateContent xmlns:mc="http://schemas.openxmlformats.org/markup-compatibility/2006">
              <mc:Choice xmlns:v="urn:schemas-microsoft-com:vml" Requires="v">
                <p:oleObj name="Equation" r:id="rId7" imgW="2794000" imgH="292100" progId="Equation.DSMT4">
                  <p:embed/>
                </p:oleObj>
              </mc:Choice>
              <mc:Fallback>
                <p:oleObj name="Equation" r:id="rId7" imgW="2794000" imgH="292100" progId="Equation.DSMT4">
                  <p:embed/>
                  <p:pic>
                    <p:nvPicPr>
                      <p:cNvPr id="0" name="Object 5"/>
                      <p:cNvPicPr>
                        <a:picLocks noChangeAspect="1" noChangeArrowheads="1"/>
                      </p:cNvPicPr>
                      <p:nvPr/>
                    </p:nvPicPr>
                    <p:blipFill>
                      <a:blip r:embed="rId8">
                        <a:lum bright="-40000" contrast="-40000"/>
                        <a:extLst>
                          <a:ext uri="{28A0092B-C50C-407E-A947-70E740481C1C}">
                            <a14:useLocalDpi xmlns:a14="http://schemas.microsoft.com/office/drawing/2010/main" val="0"/>
                          </a:ext>
                        </a:extLst>
                      </a:blip>
                      <a:srcRect/>
                      <a:stretch>
                        <a:fillRect/>
                      </a:stretch>
                    </p:blipFill>
                    <p:spPr bwMode="auto">
                      <a:xfrm>
                        <a:off x="1524001" y="3124201"/>
                        <a:ext cx="6019799" cy="635956"/>
                      </a:xfrm>
                      <a:prstGeom prst="rect">
                        <a:avLst/>
                      </a:prstGeom>
                      <a:noFill/>
                      <a:ln>
                        <a:noFill/>
                      </a:ln>
                    </p:spPr>
                  </p:pic>
                </p:oleObj>
              </mc:Fallback>
            </mc:AlternateContent>
          </a:graphicData>
        </a:graphic>
      </p:graphicFrame>
      <p:graphicFrame>
        <p:nvGraphicFramePr>
          <p:cNvPr id="120838" name="Object 6"/>
          <p:cNvGraphicFramePr>
            <a:graphicFrameLocks noChangeAspect="1"/>
          </p:cNvGraphicFramePr>
          <p:nvPr>
            <p:extLst>
              <p:ext uri="{D42A27DB-BD31-4B8C-83A1-F6EECF244321}">
                <p14:modId xmlns:p14="http://schemas.microsoft.com/office/powerpoint/2010/main" val="2947941729"/>
              </p:ext>
            </p:extLst>
          </p:nvPr>
        </p:nvGraphicFramePr>
        <p:xfrm>
          <a:off x="3276600" y="3975100"/>
          <a:ext cx="1600200" cy="546625"/>
        </p:xfrm>
        <a:graphic>
          <a:graphicData uri="http://schemas.openxmlformats.org/presentationml/2006/ole">
            <mc:AlternateContent xmlns:mc="http://schemas.openxmlformats.org/markup-compatibility/2006">
              <mc:Choice xmlns:v="urn:schemas-microsoft-com:vml" Requires="v">
                <p:oleObj r:id="rId9" imgW="699135" imgH="241300" progId="">
                  <p:embed/>
                </p:oleObj>
              </mc:Choice>
              <mc:Fallback>
                <p:oleObj r:id="rId9" imgW="699135" imgH="241300" progId="">
                  <p:embed/>
                  <p:pic>
                    <p:nvPicPr>
                      <p:cNvPr id="0" name="Object 6"/>
                      <p:cNvPicPr>
                        <a:picLocks noChangeAspect="1" noChangeArrowheads="1"/>
                      </p:cNvPicPr>
                      <p:nvPr/>
                    </p:nvPicPr>
                    <p:blipFill>
                      <a:blip r:embed="rId10">
                        <a:lum bright="-40000" contrast="-40000"/>
                        <a:extLst>
                          <a:ext uri="{28A0092B-C50C-407E-A947-70E740481C1C}">
                            <a14:useLocalDpi xmlns:a14="http://schemas.microsoft.com/office/drawing/2010/main" val="0"/>
                          </a:ext>
                        </a:extLst>
                      </a:blip>
                      <a:srcRect/>
                      <a:stretch>
                        <a:fillRect/>
                      </a:stretch>
                    </p:blipFill>
                    <p:spPr bwMode="auto">
                      <a:xfrm>
                        <a:off x="3276600" y="3975100"/>
                        <a:ext cx="1600200" cy="546625"/>
                      </a:xfrm>
                      <a:prstGeom prst="rect">
                        <a:avLst/>
                      </a:prstGeom>
                      <a:noFill/>
                      <a:ln>
                        <a:noFill/>
                      </a:ln>
                    </p:spPr>
                  </p:pic>
                </p:oleObj>
              </mc:Fallback>
            </mc:AlternateContent>
          </a:graphicData>
        </a:graphic>
      </p:graphicFrame>
      <p:sp>
        <p:nvSpPr>
          <p:cNvPr id="120839" name="Rectangle 9"/>
          <p:cNvSpPr>
            <a:spLocks noChangeArrowheads="1"/>
          </p:cNvSpPr>
          <p:nvPr/>
        </p:nvSpPr>
        <p:spPr bwMode="auto">
          <a:xfrm>
            <a:off x="754380" y="1564163"/>
            <a:ext cx="402844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zh-CN" altLang="en-US" sz="2400" b="1" dirty="0">
                <a:latin typeface="Times New Roman" panose="02020603050405020304" pitchFamily="18" charset="0"/>
                <a:cs typeface="Times New Roman" panose="02020603050405020304" pitchFamily="18" charset="0"/>
              </a:rPr>
              <a:t>当</a:t>
            </a:r>
            <a:r>
              <a:rPr lang="en-US" altLang="zh-CN" sz="2400" b="1" i="1" dirty="0">
                <a:latin typeface="Times New Roman" panose="02020603050405020304" pitchFamily="18" charset="0"/>
                <a:cs typeface="Times New Roman" panose="02020603050405020304" pitchFamily="18" charset="0"/>
              </a:rPr>
              <a:t>k</a:t>
            </a:r>
            <a:r>
              <a:rPr lang="en-US" altLang="zh-CN" sz="2400" b="1" dirty="0">
                <a:latin typeface="Times New Roman" panose="02020603050405020304" pitchFamily="18" charset="0"/>
                <a:cs typeface="Times New Roman" panose="02020603050405020304" pitchFamily="18" charset="0"/>
              </a:rPr>
              <a:t>=5</a:t>
            </a:r>
            <a:r>
              <a:rPr lang="zh-CN" altLang="en-US" sz="2400" b="1" dirty="0">
                <a:latin typeface="Times New Roman" panose="02020603050405020304" pitchFamily="18" charset="0"/>
                <a:cs typeface="Times New Roman" panose="02020603050405020304" pitchFamily="18" charset="0"/>
              </a:rPr>
              <a:t>时，由状态转移方程：</a:t>
            </a:r>
          </a:p>
        </p:txBody>
      </p:sp>
      <p:sp>
        <p:nvSpPr>
          <p:cNvPr id="120840" name="Rectangle 10"/>
          <p:cNvSpPr>
            <a:spLocks noChangeArrowheads="1"/>
          </p:cNvSpPr>
          <p:nvPr/>
        </p:nvSpPr>
        <p:spPr bwMode="auto">
          <a:xfrm>
            <a:off x="949325" y="3854450"/>
            <a:ext cx="1422400"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zh-CN" altLang="en-US" sz="2400" b="1">
                <a:cs typeface="Times New Roman" panose="02020603050405020304" pitchFamily="18" charset="0"/>
              </a:rPr>
              <a:t>及最优解</a:t>
            </a:r>
          </a:p>
        </p:txBody>
      </p:sp>
      <p:sp>
        <p:nvSpPr>
          <p:cNvPr id="120842"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745CE674-86FB-40E0-9043-044461A5948C}" type="slidenum">
              <a:rPr lang="en-US" altLang="zh-CN" sz="1400">
                <a:latin typeface="Times New Roman" panose="02020603050405020304" pitchFamily="18" charset="0"/>
              </a:rPr>
              <a:t>35</a:t>
            </a:fld>
            <a:endParaRPr lang="en-US" altLang="zh-CN" sz="1400">
              <a:latin typeface="Times New Roman" panose="02020603050405020304" pitchFamily="18" charset="0"/>
            </a:endParaRPr>
          </a:p>
        </p:txBody>
      </p:sp>
      <p:graphicFrame>
        <p:nvGraphicFramePr>
          <p:cNvPr id="13" name="Group 4"/>
          <p:cNvGraphicFramePr>
            <a:graphicFrameLocks noGrp="1"/>
          </p:cNvGraphicFramePr>
          <p:nvPr>
            <p:extLst>
              <p:ext uri="{D42A27DB-BD31-4B8C-83A1-F6EECF244321}">
                <p14:modId xmlns:p14="http://schemas.microsoft.com/office/powerpoint/2010/main" val="3706301382"/>
              </p:ext>
            </p:extLst>
          </p:nvPr>
        </p:nvGraphicFramePr>
        <p:xfrm>
          <a:off x="971550" y="4622800"/>
          <a:ext cx="7127875" cy="1473200"/>
        </p:xfrm>
        <a:graphic>
          <a:graphicData uri="http://schemas.openxmlformats.org/drawingml/2006/table">
            <a:tbl>
              <a:tblPr/>
              <a:tblGrid>
                <a:gridCol w="1439863">
                  <a:extLst>
                    <a:ext uri="{9D8B030D-6E8A-4147-A177-3AD203B41FA5}">
                      <a16:colId xmlns:a16="http://schemas.microsoft.com/office/drawing/2014/main" val="20000"/>
                    </a:ext>
                  </a:extLst>
                </a:gridCol>
                <a:gridCol w="687387">
                  <a:extLst>
                    <a:ext uri="{9D8B030D-6E8A-4147-A177-3AD203B41FA5}">
                      <a16:colId xmlns:a16="http://schemas.microsoft.com/office/drawing/2014/main" val="20001"/>
                    </a:ext>
                  </a:extLst>
                </a:gridCol>
                <a:gridCol w="833438">
                  <a:extLst>
                    <a:ext uri="{9D8B030D-6E8A-4147-A177-3AD203B41FA5}">
                      <a16:colId xmlns:a16="http://schemas.microsoft.com/office/drawing/2014/main" val="20002"/>
                    </a:ext>
                  </a:extLst>
                </a:gridCol>
                <a:gridCol w="833437">
                  <a:extLst>
                    <a:ext uri="{9D8B030D-6E8A-4147-A177-3AD203B41FA5}">
                      <a16:colId xmlns:a16="http://schemas.microsoft.com/office/drawing/2014/main" val="20003"/>
                    </a:ext>
                  </a:extLst>
                </a:gridCol>
                <a:gridCol w="835025">
                  <a:extLst>
                    <a:ext uri="{9D8B030D-6E8A-4147-A177-3AD203B41FA5}">
                      <a16:colId xmlns:a16="http://schemas.microsoft.com/office/drawing/2014/main" val="20004"/>
                    </a:ext>
                  </a:extLst>
                </a:gridCol>
                <a:gridCol w="830263">
                  <a:extLst>
                    <a:ext uri="{9D8B030D-6E8A-4147-A177-3AD203B41FA5}">
                      <a16:colId xmlns:a16="http://schemas.microsoft.com/office/drawing/2014/main" val="20005"/>
                    </a:ext>
                  </a:extLst>
                </a:gridCol>
                <a:gridCol w="833437">
                  <a:extLst>
                    <a:ext uri="{9D8B030D-6E8A-4147-A177-3AD203B41FA5}">
                      <a16:colId xmlns:a16="http://schemas.microsoft.com/office/drawing/2014/main" val="20006"/>
                    </a:ext>
                  </a:extLst>
                </a:gridCol>
                <a:gridCol w="835025">
                  <a:extLst>
                    <a:ext uri="{9D8B030D-6E8A-4147-A177-3AD203B41FA5}">
                      <a16:colId xmlns:a16="http://schemas.microsoft.com/office/drawing/2014/main" val="20007"/>
                    </a:ext>
                  </a:extLst>
                </a:gridCol>
              </a:tblGrid>
              <a:tr h="457200">
                <a:tc>
                  <a:txBody>
                    <a:bodyPr/>
                    <a:lstStyle/>
                    <a:p>
                      <a:pPr marL="0" marR="0" lvl="0" indent="0" algn="just"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月份</a:t>
                      </a:r>
                      <a:r>
                        <a:rPr kumimoji="0" lang="en-US" sz="2000" b="1"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endParaRPr kumimoji="0" lang="en-US" sz="2000" b="1" i="1"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6</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0"/>
                  </a:ext>
                </a:extLst>
              </a:tr>
              <a:tr h="508000">
                <a:tc>
                  <a:txBody>
                    <a:bodyPr/>
                    <a:lstStyle/>
                    <a:p>
                      <a:pPr marL="0" marR="0" lvl="0" indent="0" algn="just"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需求量</a:t>
                      </a:r>
                      <a:r>
                        <a:rPr kumimoji="0" lang="en-US" sz="20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en-US" sz="2000" b="1" i="1" u="none" strike="noStrike" cap="none" normalizeH="0" baseline="-25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endParaRPr kumimoji="0" lang="en-US" sz="2000" b="1" i="1" u="none" strike="noStrike" cap="none" normalizeH="0" baseline="-2500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8</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7</a:t>
                      </a:r>
                      <a:endParaRPr kumimoji="0" lang="en-US" sz="2000" b="1" i="0" u="none" strike="noStrike" cap="none" normalizeH="0" baseline="0" dirty="0">
                        <a:ln>
                          <a:noFill/>
                        </a:ln>
                        <a:solidFill>
                          <a:srgbClr val="FF0000"/>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1"/>
                  </a:ext>
                </a:extLst>
              </a:tr>
              <a:tr h="508000">
                <a:tc>
                  <a:txBody>
                    <a:bodyPr/>
                    <a:lstStyle/>
                    <a:p>
                      <a:pPr marL="0" marR="0" lvl="0" indent="0" algn="just"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单位工时</a:t>
                      </a:r>
                      <a:r>
                        <a:rPr kumimoji="0" lang="en-US" sz="20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a:t>
                      </a:r>
                      <a:r>
                        <a:rPr kumimoji="0" lang="en-US" sz="2000" b="1" i="1" u="none" strike="noStrike" cap="none" normalizeH="0" baseline="-25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endParaRPr kumimoji="0" lang="en-US" sz="2000" b="1" i="1" u="none" strike="noStrike" cap="none" normalizeH="0" baseline="-2500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11</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18</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13</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17</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10</a:t>
                      </a:r>
                      <a:endParaRPr kumimoji="0" lang="en-US" sz="2000" b="1" i="0" u="none" strike="noStrike" cap="none" normalizeH="0" baseline="0" dirty="0">
                        <a:ln>
                          <a:noFill/>
                        </a:ln>
                        <a:solidFill>
                          <a:srgbClr val="FF0000"/>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zh-CN"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2"/>
                  </a:ext>
                </a:extLst>
              </a:tr>
            </a:tbl>
          </a:graphicData>
        </a:graphic>
      </p:graphicFrame>
      <p:pic>
        <p:nvPicPr>
          <p:cNvPr id="6" name="图片 5"/>
          <p:cNvPicPr>
            <a:picLocks noChangeAspect="1"/>
          </p:cNvPicPr>
          <p:nvPr/>
        </p:nvPicPr>
        <p:blipFill>
          <a:blip r:embed="rId11"/>
          <a:stretch>
            <a:fillRect/>
          </a:stretch>
        </p:blipFill>
        <p:spPr>
          <a:xfrm>
            <a:off x="4979194" y="914400"/>
            <a:ext cx="4088606" cy="560456"/>
          </a:xfrm>
          <a:prstGeom prst="rect">
            <a:avLst/>
          </a:prstGeom>
        </p:spPr>
      </p:pic>
      <p:sp>
        <p:nvSpPr>
          <p:cNvPr id="2" name="Rectangle 2">
            <a:extLst>
              <a:ext uri="{FF2B5EF4-FFF2-40B4-BE49-F238E27FC236}">
                <a16:creationId xmlns:a16="http://schemas.microsoft.com/office/drawing/2014/main" id="{72385010-4A06-9082-81CF-F404C8E683C5}"/>
              </a:ext>
            </a:extLst>
          </p:cNvPr>
          <p:cNvSpPr txBox="1">
            <a:spLocks noChangeArrowheads="1"/>
          </p:cNvSpPr>
          <p:nvPr>
            <p:custDataLst>
              <p:tags r:id="rId1"/>
            </p:custDataLst>
          </p:nvPr>
        </p:nvSpPr>
        <p:spPr bwMode="auto">
          <a:xfrm>
            <a:off x="587375" y="881649"/>
            <a:ext cx="4362450" cy="610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3600" u="sng" dirty="0">
                <a:solidFill>
                  <a:schemeClr val="hlink"/>
                </a:solidFill>
                <a:latin typeface="Tahoma" panose="020B0604030504040204" pitchFamily="34" charset="0"/>
                <a:ea typeface="黑体" panose="02010609060101010101" pitchFamily="49" charset="-122"/>
              </a:rPr>
              <a:t>生产计划问题</a:t>
            </a:r>
            <a:r>
              <a:rPr lang="en-US" altLang="zh-CN" sz="3600" u="sng" dirty="0">
                <a:solidFill>
                  <a:schemeClr val="hlink"/>
                </a:solidFill>
                <a:latin typeface="Tahoma" panose="020B0604030504040204" pitchFamily="34" charset="0"/>
                <a:ea typeface="黑体" panose="02010609060101010101" pitchFamily="49" charset="-122"/>
              </a:rPr>
              <a:t>--</a:t>
            </a:r>
            <a:r>
              <a:rPr lang="zh-CN" altLang="en-US" sz="2800" u="sng" dirty="0">
                <a:solidFill>
                  <a:schemeClr val="hlink"/>
                </a:solidFill>
                <a:latin typeface="Tahoma" panose="020B0604030504040204" pitchFamily="34" charset="0"/>
                <a:ea typeface="黑体" panose="02010609060101010101" pitchFamily="49" charset="-122"/>
              </a:rPr>
              <a:t>算例</a:t>
            </a:r>
            <a:r>
              <a:rPr lang="en-US" altLang="zh-CN" sz="2800" u="sng" dirty="0">
                <a:solidFill>
                  <a:schemeClr val="hlink"/>
                </a:solidFill>
                <a:latin typeface="Tahoma" panose="020B0604030504040204" pitchFamily="34" charset="0"/>
                <a:ea typeface="黑体" panose="02010609060101010101" pitchFamily="49" charset="-122"/>
              </a:rPr>
              <a:t>5</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1858" name="Object 2"/>
          <p:cNvGraphicFramePr>
            <a:graphicFrameLocks noChangeAspect="1"/>
          </p:cNvGraphicFramePr>
          <p:nvPr/>
        </p:nvGraphicFramePr>
        <p:xfrm>
          <a:off x="1331912" y="2243137"/>
          <a:ext cx="5256213" cy="1947863"/>
        </p:xfrm>
        <a:graphic>
          <a:graphicData uri="http://schemas.openxmlformats.org/presentationml/2006/ole">
            <mc:AlternateContent xmlns:mc="http://schemas.openxmlformats.org/markup-compatibility/2006">
              <mc:Choice xmlns:v="urn:schemas-microsoft-com:vml" Requires="v">
                <p:oleObj name="Equation" r:id="rId3" imgW="2540000" imgH="939800" progId="Equation.DSMT4">
                  <p:embed/>
                </p:oleObj>
              </mc:Choice>
              <mc:Fallback>
                <p:oleObj name="Equation" r:id="rId3" imgW="2540000" imgH="939800" progId="Equation.DSMT4">
                  <p:embed/>
                  <p:pic>
                    <p:nvPicPr>
                      <p:cNvPr id="0" name="Object 2"/>
                      <p:cNvPicPr>
                        <a:picLocks noChangeAspect="1" noChangeArrowheads="1"/>
                      </p:cNvPicPr>
                      <p:nvPr/>
                    </p:nvPicPr>
                    <p:blipFill>
                      <a:blip r:embed="rId4">
                        <a:lum bright="-40000" contrast="-40000"/>
                        <a:extLst>
                          <a:ext uri="{28A0092B-C50C-407E-A947-70E740481C1C}">
                            <a14:useLocalDpi xmlns:a14="http://schemas.microsoft.com/office/drawing/2010/main" val="0"/>
                          </a:ext>
                        </a:extLst>
                      </a:blip>
                      <a:srcRect/>
                      <a:stretch>
                        <a:fillRect/>
                      </a:stretch>
                    </p:blipFill>
                    <p:spPr bwMode="auto">
                      <a:xfrm>
                        <a:off x="1331912" y="2243137"/>
                        <a:ext cx="5256213" cy="194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1859" name="Rectangle 13"/>
          <p:cNvSpPr>
            <a:spLocks noChangeArrowheads="1"/>
          </p:cNvSpPr>
          <p:nvPr/>
        </p:nvSpPr>
        <p:spPr bwMode="auto">
          <a:xfrm>
            <a:off x="620712" y="1703863"/>
            <a:ext cx="1885950" cy="53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a:latin typeface="Times New Roman" panose="02020603050405020304" pitchFamily="18" charset="0"/>
                <a:cs typeface="Times New Roman" panose="02020603050405020304" pitchFamily="18" charset="0"/>
              </a:rPr>
              <a:t>当</a:t>
            </a:r>
            <a:r>
              <a:rPr lang="en-US" altLang="zh-CN" sz="2400" b="1" i="1">
                <a:latin typeface="Times New Roman" panose="02020603050405020304" pitchFamily="18" charset="0"/>
                <a:cs typeface="Times New Roman" panose="02020603050405020304" pitchFamily="18" charset="0"/>
              </a:rPr>
              <a:t>k</a:t>
            </a:r>
            <a:r>
              <a:rPr lang="en-US" altLang="zh-CN" sz="2400" b="1">
                <a:latin typeface="Times New Roman" panose="02020603050405020304" pitchFamily="18" charset="0"/>
                <a:cs typeface="Times New Roman" panose="02020603050405020304" pitchFamily="18" charset="0"/>
              </a:rPr>
              <a:t>=4</a:t>
            </a:r>
            <a:r>
              <a:rPr lang="zh-CN" altLang="en-US" sz="2400" b="1">
                <a:latin typeface="Times New Roman" panose="02020603050405020304" pitchFamily="18" charset="0"/>
                <a:cs typeface="Times New Roman" panose="02020603050405020304" pitchFamily="18" charset="0"/>
              </a:rPr>
              <a:t>时，有</a:t>
            </a:r>
          </a:p>
        </p:txBody>
      </p:sp>
      <p:sp>
        <p:nvSpPr>
          <p:cNvPr id="121861"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0B5E6D8D-6737-4A3E-81E5-69C5E5B417E3}" type="slidenum">
              <a:rPr lang="en-US" altLang="zh-CN" sz="1400">
                <a:latin typeface="Times New Roman" panose="02020603050405020304" pitchFamily="18" charset="0"/>
              </a:rPr>
              <a:t>36</a:t>
            </a:fld>
            <a:endParaRPr lang="en-US" altLang="zh-CN" sz="1400">
              <a:latin typeface="Times New Roman" panose="02020603050405020304" pitchFamily="18" charset="0"/>
            </a:endParaRPr>
          </a:p>
        </p:txBody>
      </p:sp>
      <p:graphicFrame>
        <p:nvGraphicFramePr>
          <p:cNvPr id="8" name="Group 4"/>
          <p:cNvGraphicFramePr>
            <a:graphicFrameLocks noGrp="1"/>
          </p:cNvGraphicFramePr>
          <p:nvPr>
            <p:extLst>
              <p:ext uri="{D42A27DB-BD31-4B8C-83A1-F6EECF244321}">
                <p14:modId xmlns:p14="http://schemas.microsoft.com/office/powerpoint/2010/main" val="3678816236"/>
              </p:ext>
            </p:extLst>
          </p:nvPr>
        </p:nvGraphicFramePr>
        <p:xfrm>
          <a:off x="990600" y="4495800"/>
          <a:ext cx="7127875" cy="1473200"/>
        </p:xfrm>
        <a:graphic>
          <a:graphicData uri="http://schemas.openxmlformats.org/drawingml/2006/table">
            <a:tbl>
              <a:tblPr/>
              <a:tblGrid>
                <a:gridCol w="1439863">
                  <a:extLst>
                    <a:ext uri="{9D8B030D-6E8A-4147-A177-3AD203B41FA5}">
                      <a16:colId xmlns:a16="http://schemas.microsoft.com/office/drawing/2014/main" val="20000"/>
                    </a:ext>
                  </a:extLst>
                </a:gridCol>
                <a:gridCol w="687387">
                  <a:extLst>
                    <a:ext uri="{9D8B030D-6E8A-4147-A177-3AD203B41FA5}">
                      <a16:colId xmlns:a16="http://schemas.microsoft.com/office/drawing/2014/main" val="20001"/>
                    </a:ext>
                  </a:extLst>
                </a:gridCol>
                <a:gridCol w="833438">
                  <a:extLst>
                    <a:ext uri="{9D8B030D-6E8A-4147-A177-3AD203B41FA5}">
                      <a16:colId xmlns:a16="http://schemas.microsoft.com/office/drawing/2014/main" val="20002"/>
                    </a:ext>
                  </a:extLst>
                </a:gridCol>
                <a:gridCol w="833437">
                  <a:extLst>
                    <a:ext uri="{9D8B030D-6E8A-4147-A177-3AD203B41FA5}">
                      <a16:colId xmlns:a16="http://schemas.microsoft.com/office/drawing/2014/main" val="20003"/>
                    </a:ext>
                  </a:extLst>
                </a:gridCol>
                <a:gridCol w="835025">
                  <a:extLst>
                    <a:ext uri="{9D8B030D-6E8A-4147-A177-3AD203B41FA5}">
                      <a16:colId xmlns:a16="http://schemas.microsoft.com/office/drawing/2014/main" val="20004"/>
                    </a:ext>
                  </a:extLst>
                </a:gridCol>
                <a:gridCol w="830263">
                  <a:extLst>
                    <a:ext uri="{9D8B030D-6E8A-4147-A177-3AD203B41FA5}">
                      <a16:colId xmlns:a16="http://schemas.microsoft.com/office/drawing/2014/main" val="20005"/>
                    </a:ext>
                  </a:extLst>
                </a:gridCol>
                <a:gridCol w="833437">
                  <a:extLst>
                    <a:ext uri="{9D8B030D-6E8A-4147-A177-3AD203B41FA5}">
                      <a16:colId xmlns:a16="http://schemas.microsoft.com/office/drawing/2014/main" val="20006"/>
                    </a:ext>
                  </a:extLst>
                </a:gridCol>
                <a:gridCol w="835025">
                  <a:extLst>
                    <a:ext uri="{9D8B030D-6E8A-4147-A177-3AD203B41FA5}">
                      <a16:colId xmlns:a16="http://schemas.microsoft.com/office/drawing/2014/main" val="20007"/>
                    </a:ext>
                  </a:extLst>
                </a:gridCol>
              </a:tblGrid>
              <a:tr h="457200">
                <a:tc>
                  <a:txBody>
                    <a:bodyPr/>
                    <a:lstStyle/>
                    <a:p>
                      <a:pPr marL="0" marR="0" lvl="0" indent="0" algn="just"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月份</a:t>
                      </a: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6</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0"/>
                  </a:ext>
                </a:extLst>
              </a:tr>
              <a:tr h="508000">
                <a:tc>
                  <a:txBody>
                    <a:bodyPr/>
                    <a:lstStyle/>
                    <a:p>
                      <a:pPr marL="0" marR="0" lvl="0" indent="0" algn="just"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需求量</a:t>
                      </a:r>
                      <a:r>
                        <a:rPr kumimoji="0" lang="en-US" sz="20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en-US" sz="2000" b="1" i="1" u="none" strike="noStrike" cap="none" normalizeH="0" baseline="-25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endParaRPr kumimoji="0" lang="en-US" sz="2000" b="1" i="1" u="none" strike="noStrike" cap="none" normalizeH="0" baseline="-2500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8</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sz="2000" b="1" i="0" u="none" strike="noStrike" cap="none" normalizeH="0" baseline="0" dirty="0">
                        <a:ln>
                          <a:noFill/>
                        </a:ln>
                        <a:solidFill>
                          <a:srgbClr val="FF0000"/>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7</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1"/>
                  </a:ext>
                </a:extLst>
              </a:tr>
              <a:tr h="508000">
                <a:tc>
                  <a:txBody>
                    <a:bodyPr/>
                    <a:lstStyle/>
                    <a:p>
                      <a:pPr marL="0" marR="0" lvl="0" indent="0" algn="just"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单位工时</a:t>
                      </a:r>
                      <a:r>
                        <a:rPr kumimoji="0" lang="en-US" sz="20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a:t>
                      </a:r>
                      <a:r>
                        <a:rPr kumimoji="0" lang="en-US" sz="2000" b="1" i="1" u="none" strike="noStrike" cap="none" normalizeH="0" baseline="-25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endParaRPr kumimoji="0" lang="en-US" sz="2000" b="1" i="1" u="none" strike="noStrike" cap="none" normalizeH="0" baseline="-2500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11</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18</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13</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17</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20</a:t>
                      </a:r>
                      <a:endParaRPr kumimoji="0" lang="en-US" sz="2000" b="1" i="0" u="none" strike="noStrike" cap="none" normalizeH="0" baseline="0" dirty="0">
                        <a:ln>
                          <a:noFill/>
                        </a:ln>
                        <a:solidFill>
                          <a:srgbClr val="FF0000"/>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10</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zh-CN"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2"/>
                  </a:ext>
                </a:extLst>
              </a:tr>
            </a:tbl>
          </a:graphicData>
        </a:graphic>
      </p:graphicFrame>
      <p:graphicFrame>
        <p:nvGraphicFramePr>
          <p:cNvPr id="121903" name="对象 1"/>
          <p:cNvGraphicFramePr>
            <a:graphicFrameLocks noChangeAspect="1"/>
          </p:cNvGraphicFramePr>
          <p:nvPr/>
        </p:nvGraphicFramePr>
        <p:xfrm>
          <a:off x="6102350" y="1547812"/>
          <a:ext cx="2279650" cy="450850"/>
        </p:xfrm>
        <a:graphic>
          <a:graphicData uri="http://schemas.openxmlformats.org/presentationml/2006/ole">
            <mc:AlternateContent xmlns:mc="http://schemas.openxmlformats.org/markup-compatibility/2006">
              <mc:Choice xmlns:v="urn:schemas-microsoft-com:vml" Requires="v">
                <p:oleObj name="Equation" r:id="rId5" imgW="1155700" imgH="228600" progId="Equation.DSMT4">
                  <p:embed/>
                </p:oleObj>
              </mc:Choice>
              <mc:Fallback>
                <p:oleObj name="Equation" r:id="rId5" imgW="1155700" imgH="228600" progId="Equation.DSMT4">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02350" y="1547812"/>
                        <a:ext cx="2279650" cy="450850"/>
                      </a:xfrm>
                      <a:prstGeom prst="rect">
                        <a:avLst/>
                      </a:prstGeom>
                      <a:solidFill>
                        <a:schemeClr val="bg1">
                          <a:lumMod val="85000"/>
                        </a:schemeClr>
                      </a:solidFill>
                      <a:ln>
                        <a:noFill/>
                      </a:ln>
                    </p:spPr>
                  </p:pic>
                </p:oleObj>
              </mc:Fallback>
            </mc:AlternateContent>
          </a:graphicData>
        </a:graphic>
      </p:graphicFrame>
      <p:cxnSp>
        <p:nvCxnSpPr>
          <p:cNvPr id="121904" name="直接箭头连接符 3"/>
          <p:cNvCxnSpPr>
            <a:cxnSpLocks noChangeShapeType="1"/>
          </p:cNvCxnSpPr>
          <p:nvPr/>
        </p:nvCxnSpPr>
        <p:spPr bwMode="auto">
          <a:xfrm flipH="1">
            <a:off x="5724525" y="2063750"/>
            <a:ext cx="358775" cy="287337"/>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1" name="图片 10"/>
          <p:cNvPicPr>
            <a:picLocks noChangeAspect="1"/>
          </p:cNvPicPr>
          <p:nvPr/>
        </p:nvPicPr>
        <p:blipFill>
          <a:blip r:embed="rId7"/>
          <a:stretch>
            <a:fillRect/>
          </a:stretch>
        </p:blipFill>
        <p:spPr>
          <a:xfrm>
            <a:off x="5181600" y="839355"/>
            <a:ext cx="3827855" cy="463982"/>
          </a:xfrm>
          <a:prstGeom prst="rect">
            <a:avLst/>
          </a:prstGeom>
        </p:spPr>
      </p:pic>
      <p:sp>
        <p:nvSpPr>
          <p:cNvPr id="2" name="Rectangle 2">
            <a:extLst>
              <a:ext uri="{FF2B5EF4-FFF2-40B4-BE49-F238E27FC236}">
                <a16:creationId xmlns:a16="http://schemas.microsoft.com/office/drawing/2014/main" id="{4A17C726-F0FC-82AC-5068-9FD8F992AA67}"/>
              </a:ext>
            </a:extLst>
          </p:cNvPr>
          <p:cNvSpPr txBox="1">
            <a:spLocks noChangeArrowheads="1"/>
          </p:cNvSpPr>
          <p:nvPr>
            <p:custDataLst>
              <p:tags r:id="rId1"/>
            </p:custDataLst>
          </p:nvPr>
        </p:nvSpPr>
        <p:spPr bwMode="auto">
          <a:xfrm>
            <a:off x="587375" y="881649"/>
            <a:ext cx="4362450" cy="610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3600" u="sng" dirty="0">
                <a:solidFill>
                  <a:schemeClr val="hlink"/>
                </a:solidFill>
                <a:latin typeface="Tahoma" panose="020B0604030504040204" pitchFamily="34" charset="0"/>
                <a:ea typeface="黑体" panose="02010609060101010101" pitchFamily="49" charset="-122"/>
              </a:rPr>
              <a:t>生产计划问题</a:t>
            </a:r>
            <a:r>
              <a:rPr lang="en-US" altLang="zh-CN" sz="3600" u="sng" dirty="0">
                <a:solidFill>
                  <a:schemeClr val="hlink"/>
                </a:solidFill>
                <a:latin typeface="Tahoma" panose="020B0604030504040204" pitchFamily="34" charset="0"/>
                <a:ea typeface="黑体" panose="02010609060101010101" pitchFamily="49" charset="-122"/>
              </a:rPr>
              <a:t>--</a:t>
            </a:r>
            <a:r>
              <a:rPr lang="zh-CN" altLang="en-US" sz="2800" u="sng" dirty="0">
                <a:solidFill>
                  <a:schemeClr val="hlink"/>
                </a:solidFill>
                <a:latin typeface="Tahoma" panose="020B0604030504040204" pitchFamily="34" charset="0"/>
                <a:ea typeface="黑体" panose="02010609060101010101" pitchFamily="49" charset="-122"/>
              </a:rPr>
              <a:t>算例</a:t>
            </a:r>
            <a:r>
              <a:rPr lang="en-US" altLang="zh-CN" sz="2800" u="sng" dirty="0">
                <a:solidFill>
                  <a:schemeClr val="hlink"/>
                </a:solidFill>
                <a:latin typeface="Tahoma" panose="020B0604030504040204" pitchFamily="34" charset="0"/>
                <a:ea typeface="黑体" panose="02010609060101010101" pitchFamily="49" charset="-122"/>
              </a:rPr>
              <a:t>5</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5"/>
          <p:cNvSpPr>
            <a:spLocks noChangeArrowheads="1"/>
          </p:cNvSpPr>
          <p:nvPr/>
        </p:nvSpPr>
        <p:spPr bwMode="auto">
          <a:xfrm>
            <a:off x="1112838" y="3287713"/>
            <a:ext cx="2611437" cy="5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a:latin typeface="Arial" panose="020B0604020202020204" pitchFamily="34" charset="0"/>
                <a:cs typeface="Times New Roman" panose="02020603050405020304" pitchFamily="18" charset="0"/>
              </a:rPr>
              <a:t>又              ，因而</a:t>
            </a:r>
            <a:endParaRPr lang="zh-CN" altLang="en-US" sz="2400" b="1">
              <a:latin typeface="Arial" panose="020B0604020202020204" pitchFamily="34" charset="0"/>
            </a:endParaRPr>
          </a:p>
        </p:txBody>
      </p:sp>
      <p:graphicFrame>
        <p:nvGraphicFramePr>
          <p:cNvPr id="122883" name="Object 3"/>
          <p:cNvGraphicFramePr>
            <a:graphicFrameLocks noChangeAspect="1"/>
          </p:cNvGraphicFramePr>
          <p:nvPr/>
        </p:nvGraphicFramePr>
        <p:xfrm>
          <a:off x="2119313" y="1897063"/>
          <a:ext cx="3313112" cy="584200"/>
        </p:xfrm>
        <a:graphic>
          <a:graphicData uri="http://schemas.openxmlformats.org/presentationml/2006/ole">
            <mc:AlternateContent xmlns:mc="http://schemas.openxmlformats.org/markup-compatibility/2006">
              <mc:Choice xmlns:v="urn:schemas-microsoft-com:vml" Requires="v">
                <p:oleObj r:id="rId3" imgW="1296035" imgH="228600" progId="Equation.DSMT4">
                  <p:embed/>
                </p:oleObj>
              </mc:Choice>
              <mc:Fallback>
                <p:oleObj r:id="rId3" imgW="1296035" imgH="228600" progId="Equation.DSMT4">
                  <p:embed/>
                  <p:pic>
                    <p:nvPicPr>
                      <p:cNvPr id="0" name="Object 3"/>
                      <p:cNvPicPr>
                        <a:picLocks noChangeAspect="1" noChangeArrowheads="1"/>
                      </p:cNvPicPr>
                      <p:nvPr/>
                    </p:nvPicPr>
                    <p:blipFill>
                      <a:blip r:embed="rId4">
                        <a:lum bright="-40000" contrast="-40000"/>
                        <a:extLst>
                          <a:ext uri="{28A0092B-C50C-407E-A947-70E740481C1C}">
                            <a14:useLocalDpi xmlns:a14="http://schemas.microsoft.com/office/drawing/2010/main" val="0"/>
                          </a:ext>
                        </a:extLst>
                      </a:blip>
                      <a:srcRect/>
                      <a:stretch>
                        <a:fillRect/>
                      </a:stretch>
                    </p:blipFill>
                    <p:spPr bwMode="auto">
                      <a:xfrm>
                        <a:off x="2119313" y="1897063"/>
                        <a:ext cx="33131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884" name="Object 4"/>
          <p:cNvGraphicFramePr>
            <a:graphicFrameLocks noChangeAspect="1"/>
          </p:cNvGraphicFramePr>
          <p:nvPr/>
        </p:nvGraphicFramePr>
        <p:xfrm>
          <a:off x="1943100" y="2551113"/>
          <a:ext cx="3562350" cy="557212"/>
        </p:xfrm>
        <a:graphic>
          <a:graphicData uri="http://schemas.openxmlformats.org/presentationml/2006/ole">
            <mc:AlternateContent xmlns:mc="http://schemas.openxmlformats.org/markup-compatibility/2006">
              <mc:Choice xmlns:v="urn:schemas-microsoft-com:vml" Requires="v">
                <p:oleObj name="Equation" r:id="rId5" imgW="35052000" imgH="5486400" progId="Equation.DSMT4">
                  <p:embed/>
                </p:oleObj>
              </mc:Choice>
              <mc:Fallback>
                <p:oleObj name="Equation" r:id="rId5" imgW="35052000" imgH="5486400" progId="Equation.DSMT4">
                  <p:embed/>
                  <p:pic>
                    <p:nvPicPr>
                      <p:cNvPr id="0" name="Object 4"/>
                      <p:cNvPicPr>
                        <a:picLocks noChangeAspect="1" noChangeArrowheads="1"/>
                      </p:cNvPicPr>
                      <p:nvPr/>
                    </p:nvPicPr>
                    <p:blipFill>
                      <a:blip r:embed="rId6">
                        <a:lum bright="-40000" contrast="-40000"/>
                      </a:blip>
                      <a:srcRect/>
                      <a:stretch>
                        <a:fillRect/>
                      </a:stretch>
                    </p:blipFill>
                    <p:spPr bwMode="auto">
                      <a:xfrm>
                        <a:off x="1943100" y="2551113"/>
                        <a:ext cx="356235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885" name="Object 5"/>
          <p:cNvGraphicFramePr>
            <a:graphicFrameLocks noChangeAspect="1"/>
          </p:cNvGraphicFramePr>
          <p:nvPr/>
        </p:nvGraphicFramePr>
        <p:xfrm>
          <a:off x="1612900" y="3259138"/>
          <a:ext cx="1081088" cy="604837"/>
        </p:xfrm>
        <a:graphic>
          <a:graphicData uri="http://schemas.openxmlformats.org/presentationml/2006/ole">
            <mc:AlternateContent xmlns:mc="http://schemas.openxmlformats.org/markup-compatibility/2006">
              <mc:Choice xmlns:v="urn:schemas-microsoft-com:vml" Requires="v">
                <p:oleObj r:id="rId7" imgW="406400" imgH="228600" progId="">
                  <p:embed/>
                </p:oleObj>
              </mc:Choice>
              <mc:Fallback>
                <p:oleObj r:id="rId7" imgW="406400" imgH="228600" progId="">
                  <p:embed/>
                  <p:pic>
                    <p:nvPicPr>
                      <p:cNvPr id="0" name="Object 5"/>
                      <p:cNvPicPr>
                        <a:picLocks noChangeAspect="1" noChangeArrowheads="1"/>
                      </p:cNvPicPr>
                      <p:nvPr/>
                    </p:nvPicPr>
                    <p:blipFill>
                      <a:blip r:embed="rId8">
                        <a:lum bright="-40000" contrast="-40000"/>
                        <a:extLst>
                          <a:ext uri="{28A0092B-C50C-407E-A947-70E740481C1C}">
                            <a14:useLocalDpi xmlns:a14="http://schemas.microsoft.com/office/drawing/2010/main" val="0"/>
                          </a:ext>
                        </a:extLst>
                      </a:blip>
                      <a:srcRect/>
                      <a:stretch>
                        <a:fillRect/>
                      </a:stretch>
                    </p:blipFill>
                    <p:spPr bwMode="auto">
                      <a:xfrm>
                        <a:off x="1612900" y="3259138"/>
                        <a:ext cx="1081088"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886" name="Object 6"/>
          <p:cNvGraphicFramePr>
            <a:graphicFrameLocks noChangeAspect="1"/>
          </p:cNvGraphicFramePr>
          <p:nvPr/>
        </p:nvGraphicFramePr>
        <p:xfrm>
          <a:off x="3775869" y="3306952"/>
          <a:ext cx="4298378" cy="663449"/>
        </p:xfrm>
        <a:graphic>
          <a:graphicData uri="http://schemas.openxmlformats.org/presentationml/2006/ole">
            <mc:AlternateContent xmlns:mc="http://schemas.openxmlformats.org/markup-compatibility/2006">
              <mc:Choice xmlns:v="urn:schemas-microsoft-com:vml" Requires="v">
                <p:oleObj r:id="rId9" imgW="1664335" imgH="254000" progId="">
                  <p:embed/>
                </p:oleObj>
              </mc:Choice>
              <mc:Fallback>
                <p:oleObj r:id="rId9" imgW="1664335" imgH="254000" progId="">
                  <p:embed/>
                  <p:pic>
                    <p:nvPicPr>
                      <p:cNvPr id="0" name="Object 6"/>
                      <p:cNvPicPr>
                        <a:picLocks noChangeAspect="1" noChangeArrowheads="1"/>
                      </p:cNvPicPr>
                      <p:nvPr/>
                    </p:nvPicPr>
                    <p:blipFill>
                      <a:blip r:embed="rId10">
                        <a:lum bright="-40000" contrast="-40000"/>
                        <a:extLst>
                          <a:ext uri="{28A0092B-C50C-407E-A947-70E740481C1C}">
                            <a14:useLocalDpi xmlns:a14="http://schemas.microsoft.com/office/drawing/2010/main" val="0"/>
                          </a:ext>
                        </a:extLst>
                      </a:blip>
                      <a:srcRect/>
                      <a:stretch>
                        <a:fillRect/>
                      </a:stretch>
                    </p:blipFill>
                    <p:spPr bwMode="auto">
                      <a:xfrm>
                        <a:off x="3775869" y="3306952"/>
                        <a:ext cx="4298378" cy="663449"/>
                      </a:xfrm>
                      <a:prstGeom prst="rect">
                        <a:avLst/>
                      </a:prstGeom>
                      <a:noFill/>
                      <a:ln>
                        <a:noFill/>
                      </a:ln>
                    </p:spPr>
                  </p:pic>
                </p:oleObj>
              </mc:Fallback>
            </mc:AlternateContent>
          </a:graphicData>
        </a:graphic>
      </p:graphicFrame>
      <p:sp>
        <p:nvSpPr>
          <p:cNvPr id="122887" name="Rectangle 18"/>
          <p:cNvSpPr>
            <a:spLocks noChangeArrowheads="1"/>
          </p:cNvSpPr>
          <p:nvPr/>
        </p:nvSpPr>
        <p:spPr bwMode="auto">
          <a:xfrm>
            <a:off x="1089025" y="1912938"/>
            <a:ext cx="803275" cy="5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a:latin typeface="Arial" panose="020B0604020202020204" pitchFamily="34" charset="0"/>
                <a:cs typeface="Times New Roman" panose="02020603050405020304" pitchFamily="18" charset="0"/>
              </a:rPr>
              <a:t>由于</a:t>
            </a:r>
            <a:endParaRPr lang="zh-CN" altLang="en-US" sz="2400" b="1">
              <a:latin typeface="Arial" panose="020B0604020202020204" pitchFamily="34" charset="0"/>
            </a:endParaRPr>
          </a:p>
        </p:txBody>
      </p:sp>
      <p:sp>
        <p:nvSpPr>
          <p:cNvPr id="122888" name="Rectangle 19"/>
          <p:cNvSpPr>
            <a:spLocks noChangeArrowheads="1"/>
          </p:cNvSpPr>
          <p:nvPr/>
        </p:nvSpPr>
        <p:spPr bwMode="auto">
          <a:xfrm>
            <a:off x="990600" y="2590800"/>
            <a:ext cx="803275"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a:latin typeface="Arial" panose="020B0604020202020204" pitchFamily="34" charset="0"/>
                <a:cs typeface="Times New Roman" panose="02020603050405020304" pitchFamily="18" charset="0"/>
              </a:rPr>
              <a:t>所以</a:t>
            </a:r>
            <a:endParaRPr lang="zh-CN" altLang="en-US" sz="2400" b="1">
              <a:latin typeface="Arial" panose="020B0604020202020204" pitchFamily="34" charset="0"/>
            </a:endParaRPr>
          </a:p>
        </p:txBody>
      </p:sp>
      <p:sp>
        <p:nvSpPr>
          <p:cNvPr id="122889" name="日期占位符 1"/>
          <p:cNvSpPr txBox="1">
            <a:spLocks noGrp="1" noChangeArrowheads="1"/>
          </p:cNvSpPr>
          <p:nvPr/>
        </p:nvSpPr>
        <p:spPr bwMode="auto">
          <a:xfrm>
            <a:off x="11620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fld id="{1C90647A-1BFB-4456-A5BB-C1392600C9D7}" type="datetime1">
              <a:rPr lang="zh-CN" altLang="en-US" sz="1400">
                <a:latin typeface="Times New Roman" panose="02020603050405020304" pitchFamily="18" charset="0"/>
              </a:rPr>
              <a:t>2024/12/15</a:t>
            </a:fld>
            <a:endParaRPr lang="en-US" altLang="zh-CN" sz="1400">
              <a:latin typeface="Times New Roman" panose="02020603050405020304" pitchFamily="18" charset="0"/>
            </a:endParaRPr>
          </a:p>
        </p:txBody>
      </p:sp>
      <p:sp>
        <p:nvSpPr>
          <p:cNvPr id="122890"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1A6F8010-7576-42E4-95A1-67DAABADC2A1}" type="slidenum">
              <a:rPr lang="en-US" altLang="zh-CN" sz="1400">
                <a:latin typeface="Times New Roman" panose="02020603050405020304" pitchFamily="18" charset="0"/>
              </a:rPr>
              <a:t>37</a:t>
            </a:fld>
            <a:endParaRPr lang="en-US" altLang="zh-CN" sz="1400">
              <a:latin typeface="Times New Roman" panose="02020603050405020304" pitchFamily="18" charset="0"/>
            </a:endParaRPr>
          </a:p>
        </p:txBody>
      </p:sp>
      <p:graphicFrame>
        <p:nvGraphicFramePr>
          <p:cNvPr id="13" name="Group 4"/>
          <p:cNvGraphicFramePr>
            <a:graphicFrameLocks noGrp="1"/>
          </p:cNvGraphicFramePr>
          <p:nvPr/>
        </p:nvGraphicFramePr>
        <p:xfrm>
          <a:off x="1101725" y="4495800"/>
          <a:ext cx="7127875" cy="1473200"/>
        </p:xfrm>
        <a:graphic>
          <a:graphicData uri="http://schemas.openxmlformats.org/drawingml/2006/table">
            <a:tbl>
              <a:tblPr/>
              <a:tblGrid>
                <a:gridCol w="1439863">
                  <a:extLst>
                    <a:ext uri="{9D8B030D-6E8A-4147-A177-3AD203B41FA5}">
                      <a16:colId xmlns:a16="http://schemas.microsoft.com/office/drawing/2014/main" val="20000"/>
                    </a:ext>
                  </a:extLst>
                </a:gridCol>
                <a:gridCol w="687387">
                  <a:extLst>
                    <a:ext uri="{9D8B030D-6E8A-4147-A177-3AD203B41FA5}">
                      <a16:colId xmlns:a16="http://schemas.microsoft.com/office/drawing/2014/main" val="20001"/>
                    </a:ext>
                  </a:extLst>
                </a:gridCol>
                <a:gridCol w="833438">
                  <a:extLst>
                    <a:ext uri="{9D8B030D-6E8A-4147-A177-3AD203B41FA5}">
                      <a16:colId xmlns:a16="http://schemas.microsoft.com/office/drawing/2014/main" val="20002"/>
                    </a:ext>
                  </a:extLst>
                </a:gridCol>
                <a:gridCol w="833437">
                  <a:extLst>
                    <a:ext uri="{9D8B030D-6E8A-4147-A177-3AD203B41FA5}">
                      <a16:colId xmlns:a16="http://schemas.microsoft.com/office/drawing/2014/main" val="20003"/>
                    </a:ext>
                  </a:extLst>
                </a:gridCol>
                <a:gridCol w="835025">
                  <a:extLst>
                    <a:ext uri="{9D8B030D-6E8A-4147-A177-3AD203B41FA5}">
                      <a16:colId xmlns:a16="http://schemas.microsoft.com/office/drawing/2014/main" val="20004"/>
                    </a:ext>
                  </a:extLst>
                </a:gridCol>
                <a:gridCol w="830263">
                  <a:extLst>
                    <a:ext uri="{9D8B030D-6E8A-4147-A177-3AD203B41FA5}">
                      <a16:colId xmlns:a16="http://schemas.microsoft.com/office/drawing/2014/main" val="20005"/>
                    </a:ext>
                  </a:extLst>
                </a:gridCol>
                <a:gridCol w="833437">
                  <a:extLst>
                    <a:ext uri="{9D8B030D-6E8A-4147-A177-3AD203B41FA5}">
                      <a16:colId xmlns:a16="http://schemas.microsoft.com/office/drawing/2014/main" val="20006"/>
                    </a:ext>
                  </a:extLst>
                </a:gridCol>
                <a:gridCol w="835025">
                  <a:extLst>
                    <a:ext uri="{9D8B030D-6E8A-4147-A177-3AD203B41FA5}">
                      <a16:colId xmlns:a16="http://schemas.microsoft.com/office/drawing/2014/main" val="20007"/>
                    </a:ext>
                  </a:extLst>
                </a:gridCol>
              </a:tblGrid>
              <a:tr h="457200">
                <a:tc>
                  <a:txBody>
                    <a:bodyPr/>
                    <a:lstStyle/>
                    <a:p>
                      <a:pPr marL="0" marR="0" lvl="0" indent="0" algn="just"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月份</a:t>
                      </a: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6</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0"/>
                  </a:ext>
                </a:extLst>
              </a:tr>
              <a:tr h="508000">
                <a:tc>
                  <a:txBody>
                    <a:bodyPr/>
                    <a:lstStyle/>
                    <a:p>
                      <a:pPr marL="0" marR="0" lvl="0" indent="0" algn="just"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需求量</a:t>
                      </a:r>
                      <a:r>
                        <a:rPr kumimoji="0" lang="en-US" sz="20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en-US" sz="2000" b="1" i="1" u="none" strike="noStrike" cap="none" normalizeH="0" baseline="-25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endParaRPr kumimoji="0" lang="en-US" sz="2000" b="1" i="1" u="none" strike="noStrike" cap="none" normalizeH="0" baseline="-2500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8</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7</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1"/>
                  </a:ext>
                </a:extLst>
              </a:tr>
              <a:tr h="508000">
                <a:tc>
                  <a:txBody>
                    <a:bodyPr/>
                    <a:lstStyle/>
                    <a:p>
                      <a:pPr marL="0" marR="0" lvl="0" indent="0" algn="just"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单位工时</a:t>
                      </a:r>
                      <a:r>
                        <a:rPr kumimoji="0" lang="en-US" sz="20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a:t>
                      </a:r>
                      <a:r>
                        <a:rPr kumimoji="0" lang="en-US" sz="2000" b="1" i="1" u="none" strike="noStrike" cap="none" normalizeH="0" baseline="-25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endParaRPr kumimoji="0" lang="en-US" sz="2000" b="1" i="1" u="none" strike="noStrike" cap="none" normalizeH="0" baseline="-2500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11</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18</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13</a:t>
                      </a:r>
                      <a:endParaRPr kumimoji="0" lang="en-US" sz="2000" b="1" i="0" u="none" strike="noStrike" cap="none" normalizeH="0" baseline="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17</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0"/>
                        </a:spcBef>
                        <a:spcAft>
                          <a:spcPct val="0"/>
                        </a:spcAft>
                        <a:buClrTx/>
                        <a:buSzPct val="100000"/>
                        <a:buFontTx/>
                        <a:buNone/>
                      </a:pPr>
                      <a:r>
                        <a:rPr kumimoji="0" 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10</a:t>
                      </a:r>
                      <a:endParaRPr kumimoji="0" lang="en-US"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just"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zh-CN" sz="2000" b="1" i="0" u="none" strike="noStrike" cap="none" normalizeH="0" baseline="0" dirty="0">
                        <a:ln>
                          <a:noFill/>
                        </a:ln>
                        <a:solidFill>
                          <a:schemeClr val="tx1"/>
                        </a:solidFill>
                        <a:effectLst/>
                        <a:latin typeface="Tahoma" panose="020B060403050404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2"/>
                  </a:ext>
                </a:extLst>
              </a:tr>
            </a:tbl>
          </a:graphicData>
        </a:graphic>
      </p:graphicFrame>
      <p:sp>
        <p:nvSpPr>
          <p:cNvPr id="7" name="矩形 6"/>
          <p:cNvSpPr/>
          <p:nvPr/>
        </p:nvSpPr>
        <p:spPr>
          <a:xfrm>
            <a:off x="7391400" y="1694045"/>
            <a:ext cx="990600" cy="461665"/>
          </a:xfrm>
          <a:prstGeom prst="rect">
            <a:avLst/>
          </a:prstGeom>
          <a:solidFill>
            <a:schemeClr val="bg1">
              <a:lumMod val="75000"/>
            </a:schemeClr>
          </a:solidFill>
        </p:spPr>
        <p:txBody>
          <a:bodyPr wrap="square">
            <a:spAutoFit/>
          </a:bodyPr>
          <a:lstStyle/>
          <a:p>
            <a:r>
              <a:rPr lang="en-US" altLang="zh-CN" sz="2400" b="1" dirty="0">
                <a:cs typeface="Times New Roman" panose="02020603050405020304" pitchFamily="18" charset="0"/>
              </a:rPr>
              <a:t>H=9</a:t>
            </a:r>
            <a:endParaRPr lang="zh-CN" altLang="en-US" sz="2400" dirty="0"/>
          </a:p>
        </p:txBody>
      </p:sp>
      <p:sp>
        <p:nvSpPr>
          <p:cNvPr id="2" name="Rectangle 2">
            <a:extLst>
              <a:ext uri="{FF2B5EF4-FFF2-40B4-BE49-F238E27FC236}">
                <a16:creationId xmlns:a16="http://schemas.microsoft.com/office/drawing/2014/main" id="{1E5BCE39-7FEA-672C-0181-06573276D7B1}"/>
              </a:ext>
            </a:extLst>
          </p:cNvPr>
          <p:cNvSpPr txBox="1">
            <a:spLocks noChangeArrowheads="1"/>
          </p:cNvSpPr>
          <p:nvPr>
            <p:custDataLst>
              <p:tags r:id="rId1"/>
            </p:custDataLst>
          </p:nvPr>
        </p:nvSpPr>
        <p:spPr bwMode="auto">
          <a:xfrm>
            <a:off x="587375" y="881649"/>
            <a:ext cx="4362450" cy="610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3600" u="sng" dirty="0">
                <a:solidFill>
                  <a:schemeClr val="hlink"/>
                </a:solidFill>
                <a:latin typeface="Tahoma" panose="020B0604030504040204" pitchFamily="34" charset="0"/>
                <a:ea typeface="黑体" panose="02010609060101010101" pitchFamily="49" charset="-122"/>
              </a:rPr>
              <a:t>生产计划问题</a:t>
            </a:r>
            <a:r>
              <a:rPr lang="en-US" altLang="zh-CN" sz="3600" u="sng" dirty="0">
                <a:solidFill>
                  <a:schemeClr val="hlink"/>
                </a:solidFill>
                <a:latin typeface="Tahoma" panose="020B0604030504040204" pitchFamily="34" charset="0"/>
                <a:ea typeface="黑体" panose="02010609060101010101" pitchFamily="49" charset="-122"/>
              </a:rPr>
              <a:t>--</a:t>
            </a:r>
            <a:r>
              <a:rPr lang="zh-CN" altLang="en-US" sz="2800" u="sng" dirty="0">
                <a:solidFill>
                  <a:schemeClr val="hlink"/>
                </a:solidFill>
                <a:latin typeface="Tahoma" panose="020B0604030504040204" pitchFamily="34" charset="0"/>
                <a:ea typeface="黑体" panose="02010609060101010101" pitchFamily="49" charset="-122"/>
              </a:rPr>
              <a:t>例</a:t>
            </a:r>
            <a:r>
              <a:rPr lang="en-US" altLang="zh-CN" sz="2800" u="sng" dirty="0">
                <a:solidFill>
                  <a:schemeClr val="hlink"/>
                </a:solidFill>
                <a:latin typeface="Tahoma" panose="020B0604030504040204" pitchFamily="34" charset="0"/>
                <a:ea typeface="黑体" panose="02010609060101010101" pitchFamily="49" charset="-122"/>
              </a:rPr>
              <a:t>5</a:t>
            </a:r>
          </a:p>
        </p:txBody>
      </p:sp>
      <p:pic>
        <p:nvPicPr>
          <p:cNvPr id="4" name="图片 3">
            <a:extLst>
              <a:ext uri="{FF2B5EF4-FFF2-40B4-BE49-F238E27FC236}">
                <a16:creationId xmlns:a16="http://schemas.microsoft.com/office/drawing/2014/main" id="{3571DCCC-0E51-C41F-BE11-143DC86B2817}"/>
              </a:ext>
            </a:extLst>
          </p:cNvPr>
          <p:cNvPicPr>
            <a:picLocks noChangeAspect="1"/>
          </p:cNvPicPr>
          <p:nvPr/>
        </p:nvPicPr>
        <p:blipFill>
          <a:blip r:embed="rId11"/>
          <a:stretch>
            <a:fillRect/>
          </a:stretch>
        </p:blipFill>
        <p:spPr>
          <a:xfrm>
            <a:off x="5743312" y="542803"/>
            <a:ext cx="3287937" cy="949703"/>
          </a:xfrm>
          <a:prstGeom prst="rect">
            <a:avLst/>
          </a:prstGeom>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14"/>
          <p:cNvSpPr>
            <a:spLocks noChangeArrowheads="1"/>
          </p:cNvSpPr>
          <p:nvPr/>
        </p:nvSpPr>
        <p:spPr bwMode="auto">
          <a:xfrm>
            <a:off x="684213" y="1735773"/>
            <a:ext cx="7926892"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en-US" altLang="zh-CN" sz="2400" b="1" dirty="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由</a:t>
            </a:r>
            <a:r>
              <a:rPr lang="en-US" altLang="zh-CN" sz="2400" b="1" dirty="0">
                <a:latin typeface="Times New Roman" panose="02020603050405020304" pitchFamily="18" charset="0"/>
                <a:cs typeface="Times New Roman" panose="02020603050405020304" pitchFamily="18" charset="0"/>
              </a:rPr>
              <a:t>(2-10)</a:t>
            </a:r>
            <a:r>
              <a:rPr lang="zh-CN" altLang="en-US" sz="2400" b="1" dirty="0">
                <a:latin typeface="Times New Roman" panose="02020603050405020304" pitchFamily="18" charset="0"/>
                <a:cs typeface="Times New Roman" panose="02020603050405020304" pitchFamily="18" charset="0"/>
              </a:rPr>
              <a:t>式知：</a:t>
            </a:r>
            <a:r>
              <a:rPr lang="en-US" altLang="zh-CN" sz="2400" b="1"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      ，所以</a:t>
            </a:r>
            <a:r>
              <a:rPr lang="en-US" altLang="zh-CN" sz="2400" b="1" i="1" dirty="0">
                <a:latin typeface="Times New Roman" panose="02020603050405020304" pitchFamily="18" charset="0"/>
                <a:cs typeface="Times New Roman" panose="02020603050405020304" pitchFamily="18" charset="0"/>
              </a:rPr>
              <a:t>u</a:t>
            </a:r>
            <a:r>
              <a:rPr lang="en-US" altLang="zh-CN" sz="2400" b="1" baseline="-25000" dirty="0">
                <a:latin typeface="Times New Roman" panose="02020603050405020304" pitchFamily="18" charset="0"/>
                <a:cs typeface="Times New Roman" panose="02020603050405020304" pitchFamily="18" charset="0"/>
              </a:rPr>
              <a:t>4</a:t>
            </a:r>
            <a:r>
              <a:rPr lang="zh-CN" altLang="en-US" sz="2400" b="1" dirty="0">
                <a:latin typeface="Times New Roman" panose="02020603050405020304" pitchFamily="18" charset="0"/>
                <a:cs typeface="Times New Roman" panose="02020603050405020304" pitchFamily="18" charset="0"/>
              </a:rPr>
              <a:t>的允许决策集合</a:t>
            </a:r>
            <a:r>
              <a:rPr lang="en-US" altLang="zh-CN" sz="2400" b="1" i="1" dirty="0">
                <a:latin typeface="Times New Roman" panose="02020603050405020304" pitchFamily="18" charset="0"/>
                <a:cs typeface="Times New Roman" panose="02020603050405020304" pitchFamily="18" charset="0"/>
              </a:rPr>
              <a:t>D</a:t>
            </a:r>
            <a:r>
              <a:rPr lang="en-US" altLang="zh-CN" sz="2400" b="1" baseline="-25000" dirty="0">
                <a:latin typeface="Times New Roman" panose="02020603050405020304" pitchFamily="18" charset="0"/>
                <a:cs typeface="Times New Roman" panose="02020603050405020304" pitchFamily="18" charset="0"/>
              </a:rPr>
              <a:t>4</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s</a:t>
            </a:r>
            <a:r>
              <a:rPr lang="en-US" altLang="zh-CN" sz="2400" b="1" baseline="-25000" dirty="0">
                <a:latin typeface="Times New Roman" panose="02020603050405020304" pitchFamily="18" charset="0"/>
                <a:cs typeface="Times New Roman" panose="02020603050405020304" pitchFamily="18" charset="0"/>
              </a:rPr>
              <a:t>4</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由</a:t>
            </a:r>
            <a:r>
              <a:rPr lang="en-US" altLang="zh-CN" sz="2400" b="1" dirty="0">
                <a:latin typeface="Times New Roman" panose="02020603050405020304" pitchFamily="18" charset="0"/>
                <a:cs typeface="Times New Roman" panose="02020603050405020304" pitchFamily="18" charset="0"/>
              </a:rPr>
              <a:t>(2-11)</a:t>
            </a:r>
            <a:r>
              <a:rPr lang="zh-CN" altLang="en-US" sz="2400" b="1" dirty="0">
                <a:latin typeface="Times New Roman" panose="02020603050405020304" pitchFamily="18" charset="0"/>
                <a:cs typeface="Times New Roman" panose="02020603050405020304" pitchFamily="18" charset="0"/>
              </a:rPr>
              <a:t>式确定为</a:t>
            </a:r>
          </a:p>
        </p:txBody>
      </p:sp>
      <p:graphicFrame>
        <p:nvGraphicFramePr>
          <p:cNvPr id="123907" name="Object 3"/>
          <p:cNvGraphicFramePr>
            <a:graphicFrameLocks noChangeAspect="1"/>
          </p:cNvGraphicFramePr>
          <p:nvPr/>
        </p:nvGraphicFramePr>
        <p:xfrm>
          <a:off x="2988293" y="1847850"/>
          <a:ext cx="942357" cy="550863"/>
        </p:xfrm>
        <a:graphic>
          <a:graphicData uri="http://schemas.openxmlformats.org/presentationml/2006/ole">
            <mc:AlternateContent xmlns:mc="http://schemas.openxmlformats.org/markup-compatibility/2006">
              <mc:Choice xmlns:v="urn:schemas-microsoft-com:vml" Requires="v">
                <p:oleObj r:id="rId3" imgW="393700" imgH="228600" progId="">
                  <p:embed/>
                </p:oleObj>
              </mc:Choice>
              <mc:Fallback>
                <p:oleObj r:id="rId3" imgW="393700" imgH="228600" progId="">
                  <p:embed/>
                  <p:pic>
                    <p:nvPicPr>
                      <p:cNvPr id="0" name="Object 3"/>
                      <p:cNvPicPr>
                        <a:picLocks noChangeAspect="1" noChangeArrowheads="1"/>
                      </p:cNvPicPr>
                      <p:nvPr/>
                    </p:nvPicPr>
                    <p:blipFill>
                      <a:blip r:embed="rId4">
                        <a:lum bright="-40000" contrast="-40000"/>
                        <a:extLst>
                          <a:ext uri="{28A0092B-C50C-407E-A947-70E740481C1C}">
                            <a14:useLocalDpi xmlns:a14="http://schemas.microsoft.com/office/drawing/2010/main" val="0"/>
                          </a:ext>
                        </a:extLst>
                      </a:blip>
                      <a:srcRect/>
                      <a:stretch>
                        <a:fillRect/>
                      </a:stretch>
                    </p:blipFill>
                    <p:spPr bwMode="auto">
                      <a:xfrm>
                        <a:off x="2988293" y="1847850"/>
                        <a:ext cx="942357" cy="550863"/>
                      </a:xfrm>
                      <a:prstGeom prst="rect">
                        <a:avLst/>
                      </a:prstGeom>
                      <a:noFill/>
                      <a:ln>
                        <a:noFill/>
                      </a:ln>
                    </p:spPr>
                  </p:pic>
                </p:oleObj>
              </mc:Fallback>
            </mc:AlternateContent>
          </a:graphicData>
        </a:graphic>
      </p:graphicFrame>
      <p:graphicFrame>
        <p:nvGraphicFramePr>
          <p:cNvPr id="123908" name="Object 4"/>
          <p:cNvGraphicFramePr>
            <a:graphicFrameLocks noChangeAspect="1"/>
          </p:cNvGraphicFramePr>
          <p:nvPr/>
        </p:nvGraphicFramePr>
        <p:xfrm>
          <a:off x="2375230" y="2982551"/>
          <a:ext cx="2952750" cy="573088"/>
        </p:xfrm>
        <a:graphic>
          <a:graphicData uri="http://schemas.openxmlformats.org/presentationml/2006/ole">
            <mc:AlternateContent xmlns:mc="http://schemas.openxmlformats.org/markup-compatibility/2006">
              <mc:Choice xmlns:v="urn:schemas-microsoft-com:vml" Requires="v">
                <p:oleObj r:id="rId5" imgW="1181735" imgH="228600" progId="">
                  <p:embed/>
                </p:oleObj>
              </mc:Choice>
              <mc:Fallback>
                <p:oleObj r:id="rId5" imgW="1181735" imgH="228600" progId="">
                  <p:embed/>
                  <p:pic>
                    <p:nvPicPr>
                      <p:cNvPr id="0" name="Object 4"/>
                      <p:cNvPicPr>
                        <a:picLocks noChangeAspect="1" noChangeArrowheads="1"/>
                      </p:cNvPicPr>
                      <p:nvPr/>
                    </p:nvPicPr>
                    <p:blipFill>
                      <a:blip r:embed="rId6">
                        <a:lum bright="-40000" contrast="-40000"/>
                        <a:extLst>
                          <a:ext uri="{28A0092B-C50C-407E-A947-70E740481C1C}">
                            <a14:useLocalDpi xmlns:a14="http://schemas.microsoft.com/office/drawing/2010/main" val="0"/>
                          </a:ext>
                        </a:extLst>
                      </a:blip>
                      <a:srcRect/>
                      <a:stretch>
                        <a:fillRect/>
                      </a:stretch>
                    </p:blipFill>
                    <p:spPr bwMode="auto">
                      <a:xfrm>
                        <a:off x="2375230" y="2982551"/>
                        <a:ext cx="295275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910"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E7044359-48CB-4F33-9D71-76B3E43697E8}" type="slidenum">
              <a:rPr lang="en-US" altLang="zh-CN" sz="1400">
                <a:latin typeface="Times New Roman" panose="02020603050405020304" pitchFamily="18" charset="0"/>
              </a:rPr>
              <a:t>38</a:t>
            </a:fld>
            <a:endParaRPr lang="en-US" altLang="zh-CN" sz="1400">
              <a:latin typeface="Times New Roman" panose="02020603050405020304" pitchFamily="18" charset="0"/>
            </a:endParaRPr>
          </a:p>
        </p:txBody>
      </p:sp>
      <p:graphicFrame>
        <p:nvGraphicFramePr>
          <p:cNvPr id="123913" name="Object 2"/>
          <p:cNvGraphicFramePr>
            <a:graphicFrameLocks noChangeAspect="1"/>
          </p:cNvGraphicFramePr>
          <p:nvPr/>
        </p:nvGraphicFramePr>
        <p:xfrm>
          <a:off x="1247775" y="4146550"/>
          <a:ext cx="6264275" cy="538162"/>
        </p:xfrm>
        <a:graphic>
          <a:graphicData uri="http://schemas.openxmlformats.org/presentationml/2006/ole">
            <mc:AlternateContent xmlns:mc="http://schemas.openxmlformats.org/markup-compatibility/2006">
              <mc:Choice xmlns:v="urn:schemas-microsoft-com:vml" Requires="v">
                <p:oleObj r:id="rId7" imgW="2655570" imgH="228600" progId="">
                  <p:embed/>
                </p:oleObj>
              </mc:Choice>
              <mc:Fallback>
                <p:oleObj r:id="rId7" imgW="2655570" imgH="228600" progId="">
                  <p:embed/>
                  <p:pic>
                    <p:nvPicPr>
                      <p:cNvPr id="0" name="Object 2"/>
                      <p:cNvPicPr>
                        <a:picLocks noChangeAspect="1" noChangeArrowheads="1"/>
                      </p:cNvPicPr>
                      <p:nvPr/>
                    </p:nvPicPr>
                    <p:blipFill>
                      <a:blip r:embed="rId8">
                        <a:lum bright="-40000" contrast="-40000"/>
                        <a:extLst>
                          <a:ext uri="{28A0092B-C50C-407E-A947-70E740481C1C}">
                            <a14:useLocalDpi xmlns:a14="http://schemas.microsoft.com/office/drawing/2010/main" val="0"/>
                          </a:ext>
                        </a:extLst>
                      </a:blip>
                      <a:srcRect/>
                      <a:stretch>
                        <a:fillRect/>
                      </a:stretch>
                    </p:blipFill>
                    <p:spPr bwMode="auto">
                      <a:xfrm>
                        <a:off x="1247775" y="4146550"/>
                        <a:ext cx="6264275"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914" name="Object 3"/>
          <p:cNvGraphicFramePr>
            <a:graphicFrameLocks noChangeAspect="1"/>
          </p:cNvGraphicFramePr>
          <p:nvPr/>
        </p:nvGraphicFramePr>
        <p:xfrm>
          <a:off x="2807728" y="5010150"/>
          <a:ext cx="1754747" cy="644525"/>
        </p:xfrm>
        <a:graphic>
          <a:graphicData uri="http://schemas.openxmlformats.org/presentationml/2006/ole">
            <mc:AlternateContent xmlns:mc="http://schemas.openxmlformats.org/markup-compatibility/2006">
              <mc:Choice xmlns:v="urn:schemas-microsoft-com:vml" Requires="v">
                <p:oleObj r:id="rId9" imgW="648335" imgH="241300" progId="">
                  <p:embed/>
                </p:oleObj>
              </mc:Choice>
              <mc:Fallback>
                <p:oleObj r:id="rId9" imgW="648335" imgH="241300" progId="">
                  <p:embed/>
                  <p:pic>
                    <p:nvPicPr>
                      <p:cNvPr id="0" name="Object 3"/>
                      <p:cNvPicPr>
                        <a:picLocks noChangeAspect="1" noChangeArrowheads="1"/>
                      </p:cNvPicPr>
                      <p:nvPr/>
                    </p:nvPicPr>
                    <p:blipFill>
                      <a:blip r:embed="rId10">
                        <a:lum bright="-40000" contrast="-40000"/>
                        <a:extLst>
                          <a:ext uri="{28A0092B-C50C-407E-A947-70E740481C1C}">
                            <a14:useLocalDpi xmlns:a14="http://schemas.microsoft.com/office/drawing/2010/main" val="0"/>
                          </a:ext>
                        </a:extLst>
                      </a:blip>
                      <a:srcRect/>
                      <a:stretch>
                        <a:fillRect/>
                      </a:stretch>
                    </p:blipFill>
                    <p:spPr bwMode="auto">
                      <a:xfrm>
                        <a:off x="2807728" y="5010150"/>
                        <a:ext cx="1754747" cy="644525"/>
                      </a:xfrm>
                      <a:prstGeom prst="rect">
                        <a:avLst/>
                      </a:prstGeom>
                      <a:noFill/>
                      <a:ln>
                        <a:noFill/>
                      </a:ln>
                    </p:spPr>
                  </p:pic>
                </p:oleObj>
              </mc:Fallback>
            </mc:AlternateContent>
          </a:graphicData>
        </a:graphic>
      </p:graphicFrame>
      <p:sp>
        <p:nvSpPr>
          <p:cNvPr id="123915" name="Rectangle 11"/>
          <p:cNvSpPr>
            <a:spLocks noChangeArrowheads="1"/>
          </p:cNvSpPr>
          <p:nvPr/>
        </p:nvSpPr>
        <p:spPr bwMode="auto">
          <a:xfrm>
            <a:off x="1042988" y="5010150"/>
            <a:ext cx="2016125"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a:latin typeface="Arial" panose="020B0604020202020204" pitchFamily="34" charset="0"/>
              </a:rPr>
              <a:t>最优解为</a:t>
            </a:r>
          </a:p>
        </p:txBody>
      </p:sp>
      <p:sp>
        <p:nvSpPr>
          <p:cNvPr id="123916" name="Rectangle 12"/>
          <p:cNvSpPr>
            <a:spLocks noChangeArrowheads="1"/>
          </p:cNvSpPr>
          <p:nvPr/>
        </p:nvSpPr>
        <p:spPr bwMode="auto">
          <a:xfrm>
            <a:off x="1287463" y="3502025"/>
            <a:ext cx="803275"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dirty="0">
                <a:latin typeface="Arial" panose="020B0604020202020204" pitchFamily="34" charset="0"/>
                <a:cs typeface="Times New Roman" panose="02020603050405020304" pitchFamily="18" charset="0"/>
              </a:rPr>
              <a:t>所以</a:t>
            </a:r>
            <a:endParaRPr lang="zh-CN" altLang="en-US" sz="2400" b="1" dirty="0">
              <a:latin typeface="Arial" panose="020B0604020202020204" pitchFamily="34" charset="0"/>
            </a:endParaRPr>
          </a:p>
        </p:txBody>
      </p:sp>
      <p:graphicFrame>
        <p:nvGraphicFramePr>
          <p:cNvPr id="13" name="对象 2"/>
          <p:cNvGraphicFramePr>
            <a:graphicFrameLocks noChangeAspect="1"/>
          </p:cNvGraphicFramePr>
          <p:nvPr/>
        </p:nvGraphicFramePr>
        <p:xfrm>
          <a:off x="4716463" y="296863"/>
          <a:ext cx="3889375" cy="490537"/>
        </p:xfrm>
        <a:graphic>
          <a:graphicData uri="http://schemas.openxmlformats.org/presentationml/2006/ole">
            <mc:AlternateContent xmlns:mc="http://schemas.openxmlformats.org/markup-compatibility/2006">
              <mc:Choice xmlns:v="urn:schemas-microsoft-com:vml" Requires="v">
                <p:oleObj r:id="rId11" imgW="1905635" imgH="228600" progId="Equation.DSMT4">
                  <p:embed/>
                </p:oleObj>
              </mc:Choice>
              <mc:Fallback>
                <p:oleObj r:id="rId11" imgW="1905635" imgH="228600" progId="Equation.DSMT4">
                  <p:embed/>
                  <p:pic>
                    <p:nvPicPr>
                      <p:cNvPr id="0" name="对象 2"/>
                      <p:cNvPicPr>
                        <a:picLocks noChangeAspect="1" noChangeArrowheads="1"/>
                      </p:cNvPicPr>
                      <p:nvPr/>
                    </p:nvPicPr>
                    <p:blipFill>
                      <a:blip r:embed="rId12">
                        <a:lum bright="-40000" contrast="-40000"/>
                        <a:extLst>
                          <a:ext uri="{28A0092B-C50C-407E-A947-70E740481C1C}">
                            <a14:useLocalDpi xmlns:a14="http://schemas.microsoft.com/office/drawing/2010/main" val="0"/>
                          </a:ext>
                        </a:extLst>
                      </a:blip>
                      <a:srcRect/>
                      <a:stretch>
                        <a:fillRect/>
                      </a:stretch>
                    </p:blipFill>
                    <p:spPr bwMode="auto">
                      <a:xfrm>
                        <a:off x="4716463" y="296863"/>
                        <a:ext cx="3889375" cy="490537"/>
                      </a:xfrm>
                      <a:prstGeom prst="rect">
                        <a:avLst/>
                      </a:prstGeom>
                      <a:solidFill>
                        <a:schemeClr val="bg1">
                          <a:lumMod val="85000"/>
                        </a:schemeClr>
                      </a:solidFill>
                      <a:ln>
                        <a:noFill/>
                      </a:ln>
                    </p:spPr>
                  </p:pic>
                </p:oleObj>
              </mc:Fallback>
            </mc:AlternateContent>
          </a:graphicData>
        </a:graphic>
      </p:graphicFrame>
      <p:graphicFrame>
        <p:nvGraphicFramePr>
          <p:cNvPr id="14" name="Object 6"/>
          <p:cNvGraphicFramePr>
            <a:graphicFrameLocks noChangeAspect="1"/>
          </p:cNvGraphicFramePr>
          <p:nvPr/>
        </p:nvGraphicFramePr>
        <p:xfrm>
          <a:off x="4804678" y="859942"/>
          <a:ext cx="3712944" cy="573088"/>
        </p:xfrm>
        <a:graphic>
          <a:graphicData uri="http://schemas.openxmlformats.org/presentationml/2006/ole">
            <mc:AlternateContent xmlns:mc="http://schemas.openxmlformats.org/markup-compatibility/2006">
              <mc:Choice xmlns:v="urn:schemas-microsoft-com:vml" Requires="v">
                <p:oleObj r:id="rId13" imgW="1664335" imgH="254000" progId="">
                  <p:embed/>
                </p:oleObj>
              </mc:Choice>
              <mc:Fallback>
                <p:oleObj r:id="rId13" imgW="1664335" imgH="254000" progId="">
                  <p:embed/>
                  <p:pic>
                    <p:nvPicPr>
                      <p:cNvPr id="0" name="Object 6"/>
                      <p:cNvPicPr>
                        <a:picLocks noChangeAspect="1" noChangeArrowheads="1"/>
                      </p:cNvPicPr>
                      <p:nvPr/>
                    </p:nvPicPr>
                    <p:blipFill>
                      <a:blip r:embed="rId14">
                        <a:lum bright="-40000" contrast="-40000"/>
                        <a:extLst>
                          <a:ext uri="{28A0092B-C50C-407E-A947-70E740481C1C}">
                            <a14:useLocalDpi xmlns:a14="http://schemas.microsoft.com/office/drawing/2010/main" val="0"/>
                          </a:ext>
                        </a:extLst>
                      </a:blip>
                      <a:srcRect/>
                      <a:stretch>
                        <a:fillRect/>
                      </a:stretch>
                    </p:blipFill>
                    <p:spPr bwMode="auto">
                      <a:xfrm>
                        <a:off x="4804678" y="859942"/>
                        <a:ext cx="3712944" cy="573088"/>
                      </a:xfrm>
                      <a:prstGeom prst="rect">
                        <a:avLst/>
                      </a:prstGeom>
                      <a:solidFill>
                        <a:schemeClr val="bg1">
                          <a:lumMod val="85000"/>
                        </a:schemeClr>
                      </a:solidFill>
                      <a:ln>
                        <a:noFill/>
                      </a:ln>
                    </p:spPr>
                  </p:pic>
                </p:oleObj>
              </mc:Fallback>
            </mc:AlternateContent>
          </a:graphicData>
        </a:graphic>
      </p:graphicFrame>
      <p:cxnSp>
        <p:nvCxnSpPr>
          <p:cNvPr id="8" name="直接箭头连接符 7"/>
          <p:cNvCxnSpPr/>
          <p:nvPr/>
        </p:nvCxnSpPr>
        <p:spPr>
          <a:xfrm flipH="1">
            <a:off x="5327980" y="1433030"/>
            <a:ext cx="1225220" cy="161497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pic>
        <p:nvPicPr>
          <p:cNvPr id="17" name="图片 16"/>
          <p:cNvPicPr>
            <a:picLocks noChangeAspect="1"/>
          </p:cNvPicPr>
          <p:nvPr/>
        </p:nvPicPr>
        <p:blipFill>
          <a:blip r:embed="rId15"/>
          <a:stretch>
            <a:fillRect/>
          </a:stretch>
        </p:blipFill>
        <p:spPr>
          <a:xfrm>
            <a:off x="3948421" y="5943600"/>
            <a:ext cx="4361255" cy="528637"/>
          </a:xfrm>
          <a:prstGeom prst="rect">
            <a:avLst/>
          </a:prstGeom>
        </p:spPr>
      </p:pic>
      <p:graphicFrame>
        <p:nvGraphicFramePr>
          <p:cNvPr id="15" name="Object 2"/>
          <p:cNvGraphicFramePr>
            <a:graphicFrameLocks noChangeAspect="1"/>
          </p:cNvGraphicFramePr>
          <p:nvPr>
            <p:extLst>
              <p:ext uri="{D42A27DB-BD31-4B8C-83A1-F6EECF244321}">
                <p14:modId xmlns:p14="http://schemas.microsoft.com/office/powerpoint/2010/main" val="855495951"/>
              </p:ext>
            </p:extLst>
          </p:nvPr>
        </p:nvGraphicFramePr>
        <p:xfrm>
          <a:off x="4719980" y="123008"/>
          <a:ext cx="4351337" cy="1612765"/>
        </p:xfrm>
        <a:graphic>
          <a:graphicData uri="http://schemas.openxmlformats.org/presentationml/2006/ole">
            <mc:AlternateContent xmlns:mc="http://schemas.openxmlformats.org/markup-compatibility/2006">
              <mc:Choice xmlns:v="urn:schemas-microsoft-com:vml" Requires="v">
                <p:oleObj name="Equation" r:id="rId16" imgW="2540000" imgH="939800" progId="Equation.DSMT4">
                  <p:embed/>
                </p:oleObj>
              </mc:Choice>
              <mc:Fallback>
                <p:oleObj name="Equation" r:id="rId16" imgW="2540000" imgH="939800" progId="Equation.DSMT4">
                  <p:embed/>
                  <p:pic>
                    <p:nvPicPr>
                      <p:cNvPr id="0" name="图片 8"/>
                      <p:cNvPicPr>
                        <a:picLocks noChangeAspect="1" noChangeArrowheads="1"/>
                      </p:cNvPicPr>
                      <p:nvPr/>
                    </p:nvPicPr>
                    <p:blipFill>
                      <a:blip r:embed="rId17">
                        <a:lum bright="-40000" contrast="-40000"/>
                        <a:extLst>
                          <a:ext uri="{28A0092B-C50C-407E-A947-70E740481C1C}">
                            <a14:useLocalDpi xmlns:a14="http://schemas.microsoft.com/office/drawing/2010/main" val="0"/>
                          </a:ext>
                        </a:extLst>
                      </a:blip>
                      <a:srcRect/>
                      <a:stretch>
                        <a:fillRect/>
                      </a:stretch>
                    </p:blipFill>
                    <p:spPr bwMode="auto">
                      <a:xfrm>
                        <a:off x="4719980" y="123008"/>
                        <a:ext cx="4351337" cy="1612765"/>
                      </a:xfrm>
                      <a:prstGeom prst="rect">
                        <a:avLst/>
                      </a:prstGeom>
                      <a:solidFill>
                        <a:schemeClr val="bg1">
                          <a:lumMod val="75000"/>
                        </a:schemeClr>
                      </a:solidFill>
                      <a:ln>
                        <a:noFill/>
                      </a:ln>
                    </p:spPr>
                  </p:pic>
                </p:oleObj>
              </mc:Fallback>
            </mc:AlternateContent>
          </a:graphicData>
        </a:graphic>
      </p:graphicFrame>
      <p:sp>
        <p:nvSpPr>
          <p:cNvPr id="2" name="Rectangle 2">
            <a:extLst>
              <a:ext uri="{FF2B5EF4-FFF2-40B4-BE49-F238E27FC236}">
                <a16:creationId xmlns:a16="http://schemas.microsoft.com/office/drawing/2014/main" id="{D5D4F619-78A3-F8C5-3258-E254082FFFB9}"/>
              </a:ext>
            </a:extLst>
          </p:cNvPr>
          <p:cNvSpPr txBox="1">
            <a:spLocks noChangeArrowheads="1"/>
          </p:cNvSpPr>
          <p:nvPr>
            <p:custDataLst>
              <p:tags r:id="rId1"/>
            </p:custDataLst>
          </p:nvPr>
        </p:nvSpPr>
        <p:spPr bwMode="auto">
          <a:xfrm>
            <a:off x="587375" y="881649"/>
            <a:ext cx="4362450" cy="610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3600" u="sng" dirty="0">
                <a:solidFill>
                  <a:schemeClr val="hlink"/>
                </a:solidFill>
                <a:latin typeface="Tahoma" panose="020B0604030504040204" pitchFamily="34" charset="0"/>
                <a:ea typeface="黑体" panose="02010609060101010101" pitchFamily="49" charset="-122"/>
              </a:rPr>
              <a:t>生产计划问题</a:t>
            </a:r>
            <a:r>
              <a:rPr lang="en-US" altLang="zh-CN" sz="3600" u="sng" dirty="0">
                <a:solidFill>
                  <a:schemeClr val="hlink"/>
                </a:solidFill>
                <a:latin typeface="Tahoma" panose="020B0604030504040204" pitchFamily="34" charset="0"/>
                <a:ea typeface="黑体" panose="02010609060101010101" pitchFamily="49" charset="-122"/>
              </a:rPr>
              <a:t>--</a:t>
            </a:r>
            <a:r>
              <a:rPr lang="zh-CN" altLang="en-US" sz="2800" u="sng" dirty="0">
                <a:solidFill>
                  <a:schemeClr val="hlink"/>
                </a:solidFill>
                <a:latin typeface="Tahoma" panose="020B0604030504040204" pitchFamily="34" charset="0"/>
                <a:ea typeface="黑体" panose="02010609060101010101" pitchFamily="49" charset="-122"/>
              </a:rPr>
              <a:t>算例</a:t>
            </a:r>
            <a:r>
              <a:rPr lang="en-US" altLang="zh-CN" sz="2800" u="sng" dirty="0">
                <a:solidFill>
                  <a:schemeClr val="hlink"/>
                </a:solidFill>
                <a:latin typeface="Tahoma" panose="020B0604030504040204" pitchFamily="34" charset="0"/>
                <a:ea typeface="黑体" panose="02010609060101010101" pitchFamily="49" charset="-122"/>
              </a:rPr>
              <a:t>5</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4930" name="Object 2"/>
          <p:cNvGraphicFramePr>
            <a:graphicFrameLocks noChangeAspect="1"/>
          </p:cNvGraphicFramePr>
          <p:nvPr/>
        </p:nvGraphicFramePr>
        <p:xfrm>
          <a:off x="1489075" y="2133600"/>
          <a:ext cx="5214889" cy="1948305"/>
        </p:xfrm>
        <a:graphic>
          <a:graphicData uri="http://schemas.openxmlformats.org/presentationml/2006/ole">
            <mc:AlternateContent xmlns:mc="http://schemas.openxmlformats.org/markup-compatibility/2006">
              <mc:Choice xmlns:v="urn:schemas-microsoft-com:vml" Requires="v">
                <p:oleObj r:id="rId3" imgW="2527300" imgH="939800" progId="">
                  <p:embed/>
                </p:oleObj>
              </mc:Choice>
              <mc:Fallback>
                <p:oleObj r:id="rId3" imgW="2527300" imgH="939800" progId="">
                  <p:embed/>
                  <p:pic>
                    <p:nvPicPr>
                      <p:cNvPr id="0" name="Object 2"/>
                      <p:cNvPicPr>
                        <a:picLocks noChangeAspect="1" noChangeArrowheads="1"/>
                      </p:cNvPicPr>
                      <p:nvPr/>
                    </p:nvPicPr>
                    <p:blipFill>
                      <a:blip r:embed="rId4">
                        <a:lum bright="-40000" contrast="-40000"/>
                        <a:extLst>
                          <a:ext uri="{28A0092B-C50C-407E-A947-70E740481C1C}">
                            <a14:useLocalDpi xmlns:a14="http://schemas.microsoft.com/office/drawing/2010/main" val="0"/>
                          </a:ext>
                        </a:extLst>
                      </a:blip>
                      <a:srcRect/>
                      <a:stretch>
                        <a:fillRect/>
                      </a:stretch>
                    </p:blipFill>
                    <p:spPr bwMode="auto">
                      <a:xfrm>
                        <a:off x="1489075" y="2133600"/>
                        <a:ext cx="5214889" cy="1948305"/>
                      </a:xfrm>
                      <a:prstGeom prst="rect">
                        <a:avLst/>
                      </a:prstGeom>
                      <a:noFill/>
                      <a:ln>
                        <a:noFill/>
                      </a:ln>
                    </p:spPr>
                  </p:pic>
                </p:oleObj>
              </mc:Fallback>
            </mc:AlternateContent>
          </a:graphicData>
        </a:graphic>
      </p:graphicFrame>
      <p:sp>
        <p:nvSpPr>
          <p:cNvPr id="124931" name="Rectangle 11"/>
          <p:cNvSpPr>
            <a:spLocks noChangeArrowheads="1"/>
          </p:cNvSpPr>
          <p:nvPr/>
        </p:nvSpPr>
        <p:spPr bwMode="auto">
          <a:xfrm>
            <a:off x="1339691" y="1598295"/>
            <a:ext cx="1579880" cy="53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dirty="0">
                <a:latin typeface="Times New Roman" panose="02020603050405020304" pitchFamily="18" charset="0"/>
                <a:cs typeface="Times New Roman" panose="02020603050405020304" pitchFamily="18" charset="0"/>
              </a:rPr>
              <a:t>当</a:t>
            </a:r>
            <a:r>
              <a:rPr lang="en-US" altLang="zh-CN" sz="2400" b="1" i="1" dirty="0">
                <a:latin typeface="Times New Roman" panose="02020603050405020304" pitchFamily="18" charset="0"/>
                <a:cs typeface="Times New Roman" panose="02020603050405020304" pitchFamily="18" charset="0"/>
              </a:rPr>
              <a:t>k</a:t>
            </a:r>
            <a:r>
              <a:rPr lang="en-US" altLang="zh-CN" sz="2400" b="1" dirty="0">
                <a:latin typeface="Times New Roman" panose="02020603050405020304" pitchFamily="18" charset="0"/>
                <a:cs typeface="Times New Roman" panose="02020603050405020304" pitchFamily="18" charset="0"/>
              </a:rPr>
              <a:t>=3</a:t>
            </a:r>
            <a:r>
              <a:rPr lang="zh-CN" altLang="en-US" sz="2400" b="1" dirty="0">
                <a:latin typeface="Times New Roman" panose="02020603050405020304" pitchFamily="18" charset="0"/>
                <a:cs typeface="Times New Roman" panose="02020603050405020304" pitchFamily="18" charset="0"/>
              </a:rPr>
              <a:t>时，</a:t>
            </a:r>
          </a:p>
        </p:txBody>
      </p:sp>
      <p:sp>
        <p:nvSpPr>
          <p:cNvPr id="124933"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971ECCB4-ED67-4802-9295-B661AAB5307E}" type="slidenum">
              <a:rPr lang="en-US" altLang="zh-CN" sz="1400">
                <a:latin typeface="Times New Roman" panose="02020603050405020304" pitchFamily="18" charset="0"/>
              </a:rPr>
              <a:t>39</a:t>
            </a:fld>
            <a:endParaRPr lang="en-US" altLang="zh-CN" sz="1400">
              <a:latin typeface="Times New Roman" panose="02020603050405020304" pitchFamily="18" charset="0"/>
            </a:endParaRPr>
          </a:p>
        </p:txBody>
      </p:sp>
      <p:sp>
        <p:nvSpPr>
          <p:cNvPr id="124936" name="Rectangle 9"/>
          <p:cNvSpPr>
            <a:spLocks noChangeArrowheads="1"/>
          </p:cNvSpPr>
          <p:nvPr/>
        </p:nvSpPr>
        <p:spPr bwMode="auto">
          <a:xfrm>
            <a:off x="908868" y="5058978"/>
            <a:ext cx="5214889" cy="486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dirty="0">
                <a:cs typeface="Times New Roman" panose="02020603050405020304" pitchFamily="18" charset="0"/>
              </a:rPr>
              <a:t>故得                             及最优解</a:t>
            </a:r>
          </a:p>
        </p:txBody>
      </p:sp>
      <p:graphicFrame>
        <p:nvGraphicFramePr>
          <p:cNvPr id="124937" name="Object 3"/>
          <p:cNvGraphicFramePr>
            <a:graphicFrameLocks noChangeAspect="1"/>
          </p:cNvGraphicFramePr>
          <p:nvPr>
            <p:extLst>
              <p:ext uri="{D42A27DB-BD31-4B8C-83A1-F6EECF244321}">
                <p14:modId xmlns:p14="http://schemas.microsoft.com/office/powerpoint/2010/main" val="3017008852"/>
              </p:ext>
            </p:extLst>
          </p:nvPr>
        </p:nvGraphicFramePr>
        <p:xfrm>
          <a:off x="3668713" y="4252094"/>
          <a:ext cx="3875087" cy="534035"/>
        </p:xfrm>
        <a:graphic>
          <a:graphicData uri="http://schemas.openxmlformats.org/presentationml/2006/ole">
            <mc:AlternateContent xmlns:mc="http://schemas.openxmlformats.org/markup-compatibility/2006">
              <mc:Choice xmlns:v="urn:schemas-microsoft-com:vml" Requires="v">
                <p:oleObj r:id="rId5" imgW="1676400" imgH="254000" progId="">
                  <p:embed/>
                </p:oleObj>
              </mc:Choice>
              <mc:Fallback>
                <p:oleObj r:id="rId5" imgW="1676400" imgH="254000" progId="">
                  <p:embed/>
                  <p:pic>
                    <p:nvPicPr>
                      <p:cNvPr id="0" name="Object 3"/>
                      <p:cNvPicPr>
                        <a:picLocks noChangeAspect="1" noChangeArrowheads="1"/>
                      </p:cNvPicPr>
                      <p:nvPr/>
                    </p:nvPicPr>
                    <p:blipFill>
                      <a:blip r:embed="rId6">
                        <a:lum bright="-40000" contrast="-40000"/>
                        <a:extLst>
                          <a:ext uri="{28A0092B-C50C-407E-A947-70E740481C1C}">
                            <a14:useLocalDpi xmlns:a14="http://schemas.microsoft.com/office/drawing/2010/main" val="0"/>
                          </a:ext>
                        </a:extLst>
                      </a:blip>
                      <a:srcRect/>
                      <a:stretch>
                        <a:fillRect/>
                      </a:stretch>
                    </p:blipFill>
                    <p:spPr bwMode="auto">
                      <a:xfrm>
                        <a:off x="3668713" y="4252094"/>
                        <a:ext cx="3875087" cy="534035"/>
                      </a:xfrm>
                      <a:prstGeom prst="rect">
                        <a:avLst/>
                      </a:prstGeom>
                      <a:solidFill>
                        <a:schemeClr val="bg1">
                          <a:lumMod val="85000"/>
                        </a:schemeClr>
                      </a:solidFill>
                      <a:ln>
                        <a:noFill/>
                      </a:ln>
                    </p:spPr>
                  </p:pic>
                </p:oleObj>
              </mc:Fallback>
            </mc:AlternateContent>
          </a:graphicData>
        </a:graphic>
      </p:graphicFrame>
      <p:graphicFrame>
        <p:nvGraphicFramePr>
          <p:cNvPr id="124938" name="Object 4"/>
          <p:cNvGraphicFramePr>
            <a:graphicFrameLocks noChangeAspect="1"/>
          </p:cNvGraphicFramePr>
          <p:nvPr/>
        </p:nvGraphicFramePr>
        <p:xfrm>
          <a:off x="1887538" y="5108575"/>
          <a:ext cx="2447925" cy="477837"/>
        </p:xfrm>
        <a:graphic>
          <a:graphicData uri="http://schemas.openxmlformats.org/presentationml/2006/ole">
            <mc:AlternateContent xmlns:mc="http://schemas.openxmlformats.org/markup-compatibility/2006">
              <mc:Choice xmlns:v="urn:schemas-microsoft-com:vml" Requires="v">
                <p:oleObj r:id="rId7" imgW="1169035" imgH="228600" progId="">
                  <p:embed/>
                </p:oleObj>
              </mc:Choice>
              <mc:Fallback>
                <p:oleObj r:id="rId7" imgW="1169035" imgH="228600" progId="">
                  <p:embed/>
                  <p:pic>
                    <p:nvPicPr>
                      <p:cNvPr id="0" name="Object 4"/>
                      <p:cNvPicPr>
                        <a:picLocks noChangeAspect="1" noChangeArrowheads="1"/>
                      </p:cNvPicPr>
                      <p:nvPr/>
                    </p:nvPicPr>
                    <p:blipFill>
                      <a:blip r:embed="rId8">
                        <a:lum bright="-40000" contrast="-40000"/>
                        <a:extLst>
                          <a:ext uri="{28A0092B-C50C-407E-A947-70E740481C1C}">
                            <a14:useLocalDpi xmlns:a14="http://schemas.microsoft.com/office/drawing/2010/main" val="0"/>
                          </a:ext>
                        </a:extLst>
                      </a:blip>
                      <a:srcRect/>
                      <a:stretch>
                        <a:fillRect/>
                      </a:stretch>
                    </p:blipFill>
                    <p:spPr bwMode="auto">
                      <a:xfrm>
                        <a:off x="1887538" y="5108575"/>
                        <a:ext cx="244792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4939" name="Object 5"/>
          <p:cNvGraphicFramePr>
            <a:graphicFrameLocks noChangeAspect="1"/>
          </p:cNvGraphicFramePr>
          <p:nvPr/>
        </p:nvGraphicFramePr>
        <p:xfrm>
          <a:off x="5969000" y="5014912"/>
          <a:ext cx="1727200" cy="576263"/>
        </p:xfrm>
        <a:graphic>
          <a:graphicData uri="http://schemas.openxmlformats.org/presentationml/2006/ole">
            <mc:AlternateContent xmlns:mc="http://schemas.openxmlformats.org/markup-compatibility/2006">
              <mc:Choice xmlns:v="urn:schemas-microsoft-com:vml" Requires="v">
                <p:oleObj r:id="rId9" imgW="711200" imgH="241300" progId="">
                  <p:embed/>
                </p:oleObj>
              </mc:Choice>
              <mc:Fallback>
                <p:oleObj r:id="rId9" imgW="711200" imgH="241300" progId="">
                  <p:embed/>
                  <p:pic>
                    <p:nvPicPr>
                      <p:cNvPr id="0" name="Object 5"/>
                      <p:cNvPicPr>
                        <a:picLocks noChangeAspect="1" noChangeArrowheads="1"/>
                      </p:cNvPicPr>
                      <p:nvPr/>
                    </p:nvPicPr>
                    <p:blipFill>
                      <a:blip r:embed="rId10">
                        <a:lum bright="-40000" contrast="-40000"/>
                        <a:extLst>
                          <a:ext uri="{28A0092B-C50C-407E-A947-70E740481C1C}">
                            <a14:useLocalDpi xmlns:a14="http://schemas.microsoft.com/office/drawing/2010/main" val="0"/>
                          </a:ext>
                        </a:extLst>
                      </a:blip>
                      <a:srcRect/>
                      <a:stretch>
                        <a:fillRect/>
                      </a:stretch>
                    </p:blipFill>
                    <p:spPr bwMode="auto">
                      <a:xfrm>
                        <a:off x="5969000" y="5014912"/>
                        <a:ext cx="1727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4940" name="Rectangle 8"/>
          <p:cNvSpPr>
            <a:spLocks noChangeArrowheads="1"/>
          </p:cNvSpPr>
          <p:nvPr/>
        </p:nvSpPr>
        <p:spPr bwMode="auto">
          <a:xfrm>
            <a:off x="753158" y="4260338"/>
            <a:ext cx="2945037"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dirty="0">
                <a:latin typeface="Times New Roman" panose="02020603050405020304" pitchFamily="18" charset="0"/>
                <a:cs typeface="Times New Roman" panose="02020603050405020304" pitchFamily="18" charset="0"/>
              </a:rPr>
              <a:t>由</a:t>
            </a:r>
            <a:r>
              <a:rPr lang="en-US" altLang="zh-CN" sz="2400" b="1" dirty="0">
                <a:latin typeface="Times New Roman" panose="02020603050405020304" pitchFamily="18" charset="0"/>
                <a:cs typeface="Times New Roman" panose="02020603050405020304" pitchFamily="18" charset="0"/>
              </a:rPr>
              <a:t>(8-12)</a:t>
            </a:r>
            <a:r>
              <a:rPr lang="zh-CN" altLang="en-US" sz="2400" b="1" dirty="0">
                <a:latin typeface="Times New Roman" panose="02020603050405020304" pitchFamily="18" charset="0"/>
                <a:cs typeface="Times New Roman" panose="02020603050405020304" pitchFamily="18" charset="0"/>
              </a:rPr>
              <a:t>式得</a:t>
            </a:r>
            <a:r>
              <a:rPr lang="en-US" altLang="zh-CN" sz="2400" b="1" i="1" dirty="0">
                <a:latin typeface="Times New Roman" panose="02020603050405020304" pitchFamily="18" charset="0"/>
                <a:cs typeface="Times New Roman" panose="02020603050405020304" pitchFamily="18" charset="0"/>
              </a:rPr>
              <a:t>D</a:t>
            </a:r>
            <a:r>
              <a:rPr lang="en-US" altLang="zh-CN" sz="2400" b="1" baseline="-25000" dirty="0">
                <a:latin typeface="Times New Roman" panose="02020603050405020304" pitchFamily="18" charset="0"/>
                <a:cs typeface="Times New Roman" panose="02020603050405020304" pitchFamily="18" charset="0"/>
              </a:rPr>
              <a:t>3</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s</a:t>
            </a:r>
            <a:r>
              <a:rPr lang="en-US" altLang="zh-CN" sz="2400" b="1" baseline="-25000" dirty="0">
                <a:latin typeface="Times New Roman" panose="02020603050405020304" pitchFamily="18" charset="0"/>
                <a:cs typeface="Times New Roman" panose="02020603050405020304" pitchFamily="18" charset="0"/>
              </a:rPr>
              <a:t>3</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为</a:t>
            </a:r>
          </a:p>
        </p:txBody>
      </p:sp>
      <p:graphicFrame>
        <p:nvGraphicFramePr>
          <p:cNvPr id="124941" name="对象 2"/>
          <p:cNvGraphicFramePr>
            <a:graphicFrameLocks noChangeAspect="1"/>
          </p:cNvGraphicFramePr>
          <p:nvPr>
            <p:extLst>
              <p:ext uri="{D42A27DB-BD31-4B8C-83A1-F6EECF244321}">
                <p14:modId xmlns:p14="http://schemas.microsoft.com/office/powerpoint/2010/main" val="4028975781"/>
              </p:ext>
            </p:extLst>
          </p:nvPr>
        </p:nvGraphicFramePr>
        <p:xfrm>
          <a:off x="355600" y="5867400"/>
          <a:ext cx="8577263" cy="569913"/>
        </p:xfrm>
        <a:graphic>
          <a:graphicData uri="http://schemas.openxmlformats.org/presentationml/2006/ole">
            <mc:AlternateContent xmlns:mc="http://schemas.openxmlformats.org/markup-compatibility/2006">
              <mc:Choice xmlns:v="urn:schemas-microsoft-com:vml" Requires="v">
                <p:oleObj name="Equation" r:id="rId11" imgW="3873240" imgH="253800" progId="Equation.DSMT4">
                  <p:embed/>
                </p:oleObj>
              </mc:Choice>
              <mc:Fallback>
                <p:oleObj name="Equation" r:id="rId11" imgW="3873240" imgH="253800" progId="Equation.DSMT4">
                  <p:embed/>
                  <p:pic>
                    <p:nvPicPr>
                      <p:cNvPr id="0" name="对象 2"/>
                      <p:cNvPicPr>
                        <a:picLocks noChangeAspect="1" noChangeArrowheads="1"/>
                      </p:cNvPicPr>
                      <p:nvPr/>
                    </p:nvPicPr>
                    <p:blipFill>
                      <a:blip r:embed="rId12">
                        <a:lum bright="-40000" contrast="-40000"/>
                      </a:blip>
                      <a:srcRect/>
                      <a:stretch>
                        <a:fillRect/>
                      </a:stretch>
                    </p:blipFill>
                    <p:spPr bwMode="auto">
                      <a:xfrm>
                        <a:off x="355600" y="5867400"/>
                        <a:ext cx="8577263" cy="569913"/>
                      </a:xfrm>
                      <a:prstGeom prst="rect">
                        <a:avLst/>
                      </a:prstGeom>
                      <a:solidFill>
                        <a:schemeClr val="bg1">
                          <a:lumMod val="85000"/>
                        </a:schemeClr>
                      </a:solidFill>
                      <a:ln w="9525">
                        <a:solidFill>
                          <a:schemeClr val="accent2"/>
                        </a:solidFill>
                        <a:miter lim="800000"/>
                        <a:headEnd/>
                        <a:tailEnd/>
                      </a:ln>
                    </p:spPr>
                  </p:pic>
                </p:oleObj>
              </mc:Fallback>
            </mc:AlternateContent>
          </a:graphicData>
        </a:graphic>
      </p:graphicFrame>
      <p:cxnSp>
        <p:nvCxnSpPr>
          <p:cNvPr id="7" name="直接箭头连接符 6"/>
          <p:cNvCxnSpPr/>
          <p:nvPr/>
        </p:nvCxnSpPr>
        <p:spPr>
          <a:xfrm flipV="1">
            <a:off x="533400" y="4775200"/>
            <a:ext cx="375468" cy="124460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2" name="Rectangle 2">
            <a:extLst>
              <a:ext uri="{FF2B5EF4-FFF2-40B4-BE49-F238E27FC236}">
                <a16:creationId xmlns:a16="http://schemas.microsoft.com/office/drawing/2014/main" id="{BA61A237-1D23-678D-3921-0929CEB65FEA}"/>
              </a:ext>
            </a:extLst>
          </p:cNvPr>
          <p:cNvSpPr txBox="1">
            <a:spLocks noChangeArrowheads="1"/>
          </p:cNvSpPr>
          <p:nvPr>
            <p:custDataLst>
              <p:tags r:id="rId1"/>
            </p:custDataLst>
          </p:nvPr>
        </p:nvSpPr>
        <p:spPr bwMode="auto">
          <a:xfrm>
            <a:off x="587375" y="881649"/>
            <a:ext cx="4362450" cy="610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3600" u="sng" dirty="0">
                <a:solidFill>
                  <a:schemeClr val="hlink"/>
                </a:solidFill>
                <a:latin typeface="Tahoma" panose="020B0604030504040204" pitchFamily="34" charset="0"/>
                <a:ea typeface="黑体" panose="02010609060101010101" pitchFamily="49" charset="-122"/>
              </a:rPr>
              <a:t>生产计划问题</a:t>
            </a:r>
            <a:r>
              <a:rPr lang="en-US" altLang="zh-CN" sz="3600" u="sng" dirty="0">
                <a:solidFill>
                  <a:schemeClr val="hlink"/>
                </a:solidFill>
                <a:latin typeface="Tahoma" panose="020B0604030504040204" pitchFamily="34" charset="0"/>
                <a:ea typeface="黑体" panose="02010609060101010101" pitchFamily="49" charset="-122"/>
              </a:rPr>
              <a:t>--</a:t>
            </a:r>
            <a:r>
              <a:rPr lang="zh-CN" altLang="en-US" sz="2800" u="sng" dirty="0">
                <a:solidFill>
                  <a:schemeClr val="hlink"/>
                </a:solidFill>
                <a:latin typeface="Tahoma" panose="020B0604030504040204" pitchFamily="34" charset="0"/>
                <a:ea typeface="黑体" panose="02010609060101010101" pitchFamily="49" charset="-122"/>
              </a:rPr>
              <a:t>算例</a:t>
            </a:r>
            <a:r>
              <a:rPr lang="en-US" altLang="zh-CN" sz="2800" u="sng" dirty="0">
                <a:solidFill>
                  <a:schemeClr val="hlink"/>
                </a:solidFill>
                <a:latin typeface="Tahoma" panose="020B0604030504040204" pitchFamily="34" charset="0"/>
                <a:ea typeface="黑体" panose="02010609060101010101" pitchFamily="49" charset="-122"/>
              </a:rPr>
              <a:t>5</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16"/>
          <p:cNvSpPr>
            <a:spLocks noChangeArrowheads="1"/>
          </p:cNvSpPr>
          <p:nvPr/>
        </p:nvSpPr>
        <p:spPr bwMode="auto">
          <a:xfrm>
            <a:off x="1687400" y="4889116"/>
            <a:ext cx="2884600" cy="486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20000"/>
              </a:lnSpc>
            </a:pPr>
            <a:r>
              <a:rPr lang="zh-CN" altLang="en-US" sz="2400" b="1" dirty="0">
                <a:cs typeface="Times New Roman" panose="02020603050405020304" pitchFamily="18" charset="0"/>
              </a:rPr>
              <a:t>故得                            </a:t>
            </a:r>
          </a:p>
        </p:txBody>
      </p:sp>
      <p:graphicFrame>
        <p:nvGraphicFramePr>
          <p:cNvPr id="125955" name="Object 3"/>
          <p:cNvGraphicFramePr>
            <a:graphicFrameLocks noChangeAspect="1"/>
          </p:cNvGraphicFramePr>
          <p:nvPr/>
        </p:nvGraphicFramePr>
        <p:xfrm>
          <a:off x="1349375" y="2203450"/>
          <a:ext cx="5041900" cy="1277937"/>
        </p:xfrm>
        <a:graphic>
          <a:graphicData uri="http://schemas.openxmlformats.org/presentationml/2006/ole">
            <mc:AlternateContent xmlns:mc="http://schemas.openxmlformats.org/markup-compatibility/2006">
              <mc:Choice xmlns:v="urn:schemas-microsoft-com:vml" Requires="v">
                <p:oleObj r:id="rId3" imgW="2400300" imgH="609600" progId="">
                  <p:embed/>
                </p:oleObj>
              </mc:Choice>
              <mc:Fallback>
                <p:oleObj r:id="rId3" imgW="2400300" imgH="609600" progId="">
                  <p:embed/>
                  <p:pic>
                    <p:nvPicPr>
                      <p:cNvPr id="0" name="Object 3"/>
                      <p:cNvPicPr>
                        <a:picLocks noChangeAspect="1" noChangeArrowheads="1"/>
                      </p:cNvPicPr>
                      <p:nvPr/>
                    </p:nvPicPr>
                    <p:blipFill>
                      <a:blip r:embed="rId4">
                        <a:lum bright="-40000" contrast="-40000"/>
                        <a:extLst>
                          <a:ext uri="{28A0092B-C50C-407E-A947-70E740481C1C}">
                            <a14:useLocalDpi xmlns:a14="http://schemas.microsoft.com/office/drawing/2010/main" val="0"/>
                          </a:ext>
                        </a:extLst>
                      </a:blip>
                      <a:srcRect/>
                      <a:stretch>
                        <a:fillRect/>
                      </a:stretch>
                    </p:blipFill>
                    <p:spPr bwMode="auto">
                      <a:xfrm>
                        <a:off x="1349375" y="2203450"/>
                        <a:ext cx="5041900" cy="1277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5956" name="Object 4"/>
          <p:cNvGraphicFramePr>
            <a:graphicFrameLocks noChangeAspect="1"/>
          </p:cNvGraphicFramePr>
          <p:nvPr/>
        </p:nvGraphicFramePr>
        <p:xfrm>
          <a:off x="2212975" y="4095750"/>
          <a:ext cx="3889375" cy="593725"/>
        </p:xfrm>
        <a:graphic>
          <a:graphicData uri="http://schemas.openxmlformats.org/presentationml/2006/ole">
            <mc:AlternateContent xmlns:mc="http://schemas.openxmlformats.org/markup-compatibility/2006">
              <mc:Choice xmlns:v="urn:schemas-microsoft-com:vml" Requires="v">
                <p:oleObj r:id="rId5" imgW="1689100" imgH="254000" progId="">
                  <p:embed/>
                </p:oleObj>
              </mc:Choice>
              <mc:Fallback>
                <p:oleObj r:id="rId5" imgW="1689100" imgH="254000" progId="">
                  <p:embed/>
                  <p:pic>
                    <p:nvPicPr>
                      <p:cNvPr id="0" name="Object 4"/>
                      <p:cNvPicPr>
                        <a:picLocks noChangeAspect="1" noChangeArrowheads="1"/>
                      </p:cNvPicPr>
                      <p:nvPr/>
                    </p:nvPicPr>
                    <p:blipFill>
                      <a:blip r:embed="rId6">
                        <a:lum bright="-40000" contrast="-40000"/>
                        <a:extLst>
                          <a:ext uri="{28A0092B-C50C-407E-A947-70E740481C1C}">
                            <a14:useLocalDpi xmlns:a14="http://schemas.microsoft.com/office/drawing/2010/main" val="0"/>
                          </a:ext>
                        </a:extLst>
                      </a:blip>
                      <a:srcRect/>
                      <a:stretch>
                        <a:fillRect/>
                      </a:stretch>
                    </p:blipFill>
                    <p:spPr bwMode="auto">
                      <a:xfrm>
                        <a:off x="2212975" y="4095750"/>
                        <a:ext cx="388937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5957" name="Object 5"/>
          <p:cNvGraphicFramePr>
            <a:graphicFrameLocks noChangeAspect="1"/>
          </p:cNvGraphicFramePr>
          <p:nvPr/>
        </p:nvGraphicFramePr>
        <p:xfrm>
          <a:off x="2550212" y="4948045"/>
          <a:ext cx="2376487" cy="463550"/>
        </p:xfrm>
        <a:graphic>
          <a:graphicData uri="http://schemas.openxmlformats.org/presentationml/2006/ole">
            <mc:AlternateContent xmlns:mc="http://schemas.openxmlformats.org/markup-compatibility/2006">
              <mc:Choice xmlns:v="urn:schemas-microsoft-com:vml" Requires="v">
                <p:oleObj r:id="rId7" imgW="1169035" imgH="228600" progId="">
                  <p:embed/>
                </p:oleObj>
              </mc:Choice>
              <mc:Fallback>
                <p:oleObj r:id="rId7" imgW="1169035" imgH="228600" progId="">
                  <p:embed/>
                  <p:pic>
                    <p:nvPicPr>
                      <p:cNvPr id="0" name="Object 5"/>
                      <p:cNvPicPr>
                        <a:picLocks noChangeAspect="1" noChangeArrowheads="1"/>
                      </p:cNvPicPr>
                      <p:nvPr/>
                    </p:nvPicPr>
                    <p:blipFill>
                      <a:blip r:embed="rId8">
                        <a:lum bright="-40000" contrast="-40000"/>
                        <a:extLst>
                          <a:ext uri="{28A0092B-C50C-407E-A947-70E740481C1C}">
                            <a14:useLocalDpi xmlns:a14="http://schemas.microsoft.com/office/drawing/2010/main" val="0"/>
                          </a:ext>
                        </a:extLst>
                      </a:blip>
                      <a:srcRect/>
                      <a:stretch>
                        <a:fillRect/>
                      </a:stretch>
                    </p:blipFill>
                    <p:spPr bwMode="auto">
                      <a:xfrm>
                        <a:off x="2550212" y="4948045"/>
                        <a:ext cx="2376487" cy="463550"/>
                      </a:xfrm>
                      <a:prstGeom prst="rect">
                        <a:avLst/>
                      </a:prstGeom>
                      <a:solidFill>
                        <a:schemeClr val="bg1">
                          <a:lumMod val="85000"/>
                        </a:schemeClr>
                      </a:solidFill>
                      <a:ln>
                        <a:noFill/>
                      </a:ln>
                    </p:spPr>
                  </p:pic>
                </p:oleObj>
              </mc:Fallback>
            </mc:AlternateContent>
          </a:graphicData>
        </a:graphic>
      </p:graphicFrame>
      <p:graphicFrame>
        <p:nvGraphicFramePr>
          <p:cNvPr id="125958" name="Object 6"/>
          <p:cNvGraphicFramePr>
            <a:graphicFrameLocks noChangeAspect="1"/>
          </p:cNvGraphicFramePr>
          <p:nvPr/>
        </p:nvGraphicFramePr>
        <p:xfrm>
          <a:off x="3347136" y="5589971"/>
          <a:ext cx="1579563" cy="527050"/>
        </p:xfrm>
        <a:graphic>
          <a:graphicData uri="http://schemas.openxmlformats.org/presentationml/2006/ole">
            <mc:AlternateContent xmlns:mc="http://schemas.openxmlformats.org/markup-compatibility/2006">
              <mc:Choice xmlns:v="urn:schemas-microsoft-com:vml" Requires="v">
                <p:oleObj r:id="rId9" imgW="711200" imgH="241300" progId="">
                  <p:embed/>
                </p:oleObj>
              </mc:Choice>
              <mc:Fallback>
                <p:oleObj r:id="rId9" imgW="711200" imgH="241300" progId="">
                  <p:embed/>
                  <p:pic>
                    <p:nvPicPr>
                      <p:cNvPr id="0" name="Object 6"/>
                      <p:cNvPicPr>
                        <a:picLocks noChangeAspect="1" noChangeArrowheads="1"/>
                      </p:cNvPicPr>
                      <p:nvPr/>
                    </p:nvPicPr>
                    <p:blipFill>
                      <a:blip r:embed="rId10">
                        <a:lum bright="-40000" contrast="-40000"/>
                        <a:extLst>
                          <a:ext uri="{28A0092B-C50C-407E-A947-70E740481C1C}">
                            <a14:useLocalDpi xmlns:a14="http://schemas.microsoft.com/office/drawing/2010/main" val="0"/>
                          </a:ext>
                        </a:extLst>
                      </a:blip>
                      <a:srcRect/>
                      <a:stretch>
                        <a:fillRect/>
                      </a:stretch>
                    </p:blipFill>
                    <p:spPr bwMode="auto">
                      <a:xfrm>
                        <a:off x="3347136" y="5589971"/>
                        <a:ext cx="1579563" cy="527050"/>
                      </a:xfrm>
                      <a:prstGeom prst="rect">
                        <a:avLst/>
                      </a:prstGeom>
                      <a:solidFill>
                        <a:schemeClr val="bg1">
                          <a:lumMod val="85000"/>
                        </a:schemeClr>
                      </a:solidFill>
                      <a:ln>
                        <a:noFill/>
                      </a:ln>
                    </p:spPr>
                  </p:pic>
                </p:oleObj>
              </mc:Fallback>
            </mc:AlternateContent>
          </a:graphicData>
        </a:graphic>
      </p:graphicFrame>
      <p:sp>
        <p:nvSpPr>
          <p:cNvPr id="125959" name="Rectangle 14"/>
          <p:cNvSpPr>
            <a:spLocks noChangeArrowheads="1"/>
          </p:cNvSpPr>
          <p:nvPr/>
        </p:nvSpPr>
        <p:spPr bwMode="auto">
          <a:xfrm>
            <a:off x="1365091" y="1608613"/>
            <a:ext cx="1579880" cy="53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a:latin typeface="Times New Roman" panose="02020603050405020304" pitchFamily="18" charset="0"/>
                <a:cs typeface="Times New Roman" panose="02020603050405020304" pitchFamily="18" charset="0"/>
              </a:rPr>
              <a:t>当</a:t>
            </a:r>
            <a:r>
              <a:rPr lang="en-US" altLang="zh-CN" sz="2400" b="1" i="1">
                <a:latin typeface="Times New Roman" panose="02020603050405020304" pitchFamily="18" charset="0"/>
                <a:cs typeface="Times New Roman" panose="02020603050405020304" pitchFamily="18" charset="0"/>
              </a:rPr>
              <a:t>k</a:t>
            </a:r>
            <a:r>
              <a:rPr lang="en-US" altLang="zh-CN" sz="2400" b="1">
                <a:latin typeface="Times New Roman" panose="02020603050405020304" pitchFamily="18" charset="0"/>
                <a:cs typeface="Times New Roman" panose="02020603050405020304" pitchFamily="18" charset="0"/>
              </a:rPr>
              <a:t>=2</a:t>
            </a:r>
            <a:r>
              <a:rPr lang="zh-CN" altLang="en-US" sz="2400" b="1">
                <a:latin typeface="Times New Roman" panose="02020603050405020304" pitchFamily="18" charset="0"/>
                <a:cs typeface="Times New Roman" panose="02020603050405020304" pitchFamily="18" charset="0"/>
              </a:rPr>
              <a:t>时，</a:t>
            </a:r>
          </a:p>
        </p:txBody>
      </p:sp>
      <p:sp>
        <p:nvSpPr>
          <p:cNvPr id="125960" name="Rectangle 15"/>
          <p:cNvSpPr>
            <a:spLocks noChangeArrowheads="1"/>
          </p:cNvSpPr>
          <p:nvPr/>
        </p:nvSpPr>
        <p:spPr bwMode="auto">
          <a:xfrm>
            <a:off x="1562259" y="3485039"/>
            <a:ext cx="2147570" cy="53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a:latin typeface="Times New Roman" panose="02020603050405020304" pitchFamily="18" charset="0"/>
                <a:cs typeface="Times New Roman" panose="02020603050405020304" pitchFamily="18" charset="0"/>
              </a:rPr>
              <a:t>其中</a:t>
            </a:r>
            <a:r>
              <a:rPr lang="en-US" altLang="zh-CN" sz="2400" b="1" i="1">
                <a:latin typeface="Times New Roman" panose="02020603050405020304" pitchFamily="18" charset="0"/>
                <a:cs typeface="Times New Roman" panose="02020603050405020304" pitchFamily="18" charset="0"/>
              </a:rPr>
              <a:t>D</a:t>
            </a:r>
            <a:r>
              <a:rPr lang="en-US" altLang="zh-CN" sz="2400" b="1" baseline="-25000">
                <a:latin typeface="Times New Roman" panose="02020603050405020304" pitchFamily="18" charset="0"/>
                <a:cs typeface="Times New Roman" panose="02020603050405020304" pitchFamily="18" charset="0"/>
              </a:rPr>
              <a:t>2</a:t>
            </a:r>
            <a:r>
              <a:rPr lang="en-US" altLang="zh-CN" sz="2400" b="1">
                <a:latin typeface="Times New Roman" panose="02020603050405020304" pitchFamily="18" charset="0"/>
                <a:cs typeface="Times New Roman" panose="02020603050405020304" pitchFamily="18" charset="0"/>
              </a:rPr>
              <a:t>(</a:t>
            </a:r>
            <a:r>
              <a:rPr lang="en-US" altLang="zh-CN" sz="2400" b="1" i="1">
                <a:latin typeface="Times New Roman" panose="02020603050405020304" pitchFamily="18" charset="0"/>
                <a:cs typeface="Times New Roman" panose="02020603050405020304" pitchFamily="18" charset="0"/>
              </a:rPr>
              <a:t>s</a:t>
            </a:r>
            <a:r>
              <a:rPr lang="en-US" altLang="zh-CN" sz="2400" b="1" baseline="-25000">
                <a:latin typeface="Times New Roman" panose="02020603050405020304" pitchFamily="18" charset="0"/>
                <a:cs typeface="Times New Roman" panose="02020603050405020304" pitchFamily="18" charset="0"/>
              </a:rPr>
              <a:t>2</a:t>
            </a:r>
            <a:r>
              <a:rPr lang="en-US" altLang="zh-CN" sz="2400" b="1">
                <a:latin typeface="Times New Roman" panose="02020603050405020304" pitchFamily="18" charset="0"/>
                <a:cs typeface="Times New Roman" panose="02020603050405020304" pitchFamily="18" charset="0"/>
              </a:rPr>
              <a:t>)</a:t>
            </a:r>
            <a:r>
              <a:rPr lang="zh-CN" altLang="en-US" sz="2400" b="1">
                <a:latin typeface="Times New Roman" panose="02020603050405020304" pitchFamily="18" charset="0"/>
                <a:cs typeface="Times New Roman" panose="02020603050405020304" pitchFamily="18" charset="0"/>
              </a:rPr>
              <a:t>为：</a:t>
            </a:r>
          </a:p>
        </p:txBody>
      </p:sp>
      <p:sp>
        <p:nvSpPr>
          <p:cNvPr id="125962"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5A8B7588-6CDA-4561-A1EB-587F2A556752}" type="slidenum">
              <a:rPr lang="en-US" altLang="zh-CN" sz="1400">
                <a:latin typeface="Times New Roman" panose="02020603050405020304" pitchFamily="18" charset="0"/>
              </a:rPr>
              <a:t>40</a:t>
            </a:fld>
            <a:endParaRPr lang="en-US" altLang="zh-CN" sz="1400">
              <a:latin typeface="Times New Roman" panose="02020603050405020304" pitchFamily="18" charset="0"/>
            </a:endParaRPr>
          </a:p>
        </p:txBody>
      </p:sp>
      <p:sp>
        <p:nvSpPr>
          <p:cNvPr id="13" name="Rectangle 16"/>
          <p:cNvSpPr>
            <a:spLocks noChangeArrowheads="1"/>
          </p:cNvSpPr>
          <p:nvPr/>
        </p:nvSpPr>
        <p:spPr bwMode="auto">
          <a:xfrm>
            <a:off x="1924952" y="5580476"/>
            <a:ext cx="1422184" cy="486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dirty="0">
                <a:cs typeface="Times New Roman" panose="02020603050405020304" pitchFamily="18" charset="0"/>
              </a:rPr>
              <a:t>及最优解</a:t>
            </a:r>
          </a:p>
        </p:txBody>
      </p:sp>
      <p:sp>
        <p:nvSpPr>
          <p:cNvPr id="115758" name="Rectangle 2"/>
          <p:cNvSpPr txBox="1">
            <a:spLocks noChangeArrowheads="1"/>
          </p:cNvSpPr>
          <p:nvPr>
            <p:custDataLst>
              <p:tags r:id="rId1"/>
            </p:custDataLst>
          </p:nvPr>
        </p:nvSpPr>
        <p:spPr bwMode="auto">
          <a:xfrm>
            <a:off x="685800" y="836930"/>
            <a:ext cx="4362450" cy="610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3600" u="sng">
                <a:solidFill>
                  <a:schemeClr val="hlink"/>
                </a:solidFill>
                <a:latin typeface="Tahoma" panose="020B0604030504040204" pitchFamily="34" charset="0"/>
                <a:ea typeface="黑体" panose="02010609060101010101" pitchFamily="49" charset="-122"/>
              </a:rPr>
              <a:t>生产计划问题</a:t>
            </a:r>
            <a:r>
              <a:rPr lang="en-US" altLang="zh-CN" sz="3600" u="sng">
                <a:solidFill>
                  <a:schemeClr val="hlink"/>
                </a:solidFill>
                <a:latin typeface="Tahoma" panose="020B0604030504040204" pitchFamily="34" charset="0"/>
                <a:ea typeface="黑体" panose="02010609060101010101" pitchFamily="49" charset="-122"/>
              </a:rPr>
              <a:t>--</a:t>
            </a:r>
            <a:r>
              <a:rPr lang="zh-CN" altLang="en-US" sz="2800" u="sng">
                <a:solidFill>
                  <a:schemeClr val="hlink"/>
                </a:solidFill>
                <a:latin typeface="Tahoma" panose="020B0604030504040204" pitchFamily="34" charset="0"/>
                <a:ea typeface="黑体" panose="02010609060101010101" pitchFamily="49" charset="-122"/>
              </a:rPr>
              <a:t>算例</a:t>
            </a:r>
            <a:r>
              <a:rPr lang="en-US" altLang="zh-CN" sz="2800" u="sng">
                <a:solidFill>
                  <a:schemeClr val="hlink"/>
                </a:solidFill>
                <a:latin typeface="Tahoma" panose="020B0604030504040204" pitchFamily="34" charset="0"/>
                <a:ea typeface="黑体" panose="02010609060101010101" pitchFamily="49" charset="-122"/>
              </a:rPr>
              <a:t>5</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14"/>
          <p:cNvSpPr>
            <a:spLocks noChangeArrowheads="1"/>
          </p:cNvSpPr>
          <p:nvPr/>
        </p:nvSpPr>
        <p:spPr bwMode="auto">
          <a:xfrm>
            <a:off x="917575" y="4849812"/>
            <a:ext cx="4581525"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a:cs typeface="Times New Roman" panose="02020603050405020304" pitchFamily="18" charset="0"/>
              </a:rPr>
              <a:t>故得                                 及最优解</a:t>
            </a:r>
          </a:p>
        </p:txBody>
      </p:sp>
      <p:graphicFrame>
        <p:nvGraphicFramePr>
          <p:cNvPr id="126979" name="Object 3"/>
          <p:cNvGraphicFramePr>
            <a:graphicFrameLocks noChangeAspect="1"/>
          </p:cNvGraphicFramePr>
          <p:nvPr/>
        </p:nvGraphicFramePr>
        <p:xfrm>
          <a:off x="1652587" y="2330450"/>
          <a:ext cx="4824413" cy="1309687"/>
        </p:xfrm>
        <a:graphic>
          <a:graphicData uri="http://schemas.openxmlformats.org/presentationml/2006/ole">
            <mc:AlternateContent xmlns:mc="http://schemas.openxmlformats.org/markup-compatibility/2006">
              <mc:Choice xmlns:v="urn:schemas-microsoft-com:vml" Requires="v">
                <p:oleObj r:id="rId3" imgW="2249170" imgH="609600" progId="">
                  <p:embed/>
                </p:oleObj>
              </mc:Choice>
              <mc:Fallback>
                <p:oleObj r:id="rId3" imgW="2249170" imgH="609600" progId="">
                  <p:embed/>
                  <p:pic>
                    <p:nvPicPr>
                      <p:cNvPr id="0" name="Object 3"/>
                      <p:cNvPicPr>
                        <a:picLocks noChangeAspect="1" noChangeArrowheads="1"/>
                      </p:cNvPicPr>
                      <p:nvPr/>
                    </p:nvPicPr>
                    <p:blipFill>
                      <a:blip r:embed="rId4">
                        <a:lum bright="-40000" contrast="-40000"/>
                        <a:extLst>
                          <a:ext uri="{28A0092B-C50C-407E-A947-70E740481C1C}">
                            <a14:useLocalDpi xmlns:a14="http://schemas.microsoft.com/office/drawing/2010/main" val="0"/>
                          </a:ext>
                        </a:extLst>
                      </a:blip>
                      <a:srcRect/>
                      <a:stretch>
                        <a:fillRect/>
                      </a:stretch>
                    </p:blipFill>
                    <p:spPr bwMode="auto">
                      <a:xfrm>
                        <a:off x="1652587" y="2330450"/>
                        <a:ext cx="4824413" cy="130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6980" name="Object 4"/>
          <p:cNvGraphicFramePr>
            <a:graphicFrameLocks noChangeAspect="1"/>
          </p:cNvGraphicFramePr>
          <p:nvPr/>
        </p:nvGraphicFramePr>
        <p:xfrm>
          <a:off x="2724150" y="4127500"/>
          <a:ext cx="2949575" cy="566737"/>
        </p:xfrm>
        <a:graphic>
          <a:graphicData uri="http://schemas.openxmlformats.org/presentationml/2006/ole">
            <mc:AlternateContent xmlns:mc="http://schemas.openxmlformats.org/markup-compatibility/2006">
              <mc:Choice xmlns:v="urn:schemas-microsoft-com:vml" Requires="v">
                <p:oleObj r:id="rId5" imgW="1194435" imgH="228600" progId="">
                  <p:embed/>
                </p:oleObj>
              </mc:Choice>
              <mc:Fallback>
                <p:oleObj r:id="rId5" imgW="1194435" imgH="228600" progId="">
                  <p:embed/>
                  <p:pic>
                    <p:nvPicPr>
                      <p:cNvPr id="0" name="Object 4"/>
                      <p:cNvPicPr>
                        <a:picLocks noChangeAspect="1" noChangeArrowheads="1"/>
                      </p:cNvPicPr>
                      <p:nvPr/>
                    </p:nvPicPr>
                    <p:blipFill>
                      <a:blip r:embed="rId6">
                        <a:lum bright="-40000" contrast="-40000"/>
                        <a:extLst>
                          <a:ext uri="{28A0092B-C50C-407E-A947-70E740481C1C}">
                            <a14:useLocalDpi xmlns:a14="http://schemas.microsoft.com/office/drawing/2010/main" val="0"/>
                          </a:ext>
                        </a:extLst>
                      </a:blip>
                      <a:srcRect/>
                      <a:stretch>
                        <a:fillRect/>
                      </a:stretch>
                    </p:blipFill>
                    <p:spPr bwMode="auto">
                      <a:xfrm>
                        <a:off x="2724150" y="4127500"/>
                        <a:ext cx="2949575"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6981" name="Object 5"/>
          <p:cNvGraphicFramePr>
            <a:graphicFrameLocks noChangeAspect="1"/>
          </p:cNvGraphicFramePr>
          <p:nvPr/>
        </p:nvGraphicFramePr>
        <p:xfrm>
          <a:off x="1770062" y="4894262"/>
          <a:ext cx="2447925" cy="492125"/>
        </p:xfrm>
        <a:graphic>
          <a:graphicData uri="http://schemas.openxmlformats.org/presentationml/2006/ole">
            <mc:AlternateContent xmlns:mc="http://schemas.openxmlformats.org/markup-compatibility/2006">
              <mc:Choice xmlns:v="urn:schemas-microsoft-com:vml" Requires="v">
                <p:oleObj r:id="rId7" imgW="1130935" imgH="228600" progId="">
                  <p:embed/>
                </p:oleObj>
              </mc:Choice>
              <mc:Fallback>
                <p:oleObj r:id="rId7" imgW="1130935" imgH="228600" progId="">
                  <p:embed/>
                  <p:pic>
                    <p:nvPicPr>
                      <p:cNvPr id="0" name="Object 5"/>
                      <p:cNvPicPr>
                        <a:picLocks noChangeAspect="1" noChangeArrowheads="1"/>
                      </p:cNvPicPr>
                      <p:nvPr/>
                    </p:nvPicPr>
                    <p:blipFill>
                      <a:blip r:embed="rId8">
                        <a:lum bright="-40000" contrast="-40000"/>
                        <a:extLst>
                          <a:ext uri="{28A0092B-C50C-407E-A947-70E740481C1C}">
                            <a14:useLocalDpi xmlns:a14="http://schemas.microsoft.com/office/drawing/2010/main" val="0"/>
                          </a:ext>
                        </a:extLst>
                      </a:blip>
                      <a:srcRect/>
                      <a:stretch>
                        <a:fillRect/>
                      </a:stretch>
                    </p:blipFill>
                    <p:spPr bwMode="auto">
                      <a:xfrm>
                        <a:off x="1770062" y="4894262"/>
                        <a:ext cx="244792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6982" name="Object 6"/>
          <p:cNvGraphicFramePr>
            <a:graphicFrameLocks noChangeAspect="1"/>
          </p:cNvGraphicFramePr>
          <p:nvPr/>
        </p:nvGraphicFramePr>
        <p:xfrm>
          <a:off x="3646487" y="5497512"/>
          <a:ext cx="1511300" cy="525463"/>
        </p:xfrm>
        <a:graphic>
          <a:graphicData uri="http://schemas.openxmlformats.org/presentationml/2006/ole">
            <mc:AlternateContent xmlns:mc="http://schemas.openxmlformats.org/markup-compatibility/2006">
              <mc:Choice xmlns:v="urn:schemas-microsoft-com:vml" Requires="v">
                <p:oleObj r:id="rId9" imgW="686435" imgH="241300" progId="">
                  <p:embed/>
                </p:oleObj>
              </mc:Choice>
              <mc:Fallback>
                <p:oleObj r:id="rId9" imgW="686435" imgH="241300" progId="">
                  <p:embed/>
                  <p:pic>
                    <p:nvPicPr>
                      <p:cNvPr id="0" name="Object 6"/>
                      <p:cNvPicPr>
                        <a:picLocks noChangeAspect="1" noChangeArrowheads="1"/>
                      </p:cNvPicPr>
                      <p:nvPr/>
                    </p:nvPicPr>
                    <p:blipFill>
                      <a:blip r:embed="rId10">
                        <a:lum bright="-40000" contrast="-40000"/>
                        <a:extLst>
                          <a:ext uri="{28A0092B-C50C-407E-A947-70E740481C1C}">
                            <a14:useLocalDpi xmlns:a14="http://schemas.microsoft.com/office/drawing/2010/main" val="0"/>
                          </a:ext>
                        </a:extLst>
                      </a:blip>
                      <a:srcRect/>
                      <a:stretch>
                        <a:fillRect/>
                      </a:stretch>
                    </p:blipFill>
                    <p:spPr bwMode="auto">
                      <a:xfrm>
                        <a:off x="3646487" y="5497512"/>
                        <a:ext cx="151130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6983" name="Rectangle 12"/>
          <p:cNvSpPr>
            <a:spLocks noChangeArrowheads="1"/>
          </p:cNvSpPr>
          <p:nvPr/>
        </p:nvSpPr>
        <p:spPr bwMode="auto">
          <a:xfrm>
            <a:off x="1596866" y="1753870"/>
            <a:ext cx="1579880" cy="53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a:latin typeface="Times New Roman" panose="02020603050405020304" pitchFamily="18" charset="0"/>
                <a:cs typeface="Times New Roman" panose="02020603050405020304" pitchFamily="18" charset="0"/>
              </a:rPr>
              <a:t>当</a:t>
            </a:r>
            <a:r>
              <a:rPr lang="en-US" altLang="zh-CN" sz="2400" b="1" i="1">
                <a:latin typeface="Times New Roman" panose="02020603050405020304" pitchFamily="18" charset="0"/>
                <a:cs typeface="Times New Roman" panose="02020603050405020304" pitchFamily="18" charset="0"/>
              </a:rPr>
              <a:t>k</a:t>
            </a:r>
            <a:r>
              <a:rPr lang="en-US" altLang="zh-CN" sz="2400" b="1">
                <a:latin typeface="Times New Roman" panose="02020603050405020304" pitchFamily="18" charset="0"/>
                <a:cs typeface="Times New Roman" panose="02020603050405020304" pitchFamily="18" charset="0"/>
              </a:rPr>
              <a:t>=1</a:t>
            </a:r>
            <a:r>
              <a:rPr lang="zh-CN" altLang="en-US" sz="2400" b="1">
                <a:latin typeface="Times New Roman" panose="02020603050405020304" pitchFamily="18" charset="0"/>
                <a:cs typeface="Times New Roman" panose="02020603050405020304" pitchFamily="18" charset="0"/>
              </a:rPr>
              <a:t>时</a:t>
            </a:r>
            <a:r>
              <a:rPr lang="zh-CN" altLang="en-US" sz="2400" b="1">
                <a:cs typeface="Times New Roman" panose="02020603050405020304" pitchFamily="18" charset="0"/>
              </a:rPr>
              <a:t>，</a:t>
            </a:r>
            <a:endParaRPr lang="zh-CN" altLang="en-US" sz="2400" b="1"/>
          </a:p>
        </p:txBody>
      </p:sp>
      <p:sp>
        <p:nvSpPr>
          <p:cNvPr id="126984" name="Rectangle 13"/>
          <p:cNvSpPr>
            <a:spLocks noChangeArrowheads="1"/>
          </p:cNvSpPr>
          <p:nvPr/>
        </p:nvSpPr>
        <p:spPr bwMode="auto">
          <a:xfrm>
            <a:off x="765517" y="3645975"/>
            <a:ext cx="1866217"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dirty="0">
                <a:latin typeface="Times New Roman" panose="02020603050405020304" pitchFamily="18" charset="0"/>
                <a:cs typeface="Times New Roman" panose="02020603050405020304" pitchFamily="18" charset="0"/>
              </a:rPr>
              <a:t>其中</a:t>
            </a:r>
            <a:r>
              <a:rPr lang="en-US" altLang="zh-CN" sz="2400" b="1" i="1" dirty="0">
                <a:latin typeface="Times New Roman" panose="02020603050405020304" pitchFamily="18" charset="0"/>
                <a:cs typeface="Times New Roman" panose="02020603050405020304" pitchFamily="18" charset="0"/>
              </a:rPr>
              <a:t>D</a:t>
            </a:r>
            <a:r>
              <a:rPr lang="en-US" altLang="zh-CN" sz="2400" b="1" baseline="-25000" dirty="0">
                <a:latin typeface="Times New Roman" panose="02020603050405020304" pitchFamily="18" charset="0"/>
                <a:cs typeface="Times New Roman" panose="02020603050405020304" pitchFamily="18" charset="0"/>
              </a:rPr>
              <a:t>1</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s</a:t>
            </a:r>
            <a:r>
              <a:rPr lang="en-US" altLang="zh-CN" sz="2400" b="1" baseline="-25000" dirty="0">
                <a:latin typeface="Times New Roman" panose="02020603050405020304" pitchFamily="18" charset="0"/>
                <a:cs typeface="Times New Roman" panose="02020603050405020304" pitchFamily="18" charset="0"/>
              </a:rPr>
              <a:t>1</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为</a:t>
            </a:r>
          </a:p>
        </p:txBody>
      </p:sp>
      <p:sp>
        <p:nvSpPr>
          <p:cNvPr id="126986"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615FF16E-5757-47F4-80D9-67B178B2013D}" type="slidenum">
              <a:rPr lang="en-US" altLang="zh-CN" sz="1400">
                <a:latin typeface="Times New Roman" panose="02020603050405020304" pitchFamily="18" charset="0"/>
              </a:rPr>
              <a:t>41</a:t>
            </a:fld>
            <a:endParaRPr lang="en-US" altLang="zh-CN" sz="1400">
              <a:latin typeface="Times New Roman" panose="02020603050405020304" pitchFamily="18" charset="0"/>
            </a:endParaRPr>
          </a:p>
        </p:txBody>
      </p:sp>
      <p:sp>
        <p:nvSpPr>
          <p:cNvPr id="115758" name="Rectangle 2"/>
          <p:cNvSpPr txBox="1">
            <a:spLocks noChangeArrowheads="1"/>
          </p:cNvSpPr>
          <p:nvPr>
            <p:custDataLst>
              <p:tags r:id="rId1"/>
            </p:custDataLst>
          </p:nvPr>
        </p:nvSpPr>
        <p:spPr bwMode="auto">
          <a:xfrm>
            <a:off x="685800" y="836930"/>
            <a:ext cx="4362450" cy="610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3600" u="sng">
                <a:solidFill>
                  <a:schemeClr val="hlink"/>
                </a:solidFill>
                <a:latin typeface="Tahoma" panose="020B0604030504040204" pitchFamily="34" charset="0"/>
                <a:ea typeface="黑体" panose="02010609060101010101" pitchFamily="49" charset="-122"/>
              </a:rPr>
              <a:t>生产计划问题</a:t>
            </a:r>
            <a:r>
              <a:rPr lang="en-US" altLang="zh-CN" sz="3600" u="sng">
                <a:solidFill>
                  <a:schemeClr val="hlink"/>
                </a:solidFill>
                <a:latin typeface="Tahoma" panose="020B0604030504040204" pitchFamily="34" charset="0"/>
                <a:ea typeface="黑体" panose="02010609060101010101" pitchFamily="49" charset="-122"/>
              </a:rPr>
              <a:t>--</a:t>
            </a:r>
            <a:r>
              <a:rPr lang="zh-CN" altLang="en-US" sz="2800" u="sng">
                <a:solidFill>
                  <a:schemeClr val="hlink"/>
                </a:solidFill>
                <a:latin typeface="Tahoma" panose="020B0604030504040204" pitchFamily="34" charset="0"/>
                <a:ea typeface="黑体" panose="02010609060101010101" pitchFamily="49" charset="-122"/>
              </a:rPr>
              <a:t>算例</a:t>
            </a:r>
            <a:r>
              <a:rPr lang="en-US" altLang="zh-CN" sz="2800" u="sng">
                <a:solidFill>
                  <a:schemeClr val="hlink"/>
                </a:solidFill>
                <a:latin typeface="Tahoma" panose="020B0604030504040204" pitchFamily="34" charset="0"/>
                <a:ea typeface="黑体" panose="02010609060101010101" pitchFamily="49" charset="-122"/>
              </a:rPr>
              <a:t>5</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15"/>
          <p:cNvSpPr>
            <a:spLocks noChangeArrowheads="1"/>
          </p:cNvSpPr>
          <p:nvPr/>
        </p:nvSpPr>
        <p:spPr bwMode="auto">
          <a:xfrm>
            <a:off x="1116472" y="4746241"/>
            <a:ext cx="803425" cy="486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20000"/>
              </a:lnSpc>
            </a:pPr>
            <a:r>
              <a:rPr lang="zh-CN" altLang="en-US" sz="2400" b="1" dirty="0">
                <a:cs typeface="Times New Roman" panose="02020603050405020304" pitchFamily="18" charset="0"/>
              </a:rPr>
              <a:t>故得</a:t>
            </a:r>
          </a:p>
        </p:txBody>
      </p:sp>
      <p:graphicFrame>
        <p:nvGraphicFramePr>
          <p:cNvPr id="128003" name="Object 3"/>
          <p:cNvGraphicFramePr>
            <a:graphicFrameLocks noChangeAspect="1"/>
          </p:cNvGraphicFramePr>
          <p:nvPr/>
        </p:nvGraphicFramePr>
        <p:xfrm>
          <a:off x="2606675" y="2376488"/>
          <a:ext cx="4248150" cy="1092200"/>
        </p:xfrm>
        <a:graphic>
          <a:graphicData uri="http://schemas.openxmlformats.org/presentationml/2006/ole">
            <mc:AlternateContent xmlns:mc="http://schemas.openxmlformats.org/markup-compatibility/2006">
              <mc:Choice xmlns:v="urn:schemas-microsoft-com:vml" Requires="v">
                <p:oleObj r:id="rId3" imgW="2374900" imgH="609600" progId="">
                  <p:embed/>
                </p:oleObj>
              </mc:Choice>
              <mc:Fallback>
                <p:oleObj r:id="rId3" imgW="2374900" imgH="609600" progId="">
                  <p:embed/>
                  <p:pic>
                    <p:nvPicPr>
                      <p:cNvPr id="0" name="Object 3"/>
                      <p:cNvPicPr>
                        <a:picLocks noChangeAspect="1" noChangeArrowheads="1"/>
                      </p:cNvPicPr>
                      <p:nvPr/>
                    </p:nvPicPr>
                    <p:blipFill>
                      <a:blip r:embed="rId4">
                        <a:lum bright="-40000" contrast="-40000"/>
                        <a:extLst>
                          <a:ext uri="{28A0092B-C50C-407E-A947-70E740481C1C}">
                            <a14:useLocalDpi xmlns:a14="http://schemas.microsoft.com/office/drawing/2010/main" val="0"/>
                          </a:ext>
                        </a:extLst>
                      </a:blip>
                      <a:srcRect/>
                      <a:stretch>
                        <a:fillRect/>
                      </a:stretch>
                    </p:blipFill>
                    <p:spPr bwMode="auto">
                      <a:xfrm>
                        <a:off x="2606675" y="2376488"/>
                        <a:ext cx="4248150"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8004" name="Object 4"/>
          <p:cNvGraphicFramePr>
            <a:graphicFrameLocks noChangeAspect="1"/>
          </p:cNvGraphicFramePr>
          <p:nvPr/>
        </p:nvGraphicFramePr>
        <p:xfrm>
          <a:off x="3254375" y="4075113"/>
          <a:ext cx="2378075" cy="487362"/>
        </p:xfrm>
        <a:graphic>
          <a:graphicData uri="http://schemas.openxmlformats.org/presentationml/2006/ole">
            <mc:AlternateContent xmlns:mc="http://schemas.openxmlformats.org/markup-compatibility/2006">
              <mc:Choice xmlns:v="urn:schemas-microsoft-com:vml" Requires="v">
                <p:oleObj r:id="rId5" imgW="1118235" imgH="228600" progId="">
                  <p:embed/>
                </p:oleObj>
              </mc:Choice>
              <mc:Fallback>
                <p:oleObj r:id="rId5" imgW="1118235" imgH="228600" progId="">
                  <p:embed/>
                  <p:pic>
                    <p:nvPicPr>
                      <p:cNvPr id="0" name="Object 4"/>
                      <p:cNvPicPr>
                        <a:picLocks noChangeAspect="1" noChangeArrowheads="1"/>
                      </p:cNvPicPr>
                      <p:nvPr/>
                    </p:nvPicPr>
                    <p:blipFill>
                      <a:blip r:embed="rId6">
                        <a:lum bright="-40000" contrast="-40000"/>
                        <a:extLst>
                          <a:ext uri="{28A0092B-C50C-407E-A947-70E740481C1C}">
                            <a14:useLocalDpi xmlns:a14="http://schemas.microsoft.com/office/drawing/2010/main" val="0"/>
                          </a:ext>
                        </a:extLst>
                      </a:blip>
                      <a:srcRect/>
                      <a:stretch>
                        <a:fillRect/>
                      </a:stretch>
                    </p:blipFill>
                    <p:spPr bwMode="auto">
                      <a:xfrm>
                        <a:off x="3254375" y="4075113"/>
                        <a:ext cx="2378075"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8005" name="Object 5"/>
          <p:cNvGraphicFramePr>
            <a:graphicFrameLocks noChangeAspect="1"/>
          </p:cNvGraphicFramePr>
          <p:nvPr/>
        </p:nvGraphicFramePr>
        <p:xfrm>
          <a:off x="1885950" y="4795838"/>
          <a:ext cx="2449512" cy="485775"/>
        </p:xfrm>
        <a:graphic>
          <a:graphicData uri="http://schemas.openxmlformats.org/presentationml/2006/ole">
            <mc:AlternateContent xmlns:mc="http://schemas.openxmlformats.org/markup-compatibility/2006">
              <mc:Choice xmlns:v="urn:schemas-microsoft-com:vml" Requires="v">
                <p:oleObj r:id="rId7" imgW="1156335" imgH="228600" progId="">
                  <p:embed/>
                </p:oleObj>
              </mc:Choice>
              <mc:Fallback>
                <p:oleObj r:id="rId7" imgW="1156335" imgH="228600" progId="">
                  <p:embed/>
                  <p:pic>
                    <p:nvPicPr>
                      <p:cNvPr id="0" name="Object 5"/>
                      <p:cNvPicPr>
                        <a:picLocks noChangeAspect="1" noChangeArrowheads="1"/>
                      </p:cNvPicPr>
                      <p:nvPr/>
                    </p:nvPicPr>
                    <p:blipFill>
                      <a:blip r:embed="rId8">
                        <a:lum bright="-40000" contrast="-40000"/>
                        <a:extLst>
                          <a:ext uri="{28A0092B-C50C-407E-A947-70E740481C1C}">
                            <a14:useLocalDpi xmlns:a14="http://schemas.microsoft.com/office/drawing/2010/main" val="0"/>
                          </a:ext>
                        </a:extLst>
                      </a:blip>
                      <a:srcRect/>
                      <a:stretch>
                        <a:fillRect/>
                      </a:stretch>
                    </p:blipFill>
                    <p:spPr bwMode="auto">
                      <a:xfrm>
                        <a:off x="1885950" y="4795838"/>
                        <a:ext cx="2449512"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8006" name="Object 6"/>
          <p:cNvGraphicFramePr>
            <a:graphicFrameLocks noChangeAspect="1"/>
          </p:cNvGraphicFramePr>
          <p:nvPr/>
        </p:nvGraphicFramePr>
        <p:xfrm>
          <a:off x="3686175" y="5516563"/>
          <a:ext cx="1370012" cy="503237"/>
        </p:xfrm>
        <a:graphic>
          <a:graphicData uri="http://schemas.openxmlformats.org/presentationml/2006/ole">
            <mc:AlternateContent xmlns:mc="http://schemas.openxmlformats.org/markup-compatibility/2006">
              <mc:Choice xmlns:v="urn:schemas-microsoft-com:vml" Requires="v">
                <p:oleObj r:id="rId9" imgW="648335" imgH="241300" progId="">
                  <p:embed/>
                </p:oleObj>
              </mc:Choice>
              <mc:Fallback>
                <p:oleObj r:id="rId9" imgW="648335" imgH="241300" progId="">
                  <p:embed/>
                  <p:pic>
                    <p:nvPicPr>
                      <p:cNvPr id="0" name="Object 6"/>
                      <p:cNvPicPr>
                        <a:picLocks noChangeAspect="1" noChangeArrowheads="1"/>
                      </p:cNvPicPr>
                      <p:nvPr/>
                    </p:nvPicPr>
                    <p:blipFill>
                      <a:blip r:embed="rId10">
                        <a:lum bright="-40000" contrast="-40000"/>
                        <a:extLst>
                          <a:ext uri="{28A0092B-C50C-407E-A947-70E740481C1C}">
                            <a14:useLocalDpi xmlns:a14="http://schemas.microsoft.com/office/drawing/2010/main" val="0"/>
                          </a:ext>
                        </a:extLst>
                      </a:blip>
                      <a:srcRect/>
                      <a:stretch>
                        <a:fillRect/>
                      </a:stretch>
                    </p:blipFill>
                    <p:spPr bwMode="auto">
                      <a:xfrm>
                        <a:off x="3686175" y="5516563"/>
                        <a:ext cx="137001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8007" name="Rectangle 19"/>
          <p:cNvSpPr>
            <a:spLocks noChangeArrowheads="1"/>
          </p:cNvSpPr>
          <p:nvPr/>
        </p:nvSpPr>
        <p:spPr bwMode="auto">
          <a:xfrm>
            <a:off x="1203389" y="1718751"/>
            <a:ext cx="1595309"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b="1" dirty="0">
                <a:latin typeface="Times New Roman" panose="02020603050405020304" pitchFamily="18" charset="0"/>
                <a:cs typeface="Times New Roman" panose="02020603050405020304" pitchFamily="18" charset="0"/>
              </a:rPr>
              <a:t>当</a:t>
            </a:r>
            <a:r>
              <a:rPr lang="en-US" altLang="zh-CN" sz="2400" b="1" i="1" dirty="0">
                <a:latin typeface="Times New Roman" panose="02020603050405020304" pitchFamily="18" charset="0"/>
                <a:cs typeface="Times New Roman" panose="02020603050405020304" pitchFamily="18" charset="0"/>
              </a:rPr>
              <a:t>k</a:t>
            </a:r>
            <a:r>
              <a:rPr lang="en-US" altLang="zh-CN" sz="2400" b="1"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时，</a:t>
            </a:r>
          </a:p>
        </p:txBody>
      </p:sp>
      <p:sp>
        <p:nvSpPr>
          <p:cNvPr id="128008" name="Rectangle 20"/>
          <p:cNvSpPr>
            <a:spLocks noChangeArrowheads="1"/>
          </p:cNvSpPr>
          <p:nvPr/>
        </p:nvSpPr>
        <p:spPr bwMode="auto">
          <a:xfrm>
            <a:off x="912451" y="3463413"/>
            <a:ext cx="2341923"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20000"/>
              </a:lnSpc>
            </a:pPr>
            <a:r>
              <a:rPr lang="zh-CN" altLang="en-US" sz="2400" b="1" dirty="0">
                <a:latin typeface="Times New Roman" panose="02020603050405020304" pitchFamily="18" charset="0"/>
                <a:cs typeface="Times New Roman" panose="02020603050405020304" pitchFamily="18" charset="0"/>
              </a:rPr>
              <a:t>其中</a:t>
            </a:r>
            <a:r>
              <a:rPr lang="en-US" altLang="zh-CN" sz="2400" b="1" i="1" dirty="0">
                <a:latin typeface="Times New Roman" panose="02020603050405020304" pitchFamily="18" charset="0"/>
                <a:cs typeface="Times New Roman" panose="02020603050405020304" pitchFamily="18" charset="0"/>
              </a:rPr>
              <a:t>D</a:t>
            </a:r>
            <a:r>
              <a:rPr lang="en-US" altLang="zh-CN" sz="2400" b="1" baseline="-25000" dirty="0">
                <a:latin typeface="Times New Roman" panose="02020603050405020304" pitchFamily="18" charset="0"/>
                <a:cs typeface="Times New Roman" panose="02020603050405020304" pitchFamily="18" charset="0"/>
              </a:rPr>
              <a:t>0</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s</a:t>
            </a:r>
            <a:r>
              <a:rPr lang="en-US" altLang="zh-CN" sz="2400" b="1" baseline="-25000" dirty="0">
                <a:latin typeface="Times New Roman" panose="02020603050405020304" pitchFamily="18" charset="0"/>
                <a:cs typeface="Times New Roman" panose="02020603050405020304" pitchFamily="18" charset="0"/>
              </a:rPr>
              <a:t>0</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满足</a:t>
            </a:r>
          </a:p>
        </p:txBody>
      </p:sp>
      <p:sp>
        <p:nvSpPr>
          <p:cNvPr id="128010"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EEB14D62-26F5-449D-8682-A582A4E9098F}" type="slidenum">
              <a:rPr lang="en-US" altLang="zh-CN" sz="1400">
                <a:latin typeface="Times New Roman" panose="02020603050405020304" pitchFamily="18" charset="0"/>
              </a:rPr>
              <a:t>42</a:t>
            </a:fld>
            <a:endParaRPr lang="en-US" altLang="zh-CN" sz="1400">
              <a:latin typeface="Times New Roman" panose="02020603050405020304" pitchFamily="18" charset="0"/>
            </a:endParaRPr>
          </a:p>
        </p:txBody>
      </p:sp>
      <p:sp>
        <p:nvSpPr>
          <p:cNvPr id="115758" name="Rectangle 2"/>
          <p:cNvSpPr txBox="1">
            <a:spLocks noChangeArrowheads="1"/>
          </p:cNvSpPr>
          <p:nvPr>
            <p:custDataLst>
              <p:tags r:id="rId1"/>
            </p:custDataLst>
          </p:nvPr>
        </p:nvSpPr>
        <p:spPr bwMode="auto">
          <a:xfrm>
            <a:off x="685800" y="836930"/>
            <a:ext cx="4362450" cy="610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3600" u="sng">
                <a:solidFill>
                  <a:schemeClr val="hlink"/>
                </a:solidFill>
                <a:latin typeface="Tahoma" panose="020B0604030504040204" pitchFamily="34" charset="0"/>
                <a:ea typeface="黑体" panose="02010609060101010101" pitchFamily="49" charset="-122"/>
              </a:rPr>
              <a:t>生产计划问题</a:t>
            </a:r>
            <a:r>
              <a:rPr lang="en-US" altLang="zh-CN" sz="3600" u="sng">
                <a:solidFill>
                  <a:schemeClr val="hlink"/>
                </a:solidFill>
                <a:latin typeface="Tahoma" panose="020B0604030504040204" pitchFamily="34" charset="0"/>
                <a:ea typeface="黑体" panose="02010609060101010101" pitchFamily="49" charset="-122"/>
              </a:rPr>
              <a:t>--</a:t>
            </a:r>
            <a:r>
              <a:rPr lang="zh-CN" altLang="en-US" sz="2800" u="sng">
                <a:solidFill>
                  <a:schemeClr val="hlink"/>
                </a:solidFill>
                <a:latin typeface="Tahoma" panose="020B0604030504040204" pitchFamily="34" charset="0"/>
                <a:ea typeface="黑体" panose="02010609060101010101" pitchFamily="49" charset="-122"/>
              </a:rPr>
              <a:t>算例</a:t>
            </a:r>
            <a:r>
              <a:rPr lang="en-US" altLang="zh-CN" sz="2800" u="sng">
                <a:solidFill>
                  <a:schemeClr val="hlink"/>
                </a:solidFill>
                <a:latin typeface="Tahoma" panose="020B0604030504040204" pitchFamily="34" charset="0"/>
                <a:ea typeface="黑体" panose="02010609060101010101" pitchFamily="49" charset="-122"/>
              </a:rPr>
              <a:t>5</a:t>
            </a:r>
          </a:p>
        </p:txBody>
      </p:sp>
      <p:sp>
        <p:nvSpPr>
          <p:cNvPr id="2" name="Rectangle 15">
            <a:extLst>
              <a:ext uri="{FF2B5EF4-FFF2-40B4-BE49-F238E27FC236}">
                <a16:creationId xmlns:a16="http://schemas.microsoft.com/office/drawing/2014/main" id="{98FA496A-391B-3A6B-D416-E4E52C185FA2}"/>
              </a:ext>
            </a:extLst>
          </p:cNvPr>
          <p:cNvSpPr>
            <a:spLocks noChangeArrowheads="1"/>
          </p:cNvSpPr>
          <p:nvPr/>
        </p:nvSpPr>
        <p:spPr bwMode="auto">
          <a:xfrm>
            <a:off x="1071270" y="5533257"/>
            <a:ext cx="2350323" cy="486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20000"/>
              </a:lnSpc>
            </a:pPr>
            <a:r>
              <a:rPr lang="zh-CN" altLang="en-US" sz="2400" b="1" dirty="0">
                <a:cs typeface="Times New Roman" panose="02020603050405020304" pitchFamily="18" charset="0"/>
              </a:rPr>
              <a:t>相应的最优解为</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9026" name="Object 2"/>
          <p:cNvGraphicFramePr>
            <a:graphicFrameLocks noChangeAspect="1"/>
          </p:cNvGraphicFramePr>
          <p:nvPr>
            <p:extLst>
              <p:ext uri="{D42A27DB-BD31-4B8C-83A1-F6EECF244321}">
                <p14:modId xmlns:p14="http://schemas.microsoft.com/office/powerpoint/2010/main" val="1882752152"/>
              </p:ext>
            </p:extLst>
          </p:nvPr>
        </p:nvGraphicFramePr>
        <p:xfrm>
          <a:off x="1088447" y="3209487"/>
          <a:ext cx="6967105" cy="533400"/>
        </p:xfrm>
        <a:graphic>
          <a:graphicData uri="http://schemas.openxmlformats.org/presentationml/2006/ole">
            <mc:AlternateContent xmlns:mc="http://schemas.openxmlformats.org/markup-compatibility/2006">
              <mc:Choice xmlns:v="urn:schemas-microsoft-com:vml" Requires="v">
                <p:oleObj name="Equation" r:id="rId3" imgW="64922400" imgH="5791200" progId="Equation.DSMT4">
                  <p:embed/>
                </p:oleObj>
              </mc:Choice>
              <mc:Fallback>
                <p:oleObj name="Equation" r:id="rId3" imgW="64922400" imgH="5791200" progId="Equation.DSMT4">
                  <p:embed/>
                  <p:pic>
                    <p:nvPicPr>
                      <p:cNvPr id="0" name="Object 2"/>
                      <p:cNvPicPr>
                        <a:picLocks noChangeAspect="1" noChangeArrowheads="1"/>
                      </p:cNvPicPr>
                      <p:nvPr/>
                    </p:nvPicPr>
                    <p:blipFill>
                      <a:blip r:embed="rId4">
                        <a:lum bright="-40000" contrast="-40000"/>
                      </a:blip>
                      <a:srcRect/>
                      <a:stretch>
                        <a:fillRect/>
                      </a:stretch>
                    </p:blipFill>
                    <p:spPr bwMode="auto">
                      <a:xfrm>
                        <a:off x="1088447" y="3209487"/>
                        <a:ext cx="6967105" cy="533400"/>
                      </a:xfrm>
                      <a:prstGeom prst="rect">
                        <a:avLst/>
                      </a:prstGeom>
                      <a:solidFill>
                        <a:schemeClr val="bg1">
                          <a:lumMod val="75000"/>
                        </a:schemeClr>
                      </a:solidFill>
                      <a:ln>
                        <a:noFill/>
                      </a:ln>
                    </p:spPr>
                  </p:pic>
                </p:oleObj>
              </mc:Fallback>
            </mc:AlternateContent>
          </a:graphicData>
        </a:graphic>
      </p:graphicFrame>
      <p:sp>
        <p:nvSpPr>
          <p:cNvPr id="129027" name="Rectangle 9"/>
          <p:cNvSpPr>
            <a:spLocks noChangeArrowheads="1"/>
          </p:cNvSpPr>
          <p:nvPr/>
        </p:nvSpPr>
        <p:spPr bwMode="auto">
          <a:xfrm>
            <a:off x="685800" y="1816735"/>
            <a:ext cx="7775575"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342900" indent="-342900" algn="just">
              <a:lnSpc>
                <a:spcPct val="150000"/>
              </a:lnSpc>
              <a:buClr>
                <a:srgbClr val="C00000"/>
              </a:buClr>
              <a:buFont typeface="Wingdings" panose="05000000000000000000" pitchFamily="2" charset="2"/>
              <a:buChar char="p"/>
            </a:pPr>
            <a:r>
              <a:rPr lang="zh-CN" altLang="en-US" sz="2400" b="1" dirty="0">
                <a:latin typeface="Times New Roman" panose="02020603050405020304" pitchFamily="18" charset="0"/>
                <a:cs typeface="Times New Roman" panose="02020603050405020304" pitchFamily="18" charset="0"/>
              </a:rPr>
              <a:t>因</a:t>
            </a:r>
            <a:r>
              <a:rPr lang="en-US" altLang="zh-CN" sz="2400" b="1" i="1" dirty="0">
                <a:latin typeface="Times New Roman" panose="02020603050405020304" pitchFamily="18" charset="0"/>
                <a:cs typeface="Times New Roman" panose="02020603050405020304" pitchFamily="18" charset="0"/>
              </a:rPr>
              <a:t>s</a:t>
            </a:r>
            <a:r>
              <a:rPr lang="en-US" altLang="zh-CN" sz="2400" b="1" baseline="-25000" dirty="0">
                <a:latin typeface="Times New Roman" panose="02020603050405020304" pitchFamily="18" charset="0"/>
                <a:cs typeface="Times New Roman" panose="02020603050405020304" pitchFamily="18" charset="0"/>
              </a:rPr>
              <a:t>0</a:t>
            </a:r>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，所以 </a:t>
            </a:r>
            <a:r>
              <a:rPr lang="en-US" altLang="zh-CN" sz="2400" b="1" i="1" dirty="0">
                <a:latin typeface="Times New Roman" panose="02020603050405020304" pitchFamily="18" charset="0"/>
                <a:cs typeface="Times New Roman" panose="02020603050405020304" pitchFamily="18" charset="0"/>
              </a:rPr>
              <a:t>f</a:t>
            </a:r>
            <a:r>
              <a:rPr lang="en-US" altLang="zh-CN" sz="2400" b="1" baseline="-25000" dirty="0">
                <a:latin typeface="Times New Roman" panose="02020603050405020304" pitchFamily="18" charset="0"/>
                <a:cs typeface="Times New Roman" panose="02020603050405020304" pitchFamily="18" charset="0"/>
              </a:rPr>
              <a:t>0</a:t>
            </a:r>
            <a:r>
              <a:rPr lang="en-US" altLang="zh-CN" sz="2400" b="1" dirty="0">
                <a:latin typeface="Times New Roman" panose="02020603050405020304" pitchFamily="18" charset="0"/>
                <a:cs typeface="Times New Roman" panose="02020603050405020304" pitchFamily="18" charset="0"/>
              </a:rPr>
              <a:t>=357 </a:t>
            </a:r>
            <a:r>
              <a:rPr lang="zh-CN" altLang="en-US" sz="2400" b="1" dirty="0">
                <a:latin typeface="Times New Roman" panose="02020603050405020304" pitchFamily="18" charset="0"/>
                <a:cs typeface="Times New Roman" panose="02020603050405020304" pitchFamily="18" charset="0"/>
              </a:rPr>
              <a:t>和 </a:t>
            </a:r>
            <a:r>
              <a:rPr lang="en-US" altLang="zh-CN" sz="2400" b="1" i="1" dirty="0">
                <a:latin typeface="Times New Roman" panose="02020603050405020304" pitchFamily="18" charset="0"/>
                <a:cs typeface="Times New Roman" panose="02020603050405020304" pitchFamily="18" charset="0"/>
              </a:rPr>
              <a:t>u</a:t>
            </a:r>
            <a:r>
              <a:rPr lang="en-US" altLang="zh-CN" sz="2400" b="1" baseline="-25000" dirty="0">
                <a:latin typeface="Times New Roman" panose="02020603050405020304" pitchFamily="18" charset="0"/>
                <a:cs typeface="Times New Roman" panose="02020603050405020304" pitchFamily="18" charset="0"/>
              </a:rPr>
              <a:t>0</a:t>
            </a:r>
            <a:r>
              <a:rPr lang="en-US" altLang="zh-CN" sz="2400" b="1" dirty="0">
                <a:latin typeface="Times New Roman" panose="02020603050405020304" pitchFamily="18" charset="0"/>
                <a:cs typeface="Times New Roman" panose="02020603050405020304" pitchFamily="18" charset="0"/>
              </a:rPr>
              <a:t>*=7</a:t>
            </a:r>
            <a:r>
              <a:rPr lang="zh-CN" altLang="en-US" sz="2400" b="1" dirty="0">
                <a:latin typeface="Times New Roman" panose="02020603050405020304" pitchFamily="18" charset="0"/>
                <a:cs typeface="Times New Roman" panose="02020603050405020304" pitchFamily="18" charset="0"/>
              </a:rPr>
              <a:t>。再按计算顺序反推，即得各阶段最优决策为：</a:t>
            </a:r>
          </a:p>
        </p:txBody>
      </p:sp>
      <p:sp>
        <p:nvSpPr>
          <p:cNvPr id="129028" name="Rectangle 11"/>
          <p:cNvSpPr>
            <a:spLocks noChangeArrowheads="1"/>
          </p:cNvSpPr>
          <p:nvPr/>
        </p:nvSpPr>
        <p:spPr bwMode="auto">
          <a:xfrm>
            <a:off x="757237" y="4203728"/>
            <a:ext cx="7777163" cy="113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342900" indent="-342900" algn="just">
              <a:lnSpc>
                <a:spcPct val="150000"/>
              </a:lnSpc>
              <a:buClr>
                <a:srgbClr val="C00000"/>
              </a:buClr>
              <a:buFont typeface="Wingdings" panose="05000000000000000000" pitchFamily="2" charset="2"/>
              <a:buChar char="p"/>
            </a:pPr>
            <a:r>
              <a:rPr lang="zh-CN" altLang="en-US" sz="2400" b="1" dirty="0">
                <a:latin typeface="Times New Roman" panose="02020603050405020304" pitchFamily="18" charset="0"/>
                <a:cs typeface="Times New Roman" panose="02020603050405020304" pitchFamily="18" charset="0"/>
              </a:rPr>
              <a:t>所以，</a:t>
            </a:r>
            <a:r>
              <a:rPr lang="en-US" altLang="zh-CN" sz="2400" b="1"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至</a:t>
            </a:r>
            <a:r>
              <a:rPr lang="en-US" altLang="zh-CN" sz="2400" b="1" dirty="0">
                <a:latin typeface="Times New Roman" panose="02020603050405020304" pitchFamily="18" charset="0"/>
                <a:cs typeface="Times New Roman" panose="02020603050405020304" pitchFamily="18" charset="0"/>
              </a:rPr>
              <a:t>5</a:t>
            </a:r>
            <a:r>
              <a:rPr lang="zh-CN" altLang="en-US" sz="2400" b="1" dirty="0">
                <a:latin typeface="Times New Roman" panose="02020603050405020304" pitchFamily="18" charset="0"/>
                <a:cs typeface="Times New Roman" panose="02020603050405020304" pitchFamily="18" charset="0"/>
              </a:rPr>
              <a:t>月最优生产计划为：</a:t>
            </a:r>
            <a:r>
              <a:rPr lang="en-US" altLang="zh-CN" sz="2400" b="1" dirty="0">
                <a:latin typeface="Times New Roman" panose="02020603050405020304" pitchFamily="18" charset="0"/>
                <a:cs typeface="Times New Roman" panose="02020603050405020304" pitchFamily="18" charset="0"/>
              </a:rPr>
              <a:t>7</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4</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9</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3</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4</a:t>
            </a:r>
            <a:r>
              <a:rPr lang="zh-CN" altLang="en-US" sz="2400" b="1" dirty="0">
                <a:latin typeface="Times New Roman" panose="02020603050405020304" pitchFamily="18" charset="0"/>
                <a:cs typeface="Times New Roman" panose="02020603050405020304" pitchFamily="18" charset="0"/>
              </a:rPr>
              <a:t>，相应的最小总工时数为</a:t>
            </a:r>
            <a:r>
              <a:rPr lang="en-US" altLang="zh-CN" sz="2400" b="1" dirty="0">
                <a:latin typeface="Times New Roman" panose="02020603050405020304" pitchFamily="18" charset="0"/>
                <a:cs typeface="Times New Roman" panose="02020603050405020304" pitchFamily="18" charset="0"/>
              </a:rPr>
              <a:t>357</a:t>
            </a:r>
            <a:r>
              <a:rPr lang="zh-CN" altLang="en-US" sz="2400" b="1" dirty="0">
                <a:latin typeface="Times New Roman" panose="02020603050405020304" pitchFamily="18" charset="0"/>
                <a:cs typeface="Times New Roman" panose="02020603050405020304" pitchFamily="18" charset="0"/>
              </a:rPr>
              <a:t>。</a:t>
            </a:r>
            <a:r>
              <a:rPr lang="zh-CN" altLang="en-US" sz="2400" b="1" dirty="0"/>
              <a:t> </a:t>
            </a:r>
          </a:p>
        </p:txBody>
      </p:sp>
      <p:sp>
        <p:nvSpPr>
          <p:cNvPr id="129031" name="灯片编号占位符 3"/>
          <p:cNvSpPr txBox="1">
            <a:spLocks noGrp="1" noChangeArrowheads="1"/>
          </p:cNvSpPr>
          <p:nvPr/>
        </p:nvSpPr>
        <p:spPr bwMode="auto">
          <a:xfrm>
            <a:off x="704215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FontTx/>
              <a:buNone/>
            </a:pPr>
            <a:fld id="{A05B29B4-4960-4E4E-84FA-55E5F156FE8C}" type="slidenum">
              <a:rPr lang="en-US" altLang="zh-CN" sz="1400">
                <a:latin typeface="Times New Roman" panose="02020603050405020304" pitchFamily="18" charset="0"/>
              </a:rPr>
              <a:t>43</a:t>
            </a:fld>
            <a:endParaRPr lang="en-US" altLang="zh-CN" sz="1400">
              <a:latin typeface="Times New Roman" panose="02020603050405020304" pitchFamily="18" charset="0"/>
            </a:endParaRPr>
          </a:p>
        </p:txBody>
      </p:sp>
      <p:sp>
        <p:nvSpPr>
          <p:cNvPr id="115758" name="Rectangle 2"/>
          <p:cNvSpPr txBox="1">
            <a:spLocks noChangeArrowheads="1"/>
          </p:cNvSpPr>
          <p:nvPr>
            <p:custDataLst>
              <p:tags r:id="rId1"/>
            </p:custDataLst>
          </p:nvPr>
        </p:nvSpPr>
        <p:spPr bwMode="auto">
          <a:xfrm>
            <a:off x="685800" y="836930"/>
            <a:ext cx="4362450" cy="610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3600" u="sng">
                <a:solidFill>
                  <a:schemeClr val="hlink"/>
                </a:solidFill>
                <a:latin typeface="Tahoma" panose="020B0604030504040204" pitchFamily="34" charset="0"/>
                <a:ea typeface="黑体" panose="02010609060101010101" pitchFamily="49" charset="-122"/>
              </a:rPr>
              <a:t>生产计划问题</a:t>
            </a:r>
            <a:r>
              <a:rPr lang="en-US" altLang="zh-CN" sz="3600" u="sng">
                <a:solidFill>
                  <a:schemeClr val="hlink"/>
                </a:solidFill>
                <a:latin typeface="Tahoma" panose="020B0604030504040204" pitchFamily="34" charset="0"/>
                <a:ea typeface="黑体" panose="02010609060101010101" pitchFamily="49" charset="-122"/>
              </a:rPr>
              <a:t>--</a:t>
            </a:r>
            <a:r>
              <a:rPr lang="zh-CN" altLang="en-US" sz="2800" u="sng">
                <a:solidFill>
                  <a:schemeClr val="hlink"/>
                </a:solidFill>
                <a:latin typeface="Tahoma" panose="020B0604030504040204" pitchFamily="34" charset="0"/>
                <a:ea typeface="黑体" panose="02010609060101010101" pitchFamily="49" charset="-122"/>
              </a:rPr>
              <a:t>算例</a:t>
            </a:r>
            <a:r>
              <a:rPr lang="en-US" altLang="zh-CN" sz="2800" u="sng">
                <a:solidFill>
                  <a:schemeClr val="hlink"/>
                </a:solidFill>
                <a:latin typeface="Tahoma" panose="020B0604030504040204" pitchFamily="34" charset="0"/>
                <a:ea typeface="黑体" panose="02010609060101010101" pitchFamily="49" charset="-122"/>
              </a:rPr>
              <a:t>5</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640773" y="598487"/>
            <a:ext cx="2043112" cy="741363"/>
          </a:xfrm>
        </p:spPr>
        <p:txBody>
          <a:bodyPr/>
          <a:lstStyle/>
          <a:p>
            <a:pPr eaLnBrk="1" hangingPunct="1"/>
            <a:r>
              <a:rPr lang="zh-CN" altLang="en-US" sz="3200" dirty="0">
                <a:latin typeface="宋体" panose="02010600030101010101" pitchFamily="2" charset="-122"/>
              </a:rPr>
              <a:t>课后作业</a:t>
            </a:r>
          </a:p>
        </p:txBody>
      </p:sp>
      <p:sp>
        <p:nvSpPr>
          <p:cNvPr id="104451" name="Rectangle 3"/>
          <p:cNvSpPr>
            <a:spLocks noGrp="1" noChangeArrowheads="1"/>
          </p:cNvSpPr>
          <p:nvPr>
            <p:ph idx="1"/>
          </p:nvPr>
        </p:nvSpPr>
        <p:spPr>
          <a:xfrm>
            <a:off x="609600" y="1793081"/>
            <a:ext cx="1981200" cy="1635919"/>
          </a:xfrm>
        </p:spPr>
        <p:txBody>
          <a:bodyPr/>
          <a:lstStyle/>
          <a:p>
            <a:pPr marL="812800" indent="-812800" algn="just" eaLnBrk="1" hangingPunct="1">
              <a:lnSpc>
                <a:spcPct val="120000"/>
              </a:lnSpc>
            </a:pPr>
            <a:r>
              <a:rPr lang="en-US" altLang="zh-CN" dirty="0">
                <a:latin typeface="Times New Roman" panose="02020603050405020304" pitchFamily="18" charset="0"/>
              </a:rPr>
              <a:t>P.304</a:t>
            </a:r>
          </a:p>
          <a:p>
            <a:pPr lvl="1" algn="just" eaLnBrk="1" hangingPunct="1">
              <a:lnSpc>
                <a:spcPct val="120000"/>
              </a:lnSpc>
              <a:spcBef>
                <a:spcPts val="0"/>
              </a:spcBef>
              <a:buFont typeface="Wingdings" panose="05000000000000000000" pitchFamily="2" charset="2"/>
              <a:buChar char="Ø"/>
            </a:pPr>
            <a:r>
              <a:rPr lang="en-US" altLang="zh-CN" b="1" dirty="0">
                <a:solidFill>
                  <a:srgbClr val="002060"/>
                </a:solidFill>
                <a:latin typeface="Times New Roman" panose="02020603050405020304" pitchFamily="18" charset="0"/>
              </a:rPr>
              <a:t>8.8</a:t>
            </a:r>
          </a:p>
          <a:p>
            <a:pPr lvl="1" algn="just" eaLnBrk="1" hangingPunct="1">
              <a:lnSpc>
                <a:spcPct val="120000"/>
              </a:lnSpc>
              <a:spcBef>
                <a:spcPts val="0"/>
              </a:spcBef>
              <a:buFont typeface="Wingdings" panose="05000000000000000000" pitchFamily="2" charset="2"/>
              <a:buChar char="Ø"/>
            </a:pPr>
            <a:r>
              <a:rPr lang="en-US" altLang="zh-CN" b="1" dirty="0">
                <a:solidFill>
                  <a:srgbClr val="002060"/>
                </a:solidFill>
                <a:latin typeface="Times New Roman" panose="02020603050405020304" pitchFamily="18" charset="0"/>
              </a:rPr>
              <a:t>8.9</a:t>
            </a:r>
          </a:p>
        </p:txBody>
      </p:sp>
      <p:sp>
        <p:nvSpPr>
          <p:cNvPr id="10" name="Rectangle 3"/>
          <p:cNvSpPr txBox="1">
            <a:spLocks noChangeArrowheads="1"/>
          </p:cNvSpPr>
          <p:nvPr/>
        </p:nvSpPr>
        <p:spPr bwMode="auto">
          <a:xfrm>
            <a:off x="609600" y="5257800"/>
            <a:ext cx="778062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lvl="1" algn="just" eaLnBrk="1" hangingPunct="1">
              <a:lnSpc>
                <a:spcPct val="120000"/>
              </a:lnSpc>
              <a:spcBef>
                <a:spcPts val="0"/>
              </a:spcBef>
              <a:buFont typeface="Wingdings" panose="05000000000000000000" pitchFamily="2" charset="2"/>
              <a:buChar char="Ø"/>
            </a:pPr>
            <a:r>
              <a:rPr lang="en-US" altLang="zh-CN" b="1" kern="0" dirty="0">
                <a:solidFill>
                  <a:srgbClr val="002060"/>
                </a:solidFill>
                <a:latin typeface="Times New Roman" panose="02020603050405020304" pitchFamily="18" charset="0"/>
              </a:rPr>
              <a:t>8.12 </a:t>
            </a:r>
            <a:r>
              <a:rPr lang="zh-CN" altLang="en-US" sz="1600" b="1" dirty="0">
                <a:solidFill>
                  <a:schemeClr val="tx1"/>
                </a:solidFill>
                <a:latin typeface="+mn-ea"/>
              </a:rPr>
              <a:t>若例</a:t>
            </a:r>
            <a:r>
              <a:rPr lang="en-US" altLang="zh-CN" sz="1600" b="1" dirty="0">
                <a:solidFill>
                  <a:schemeClr val="tx1"/>
                </a:solidFill>
                <a:latin typeface="+mn-ea"/>
              </a:rPr>
              <a:t>8-7</a:t>
            </a:r>
            <a:r>
              <a:rPr lang="zh-CN" altLang="en-US" sz="1600" b="1" dirty="0">
                <a:solidFill>
                  <a:schemeClr val="tx1"/>
                </a:solidFill>
                <a:latin typeface="+mn-ea"/>
              </a:rPr>
              <a:t>中毎时期的生产数量无限制，其余条件保持不变，试解之。</a:t>
            </a:r>
          </a:p>
        </p:txBody>
      </p:sp>
      <p:pic>
        <p:nvPicPr>
          <p:cNvPr id="12" name="图片 11"/>
          <p:cNvPicPr>
            <a:picLocks noChangeAspect="1"/>
          </p:cNvPicPr>
          <p:nvPr/>
        </p:nvPicPr>
        <p:blipFill>
          <a:blip r:embed="rId2"/>
          <a:stretch>
            <a:fillRect/>
          </a:stretch>
        </p:blipFill>
        <p:spPr>
          <a:xfrm>
            <a:off x="2667000" y="1932314"/>
            <a:ext cx="6016934" cy="3173086"/>
          </a:xfrm>
          <a:prstGeom prst="rect">
            <a:avLst/>
          </a:prstGeom>
        </p:spPr>
      </p:pic>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WQ3NzQ3NTRiZTMxMTU0ZTlkZmZlMDczMDM1Mzg5MGQ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TABLE_ENDDRAG_ORIGIN_RECT" val="230*74"/>
  <p:tag name="TABLE_ENDDRAG_RECT" val="450*29*230*74"/>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TABLE_ENDDRAG_ORIGIN_RECT" val="240*75"/>
  <p:tag name="TABLE_ENDDRAG_RECT" val="452*42*240*75"/>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TABLE_ENDDRAG_ORIGIN_RECT" val="230*74"/>
  <p:tag name="TABLE_ENDDRAG_RECT" val="450*29*230*74"/>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TABLE_ENDDRAG_ORIGIN_RECT" val="242*81"/>
  <p:tag name="TABLE_ENDDRAG_RECT" val="452*14*242*81"/>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TABLE_ENDDRAG_ORIGIN_RECT" val="230*74"/>
  <p:tag name="TABLE_ENDDRAG_RECT" val="450*29*230*74"/>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TABLE_ENDDRAG_ORIGIN_RECT" val="230*74"/>
  <p:tag name="TABLE_ENDDRAG_RECT" val="450*29*230*74"/>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TABLE_ENDDRAG_ORIGIN_RECT" val="230*74"/>
  <p:tag name="TABLE_ENDDRAG_RECT" val="450*29*230*74"/>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TABLE_ENDDRAG_ORIGIN_RECT" val="230*74"/>
  <p:tag name="TABLE_ENDDRAG_RECT" val="450*29*230*74"/>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TABLE_ENDDRAG_ORIGIN_RECT" val="230*74"/>
  <p:tag name="TABLE_ENDDRAG_RECT" val="450*29*230*74"/>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TABLE_ENDDRAG_ORIGIN_RECT" val="230*74"/>
  <p:tag name="TABLE_ENDDRAG_RECT" val="450*29*230*74"/>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TABLE_ENDDRAG_ORIGIN_RECT" val="230*74"/>
  <p:tag name="TABLE_ENDDRAG_RECT" val="450*29*230*74"/>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284</TotalTime>
  <Words>2176</Words>
  <Application>Microsoft Office PowerPoint</Application>
  <PresentationFormat>全屏显示(4:3)</PresentationFormat>
  <Paragraphs>470</Paragraphs>
  <Slides>44</Slides>
  <Notes>2</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44</vt:i4>
      </vt:variant>
    </vt:vector>
  </HeadingPairs>
  <TitlesOfParts>
    <vt:vector size="55" baseType="lpstr">
      <vt:lpstr>黑体</vt:lpstr>
      <vt:lpstr>宋体</vt:lpstr>
      <vt:lpstr>Arial</vt:lpstr>
      <vt:lpstr>Calibri</vt:lpstr>
      <vt:lpstr>Tahoma</vt:lpstr>
      <vt:lpstr>Times New Roman</vt:lpstr>
      <vt:lpstr>Verdana</vt:lpstr>
      <vt:lpstr>Wingdings</vt:lpstr>
      <vt:lpstr>Profile</vt:lpstr>
      <vt:lpstr>MathType 6.0 Equation</vt:lpstr>
      <vt:lpstr>Equation</vt:lpstr>
      <vt:lpstr>第8章  动态规划-应用举例</vt:lpstr>
      <vt:lpstr>2. 生产与存储问题</vt:lpstr>
      <vt:lpstr>PowerPoint 演示文稿</vt:lpstr>
      <vt:lpstr>PowerPoint 演示文稿</vt:lpstr>
      <vt:lpstr>PowerPoint 演示文稿</vt:lpstr>
      <vt:lpstr>PowerPoint 演示文稿</vt:lpstr>
      <vt:lpstr>PowerPoint 演示文稿</vt:lpstr>
      <vt:lpstr>动态规划模型-----顺推法</vt:lpstr>
      <vt:lpstr>动态规划模型-----顺推法</vt:lpstr>
      <vt:lpstr>动态规划模型</vt:lpstr>
      <vt:lpstr>PowerPoint 演示文稿</vt:lpstr>
      <vt:lpstr>动态规划模型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课后作业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think</dc:creator>
  <cp:lastModifiedBy>hq</cp:lastModifiedBy>
  <cp:revision>646</cp:revision>
  <cp:lastPrinted>2113-01-01T00:00:00Z</cp:lastPrinted>
  <dcterms:created xsi:type="dcterms:W3CDTF">2113-01-01T00:00:00Z</dcterms:created>
  <dcterms:modified xsi:type="dcterms:W3CDTF">2024-12-15T15:17:22Z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892BC2D7BCF240C4886D8D310129D780_12</vt:lpwstr>
  </property>
  <property fmtid="{D5CDD505-2E9C-101B-9397-08002B2CF9AE}" pid="4" name="KSOProductBuildVer">
    <vt:lpwstr>2052-12.1.0.15990</vt:lpwstr>
  </property>
</Properties>
</file>