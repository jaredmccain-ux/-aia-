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6"/>
  </p:notesMasterIdLst>
  <p:handoutMasterIdLst>
    <p:handoutMasterId r:id="rId107"/>
  </p:handoutMasterIdLst>
  <p:sldIdLst>
    <p:sldId id="671" r:id="rId2"/>
    <p:sldId id="557" r:id="rId3"/>
    <p:sldId id="547" r:id="rId4"/>
    <p:sldId id="548" r:id="rId5"/>
    <p:sldId id="549" r:id="rId6"/>
    <p:sldId id="550" r:id="rId7"/>
    <p:sldId id="551" r:id="rId8"/>
    <p:sldId id="552" r:id="rId9"/>
    <p:sldId id="556" r:id="rId10"/>
    <p:sldId id="553" r:id="rId11"/>
    <p:sldId id="554" r:id="rId12"/>
    <p:sldId id="555" r:id="rId13"/>
    <p:sldId id="672" r:id="rId14"/>
    <p:sldId id="493" r:id="rId15"/>
    <p:sldId id="494" r:id="rId16"/>
    <p:sldId id="664" r:id="rId17"/>
    <p:sldId id="499" r:id="rId18"/>
    <p:sldId id="542" r:id="rId19"/>
    <p:sldId id="501" r:id="rId20"/>
    <p:sldId id="502" r:id="rId21"/>
    <p:sldId id="503" r:id="rId22"/>
    <p:sldId id="599" r:id="rId23"/>
    <p:sldId id="505" r:id="rId24"/>
    <p:sldId id="506" r:id="rId25"/>
    <p:sldId id="509" r:id="rId26"/>
    <p:sldId id="543" r:id="rId27"/>
    <p:sldId id="511" r:id="rId28"/>
    <p:sldId id="665" r:id="rId29"/>
    <p:sldId id="666" r:id="rId30"/>
    <p:sldId id="673" r:id="rId31"/>
    <p:sldId id="567" r:id="rId32"/>
    <p:sldId id="594" r:id="rId33"/>
    <p:sldId id="566" r:id="rId34"/>
    <p:sldId id="667" r:id="rId35"/>
    <p:sldId id="600" r:id="rId36"/>
    <p:sldId id="668" r:id="rId37"/>
    <p:sldId id="669" r:id="rId38"/>
    <p:sldId id="670" r:id="rId39"/>
    <p:sldId id="581" r:id="rId40"/>
    <p:sldId id="586" r:id="rId41"/>
    <p:sldId id="588" r:id="rId42"/>
    <p:sldId id="589" r:id="rId43"/>
    <p:sldId id="590" r:id="rId44"/>
    <p:sldId id="597" r:id="rId45"/>
    <p:sldId id="591" r:id="rId46"/>
    <p:sldId id="596" r:id="rId47"/>
    <p:sldId id="595" r:id="rId48"/>
    <p:sldId id="592" r:id="rId49"/>
    <p:sldId id="593" r:id="rId50"/>
    <p:sldId id="568" r:id="rId51"/>
    <p:sldId id="569" r:id="rId52"/>
    <p:sldId id="570" r:id="rId53"/>
    <p:sldId id="571" r:id="rId54"/>
    <p:sldId id="572" r:id="rId55"/>
    <p:sldId id="573" r:id="rId56"/>
    <p:sldId id="574" r:id="rId57"/>
    <p:sldId id="575" r:id="rId58"/>
    <p:sldId id="576" r:id="rId59"/>
    <p:sldId id="577" r:id="rId60"/>
    <p:sldId id="578" r:id="rId61"/>
    <p:sldId id="579" r:id="rId62"/>
    <p:sldId id="674" r:id="rId63"/>
    <p:sldId id="675" r:id="rId64"/>
    <p:sldId id="676" r:id="rId65"/>
    <p:sldId id="677" r:id="rId66"/>
    <p:sldId id="678" r:id="rId67"/>
    <p:sldId id="679" r:id="rId68"/>
    <p:sldId id="680" r:id="rId69"/>
    <p:sldId id="681" r:id="rId70"/>
    <p:sldId id="682" r:id="rId71"/>
    <p:sldId id="683" r:id="rId72"/>
    <p:sldId id="684" r:id="rId73"/>
    <p:sldId id="685" r:id="rId74"/>
    <p:sldId id="686" r:id="rId75"/>
    <p:sldId id="687" r:id="rId76"/>
    <p:sldId id="688" r:id="rId77"/>
    <p:sldId id="689" r:id="rId78"/>
    <p:sldId id="690" r:id="rId79"/>
    <p:sldId id="691" r:id="rId80"/>
    <p:sldId id="692" r:id="rId81"/>
    <p:sldId id="693" r:id="rId82"/>
    <p:sldId id="694" r:id="rId83"/>
    <p:sldId id="695" r:id="rId84"/>
    <p:sldId id="696" r:id="rId85"/>
    <p:sldId id="697" r:id="rId86"/>
    <p:sldId id="698" r:id="rId87"/>
    <p:sldId id="699" r:id="rId88"/>
    <p:sldId id="700" r:id="rId89"/>
    <p:sldId id="701" r:id="rId90"/>
    <p:sldId id="702" r:id="rId91"/>
    <p:sldId id="703" r:id="rId92"/>
    <p:sldId id="704" r:id="rId93"/>
    <p:sldId id="705" r:id="rId94"/>
    <p:sldId id="706" r:id="rId95"/>
    <p:sldId id="707" r:id="rId96"/>
    <p:sldId id="708" r:id="rId97"/>
    <p:sldId id="709" r:id="rId98"/>
    <p:sldId id="710" r:id="rId99"/>
    <p:sldId id="711" r:id="rId100"/>
    <p:sldId id="712" r:id="rId101"/>
    <p:sldId id="713" r:id="rId102"/>
    <p:sldId id="714" r:id="rId103"/>
    <p:sldId id="598" r:id="rId104"/>
    <p:sldId id="508" r:id="rId105"/>
  </p:sldIdLst>
  <p:sldSz cx="9144000" cy="6858000" type="screen4x3"/>
  <p:notesSz cx="7099300" cy="10234613"/>
  <p:custShowLst>
    <p:custShow name="自定义放映1" id="0">
      <p:sldLst/>
    </p:custShow>
  </p:custShowLst>
  <p:custDataLst>
    <p:tags r:id="rId108"/>
  </p:custDataLst>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23">
          <p15:clr>
            <a:srgbClr val="A4A3A4"/>
          </p15:clr>
        </p15:guide>
      </p15:sldGuideLst>
    </p:ext>
    <p:ext uri="{2D200454-40CA-4A62-9FC3-DE9A4176ACB9}">
      <p15:notesGuideLst xmlns:p15="http://schemas.microsoft.com/office/powerpoint/2012/main">
        <p15:guide id="1" orient="horz" pos="3223">
          <p15:clr>
            <a:srgbClr val="A4A3A4"/>
          </p15:clr>
        </p15:guide>
        <p15:guide id="2" pos="227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CCFF"/>
    <a:srgbClr val="CC99FF"/>
    <a:srgbClr val="CC0099"/>
    <a:srgbClr val="0000FF"/>
    <a:srgbClr val="006600"/>
    <a:srgbClr val="02E0FE"/>
    <a:srgbClr val="EDFF01"/>
    <a:srgbClr val="02E6FE"/>
    <a:srgbClr val="B6CB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4652" autoAdjust="0"/>
  </p:normalViewPr>
  <p:slideViewPr>
    <p:cSldViewPr>
      <p:cViewPr varScale="1">
        <p:scale>
          <a:sx n="81" d="100"/>
          <a:sy n="81" d="100"/>
        </p:scale>
        <p:origin x="1426" y="62"/>
      </p:cViewPr>
      <p:guideLst>
        <p:guide orient="horz" pos="2160"/>
        <p:guide pos="29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6"/>
    </p:cViewPr>
  </p:sorterViewPr>
  <p:notesViewPr>
    <p:cSldViewPr>
      <p:cViewPr varScale="1">
        <p:scale>
          <a:sx n="46" d="100"/>
          <a:sy n="46" d="100"/>
        </p:scale>
        <p:origin x="-1362" y="-78"/>
      </p:cViewPr>
      <p:guideLst>
        <p:guide orient="horz" pos="3223"/>
        <p:guide pos="227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gs" Target="tags/tag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4" Type="http://schemas.openxmlformats.org/officeDocument/2006/relationships/image" Target="../media/image70.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4" Type="http://schemas.openxmlformats.org/officeDocument/2006/relationships/image" Target="../media/image7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emf"/><Relationship Id="rId1" Type="http://schemas.openxmlformats.org/officeDocument/2006/relationships/image" Target="../media/image83.wmf"/><Relationship Id="rId4" Type="http://schemas.openxmlformats.org/officeDocument/2006/relationships/image" Target="../media/image8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image" Target="../media/image115.wmf"/><Relationship Id="rId7" Type="http://schemas.openxmlformats.org/officeDocument/2006/relationships/image" Target="../media/image119.wmf"/><Relationship Id="rId2" Type="http://schemas.openxmlformats.org/officeDocument/2006/relationships/image" Target="../media/image114.wmf"/><Relationship Id="rId1" Type="http://schemas.openxmlformats.org/officeDocument/2006/relationships/image" Target="../media/image113.wmf"/><Relationship Id="rId6" Type="http://schemas.openxmlformats.org/officeDocument/2006/relationships/image" Target="../media/image118.wmf"/><Relationship Id="rId5" Type="http://schemas.openxmlformats.org/officeDocument/2006/relationships/image" Target="../media/image117.wmf"/><Relationship Id="rId4" Type="http://schemas.openxmlformats.org/officeDocument/2006/relationships/image" Target="../media/image116.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image" Target="../media/image118.wmf"/><Relationship Id="rId7" Type="http://schemas.openxmlformats.org/officeDocument/2006/relationships/image" Target="../media/image126.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4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4" Type="http://schemas.openxmlformats.org/officeDocument/2006/relationships/image" Target="../media/image144.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4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a:defRPr/>
            </a:pPr>
            <a:endParaRPr lang="en-US" altLang="zh-CN"/>
          </a:p>
        </p:txBody>
      </p:sp>
      <p:sp>
        <p:nvSpPr>
          <p:cNvPr id="31747"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a:defRPr/>
            </a:pPr>
            <a:fld id="{6904216F-A42B-480E-B142-AE1ED56661CC}" type="datetime1">
              <a:rPr lang="zh-CN" altLang="en-US" smtClean="0"/>
              <a:t>2025/11/11</a:t>
            </a:fld>
            <a:endParaRPr lang="en-US" altLang="zh-CN" dirty="0"/>
          </a:p>
        </p:txBody>
      </p:sp>
      <p:sp>
        <p:nvSpPr>
          <p:cNvPr id="31748"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a:defRPr/>
            </a:pPr>
            <a:endParaRPr lang="en-US" altLang="zh-CN"/>
          </a:p>
        </p:txBody>
      </p:sp>
      <p:sp>
        <p:nvSpPr>
          <p:cNvPr id="31749"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a:defRPr/>
            </a:pPr>
            <a:fld id="{FA0C68B1-5A8B-4597-8BC9-7228ADE9EB8B}"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a:defRPr/>
            </a:pPr>
            <a:endParaRPr lang="en-US" altLang="zh-CN"/>
          </a:p>
        </p:txBody>
      </p:sp>
      <p:sp>
        <p:nvSpPr>
          <p:cNvPr id="3072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a:defRPr/>
            </a:pPr>
            <a:fld id="{17A4F056-5603-45A0-8582-863F6CBA97F2}" type="datetime1">
              <a:rPr lang="zh-CN" altLang="en-US" smtClean="0"/>
              <a:t>2025/11/11</a:t>
            </a:fld>
            <a:endParaRPr lang="en-US" altLang="zh-CN" dirty="0"/>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3072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a:defRPr/>
            </a:pPr>
            <a:endParaRPr lang="en-US" altLang="zh-CN"/>
          </a:p>
        </p:txBody>
      </p:sp>
      <p:sp>
        <p:nvSpPr>
          <p:cNvPr id="3072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a:defRPr/>
            </a:pPr>
            <a:fld id="{2F699A3D-4B31-4B07-9174-0F04587D04C6}" type="slidenum">
              <a:rPr lang="en-US" altLang="zh-CN"/>
              <a:t>‹#›</a:t>
            </a:fld>
            <a:endParaRPr lang="en-US" altLang="zh-CN"/>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defRPr/>
            </a:pPr>
            <a:fld id="{50DC969B-E5D1-4D9F-953E-06334845FE3F}" type="datetime1">
              <a:rPr kumimoji="1" lang="zh-CN" altLang="en-US" sz="1300" b="0" i="0" u="none" strike="noStrike" kern="1200" cap="none" spc="0" normalizeH="0" baseline="0" noProof="0" smtClean="0">
                <a:ln>
                  <a:noFill/>
                </a:ln>
                <a:solidFill>
                  <a:schemeClr val="tx1"/>
                </a:solidFill>
                <a:effectLst/>
                <a:uLnTx/>
                <a:uFillTx/>
                <a:latin typeface="Times New Roman" panose="02020603050405020304" pitchFamily="18" charset="0"/>
                <a:ea typeface="微软雅黑" pitchFamily="34" charset="-122"/>
                <a:cs typeface="+mn-cs"/>
              </a:rPr>
              <a:t>2025/11/11</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defRPr/>
            </a:pPr>
            <a:fld id="{357D68F3-A956-4B20-988A-7ED7F7A946AB}" type="datetime1">
              <a:rPr kumimoji="1" lang="zh-CN" altLang="en-US" sz="1300" b="0" i="0" u="none" strike="noStrike" kern="1200" cap="none" spc="0" normalizeH="0" baseline="0" noProof="0" smtClean="0">
                <a:ln>
                  <a:noFill/>
                </a:ln>
                <a:solidFill>
                  <a:schemeClr val="tx1"/>
                </a:solidFill>
                <a:effectLst/>
                <a:uLnTx/>
                <a:uFillTx/>
                <a:latin typeface="Times New Roman" panose="02020603050405020304" pitchFamily="18" charset="0"/>
                <a:ea typeface="微软雅黑" pitchFamily="34" charset="-122"/>
                <a:cs typeface="+mn-cs"/>
              </a:rPr>
              <a:t>2025/11/11</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ChangeArrowheads="1" noTextEdit="1"/>
          </p:cNvSpPr>
          <p:nvPr>
            <p:ph type="sldImg" idx="4294967295"/>
          </p:nvPr>
        </p:nvSpPr>
        <p:spPr>
          <a:ln/>
        </p:spPr>
      </p:sp>
      <p:sp>
        <p:nvSpPr>
          <p:cNvPr id="18435" name="备注占位符 2"/>
          <p:cNvSpPr>
            <a:spLocks noGrp="1" noChangeArrowheads="1"/>
          </p:cNvSpPr>
          <p:nvPr>
            <p:ph type="body" idx="4294967295"/>
          </p:nvPr>
        </p:nvSpPr>
        <p:spPr>
          <a:xfrm>
            <a:off x="709613" y="4860925"/>
            <a:ext cx="5680075" cy="4605338"/>
          </a:xfrm>
        </p:spPr>
        <p:txBody>
          <a:bodyPr>
            <a:prstTxWarp prst="textNoShape">
              <a:avLst/>
            </a:prstTxWarp>
          </a:bodyPr>
          <a:lstStyle/>
          <a:p>
            <a:pPr eaLnBrk="1" hangingPunct="1">
              <a:spcBef>
                <a:spcPct val="0"/>
              </a:spcBef>
            </a:pPr>
            <a:endParaRPr lang="zh-CN" altLang="en-US"/>
          </a:p>
        </p:txBody>
      </p:sp>
      <p:sp>
        <p:nvSpPr>
          <p:cNvPr id="18436" name="灯片编号占位符 3"/>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Tahoma" panose="020B0604030504040204" pitchFamily="34" charset="0"/>
                <a:ea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r" eaLnBrk="1" hangingPunct="1"/>
            <a:fld id="{50F430F1-9A1C-4AB7-8E7F-722183E50BF5}" type="slidenum">
              <a:rPr lang="zh-CN" altLang="en-US" sz="1300">
                <a:latin typeface="Verdana" panose="020B0604030504040204" pitchFamily="34" charset="0"/>
                <a:ea typeface="微软雅黑" panose="020B0503020204020204" pitchFamily="34" charset="-122"/>
              </a:rPr>
              <a:pPr algn="r" eaLnBrk="1" hangingPunct="1"/>
              <a:t>75</a:t>
            </a:fld>
            <a:endParaRPr lang="zh-CN" altLang="en-US" sz="1300" dirty="0">
              <a:latin typeface="Verdana" panose="020B0604030504040204" pitchFamily="34" charset="0"/>
              <a:ea typeface="微软雅黑"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idx="4294967295"/>
          </p:nvPr>
        </p:nvSpPr>
        <p:spPr>
          <a:ln/>
        </p:spPr>
      </p:sp>
      <p:sp>
        <p:nvSpPr>
          <p:cNvPr id="20483" name="备注占位符 2"/>
          <p:cNvSpPr>
            <a:spLocks noGrp="1" noChangeArrowheads="1"/>
          </p:cNvSpPr>
          <p:nvPr>
            <p:ph type="body" idx="4294967295"/>
          </p:nvPr>
        </p:nvSpPr>
        <p:spPr>
          <a:xfrm>
            <a:off x="709613" y="4860925"/>
            <a:ext cx="5680075" cy="4605338"/>
          </a:xfrm>
        </p:spPr>
        <p:txBody>
          <a:bodyPr>
            <a:prstTxWarp prst="textNoShape">
              <a:avLst/>
            </a:prstTxWarp>
          </a:bodyPr>
          <a:lstStyle/>
          <a:p>
            <a:pPr eaLnBrk="1" hangingPunct="1">
              <a:spcBef>
                <a:spcPct val="0"/>
              </a:spcBef>
            </a:pPr>
            <a:endParaRPr lang="zh-CN" altLang="en-US"/>
          </a:p>
        </p:txBody>
      </p:sp>
      <p:sp>
        <p:nvSpPr>
          <p:cNvPr id="20484" name="灯片编号占位符 3"/>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Tahoma" panose="020B0604030504040204" pitchFamily="34" charset="0"/>
                <a:ea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r" eaLnBrk="1" hangingPunct="1"/>
            <a:fld id="{E7B9D6F4-BA27-4660-A617-02C24A7889FF}" type="slidenum">
              <a:rPr lang="zh-CN" altLang="en-US" sz="1300">
                <a:latin typeface="Verdana" panose="020B0604030504040204" pitchFamily="34" charset="0"/>
                <a:ea typeface="微软雅黑" panose="020B0503020204020204" pitchFamily="34" charset="-122"/>
              </a:rPr>
              <a:pPr algn="r" eaLnBrk="1" hangingPunct="1"/>
              <a:t>76</a:t>
            </a:fld>
            <a:endParaRPr lang="zh-CN" altLang="en-US" sz="1300" dirty="0">
              <a:latin typeface="Verdana" panose="020B0604030504040204" pitchFamily="34" charset="0"/>
              <a:ea typeface="微软雅黑"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fld id="{87AB6012-60C7-4B11-B502-F42929FEF834}" type="datetime1">
              <a:rPr lang="zh-CN" altLang="en-US" smtClean="0"/>
              <a:t>2025/11/11</a:t>
            </a:fld>
            <a:endParaRPr lang="en-US" altLang="zh-CN" dirty="0"/>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AD94132-0EAC-4332-A1AB-BEC9D54ECC6A}" type="slidenum">
              <a:rPr lang="en-US" altLang="zh-CN"/>
              <a:t>‹#›</a:t>
            </a:fld>
            <a:endParaRPr lang="en-US" altLang="zh-CN"/>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ea typeface="微软雅黑"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fld id="{09E0117E-D85E-4026-8323-6A16BFA47CC6}" type="datetime1">
              <a:rPr lang="zh-CN" altLang="en-US" smtClean="0"/>
              <a:t>2025/11/11</a:t>
            </a:fld>
            <a:endParaRPr lang="en-US" altLang="zh-CN" dirty="0"/>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58E634A1-44AC-4503-9DA6-53735112C520}" type="slidenum">
              <a:rPr lang="en-US" altLang="zh-CN"/>
              <a:t>‹#›</a:t>
            </a:fld>
            <a:endParaRPr lang="en-US" altLang="zh-CN"/>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45088" y="2017713"/>
            <a:ext cx="3810000" cy="4114800"/>
          </a:xfr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11"/>
          <p:cNvSpPr>
            <a:spLocks noGrp="1" noChangeArrowheads="1"/>
          </p:cNvSpPr>
          <p:nvPr>
            <p:ph type="dt" sz="half" idx="10"/>
          </p:nvPr>
        </p:nvSpPr>
        <p:spPr/>
        <p:txBody>
          <a:bodyPr/>
          <a:lstStyle>
            <a:lvl1pPr>
              <a:defRPr/>
            </a:lvl1pPr>
          </a:lstStyle>
          <a:p>
            <a:pPr>
              <a:defRPr/>
            </a:pPr>
            <a:fld id="{C3A03B6E-B764-47FA-A02E-CA092A98785B}" type="datetime1">
              <a:rPr lang="zh-CN" altLang="en-US" smtClean="0"/>
              <a:t>2025/11/11</a:t>
            </a:fld>
            <a:endParaRPr lang="en-US" altLang="zh-CN" dirty="0"/>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F1E0A098-4BD5-473F-9923-4D41F1CAA8E5}" type="slidenum">
              <a:rPr lang="en-US" altLang="zh-CN"/>
              <a:t>‹#›</a:t>
            </a:fld>
            <a:endParaRPr lang="en-US" altLang="zh-CN"/>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11"/>
          <p:cNvSpPr>
            <a:spLocks noGrp="1" noChangeArrowheads="1"/>
          </p:cNvSpPr>
          <p:nvPr>
            <p:ph type="dt" sz="half" idx="10"/>
          </p:nvPr>
        </p:nvSpPr>
        <p:spPr/>
        <p:txBody>
          <a:bodyPr/>
          <a:lstStyle>
            <a:lvl1pPr>
              <a:defRPr/>
            </a:lvl1pPr>
          </a:lstStyle>
          <a:p>
            <a:pPr>
              <a:defRPr/>
            </a:pPr>
            <a:fld id="{B63B5344-D855-4E0F-96BE-2C30306B410A}" type="datetime1">
              <a:rPr lang="zh-CN" altLang="en-US" smtClean="0"/>
              <a:t>2025/11/11</a:t>
            </a:fld>
            <a:endParaRPr lang="en-US" altLang="zh-CN" dirty="0"/>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611AE47D-ADCF-4718-9D55-86510159F623}" type="slidenum">
              <a:rPr lang="en-US" altLang="zh-CN"/>
              <a:t>‹#›</a:t>
            </a:fld>
            <a:endParaRPr lang="en-US" altLang="zh-CN"/>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fld id="{D61636B8-E38D-4FD4-B4CB-706B8B1BBB1E}" type="datetime1">
              <a:rPr lang="zh-CN" altLang="en-US" smtClean="0"/>
              <a:t>2025/11/11</a:t>
            </a:fld>
            <a:endParaRPr lang="en-US" altLang="zh-CN" dirty="0"/>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5287C154-292D-4E82-A6A6-C76C0B851CF2}" type="slidenum">
              <a:rPr lang="en-US" altLang="zh-CN"/>
              <a:t>‹#›</a:t>
            </a:fld>
            <a:endParaRPr lang="en-US" altLang="zh-CN"/>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fld id="{3C3C0063-0B75-4B92-9DC7-B75F6242A009}" type="datetime1">
              <a:rPr lang="zh-CN" altLang="en-US" smtClean="0"/>
              <a:t>2025/11/11</a:t>
            </a:fld>
            <a:endParaRPr lang="en-US" altLang="zh-CN" dirty="0"/>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2AE1B59C-883C-4848-BC85-9A12DF2590B2}" type="slidenum">
              <a:rPr lang="en-US" altLang="zh-CN"/>
              <a:t>‹#›</a:t>
            </a:fld>
            <a:endParaRPr lang="en-US" altLang="zh-CN"/>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ea typeface="微软雅黑" panose="020B0503020204020204" pitchFamily="34" charset="-122"/>
              </a:defRPr>
            </a:lvl1pPr>
            <a:lvl2pPr>
              <a:defRPr sz="2800">
                <a:ea typeface="微软雅黑" panose="020B0503020204020204" pitchFamily="34" charset="-122"/>
              </a:defRPr>
            </a:lvl2pPr>
            <a:lvl3pPr>
              <a:defRPr sz="2400">
                <a:ea typeface="微软雅黑" panose="020B0503020204020204" pitchFamily="34" charset="-122"/>
              </a:defRPr>
            </a:lvl3pPr>
            <a:lvl4pPr>
              <a:defRPr sz="2000">
                <a:ea typeface="微软雅黑" panose="020B0503020204020204" pitchFamily="34" charset="-122"/>
              </a:defRPr>
            </a:lvl4pPr>
            <a:lvl5pPr>
              <a:defRPr sz="2000">
                <a:ea typeface="微软雅黑" panose="020B0503020204020204" pitchFamily="34"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616850FA-9ED2-4D99-9057-4EF804DFC739}" type="datetime1">
              <a:rPr lang="zh-CN" altLang="en-US" smtClean="0"/>
              <a:t>2025/11/11</a:t>
            </a:fld>
            <a:endParaRPr lang="en-US" altLang="zh-CN" dirty="0"/>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01DAEA63-9767-4C97-9268-ADCC5A163DFD}" type="slidenum">
              <a:rPr lang="en-US" altLang="zh-CN"/>
              <a:t>‹#›</a:t>
            </a:fld>
            <a:endParaRPr lang="en-US" altLang="zh-CN"/>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ea typeface="微软雅黑" panose="020B0503020204020204" pitchFamily="34"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ea typeface="微软雅黑"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1D24CE62-CFB2-4EC8-9682-7D18F0E7ACB4}" type="datetime1">
              <a:rPr lang="zh-CN" altLang="en-US" smtClean="0"/>
              <a:t>2025/11/11</a:t>
            </a:fld>
            <a:endParaRPr lang="en-US" altLang="zh-CN" dirty="0"/>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22556B66-0DAE-4B32-BAF4-AC1451C04C43}" type="slidenum">
              <a:rPr lang="en-US" altLang="zh-CN"/>
              <a:t>‹#›</a:t>
            </a:fld>
            <a:endParaRPr lang="en-US" altLang="zh-CN"/>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fld id="{695A3596-4F91-4CEE-9B47-D9F7447F1ED6}" type="datetime1">
              <a:rPr lang="zh-CN" altLang="en-US" smtClean="0"/>
              <a:t>2025/11/11</a:t>
            </a:fld>
            <a:endParaRPr lang="en-US" altLang="zh-CN" dirty="0"/>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DF0C9C1-D01D-40B5-B1BB-B9532637208B}" type="slidenum">
              <a:rPr lang="en-US" altLang="zh-CN"/>
              <a:t>‹#›</a:t>
            </a:fld>
            <a:endParaRPr lang="en-US" altLang="zh-CN"/>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lvl1pPr>
              <a:defRPr>
                <a:ea typeface="微软雅黑"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fld id="{5E7D17BE-7A21-48F8-9718-CFC447C399E2}" type="datetime1">
              <a:rPr lang="zh-CN" altLang="en-US" smtClean="0"/>
              <a:t>2025/11/11</a:t>
            </a:fld>
            <a:endParaRPr lang="en-US" altLang="zh-CN" dirty="0"/>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AAA536FF-0699-4EEF-8E69-CF50DE9805ED}" type="slidenum">
              <a:rPr lang="en-US" altLang="zh-CN"/>
              <a:t>‹#›</a:t>
            </a:fld>
            <a:endParaRPr lang="en-US" altLang="zh-CN"/>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45088" y="2017713"/>
            <a:ext cx="3810000" cy="4114800"/>
          </a:xfr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11"/>
          <p:cNvSpPr>
            <a:spLocks noGrp="1" noChangeArrowheads="1"/>
          </p:cNvSpPr>
          <p:nvPr>
            <p:ph type="dt" sz="half" idx="10"/>
          </p:nvPr>
        </p:nvSpPr>
        <p:spPr/>
        <p:txBody>
          <a:bodyPr/>
          <a:lstStyle>
            <a:lvl1pPr>
              <a:defRPr/>
            </a:lvl1pPr>
          </a:lstStyle>
          <a:p>
            <a:pPr>
              <a:defRPr/>
            </a:pPr>
            <a:fld id="{A8671800-7319-4068-9017-CE97549CC486}" type="datetime1">
              <a:rPr lang="zh-CN" altLang="en-US" smtClean="0"/>
              <a:t>2025/11/11</a:t>
            </a:fld>
            <a:endParaRPr lang="en-US" altLang="zh-CN" dirty="0"/>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6F3A3AC4-AED4-4161-B73F-2003E60F69A5}" type="slidenum">
              <a:rPr lang="en-US" altLang="zh-CN"/>
              <a:t>‹#›</a:t>
            </a:fld>
            <a:endParaRPr lang="en-US" altLang="zh-CN"/>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Rectangle 11"/>
          <p:cNvSpPr>
            <a:spLocks noGrp="1" noChangeArrowheads="1"/>
          </p:cNvSpPr>
          <p:nvPr>
            <p:ph type="dt" sz="half" idx="10"/>
          </p:nvPr>
        </p:nvSpPr>
        <p:spPr/>
        <p:txBody>
          <a:bodyPr/>
          <a:lstStyle>
            <a:lvl1pPr>
              <a:defRPr/>
            </a:lvl1pPr>
          </a:lstStyle>
          <a:p>
            <a:pPr>
              <a:defRPr/>
            </a:pPr>
            <a:fld id="{63344430-186B-4250-8AF3-465E93188234}" type="datetime1">
              <a:rPr lang="zh-CN" altLang="en-US" smtClean="0"/>
              <a:t>2025/11/11</a:t>
            </a:fld>
            <a:endParaRPr lang="en-US" altLang="zh-CN" dirty="0"/>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255BBE8C-8366-4707-9844-2354E1D6E5E0}" type="slidenum">
              <a:rPr lang="en-US" altLang="zh-CN"/>
              <a:t>‹#›</a:t>
            </a:fld>
            <a:endParaRPr lang="en-US"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27"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ea typeface="微软雅黑" panose="020B0503020204020204" pitchFamily="34" charset="-122"/>
              </a:defRPr>
            </a:lvl1pPr>
          </a:lstStyle>
          <a:p>
            <a:pPr>
              <a:defRPr/>
            </a:pPr>
            <a:fld id="{88C81C83-A058-42E9-AE3C-F4EA7CA48B07}" type="datetime1">
              <a:rPr lang="zh-CN" altLang="en-US" smtClean="0"/>
              <a:t>2025/11/11</a:t>
            </a:fld>
            <a:endParaRPr lang="en-US" altLang="zh-CN" dirty="0"/>
          </a:p>
        </p:txBody>
      </p:sp>
      <p:sp>
        <p:nvSpPr>
          <p:cNvPr id="137228"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ea typeface="微软雅黑" panose="020B0503020204020204" pitchFamily="34" charset="-122"/>
              </a:defRPr>
            </a:lvl1pPr>
          </a:lstStyle>
          <a:p>
            <a:pPr>
              <a:defRPr/>
            </a:pPr>
            <a:endParaRPr lang="en-US" altLang="zh-CN"/>
          </a:p>
        </p:txBody>
      </p:sp>
      <p:sp>
        <p:nvSpPr>
          <p:cNvPr id="137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ea typeface="微软雅黑" panose="020B0503020204020204" pitchFamily="34" charset="-122"/>
              </a:defRPr>
            </a:lvl1pPr>
          </a:lstStyle>
          <a:p>
            <a:pPr>
              <a:defRPr/>
            </a:pPr>
            <a:fld id="{17551B0C-17EB-4509-A64B-DD48566DA2F0}"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oleObject" Target="../embeddings/oleObject1.bin"/><Relationship Id="rId7" Type="http://schemas.openxmlformats.org/officeDocument/2006/relationships/image" Target="../media/image17.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18.png"/><Relationship Id="rId4" Type="http://schemas.openxmlformats.org/officeDocument/2006/relationships/image" Target="../media/image1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5.bin"/><Relationship Id="rId4" Type="http://schemas.openxmlformats.org/officeDocument/2006/relationships/image" Target="../media/image20.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2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22.wmf"/><Relationship Id="rId5" Type="http://schemas.openxmlformats.org/officeDocument/2006/relationships/oleObject" Target="../embeddings/oleObject9.bin"/><Relationship Id="rId4" Type="http://schemas.openxmlformats.org/officeDocument/2006/relationships/image" Target="../media/image24.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18.png"/><Relationship Id="rId2" Type="http://schemas.openxmlformats.org/officeDocument/2006/relationships/slideLayout" Target="../slideLayouts/slideLayout11.xml"/><Relationship Id="rId1" Type="http://schemas.openxmlformats.org/officeDocument/2006/relationships/vmlDrawing" Target="../drawings/vmlDrawing6.v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25.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1.xml"/><Relationship Id="rId1" Type="http://schemas.openxmlformats.org/officeDocument/2006/relationships/vmlDrawing" Target="../drawings/vmlDrawing7.vml"/><Relationship Id="rId6" Type="http://schemas.openxmlformats.org/officeDocument/2006/relationships/image" Target="../media/image28.wmf"/><Relationship Id="rId5" Type="http://schemas.openxmlformats.org/officeDocument/2006/relationships/oleObject" Target="../embeddings/oleObject13.bin"/><Relationship Id="rId4" Type="http://schemas.openxmlformats.org/officeDocument/2006/relationships/image" Target="../media/image27.wmf"/></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31.wmf"/></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wmf"/><Relationship Id="rId1" Type="http://schemas.openxmlformats.org/officeDocument/2006/relationships/slideLayout" Target="../slideLayouts/slideLayout6.xml"/><Relationship Id="rId5" Type="http://schemas.openxmlformats.org/officeDocument/2006/relationships/image" Target="../media/image34.wmf"/><Relationship Id="rId4" Type="http://schemas.openxmlformats.org/officeDocument/2006/relationships/image" Target="../media/image33.wmf"/></Relationships>
</file>

<file path=ppt/slides/_rels/slide1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4.wmf"/></Relationships>
</file>

<file path=ppt/slides/_rels/slide1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4.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38.png"/><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37.wmf"/><Relationship Id="rId5" Type="http://schemas.openxmlformats.org/officeDocument/2006/relationships/oleObject" Target="../embeddings/oleObject15.bin"/><Relationship Id="rId4" Type="http://schemas.openxmlformats.org/officeDocument/2006/relationships/image" Target="../media/image36.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36.wmf"/></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29.w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29.wmf"/><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44.wmf"/></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wmf"/><Relationship Id="rId1" Type="http://schemas.openxmlformats.org/officeDocument/2006/relationships/slideLayout" Target="../slideLayouts/slideLayout6.xml"/><Relationship Id="rId4" Type="http://schemas.openxmlformats.org/officeDocument/2006/relationships/image" Target="../media/image46.wmf"/></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wmf"/><Relationship Id="rId1" Type="http://schemas.openxmlformats.org/officeDocument/2006/relationships/slideLayout" Target="../slideLayouts/slideLayout6.xml"/><Relationship Id="rId4" Type="http://schemas.openxmlformats.org/officeDocument/2006/relationships/image" Target="../media/image46.wmf"/></Relationships>
</file>

<file path=ppt/slides/_rels/slide27.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9.wmf"/><Relationship Id="rId7"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47.wmf"/><Relationship Id="rId5" Type="http://schemas.openxmlformats.org/officeDocument/2006/relationships/oleObject" Target="../embeddings/oleObject17.bin"/><Relationship Id="rId4" Type="http://schemas.openxmlformats.org/officeDocument/2006/relationships/image" Target="../media/image50.wmf"/></Relationships>
</file>

<file path=ppt/slides/_rels/slide28.xml.rels><?xml version="1.0" encoding="UTF-8" standalone="yes"?>
<Relationships xmlns="http://schemas.openxmlformats.org/package/2006/relationships"><Relationship Id="rId3" Type="http://schemas.openxmlformats.org/officeDocument/2006/relationships/image" Target="../media/image53.wmf"/><Relationship Id="rId7" Type="http://schemas.openxmlformats.org/officeDocument/2006/relationships/image" Target="../media/image52.wmf"/><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20.bin"/><Relationship Id="rId5" Type="http://schemas.openxmlformats.org/officeDocument/2006/relationships/image" Target="../media/image51.wmf"/><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35.png"/><Relationship Id="rId7" Type="http://schemas.openxmlformats.org/officeDocument/2006/relationships/image" Target="../media/image55.wmf"/><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22.bin"/><Relationship Id="rId5" Type="http://schemas.openxmlformats.org/officeDocument/2006/relationships/image" Target="../media/image54.wmf"/><Relationship Id="rId4" Type="http://schemas.openxmlformats.org/officeDocument/2006/relationships/oleObject" Target="../embeddings/oleObject21.bin"/><Relationship Id="rId9" Type="http://schemas.openxmlformats.org/officeDocument/2006/relationships/image" Target="../media/image56.wmf"/></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w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oleObject" Target="../embeddings/oleObject24.bin"/><Relationship Id="rId7" Type="http://schemas.openxmlformats.org/officeDocument/2006/relationships/image" Target="../media/image62.png"/><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wmf"/><Relationship Id="rId9"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w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68.wmf"/><Relationship Id="rId5" Type="http://schemas.openxmlformats.org/officeDocument/2006/relationships/oleObject" Target="../embeddings/oleObject26.bin"/><Relationship Id="rId10" Type="http://schemas.openxmlformats.org/officeDocument/2006/relationships/image" Target="../media/image70.png"/><Relationship Id="rId4" Type="http://schemas.openxmlformats.org/officeDocument/2006/relationships/image" Target="../media/image67.wmf"/><Relationship Id="rId9" Type="http://schemas.openxmlformats.org/officeDocument/2006/relationships/oleObject" Target="../embeddings/oleObject28.bin"/></Relationships>
</file>

<file path=ppt/slides/_rels/slide3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29.bin"/><Relationship Id="rId7" Type="http://schemas.openxmlformats.org/officeDocument/2006/relationships/image" Target="../media/image73.wmf"/><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35.png"/><Relationship Id="rId5" Type="http://schemas.openxmlformats.org/officeDocument/2006/relationships/image" Target="../media/image72.wmf"/><Relationship Id="rId4" Type="http://schemas.openxmlformats.org/officeDocument/2006/relationships/image" Target="../media/image71.wmf"/></Relationships>
</file>

<file path=ppt/slides/_rels/slide38.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76.wmf"/><Relationship Id="rId5" Type="http://schemas.openxmlformats.org/officeDocument/2006/relationships/oleObject" Target="../embeddings/oleObject31.bin"/><Relationship Id="rId10" Type="http://schemas.openxmlformats.org/officeDocument/2006/relationships/image" Target="../media/image78.wmf"/><Relationship Id="rId4" Type="http://schemas.openxmlformats.org/officeDocument/2006/relationships/image" Target="../media/image75.wmf"/><Relationship Id="rId9" Type="http://schemas.openxmlformats.org/officeDocument/2006/relationships/oleObject" Target="../embeddings/oleObject33.bin"/></Relationships>
</file>

<file path=ppt/slides/_rels/slide4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81.wmf"/><Relationship Id="rId5" Type="http://schemas.openxmlformats.org/officeDocument/2006/relationships/oleObject" Target="../embeddings/oleObject35.bin"/><Relationship Id="rId4" Type="http://schemas.openxmlformats.org/officeDocument/2006/relationships/image" Target="../media/image80.wmf"/></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2.wm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image" Target="../media/image84.emf"/><Relationship Id="rId5" Type="http://schemas.openxmlformats.org/officeDocument/2006/relationships/oleObject" Target="../embeddings/oleObject37.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39.bin"/></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2.wmf"/><Relationship Id="rId1" Type="http://schemas.openxmlformats.org/officeDocument/2006/relationships/slideLayout" Target="../slideLayouts/slideLayout6.xml"/><Relationship Id="rId5" Type="http://schemas.openxmlformats.org/officeDocument/2006/relationships/image" Target="../media/image29.wmf"/><Relationship Id="rId4" Type="http://schemas.openxmlformats.org/officeDocument/2006/relationships/image" Target="../media/image87.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7.wmf"/><Relationship Id="rId1" Type="http://schemas.openxmlformats.org/officeDocument/2006/relationships/slideLayout" Target="../slideLayouts/slideLayout6.xml"/><Relationship Id="rId4" Type="http://schemas.openxmlformats.org/officeDocument/2006/relationships/image" Target="../media/image88.wmf"/></Relationships>
</file>

<file path=ppt/slides/_rels/slide49.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slideLayout" Target="../slideLayouts/slideLayout6.xml"/><Relationship Id="rId4" Type="http://schemas.openxmlformats.org/officeDocument/2006/relationships/image" Target="../media/image93.wmf"/></Relationships>
</file>

<file path=ppt/slides/_rels/slide5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w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wm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5.w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08.wmf"/><Relationship Id="rId2" Type="http://schemas.openxmlformats.org/officeDocument/2006/relationships/slideLayout" Target="../slideLayouts/slideLayout12.xml"/><Relationship Id="rId1" Type="http://schemas.openxmlformats.org/officeDocument/2006/relationships/vmlDrawing" Target="../drawings/vmlDrawing19.vml"/><Relationship Id="rId6" Type="http://schemas.openxmlformats.org/officeDocument/2006/relationships/image" Target="../media/image106.wmf"/><Relationship Id="rId5" Type="http://schemas.openxmlformats.org/officeDocument/2006/relationships/oleObject" Target="../embeddings/oleObject40.bin"/><Relationship Id="rId4" Type="http://schemas.openxmlformats.org/officeDocument/2006/relationships/image" Target="../media/image107.wmf"/></Relationships>
</file>

<file path=ppt/slides/_rels/slide58.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wmf"/><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8" Type="http://schemas.openxmlformats.org/officeDocument/2006/relationships/image" Target="../media/image115.wmf"/><Relationship Id="rId13" Type="http://schemas.openxmlformats.org/officeDocument/2006/relationships/oleObject" Target="../embeddings/oleObject46.bin"/><Relationship Id="rId18" Type="http://schemas.openxmlformats.org/officeDocument/2006/relationships/image" Target="../media/image120.w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117.wmf"/><Relationship Id="rId17" Type="http://schemas.openxmlformats.org/officeDocument/2006/relationships/oleObject" Target="../embeddings/oleObject48.bin"/><Relationship Id="rId2" Type="http://schemas.openxmlformats.org/officeDocument/2006/relationships/slideLayout" Target="../slideLayouts/slideLayout6.xml"/><Relationship Id="rId16" Type="http://schemas.openxmlformats.org/officeDocument/2006/relationships/image" Target="../media/image119.wmf"/><Relationship Id="rId1" Type="http://schemas.openxmlformats.org/officeDocument/2006/relationships/vmlDrawing" Target="../drawings/vmlDrawing20.vml"/><Relationship Id="rId6" Type="http://schemas.openxmlformats.org/officeDocument/2006/relationships/image" Target="../media/image114.wmf"/><Relationship Id="rId11" Type="http://schemas.openxmlformats.org/officeDocument/2006/relationships/oleObject" Target="../embeddings/oleObject45.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116.wmf"/><Relationship Id="rId4" Type="http://schemas.openxmlformats.org/officeDocument/2006/relationships/image" Target="../media/image113.wmf"/><Relationship Id="rId9" Type="http://schemas.openxmlformats.org/officeDocument/2006/relationships/oleObject" Target="../embeddings/oleObject44.bin"/><Relationship Id="rId14" Type="http://schemas.openxmlformats.org/officeDocument/2006/relationships/image" Target="../media/image118.wmf"/></Relationships>
</file>

<file path=ppt/slides/_rels/slide64.xml.rels><?xml version="1.0" encoding="UTF-8" standalone="yes"?>
<Relationships xmlns="http://schemas.openxmlformats.org/package/2006/relationships"><Relationship Id="rId8" Type="http://schemas.openxmlformats.org/officeDocument/2006/relationships/image" Target="../media/image118.wmf"/><Relationship Id="rId13" Type="http://schemas.openxmlformats.org/officeDocument/2006/relationships/oleObject" Target="../embeddings/oleObject54.bin"/><Relationship Id="rId18" Type="http://schemas.openxmlformats.org/officeDocument/2006/relationships/image" Target="../media/image127.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124.wmf"/><Relationship Id="rId17" Type="http://schemas.openxmlformats.org/officeDocument/2006/relationships/oleObject" Target="../embeddings/oleObject56.bin"/><Relationship Id="rId2" Type="http://schemas.openxmlformats.org/officeDocument/2006/relationships/slideLayout" Target="../slideLayouts/slideLayout6.xml"/><Relationship Id="rId16" Type="http://schemas.openxmlformats.org/officeDocument/2006/relationships/image" Target="../media/image126.wmf"/><Relationship Id="rId1" Type="http://schemas.openxmlformats.org/officeDocument/2006/relationships/vmlDrawing" Target="../drawings/vmlDrawing21.vml"/><Relationship Id="rId6" Type="http://schemas.openxmlformats.org/officeDocument/2006/relationships/image" Target="../media/image122.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123.wmf"/><Relationship Id="rId4" Type="http://schemas.openxmlformats.org/officeDocument/2006/relationships/image" Target="../media/image121.wmf"/><Relationship Id="rId9" Type="http://schemas.openxmlformats.org/officeDocument/2006/relationships/oleObject" Target="../embeddings/oleObject52.bin"/><Relationship Id="rId14" Type="http://schemas.openxmlformats.org/officeDocument/2006/relationships/image" Target="../media/image125.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image" Target="../media/image129.wmf"/><Relationship Id="rId5" Type="http://schemas.openxmlformats.org/officeDocument/2006/relationships/oleObject" Target="../embeddings/oleObject58.bin"/><Relationship Id="rId4" Type="http://schemas.openxmlformats.org/officeDocument/2006/relationships/image" Target="../media/image128.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133.png"/></Relationships>
</file>

<file path=ppt/slides/_rels/slide7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132.png"/><Relationship Id="rId4" Type="http://schemas.openxmlformats.org/officeDocument/2006/relationships/image" Target="../media/image134.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1.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137.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6.xml"/><Relationship Id="rId1" Type="http://schemas.openxmlformats.org/officeDocument/2006/relationships/vmlDrawing" Target="../drawings/vmlDrawing23.vml"/><Relationship Id="rId5" Type="http://schemas.openxmlformats.org/officeDocument/2006/relationships/image" Target="../media/image139.wmf"/><Relationship Id="rId4" Type="http://schemas.openxmlformats.org/officeDocument/2006/relationships/image" Target="../media/image138.wmf"/></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vmlDrawing" Target="../drawings/vmlDrawing24.vml"/><Relationship Id="rId6" Type="http://schemas.openxmlformats.org/officeDocument/2006/relationships/image" Target="../media/image139.wmf"/><Relationship Id="rId5" Type="http://schemas.openxmlformats.org/officeDocument/2006/relationships/image" Target="../media/image140.wmf"/><Relationship Id="rId4" Type="http://schemas.openxmlformats.org/officeDocument/2006/relationships/oleObject" Target="../embeddings/oleObject61.bin"/></Relationships>
</file>

<file path=ppt/slides/_rels/slide79.x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142.wmf"/><Relationship Id="rId5" Type="http://schemas.openxmlformats.org/officeDocument/2006/relationships/oleObject" Target="../embeddings/oleObject63.bin"/><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65.bin"/></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38.wmf"/><Relationship Id="rId2" Type="http://schemas.openxmlformats.org/officeDocument/2006/relationships/tags" Target="../tags/tag9.xml"/><Relationship Id="rId1" Type="http://schemas.openxmlformats.org/officeDocument/2006/relationships/vmlDrawing" Target="../drawings/vmlDrawing26.vml"/><Relationship Id="rId6" Type="http://schemas.openxmlformats.org/officeDocument/2006/relationships/oleObject" Target="../embeddings/oleObject67.bin"/><Relationship Id="rId5" Type="http://schemas.openxmlformats.org/officeDocument/2006/relationships/image" Target="../media/image140.wmf"/><Relationship Id="rId4" Type="http://schemas.openxmlformats.org/officeDocument/2006/relationships/oleObject" Target="../embeddings/oleObject66.bin"/></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6.xml"/><Relationship Id="rId1" Type="http://schemas.openxmlformats.org/officeDocument/2006/relationships/vmlDrawing" Target="../drawings/vmlDrawing27.vml"/><Relationship Id="rId4" Type="http://schemas.openxmlformats.org/officeDocument/2006/relationships/image" Target="../media/image145.emf"/></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8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7.xml"/><Relationship Id="rId1" Type="http://schemas.openxmlformats.org/officeDocument/2006/relationships/tags" Target="../tags/tag16.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9.xml"/><Relationship Id="rId1" Type="http://schemas.openxmlformats.org/officeDocument/2006/relationships/tags" Target="../tags/tag18.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0.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2.xml"/><Relationship Id="rId1" Type="http://schemas.openxmlformats.org/officeDocument/2006/relationships/tags" Target="../tags/tag21.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4.xml"/><Relationship Id="rId1" Type="http://schemas.openxmlformats.org/officeDocument/2006/relationships/tags" Target="../tags/tag23.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6.xml"/><Relationship Id="rId1" Type="http://schemas.openxmlformats.org/officeDocument/2006/relationships/tags" Target="../tags/tag25.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8.xml"/><Relationship Id="rId1" Type="http://schemas.openxmlformats.org/officeDocument/2006/relationships/tags" Target="../tags/tag27.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0.xml"/><Relationship Id="rId1" Type="http://schemas.openxmlformats.org/officeDocument/2006/relationships/tags" Target="../tags/tag29.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4</a:t>
            </a:r>
            <a:r>
              <a:rPr kumimoji="0" lang="zh-CN" altLang="en-US" sz="3200" b="1">
                <a:solidFill>
                  <a:srgbClr val="FF0000"/>
                </a:solidFill>
                <a:latin typeface="微软雅黑" panose="020B0503020204020204" pitchFamily="34" charset="-122"/>
                <a:ea typeface="微软雅黑" panose="020B0503020204020204" pitchFamily="34" charset="-122"/>
              </a:rPr>
              <a:t>章  运输问题</a:t>
            </a:r>
          </a:p>
        </p:txBody>
      </p:sp>
      <p:sp>
        <p:nvSpPr>
          <p:cNvPr id="5125" name="Rectangle 3"/>
          <p:cNvSpPr txBox="1">
            <a:spLocks noChangeArrowheads="1"/>
          </p:cNvSpPr>
          <p:nvPr/>
        </p:nvSpPr>
        <p:spPr bwMode="auto">
          <a:xfrm>
            <a:off x="971600" y="2105026"/>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dirty="0">
                <a:solidFill>
                  <a:srgbClr val="FF0000"/>
                </a:solidFill>
                <a:latin typeface="微软雅黑" panose="020B0503020204020204" pitchFamily="34" charset="-122"/>
                <a:ea typeface="微软雅黑" panose="020B0503020204020204" pitchFamily="34" charset="-122"/>
              </a:rPr>
              <a:t>第</a:t>
            </a:r>
            <a:r>
              <a:rPr lang="en-US" altLang="zh-CN" sz="2800" b="1" dirty="0">
                <a:solidFill>
                  <a:srgbClr val="FF0000"/>
                </a:solidFill>
                <a:latin typeface="微软雅黑" panose="020B0503020204020204" pitchFamily="34" charset="-122"/>
                <a:ea typeface="微软雅黑" panose="020B0503020204020204" pitchFamily="34" charset="-122"/>
              </a:rPr>
              <a:t>1</a:t>
            </a:r>
            <a:r>
              <a:rPr lang="zh-CN" altLang="en-US" sz="2800" b="1" dirty="0">
                <a:solidFill>
                  <a:srgbClr val="FF0000"/>
                </a:solidFill>
                <a:latin typeface="微软雅黑" panose="020B0503020204020204" pitchFamily="34" charset="-122"/>
                <a:ea typeface="微软雅黑" panose="020B0503020204020204" pitchFamily="34" charset="-122"/>
              </a:rPr>
              <a:t>节   运输问题的数学模型</a:t>
            </a: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2</a:t>
            </a:r>
            <a:r>
              <a:rPr lang="zh-CN" altLang="en-US" sz="2800" b="1" dirty="0">
                <a:solidFill>
                  <a:schemeClr val="folHlink"/>
                </a:solidFill>
                <a:latin typeface="微软雅黑" panose="020B0503020204020204" pitchFamily="34" charset="-122"/>
                <a:ea typeface="微软雅黑" panose="020B0503020204020204" pitchFamily="34" charset="-122"/>
              </a:rPr>
              <a:t>节   表上作业法</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3</a:t>
            </a:r>
            <a:r>
              <a:rPr lang="zh-CN" altLang="en-US" sz="2800" b="1" dirty="0">
                <a:solidFill>
                  <a:schemeClr val="folHlink"/>
                </a:solidFill>
                <a:latin typeface="微软雅黑" panose="020B0503020204020204" pitchFamily="34" charset="-122"/>
                <a:ea typeface="微软雅黑" panose="020B0503020204020204" pitchFamily="34" charset="-122"/>
              </a:rPr>
              <a:t>节   产销不平衡的运输问题</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4</a:t>
            </a:r>
            <a:r>
              <a:rPr lang="zh-CN" altLang="en-US" sz="2800" b="1" dirty="0">
                <a:solidFill>
                  <a:schemeClr val="folHlink"/>
                </a:solidFill>
                <a:latin typeface="微软雅黑" panose="020B0503020204020204" pitchFamily="34" charset="-122"/>
                <a:ea typeface="微软雅黑" panose="020B0503020204020204" pitchFamily="34" charset="-122"/>
              </a:rPr>
              <a:t>节   转运问题</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5</a:t>
            </a:r>
            <a:r>
              <a:rPr lang="zh-CN" altLang="en-US" sz="2800" b="1" dirty="0">
                <a:solidFill>
                  <a:schemeClr val="folHlink"/>
                </a:solidFill>
                <a:latin typeface="微软雅黑" panose="020B0503020204020204" pitchFamily="34" charset="-122"/>
                <a:ea typeface="微软雅黑" panose="020B0503020204020204" pitchFamily="34" charset="-122"/>
              </a:rPr>
              <a:t>节   应用举例及计算机解法</a:t>
            </a:r>
            <a:endParaRPr lang="en-US" altLang="zh-CN" sz="2800" b="1" dirty="0">
              <a:solidFill>
                <a:schemeClr val="folHlink"/>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3F0E1CA8-A74E-4575-8E05-147D49D9E2E8}"/>
              </a:ext>
            </a:extLst>
          </p:cNvPr>
          <p:cNvSpPr>
            <a:spLocks noGrp="1"/>
          </p:cNvSpPr>
          <p:nvPr>
            <p:ph type="sldNum" sz="quarter" idx="12"/>
          </p:nvPr>
        </p:nvSpPr>
        <p:spPr/>
        <p:txBody>
          <a:bodyPr/>
          <a:lstStyle/>
          <a:p>
            <a:pPr>
              <a:defRPr/>
            </a:pPr>
            <a:fld id="{2AE1B59C-883C-4848-BC85-9A12DF2590B2}" type="slidenum">
              <a:rPr lang="en-US" altLang="zh-CN" smtClean="0"/>
              <a:t>1</a:t>
            </a:fld>
            <a:endParaRPr lang="en-US" altLang="zh-CN"/>
          </a:p>
        </p:txBody>
      </p:sp>
    </p:spTree>
    <p:extLst>
      <p:ext uri="{BB962C8B-B14F-4D97-AF65-F5344CB8AC3E}">
        <p14:creationId xmlns:p14="http://schemas.microsoft.com/office/powerpoint/2010/main" val="3356038350"/>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txBox="1">
            <a:spLocks noChangeArrowheads="1"/>
          </p:cNvSpPr>
          <p:nvPr/>
        </p:nvSpPr>
        <p:spPr bwMode="auto">
          <a:xfrm>
            <a:off x="0" y="188639"/>
            <a:ext cx="9144000" cy="4032448"/>
          </a:xfrm>
          <a:prstGeom prst="rect">
            <a:avLst/>
          </a:prstGeom>
          <a:solidFill>
            <a:srgbClr val="F1FEA4"/>
          </a:solidFill>
          <a:ln w="9525">
            <a:noFill/>
            <a:miter lim="800000"/>
          </a:ln>
        </p:spPr>
        <p:txBody>
          <a:bodyPr/>
          <a:lstStyle/>
          <a:p>
            <a:pPr marR="0" defTabSz="914400">
              <a:lnSpc>
                <a:spcPct val="15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物流和供应链管理是经济管理中的一类重要问题</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R="0" defTabSz="914400">
              <a:lnSpc>
                <a:spcPct val="15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供应链是一个由物流系统和该供应链中的所有单个组织或企业相关活动组成的网络</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R="0" defTabSz="914400">
              <a:lnSpc>
                <a:spcPct val="15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为满足供应链中各方的需求</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需要对物品、服务及相关信息</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从产地到消费地高效率、低成本地流动及储存进行规划、执行和控制。运筹学中对运输模型的研究为达到上述目的提供了相应的理论和方法论基础</a:t>
            </a:r>
          </a:p>
        </p:txBody>
      </p:sp>
      <p:sp>
        <p:nvSpPr>
          <p:cNvPr id="19" name="Rectangle 3"/>
          <p:cNvSpPr txBox="1">
            <a:spLocks noChangeArrowheads="1"/>
          </p:cNvSpPr>
          <p:nvPr/>
        </p:nvSpPr>
        <p:spPr bwMode="auto">
          <a:xfrm>
            <a:off x="-6284" y="4725144"/>
            <a:ext cx="9147142" cy="1800199"/>
          </a:xfrm>
          <a:prstGeom prst="rect">
            <a:avLst/>
          </a:prstGeom>
          <a:solidFill>
            <a:schemeClr val="accent1">
              <a:lumMod val="40000"/>
              <a:lumOff val="60000"/>
            </a:schemeClr>
          </a:solidFill>
          <a:ln w="9525">
            <a:noFill/>
            <a:miter lim="800000"/>
          </a:ln>
        </p:spPr>
        <p:txBody>
          <a:bodyPr/>
          <a:lstStyle/>
          <a:p>
            <a:pPr marR="0" defTabSz="914400">
              <a:lnSpc>
                <a:spcPct val="15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在经济建设中</a:t>
            </a:r>
            <a:r>
              <a:rPr kumimoji="0" lang="zh-CN" altLang="en-US" b="1" kern="1200" cap="none" spc="0" normalizeH="0" baseline="0" noProof="0"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经常碰到大宗物资调运问题</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如煤、钢铁、木材、粮食等物资</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在全国有若干生产基地</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根据已有的交通网</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应如何制订调运方案</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将这些物资运到各消费地点</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而总运费要最小</a:t>
            </a:r>
          </a:p>
        </p:txBody>
      </p:sp>
      <p:sp>
        <p:nvSpPr>
          <p:cNvPr id="2" name="灯片编号占位符 1">
            <a:extLst>
              <a:ext uri="{FF2B5EF4-FFF2-40B4-BE49-F238E27FC236}">
                <a16:creationId xmlns:a16="http://schemas.microsoft.com/office/drawing/2014/main" id="{640DBD22-B19F-4BB7-B199-EF96EE7AF34E}"/>
              </a:ext>
            </a:extLst>
          </p:cNvPr>
          <p:cNvSpPr>
            <a:spLocks noGrp="1"/>
          </p:cNvSpPr>
          <p:nvPr>
            <p:ph type="sldNum" sz="quarter" idx="12"/>
          </p:nvPr>
        </p:nvSpPr>
        <p:spPr/>
        <p:txBody>
          <a:bodyPr/>
          <a:lstStyle/>
          <a:p>
            <a:pPr>
              <a:defRPr/>
            </a:pPr>
            <a:fld id="{2AE1B59C-883C-4848-BC85-9A12DF2590B2}" type="slidenum">
              <a:rPr lang="en-US" altLang="zh-CN" smtClean="0"/>
              <a:t>2</a:t>
            </a:fld>
            <a:endParaRPr lang="en-US" altLang="zh-CN"/>
          </a:p>
        </p:txBody>
      </p:sp>
    </p:spTree>
    <p:extLst>
      <p:ext uri="{BB962C8B-B14F-4D97-AF65-F5344CB8AC3E}">
        <p14:creationId xmlns:p14="http://schemas.microsoft.com/office/powerpoint/2010/main" val="127683222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txBox="1">
            <a:spLocks noChangeArrowheads="1"/>
          </p:cNvSpPr>
          <p:nvPr/>
        </p:nvSpPr>
        <p:spPr bwMode="auto">
          <a:xfrm>
            <a:off x="0" y="620713"/>
            <a:ext cx="9144000" cy="2952750"/>
          </a:xfrm>
          <a:prstGeom prst="rect">
            <a:avLst/>
          </a:prstGeom>
          <a:solidFill>
            <a:srgbClr val="F1FEA4"/>
          </a:solidFill>
          <a:ln w="9525">
            <a:noFill/>
            <a:miter lim="800000"/>
          </a:ln>
        </p:spPr>
        <p:txBody>
          <a:bodyPr/>
          <a:lstStyle/>
          <a:p>
            <a:pPr marL="357505" marR="0" indent="-357505"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有</a:t>
            </a:r>
            <a:r>
              <a:rPr kumimoji="0" lang="en-US" altLang="zh-CN" b="1" i="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m</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个生产地点</a:t>
            </a:r>
            <a:r>
              <a:rPr kumimoji="0" lang="en-US" altLang="zh-CN" b="1" i="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30000" noProof="0" dirty="0">
                <a:solidFill>
                  <a:schemeClr val="folHlink"/>
                </a:solidFill>
                <a:latin typeface="Times New Roman" panose="02020603050405020304" pitchFamily="18" charset="0"/>
                <a:ea typeface="微软雅黑" pitchFamily="34" charset="-122"/>
                <a:cs typeface="Times New Roman" panose="02020603050405020304" pitchFamily="18" charset="0"/>
              </a:rPr>
              <a:t>i</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i</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 </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 … , m</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。可供应某种物资</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其供应量</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产量</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分别为</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3000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i</a:t>
            </a:r>
            <a:r>
              <a:rPr kumimoji="0" lang="zh-CN" altLang="en-US" b="1" i="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i</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  </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 … , m</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有</a:t>
            </a:r>
            <a:r>
              <a:rPr kumimoji="0" lang="en-US" altLang="zh-CN" b="1" i="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n</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个销售地点</a:t>
            </a:r>
            <a:r>
              <a:rPr kumimoji="0" lang="en-US" altLang="zh-CN" b="1" i="1" kern="1200" cap="none" spc="0" normalizeH="0" baseline="0" noProof="0" dirty="0" err="1">
                <a:solidFill>
                  <a:schemeClr val="folHlink"/>
                </a:solidFill>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30000" noProof="0" dirty="0" err="1">
                <a:solidFill>
                  <a:schemeClr val="folHlink"/>
                </a:solidFill>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solidFill>
                  <a:schemeClr val="folHlink"/>
                </a:solidFill>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j=</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 </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  </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 …, </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n</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其需要量分别为</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3000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j=</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a:t>
            </a:r>
            <a:r>
              <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 …, n</a:t>
            </a:r>
            <a:endPar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从</a:t>
            </a:r>
            <a:r>
              <a:rPr kumimoji="0" lang="en-US" altLang="zh-CN" b="1" i="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30000" noProof="0" dirty="0">
                <a:solidFill>
                  <a:srgbClr val="FF0000"/>
                </a:solidFill>
                <a:latin typeface="Times New Roman" panose="02020603050405020304" pitchFamily="18" charset="0"/>
                <a:ea typeface="微软雅黑" pitchFamily="34" charset="-122"/>
                <a:cs typeface="Times New Roman" panose="02020603050405020304" pitchFamily="18" charset="0"/>
              </a:rPr>
              <a:t>i</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到</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3000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运输单位物资的运价</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单价</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为</a:t>
            </a:r>
            <a:r>
              <a:rPr kumimoji="0" lang="en-US" altLang="zh-CN" b="1" i="1" kern="1200" cap="none" spc="0" normalizeH="0" baseline="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c</a:t>
            </a:r>
            <a:r>
              <a:rPr kumimoji="0" lang="en-US" altLang="zh-CN" b="1" i="1" kern="1200" cap="none" spc="0" normalizeH="0" baseline="-30000" noProof="0" dirty="0" err="1">
                <a:solidFill>
                  <a:srgbClr val="FF0000"/>
                </a:solidFill>
                <a:latin typeface="Times New Roman" panose="02020603050405020304" pitchFamily="18" charset="0"/>
                <a:ea typeface="微软雅黑" pitchFamily="34" charset="-122"/>
                <a:cs typeface="Times New Roman" panose="02020603050405020304" pitchFamily="18" charset="0"/>
              </a:rPr>
              <a:t>ij</a:t>
            </a:r>
            <a:endParaRPr kumimoji="0" lang="en-US" altLang="zh-CN"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这些数据可汇总于</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产销平衡表</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和</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单位运价表</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中</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见表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4-1</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a:t>
            </a:r>
          </a:p>
          <a:p>
            <a:pPr marL="273050" marR="0" indent="-273050" defTabSz="914400">
              <a:lnSpc>
                <a:spcPct val="12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有时可把这两张表合二为一</a:t>
            </a:r>
          </a:p>
        </p:txBody>
      </p:sp>
      <p:sp>
        <p:nvSpPr>
          <p:cNvPr id="4" name="Rectangle 2"/>
          <p:cNvSpPr txBox="1"/>
          <p:nvPr/>
        </p:nvSpPr>
        <p:spPr>
          <a:xfrm>
            <a:off x="1677988" y="6381115"/>
            <a:ext cx="1296987" cy="593725"/>
          </a:xfrm>
          <a:prstGeom prst="rect">
            <a:avLst/>
          </a:prstGeom>
          <a:noFill/>
          <a:ln w="9525">
            <a:noFill/>
          </a:ln>
        </p:spPr>
        <p:txBody>
          <a:bodyPr/>
          <a:lstStyle/>
          <a:p>
            <a:r>
              <a:rPr lang="zh-CN" altLang="en-US" sz="2000" dirty="0">
                <a:latin typeface="微软雅黑" pitchFamily="34" charset="-122"/>
                <a:ea typeface="微软雅黑" pitchFamily="34" charset="-122"/>
              </a:rPr>
              <a:t>表</a:t>
            </a:r>
            <a:r>
              <a:rPr lang="en-US" altLang="zh-CN" sz="2000" dirty="0">
                <a:latin typeface="微软雅黑" pitchFamily="34" charset="-122"/>
                <a:ea typeface="微软雅黑" pitchFamily="34" charset="-122"/>
              </a:rPr>
              <a:t>4-1</a:t>
            </a:r>
          </a:p>
        </p:txBody>
      </p:sp>
      <p:sp>
        <p:nvSpPr>
          <p:cNvPr id="36" name="矩形 35"/>
          <p:cNvSpPr/>
          <p:nvPr/>
        </p:nvSpPr>
        <p:spPr>
          <a:xfrm>
            <a:off x="6365784" y="6013844"/>
            <a:ext cx="1295400" cy="400110"/>
          </a:xfrm>
          <a:prstGeom prst="rect">
            <a:avLst/>
          </a:prstGeom>
          <a:noFill/>
          <a:ln w="9525">
            <a:noFill/>
          </a:ln>
        </p:spPr>
        <p:txBody>
          <a:bodyPr>
            <a:spAutoFit/>
          </a:bodyPr>
          <a:lstStyle/>
          <a:p>
            <a:r>
              <a:rPr lang="zh-CN" altLang="en-US" sz="2000" dirty="0">
                <a:latin typeface="微软雅黑" pitchFamily="34" charset="-122"/>
                <a:ea typeface="微软雅黑" pitchFamily="34" charset="-122"/>
              </a:rPr>
              <a:t>表</a:t>
            </a:r>
            <a:r>
              <a:rPr lang="en-US" altLang="zh-CN" sz="2000" dirty="0">
                <a:latin typeface="微软雅黑" pitchFamily="34" charset="-122"/>
                <a:ea typeface="微软雅黑" pitchFamily="34" charset="-122"/>
              </a:rPr>
              <a:t>4-2</a:t>
            </a:r>
          </a:p>
        </p:txBody>
      </p:sp>
      <p:pic>
        <p:nvPicPr>
          <p:cNvPr id="6" name="图片 5"/>
          <p:cNvPicPr>
            <a:picLocks noChangeAspect="1"/>
          </p:cNvPicPr>
          <p:nvPr/>
        </p:nvPicPr>
        <p:blipFill>
          <a:blip r:embed="rId2"/>
          <a:stretch>
            <a:fillRect/>
          </a:stretch>
        </p:blipFill>
        <p:spPr>
          <a:xfrm>
            <a:off x="4787900" y="3991610"/>
            <a:ext cx="4254500" cy="1954530"/>
          </a:xfrm>
          <a:prstGeom prst="rect">
            <a:avLst/>
          </a:prstGeom>
        </p:spPr>
      </p:pic>
      <p:pic>
        <p:nvPicPr>
          <p:cNvPr id="8" name="图片 7"/>
          <p:cNvPicPr>
            <a:picLocks noChangeAspect="1"/>
          </p:cNvPicPr>
          <p:nvPr/>
        </p:nvPicPr>
        <p:blipFill>
          <a:blip r:embed="rId3"/>
          <a:stretch>
            <a:fillRect/>
          </a:stretch>
        </p:blipFill>
        <p:spPr>
          <a:xfrm>
            <a:off x="107315" y="3830955"/>
            <a:ext cx="4438650" cy="2533015"/>
          </a:xfrm>
          <a:prstGeom prst="rect">
            <a:avLst/>
          </a:prstGeom>
        </p:spPr>
      </p:pic>
      <p:pic>
        <p:nvPicPr>
          <p:cNvPr id="9" name="图片 8" descr="横平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1640" y="4199890"/>
            <a:ext cx="1616710" cy="225425"/>
          </a:xfrm>
          <a:prstGeom prst="rect">
            <a:avLst/>
          </a:prstGeom>
        </p:spPr>
      </p:pic>
      <p:pic>
        <p:nvPicPr>
          <p:cNvPr id="13" name="图片 12" descr="横平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7540" y="4077335"/>
            <a:ext cx="1297305" cy="180340"/>
          </a:xfrm>
          <a:prstGeom prst="rect">
            <a:avLst/>
          </a:prstGeom>
        </p:spPr>
      </p:pic>
      <p:pic>
        <p:nvPicPr>
          <p:cNvPr id="14" name="图片 13" descr="横平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37055" y="5944870"/>
            <a:ext cx="1408430" cy="206375"/>
          </a:xfrm>
          <a:prstGeom prst="rect">
            <a:avLst/>
          </a:prstGeom>
        </p:spPr>
      </p:pic>
      <p:pic>
        <p:nvPicPr>
          <p:cNvPr id="15" name="图片 14" descr="竖直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3895" y="4509135"/>
            <a:ext cx="185420" cy="1232535"/>
          </a:xfrm>
          <a:prstGeom prst="rect">
            <a:avLst/>
          </a:prstGeom>
        </p:spPr>
      </p:pic>
      <p:pic>
        <p:nvPicPr>
          <p:cNvPr id="16" name="图片 15" descr="竖直2"/>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67810" y="4526915"/>
            <a:ext cx="262890" cy="1196975"/>
          </a:xfrm>
          <a:prstGeom prst="rect">
            <a:avLst/>
          </a:prstGeom>
        </p:spPr>
      </p:pic>
      <p:pic>
        <p:nvPicPr>
          <p:cNvPr id="17" name="图片 16" descr="矩阵1"/>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771640" y="4713605"/>
            <a:ext cx="1699260" cy="1163320"/>
          </a:xfrm>
          <a:prstGeom prst="rect">
            <a:avLst/>
          </a:prstGeom>
        </p:spPr>
      </p:pic>
      <p:pic>
        <p:nvPicPr>
          <p:cNvPr id="18" name="图片 17" descr="竖直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64480" y="4713605"/>
            <a:ext cx="185420" cy="1232535"/>
          </a:xfrm>
          <a:prstGeom prst="rect">
            <a:avLst/>
          </a:prstGeom>
        </p:spPr>
      </p:pic>
      <p:sp>
        <p:nvSpPr>
          <p:cNvPr id="2" name="灯片编号占位符 1">
            <a:extLst>
              <a:ext uri="{FF2B5EF4-FFF2-40B4-BE49-F238E27FC236}">
                <a16:creationId xmlns:a16="http://schemas.microsoft.com/office/drawing/2014/main" id="{385FF04E-91B8-4713-B78A-1D1031630399}"/>
              </a:ext>
            </a:extLst>
          </p:cNvPr>
          <p:cNvSpPr>
            <a:spLocks noGrp="1"/>
          </p:cNvSpPr>
          <p:nvPr>
            <p:ph type="sldNum" sz="quarter" idx="12"/>
          </p:nvPr>
        </p:nvSpPr>
        <p:spPr/>
        <p:txBody>
          <a:bodyPr/>
          <a:lstStyle/>
          <a:p>
            <a:pPr>
              <a:defRPr/>
            </a:pPr>
            <a:fld id="{2AE1B59C-883C-4848-BC85-9A12DF2590B2}" type="slidenum">
              <a:rPr lang="en-US" altLang="zh-CN" smtClean="0"/>
              <a:t>3</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7" dur="500"/>
                                        <p:tgtEl>
                                          <p:spTgt spid="92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2" dur="500"/>
                                        <p:tgtEl>
                                          <p:spTgt spid="9219">
                                            <p:txEl>
                                              <p:pRg st="3" end="3"/>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blinds(horizontal)">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3"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4"/>
          <p:cNvSpPr txBox="1"/>
          <p:nvPr/>
        </p:nvSpPr>
        <p:spPr>
          <a:xfrm>
            <a:off x="1219200" y="5715000"/>
            <a:ext cx="4572000" cy="762000"/>
          </a:xfrm>
          <a:prstGeom prst="rect">
            <a:avLst/>
          </a:prstGeom>
          <a:noFill/>
          <a:ln w="9525">
            <a:noFill/>
          </a:ln>
        </p:spPr>
        <p:txBody>
          <a:bodyPr>
            <a:spAutoFit/>
          </a:bodyPr>
          <a:lstStyle/>
          <a:p>
            <a:pPr eaLnBrk="1" hangingPunct="1">
              <a:spcBef>
                <a:spcPct val="50000"/>
              </a:spcBef>
            </a:pPr>
            <a:r>
              <a:rPr lang="en-US" altLang="zh-CN" sz="4400" b="1" i="1" dirty="0">
                <a:solidFill>
                  <a:srgbClr val="000066"/>
                </a:solidFill>
                <a:latin typeface="Times New Roman" panose="02020603050405020304" pitchFamily="18" charset="0"/>
                <a:ea typeface="微软雅黑" panose="020B0503020204020204" pitchFamily="34" charset="-122"/>
              </a:rPr>
              <a:t>c</a:t>
            </a:r>
            <a:r>
              <a:rPr lang="en-US" altLang="zh-CN" sz="1200" b="1" i="1" dirty="0">
                <a:solidFill>
                  <a:srgbClr val="000066"/>
                </a:solidFill>
                <a:latin typeface="Times New Roman" panose="02020603050405020304" pitchFamily="18" charset="0"/>
                <a:ea typeface="微软雅黑" panose="020B0503020204020204" pitchFamily="34" charset="-122"/>
              </a:rPr>
              <a:t>ij</a:t>
            </a:r>
            <a:r>
              <a:rPr lang="en-US" altLang="zh-CN" sz="3200" b="1" i="1" dirty="0">
                <a:solidFill>
                  <a:srgbClr val="000066"/>
                </a:solidFill>
                <a:latin typeface="Times New Roman" panose="02020603050405020304" pitchFamily="18" charset="0"/>
                <a:ea typeface="微软雅黑" panose="020B0503020204020204" pitchFamily="34" charset="-122"/>
              </a:rPr>
              <a:t> </a:t>
            </a:r>
            <a:r>
              <a:rPr lang="en-US" altLang="zh-CN" sz="3200" b="1" dirty="0">
                <a:solidFill>
                  <a:srgbClr val="000066"/>
                </a:solidFill>
                <a:latin typeface="Times New Roman" panose="02020603050405020304" pitchFamily="18" charset="0"/>
                <a:ea typeface="微软雅黑" panose="020B0503020204020204" pitchFamily="34" charset="-122"/>
              </a:rPr>
              <a:t>        </a:t>
            </a:r>
            <a:r>
              <a:rPr lang="zh-CN" altLang="en-US" b="1" dirty="0">
                <a:solidFill>
                  <a:srgbClr val="000066"/>
                </a:solidFill>
                <a:latin typeface="微软雅黑" panose="020B0503020204020204" pitchFamily="34" charset="-122"/>
                <a:ea typeface="微软雅黑" panose="020B0503020204020204" pitchFamily="34" charset="-122"/>
              </a:rPr>
              <a:t>为运价</a:t>
            </a:r>
          </a:p>
        </p:txBody>
      </p:sp>
      <p:sp>
        <p:nvSpPr>
          <p:cNvPr id="6147" name="Line 2"/>
          <p:cNvSpPr/>
          <p:nvPr/>
        </p:nvSpPr>
        <p:spPr>
          <a:xfrm>
            <a:off x="1143000" y="457200"/>
            <a:ext cx="7086600" cy="0"/>
          </a:xfrm>
          <a:prstGeom prst="line">
            <a:avLst/>
          </a:prstGeom>
          <a:ln w="9525" cap="flat" cmpd="sng">
            <a:solidFill>
              <a:schemeClr val="tx1"/>
            </a:solidFill>
            <a:prstDash val="solid"/>
            <a:headEnd type="none" w="med" len="med"/>
            <a:tailEnd type="none" w="med" len="med"/>
          </a:ln>
        </p:spPr>
      </p:sp>
      <p:sp>
        <p:nvSpPr>
          <p:cNvPr id="6148" name="Line 3"/>
          <p:cNvSpPr/>
          <p:nvPr/>
        </p:nvSpPr>
        <p:spPr>
          <a:xfrm>
            <a:off x="1066800" y="1219200"/>
            <a:ext cx="7086600" cy="0"/>
          </a:xfrm>
          <a:prstGeom prst="line">
            <a:avLst/>
          </a:prstGeom>
          <a:ln w="9525" cap="flat" cmpd="sng">
            <a:solidFill>
              <a:schemeClr val="tx1"/>
            </a:solidFill>
            <a:prstDash val="solid"/>
            <a:headEnd type="none" w="med" len="med"/>
            <a:tailEnd type="none" w="med" len="med"/>
          </a:ln>
        </p:spPr>
      </p:sp>
      <p:sp>
        <p:nvSpPr>
          <p:cNvPr id="6149" name="Line 4"/>
          <p:cNvSpPr/>
          <p:nvPr/>
        </p:nvSpPr>
        <p:spPr>
          <a:xfrm>
            <a:off x="1066800" y="5562600"/>
            <a:ext cx="7086600" cy="0"/>
          </a:xfrm>
          <a:prstGeom prst="line">
            <a:avLst/>
          </a:prstGeom>
          <a:ln w="9525" cap="flat" cmpd="sng">
            <a:solidFill>
              <a:schemeClr val="tx1"/>
            </a:solidFill>
            <a:prstDash val="solid"/>
            <a:headEnd type="none" w="med" len="med"/>
            <a:tailEnd type="none" w="med" len="med"/>
          </a:ln>
        </p:spPr>
      </p:sp>
      <p:sp>
        <p:nvSpPr>
          <p:cNvPr id="6150" name="Line 5"/>
          <p:cNvSpPr/>
          <p:nvPr/>
        </p:nvSpPr>
        <p:spPr>
          <a:xfrm>
            <a:off x="990600" y="4800600"/>
            <a:ext cx="7086600" cy="0"/>
          </a:xfrm>
          <a:prstGeom prst="line">
            <a:avLst/>
          </a:prstGeom>
          <a:ln w="9525" cap="flat" cmpd="sng">
            <a:solidFill>
              <a:schemeClr val="tx1"/>
            </a:solidFill>
            <a:prstDash val="solid"/>
            <a:headEnd type="none" w="med" len="med"/>
            <a:tailEnd type="none" w="med" len="med"/>
          </a:ln>
        </p:spPr>
      </p:sp>
      <p:sp>
        <p:nvSpPr>
          <p:cNvPr id="6151" name="Text Box 6"/>
          <p:cNvSpPr txBox="1"/>
          <p:nvPr/>
        </p:nvSpPr>
        <p:spPr>
          <a:xfrm>
            <a:off x="1371600" y="4572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销地</a:t>
            </a:r>
          </a:p>
        </p:txBody>
      </p:sp>
      <p:sp>
        <p:nvSpPr>
          <p:cNvPr id="6152" name="Text Box 7"/>
          <p:cNvSpPr txBox="1"/>
          <p:nvPr/>
        </p:nvSpPr>
        <p:spPr>
          <a:xfrm>
            <a:off x="914400" y="8382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产地</a:t>
            </a:r>
          </a:p>
        </p:txBody>
      </p:sp>
      <p:sp>
        <p:nvSpPr>
          <p:cNvPr id="6153" name="Text Box 8"/>
          <p:cNvSpPr txBox="1"/>
          <p:nvPr/>
        </p:nvSpPr>
        <p:spPr>
          <a:xfrm>
            <a:off x="1233488" y="1524000"/>
            <a:ext cx="674687" cy="2244725"/>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ea typeface="微软雅黑" panose="020B0503020204020204" pitchFamily="34" charset="-122"/>
              </a:rPr>
              <a:t>1      </a:t>
            </a:r>
          </a:p>
          <a:p>
            <a:pPr eaLnBrk="1" hangingPunct="1">
              <a:spcBef>
                <a:spcPct val="50000"/>
              </a:spcBef>
            </a:pPr>
            <a:endParaRPr lang="en-US" altLang="zh-CN" sz="800" dirty="0">
              <a:latin typeface="Times New Roman" panose="02020603050405020304" pitchFamily="18" charset="0"/>
              <a:ea typeface="微软雅黑" panose="020B0503020204020204" pitchFamily="34" charset="-122"/>
            </a:endParaRPr>
          </a:p>
          <a:p>
            <a:pPr eaLnBrk="1" hangingPunct="1">
              <a:spcBef>
                <a:spcPct val="50000"/>
              </a:spcBef>
            </a:pPr>
            <a:r>
              <a:rPr lang="en-US" altLang="zh-CN" sz="3200" dirty="0">
                <a:latin typeface="Times New Roman" panose="02020603050405020304" pitchFamily="18" charset="0"/>
                <a:ea typeface="微软雅黑" panose="020B0503020204020204" pitchFamily="34" charset="-122"/>
              </a:rPr>
              <a:t>2      </a:t>
            </a:r>
          </a:p>
          <a:p>
            <a:pPr eaLnBrk="1" hangingPunct="1">
              <a:spcBef>
                <a:spcPct val="50000"/>
              </a:spcBef>
            </a:pPr>
            <a:r>
              <a:rPr lang="en-US" altLang="zh-CN" sz="3200" dirty="0">
                <a:latin typeface="Times New Roman" panose="02020603050405020304" pitchFamily="18" charset="0"/>
                <a:ea typeface="微软雅黑" panose="020B0503020204020204" pitchFamily="34" charset="-122"/>
              </a:rPr>
              <a:t>…</a:t>
            </a:r>
            <a:r>
              <a:rPr lang="en-US" altLang="zh-CN" sz="1800" dirty="0">
                <a:latin typeface="Times New Roman" panose="02020603050405020304" pitchFamily="18" charset="0"/>
                <a:ea typeface="微软雅黑" panose="020B0503020204020204" pitchFamily="34" charset="-122"/>
              </a:rPr>
              <a:t>                            </a:t>
            </a:r>
          </a:p>
        </p:txBody>
      </p:sp>
      <p:sp>
        <p:nvSpPr>
          <p:cNvPr id="6154" name="Text Box 9"/>
          <p:cNvSpPr txBox="1"/>
          <p:nvPr/>
        </p:nvSpPr>
        <p:spPr>
          <a:xfrm>
            <a:off x="1201738" y="4076700"/>
            <a:ext cx="1066800" cy="579438"/>
          </a:xfrm>
          <a:prstGeom prst="rect">
            <a:avLst/>
          </a:prstGeom>
          <a:noFill/>
          <a:ln w="9525">
            <a:noFill/>
          </a:ln>
        </p:spPr>
        <p:txBody>
          <a:bodyPr>
            <a:spAutoFit/>
          </a:bodyPr>
          <a:lstStyle/>
          <a:p>
            <a:pPr eaLnBrk="1" hangingPunct="1">
              <a:spcBef>
                <a:spcPct val="50000"/>
              </a:spcBef>
            </a:pPr>
            <a:r>
              <a:rPr lang="zh-CN" altLang="en-US" sz="3200" i="1"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m</a:t>
            </a:r>
            <a:endParaRPr lang="en-US" altLang="zh-CN" sz="3200" i="1" dirty="0">
              <a:latin typeface="Times New Roman" panose="02020603050405020304" pitchFamily="18" charset="0"/>
              <a:ea typeface="Times New Roman" panose="02020603050405020304" pitchFamily="18" charset="0"/>
            </a:endParaRPr>
          </a:p>
        </p:txBody>
      </p:sp>
      <p:sp>
        <p:nvSpPr>
          <p:cNvPr id="6155" name="Text Box 10"/>
          <p:cNvSpPr txBox="1"/>
          <p:nvPr/>
        </p:nvSpPr>
        <p:spPr>
          <a:xfrm>
            <a:off x="2438400" y="533400"/>
            <a:ext cx="6248400" cy="579438"/>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ea typeface="微软雅黑" panose="020B0503020204020204" pitchFamily="34" charset="-122"/>
              </a:rPr>
              <a:t>1          2         …        </a:t>
            </a:r>
            <a:r>
              <a:rPr lang="en-US" altLang="zh-CN" sz="3200" i="1" dirty="0">
                <a:latin typeface="Times New Roman" panose="02020603050405020304" pitchFamily="18" charset="0"/>
                <a:ea typeface="微软雅黑" panose="020B0503020204020204" pitchFamily="34" charset="-122"/>
              </a:rPr>
              <a:t>n</a:t>
            </a:r>
          </a:p>
        </p:txBody>
      </p:sp>
      <p:sp>
        <p:nvSpPr>
          <p:cNvPr id="6156" name="Line 11"/>
          <p:cNvSpPr/>
          <p:nvPr/>
        </p:nvSpPr>
        <p:spPr>
          <a:xfrm>
            <a:off x="2133600" y="457200"/>
            <a:ext cx="0" cy="5105400"/>
          </a:xfrm>
          <a:prstGeom prst="line">
            <a:avLst/>
          </a:prstGeom>
          <a:ln w="9525" cap="flat" cmpd="sng">
            <a:solidFill>
              <a:schemeClr val="tx1"/>
            </a:solidFill>
            <a:prstDash val="solid"/>
            <a:headEnd type="none" w="med" len="med"/>
            <a:tailEnd type="none" w="med" len="med"/>
          </a:ln>
        </p:spPr>
      </p:sp>
      <p:sp>
        <p:nvSpPr>
          <p:cNvPr id="6157" name="Line 12"/>
          <p:cNvSpPr/>
          <p:nvPr/>
        </p:nvSpPr>
        <p:spPr>
          <a:xfrm>
            <a:off x="6705600" y="533400"/>
            <a:ext cx="0" cy="5105400"/>
          </a:xfrm>
          <a:prstGeom prst="line">
            <a:avLst/>
          </a:prstGeom>
          <a:ln w="9525" cap="flat" cmpd="sng">
            <a:solidFill>
              <a:schemeClr val="tx1"/>
            </a:solidFill>
            <a:prstDash val="solid"/>
            <a:headEnd type="none" w="med" len="med"/>
            <a:tailEnd type="none" w="med" len="med"/>
          </a:ln>
        </p:spPr>
      </p:sp>
      <p:sp>
        <p:nvSpPr>
          <p:cNvPr id="6158" name="Text Box 13"/>
          <p:cNvSpPr txBox="1"/>
          <p:nvPr/>
        </p:nvSpPr>
        <p:spPr>
          <a:xfrm>
            <a:off x="990600" y="50292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销量</a:t>
            </a:r>
          </a:p>
        </p:txBody>
      </p:sp>
      <p:sp>
        <p:nvSpPr>
          <p:cNvPr id="6159" name="Text Box 14"/>
          <p:cNvSpPr txBox="1"/>
          <p:nvPr/>
        </p:nvSpPr>
        <p:spPr>
          <a:xfrm>
            <a:off x="6934200" y="685800"/>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产量</a:t>
            </a:r>
          </a:p>
        </p:txBody>
      </p:sp>
      <p:sp>
        <p:nvSpPr>
          <p:cNvPr id="6160" name="Text Box 17"/>
          <p:cNvSpPr txBox="1"/>
          <p:nvPr/>
        </p:nvSpPr>
        <p:spPr>
          <a:xfrm>
            <a:off x="7034213" y="4038600"/>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ea typeface="微软雅黑" panose="020B0503020204020204" pitchFamily="34" charset="-122"/>
              </a:rPr>
              <a:t>a</a:t>
            </a:r>
            <a:r>
              <a:rPr lang="en-US" altLang="zh-CN" sz="1200" i="1" dirty="0">
                <a:latin typeface="Times New Roman" panose="02020603050405020304" pitchFamily="18" charset="0"/>
                <a:ea typeface="微软雅黑" panose="020B0503020204020204" pitchFamily="34" charset="-122"/>
              </a:rPr>
              <a:t>m</a:t>
            </a:r>
            <a:endParaRPr lang="en-US" altLang="zh-CN" sz="3600" i="1" dirty="0">
              <a:latin typeface="Times New Roman" panose="02020603050405020304" pitchFamily="18" charset="0"/>
              <a:ea typeface="微软雅黑" panose="020B0503020204020204" pitchFamily="34" charset="-122"/>
            </a:endParaRPr>
          </a:p>
        </p:txBody>
      </p:sp>
      <p:sp>
        <p:nvSpPr>
          <p:cNvPr id="6161" name="Text Box 18"/>
          <p:cNvSpPr txBox="1"/>
          <p:nvPr/>
        </p:nvSpPr>
        <p:spPr>
          <a:xfrm>
            <a:off x="7134980" y="3001963"/>
            <a:ext cx="677108"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ea typeface="微软雅黑" panose="020B0503020204020204" pitchFamily="34" charset="-122"/>
              </a:rPr>
              <a:t>     </a:t>
            </a:r>
            <a:r>
              <a:rPr lang="en-US" altLang="zh-CN" sz="3200" dirty="0">
                <a:latin typeface="Times New Roman" panose="02020603050405020304" pitchFamily="18" charset="0"/>
                <a:ea typeface="微软雅黑" panose="020B0503020204020204" pitchFamily="34" charset="-122"/>
              </a:rPr>
              <a:t>…</a:t>
            </a:r>
            <a:r>
              <a:rPr lang="en-US" altLang="zh-CN" sz="1800" dirty="0">
                <a:latin typeface="Times New Roman" panose="02020603050405020304" pitchFamily="18" charset="0"/>
                <a:ea typeface="微软雅黑" panose="020B0503020204020204" pitchFamily="34" charset="-122"/>
              </a:rPr>
              <a:t>                            </a:t>
            </a:r>
          </a:p>
        </p:txBody>
      </p:sp>
      <p:sp>
        <p:nvSpPr>
          <p:cNvPr id="6162" name="Text Box 21"/>
          <p:cNvSpPr txBox="1"/>
          <p:nvPr/>
        </p:nvSpPr>
        <p:spPr>
          <a:xfrm>
            <a:off x="2455863" y="4114800"/>
            <a:ext cx="4419600" cy="579438"/>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c</a:t>
            </a:r>
            <a:r>
              <a:rPr lang="en-US" altLang="zh-CN" sz="1200" i="1" dirty="0">
                <a:latin typeface="Times New Roman" panose="02020603050405020304" pitchFamily="18" charset="0"/>
                <a:ea typeface="微软雅黑" panose="020B0503020204020204" pitchFamily="34" charset="-122"/>
              </a:rPr>
              <a:t>m</a:t>
            </a:r>
            <a:r>
              <a:rPr lang="en-US" altLang="zh-CN" sz="1200" dirty="0">
                <a:latin typeface="Times New Roman" panose="02020603050405020304" pitchFamily="18" charset="0"/>
                <a:ea typeface="微软雅黑" panose="020B0503020204020204" pitchFamily="34" charset="-122"/>
              </a:rPr>
              <a:t>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c</a:t>
            </a:r>
            <a:r>
              <a:rPr lang="en-US" altLang="zh-CN" sz="1200" i="1" dirty="0">
                <a:latin typeface="Times New Roman" panose="02020603050405020304" pitchFamily="18" charset="0"/>
                <a:ea typeface="微软雅黑" panose="020B0503020204020204" pitchFamily="34" charset="-122"/>
              </a:rPr>
              <a:t>m</a:t>
            </a:r>
            <a:r>
              <a:rPr lang="en-US" altLang="zh-CN" sz="1200" dirty="0">
                <a:latin typeface="Times New Roman" panose="02020603050405020304" pitchFamily="18" charset="0"/>
                <a:ea typeface="微软雅黑" panose="020B0503020204020204" pitchFamily="34" charset="-122"/>
              </a:rPr>
              <a:t>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c</a:t>
            </a:r>
            <a:r>
              <a:rPr lang="en-US" altLang="zh-CN" sz="1200" i="1" dirty="0">
                <a:latin typeface="Times New Roman" panose="02020603050405020304" pitchFamily="18" charset="0"/>
                <a:ea typeface="微软雅黑" panose="020B0503020204020204" pitchFamily="34" charset="-122"/>
              </a:rPr>
              <a:t>mn</a:t>
            </a:r>
          </a:p>
        </p:txBody>
      </p:sp>
      <p:sp>
        <p:nvSpPr>
          <p:cNvPr id="6163" name="Text Box 23"/>
          <p:cNvSpPr txBox="1"/>
          <p:nvPr/>
        </p:nvSpPr>
        <p:spPr>
          <a:xfrm>
            <a:off x="3728205" y="3048000"/>
            <a:ext cx="677108"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ea typeface="微软雅黑" panose="020B0503020204020204" pitchFamily="34" charset="-122"/>
              </a:rPr>
              <a:t>     </a:t>
            </a:r>
            <a:r>
              <a:rPr lang="en-US" altLang="zh-CN" sz="3200" dirty="0">
                <a:latin typeface="Times New Roman" panose="02020603050405020304" pitchFamily="18" charset="0"/>
                <a:ea typeface="微软雅黑" panose="020B0503020204020204" pitchFamily="34" charset="-122"/>
              </a:rPr>
              <a:t>…</a:t>
            </a:r>
            <a:r>
              <a:rPr lang="en-US" altLang="zh-CN" sz="1800" dirty="0">
                <a:latin typeface="Times New Roman" panose="02020603050405020304" pitchFamily="18" charset="0"/>
                <a:ea typeface="微软雅黑" panose="020B0503020204020204" pitchFamily="34" charset="-122"/>
              </a:rPr>
              <a:t>                            </a:t>
            </a:r>
          </a:p>
        </p:txBody>
      </p:sp>
      <p:sp>
        <p:nvSpPr>
          <p:cNvPr id="6164" name="Text Box 17"/>
          <p:cNvSpPr txBox="1"/>
          <p:nvPr/>
        </p:nvSpPr>
        <p:spPr>
          <a:xfrm>
            <a:off x="7034213" y="2420938"/>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ea typeface="微软雅黑" panose="020B0503020204020204" pitchFamily="34" charset="-122"/>
              </a:rPr>
              <a:t>a</a:t>
            </a:r>
            <a:r>
              <a:rPr lang="en-US" altLang="zh-CN" sz="1200" dirty="0">
                <a:latin typeface="Times New Roman" panose="02020603050405020304" pitchFamily="18" charset="0"/>
                <a:ea typeface="微软雅黑" panose="020B0503020204020204" pitchFamily="34" charset="-122"/>
              </a:rPr>
              <a:t>2</a:t>
            </a:r>
            <a:endParaRPr lang="en-US" altLang="zh-CN" sz="3600" dirty="0">
              <a:latin typeface="Times New Roman" panose="02020603050405020304" pitchFamily="18" charset="0"/>
              <a:ea typeface="微软雅黑" panose="020B0503020204020204" pitchFamily="34" charset="-122"/>
            </a:endParaRPr>
          </a:p>
        </p:txBody>
      </p:sp>
      <p:sp>
        <p:nvSpPr>
          <p:cNvPr id="6165" name="Text Box 17"/>
          <p:cNvSpPr txBox="1"/>
          <p:nvPr/>
        </p:nvSpPr>
        <p:spPr>
          <a:xfrm>
            <a:off x="7034213" y="1557338"/>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ea typeface="微软雅黑" panose="020B0503020204020204" pitchFamily="34" charset="-122"/>
              </a:rPr>
              <a:t>a</a:t>
            </a:r>
            <a:r>
              <a:rPr lang="en-US" altLang="zh-CN" sz="1200" dirty="0">
                <a:latin typeface="Times New Roman" panose="02020603050405020304" pitchFamily="18" charset="0"/>
                <a:ea typeface="微软雅黑" panose="020B0503020204020204" pitchFamily="34" charset="-122"/>
              </a:rPr>
              <a:t>1</a:t>
            </a:r>
            <a:endParaRPr lang="en-US" altLang="zh-CN" sz="3600" dirty="0">
              <a:latin typeface="Times New Roman" panose="02020603050405020304" pitchFamily="18" charset="0"/>
              <a:ea typeface="微软雅黑" panose="020B0503020204020204" pitchFamily="34" charset="-122"/>
            </a:endParaRPr>
          </a:p>
        </p:txBody>
      </p:sp>
      <p:sp>
        <p:nvSpPr>
          <p:cNvPr id="6166" name="Text Box 21"/>
          <p:cNvSpPr txBox="1"/>
          <p:nvPr/>
        </p:nvSpPr>
        <p:spPr>
          <a:xfrm>
            <a:off x="2455863" y="2492375"/>
            <a:ext cx="4419600" cy="585788"/>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c</a:t>
            </a:r>
            <a:r>
              <a:rPr lang="en-US" altLang="zh-CN" sz="1200" dirty="0">
                <a:latin typeface="Times New Roman" panose="02020603050405020304" pitchFamily="18" charset="0"/>
                <a:ea typeface="微软雅黑" panose="020B0503020204020204" pitchFamily="34" charset="-122"/>
              </a:rPr>
              <a:t>21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c</a:t>
            </a:r>
            <a:r>
              <a:rPr lang="en-US" altLang="zh-CN" sz="1200" dirty="0">
                <a:latin typeface="Times New Roman" panose="02020603050405020304" pitchFamily="18" charset="0"/>
                <a:ea typeface="微软雅黑" panose="020B0503020204020204" pitchFamily="34" charset="-122"/>
              </a:rPr>
              <a:t>22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c</a:t>
            </a:r>
            <a:r>
              <a:rPr lang="en-US" altLang="zh-CN" sz="1200" dirty="0">
                <a:latin typeface="Times New Roman" panose="02020603050405020304" pitchFamily="18" charset="0"/>
                <a:ea typeface="微软雅黑" panose="020B0503020204020204" pitchFamily="34" charset="-122"/>
              </a:rPr>
              <a:t>2</a:t>
            </a:r>
            <a:r>
              <a:rPr lang="en-US" altLang="zh-CN" sz="1200" i="1" dirty="0">
                <a:latin typeface="Times New Roman" panose="02020603050405020304" pitchFamily="18" charset="0"/>
                <a:ea typeface="微软雅黑" panose="020B0503020204020204" pitchFamily="34" charset="-122"/>
              </a:rPr>
              <a:t>n</a:t>
            </a:r>
          </a:p>
        </p:txBody>
      </p:sp>
      <p:sp>
        <p:nvSpPr>
          <p:cNvPr id="6167" name="Text Box 21"/>
          <p:cNvSpPr txBox="1"/>
          <p:nvPr/>
        </p:nvSpPr>
        <p:spPr>
          <a:xfrm>
            <a:off x="2455863" y="1412875"/>
            <a:ext cx="4419600" cy="584200"/>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c</a:t>
            </a:r>
            <a:r>
              <a:rPr lang="en-US" altLang="zh-CN" sz="1200" dirty="0">
                <a:latin typeface="Times New Roman" panose="02020603050405020304" pitchFamily="18" charset="0"/>
                <a:ea typeface="微软雅黑" panose="020B0503020204020204" pitchFamily="34" charset="-122"/>
              </a:rPr>
              <a:t>11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c</a:t>
            </a:r>
            <a:r>
              <a:rPr lang="en-US" altLang="zh-CN" sz="1200" dirty="0">
                <a:latin typeface="Times New Roman" panose="02020603050405020304" pitchFamily="18" charset="0"/>
                <a:ea typeface="微软雅黑" panose="020B0503020204020204" pitchFamily="34" charset="-122"/>
              </a:rPr>
              <a:t>12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c</a:t>
            </a:r>
            <a:r>
              <a:rPr lang="en-US" altLang="zh-CN" sz="1200" dirty="0">
                <a:latin typeface="Times New Roman" panose="02020603050405020304" pitchFamily="18" charset="0"/>
                <a:ea typeface="微软雅黑" panose="020B0503020204020204" pitchFamily="34" charset="-122"/>
              </a:rPr>
              <a:t>1</a:t>
            </a:r>
            <a:r>
              <a:rPr lang="en-US" altLang="zh-CN" sz="1200" i="1" dirty="0">
                <a:latin typeface="Times New Roman" panose="02020603050405020304" pitchFamily="18" charset="0"/>
                <a:ea typeface="微软雅黑" panose="020B0503020204020204" pitchFamily="34" charset="-122"/>
              </a:rPr>
              <a:t>n</a:t>
            </a:r>
          </a:p>
        </p:txBody>
      </p:sp>
      <p:sp>
        <p:nvSpPr>
          <p:cNvPr id="6168" name="Text Box 21"/>
          <p:cNvSpPr txBox="1"/>
          <p:nvPr/>
        </p:nvSpPr>
        <p:spPr>
          <a:xfrm>
            <a:off x="2484438" y="4865688"/>
            <a:ext cx="4419600" cy="584200"/>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b</a:t>
            </a:r>
            <a:r>
              <a:rPr lang="en-US" altLang="zh-CN" sz="1200" dirty="0">
                <a:latin typeface="Times New Roman" panose="02020603050405020304" pitchFamily="18" charset="0"/>
                <a:ea typeface="微软雅黑" panose="020B0503020204020204" pitchFamily="34" charset="-122"/>
              </a:rPr>
              <a:t>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b</a:t>
            </a:r>
            <a:r>
              <a:rPr lang="en-US" altLang="zh-CN" sz="1200" dirty="0">
                <a:latin typeface="Times New Roman" panose="02020603050405020304" pitchFamily="18" charset="0"/>
                <a:ea typeface="微软雅黑" panose="020B0503020204020204" pitchFamily="34" charset="-122"/>
              </a:rPr>
              <a:t>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b</a:t>
            </a:r>
            <a:r>
              <a:rPr lang="en-US" altLang="zh-CN" sz="1200" i="1" dirty="0">
                <a:latin typeface="Times New Roman" panose="02020603050405020304" pitchFamily="18" charset="0"/>
                <a:ea typeface="微软雅黑" panose="020B0503020204020204" pitchFamily="34" charset="-122"/>
              </a:rPr>
              <a:t>n</a:t>
            </a:r>
          </a:p>
        </p:txBody>
      </p:sp>
      <p:sp>
        <p:nvSpPr>
          <p:cNvPr id="2" name="灯片编号占位符 1">
            <a:extLst>
              <a:ext uri="{FF2B5EF4-FFF2-40B4-BE49-F238E27FC236}">
                <a16:creationId xmlns:a16="http://schemas.microsoft.com/office/drawing/2014/main" id="{1C3176FC-00CC-4947-BFD9-FB583ABCECE7}"/>
              </a:ext>
            </a:extLst>
          </p:cNvPr>
          <p:cNvSpPr>
            <a:spLocks noGrp="1"/>
          </p:cNvSpPr>
          <p:nvPr>
            <p:ph type="sldNum" sz="quarter" idx="12"/>
          </p:nvPr>
        </p:nvSpPr>
        <p:spPr/>
        <p:txBody>
          <a:bodyPr/>
          <a:lstStyle/>
          <a:p>
            <a:pPr>
              <a:defRPr/>
            </a:pPr>
            <a:fld id="{2AE1B59C-883C-4848-BC85-9A12DF2590B2}" type="slidenum">
              <a:rPr lang="en-US" altLang="zh-CN" smtClean="0"/>
              <a:t>4</a:t>
            </a:fld>
            <a:endParaRPr lang="en-US" altLang="zh-CN"/>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24"/>
          <p:cNvSpPr/>
          <p:nvPr/>
        </p:nvSpPr>
        <p:spPr>
          <a:xfrm>
            <a:off x="179388" y="260350"/>
            <a:ext cx="5540375" cy="646113"/>
          </a:xfrm>
          <a:prstGeom prst="rect">
            <a:avLst/>
          </a:prstGeom>
          <a:noFill/>
          <a:ln w="9525">
            <a:noFill/>
          </a:ln>
        </p:spPr>
        <p:txBody>
          <a:bodyPr wrap="none">
            <a:spAutoFit/>
          </a:bodyPr>
          <a:lstStyle/>
          <a:p>
            <a:pPr eaLnBrk="1" hangingPunct="1"/>
            <a:r>
              <a:rPr lang="zh-CN" altLang="en-US" sz="3600" b="1" dirty="0">
                <a:latin typeface="Times New Roman" panose="02020603050405020304" pitchFamily="18" charset="0"/>
                <a:ea typeface="微软雅黑" pitchFamily="34" charset="-122"/>
              </a:rPr>
              <a:t>若用</a:t>
            </a:r>
            <a:r>
              <a:rPr lang="en-US" altLang="zh-CN" sz="3600" b="1" i="1" dirty="0">
                <a:latin typeface="Times New Roman" panose="02020603050405020304" pitchFamily="18" charset="0"/>
                <a:ea typeface="微软雅黑" pitchFamily="34" charset="-122"/>
              </a:rPr>
              <a:t>x</a:t>
            </a:r>
            <a:r>
              <a:rPr lang="en-US" altLang="zh-CN" sz="3600" b="1" i="1" baseline="-30000" dirty="0">
                <a:latin typeface="Times New Roman" panose="02020603050405020304" pitchFamily="18" charset="0"/>
                <a:ea typeface="微软雅黑" pitchFamily="34" charset="-122"/>
              </a:rPr>
              <a:t>ij</a:t>
            </a:r>
            <a:r>
              <a:rPr lang="zh-CN" altLang="en-US" sz="3600" b="1" dirty="0">
                <a:latin typeface="Times New Roman" panose="02020603050405020304" pitchFamily="18" charset="0"/>
                <a:ea typeface="微软雅黑" pitchFamily="34" charset="-122"/>
              </a:rPr>
              <a:t>表示从</a:t>
            </a:r>
            <a:r>
              <a:rPr lang="en-US" altLang="zh-CN" sz="3600" b="1" i="1" dirty="0">
                <a:latin typeface="Times New Roman" panose="02020603050405020304" pitchFamily="18" charset="0"/>
                <a:ea typeface="微软雅黑" pitchFamily="34" charset="-122"/>
              </a:rPr>
              <a:t>A</a:t>
            </a:r>
            <a:r>
              <a:rPr lang="en-US" altLang="zh-CN" sz="3600" b="1" i="1" baseline="-30000" dirty="0">
                <a:latin typeface="Times New Roman" panose="02020603050405020304" pitchFamily="18" charset="0"/>
                <a:ea typeface="微软雅黑" pitchFamily="34" charset="-122"/>
              </a:rPr>
              <a:t>i</a:t>
            </a:r>
            <a:r>
              <a:rPr lang="zh-CN" altLang="en-US" sz="3600" b="1" dirty="0">
                <a:latin typeface="Times New Roman" panose="02020603050405020304" pitchFamily="18" charset="0"/>
                <a:ea typeface="微软雅黑" pitchFamily="34" charset="-122"/>
              </a:rPr>
              <a:t>到</a:t>
            </a:r>
            <a:r>
              <a:rPr lang="en-US" altLang="zh-CN" sz="3600" b="1" i="1" dirty="0">
                <a:latin typeface="Times New Roman" panose="02020603050405020304" pitchFamily="18" charset="0"/>
                <a:ea typeface="微软雅黑" pitchFamily="34" charset="-122"/>
              </a:rPr>
              <a:t>B</a:t>
            </a:r>
            <a:r>
              <a:rPr lang="en-US" altLang="zh-CN" sz="3600" b="1" i="1" baseline="-30000" dirty="0">
                <a:latin typeface="Times New Roman" panose="02020603050405020304" pitchFamily="18" charset="0"/>
                <a:ea typeface="微软雅黑" pitchFamily="34" charset="-122"/>
              </a:rPr>
              <a:t>j</a:t>
            </a:r>
            <a:r>
              <a:rPr lang="zh-CN" altLang="en-US" sz="3600" b="1" dirty="0">
                <a:latin typeface="Times New Roman" panose="02020603050405020304" pitchFamily="18" charset="0"/>
                <a:ea typeface="微软雅黑" pitchFamily="34" charset="-122"/>
              </a:rPr>
              <a:t>的运量</a:t>
            </a:r>
            <a:endParaRPr lang="zh-CN" altLang="en-US" sz="3600" dirty="0">
              <a:ea typeface="微软雅黑" pitchFamily="34" charset="-122"/>
            </a:endParaRPr>
          </a:p>
        </p:txBody>
      </p:sp>
      <p:sp>
        <p:nvSpPr>
          <p:cNvPr id="7171" name="Line 2"/>
          <p:cNvSpPr/>
          <p:nvPr/>
        </p:nvSpPr>
        <p:spPr>
          <a:xfrm>
            <a:off x="839788" y="1487488"/>
            <a:ext cx="7086600" cy="0"/>
          </a:xfrm>
          <a:prstGeom prst="line">
            <a:avLst/>
          </a:prstGeom>
          <a:ln w="9525" cap="flat" cmpd="sng">
            <a:solidFill>
              <a:schemeClr val="tx1"/>
            </a:solidFill>
            <a:prstDash val="solid"/>
            <a:headEnd type="none" w="med" len="med"/>
            <a:tailEnd type="none" w="med" len="med"/>
          </a:ln>
        </p:spPr>
      </p:sp>
      <p:sp>
        <p:nvSpPr>
          <p:cNvPr id="7172" name="Line 3"/>
          <p:cNvSpPr/>
          <p:nvPr/>
        </p:nvSpPr>
        <p:spPr>
          <a:xfrm>
            <a:off x="763588" y="2249488"/>
            <a:ext cx="7086600" cy="0"/>
          </a:xfrm>
          <a:prstGeom prst="line">
            <a:avLst/>
          </a:prstGeom>
          <a:ln w="9525" cap="flat" cmpd="sng">
            <a:solidFill>
              <a:schemeClr val="tx1"/>
            </a:solidFill>
            <a:prstDash val="solid"/>
            <a:headEnd type="none" w="med" len="med"/>
            <a:tailEnd type="none" w="med" len="med"/>
          </a:ln>
        </p:spPr>
      </p:sp>
      <p:sp>
        <p:nvSpPr>
          <p:cNvPr id="7173" name="Line 4"/>
          <p:cNvSpPr/>
          <p:nvPr/>
        </p:nvSpPr>
        <p:spPr>
          <a:xfrm>
            <a:off x="763588" y="6592888"/>
            <a:ext cx="7086600" cy="0"/>
          </a:xfrm>
          <a:prstGeom prst="line">
            <a:avLst/>
          </a:prstGeom>
          <a:ln w="9525" cap="flat" cmpd="sng">
            <a:solidFill>
              <a:schemeClr val="tx1"/>
            </a:solidFill>
            <a:prstDash val="solid"/>
            <a:headEnd type="none" w="med" len="med"/>
            <a:tailEnd type="none" w="med" len="med"/>
          </a:ln>
        </p:spPr>
      </p:sp>
      <p:sp>
        <p:nvSpPr>
          <p:cNvPr id="7174" name="Line 5"/>
          <p:cNvSpPr/>
          <p:nvPr/>
        </p:nvSpPr>
        <p:spPr>
          <a:xfrm>
            <a:off x="687388" y="5830888"/>
            <a:ext cx="7086600" cy="0"/>
          </a:xfrm>
          <a:prstGeom prst="line">
            <a:avLst/>
          </a:prstGeom>
          <a:ln w="9525" cap="flat" cmpd="sng">
            <a:solidFill>
              <a:schemeClr val="tx1"/>
            </a:solidFill>
            <a:prstDash val="solid"/>
            <a:headEnd type="none" w="med" len="med"/>
            <a:tailEnd type="none" w="med" len="med"/>
          </a:ln>
        </p:spPr>
      </p:sp>
      <p:sp>
        <p:nvSpPr>
          <p:cNvPr id="7175" name="Text Box 6"/>
          <p:cNvSpPr txBox="1"/>
          <p:nvPr/>
        </p:nvSpPr>
        <p:spPr>
          <a:xfrm>
            <a:off x="1068388" y="14874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销地</a:t>
            </a:r>
          </a:p>
        </p:txBody>
      </p:sp>
      <p:sp>
        <p:nvSpPr>
          <p:cNvPr id="7176" name="Text Box 7"/>
          <p:cNvSpPr txBox="1"/>
          <p:nvPr/>
        </p:nvSpPr>
        <p:spPr>
          <a:xfrm>
            <a:off x="611188" y="18684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产地</a:t>
            </a:r>
          </a:p>
        </p:txBody>
      </p:sp>
      <p:sp>
        <p:nvSpPr>
          <p:cNvPr id="7177" name="Text Box 8"/>
          <p:cNvSpPr txBox="1"/>
          <p:nvPr/>
        </p:nvSpPr>
        <p:spPr>
          <a:xfrm>
            <a:off x="933450" y="2554288"/>
            <a:ext cx="671513" cy="2306637"/>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ea typeface="微软雅黑" panose="020B0503020204020204" pitchFamily="34" charset="-122"/>
              </a:rPr>
              <a:t>1</a:t>
            </a:r>
          </a:p>
          <a:p>
            <a:pPr eaLnBrk="1" hangingPunct="1">
              <a:spcBef>
                <a:spcPct val="50000"/>
              </a:spcBef>
            </a:pPr>
            <a:r>
              <a:rPr lang="en-US" altLang="zh-CN" sz="3200" dirty="0">
                <a:latin typeface="Times New Roman" panose="02020603050405020304" pitchFamily="18" charset="0"/>
                <a:ea typeface="微软雅黑" panose="020B0503020204020204" pitchFamily="34" charset="-122"/>
              </a:rPr>
              <a:t> 2      …</a:t>
            </a:r>
            <a:r>
              <a:rPr lang="en-US" altLang="zh-CN" sz="1800" dirty="0">
                <a:latin typeface="Times New Roman" panose="02020603050405020304" pitchFamily="18" charset="0"/>
                <a:ea typeface="微软雅黑" panose="020B0503020204020204" pitchFamily="34" charset="-122"/>
              </a:rPr>
              <a:t>                            </a:t>
            </a:r>
          </a:p>
        </p:txBody>
      </p:sp>
      <p:sp>
        <p:nvSpPr>
          <p:cNvPr id="7178" name="Text Box 9"/>
          <p:cNvSpPr txBox="1"/>
          <p:nvPr/>
        </p:nvSpPr>
        <p:spPr>
          <a:xfrm>
            <a:off x="898525" y="5106988"/>
            <a:ext cx="1066800" cy="579437"/>
          </a:xfrm>
          <a:prstGeom prst="rect">
            <a:avLst/>
          </a:prstGeom>
          <a:noFill/>
          <a:ln w="9525">
            <a:noFill/>
          </a:ln>
        </p:spPr>
        <p:txBody>
          <a:bodyPr>
            <a:spAutoFit/>
          </a:bodyPr>
          <a:lstStyle/>
          <a:p>
            <a:pPr eaLnBrk="1" hangingPunct="1">
              <a:spcBef>
                <a:spcPct val="50000"/>
              </a:spcBef>
            </a:pPr>
            <a:r>
              <a:rPr lang="zh-CN" altLang="en-US" sz="3200" i="1"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m</a:t>
            </a:r>
            <a:endParaRPr lang="en-US" altLang="zh-CN" sz="3200" i="1" dirty="0">
              <a:latin typeface="Times New Roman" panose="02020603050405020304" pitchFamily="18" charset="0"/>
              <a:ea typeface="Times New Roman" panose="02020603050405020304" pitchFamily="18" charset="0"/>
            </a:endParaRPr>
          </a:p>
        </p:txBody>
      </p:sp>
      <p:sp>
        <p:nvSpPr>
          <p:cNvPr id="7179" name="Line 11"/>
          <p:cNvSpPr/>
          <p:nvPr/>
        </p:nvSpPr>
        <p:spPr>
          <a:xfrm>
            <a:off x="1830388" y="1487488"/>
            <a:ext cx="0" cy="5105400"/>
          </a:xfrm>
          <a:prstGeom prst="line">
            <a:avLst/>
          </a:prstGeom>
          <a:ln w="9525" cap="flat" cmpd="sng">
            <a:solidFill>
              <a:schemeClr val="tx1"/>
            </a:solidFill>
            <a:prstDash val="solid"/>
            <a:headEnd type="none" w="med" len="med"/>
            <a:tailEnd type="none" w="med" len="med"/>
          </a:ln>
        </p:spPr>
      </p:sp>
      <p:sp>
        <p:nvSpPr>
          <p:cNvPr id="7180" name="Line 12"/>
          <p:cNvSpPr/>
          <p:nvPr/>
        </p:nvSpPr>
        <p:spPr>
          <a:xfrm>
            <a:off x="6402388" y="1563688"/>
            <a:ext cx="0" cy="5105400"/>
          </a:xfrm>
          <a:prstGeom prst="line">
            <a:avLst/>
          </a:prstGeom>
          <a:ln w="9525" cap="flat" cmpd="sng">
            <a:solidFill>
              <a:schemeClr val="tx1"/>
            </a:solidFill>
            <a:prstDash val="solid"/>
            <a:headEnd type="none" w="med" len="med"/>
            <a:tailEnd type="none" w="med" len="med"/>
          </a:ln>
        </p:spPr>
      </p:sp>
      <p:sp>
        <p:nvSpPr>
          <p:cNvPr id="7181" name="Text Box 13"/>
          <p:cNvSpPr txBox="1"/>
          <p:nvPr/>
        </p:nvSpPr>
        <p:spPr>
          <a:xfrm>
            <a:off x="687388" y="60594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销量</a:t>
            </a:r>
          </a:p>
        </p:txBody>
      </p:sp>
      <p:sp>
        <p:nvSpPr>
          <p:cNvPr id="7182" name="Text Box 14"/>
          <p:cNvSpPr txBox="1"/>
          <p:nvPr/>
        </p:nvSpPr>
        <p:spPr>
          <a:xfrm>
            <a:off x="6630988" y="1716088"/>
            <a:ext cx="1066800" cy="457200"/>
          </a:xfrm>
          <a:prstGeom prst="rect">
            <a:avLst/>
          </a:prstGeom>
          <a:noFill/>
          <a:ln w="9525">
            <a:noFill/>
          </a:ln>
        </p:spPr>
        <p:txBody>
          <a:bodyPr>
            <a:spAutoFit/>
          </a:bodyPr>
          <a:lstStyle/>
          <a:p>
            <a:pPr eaLnBrk="1" hangingPunct="1">
              <a:spcBef>
                <a:spcPct val="50000"/>
              </a:spcBef>
            </a:pPr>
            <a:r>
              <a:rPr lang="zh-CN" altLang="en-US" dirty="0">
                <a:latin typeface="Times New Roman" panose="02020603050405020304" pitchFamily="18" charset="0"/>
                <a:ea typeface="微软雅黑" panose="020B0503020204020204" pitchFamily="34" charset="-122"/>
              </a:rPr>
              <a:t>产量</a:t>
            </a:r>
          </a:p>
        </p:txBody>
      </p:sp>
      <p:sp>
        <p:nvSpPr>
          <p:cNvPr id="7183" name="Text Box 17"/>
          <p:cNvSpPr txBox="1"/>
          <p:nvPr/>
        </p:nvSpPr>
        <p:spPr>
          <a:xfrm>
            <a:off x="6731000" y="5068888"/>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ea typeface="微软雅黑" panose="020B0503020204020204" pitchFamily="34" charset="-122"/>
              </a:rPr>
              <a:t>a</a:t>
            </a:r>
            <a:r>
              <a:rPr lang="en-US" altLang="zh-CN" sz="1200" i="1" dirty="0">
                <a:latin typeface="Times New Roman" panose="02020603050405020304" pitchFamily="18" charset="0"/>
                <a:ea typeface="微软雅黑" panose="020B0503020204020204" pitchFamily="34" charset="-122"/>
              </a:rPr>
              <a:t>m</a:t>
            </a:r>
            <a:endParaRPr lang="en-US" altLang="zh-CN" sz="3600" i="1" dirty="0">
              <a:latin typeface="Times New Roman" panose="02020603050405020304" pitchFamily="18" charset="0"/>
              <a:ea typeface="微软雅黑" panose="020B0503020204020204" pitchFamily="34" charset="-122"/>
            </a:endParaRPr>
          </a:p>
        </p:txBody>
      </p:sp>
      <p:sp>
        <p:nvSpPr>
          <p:cNvPr id="7184" name="Text Box 18"/>
          <p:cNvSpPr txBox="1"/>
          <p:nvPr/>
        </p:nvSpPr>
        <p:spPr>
          <a:xfrm>
            <a:off x="6831767" y="4032250"/>
            <a:ext cx="677108"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ea typeface="微软雅黑" panose="020B0503020204020204" pitchFamily="34" charset="-122"/>
              </a:rPr>
              <a:t>     </a:t>
            </a:r>
            <a:r>
              <a:rPr lang="en-US" altLang="zh-CN" sz="3200" dirty="0">
                <a:latin typeface="Times New Roman" panose="02020603050405020304" pitchFamily="18" charset="0"/>
                <a:ea typeface="微软雅黑" panose="020B0503020204020204" pitchFamily="34" charset="-122"/>
              </a:rPr>
              <a:t>…</a:t>
            </a:r>
            <a:r>
              <a:rPr lang="en-US" altLang="zh-CN" sz="1800" dirty="0">
                <a:latin typeface="Times New Roman" panose="02020603050405020304" pitchFamily="18" charset="0"/>
                <a:ea typeface="微软雅黑" panose="020B0503020204020204" pitchFamily="34" charset="-122"/>
              </a:rPr>
              <a:t>                            </a:t>
            </a:r>
          </a:p>
        </p:txBody>
      </p:sp>
      <p:sp>
        <p:nvSpPr>
          <p:cNvPr id="7185" name="Text Box 21"/>
          <p:cNvSpPr txBox="1"/>
          <p:nvPr/>
        </p:nvSpPr>
        <p:spPr>
          <a:xfrm>
            <a:off x="2154238" y="5145088"/>
            <a:ext cx="4419600" cy="579437"/>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x</a:t>
            </a:r>
            <a:r>
              <a:rPr lang="en-US" altLang="zh-CN" sz="1200" i="1" dirty="0">
                <a:latin typeface="Times New Roman" panose="02020603050405020304" pitchFamily="18" charset="0"/>
                <a:ea typeface="微软雅黑" panose="020B0503020204020204" pitchFamily="34" charset="-122"/>
              </a:rPr>
              <a:t>m</a:t>
            </a:r>
            <a:r>
              <a:rPr lang="en-US" altLang="zh-CN" sz="1200" dirty="0">
                <a:latin typeface="Times New Roman" panose="02020603050405020304" pitchFamily="18" charset="0"/>
                <a:ea typeface="微软雅黑" panose="020B0503020204020204" pitchFamily="34" charset="-122"/>
              </a:rPr>
              <a:t>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x</a:t>
            </a:r>
            <a:r>
              <a:rPr lang="en-US" altLang="zh-CN" sz="1200" i="1" dirty="0">
                <a:latin typeface="Times New Roman" panose="02020603050405020304" pitchFamily="18" charset="0"/>
                <a:ea typeface="微软雅黑" panose="020B0503020204020204" pitchFamily="34" charset="-122"/>
              </a:rPr>
              <a:t>m</a:t>
            </a:r>
            <a:r>
              <a:rPr lang="en-US" altLang="zh-CN" sz="1200" dirty="0">
                <a:latin typeface="Times New Roman" panose="02020603050405020304" pitchFamily="18" charset="0"/>
                <a:ea typeface="微软雅黑" panose="020B0503020204020204" pitchFamily="34" charset="-122"/>
              </a:rPr>
              <a:t>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x</a:t>
            </a:r>
            <a:r>
              <a:rPr lang="en-US" altLang="zh-CN" sz="1200" i="1" dirty="0">
                <a:latin typeface="Times New Roman" panose="02020603050405020304" pitchFamily="18" charset="0"/>
                <a:ea typeface="微软雅黑" panose="020B0503020204020204" pitchFamily="34" charset="-122"/>
              </a:rPr>
              <a:t>mn</a:t>
            </a:r>
          </a:p>
        </p:txBody>
      </p:sp>
      <p:sp>
        <p:nvSpPr>
          <p:cNvPr id="7186" name="Text Box 23"/>
          <p:cNvSpPr txBox="1"/>
          <p:nvPr/>
        </p:nvSpPr>
        <p:spPr>
          <a:xfrm>
            <a:off x="3424992" y="4078288"/>
            <a:ext cx="677108" cy="1219200"/>
          </a:xfrm>
          <a:prstGeom prst="rect">
            <a:avLst/>
          </a:prstGeom>
          <a:noFill/>
          <a:ln w="9525">
            <a:noFill/>
          </a:ln>
        </p:spPr>
        <p:txBody>
          <a:bodyPr vert="eaVert">
            <a:spAutoFit/>
          </a:bodyPr>
          <a:lstStyle/>
          <a:p>
            <a:pPr eaLnBrk="1" hangingPunct="1">
              <a:spcBef>
                <a:spcPct val="50000"/>
              </a:spcBef>
            </a:pPr>
            <a:r>
              <a:rPr lang="zh-CN" altLang="en-US" sz="3200" dirty="0">
                <a:latin typeface="Times New Roman" panose="02020603050405020304" pitchFamily="18" charset="0"/>
                <a:ea typeface="微软雅黑" panose="020B0503020204020204" pitchFamily="34" charset="-122"/>
              </a:rPr>
              <a:t>     </a:t>
            </a:r>
            <a:r>
              <a:rPr lang="en-US" altLang="zh-CN" sz="3200" dirty="0">
                <a:latin typeface="Times New Roman" panose="02020603050405020304" pitchFamily="18" charset="0"/>
                <a:ea typeface="微软雅黑" panose="020B0503020204020204" pitchFamily="34" charset="-122"/>
              </a:rPr>
              <a:t>…</a:t>
            </a:r>
            <a:r>
              <a:rPr lang="en-US" altLang="zh-CN" sz="1800" dirty="0">
                <a:latin typeface="Times New Roman" panose="02020603050405020304" pitchFamily="18" charset="0"/>
                <a:ea typeface="微软雅黑" panose="020B0503020204020204" pitchFamily="34" charset="-122"/>
              </a:rPr>
              <a:t>                            </a:t>
            </a:r>
          </a:p>
        </p:txBody>
      </p:sp>
      <p:sp>
        <p:nvSpPr>
          <p:cNvPr id="7187" name="Text Box 17"/>
          <p:cNvSpPr txBox="1"/>
          <p:nvPr/>
        </p:nvSpPr>
        <p:spPr>
          <a:xfrm>
            <a:off x="6731000" y="3451225"/>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ea typeface="微软雅黑" panose="020B0503020204020204" pitchFamily="34" charset="-122"/>
              </a:rPr>
              <a:t>a</a:t>
            </a:r>
            <a:r>
              <a:rPr lang="en-US" altLang="zh-CN" sz="1200" dirty="0">
                <a:latin typeface="Times New Roman" panose="02020603050405020304" pitchFamily="18" charset="0"/>
                <a:ea typeface="微软雅黑" panose="020B0503020204020204" pitchFamily="34" charset="-122"/>
              </a:rPr>
              <a:t>2</a:t>
            </a:r>
            <a:endParaRPr lang="en-US" altLang="zh-CN" sz="3600" dirty="0">
              <a:latin typeface="Times New Roman" panose="02020603050405020304" pitchFamily="18" charset="0"/>
              <a:ea typeface="微软雅黑" panose="020B0503020204020204" pitchFamily="34" charset="-122"/>
            </a:endParaRPr>
          </a:p>
        </p:txBody>
      </p:sp>
      <p:sp>
        <p:nvSpPr>
          <p:cNvPr id="7188" name="Text Box 17"/>
          <p:cNvSpPr txBox="1"/>
          <p:nvPr/>
        </p:nvSpPr>
        <p:spPr>
          <a:xfrm>
            <a:off x="6731000" y="2587625"/>
            <a:ext cx="1066800" cy="641350"/>
          </a:xfrm>
          <a:prstGeom prst="rect">
            <a:avLst/>
          </a:prstGeom>
          <a:noFill/>
          <a:ln w="9525">
            <a:noFill/>
          </a:ln>
        </p:spPr>
        <p:txBody>
          <a:bodyPr>
            <a:spAutoFit/>
          </a:bodyPr>
          <a:lstStyle/>
          <a:p>
            <a:pPr eaLnBrk="1" hangingPunct="1">
              <a:spcBef>
                <a:spcPct val="50000"/>
              </a:spcBef>
            </a:pPr>
            <a:r>
              <a:rPr lang="en-US" altLang="zh-CN" sz="3600" i="1" dirty="0">
                <a:latin typeface="Times New Roman" panose="02020603050405020304" pitchFamily="18" charset="0"/>
                <a:ea typeface="微软雅黑" panose="020B0503020204020204" pitchFamily="34" charset="-122"/>
              </a:rPr>
              <a:t>a</a:t>
            </a:r>
            <a:r>
              <a:rPr lang="en-US" altLang="zh-CN" sz="1200" dirty="0">
                <a:latin typeface="Times New Roman" panose="02020603050405020304" pitchFamily="18" charset="0"/>
                <a:ea typeface="微软雅黑" panose="020B0503020204020204" pitchFamily="34" charset="-122"/>
              </a:rPr>
              <a:t>1</a:t>
            </a:r>
            <a:endParaRPr lang="en-US" altLang="zh-CN" sz="3600" dirty="0">
              <a:latin typeface="Times New Roman" panose="02020603050405020304" pitchFamily="18" charset="0"/>
              <a:ea typeface="微软雅黑" panose="020B0503020204020204" pitchFamily="34" charset="-122"/>
            </a:endParaRPr>
          </a:p>
        </p:txBody>
      </p:sp>
      <p:sp>
        <p:nvSpPr>
          <p:cNvPr id="7189" name="Text Box 21"/>
          <p:cNvSpPr txBox="1"/>
          <p:nvPr/>
        </p:nvSpPr>
        <p:spPr>
          <a:xfrm>
            <a:off x="2154238" y="3522663"/>
            <a:ext cx="4419600" cy="585787"/>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x</a:t>
            </a:r>
            <a:r>
              <a:rPr lang="en-US" altLang="zh-CN" sz="1200" dirty="0">
                <a:latin typeface="Times New Roman" panose="02020603050405020304" pitchFamily="18" charset="0"/>
                <a:ea typeface="微软雅黑" panose="020B0503020204020204" pitchFamily="34" charset="-122"/>
              </a:rPr>
              <a:t>21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x</a:t>
            </a:r>
            <a:r>
              <a:rPr lang="en-US" altLang="zh-CN" sz="1200" dirty="0">
                <a:latin typeface="Times New Roman" panose="02020603050405020304" pitchFamily="18" charset="0"/>
                <a:ea typeface="微软雅黑" panose="020B0503020204020204" pitchFamily="34" charset="-122"/>
              </a:rPr>
              <a:t>22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x</a:t>
            </a:r>
            <a:r>
              <a:rPr lang="en-US" altLang="zh-CN" sz="1200" dirty="0">
                <a:latin typeface="Times New Roman" panose="02020603050405020304" pitchFamily="18" charset="0"/>
                <a:ea typeface="微软雅黑" panose="020B0503020204020204" pitchFamily="34" charset="-122"/>
              </a:rPr>
              <a:t>2</a:t>
            </a:r>
            <a:r>
              <a:rPr lang="en-US" altLang="zh-CN" sz="1200" i="1" dirty="0">
                <a:latin typeface="Times New Roman" panose="02020603050405020304" pitchFamily="18" charset="0"/>
                <a:ea typeface="微软雅黑" panose="020B0503020204020204" pitchFamily="34" charset="-122"/>
              </a:rPr>
              <a:t>n</a:t>
            </a:r>
          </a:p>
        </p:txBody>
      </p:sp>
      <p:sp>
        <p:nvSpPr>
          <p:cNvPr id="7190" name="Text Box 21"/>
          <p:cNvSpPr txBox="1"/>
          <p:nvPr/>
        </p:nvSpPr>
        <p:spPr>
          <a:xfrm>
            <a:off x="2154238" y="2443163"/>
            <a:ext cx="4419600" cy="584200"/>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x</a:t>
            </a:r>
            <a:r>
              <a:rPr lang="en-US" altLang="zh-CN" sz="1200" dirty="0">
                <a:latin typeface="Times New Roman" panose="02020603050405020304" pitchFamily="18" charset="0"/>
                <a:ea typeface="微软雅黑" panose="020B0503020204020204" pitchFamily="34" charset="-122"/>
              </a:rPr>
              <a:t>11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x</a:t>
            </a:r>
            <a:r>
              <a:rPr lang="en-US" altLang="zh-CN" sz="1200" dirty="0">
                <a:latin typeface="Times New Roman" panose="02020603050405020304" pitchFamily="18" charset="0"/>
                <a:ea typeface="微软雅黑" panose="020B0503020204020204" pitchFamily="34" charset="-122"/>
              </a:rPr>
              <a:t>12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x</a:t>
            </a:r>
            <a:r>
              <a:rPr lang="en-US" altLang="zh-CN" sz="1200" dirty="0">
                <a:latin typeface="Times New Roman" panose="02020603050405020304" pitchFamily="18" charset="0"/>
                <a:ea typeface="微软雅黑" panose="020B0503020204020204" pitchFamily="34" charset="-122"/>
              </a:rPr>
              <a:t>1</a:t>
            </a:r>
            <a:r>
              <a:rPr lang="en-US" altLang="zh-CN" sz="1200" i="1" dirty="0">
                <a:latin typeface="Times New Roman" panose="02020603050405020304" pitchFamily="18" charset="0"/>
                <a:ea typeface="微软雅黑" panose="020B0503020204020204" pitchFamily="34" charset="-122"/>
              </a:rPr>
              <a:t>n</a:t>
            </a:r>
          </a:p>
        </p:txBody>
      </p:sp>
      <p:sp>
        <p:nvSpPr>
          <p:cNvPr id="7191" name="Text Box 21"/>
          <p:cNvSpPr txBox="1"/>
          <p:nvPr/>
        </p:nvSpPr>
        <p:spPr>
          <a:xfrm>
            <a:off x="2181225" y="5895975"/>
            <a:ext cx="4419600" cy="585788"/>
          </a:xfrm>
          <a:prstGeom prst="rect">
            <a:avLst/>
          </a:prstGeom>
          <a:noFill/>
          <a:ln w="9525">
            <a:noFill/>
          </a:ln>
        </p:spPr>
        <p:txBody>
          <a:bodyPr>
            <a:spAutoFit/>
          </a:bodyPr>
          <a:lstStyle/>
          <a:p>
            <a:pPr eaLnBrk="1" hangingPunct="1">
              <a:spcBef>
                <a:spcPct val="50000"/>
              </a:spcBef>
            </a:pPr>
            <a:r>
              <a:rPr lang="en-US" altLang="zh-CN" sz="3200" i="1" dirty="0">
                <a:latin typeface="Times New Roman" panose="02020603050405020304" pitchFamily="18" charset="0"/>
                <a:ea typeface="微软雅黑" panose="020B0503020204020204" pitchFamily="34" charset="-122"/>
              </a:rPr>
              <a:t>b</a:t>
            </a:r>
            <a:r>
              <a:rPr lang="en-US" altLang="zh-CN" sz="1200" dirty="0">
                <a:latin typeface="Times New Roman" panose="02020603050405020304" pitchFamily="18" charset="0"/>
                <a:ea typeface="微软雅黑" panose="020B0503020204020204" pitchFamily="34" charset="-122"/>
              </a:rPr>
              <a:t>1</a:t>
            </a:r>
            <a:r>
              <a:rPr lang="en-US" altLang="zh-CN" sz="3200" dirty="0">
                <a:latin typeface="Times New Roman" panose="02020603050405020304" pitchFamily="18" charset="0"/>
                <a:ea typeface="微软雅黑" panose="020B0503020204020204" pitchFamily="34" charset="-122"/>
              </a:rPr>
              <a:t>         </a:t>
            </a:r>
            <a:r>
              <a:rPr lang="en-US" altLang="zh-CN" sz="3200" i="1" dirty="0">
                <a:latin typeface="Times New Roman" panose="02020603050405020304" pitchFamily="18" charset="0"/>
                <a:ea typeface="微软雅黑" panose="020B0503020204020204" pitchFamily="34" charset="-122"/>
              </a:rPr>
              <a:t>b</a:t>
            </a:r>
            <a:r>
              <a:rPr lang="en-US" altLang="zh-CN" sz="1200" dirty="0">
                <a:latin typeface="Times New Roman" panose="02020603050405020304" pitchFamily="18" charset="0"/>
                <a:ea typeface="微软雅黑" panose="020B0503020204020204" pitchFamily="34" charset="-122"/>
              </a:rPr>
              <a:t>2</a:t>
            </a:r>
            <a:r>
              <a:rPr lang="en-US" altLang="zh-CN" sz="3200" dirty="0">
                <a:latin typeface="Times New Roman" panose="02020603050405020304" pitchFamily="18" charset="0"/>
                <a:ea typeface="微软雅黑" panose="020B0503020204020204" pitchFamily="34" charset="-122"/>
              </a:rPr>
              <a:t>       …          </a:t>
            </a:r>
            <a:r>
              <a:rPr lang="en-US" altLang="zh-CN" sz="3200" i="1" dirty="0">
                <a:latin typeface="Times New Roman" panose="02020603050405020304" pitchFamily="18" charset="0"/>
                <a:ea typeface="微软雅黑" panose="020B0503020204020204" pitchFamily="34" charset="-122"/>
              </a:rPr>
              <a:t>b</a:t>
            </a:r>
            <a:r>
              <a:rPr lang="en-US" altLang="zh-CN" sz="1200" i="1" dirty="0">
                <a:latin typeface="Times New Roman" panose="02020603050405020304" pitchFamily="18" charset="0"/>
                <a:ea typeface="微软雅黑" panose="020B0503020204020204" pitchFamily="34" charset="-122"/>
              </a:rPr>
              <a:t>n</a:t>
            </a:r>
          </a:p>
        </p:txBody>
      </p:sp>
      <p:sp>
        <p:nvSpPr>
          <p:cNvPr id="7192" name="Text Box 10"/>
          <p:cNvSpPr txBox="1"/>
          <p:nvPr/>
        </p:nvSpPr>
        <p:spPr>
          <a:xfrm>
            <a:off x="2139950" y="1628775"/>
            <a:ext cx="6248400" cy="579438"/>
          </a:xfrm>
          <a:prstGeom prst="rect">
            <a:avLst/>
          </a:prstGeom>
          <a:noFill/>
          <a:ln w="9525">
            <a:noFill/>
          </a:ln>
        </p:spPr>
        <p:txBody>
          <a:bodyPr>
            <a:spAutoFit/>
          </a:bodyPr>
          <a:lstStyle/>
          <a:p>
            <a:pPr eaLnBrk="1" hangingPunct="1">
              <a:spcBef>
                <a:spcPct val="50000"/>
              </a:spcBef>
            </a:pPr>
            <a:r>
              <a:rPr lang="en-US" altLang="zh-CN" sz="3200" dirty="0">
                <a:latin typeface="Times New Roman" panose="02020603050405020304" pitchFamily="18" charset="0"/>
                <a:ea typeface="微软雅黑" panose="020B0503020204020204" pitchFamily="34" charset="-122"/>
              </a:rPr>
              <a:t>1           2         …        </a:t>
            </a:r>
            <a:r>
              <a:rPr lang="en-US" altLang="zh-CN" sz="3200" i="1" dirty="0">
                <a:latin typeface="Times New Roman" panose="02020603050405020304" pitchFamily="18" charset="0"/>
                <a:ea typeface="微软雅黑" panose="020B0503020204020204" pitchFamily="34" charset="-122"/>
              </a:rPr>
              <a:t>n</a:t>
            </a:r>
          </a:p>
        </p:txBody>
      </p:sp>
      <p:sp>
        <p:nvSpPr>
          <p:cNvPr id="2" name="文本框 1"/>
          <p:cNvSpPr txBox="1"/>
          <p:nvPr/>
        </p:nvSpPr>
        <p:spPr>
          <a:xfrm>
            <a:off x="4571365" y="3300095"/>
            <a:ext cx="184731" cy="461665"/>
          </a:xfrm>
          <a:prstGeom prst="rect">
            <a:avLst/>
          </a:prstGeom>
          <a:noFill/>
        </p:spPr>
        <p:txBody>
          <a:bodyPr wrap="none" rtlCol="0">
            <a:spAutoFit/>
          </a:bodyPr>
          <a:lstStyle/>
          <a:p>
            <a:endParaRPr lang="zh-CN" altLang="en-US" dirty="0">
              <a:ea typeface="微软雅黑" panose="020B0503020204020204" pitchFamily="34" charset="-122"/>
            </a:endParaRPr>
          </a:p>
        </p:txBody>
      </p:sp>
      <p:sp>
        <p:nvSpPr>
          <p:cNvPr id="3" name="灯片编号占位符 2">
            <a:extLst>
              <a:ext uri="{FF2B5EF4-FFF2-40B4-BE49-F238E27FC236}">
                <a16:creationId xmlns:a16="http://schemas.microsoft.com/office/drawing/2014/main" id="{53A3C49A-6A4F-43DD-9818-2DC94CAC9894}"/>
              </a:ext>
            </a:extLst>
          </p:cNvPr>
          <p:cNvSpPr>
            <a:spLocks noGrp="1"/>
          </p:cNvSpPr>
          <p:nvPr>
            <p:ph type="sldNum" sz="quarter" idx="12"/>
          </p:nvPr>
        </p:nvSpPr>
        <p:spPr/>
        <p:txBody>
          <a:bodyPr/>
          <a:lstStyle/>
          <a:p>
            <a:pPr>
              <a:defRPr/>
            </a:pPr>
            <a:fld id="{2AE1B59C-883C-4848-BC85-9A12DF2590B2}" type="slidenum">
              <a:rPr lang="en-US" altLang="zh-CN" smtClean="0"/>
              <a:t>5</a:t>
            </a:fld>
            <a:endParaRPr lang="en-US" altLang="zh-CN"/>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2636838"/>
            <a:ext cx="9144000" cy="792162"/>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在</a:t>
            </a:r>
            <a:r>
              <a:rPr lang="zh-CN" altLang="en-US" b="1" dirty="0">
                <a:solidFill>
                  <a:schemeClr val="hlink"/>
                </a:solidFill>
                <a:latin typeface="Times New Roman" panose="02020603050405020304" pitchFamily="18" charset="0"/>
                <a:ea typeface="微软雅黑" pitchFamily="34" charset="-122"/>
              </a:rPr>
              <a:t>产销平衡</a:t>
            </a:r>
            <a:r>
              <a:rPr lang="zh-CN" altLang="en-US" b="1" dirty="0">
                <a:latin typeface="Times New Roman" panose="02020603050405020304" pitchFamily="18" charset="0"/>
                <a:ea typeface="微软雅黑" pitchFamily="34" charset="-122"/>
              </a:rPr>
              <a:t>的条件下</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求总运费最小的调运方案</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可求解以下数学模型</a:t>
            </a:r>
            <a:endParaRPr lang="zh-CN" altLang="en-US" b="1" dirty="0">
              <a:solidFill>
                <a:schemeClr val="tx2"/>
              </a:solidFill>
              <a:latin typeface="Times New Roman" panose="02020603050405020304" pitchFamily="18" charset="0"/>
              <a:ea typeface="微软雅黑" pitchFamily="34" charset="-122"/>
            </a:endParaRPr>
          </a:p>
        </p:txBody>
      </p:sp>
      <p:graphicFrame>
        <p:nvGraphicFramePr>
          <p:cNvPr id="3" name="Object 2"/>
          <p:cNvGraphicFramePr>
            <a:graphicFrameLocks noChangeAspect="1"/>
          </p:cNvGraphicFramePr>
          <p:nvPr/>
        </p:nvGraphicFramePr>
        <p:xfrm>
          <a:off x="120650" y="3429000"/>
          <a:ext cx="6523038" cy="3363913"/>
        </p:xfrm>
        <a:graphic>
          <a:graphicData uri="http://schemas.openxmlformats.org/presentationml/2006/ole">
            <mc:AlternateContent xmlns:mc="http://schemas.openxmlformats.org/markup-compatibility/2006">
              <mc:Choice xmlns:v="urn:schemas-microsoft-com:vml" Requires="v">
                <p:oleObj spid="_x0000_s1068" r:id="rId3" imgW="2628900" imgH="1803400" progId="Equation.DSMT4">
                  <p:embed/>
                </p:oleObj>
              </mc:Choice>
              <mc:Fallback>
                <p:oleObj r:id="rId3" imgW="2628900" imgH="1803400" progId="Equation.DSMT4">
                  <p:embed/>
                  <p:pic>
                    <p:nvPicPr>
                      <p:cNvPr id="3" name="Object 2"/>
                      <p:cNvPicPr/>
                      <p:nvPr/>
                    </p:nvPicPr>
                    <p:blipFill>
                      <a:blip r:embed="rId4"/>
                      <a:stretch>
                        <a:fillRect/>
                      </a:stretch>
                    </p:blipFill>
                    <p:spPr>
                      <a:xfrm>
                        <a:off x="120650" y="3429000"/>
                        <a:ext cx="6523038" cy="3363913"/>
                      </a:xfrm>
                      <a:prstGeom prst="rect">
                        <a:avLst/>
                      </a:prstGeom>
                      <a:solidFill>
                        <a:srgbClr val="F1FEA4"/>
                      </a:solidFill>
                      <a:ln w="38100">
                        <a:noFill/>
                        <a:miter/>
                      </a:ln>
                    </p:spPr>
                  </p:pic>
                </p:oleObj>
              </mc:Fallback>
            </mc:AlternateContent>
          </a:graphicData>
        </a:graphic>
      </p:graphicFrame>
      <p:graphicFrame>
        <p:nvGraphicFramePr>
          <p:cNvPr id="322568" name="Object 8"/>
          <p:cNvGraphicFramePr>
            <a:graphicFrameLocks noChangeAspect="1"/>
          </p:cNvGraphicFramePr>
          <p:nvPr/>
        </p:nvGraphicFramePr>
        <p:xfrm>
          <a:off x="6932613" y="3068638"/>
          <a:ext cx="2193925" cy="1179512"/>
        </p:xfrm>
        <a:graphic>
          <a:graphicData uri="http://schemas.openxmlformats.org/presentationml/2006/ole">
            <mc:AlternateContent xmlns:mc="http://schemas.openxmlformats.org/markup-compatibility/2006">
              <mc:Choice xmlns:v="urn:schemas-microsoft-com:vml" Requires="v">
                <p:oleObj spid="_x0000_s1069" r:id="rId5" imgW="850900" imgH="457200" progId="Equation.DSMT4">
                  <p:embed/>
                </p:oleObj>
              </mc:Choice>
              <mc:Fallback>
                <p:oleObj r:id="rId5" imgW="850900" imgH="457200" progId="Equation.DSMT4">
                  <p:embed/>
                  <p:pic>
                    <p:nvPicPr>
                      <p:cNvPr id="322568" name="Object 8"/>
                      <p:cNvPicPr/>
                      <p:nvPr/>
                    </p:nvPicPr>
                    <p:blipFill>
                      <a:blip r:embed="rId6"/>
                      <a:stretch>
                        <a:fillRect/>
                      </a:stretch>
                    </p:blipFill>
                    <p:spPr>
                      <a:xfrm>
                        <a:off x="6932613" y="3068638"/>
                        <a:ext cx="2193925" cy="1179512"/>
                      </a:xfrm>
                      <a:prstGeom prst="rect">
                        <a:avLst/>
                      </a:prstGeom>
                      <a:solidFill>
                        <a:srgbClr val="FFCCFF"/>
                      </a:solidFill>
                      <a:ln w="38100">
                        <a:noFill/>
                        <a:miter/>
                      </a:ln>
                    </p:spPr>
                  </p:pic>
                </p:oleObj>
              </mc:Fallback>
            </mc:AlternateContent>
          </a:graphicData>
        </a:graphic>
      </p:graphicFrame>
      <p:sp>
        <p:nvSpPr>
          <p:cNvPr id="322569" name="Line 9"/>
          <p:cNvSpPr/>
          <p:nvPr/>
        </p:nvSpPr>
        <p:spPr>
          <a:xfrm>
            <a:off x="1403350" y="3068638"/>
            <a:ext cx="5545138" cy="576262"/>
          </a:xfrm>
          <a:prstGeom prst="line">
            <a:avLst/>
          </a:prstGeom>
          <a:ln w="76200" cap="flat" cmpd="sng">
            <a:solidFill>
              <a:schemeClr val="hlink"/>
            </a:solidFill>
            <a:prstDash val="solid"/>
            <a:headEnd type="none" w="med" len="med"/>
            <a:tailEnd type="triangle" w="med" len="med"/>
          </a:ln>
        </p:spPr>
      </p:sp>
      <p:sp>
        <p:nvSpPr>
          <p:cNvPr id="10" name="TextBox 9"/>
          <p:cNvSpPr txBox="1"/>
          <p:nvPr/>
        </p:nvSpPr>
        <p:spPr>
          <a:xfrm>
            <a:off x="6659563" y="4508500"/>
            <a:ext cx="1152525" cy="523875"/>
          </a:xfrm>
          <a:prstGeom prst="rect">
            <a:avLst/>
          </a:prstGeom>
          <a:noFill/>
          <a:ln w="9525">
            <a:noFill/>
          </a:ln>
        </p:spPr>
        <p:txBody>
          <a:bodyPr>
            <a:spAutoFit/>
          </a:bodyPr>
          <a:lstStyle/>
          <a:p>
            <a:pPr eaLnBrk="1" hangingPunct="1"/>
            <a:r>
              <a:rPr lang="zh-CN" altLang="en-US" sz="2800" b="1" dirty="0">
                <a:solidFill>
                  <a:srgbClr val="00B050"/>
                </a:solidFill>
                <a:latin typeface="微软雅黑" pitchFamily="34" charset="-122"/>
                <a:ea typeface="微软雅黑" pitchFamily="34" charset="-122"/>
              </a:rPr>
              <a:t>列和</a:t>
            </a:r>
          </a:p>
        </p:txBody>
      </p:sp>
      <p:sp>
        <p:nvSpPr>
          <p:cNvPr id="11" name="TextBox 10"/>
          <p:cNvSpPr txBox="1"/>
          <p:nvPr/>
        </p:nvSpPr>
        <p:spPr>
          <a:xfrm>
            <a:off x="6659563" y="5300663"/>
            <a:ext cx="1152525" cy="523875"/>
          </a:xfrm>
          <a:prstGeom prst="rect">
            <a:avLst/>
          </a:prstGeom>
          <a:noFill/>
          <a:ln w="9525">
            <a:noFill/>
          </a:ln>
        </p:spPr>
        <p:txBody>
          <a:bodyPr>
            <a:spAutoFit/>
          </a:bodyPr>
          <a:lstStyle/>
          <a:p>
            <a:pPr eaLnBrk="1" hangingPunct="1"/>
            <a:r>
              <a:rPr lang="zh-CN" altLang="en-US" sz="2800" b="1" dirty="0">
                <a:solidFill>
                  <a:srgbClr val="00B050"/>
                </a:solidFill>
                <a:latin typeface="微软雅黑" pitchFamily="34" charset="-122"/>
                <a:ea typeface="微软雅黑" pitchFamily="34" charset="-122"/>
              </a:rPr>
              <a:t>行和</a:t>
            </a:r>
          </a:p>
        </p:txBody>
      </p:sp>
      <p:pic>
        <p:nvPicPr>
          <p:cNvPr id="8200" name="Picture 10"/>
          <p:cNvPicPr>
            <a:picLocks noChangeAspect="1"/>
          </p:cNvPicPr>
          <p:nvPr/>
        </p:nvPicPr>
        <p:blipFill>
          <a:blip r:embed="rId7"/>
          <a:stretch>
            <a:fillRect/>
          </a:stretch>
        </p:blipFill>
        <p:spPr>
          <a:xfrm>
            <a:off x="468313" y="0"/>
            <a:ext cx="3598862" cy="2590800"/>
          </a:xfrm>
          <a:prstGeom prst="rect">
            <a:avLst/>
          </a:prstGeom>
          <a:noFill/>
          <a:ln w="9525">
            <a:noFill/>
          </a:ln>
        </p:spPr>
      </p:pic>
      <p:pic>
        <p:nvPicPr>
          <p:cNvPr id="8201" name="Picture 11"/>
          <p:cNvPicPr>
            <a:picLocks noChangeAspect="1"/>
          </p:cNvPicPr>
          <p:nvPr/>
        </p:nvPicPr>
        <p:blipFill>
          <a:blip r:embed="rId8"/>
          <a:stretch>
            <a:fillRect/>
          </a:stretch>
        </p:blipFill>
        <p:spPr>
          <a:xfrm>
            <a:off x="5219700" y="0"/>
            <a:ext cx="3592513" cy="2576513"/>
          </a:xfrm>
          <a:prstGeom prst="rect">
            <a:avLst/>
          </a:prstGeom>
          <a:noFill/>
          <a:ln w="9525">
            <a:noFill/>
          </a:ln>
        </p:spPr>
      </p:pic>
      <p:sp>
        <p:nvSpPr>
          <p:cNvPr id="4" name="灯片编号占位符 3">
            <a:extLst>
              <a:ext uri="{FF2B5EF4-FFF2-40B4-BE49-F238E27FC236}">
                <a16:creationId xmlns:a16="http://schemas.microsoft.com/office/drawing/2014/main" id="{1551FE66-30DB-44E4-BB7B-DA82D371F6D6}"/>
              </a:ext>
            </a:extLst>
          </p:cNvPr>
          <p:cNvSpPr>
            <a:spLocks noGrp="1"/>
          </p:cNvSpPr>
          <p:nvPr>
            <p:ph type="sldNum" sz="quarter" idx="12"/>
          </p:nvPr>
        </p:nvSpPr>
        <p:spPr/>
        <p:txBody>
          <a:bodyPr/>
          <a:lstStyle/>
          <a:p>
            <a:pPr>
              <a:defRPr/>
            </a:pPr>
            <a:fld id="{2AE1B59C-883C-4848-BC85-9A12DF2590B2}" type="slidenum">
              <a:rPr lang="en-US" altLang="zh-CN" smtClean="0"/>
              <a:t>6</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22569"/>
                                        </p:tgtEl>
                                        <p:attrNameLst>
                                          <p:attrName>style.visibility</p:attrName>
                                        </p:attrNameLst>
                                      </p:cBhvr>
                                      <p:to>
                                        <p:strVal val="visible"/>
                                      </p:to>
                                    </p:set>
                                    <p:animEffect transition="in" filter="blinds(horizontal)">
                                      <p:cBhvr>
                                        <p:cTn id="29" dur="500"/>
                                        <p:tgtEl>
                                          <p:spTgt spid="322569"/>
                                        </p:tgtEl>
                                      </p:cBhvr>
                                    </p:animEffect>
                                  </p:childTnLst>
                                </p:cTn>
                              </p:par>
                              <p:par>
                                <p:cTn id="30" presetID="3" presetClass="entr" presetSubtype="10" fill="hold" nodeType="withEffect">
                                  <p:stCondLst>
                                    <p:cond delay="0"/>
                                  </p:stCondLst>
                                  <p:childTnLst>
                                    <p:set>
                                      <p:cBhvr>
                                        <p:cTn id="31" dur="1" fill="hold">
                                          <p:stCondLst>
                                            <p:cond delay="0"/>
                                          </p:stCondLst>
                                        </p:cTn>
                                        <p:tgtEl>
                                          <p:spTgt spid="322568"/>
                                        </p:tgtEl>
                                        <p:attrNameLst>
                                          <p:attrName>style.visibility</p:attrName>
                                        </p:attrNameLst>
                                      </p:cBhvr>
                                      <p:to>
                                        <p:strVal val="visible"/>
                                      </p:to>
                                    </p:set>
                                    <p:animEffect transition="in" filter="blinds(horizontal)">
                                      <p:cBhvr>
                                        <p:cTn id="32" dur="500"/>
                                        <p:tgtEl>
                                          <p:spTgt spid="322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txBox="1"/>
          <p:nvPr/>
        </p:nvSpPr>
        <p:spPr>
          <a:xfrm>
            <a:off x="0" y="0"/>
            <a:ext cx="9144000" cy="836613"/>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这就是运输问题的数学模型。它包含</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个变量</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m+n</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个约束方程。其系数矩阵的结构比较松散</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且特殊</a:t>
            </a:r>
            <a:r>
              <a:rPr lang="zh-CN" altLang="en-US" sz="3000" dirty="0">
                <a:latin typeface="Century Schoolbook" pitchFamily="18" charset="0"/>
                <a:ea typeface="华文楷体" panose="02010600040101010101" pitchFamily="2" charset="-122"/>
              </a:rPr>
              <a:t> </a:t>
            </a:r>
          </a:p>
        </p:txBody>
      </p:sp>
      <p:graphicFrame>
        <p:nvGraphicFramePr>
          <p:cNvPr id="3" name="Object 2"/>
          <p:cNvGraphicFramePr>
            <a:graphicFrameLocks noChangeAspect="1"/>
          </p:cNvGraphicFramePr>
          <p:nvPr/>
        </p:nvGraphicFramePr>
        <p:xfrm>
          <a:off x="133350" y="836613"/>
          <a:ext cx="8877300" cy="4371975"/>
        </p:xfrm>
        <a:graphic>
          <a:graphicData uri="http://schemas.openxmlformats.org/presentationml/2006/ole">
            <mc:AlternateContent xmlns:mc="http://schemas.openxmlformats.org/markup-compatibility/2006">
              <mc:Choice xmlns:v="urn:schemas-microsoft-com:vml" Requires="v">
                <p:oleObj spid="_x0000_s2071" r:id="rId3" imgW="3784600" imgH="2311400" progId="Equation.DSMT4">
                  <p:embed/>
                </p:oleObj>
              </mc:Choice>
              <mc:Fallback>
                <p:oleObj r:id="rId3" imgW="3784600" imgH="2311400" progId="Equation.DSMT4">
                  <p:embed/>
                  <p:pic>
                    <p:nvPicPr>
                      <p:cNvPr id="3" name="Object 2"/>
                      <p:cNvPicPr/>
                      <p:nvPr/>
                    </p:nvPicPr>
                    <p:blipFill>
                      <a:blip r:embed="rId4"/>
                      <a:stretch>
                        <a:fillRect/>
                      </a:stretch>
                    </p:blipFill>
                    <p:spPr>
                      <a:xfrm>
                        <a:off x="133350" y="836613"/>
                        <a:ext cx="8877300" cy="4371975"/>
                      </a:xfrm>
                      <a:prstGeom prst="rect">
                        <a:avLst/>
                      </a:prstGeom>
                      <a:solidFill>
                        <a:srgbClr val="FFFF99"/>
                      </a:solidFill>
                      <a:ln w="38100">
                        <a:noFill/>
                        <a:miter/>
                      </a:ln>
                    </p:spPr>
                  </p:pic>
                </p:oleObj>
              </mc:Fallback>
            </mc:AlternateContent>
          </a:graphicData>
        </a:graphic>
      </p:graphicFrame>
      <p:sp>
        <p:nvSpPr>
          <p:cNvPr id="4" name="Rectangle 3"/>
          <p:cNvSpPr txBox="1"/>
          <p:nvPr/>
        </p:nvSpPr>
        <p:spPr>
          <a:xfrm>
            <a:off x="0" y="5394325"/>
            <a:ext cx="9144000" cy="1463675"/>
          </a:xfrm>
          <a:prstGeom prst="rect">
            <a:avLst/>
          </a:prstGeom>
          <a:solidFill>
            <a:srgbClr val="FFCCFF"/>
          </a:solidFill>
          <a:ln w="9525">
            <a:noFill/>
          </a:ln>
        </p:spPr>
        <p:txBody>
          <a:bodyPr/>
          <a:lstStyle/>
          <a:p>
            <a:pPr marL="273050" indent="-273050">
              <a:lnSpc>
                <a:spcPct val="120000"/>
              </a:lnSpc>
              <a:spcBef>
                <a:spcPts val="600"/>
              </a:spcBef>
              <a:buClr>
                <a:schemeClr val="accent1"/>
              </a:buClr>
              <a:buSzPct val="70000"/>
            </a:pPr>
            <a:r>
              <a:rPr lang="zh-CN" altLang="en-US" b="1" dirty="0">
                <a:latin typeface="Times New Roman" panose="02020603050405020304" pitchFamily="18" charset="0"/>
                <a:ea typeface="微软雅黑" pitchFamily="34" charset="-122"/>
              </a:rPr>
              <a:t>该系数矩阵中对应于变量</a:t>
            </a: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ij</a:t>
            </a:r>
            <a:r>
              <a:rPr lang="zh-CN" altLang="en-US" b="1" dirty="0">
                <a:latin typeface="Times New Roman" panose="02020603050405020304" pitchFamily="18" charset="0"/>
                <a:ea typeface="微软雅黑" pitchFamily="34" charset="-122"/>
              </a:rPr>
              <a:t>的系数向量</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其分量中除</a:t>
            </a:r>
            <a:r>
              <a:rPr lang="zh-CN" altLang="en-US" b="1" dirty="0">
                <a:solidFill>
                  <a:srgbClr val="FF0000"/>
                </a:solidFill>
                <a:latin typeface="Times New Roman" panose="02020603050405020304" pitchFamily="18" charset="0"/>
                <a:ea typeface="微软雅黑" pitchFamily="34" charset="-122"/>
              </a:rPr>
              <a:t>第</a:t>
            </a:r>
            <a:r>
              <a:rPr lang="en-US" altLang="zh-CN" b="1" i="1" dirty="0">
                <a:solidFill>
                  <a:srgbClr val="FF0000"/>
                </a:solidFill>
                <a:latin typeface="Times New Roman" panose="02020603050405020304" pitchFamily="18" charset="0"/>
                <a:ea typeface="微软雅黑" pitchFamily="34" charset="-122"/>
              </a:rPr>
              <a:t>i</a:t>
            </a:r>
            <a:r>
              <a:rPr lang="zh-CN" altLang="en-US" b="1" dirty="0">
                <a:solidFill>
                  <a:srgbClr val="FF0000"/>
                </a:solidFill>
                <a:latin typeface="Times New Roman" panose="02020603050405020304" pitchFamily="18" charset="0"/>
                <a:ea typeface="微软雅黑" pitchFamily="34" charset="-122"/>
              </a:rPr>
              <a:t>行</a:t>
            </a:r>
            <a:r>
              <a:rPr lang="zh-CN" altLang="en-US" b="1" dirty="0">
                <a:latin typeface="Times New Roman" panose="02020603050405020304" pitchFamily="18" charset="0"/>
                <a:ea typeface="微软雅黑" pitchFamily="34" charset="-122"/>
              </a:rPr>
              <a:t>和第</a:t>
            </a:r>
            <a:r>
              <a:rPr lang="en-US" altLang="zh-CN" b="1" i="1" dirty="0">
                <a:solidFill>
                  <a:srgbClr val="FF0000"/>
                </a:solidFill>
                <a:latin typeface="Times New Roman" panose="02020603050405020304" pitchFamily="18" charset="0"/>
                <a:ea typeface="微软雅黑" pitchFamily="34" charset="-122"/>
              </a:rPr>
              <a:t>m</a:t>
            </a:r>
            <a:r>
              <a:rPr lang="en-US" altLang="zh-CN" b="1" dirty="0">
                <a:solidFill>
                  <a:srgbClr val="FF0000"/>
                </a:solidFill>
                <a:latin typeface="Times New Roman" panose="02020603050405020304" pitchFamily="18" charset="0"/>
                <a:ea typeface="微软雅黑" pitchFamily="34" charset="-122"/>
              </a:rPr>
              <a:t>+</a:t>
            </a:r>
            <a:r>
              <a:rPr lang="en-US" altLang="zh-CN" b="1" i="1" dirty="0">
                <a:solidFill>
                  <a:srgbClr val="FF0000"/>
                </a:solidFill>
                <a:latin typeface="Times New Roman" panose="02020603050405020304" pitchFamily="18" charset="0"/>
                <a:ea typeface="微软雅黑" pitchFamily="34" charset="-122"/>
              </a:rPr>
              <a:t>j</a:t>
            </a:r>
            <a:r>
              <a:rPr lang="zh-CN" altLang="en-US" b="1" dirty="0">
                <a:solidFill>
                  <a:srgbClr val="FF0000"/>
                </a:solidFill>
                <a:latin typeface="Times New Roman" panose="02020603050405020304" pitchFamily="18" charset="0"/>
                <a:ea typeface="微软雅黑" pitchFamily="34" charset="-122"/>
              </a:rPr>
              <a:t>行</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以外</a:t>
            </a:r>
            <a:r>
              <a:rPr lang="zh-CN" altLang="en-US" b="1" dirty="0">
                <a:latin typeface="宋体" panose="02010600030101010101" pitchFamily="2" charset="-122"/>
              </a:rPr>
              <a:t>，</a:t>
            </a:r>
            <a:r>
              <a:rPr lang="zh-CN" altLang="en-US" b="1" dirty="0">
                <a:latin typeface="Times New Roman" panose="02020603050405020304" pitchFamily="18" charset="0"/>
                <a:ea typeface="微软雅黑" pitchFamily="34" charset="-122"/>
              </a:rPr>
              <a:t>其余的都为零。即</a:t>
            </a:r>
          </a:p>
        </p:txBody>
      </p:sp>
      <p:sp>
        <p:nvSpPr>
          <p:cNvPr id="323589" name="Text Box 5"/>
          <p:cNvSpPr txBox="1"/>
          <p:nvPr/>
        </p:nvSpPr>
        <p:spPr>
          <a:xfrm>
            <a:off x="0" y="5059363"/>
            <a:ext cx="9144000" cy="457200"/>
          </a:xfrm>
          <a:prstGeom prst="rect">
            <a:avLst/>
          </a:prstGeom>
          <a:solidFill>
            <a:srgbClr val="99FF99"/>
          </a:solidFill>
          <a:ln w="9525">
            <a:noFill/>
          </a:ln>
        </p:spPr>
        <p:txBody>
          <a:bodyPr>
            <a:spAutoFit/>
          </a:bodyPr>
          <a:lstStyle/>
          <a:p>
            <a:pPr algn="ctr" eaLnBrk="1" hangingPunct="1">
              <a:spcBef>
                <a:spcPct val="50000"/>
              </a:spcBef>
            </a:pPr>
            <a:r>
              <a:rPr lang="en-US" altLang="zh-CN" b="1" i="1" dirty="0">
                <a:solidFill>
                  <a:schemeClr val="hlink"/>
                </a:solidFill>
                <a:latin typeface="Times New Roman" panose="02020603050405020304" pitchFamily="18" charset="0"/>
                <a:ea typeface="微软雅黑" panose="020B0503020204020204" pitchFamily="34" charset="-122"/>
              </a:rPr>
              <a:t>AX</a:t>
            </a:r>
            <a:r>
              <a:rPr lang="en-US" altLang="zh-CN" b="1" i="1" baseline="30000" dirty="0">
                <a:solidFill>
                  <a:schemeClr val="hlink"/>
                </a:solidFill>
                <a:latin typeface="Times New Roman" panose="02020603050405020304" pitchFamily="18" charset="0"/>
                <a:ea typeface="微软雅黑" panose="020B0503020204020204" pitchFamily="34" charset="-122"/>
              </a:rPr>
              <a:t>T</a:t>
            </a:r>
            <a:r>
              <a:rPr lang="en-US" altLang="zh-CN" b="1" i="1" dirty="0">
                <a:solidFill>
                  <a:schemeClr val="hlink"/>
                </a:solidFill>
                <a:latin typeface="Times New Roman" panose="02020603050405020304" pitchFamily="18" charset="0"/>
                <a:ea typeface="微软雅黑" panose="020B0503020204020204" pitchFamily="34" charset="-122"/>
              </a:rPr>
              <a:t>=</a:t>
            </a:r>
            <a:r>
              <a:rPr lang="en-US" altLang="zh-CN" b="1" dirty="0">
                <a:solidFill>
                  <a:schemeClr val="hlink"/>
                </a:solidFill>
                <a:latin typeface="Times New Roman" panose="02020603050405020304" pitchFamily="18" charset="0"/>
                <a:ea typeface="微软雅黑" panose="020B0503020204020204" pitchFamily="34" charset="-122"/>
              </a:rPr>
              <a:t>(</a:t>
            </a:r>
            <a:r>
              <a:rPr lang="en-US" altLang="zh-CN" b="1" i="1" dirty="0">
                <a:solidFill>
                  <a:schemeClr val="hlink"/>
                </a:solidFill>
                <a:latin typeface="Times New Roman" panose="02020603050405020304" pitchFamily="18" charset="0"/>
                <a:ea typeface="微软雅黑" panose="020B0503020204020204" pitchFamily="34" charset="-122"/>
              </a:rPr>
              <a:t>a</a:t>
            </a:r>
            <a:r>
              <a:rPr lang="en-US" altLang="zh-CN" b="1" i="1" baseline="30000" dirty="0">
                <a:solidFill>
                  <a:schemeClr val="hlink"/>
                </a:solidFill>
                <a:latin typeface="Times New Roman" panose="02020603050405020304" pitchFamily="18" charset="0"/>
                <a:ea typeface="微软雅黑" panose="020B0503020204020204" pitchFamily="34" charset="-122"/>
              </a:rPr>
              <a:t>T</a:t>
            </a:r>
            <a:r>
              <a:rPr lang="en-US" altLang="zh-CN" b="1" i="1" dirty="0">
                <a:solidFill>
                  <a:schemeClr val="hlink"/>
                </a:solidFill>
                <a:latin typeface="Times New Roman" panose="02020603050405020304" pitchFamily="18" charset="0"/>
                <a:ea typeface="微软雅黑" panose="020B0503020204020204" pitchFamily="34" charset="-122"/>
              </a:rPr>
              <a:t>,b</a:t>
            </a:r>
            <a:r>
              <a:rPr lang="en-US" altLang="zh-CN" b="1" i="1" baseline="30000" dirty="0">
                <a:solidFill>
                  <a:schemeClr val="hlink"/>
                </a:solidFill>
                <a:latin typeface="Times New Roman" panose="02020603050405020304" pitchFamily="18" charset="0"/>
                <a:ea typeface="微软雅黑" panose="020B0503020204020204" pitchFamily="34" charset="-122"/>
              </a:rPr>
              <a:t>T</a:t>
            </a:r>
            <a:r>
              <a:rPr lang="en-US" altLang="zh-CN" b="1" dirty="0">
                <a:solidFill>
                  <a:schemeClr val="hlink"/>
                </a:solidFill>
                <a:latin typeface="Times New Roman" panose="02020603050405020304" pitchFamily="18" charset="0"/>
                <a:ea typeface="微软雅黑" panose="020B0503020204020204" pitchFamily="34" charset="-122"/>
              </a:rPr>
              <a:t>)</a:t>
            </a:r>
            <a:r>
              <a:rPr lang="en-US" altLang="zh-CN" b="1" i="1" baseline="30000" dirty="0">
                <a:solidFill>
                  <a:schemeClr val="hlink"/>
                </a:solidFill>
                <a:latin typeface="Times New Roman" panose="02020603050405020304" pitchFamily="18" charset="0"/>
                <a:ea typeface="微软雅黑" panose="020B0503020204020204" pitchFamily="34" charset="-122"/>
              </a:rPr>
              <a:t>T</a:t>
            </a:r>
          </a:p>
        </p:txBody>
      </p:sp>
      <p:sp>
        <p:nvSpPr>
          <p:cNvPr id="8" name="矩形 7"/>
          <p:cNvSpPr/>
          <p:nvPr/>
        </p:nvSpPr>
        <p:spPr>
          <a:xfrm>
            <a:off x="1547813" y="6165850"/>
            <a:ext cx="6408737" cy="1055688"/>
          </a:xfrm>
          <a:prstGeom prst="rect">
            <a:avLst/>
          </a:prstGeom>
          <a:noFill/>
          <a:ln w="9525">
            <a:noFill/>
          </a:ln>
        </p:spPr>
        <p:txBody>
          <a:bodyPr>
            <a:spAutoFit/>
          </a:bodyPr>
          <a:lstStyle/>
          <a:p>
            <a:pPr marL="273050" indent="-273050" algn="ctr">
              <a:lnSpc>
                <a:spcPct val="120000"/>
              </a:lnSpc>
              <a:spcBef>
                <a:spcPts val="600"/>
              </a:spcBef>
              <a:buClr>
                <a:schemeClr val="accent1"/>
              </a:buClr>
              <a:buSzPct val="70000"/>
            </a:pP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=(0, …, 1, 0, …, 0, 1, 0, …, 0)</a:t>
            </a:r>
            <a:r>
              <a:rPr lang="en-US" altLang="zh-CN" b="1" baseline="30000" dirty="0">
                <a:latin typeface="Times New Roman" panose="02020603050405020304" pitchFamily="18" charset="0"/>
                <a:ea typeface="微软雅黑" pitchFamily="34" charset="-122"/>
              </a:rPr>
              <a:t>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p>
          <a:p>
            <a:pPr marL="273050" indent="-273050" algn="ctr">
              <a:lnSpc>
                <a:spcPct val="120000"/>
              </a:lnSpc>
              <a:spcBef>
                <a:spcPts val="600"/>
              </a:spcBef>
              <a:buClr>
                <a:schemeClr val="accent1"/>
              </a:buClr>
              <a:buSzPct val="70000"/>
            </a:pPr>
            <a:endParaRPr lang="en-US" altLang="zh-CN" b="1" i="1" dirty="0">
              <a:latin typeface="Times New Roman" panose="02020603050405020304" pitchFamily="18" charset="0"/>
              <a:ea typeface="微软雅黑" pitchFamily="34" charset="-122"/>
            </a:endParaRPr>
          </a:p>
        </p:txBody>
      </p:sp>
      <p:pic>
        <p:nvPicPr>
          <p:cNvPr id="9" name="Picture 11"/>
          <p:cNvPicPr>
            <a:picLocks noChangeAspect="1"/>
          </p:cNvPicPr>
          <p:nvPr/>
        </p:nvPicPr>
        <p:blipFill>
          <a:blip r:embed="rId5"/>
          <a:stretch>
            <a:fillRect/>
          </a:stretch>
        </p:blipFill>
        <p:spPr>
          <a:xfrm>
            <a:off x="9492" y="4791075"/>
            <a:ext cx="2879725" cy="2066925"/>
          </a:xfrm>
          <a:prstGeom prst="rect">
            <a:avLst/>
          </a:prstGeom>
          <a:noFill/>
          <a:ln w="9525">
            <a:noFill/>
          </a:ln>
        </p:spPr>
      </p:pic>
      <p:sp>
        <p:nvSpPr>
          <p:cNvPr id="2" name="灯片编号占位符 1">
            <a:extLst>
              <a:ext uri="{FF2B5EF4-FFF2-40B4-BE49-F238E27FC236}">
                <a16:creationId xmlns:a16="http://schemas.microsoft.com/office/drawing/2014/main" id="{B065123C-EBDE-4C49-BEA5-A64C49DBB730}"/>
              </a:ext>
            </a:extLst>
          </p:cNvPr>
          <p:cNvSpPr>
            <a:spLocks noGrp="1"/>
          </p:cNvSpPr>
          <p:nvPr>
            <p:ph type="sldNum" sz="quarter" idx="12"/>
          </p:nvPr>
        </p:nvSpPr>
        <p:spPr/>
        <p:txBody>
          <a:bodyPr/>
          <a:lstStyle/>
          <a:p>
            <a:pPr>
              <a:defRPr/>
            </a:pPr>
            <a:fld id="{2AE1B59C-883C-4848-BC85-9A12DF2590B2}" type="slidenum">
              <a:rPr lang="en-US" altLang="zh-CN" smtClean="0"/>
              <a:t>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323589"/>
                                        </p:tgtEl>
                                        <p:attrNameLst>
                                          <p:attrName>style.visibility</p:attrName>
                                        </p:attrNameLst>
                                      </p:cBhvr>
                                      <p:to>
                                        <p:strVal val="visible"/>
                                      </p:to>
                                    </p:set>
                                    <p:animEffect transition="in" filter="blinds(horizontal)">
                                      <p:cBhvr>
                                        <p:cTn id="14" dur="500"/>
                                        <p:tgtEl>
                                          <p:spTgt spid="32358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nodeType="clickEffect">
                                  <p:stCondLst>
                                    <p:cond delay="0"/>
                                  </p:stCondLst>
                                  <p:childTnLst>
                                    <p:animEffect transition="out" filter="blinds(horizontal)">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dissolve">
                                      <p:cBhvr>
                                        <p:cTn id="24" dur="500"/>
                                        <p:tgtEl>
                                          <p:spTgt spid="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9"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25538"/>
            <a:ext cx="9144000" cy="1457325"/>
          </a:xfrm>
          <a:prstGeom prst="rect">
            <a:avLst/>
          </a:prstGeom>
          <a:noFill/>
          <a:ln w="9525">
            <a:noFill/>
          </a:ln>
        </p:spPr>
        <p:txBody>
          <a:bodyPr>
            <a:spAutoFit/>
          </a:bodyPr>
          <a:lstStyle/>
          <a:p>
            <a:pPr eaLnBrk="1" hangingPunct="1">
              <a:lnSpc>
                <a:spcPct val="200000"/>
              </a:lnSpc>
            </a:pPr>
            <a:r>
              <a:rPr lang="zh-CN" altLang="en-US" b="1" dirty="0">
                <a:latin typeface="Times New Roman" panose="02020603050405020304" pitchFamily="18" charset="0"/>
                <a:ea typeface="微软雅黑" pitchFamily="34" charset="-122"/>
              </a:rPr>
              <a:t>所以模型最多只有</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 + </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 - 1 </a:t>
            </a:r>
            <a:r>
              <a:rPr lang="zh-CN" altLang="en-US" b="1" dirty="0">
                <a:latin typeface="Times New Roman" panose="02020603050405020304" pitchFamily="18" charset="0"/>
                <a:ea typeface="微软雅黑" pitchFamily="34" charset="-122"/>
              </a:rPr>
              <a:t>个独立约束方程</a:t>
            </a:r>
            <a:endParaRPr lang="en-US" altLang="zh-CN" b="1" dirty="0">
              <a:latin typeface="Times New Roman" panose="02020603050405020304" pitchFamily="18" charset="0"/>
              <a:ea typeface="微软雅黑" pitchFamily="34" charset="-122"/>
            </a:endParaRPr>
          </a:p>
          <a:p>
            <a:pPr eaLnBrk="1" hangingPunct="1">
              <a:lnSpc>
                <a:spcPct val="200000"/>
              </a:lnSpc>
            </a:pPr>
            <a:r>
              <a:rPr lang="zh-CN" altLang="en-US" b="1" dirty="0">
                <a:latin typeface="Times New Roman" panose="02020603050405020304" pitchFamily="18" charset="0"/>
                <a:ea typeface="微软雅黑" pitchFamily="34" charset="-122"/>
              </a:rPr>
              <a:t>即系数矩阵</a:t>
            </a:r>
            <a:r>
              <a:rPr lang="en-US" altLang="zh-CN" b="1" dirty="0">
                <a:latin typeface="Times New Roman" panose="02020603050405020304" pitchFamily="18" charset="0"/>
                <a:ea typeface="微软雅黑" pitchFamily="34" charset="-122"/>
              </a:rPr>
              <a:t>A</a:t>
            </a:r>
            <a:r>
              <a:rPr lang="zh-CN" altLang="en-US" b="1" dirty="0">
                <a:latin typeface="Times New Roman" panose="02020603050405020304" pitchFamily="18" charset="0"/>
                <a:ea typeface="微软雅黑" pitchFamily="34" charset="-122"/>
              </a:rPr>
              <a:t>的秩≤</a:t>
            </a:r>
            <a:r>
              <a:rPr lang="zh-CN" altLang="en-US" b="1" i="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 + </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 - 1</a:t>
            </a:r>
            <a:endParaRPr lang="zh-CN" altLang="en-US" b="1" dirty="0">
              <a:latin typeface="Times New Roman" panose="02020603050405020304" pitchFamily="18" charset="0"/>
              <a:ea typeface="微软雅黑" pitchFamily="34" charset="-122"/>
            </a:endParaRPr>
          </a:p>
        </p:txBody>
      </p:sp>
      <p:graphicFrame>
        <p:nvGraphicFramePr>
          <p:cNvPr id="10243" name="Object 2"/>
          <p:cNvGraphicFramePr>
            <a:graphicFrameLocks noChangeAspect="1"/>
          </p:cNvGraphicFramePr>
          <p:nvPr/>
        </p:nvGraphicFramePr>
        <p:xfrm>
          <a:off x="887413" y="2640013"/>
          <a:ext cx="7354887" cy="3883025"/>
        </p:xfrm>
        <a:graphic>
          <a:graphicData uri="http://schemas.openxmlformats.org/presentationml/2006/ole">
            <mc:AlternateContent xmlns:mc="http://schemas.openxmlformats.org/markup-compatibility/2006">
              <mc:Choice xmlns:v="urn:schemas-microsoft-com:vml" Requires="v">
                <p:oleObj spid="_x0000_s3116" r:id="rId3" imgW="3530600" imgH="2311400" progId="Equation.DSMT4">
                  <p:embed/>
                </p:oleObj>
              </mc:Choice>
              <mc:Fallback>
                <p:oleObj r:id="rId3" imgW="3530600" imgH="2311400" progId="Equation.DSMT4">
                  <p:embed/>
                  <p:pic>
                    <p:nvPicPr>
                      <p:cNvPr id="10243" name="Object 2"/>
                      <p:cNvPicPr/>
                      <p:nvPr/>
                    </p:nvPicPr>
                    <p:blipFill>
                      <a:blip r:embed="rId4"/>
                      <a:stretch>
                        <a:fillRect/>
                      </a:stretch>
                    </p:blipFill>
                    <p:spPr>
                      <a:xfrm>
                        <a:off x="887413" y="2640013"/>
                        <a:ext cx="7354887" cy="3883025"/>
                      </a:xfrm>
                      <a:prstGeom prst="rect">
                        <a:avLst/>
                      </a:prstGeom>
                      <a:solidFill>
                        <a:srgbClr val="FFFF99"/>
                      </a:solidFill>
                      <a:ln w="38100">
                        <a:noFill/>
                        <a:miter/>
                      </a:ln>
                    </p:spPr>
                  </p:pic>
                </p:oleObj>
              </mc:Fallback>
            </mc:AlternateContent>
          </a:graphicData>
        </a:graphic>
      </p:graphicFrame>
      <p:graphicFrame>
        <p:nvGraphicFramePr>
          <p:cNvPr id="5" name="Object 7"/>
          <p:cNvGraphicFramePr>
            <a:graphicFrameLocks noChangeAspect="1"/>
          </p:cNvGraphicFramePr>
          <p:nvPr/>
        </p:nvGraphicFramePr>
        <p:xfrm>
          <a:off x="354013" y="476250"/>
          <a:ext cx="7870825" cy="598488"/>
        </p:xfrm>
        <a:graphic>
          <a:graphicData uri="http://schemas.openxmlformats.org/presentationml/2006/ole">
            <mc:AlternateContent xmlns:mc="http://schemas.openxmlformats.org/markup-compatibility/2006">
              <mc:Choice xmlns:v="urn:schemas-microsoft-com:vml" Requires="v">
                <p:oleObj spid="_x0000_s3117" r:id="rId5" imgW="2425700" imgH="228600" progId="Equation.DSMT4">
                  <p:embed/>
                </p:oleObj>
              </mc:Choice>
              <mc:Fallback>
                <p:oleObj r:id="rId5" imgW="2425700" imgH="228600" progId="Equation.DSMT4">
                  <p:embed/>
                  <p:pic>
                    <p:nvPicPr>
                      <p:cNvPr id="5" name="Object 7"/>
                      <p:cNvPicPr/>
                      <p:nvPr/>
                    </p:nvPicPr>
                    <p:blipFill>
                      <a:blip r:embed="rId6"/>
                      <a:stretch>
                        <a:fillRect/>
                      </a:stretch>
                    </p:blipFill>
                    <p:spPr>
                      <a:xfrm>
                        <a:off x="354013" y="476250"/>
                        <a:ext cx="7870825" cy="598488"/>
                      </a:xfrm>
                      <a:prstGeom prst="rect">
                        <a:avLst/>
                      </a:prstGeom>
                      <a:solidFill>
                        <a:srgbClr val="B3F1F7"/>
                      </a:solidFill>
                      <a:ln w="38100">
                        <a:noFill/>
                        <a:miter/>
                      </a:ln>
                    </p:spPr>
                  </p:pic>
                </p:oleObj>
              </mc:Fallback>
            </mc:AlternateContent>
          </a:graphicData>
        </a:graphic>
      </p:graphicFrame>
      <p:sp>
        <p:nvSpPr>
          <p:cNvPr id="2" name="灯片编号占位符 1">
            <a:extLst>
              <a:ext uri="{FF2B5EF4-FFF2-40B4-BE49-F238E27FC236}">
                <a16:creationId xmlns:a16="http://schemas.microsoft.com/office/drawing/2014/main" id="{A962D60D-8C17-44D3-9BA3-A33075CE80A9}"/>
              </a:ext>
            </a:extLst>
          </p:cNvPr>
          <p:cNvSpPr>
            <a:spLocks noGrp="1"/>
          </p:cNvSpPr>
          <p:nvPr>
            <p:ph type="sldNum" sz="quarter" idx="12"/>
          </p:nvPr>
        </p:nvSpPr>
        <p:spPr/>
        <p:txBody>
          <a:bodyPr/>
          <a:lstStyle/>
          <a:p>
            <a:pPr>
              <a:defRPr/>
            </a:pPr>
            <a:fld id="{2AE1B59C-883C-4848-BC85-9A12DF2590B2}" type="slidenum">
              <a:rPr lang="en-US" altLang="zh-CN" smtClean="0"/>
              <a:t>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dissolve">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dissolve">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Grp="1" noChangeAspect="1"/>
          </p:cNvGraphicFramePr>
          <p:nvPr>
            <p:ph/>
          </p:nvPr>
        </p:nvGraphicFramePr>
        <p:xfrm>
          <a:off x="2224088" y="188913"/>
          <a:ext cx="4908550" cy="4032250"/>
        </p:xfrm>
        <a:graphic>
          <a:graphicData uri="http://schemas.openxmlformats.org/presentationml/2006/ole">
            <mc:AlternateContent xmlns:mc="http://schemas.openxmlformats.org/markup-compatibility/2006">
              <mc:Choice xmlns:v="urn:schemas-microsoft-com:vml" Requires="v">
                <p:oleObj spid="_x0000_s4140" r:id="rId3" imgW="2844800" imgH="2336800" progId="Equation.DSMT4">
                  <p:embed/>
                </p:oleObj>
              </mc:Choice>
              <mc:Fallback>
                <p:oleObj r:id="rId3" imgW="2844800" imgH="2336800" progId="Equation.DSMT4">
                  <p:embed/>
                  <p:pic>
                    <p:nvPicPr>
                      <p:cNvPr id="11266" name="Object 2"/>
                      <p:cNvPicPr/>
                      <p:nvPr/>
                    </p:nvPicPr>
                    <p:blipFill>
                      <a:blip r:embed="rId4"/>
                      <a:stretch>
                        <a:fillRect/>
                      </a:stretch>
                    </p:blipFill>
                    <p:spPr>
                      <a:xfrm>
                        <a:off x="2224088" y="188913"/>
                        <a:ext cx="4908550" cy="4032250"/>
                      </a:xfrm>
                      <a:prstGeom prst="rect">
                        <a:avLst/>
                      </a:prstGeom>
                      <a:solidFill>
                        <a:srgbClr val="B3F1F7"/>
                      </a:solidFill>
                      <a:ln w="38100">
                        <a:noFill/>
                        <a:miter/>
                      </a:ln>
                    </p:spPr>
                  </p:pic>
                </p:oleObj>
              </mc:Fallback>
            </mc:AlternateContent>
          </a:graphicData>
        </a:graphic>
      </p:graphicFrame>
      <p:sp>
        <p:nvSpPr>
          <p:cNvPr id="5" name="矩形 4"/>
          <p:cNvSpPr/>
          <p:nvPr/>
        </p:nvSpPr>
        <p:spPr>
          <a:xfrm>
            <a:off x="4140200" y="620713"/>
            <a:ext cx="1944688" cy="1944687"/>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6" name="矩形 5"/>
          <p:cNvSpPr/>
          <p:nvPr/>
        </p:nvSpPr>
        <p:spPr>
          <a:xfrm>
            <a:off x="2771775" y="2565400"/>
            <a:ext cx="1368425" cy="1584325"/>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graphicFrame>
        <p:nvGraphicFramePr>
          <p:cNvPr id="11269" name="Object 6"/>
          <p:cNvGraphicFramePr>
            <a:graphicFrameLocks noChangeAspect="1"/>
          </p:cNvGraphicFramePr>
          <p:nvPr/>
        </p:nvGraphicFramePr>
        <p:xfrm>
          <a:off x="550863" y="4149725"/>
          <a:ext cx="5129212" cy="2708275"/>
        </p:xfrm>
        <a:graphic>
          <a:graphicData uri="http://schemas.openxmlformats.org/presentationml/2006/ole">
            <mc:AlternateContent xmlns:mc="http://schemas.openxmlformats.org/markup-compatibility/2006">
              <mc:Choice xmlns:v="urn:schemas-microsoft-com:vml" Requires="v">
                <p:oleObj spid="_x0000_s4141" r:id="rId5" imgW="3530600" imgH="2311400" progId="Equation.DSMT4">
                  <p:embed/>
                </p:oleObj>
              </mc:Choice>
              <mc:Fallback>
                <p:oleObj r:id="rId5" imgW="3530600" imgH="2311400" progId="Equation.DSMT4">
                  <p:embed/>
                  <p:pic>
                    <p:nvPicPr>
                      <p:cNvPr id="11269" name="Object 6"/>
                      <p:cNvPicPr/>
                      <p:nvPr/>
                    </p:nvPicPr>
                    <p:blipFill>
                      <a:blip r:embed="rId6"/>
                      <a:stretch>
                        <a:fillRect/>
                      </a:stretch>
                    </p:blipFill>
                    <p:spPr>
                      <a:xfrm>
                        <a:off x="550863" y="4149725"/>
                        <a:ext cx="5129212" cy="2708275"/>
                      </a:xfrm>
                      <a:prstGeom prst="rect">
                        <a:avLst/>
                      </a:prstGeom>
                      <a:solidFill>
                        <a:srgbClr val="FFFF99"/>
                      </a:solidFill>
                      <a:ln w="38100">
                        <a:noFill/>
                        <a:miter/>
                      </a:ln>
                    </p:spPr>
                  </p:pic>
                </p:oleObj>
              </mc:Fallback>
            </mc:AlternateContent>
          </a:graphicData>
        </a:graphic>
      </p:graphicFrame>
      <p:sp>
        <p:nvSpPr>
          <p:cNvPr id="7" name="矩形 6"/>
          <p:cNvSpPr/>
          <p:nvPr/>
        </p:nvSpPr>
        <p:spPr>
          <a:xfrm>
            <a:off x="4140200" y="188913"/>
            <a:ext cx="1944688" cy="431800"/>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62B1CDCB-1171-4582-B0B3-C90FCC6291A3}"/>
              </a:ext>
            </a:extLst>
          </p:cNvPr>
          <p:cNvSpPr>
            <a:spLocks noGrp="1"/>
          </p:cNvSpPr>
          <p:nvPr>
            <p:ph type="sldNum" sz="quarter" idx="12"/>
          </p:nvPr>
        </p:nvSpPr>
        <p:spPr/>
        <p:txBody>
          <a:bodyPr/>
          <a:lstStyle/>
          <a:p>
            <a:pPr>
              <a:defRPr/>
            </a:pPr>
            <a:fld id="{255BBE8C-8366-4707-9844-2354E1D6E5E0}" type="slidenum">
              <a:rPr lang="en-US" altLang="zh-CN" smtClean="0"/>
              <a:t>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2">
            <a:extLst>
              <a:ext uri="{FF2B5EF4-FFF2-40B4-BE49-F238E27FC236}">
                <a16:creationId xmlns:a16="http://schemas.microsoft.com/office/drawing/2014/main" id="{8AA4B43E-B77C-47B5-8A30-B382909EE862}"/>
              </a:ext>
            </a:extLst>
          </p:cNvPr>
          <p:cNvGraphicFramePr>
            <a:graphicFrameLocks noChangeAspect="1"/>
          </p:cNvGraphicFramePr>
          <p:nvPr>
            <p:extLst>
              <p:ext uri="{D42A27DB-BD31-4B8C-83A1-F6EECF244321}">
                <p14:modId xmlns:p14="http://schemas.microsoft.com/office/powerpoint/2010/main" val="3699835332"/>
              </p:ext>
            </p:extLst>
          </p:nvPr>
        </p:nvGraphicFramePr>
        <p:xfrm>
          <a:off x="1331640" y="3988016"/>
          <a:ext cx="7028061" cy="2329495"/>
        </p:xfrm>
        <a:graphic>
          <a:graphicData uri="http://schemas.openxmlformats.org/presentationml/2006/ole">
            <mc:AlternateContent xmlns:mc="http://schemas.openxmlformats.org/markup-compatibility/2006">
              <mc:Choice xmlns:v="urn:schemas-microsoft-com:vml" Requires="v">
                <p:oleObj spid="_x0000_s5152" name="Equation" r:id="rId3" imgW="3441600" imgH="1143000" progId="Equation.DSMT4">
                  <p:embed/>
                </p:oleObj>
              </mc:Choice>
              <mc:Fallback>
                <p:oleObj name="Equation" r:id="rId3" imgW="3441600" imgH="1143000" progId="Equation.DSMT4">
                  <p:embed/>
                  <p:pic>
                    <p:nvPicPr>
                      <p:cNvPr id="35" name="Object 2">
                        <a:extLst>
                          <a:ext uri="{FF2B5EF4-FFF2-40B4-BE49-F238E27FC236}">
                            <a16:creationId xmlns:a16="http://schemas.microsoft.com/office/drawing/2014/main" id="{0135E268-9BC4-4500-A4D3-C9FDBE8B159A}"/>
                          </a:ext>
                        </a:extLst>
                      </p:cNvPr>
                      <p:cNvPicPr/>
                      <p:nvPr/>
                    </p:nvPicPr>
                    <p:blipFill>
                      <a:blip r:embed="rId4"/>
                      <a:stretch>
                        <a:fillRect/>
                      </a:stretch>
                    </p:blipFill>
                    <p:spPr>
                      <a:xfrm>
                        <a:off x="1331640" y="3988016"/>
                        <a:ext cx="7028061" cy="2329495"/>
                      </a:xfrm>
                      <a:prstGeom prst="rect">
                        <a:avLst/>
                      </a:prstGeom>
                      <a:solidFill>
                        <a:srgbClr val="FFCCFF"/>
                      </a:solidFill>
                      <a:ln w="38100">
                        <a:noFill/>
                        <a:miter/>
                      </a:ln>
                    </p:spPr>
                  </p:pic>
                </p:oleObj>
              </mc:Fallback>
            </mc:AlternateContent>
          </a:graphicData>
        </a:graphic>
      </p:graphicFrame>
      <p:graphicFrame>
        <p:nvGraphicFramePr>
          <p:cNvPr id="12290" name="Object 2"/>
          <p:cNvGraphicFramePr>
            <a:graphicFrameLocks noGrp="1" noChangeAspect="1"/>
          </p:cNvGraphicFramePr>
          <p:nvPr>
            <p:ph/>
            <p:extLst>
              <p:ext uri="{D42A27DB-BD31-4B8C-83A1-F6EECF244321}">
                <p14:modId xmlns:p14="http://schemas.microsoft.com/office/powerpoint/2010/main" val="3971493990"/>
              </p:ext>
            </p:extLst>
          </p:nvPr>
        </p:nvGraphicFramePr>
        <p:xfrm>
          <a:off x="2051050" y="-27384"/>
          <a:ext cx="4908550" cy="4032250"/>
        </p:xfrm>
        <a:graphic>
          <a:graphicData uri="http://schemas.openxmlformats.org/presentationml/2006/ole">
            <mc:AlternateContent xmlns:mc="http://schemas.openxmlformats.org/markup-compatibility/2006">
              <mc:Choice xmlns:v="urn:schemas-microsoft-com:vml" Requires="v">
                <p:oleObj spid="_x0000_s5153" name="Equation" r:id="rId5" imgW="2844800" imgH="2336800" progId="Equation.DSMT4">
                  <p:embed/>
                </p:oleObj>
              </mc:Choice>
              <mc:Fallback>
                <p:oleObj name="Equation" r:id="rId5" imgW="2844800" imgH="2336800" progId="Equation.DSMT4">
                  <p:embed/>
                  <p:pic>
                    <p:nvPicPr>
                      <p:cNvPr id="12290" name="Object 2"/>
                      <p:cNvPicPr/>
                      <p:nvPr/>
                    </p:nvPicPr>
                    <p:blipFill>
                      <a:blip r:embed="rId6"/>
                      <a:stretch>
                        <a:fillRect/>
                      </a:stretch>
                    </p:blipFill>
                    <p:spPr>
                      <a:xfrm>
                        <a:off x="2051050" y="-27384"/>
                        <a:ext cx="4908550" cy="4032250"/>
                      </a:xfrm>
                      <a:prstGeom prst="rect">
                        <a:avLst/>
                      </a:prstGeom>
                      <a:solidFill>
                        <a:srgbClr val="B3F1F7"/>
                      </a:solidFill>
                      <a:ln w="38100">
                        <a:noFill/>
                        <a:miter/>
                      </a:ln>
                    </p:spPr>
                  </p:pic>
                </p:oleObj>
              </mc:Fallback>
            </mc:AlternateContent>
          </a:graphicData>
        </a:graphic>
      </p:graphicFrame>
      <p:sp>
        <p:nvSpPr>
          <p:cNvPr id="4" name="矩形 3"/>
          <p:cNvSpPr/>
          <p:nvPr/>
        </p:nvSpPr>
        <p:spPr>
          <a:xfrm>
            <a:off x="287337" y="6353049"/>
            <a:ext cx="8569325" cy="457200"/>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所以上述矩阵为满秩的。从而系数矩阵</a:t>
            </a:r>
            <a:r>
              <a:rPr lang="en-US" altLang="zh-CN" b="1" i="1" dirty="0">
                <a:latin typeface="Times New Roman" panose="02020603050405020304" pitchFamily="18" charset="0"/>
                <a:ea typeface="微软雅黑" pitchFamily="34" charset="-122"/>
              </a:rPr>
              <a:t>A</a:t>
            </a:r>
            <a:r>
              <a:rPr lang="zh-CN" altLang="en-US" b="1" dirty="0">
                <a:latin typeface="Times New Roman" panose="02020603050405020304" pitchFamily="18" charset="0"/>
                <a:ea typeface="微软雅黑" pitchFamily="34" charset="-122"/>
              </a:rPr>
              <a:t>的秩</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 + </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 - 1</a:t>
            </a:r>
            <a:endParaRPr lang="zh-CN" altLang="en-US" b="1" dirty="0">
              <a:latin typeface="Times New Roman" panose="02020603050405020304" pitchFamily="18" charset="0"/>
              <a:ea typeface="微软雅黑" pitchFamily="34" charset="-122"/>
            </a:endParaRPr>
          </a:p>
        </p:txBody>
      </p:sp>
      <p:sp>
        <p:nvSpPr>
          <p:cNvPr id="12292" name="矩形 4"/>
          <p:cNvSpPr/>
          <p:nvPr/>
        </p:nvSpPr>
        <p:spPr>
          <a:xfrm>
            <a:off x="3492500" y="29766"/>
            <a:ext cx="503238" cy="3889375"/>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12293" name="矩形 5"/>
          <p:cNvSpPr/>
          <p:nvPr/>
        </p:nvSpPr>
        <p:spPr>
          <a:xfrm>
            <a:off x="2484438" y="63103"/>
            <a:ext cx="287337" cy="3889375"/>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12294" name="矩形 6"/>
          <p:cNvSpPr/>
          <p:nvPr/>
        </p:nvSpPr>
        <p:spPr>
          <a:xfrm>
            <a:off x="5461000" y="29766"/>
            <a:ext cx="406400" cy="3975100"/>
          </a:xfrm>
          <a:prstGeom prst="rect">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2" name="文本框 1"/>
          <p:cNvSpPr txBox="1"/>
          <p:nvPr/>
        </p:nvSpPr>
        <p:spPr>
          <a:xfrm>
            <a:off x="885804" y="3995994"/>
            <a:ext cx="678180" cy="460375"/>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若</a:t>
            </a:r>
            <a:r>
              <a:rPr lang="en-US" altLang="zh-CN" dirty="0">
                <a:ea typeface="微软雅黑" panose="020B0503020204020204" pitchFamily="34" charset="-122"/>
              </a:rPr>
              <a:t>  </a:t>
            </a:r>
          </a:p>
        </p:txBody>
      </p:sp>
      <p:sp>
        <p:nvSpPr>
          <p:cNvPr id="6" name="文本框 5"/>
          <p:cNvSpPr txBox="1"/>
          <p:nvPr/>
        </p:nvSpPr>
        <p:spPr>
          <a:xfrm>
            <a:off x="885804" y="4456369"/>
            <a:ext cx="678180" cy="460375"/>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则</a:t>
            </a:r>
            <a:r>
              <a:rPr lang="en-US" altLang="zh-CN" dirty="0">
                <a:ea typeface="微软雅黑" panose="020B0503020204020204" pitchFamily="34" charset="-122"/>
              </a:rPr>
              <a:t>  </a:t>
            </a:r>
          </a:p>
        </p:txBody>
      </p:sp>
      <p:sp>
        <p:nvSpPr>
          <p:cNvPr id="3" name="灯片编号占位符 2">
            <a:extLst>
              <a:ext uri="{FF2B5EF4-FFF2-40B4-BE49-F238E27FC236}">
                <a16:creationId xmlns:a16="http://schemas.microsoft.com/office/drawing/2014/main" id="{C9B300E6-5082-411F-8D08-7DA6CB23E198}"/>
              </a:ext>
            </a:extLst>
          </p:cNvPr>
          <p:cNvSpPr>
            <a:spLocks noGrp="1"/>
          </p:cNvSpPr>
          <p:nvPr>
            <p:ph type="sldNum" sz="quarter" idx="12"/>
          </p:nvPr>
        </p:nvSpPr>
        <p:spPr/>
        <p:txBody>
          <a:bodyPr/>
          <a:lstStyle/>
          <a:p>
            <a:pPr>
              <a:defRPr/>
            </a:pPr>
            <a:fld id="{255BBE8C-8366-4707-9844-2354E1D6E5E0}" type="slidenum">
              <a:rPr lang="en-US" altLang="zh-CN" smtClean="0"/>
              <a:t>10</a:t>
            </a:fld>
            <a:endParaRPr lang="en-US" altLang="zh-CN"/>
          </a:p>
        </p:txBody>
      </p:sp>
      <p:sp>
        <p:nvSpPr>
          <p:cNvPr id="8" name="文本框 7">
            <a:extLst>
              <a:ext uri="{FF2B5EF4-FFF2-40B4-BE49-F238E27FC236}">
                <a16:creationId xmlns:a16="http://schemas.microsoft.com/office/drawing/2014/main" id="{0C9342A6-7B5E-4FA0-BF2A-A0CB37D7A680}"/>
              </a:ext>
            </a:extLst>
          </p:cNvPr>
          <p:cNvSpPr txBox="1"/>
          <p:nvPr/>
        </p:nvSpPr>
        <p:spPr>
          <a:xfrm>
            <a:off x="10941" y="4526382"/>
            <a:ext cx="8348760" cy="2308324"/>
          </a:xfrm>
          <a:prstGeom prst="rect">
            <a:avLst/>
          </a:prstGeom>
          <a:solidFill>
            <a:srgbClr val="FFFFFF"/>
          </a:solid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3764" name="Object 4"/>
          <p:cNvGraphicFramePr>
            <a:graphicFrameLocks noChangeAspect="1"/>
          </p:cNvGraphicFramePr>
          <p:nvPr>
            <p:extLst>
              <p:ext uri="{D42A27DB-BD31-4B8C-83A1-F6EECF244321}">
                <p14:modId xmlns:p14="http://schemas.microsoft.com/office/powerpoint/2010/main" val="2466050588"/>
              </p:ext>
            </p:extLst>
          </p:nvPr>
        </p:nvGraphicFramePr>
        <p:xfrm>
          <a:off x="61913" y="333375"/>
          <a:ext cx="5191125" cy="4094163"/>
        </p:xfrm>
        <a:graphic>
          <a:graphicData uri="http://schemas.openxmlformats.org/presentationml/2006/ole">
            <mc:AlternateContent xmlns:mc="http://schemas.openxmlformats.org/markup-compatibility/2006">
              <mc:Choice xmlns:v="urn:schemas-microsoft-com:vml" Requires="v">
                <p:oleObj spid="_x0000_s6188" name="Equation" r:id="rId3" imgW="2438400" imgH="2641600" progId="Equation.DSMT4">
                  <p:embed/>
                </p:oleObj>
              </mc:Choice>
              <mc:Fallback>
                <p:oleObj name="Equation" r:id="rId3" imgW="2438400" imgH="2641600" progId="Equation.DSMT4">
                  <p:embed/>
                  <p:pic>
                    <p:nvPicPr>
                      <p:cNvPr id="373764" name="Object 4"/>
                      <p:cNvPicPr/>
                      <p:nvPr/>
                    </p:nvPicPr>
                    <p:blipFill>
                      <a:blip r:embed="rId4"/>
                      <a:stretch>
                        <a:fillRect/>
                      </a:stretch>
                    </p:blipFill>
                    <p:spPr>
                      <a:xfrm>
                        <a:off x="61913" y="333375"/>
                        <a:ext cx="5191125" cy="4094163"/>
                      </a:xfrm>
                      <a:prstGeom prst="rect">
                        <a:avLst/>
                      </a:prstGeom>
                      <a:noFill/>
                      <a:ln w="38100">
                        <a:noFill/>
                        <a:miter/>
                      </a:ln>
                    </p:spPr>
                  </p:pic>
                </p:oleObj>
              </mc:Fallback>
            </mc:AlternateContent>
          </a:graphicData>
        </a:graphic>
      </p:graphicFrame>
      <p:graphicFrame>
        <p:nvGraphicFramePr>
          <p:cNvPr id="373769" name="Object 9"/>
          <p:cNvGraphicFramePr>
            <a:graphicFrameLocks noGrp="1" noChangeAspect="1"/>
          </p:cNvGraphicFramePr>
          <p:nvPr>
            <p:ph sz="half" idx="2"/>
          </p:nvPr>
        </p:nvGraphicFramePr>
        <p:xfrm>
          <a:off x="4454525" y="3248025"/>
          <a:ext cx="4525963" cy="3494088"/>
        </p:xfrm>
        <a:graphic>
          <a:graphicData uri="http://schemas.openxmlformats.org/presentationml/2006/ole">
            <mc:AlternateContent xmlns:mc="http://schemas.openxmlformats.org/markup-compatibility/2006">
              <mc:Choice xmlns:v="urn:schemas-microsoft-com:vml" Requires="v">
                <p:oleObj spid="_x0000_s6189" r:id="rId5" imgW="2451100" imgH="1892300" progId="Equation.DSMT4">
                  <p:embed/>
                </p:oleObj>
              </mc:Choice>
              <mc:Fallback>
                <p:oleObj r:id="rId5" imgW="2451100" imgH="1892300" progId="Equation.DSMT4">
                  <p:embed/>
                  <p:pic>
                    <p:nvPicPr>
                      <p:cNvPr id="373769" name="Object 9"/>
                      <p:cNvPicPr/>
                      <p:nvPr/>
                    </p:nvPicPr>
                    <p:blipFill>
                      <a:blip r:embed="rId6"/>
                      <a:stretch>
                        <a:fillRect/>
                      </a:stretch>
                    </p:blipFill>
                    <p:spPr>
                      <a:xfrm>
                        <a:off x="4454525" y="3248025"/>
                        <a:ext cx="4525963" cy="3494088"/>
                      </a:xfrm>
                      <a:prstGeom prst="rect">
                        <a:avLst/>
                      </a:prstGeom>
                      <a:noFill/>
                      <a:ln w="76200">
                        <a:solidFill>
                          <a:srgbClr val="CC99FF"/>
                        </a:solidFill>
                        <a:miter/>
                      </a:ln>
                    </p:spPr>
                  </p:pic>
                </p:oleObj>
              </mc:Fallback>
            </mc:AlternateContent>
          </a:graphicData>
        </a:graphic>
      </p:graphicFrame>
      <p:pic>
        <p:nvPicPr>
          <p:cNvPr id="13316" name="Picture 11"/>
          <p:cNvPicPr>
            <a:picLocks noChangeAspect="1"/>
          </p:cNvPicPr>
          <p:nvPr/>
        </p:nvPicPr>
        <p:blipFill>
          <a:blip r:embed="rId7"/>
          <a:stretch>
            <a:fillRect/>
          </a:stretch>
        </p:blipFill>
        <p:spPr>
          <a:xfrm>
            <a:off x="5568950" y="0"/>
            <a:ext cx="3575050" cy="2565400"/>
          </a:xfrm>
          <a:prstGeom prst="rect">
            <a:avLst/>
          </a:prstGeom>
          <a:noFill/>
          <a:ln w="9525">
            <a:noFill/>
          </a:ln>
        </p:spPr>
      </p:pic>
      <p:sp>
        <p:nvSpPr>
          <p:cNvPr id="2" name="灯片编号占位符 1">
            <a:extLst>
              <a:ext uri="{FF2B5EF4-FFF2-40B4-BE49-F238E27FC236}">
                <a16:creationId xmlns:a16="http://schemas.microsoft.com/office/drawing/2014/main" id="{FF6D772C-F9B0-4F08-8AA7-1A419073CC48}"/>
              </a:ext>
            </a:extLst>
          </p:cNvPr>
          <p:cNvSpPr>
            <a:spLocks noGrp="1"/>
          </p:cNvSpPr>
          <p:nvPr>
            <p:ph type="sldNum" sz="quarter" idx="12"/>
          </p:nvPr>
        </p:nvSpPr>
        <p:spPr/>
        <p:txBody>
          <a:bodyPr/>
          <a:lstStyle/>
          <a:p>
            <a:pPr>
              <a:defRPr/>
            </a:pPr>
            <a:fld id="{6F3A3AC4-AED4-4161-B73F-2003E60F69A5}" type="slidenum">
              <a:rPr lang="en-US" altLang="zh-CN" smtClean="0"/>
              <a:t>11</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3764"/>
                                        </p:tgtEl>
                                        <p:attrNameLst>
                                          <p:attrName>style.visibility</p:attrName>
                                        </p:attrNameLst>
                                      </p:cBhvr>
                                      <p:to>
                                        <p:strVal val="visible"/>
                                      </p:to>
                                    </p:set>
                                    <p:animEffect transition="in" filter="blinds(horizontal)">
                                      <p:cBhvr>
                                        <p:cTn id="7" dur="500"/>
                                        <p:tgtEl>
                                          <p:spTgt spid="3737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3769"/>
                                        </p:tgtEl>
                                        <p:attrNameLst>
                                          <p:attrName>style.visibility</p:attrName>
                                        </p:attrNameLst>
                                      </p:cBhvr>
                                      <p:to>
                                        <p:strVal val="visible"/>
                                      </p:to>
                                    </p:set>
                                    <p:animEffect transition="in" filter="blinds(horizontal)">
                                      <p:cBhvr>
                                        <p:cTn id="12" dur="500"/>
                                        <p:tgtEl>
                                          <p:spTgt spid="373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p:cNvSpPr>
          <p:nvPr>
            <p:ph type="body" sz="half" idx="1"/>
          </p:nvPr>
        </p:nvSpPr>
        <p:spPr>
          <a:xfrm>
            <a:off x="0" y="0"/>
            <a:ext cx="9144000" cy="404813"/>
          </a:xfrm>
          <a:prstGeom prst="rect">
            <a:avLst/>
          </a:prstGeom>
          <a:solidFill>
            <a:srgbClr val="FFFFFF"/>
          </a:solidFill>
          <a:ln>
            <a:noFill/>
          </a:ln>
        </p:spPr>
        <p:txBody>
          <a:bodyPr/>
          <a:lstStyle/>
          <a:p>
            <a:pPr>
              <a:buClr>
                <a:schemeClr val="folHlink"/>
              </a:buClr>
              <a:buSzPct val="60000"/>
              <a:buFont typeface="Wingdings" panose="05000000000000000000" pitchFamily="2" charset="2"/>
              <a:buNone/>
            </a:pPr>
            <a:r>
              <a:rPr lang="zh-CN" altLang="en-US" sz="2400" b="1" dirty="0">
                <a:solidFill>
                  <a:schemeClr val="hlink"/>
                </a:solidFill>
                <a:latin typeface="微软雅黑" pitchFamily="34" charset="-122"/>
                <a:ea typeface="微软雅黑" pitchFamily="34" charset="-122"/>
              </a:rPr>
              <a:t>产销平衡的运输问题有最优解</a:t>
            </a:r>
            <a:r>
              <a:rPr lang="zh-CN" altLang="en-US" sz="2400" b="1" dirty="0">
                <a:latin typeface="微软雅黑" pitchFamily="34" charset="-122"/>
                <a:ea typeface="微软雅黑" pitchFamily="34" charset="-122"/>
              </a:rPr>
              <a:t> </a:t>
            </a:r>
          </a:p>
        </p:txBody>
      </p:sp>
      <p:graphicFrame>
        <p:nvGraphicFramePr>
          <p:cNvPr id="14339" name="Object 4"/>
          <p:cNvGraphicFramePr>
            <a:graphicFrameLocks noChangeAspect="1"/>
          </p:cNvGraphicFramePr>
          <p:nvPr/>
        </p:nvGraphicFramePr>
        <p:xfrm>
          <a:off x="498475" y="3429000"/>
          <a:ext cx="8145463" cy="641350"/>
        </p:xfrm>
        <a:graphic>
          <a:graphicData uri="http://schemas.openxmlformats.org/presentationml/2006/ole">
            <mc:AlternateContent xmlns:mc="http://schemas.openxmlformats.org/markup-compatibility/2006">
              <mc:Choice xmlns:v="urn:schemas-microsoft-com:vml" Requires="v">
                <p:oleObj spid="_x0000_s7212" r:id="rId3" imgW="2895600" imgH="241300" progId="Equation.DSMT4">
                  <p:embed/>
                </p:oleObj>
              </mc:Choice>
              <mc:Fallback>
                <p:oleObj r:id="rId3" imgW="2895600" imgH="241300" progId="Equation.DSMT4">
                  <p:embed/>
                  <p:pic>
                    <p:nvPicPr>
                      <p:cNvPr id="14339" name="Object 4"/>
                      <p:cNvPicPr/>
                      <p:nvPr/>
                    </p:nvPicPr>
                    <p:blipFill>
                      <a:blip r:embed="rId4"/>
                      <a:stretch>
                        <a:fillRect/>
                      </a:stretch>
                    </p:blipFill>
                    <p:spPr>
                      <a:xfrm>
                        <a:off x="498475" y="3429000"/>
                        <a:ext cx="8145463" cy="641350"/>
                      </a:xfrm>
                      <a:prstGeom prst="rect">
                        <a:avLst/>
                      </a:prstGeom>
                      <a:solidFill>
                        <a:srgbClr val="B3F1F7"/>
                      </a:solidFill>
                      <a:ln w="38100">
                        <a:noFill/>
                        <a:miter/>
                      </a:ln>
                    </p:spPr>
                  </p:pic>
                </p:oleObj>
              </mc:Fallback>
            </mc:AlternateContent>
          </a:graphicData>
        </a:graphic>
      </p:graphicFrame>
      <p:sp>
        <p:nvSpPr>
          <p:cNvPr id="4" name="矩形 3"/>
          <p:cNvSpPr/>
          <p:nvPr/>
        </p:nvSpPr>
        <p:spPr>
          <a:xfrm>
            <a:off x="0" y="4941888"/>
            <a:ext cx="9144000" cy="1135062"/>
          </a:xfrm>
          <a:prstGeom prst="rect">
            <a:avLst/>
          </a:prstGeom>
          <a:no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由于有以上特征</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所以求解运输问题时</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可用比较简便的计算方法</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习惯上称为</a:t>
            </a:r>
            <a:r>
              <a:rPr lang="zh-CN" altLang="en-US" b="1" dirty="0">
                <a:solidFill>
                  <a:srgbClr val="C00000"/>
                </a:solidFill>
                <a:latin typeface="Times New Roman" panose="02020603050405020304" pitchFamily="18" charset="0"/>
                <a:ea typeface="微软雅黑" pitchFamily="34" charset="-122"/>
              </a:rPr>
              <a:t>表上作业法</a:t>
            </a:r>
            <a:endParaRPr lang="zh-CN" altLang="en-US" b="1" dirty="0">
              <a:latin typeface="Times New Roman" panose="02020603050405020304" pitchFamily="18" charset="0"/>
              <a:ea typeface="微软雅黑" pitchFamily="34" charset="-122"/>
            </a:endParaRPr>
          </a:p>
        </p:txBody>
      </p:sp>
      <p:graphicFrame>
        <p:nvGraphicFramePr>
          <p:cNvPr id="14341" name="Object 2"/>
          <p:cNvGraphicFramePr>
            <a:graphicFrameLocks noGrp="1" noChangeAspect="1"/>
          </p:cNvGraphicFramePr>
          <p:nvPr>
            <p:ph sz="half" idx="2"/>
          </p:nvPr>
        </p:nvGraphicFramePr>
        <p:xfrm>
          <a:off x="2071688" y="482600"/>
          <a:ext cx="4135437" cy="2836863"/>
        </p:xfrm>
        <a:graphic>
          <a:graphicData uri="http://schemas.openxmlformats.org/presentationml/2006/ole">
            <mc:AlternateContent xmlns:mc="http://schemas.openxmlformats.org/markup-compatibility/2006">
              <mc:Choice xmlns:v="urn:schemas-microsoft-com:vml" Requires="v">
                <p:oleObj spid="_x0000_s7213" r:id="rId5" imgW="2628900" imgH="1803400" progId="Equation.DSMT4">
                  <p:embed/>
                </p:oleObj>
              </mc:Choice>
              <mc:Fallback>
                <p:oleObj r:id="rId5" imgW="2628900" imgH="1803400" progId="Equation.DSMT4">
                  <p:embed/>
                  <p:pic>
                    <p:nvPicPr>
                      <p:cNvPr id="14341" name="Object 2"/>
                      <p:cNvPicPr/>
                      <p:nvPr/>
                    </p:nvPicPr>
                    <p:blipFill>
                      <a:blip r:embed="rId6"/>
                      <a:stretch>
                        <a:fillRect/>
                      </a:stretch>
                    </p:blipFill>
                    <p:spPr>
                      <a:xfrm>
                        <a:off x="2071688" y="482600"/>
                        <a:ext cx="4135437" cy="2836863"/>
                      </a:xfrm>
                      <a:prstGeom prst="rect">
                        <a:avLst/>
                      </a:prstGeom>
                      <a:solidFill>
                        <a:srgbClr val="FFFF99"/>
                      </a:solidFill>
                      <a:ln w="38100">
                        <a:noFill/>
                        <a:miter/>
                      </a:ln>
                    </p:spPr>
                  </p:pic>
                </p:oleObj>
              </mc:Fallback>
            </mc:AlternateContent>
          </a:graphicData>
        </a:graphic>
      </p:graphicFrame>
      <p:sp>
        <p:nvSpPr>
          <p:cNvPr id="14342" name="Text Box 9"/>
          <p:cNvSpPr txBox="1"/>
          <p:nvPr/>
        </p:nvSpPr>
        <p:spPr>
          <a:xfrm>
            <a:off x="611188" y="4221163"/>
            <a:ext cx="6624637" cy="457200"/>
          </a:xfrm>
          <a:prstGeom prst="rect">
            <a:avLst/>
          </a:prstGeom>
          <a:solidFill>
            <a:srgbClr val="FFFF99"/>
          </a:solidFill>
          <a:ln w="9525">
            <a:noFill/>
          </a:ln>
        </p:spPr>
        <p:txBody>
          <a:bodyPr>
            <a:spAutoFit/>
          </a:bodyPr>
          <a:lstStyle/>
          <a:p>
            <a:pPr eaLnBrk="1" hangingPunct="1">
              <a:spcBef>
                <a:spcPct val="50000"/>
              </a:spcBef>
            </a:pPr>
            <a:r>
              <a:rPr lang="zh-CN" altLang="en-US" b="1" dirty="0">
                <a:latin typeface="Tahoma" panose="020B0604030504040204" pitchFamily="34" charset="0"/>
                <a:ea typeface="微软雅黑" pitchFamily="34" charset="-122"/>
              </a:rPr>
              <a:t>有界闭区间内的连续函数一定有最大和最小值</a:t>
            </a:r>
          </a:p>
        </p:txBody>
      </p:sp>
      <p:sp>
        <p:nvSpPr>
          <p:cNvPr id="2" name="灯片编号占位符 1">
            <a:extLst>
              <a:ext uri="{FF2B5EF4-FFF2-40B4-BE49-F238E27FC236}">
                <a16:creationId xmlns:a16="http://schemas.microsoft.com/office/drawing/2014/main" id="{E9651968-3B29-42D8-A93B-C5D4D64BEFAC}"/>
              </a:ext>
            </a:extLst>
          </p:cNvPr>
          <p:cNvSpPr>
            <a:spLocks noGrp="1"/>
          </p:cNvSpPr>
          <p:nvPr>
            <p:ph type="sldNum" sz="quarter" idx="12"/>
          </p:nvPr>
        </p:nvSpPr>
        <p:spPr/>
        <p:txBody>
          <a:bodyPr/>
          <a:lstStyle/>
          <a:p>
            <a:pPr>
              <a:defRPr/>
            </a:pPr>
            <a:fld id="{6F3A3AC4-AED4-4161-B73F-2003E60F69A5}" type="slidenum">
              <a:rPr lang="en-US" altLang="zh-CN" smtClean="0"/>
              <a:t>12</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4</a:t>
            </a:r>
            <a:r>
              <a:rPr kumimoji="0" lang="zh-CN" altLang="en-US" sz="3200" b="1">
                <a:solidFill>
                  <a:srgbClr val="FF0000"/>
                </a:solidFill>
                <a:latin typeface="微软雅黑" panose="020B0503020204020204" pitchFamily="34" charset="-122"/>
                <a:ea typeface="微软雅黑" panose="020B0503020204020204" pitchFamily="34" charset="-122"/>
              </a:rPr>
              <a:t>章  运输问题</a:t>
            </a:r>
          </a:p>
        </p:txBody>
      </p:sp>
      <p:sp>
        <p:nvSpPr>
          <p:cNvPr id="5125" name="Rectangle 3"/>
          <p:cNvSpPr txBox="1">
            <a:spLocks noChangeArrowheads="1"/>
          </p:cNvSpPr>
          <p:nvPr/>
        </p:nvSpPr>
        <p:spPr bwMode="auto">
          <a:xfrm>
            <a:off x="971600" y="2105026"/>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1</a:t>
            </a:r>
            <a:r>
              <a:rPr lang="zh-CN" altLang="en-US" sz="2800" b="1" dirty="0">
                <a:solidFill>
                  <a:schemeClr val="folHlink"/>
                </a:solidFill>
                <a:latin typeface="微软雅黑" panose="020B0503020204020204" pitchFamily="34" charset="-122"/>
                <a:ea typeface="微软雅黑" panose="020B0503020204020204" pitchFamily="34" charset="-122"/>
              </a:rPr>
              <a:t>节   运输问题的数学模型</a:t>
            </a:r>
          </a:p>
          <a:p>
            <a:pPr>
              <a:lnSpc>
                <a:spcPct val="130000"/>
              </a:lnSpc>
              <a:spcBef>
                <a:spcPts val="600"/>
              </a:spcBef>
              <a:buClr>
                <a:schemeClr val="accent1"/>
              </a:buClr>
              <a:buSzPct val="70000"/>
              <a:buFont typeface="Wingdings" panose="05000000000000000000" pitchFamily="2" charset="2"/>
              <a:buNone/>
            </a:pPr>
            <a:r>
              <a:rPr lang="zh-CN" altLang="en-US" sz="2800" b="1" dirty="0">
                <a:solidFill>
                  <a:srgbClr val="FF0000"/>
                </a:solidFill>
                <a:latin typeface="微软雅黑" panose="020B0503020204020204" pitchFamily="34" charset="-122"/>
                <a:ea typeface="微软雅黑" panose="020B0503020204020204" pitchFamily="34" charset="-122"/>
              </a:rPr>
              <a:t>第</a:t>
            </a:r>
            <a:r>
              <a:rPr lang="en-US" altLang="zh-CN" sz="2800" b="1" dirty="0">
                <a:solidFill>
                  <a:srgbClr val="FF0000"/>
                </a:solidFill>
                <a:latin typeface="微软雅黑" panose="020B0503020204020204" pitchFamily="34" charset="-122"/>
                <a:ea typeface="微软雅黑" panose="020B0503020204020204" pitchFamily="34" charset="-122"/>
              </a:rPr>
              <a:t>2</a:t>
            </a:r>
            <a:r>
              <a:rPr lang="zh-CN" altLang="en-US" sz="2800" b="1" dirty="0">
                <a:solidFill>
                  <a:srgbClr val="FF0000"/>
                </a:solidFill>
                <a:latin typeface="微软雅黑" panose="020B0503020204020204" pitchFamily="34" charset="-122"/>
                <a:ea typeface="微软雅黑" panose="020B0503020204020204" pitchFamily="34" charset="-122"/>
              </a:rPr>
              <a:t>节   表上作业法</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3</a:t>
            </a:r>
            <a:r>
              <a:rPr lang="zh-CN" altLang="en-US" sz="2800" b="1" dirty="0">
                <a:solidFill>
                  <a:schemeClr val="folHlink"/>
                </a:solidFill>
                <a:latin typeface="微软雅黑" panose="020B0503020204020204" pitchFamily="34" charset="-122"/>
                <a:ea typeface="微软雅黑" panose="020B0503020204020204" pitchFamily="34" charset="-122"/>
              </a:rPr>
              <a:t>节   产销不平衡的运输问题</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4</a:t>
            </a:r>
            <a:r>
              <a:rPr lang="zh-CN" altLang="en-US" sz="2800" b="1" dirty="0">
                <a:solidFill>
                  <a:schemeClr val="folHlink"/>
                </a:solidFill>
                <a:latin typeface="微软雅黑" panose="020B0503020204020204" pitchFamily="34" charset="-122"/>
                <a:ea typeface="微软雅黑" panose="020B0503020204020204" pitchFamily="34" charset="-122"/>
              </a:rPr>
              <a:t>节   转运问题</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5</a:t>
            </a:r>
            <a:r>
              <a:rPr lang="zh-CN" altLang="en-US" sz="2800" b="1" dirty="0">
                <a:solidFill>
                  <a:schemeClr val="folHlink"/>
                </a:solidFill>
                <a:latin typeface="微软雅黑" panose="020B0503020204020204" pitchFamily="34" charset="-122"/>
                <a:ea typeface="微软雅黑" panose="020B0503020204020204" pitchFamily="34" charset="-122"/>
              </a:rPr>
              <a:t>节   应用举例及计算机解法</a:t>
            </a:r>
            <a:endParaRPr lang="en-US" altLang="zh-CN" sz="2800" b="1" dirty="0">
              <a:solidFill>
                <a:schemeClr val="folHlink"/>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AE5E51DD-79B4-4E99-845D-409BB44722C1}"/>
              </a:ext>
            </a:extLst>
          </p:cNvPr>
          <p:cNvSpPr>
            <a:spLocks noGrp="1"/>
          </p:cNvSpPr>
          <p:nvPr>
            <p:ph type="sldNum" sz="quarter" idx="12"/>
          </p:nvPr>
        </p:nvSpPr>
        <p:spPr/>
        <p:txBody>
          <a:bodyPr/>
          <a:lstStyle/>
          <a:p>
            <a:pPr>
              <a:defRPr/>
            </a:pPr>
            <a:fld id="{2AE1B59C-883C-4848-BC85-9A12DF2590B2}" type="slidenum">
              <a:rPr lang="en-US" altLang="zh-CN" smtClean="0"/>
              <a:t>13</a:t>
            </a:fld>
            <a:endParaRPr lang="en-US" altLang="zh-CN"/>
          </a:p>
        </p:txBody>
      </p:sp>
    </p:spTree>
    <p:extLst>
      <p:ext uri="{BB962C8B-B14F-4D97-AF65-F5344CB8AC3E}">
        <p14:creationId xmlns:p14="http://schemas.microsoft.com/office/powerpoint/2010/main" val="4057810793"/>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0" y="0"/>
            <a:ext cx="9144000" cy="3716338"/>
          </a:xfrm>
          <a:prstGeom prst="rect">
            <a:avLst/>
          </a:prstGeom>
          <a:noFill/>
          <a:ln w="9525">
            <a:noFill/>
            <a:miter lim="800000"/>
          </a:ln>
        </p:spPr>
        <p:txBody>
          <a:bodyPr/>
          <a:lstStyle/>
          <a:p>
            <a:pPr marL="273050" marR="0" indent="-273050" algn="just"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表上作业法</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是</a:t>
            </a:r>
            <a:r>
              <a:rPr kumimoji="0" lang="zh-CN" altLang="en-US" b="1" kern="1200" cap="none" spc="0" normalizeH="0" baseline="0" noProof="0" dirty="0">
                <a:solidFill>
                  <a:schemeClr val="folHlink"/>
                </a:solidFill>
                <a:latin typeface="Times New Roman" panose="02020603050405020304" pitchFamily="18" charset="0"/>
                <a:ea typeface="微软雅黑" pitchFamily="34" charset="-122"/>
                <a:cs typeface="Times New Roman" panose="02020603050405020304" pitchFamily="18" charset="0"/>
              </a:rPr>
              <a:t>单纯形法</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在求解运输问题时的一种简化方法</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其实质是单纯形法。但具体计算和术语有所不同。可归纳为：</a:t>
            </a:r>
          </a:p>
          <a:p>
            <a:pPr marL="457200" marR="0" indent="-457200" algn="just" defTabSz="914400">
              <a:lnSpc>
                <a:spcPct val="90000"/>
              </a:lnSpc>
              <a:spcBef>
                <a:spcPts val="600"/>
              </a:spcBef>
              <a:buClr>
                <a:schemeClr val="accent1"/>
              </a:buClr>
              <a:buSzPct val="70000"/>
              <a:buFontTx/>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找出初始基可行解。即在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m</a:t>
            </a:r>
            <a:r>
              <a:rPr kumimoji="0" lang="en-US" altLang="zh-CN" b="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n</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产销平衡表上</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用最小元素法</a:t>
            </a:r>
            <a:r>
              <a:rPr kumimoji="0" lang="zh-CN" altLang="en-US" b="1" kern="1200" cap="none" spc="0" normalizeH="0" baseline="0" noProof="0" dirty="0">
                <a:solidFill>
                  <a:srgbClr val="0000FF"/>
                </a:solidFill>
                <a:latin typeface="仿宋" panose="02010609060101010101" pitchFamily="49" charset="-122"/>
                <a:ea typeface="仿宋" panose="02010609060101010101" pitchFamily="49" charset="-122"/>
                <a:cs typeface="Times New Roman" panose="02020603050405020304" pitchFamily="18" charset="0"/>
              </a:rPr>
              <a:t>，</a:t>
            </a: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Vogel</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法给出</a:t>
            </a:r>
            <a:r>
              <a:rPr kumimoji="0" lang="en-US" altLang="zh-CN" b="1" i="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m</a:t>
            </a: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n</a:t>
            </a: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-1</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个数字</a:t>
            </a:r>
            <a:r>
              <a:rPr kumimoji="0" lang="zh-CN" altLang="en-US" b="1" kern="1200" cap="none" spc="0" normalizeH="0" baseline="0" noProof="0" dirty="0">
                <a:solidFill>
                  <a:srgbClr val="0000FF"/>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称为数字格</a:t>
            </a:r>
            <a:endPar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endParaRPr>
          </a:p>
          <a:p>
            <a:pPr marL="457200" marR="0" indent="-457200" algn="just" defTabSz="914400">
              <a:lnSpc>
                <a:spcPct val="90000"/>
              </a:lnSpc>
              <a:spcBef>
                <a:spcPts val="600"/>
              </a:spcBef>
              <a:buClr>
                <a:schemeClr val="accent1"/>
              </a:buClr>
              <a:buSzPct val="70000"/>
              <a:buFontTx/>
              <a:buNone/>
              <a:defRPr/>
            </a:pPr>
            <a:r>
              <a:rPr kumimoji="0" lang="en-US" altLang="zh-CN"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      </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它们就是</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初始基变量</a:t>
            </a:r>
            <a:r>
              <a:rPr kumimoji="0" lang="zh-CN" altLang="en-US" b="1" kern="1200" cap="none" spc="0" normalizeH="0" baseline="0" noProof="0" dirty="0">
                <a:solidFill>
                  <a:srgbClr val="0000FF"/>
                </a:solidFill>
                <a:latin typeface="Times New Roman" panose="02020603050405020304" pitchFamily="18" charset="0"/>
                <a:ea typeface="微软雅黑" pitchFamily="34" charset="-122"/>
                <a:cs typeface="Times New Roman" panose="02020603050405020304" pitchFamily="18" charset="0"/>
              </a:rPr>
              <a:t>的取值</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 </a:t>
            </a:r>
          </a:p>
          <a:p>
            <a:pPr marL="273050" marR="0" indent="-273050" algn="just" defTabSz="914400">
              <a:lnSpc>
                <a:spcPct val="90000"/>
              </a:lnSpc>
              <a:spcBef>
                <a:spcPts val="600"/>
              </a:spcBef>
              <a:buClr>
                <a:schemeClr val="accent1"/>
              </a:buClr>
              <a:buSzPct val="7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求各</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非基变量</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的</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检验数</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即在表上</a:t>
            </a:r>
            <a:r>
              <a:rPr kumimoji="0" lang="zh-CN" altLang="en-US" b="1" dirty="0">
                <a:solidFill>
                  <a:srgbClr val="0000FF"/>
                </a:solidFill>
                <a:latin typeface="Times New Roman" panose="02020603050405020304" pitchFamily="18" charset="0"/>
                <a:ea typeface="微软雅黑" pitchFamily="34" charset="-122"/>
                <a:cs typeface="Times New Roman" panose="02020603050405020304" pitchFamily="18" charset="0"/>
              </a:rPr>
              <a:t>计算空格的检验数</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判别是否达到最优解。如已是最优解</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则停止计算</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否则转到下一步</a:t>
            </a:r>
          </a:p>
          <a:p>
            <a:pPr marL="273050" marR="0" indent="-273050" algn="just" defTabSz="914400">
              <a:lnSpc>
                <a:spcPct val="90000"/>
              </a:lnSpc>
              <a:spcBef>
                <a:spcPts val="600"/>
              </a:spcBef>
              <a:buClr>
                <a:schemeClr val="accent1"/>
              </a:buClr>
              <a:buSzPct val="7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(3)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确定</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换入变量</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和</a:t>
            </a:r>
            <a:r>
              <a:rPr kumimoji="0" lang="zh-CN" altLang="en-US" b="1" kern="1200" cap="none" spc="0" normalizeH="0" baseline="0" noProof="0" dirty="0">
                <a:solidFill>
                  <a:schemeClr val="hlink"/>
                </a:solidFill>
                <a:latin typeface="Times New Roman" panose="02020603050405020304" pitchFamily="18" charset="0"/>
                <a:ea typeface="微软雅黑" pitchFamily="34" charset="-122"/>
                <a:cs typeface="Times New Roman" panose="02020603050405020304" pitchFamily="18" charset="0"/>
              </a:rPr>
              <a:t>换出变量</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找出新的基可行解。在表上用闭回路法调整</a:t>
            </a:r>
          </a:p>
          <a:p>
            <a:pPr marL="273050" marR="0" indent="-273050" defTabSz="914400">
              <a:lnSpc>
                <a:spcPct val="90000"/>
              </a:lnSpc>
              <a:spcBef>
                <a:spcPts val="600"/>
              </a:spcBef>
              <a:buClr>
                <a:schemeClr val="accent1"/>
              </a:buClr>
              <a:buSzPct val="70000"/>
              <a:buFont typeface="Wingdings" panose="05000000000000000000" pitchFamily="2" charset="2"/>
              <a:buNone/>
              <a:defRPr/>
            </a:pP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 </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重复</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直到得到最优解为止</a:t>
            </a:r>
          </a:p>
        </p:txBody>
      </p:sp>
      <p:sp>
        <p:nvSpPr>
          <p:cNvPr id="2" name="Rectangle 2"/>
          <p:cNvSpPr txBox="1"/>
          <p:nvPr/>
        </p:nvSpPr>
        <p:spPr>
          <a:xfrm>
            <a:off x="0" y="3789363"/>
            <a:ext cx="9144000" cy="2232025"/>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a:t>
            </a:r>
            <a:r>
              <a:rPr lang="en-US" altLang="zh-CN" b="1" dirty="0">
                <a:solidFill>
                  <a:schemeClr val="hlink"/>
                </a:solidFill>
                <a:latin typeface="Times New Roman" panose="02020603050405020304" pitchFamily="18" charset="0"/>
                <a:ea typeface="微软雅黑" pitchFamily="34" charset="-122"/>
              </a:rPr>
              <a:t>4-1</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某公司经销甲产品。它下设三个加工厂。每日的产量分别是：</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7</a:t>
            </a:r>
            <a:r>
              <a:rPr lang="zh-CN" altLang="en-US" b="1" dirty="0">
                <a:latin typeface="Times New Roman" panose="02020603050405020304" pitchFamily="18" charset="0"/>
                <a:ea typeface="微软雅黑" pitchFamily="34" charset="-122"/>
              </a:rPr>
              <a:t>吨</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吨</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9</a:t>
            </a:r>
            <a:r>
              <a:rPr lang="zh-CN" altLang="en-US" b="1" dirty="0">
                <a:latin typeface="Times New Roman" panose="02020603050405020304" pitchFamily="18" charset="0"/>
                <a:ea typeface="微软雅黑" pitchFamily="34" charset="-122"/>
              </a:rPr>
              <a:t>吨。该公司把这些产品分别运往四个销售点。各销售点每日销量为：</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吨</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5</a:t>
            </a:r>
            <a:r>
              <a:rPr lang="zh-CN" altLang="en-US" b="1" dirty="0">
                <a:latin typeface="Times New Roman" panose="02020603050405020304" pitchFamily="18" charset="0"/>
                <a:ea typeface="微软雅黑" pitchFamily="34" charset="-122"/>
              </a:rPr>
              <a:t>吨</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p>
        </p:txBody>
      </p:sp>
      <p:sp>
        <p:nvSpPr>
          <p:cNvPr id="4" name="Rectangle 2"/>
          <p:cNvSpPr txBox="1"/>
          <p:nvPr/>
        </p:nvSpPr>
        <p:spPr>
          <a:xfrm>
            <a:off x="0" y="5300663"/>
            <a:ext cx="4932363" cy="1557337"/>
          </a:xfrm>
          <a:prstGeom prst="rect">
            <a:avLst/>
          </a:prstGeom>
          <a:solidFill>
            <a:srgbClr val="FFFF99"/>
          </a:solidFill>
          <a:ln w="9525">
            <a:noFill/>
          </a:ln>
        </p:spPr>
        <p:txBody>
          <a:bodyPr/>
          <a:lstStyle/>
          <a:p>
            <a:r>
              <a:rPr lang="zh-CN" altLang="en-US" b="1" dirty="0">
                <a:solidFill>
                  <a:schemeClr val="folHlink"/>
                </a:solidFill>
                <a:latin typeface="Times New Roman" panose="02020603050405020304" pitchFamily="18" charset="0"/>
                <a:ea typeface="微软雅黑" pitchFamily="34" charset="-122"/>
              </a:rPr>
              <a:t>已知从各工厂到各销售点的单位产品的运价为右表所示。问该公司应如何调运产品</a:t>
            </a:r>
            <a:r>
              <a:rPr lang="zh-CN" altLang="en-US" b="1" dirty="0">
                <a:solidFill>
                  <a:schemeClr val="folHlink"/>
                </a:solidFill>
                <a:latin typeface="仿宋" pitchFamily="49" charset="-122"/>
                <a:ea typeface="仿宋" pitchFamily="49" charset="-122"/>
              </a:rPr>
              <a:t>，</a:t>
            </a:r>
            <a:r>
              <a:rPr lang="zh-CN" altLang="en-US" b="1" dirty="0">
                <a:solidFill>
                  <a:schemeClr val="folHlink"/>
                </a:solidFill>
                <a:latin typeface="Times New Roman" panose="02020603050405020304" pitchFamily="18" charset="0"/>
                <a:ea typeface="微软雅黑" pitchFamily="34" charset="-122"/>
              </a:rPr>
              <a:t>在满足各销点的需要量的前提下</a:t>
            </a:r>
            <a:r>
              <a:rPr lang="zh-CN" altLang="en-US" b="1" dirty="0">
                <a:solidFill>
                  <a:schemeClr val="folHlink"/>
                </a:solidFill>
                <a:latin typeface="仿宋" pitchFamily="49" charset="-122"/>
                <a:ea typeface="仿宋" pitchFamily="49" charset="-122"/>
              </a:rPr>
              <a:t>，</a:t>
            </a:r>
            <a:r>
              <a:rPr lang="zh-CN" altLang="en-US" b="1" dirty="0">
                <a:solidFill>
                  <a:schemeClr val="folHlink"/>
                </a:solidFill>
                <a:latin typeface="Times New Roman" panose="02020603050405020304" pitchFamily="18" charset="0"/>
                <a:ea typeface="微软雅黑" pitchFamily="34" charset="-122"/>
              </a:rPr>
              <a:t>使总运费为最少。</a:t>
            </a:r>
            <a:r>
              <a:rPr lang="zh-CN" altLang="en-US" b="1" dirty="0">
                <a:latin typeface="Times New Roman" panose="02020603050405020304" pitchFamily="18" charset="0"/>
                <a:ea typeface="微软雅黑" pitchFamily="34" charset="-122"/>
              </a:rPr>
              <a:t> </a:t>
            </a:r>
          </a:p>
        </p:txBody>
      </p:sp>
      <p:pic>
        <p:nvPicPr>
          <p:cNvPr id="325637" name="Picture 5"/>
          <p:cNvPicPr>
            <a:picLocks noChangeAspect="1"/>
          </p:cNvPicPr>
          <p:nvPr/>
        </p:nvPicPr>
        <p:blipFill>
          <a:blip r:embed="rId2"/>
          <a:stretch>
            <a:fillRect/>
          </a:stretch>
        </p:blipFill>
        <p:spPr>
          <a:xfrm>
            <a:off x="4787900" y="5016500"/>
            <a:ext cx="4392613" cy="1841500"/>
          </a:xfrm>
          <a:prstGeom prst="rect">
            <a:avLst/>
          </a:prstGeom>
          <a:noFill/>
          <a:ln w="9525">
            <a:noFill/>
          </a:ln>
        </p:spPr>
      </p:pic>
      <p:sp>
        <p:nvSpPr>
          <p:cNvPr id="5" name="灯片编号占位符 4">
            <a:extLst>
              <a:ext uri="{FF2B5EF4-FFF2-40B4-BE49-F238E27FC236}">
                <a16:creationId xmlns:a16="http://schemas.microsoft.com/office/drawing/2014/main" id="{D8FB3728-FCCA-462A-ABBA-848CBC124250}"/>
              </a:ext>
            </a:extLst>
          </p:cNvPr>
          <p:cNvSpPr>
            <a:spLocks noGrp="1"/>
          </p:cNvSpPr>
          <p:nvPr>
            <p:ph type="sldNum" sz="quarter" idx="12"/>
          </p:nvPr>
        </p:nvSpPr>
        <p:spPr/>
        <p:txBody>
          <a:bodyPr/>
          <a:lstStyle/>
          <a:p>
            <a:pPr>
              <a:defRPr/>
            </a:pPr>
            <a:fld id="{2AE1B59C-883C-4848-BC85-9A12DF2590B2}" type="slidenum">
              <a:rPr lang="en-US" altLang="zh-CN" smtClean="0"/>
              <a:t>14</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par>
                                <p:cTn id="38" presetID="3" presetClass="entr" presetSubtype="10" fill="hold" nodeType="withEffect">
                                  <p:stCondLst>
                                    <p:cond delay="0"/>
                                  </p:stCondLst>
                                  <p:childTnLst>
                                    <p:set>
                                      <p:cBhvr>
                                        <p:cTn id="39" dur="1" fill="hold">
                                          <p:stCondLst>
                                            <p:cond delay="0"/>
                                          </p:stCondLst>
                                        </p:cTn>
                                        <p:tgtEl>
                                          <p:spTgt spid="325637"/>
                                        </p:tgtEl>
                                        <p:attrNameLst>
                                          <p:attrName>style.visibility</p:attrName>
                                        </p:attrNameLst>
                                      </p:cBhvr>
                                      <p:to>
                                        <p:strVal val="visible"/>
                                      </p:to>
                                    </p:set>
                                    <p:animEffect transition="in" filter="blinds(horizontal)">
                                      <p:cBhvr>
                                        <p:cTn id="40" dur="500"/>
                                        <p:tgtEl>
                                          <p:spTgt spid="325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txBox="1"/>
          <p:nvPr/>
        </p:nvSpPr>
        <p:spPr>
          <a:xfrm>
            <a:off x="0" y="44450"/>
            <a:ext cx="9144000" cy="2232025"/>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a:t>
            </a:r>
            <a:r>
              <a:rPr lang="en-US" altLang="zh-CN" b="1" dirty="0">
                <a:solidFill>
                  <a:schemeClr val="hlink"/>
                </a:solidFill>
                <a:latin typeface="Times New Roman" panose="02020603050405020304" pitchFamily="18" charset="0"/>
                <a:ea typeface="微软雅黑" pitchFamily="34" charset="-122"/>
              </a:rPr>
              <a:t>4-1</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某公司经销甲产品。它下设三个加工厂。每日的产量分别是：</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7</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9</a:t>
            </a:r>
            <a:r>
              <a:rPr lang="zh-CN" altLang="en-US" b="1" dirty="0">
                <a:latin typeface="Times New Roman" panose="02020603050405020304" pitchFamily="18" charset="0"/>
                <a:ea typeface="微软雅黑" pitchFamily="34" charset="-122"/>
              </a:rPr>
              <a:t>吨。该公司把这些产品分别运往四个销售点。各销售点每日销量为：</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5</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为</a:t>
            </a:r>
            <a:r>
              <a:rPr lang="en-US" altLang="zh-CN" b="1" dirty="0">
                <a:latin typeface="Times New Roman" panose="02020603050405020304" pitchFamily="18" charset="0"/>
                <a:ea typeface="微软雅黑" pitchFamily="34" charset="-122"/>
              </a:rPr>
              <a:t>6</a:t>
            </a:r>
            <a:r>
              <a:rPr lang="zh-CN" altLang="en-US" b="1" dirty="0">
                <a:latin typeface="Times New Roman" panose="02020603050405020304" pitchFamily="18" charset="0"/>
                <a:ea typeface="微软雅黑" pitchFamily="34" charset="-122"/>
              </a:rPr>
              <a:t>吨。</a:t>
            </a:r>
          </a:p>
        </p:txBody>
      </p:sp>
      <p:sp>
        <p:nvSpPr>
          <p:cNvPr id="6147" name="Rectangle 2"/>
          <p:cNvSpPr txBox="1"/>
          <p:nvPr/>
        </p:nvSpPr>
        <p:spPr>
          <a:xfrm>
            <a:off x="0" y="1555750"/>
            <a:ext cx="4859338" cy="1557338"/>
          </a:xfrm>
          <a:prstGeom prst="rect">
            <a:avLst/>
          </a:prstGeom>
          <a:solidFill>
            <a:srgbClr val="FFFF99"/>
          </a:solidFill>
          <a:ln w="9525">
            <a:noFill/>
          </a:ln>
        </p:spPr>
        <p:txBody>
          <a:bodyPr/>
          <a:lstStyle/>
          <a:p>
            <a:r>
              <a:rPr lang="zh-CN" altLang="en-US" b="1" dirty="0">
                <a:solidFill>
                  <a:schemeClr val="folHlink"/>
                </a:solidFill>
                <a:latin typeface="Times New Roman" panose="02020603050405020304" pitchFamily="18" charset="0"/>
                <a:ea typeface="微软雅黑" pitchFamily="34" charset="-122"/>
              </a:rPr>
              <a:t>已知从各工厂到各销售点的单位产品的运价为右表所示。问该公司应如何调运产品</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Times New Roman" panose="02020603050405020304" pitchFamily="18" charset="0"/>
                <a:ea typeface="微软雅黑" pitchFamily="34" charset="-122"/>
              </a:rPr>
              <a:t>在满足各销点的需要量的前提下</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Times New Roman" panose="02020603050405020304" pitchFamily="18" charset="0"/>
                <a:ea typeface="微软雅黑" pitchFamily="34" charset="-122"/>
              </a:rPr>
              <a:t>使总运费为最少</a:t>
            </a:r>
            <a:r>
              <a:rPr lang="zh-CN" altLang="en-US" b="1" dirty="0">
                <a:latin typeface="Times New Roman" panose="02020603050405020304" pitchFamily="18" charset="0"/>
                <a:ea typeface="微软雅黑" pitchFamily="34" charset="-122"/>
              </a:rPr>
              <a:t> </a:t>
            </a:r>
          </a:p>
        </p:txBody>
      </p:sp>
      <p:pic>
        <p:nvPicPr>
          <p:cNvPr id="6148" name="Picture 5"/>
          <p:cNvPicPr>
            <a:picLocks noChangeAspect="1"/>
          </p:cNvPicPr>
          <p:nvPr/>
        </p:nvPicPr>
        <p:blipFill>
          <a:blip r:embed="rId2"/>
          <a:stretch>
            <a:fillRect/>
          </a:stretch>
        </p:blipFill>
        <p:spPr>
          <a:xfrm>
            <a:off x="4715510" y="1340803"/>
            <a:ext cx="4392613" cy="1841500"/>
          </a:xfrm>
          <a:prstGeom prst="rect">
            <a:avLst/>
          </a:prstGeom>
          <a:noFill/>
          <a:ln w="9525">
            <a:noFill/>
          </a:ln>
        </p:spPr>
      </p:pic>
      <p:sp>
        <p:nvSpPr>
          <p:cNvPr id="6149" name="Rectangle 2"/>
          <p:cNvSpPr txBox="1"/>
          <p:nvPr/>
        </p:nvSpPr>
        <p:spPr>
          <a:xfrm>
            <a:off x="0" y="3860800"/>
            <a:ext cx="9144000" cy="503238"/>
          </a:xfrm>
          <a:prstGeom prst="rect">
            <a:avLst/>
          </a:prstGeom>
          <a:solidFill>
            <a:srgbClr val="B3F1F7"/>
          </a:solidFill>
          <a:ln w="9525">
            <a:noFill/>
          </a:ln>
        </p:spPr>
        <p:txBody>
          <a:bodyPr/>
          <a:lstStyle/>
          <a:p>
            <a:r>
              <a:rPr lang="zh-CN" altLang="en-US" b="1" dirty="0">
                <a:solidFill>
                  <a:schemeClr val="hlink"/>
                </a:solidFill>
                <a:latin typeface="微软雅黑" pitchFamily="34" charset="-122"/>
                <a:ea typeface="微软雅黑" pitchFamily="34" charset="-122"/>
              </a:rPr>
              <a:t>解  </a:t>
            </a:r>
            <a:r>
              <a:rPr lang="zh-CN" altLang="en-US" b="1" dirty="0">
                <a:latin typeface="微软雅黑" pitchFamily="34" charset="-122"/>
                <a:ea typeface="微软雅黑" pitchFamily="34" charset="-122"/>
              </a:rPr>
              <a:t>先作出这个问题的产销平衡表</a:t>
            </a:r>
            <a:endParaRPr lang="en-US" altLang="zh-CN" b="1" dirty="0">
              <a:latin typeface="微软雅黑" pitchFamily="34" charset="-122"/>
              <a:ea typeface="微软雅黑" pitchFamily="34" charset="-122"/>
            </a:endParaRPr>
          </a:p>
        </p:txBody>
      </p:sp>
      <p:pic>
        <p:nvPicPr>
          <p:cNvPr id="6150" name="Picture 7"/>
          <p:cNvPicPr>
            <a:picLocks noChangeAspect="1"/>
          </p:cNvPicPr>
          <p:nvPr/>
        </p:nvPicPr>
        <p:blipFill>
          <a:blip r:embed="rId3"/>
          <a:stretch>
            <a:fillRect/>
          </a:stretch>
        </p:blipFill>
        <p:spPr>
          <a:xfrm>
            <a:off x="2124075" y="4437063"/>
            <a:ext cx="4608513" cy="1912937"/>
          </a:xfrm>
          <a:prstGeom prst="rect">
            <a:avLst/>
          </a:prstGeom>
          <a:noFill/>
          <a:ln w="9525">
            <a:noFill/>
          </a:ln>
        </p:spPr>
      </p:pic>
      <p:sp>
        <p:nvSpPr>
          <p:cNvPr id="6151" name="矩形 4"/>
          <p:cNvSpPr/>
          <p:nvPr/>
        </p:nvSpPr>
        <p:spPr>
          <a:xfrm>
            <a:off x="6804248" y="3198167"/>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6152" name="矩形 4"/>
          <p:cNvSpPr/>
          <p:nvPr/>
        </p:nvSpPr>
        <p:spPr>
          <a:xfrm>
            <a:off x="3851275" y="6400800"/>
            <a:ext cx="902811" cy="461665"/>
          </a:xfrm>
          <a:prstGeom prst="rect">
            <a:avLst/>
          </a:prstGeom>
          <a:no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4-5</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BD1041D-2A85-4405-B8ED-DFAF34A82298}"/>
              </a:ext>
            </a:extLst>
          </p:cNvPr>
          <p:cNvSpPr>
            <a:spLocks noGrp="1"/>
          </p:cNvSpPr>
          <p:nvPr>
            <p:ph type="sldNum" sz="quarter" idx="12"/>
          </p:nvPr>
        </p:nvSpPr>
        <p:spPr/>
        <p:txBody>
          <a:bodyPr/>
          <a:lstStyle/>
          <a:p>
            <a:pPr>
              <a:defRPr/>
            </a:pPr>
            <a:fld id="{2AE1B59C-883C-4848-BC85-9A12DF2590B2}" type="slidenum">
              <a:rPr lang="en-US" altLang="zh-CN" smtClean="0"/>
              <a:t>15</a:t>
            </a:fld>
            <a:endParaRPr lang="en-US" altLang="zh-CN"/>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620713"/>
            <a:ext cx="9144000" cy="836612"/>
          </a:xfrm>
          <a:prstGeom prst="rect">
            <a:avLst/>
          </a:prstGeom>
          <a:noFill/>
          <a:ln w="9525">
            <a:noFill/>
          </a:ln>
        </p:spPr>
        <p:txBody>
          <a:bodyPr/>
          <a:lstStyle/>
          <a:p>
            <a:r>
              <a:rPr lang="zh-CN" altLang="en-US" b="1" dirty="0">
                <a:latin typeface="Times New Roman" panose="02020603050405020304" pitchFamily="18" charset="0"/>
                <a:ea typeface="微软雅黑" pitchFamily="34" charset="-122"/>
              </a:rPr>
              <a:t>确定初始基可行解的方法很多</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有最小元素法和伏格尔</a:t>
            </a:r>
            <a:r>
              <a:rPr lang="en-US" altLang="zh-CN" b="1" dirty="0">
                <a:latin typeface="Times New Roman" panose="02020603050405020304" pitchFamily="18" charset="0"/>
                <a:ea typeface="微软雅黑" pitchFamily="34" charset="-122"/>
              </a:rPr>
              <a:t>(Vogel)</a:t>
            </a:r>
            <a:r>
              <a:rPr lang="zh-CN" altLang="en-US" b="1" dirty="0">
                <a:latin typeface="Times New Roman" panose="02020603050405020304" pitchFamily="18" charset="0"/>
                <a:ea typeface="微软雅黑" pitchFamily="34" charset="-122"/>
              </a:rPr>
              <a:t>法。一般希望方法既简便</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又尽可能接近最优解。下面介绍两种方法：</a:t>
            </a:r>
            <a:r>
              <a:rPr lang="zh-CN" altLang="en-US" sz="2800" dirty="0">
                <a:latin typeface="Times New Roman" panose="02020603050405020304" pitchFamily="18" charset="0"/>
                <a:ea typeface="华文楷体" panose="02010600040101010101" pitchFamily="2" charset="-122"/>
              </a:rPr>
              <a:t> </a:t>
            </a:r>
            <a:endParaRPr lang="zh-CN" altLang="en-US" sz="2800" dirty="0">
              <a:solidFill>
                <a:schemeClr val="tx2"/>
              </a:solidFill>
              <a:latin typeface="微软雅黑" pitchFamily="34" charset="-122"/>
              <a:ea typeface="华文楷体" panose="02010600040101010101" pitchFamily="2" charset="-122"/>
            </a:endParaRPr>
          </a:p>
        </p:txBody>
      </p:sp>
      <p:sp>
        <p:nvSpPr>
          <p:cNvPr id="3" name="Rectangle 3"/>
          <p:cNvSpPr txBox="1"/>
          <p:nvPr/>
        </p:nvSpPr>
        <p:spPr>
          <a:xfrm>
            <a:off x="0" y="1412875"/>
            <a:ext cx="9144000" cy="431800"/>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pPr>
            <a:r>
              <a:rPr lang="en-US" altLang="zh-CN" sz="2800" b="1" dirty="0">
                <a:solidFill>
                  <a:schemeClr val="hlink"/>
                </a:solidFill>
                <a:latin typeface="微软雅黑" pitchFamily="34" charset="-122"/>
                <a:ea typeface="微软雅黑" pitchFamily="34" charset="-122"/>
              </a:rPr>
              <a:t>I.</a:t>
            </a:r>
            <a:r>
              <a:rPr lang="en-US" altLang="zh-CN" sz="2800" b="1" dirty="0">
                <a:solidFill>
                  <a:schemeClr val="hlink"/>
                </a:solidFill>
                <a:latin typeface="Times New Roman" panose="02020603050405020304" pitchFamily="18" charset="0"/>
                <a:ea typeface="微软雅黑" pitchFamily="34" charset="-122"/>
              </a:rPr>
              <a:t> </a:t>
            </a:r>
            <a:r>
              <a:rPr lang="en-US" altLang="zh-CN" sz="2800" b="1" dirty="0">
                <a:solidFill>
                  <a:schemeClr val="hlink"/>
                </a:solidFill>
                <a:latin typeface="华文楷体" panose="02010600040101010101" pitchFamily="2" charset="-122"/>
                <a:ea typeface="微软雅黑" pitchFamily="34" charset="-122"/>
              </a:rPr>
              <a:t> </a:t>
            </a:r>
            <a:r>
              <a:rPr lang="zh-CN" altLang="en-US" sz="2800" b="1" dirty="0">
                <a:solidFill>
                  <a:schemeClr val="hlink"/>
                </a:solidFill>
                <a:latin typeface="微软雅黑" pitchFamily="34" charset="-122"/>
                <a:ea typeface="微软雅黑" pitchFamily="34" charset="-122"/>
              </a:rPr>
              <a:t>最小元素法</a:t>
            </a:r>
          </a:p>
        </p:txBody>
      </p:sp>
      <p:sp>
        <p:nvSpPr>
          <p:cNvPr id="4" name="Rectangle 4"/>
          <p:cNvSpPr/>
          <p:nvPr/>
        </p:nvSpPr>
        <p:spPr>
          <a:xfrm>
            <a:off x="0" y="1916113"/>
            <a:ext cx="9144000" cy="2308225"/>
          </a:xfrm>
          <a:prstGeom prst="rect">
            <a:avLst/>
          </a:prstGeom>
          <a:noFill/>
          <a:ln w="9525">
            <a:noFill/>
          </a:ln>
        </p:spPr>
        <p:txBody>
          <a:bodyPr>
            <a:spAutoFit/>
          </a:bodyPr>
          <a:lstStyle/>
          <a:p>
            <a:pPr algn="just" eaLnBrk="1" hangingPunct="1"/>
            <a:r>
              <a:rPr lang="zh-CN" altLang="en-US" b="1" dirty="0">
                <a:latin typeface="Times New Roman" panose="02020603050405020304" pitchFamily="18" charset="0"/>
                <a:ea typeface="微软雅黑" pitchFamily="34" charset="-122"/>
              </a:rPr>
              <a:t>这方法的基本思想是就近供应</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即从单位运价表中最小的运价开始确定供销关系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然后次小。一直到给出初始基可行解为止</a:t>
            </a:r>
          </a:p>
          <a:p>
            <a:pPr algn="just"/>
            <a:r>
              <a:rPr lang="zh-CN" altLang="en-US" b="1" dirty="0">
                <a:solidFill>
                  <a:srgbClr val="C00000"/>
                </a:solidFill>
                <a:latin typeface="Times New Roman" panose="02020603050405020304" pitchFamily="18" charset="0"/>
                <a:ea typeface="微软雅黑" pitchFamily="34" charset="-122"/>
              </a:rPr>
              <a:t>第一步</a:t>
            </a:r>
            <a:r>
              <a:rPr lang="zh-CN" altLang="en-US" b="1" dirty="0">
                <a:latin typeface="Times New Roman" panose="02020603050405020304" pitchFamily="18" charset="0"/>
                <a:ea typeface="微软雅黑" pitchFamily="34" charset="-122"/>
              </a:rPr>
              <a:t>：</a:t>
            </a:r>
            <a:r>
              <a:rPr lang="zh-CN" altLang="en-US" b="1" dirty="0">
                <a:solidFill>
                  <a:schemeClr val="folHlink"/>
                </a:solidFill>
                <a:latin typeface="Times New Roman" panose="02020603050405020304" pitchFamily="18" charset="0"/>
                <a:ea typeface="微软雅黑" pitchFamily="34" charset="-122"/>
              </a:rPr>
              <a:t>从表</a:t>
            </a:r>
            <a:r>
              <a:rPr lang="en-US" altLang="zh-CN" b="1" dirty="0">
                <a:solidFill>
                  <a:schemeClr val="folHlink"/>
                </a:solidFill>
                <a:latin typeface="Times New Roman" panose="02020603050405020304" pitchFamily="18" charset="0"/>
                <a:ea typeface="微软雅黑" pitchFamily="34" charset="-122"/>
              </a:rPr>
              <a:t>4-4</a:t>
            </a:r>
            <a:r>
              <a:rPr lang="zh-CN" altLang="en-US" b="1" dirty="0">
                <a:solidFill>
                  <a:schemeClr val="folHlink"/>
                </a:solidFill>
                <a:latin typeface="Times New Roman" panose="02020603050405020304" pitchFamily="18" charset="0"/>
                <a:ea typeface="微软雅黑" pitchFamily="34" charset="-122"/>
              </a:rPr>
              <a:t>中找出最小运价为</a:t>
            </a:r>
            <a:r>
              <a:rPr lang="en-US" altLang="zh-CN" b="1" dirty="0">
                <a:solidFill>
                  <a:schemeClr val="folHlink"/>
                </a:solidFill>
                <a:latin typeface="Times New Roman" panose="02020603050405020304" pitchFamily="18" charset="0"/>
                <a:ea typeface="微软雅黑" pitchFamily="34" charset="-122"/>
              </a:rPr>
              <a:t>1</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Times New Roman" panose="02020603050405020304" pitchFamily="18" charset="0"/>
                <a:ea typeface="微软雅黑" pitchFamily="34" charset="-122"/>
              </a:rPr>
              <a:t>这表示先将</a:t>
            </a:r>
            <a:r>
              <a:rPr lang="en-US" altLang="zh-CN" b="1" dirty="0">
                <a:solidFill>
                  <a:schemeClr val="folHlink"/>
                </a:solidFill>
                <a:latin typeface="Times New Roman" panose="02020603050405020304" pitchFamily="18" charset="0"/>
                <a:ea typeface="微软雅黑" pitchFamily="34" charset="-122"/>
              </a:rPr>
              <a:t>A</a:t>
            </a:r>
            <a:r>
              <a:rPr lang="en-US" altLang="zh-CN" b="1" baseline="-30000" dirty="0">
                <a:solidFill>
                  <a:schemeClr val="folHlink"/>
                </a:solidFill>
                <a:latin typeface="Times New Roman" panose="02020603050405020304" pitchFamily="18" charset="0"/>
                <a:ea typeface="微软雅黑" pitchFamily="34" charset="-122"/>
              </a:rPr>
              <a:t>2</a:t>
            </a:r>
            <a:r>
              <a:rPr lang="zh-CN" altLang="en-US" b="1" dirty="0">
                <a:solidFill>
                  <a:schemeClr val="folHlink"/>
                </a:solidFill>
                <a:latin typeface="Times New Roman" panose="02020603050405020304" pitchFamily="18" charset="0"/>
                <a:ea typeface="微软雅黑" pitchFamily="34" charset="-122"/>
              </a:rPr>
              <a:t>的产品供应给</a:t>
            </a:r>
            <a:r>
              <a:rPr lang="en-US" altLang="zh-CN" b="1" dirty="0">
                <a:solidFill>
                  <a:schemeClr val="folHlink"/>
                </a:solidFill>
                <a:latin typeface="Times New Roman" panose="02020603050405020304" pitchFamily="18" charset="0"/>
                <a:ea typeface="微软雅黑" pitchFamily="34" charset="-122"/>
              </a:rPr>
              <a:t>B</a:t>
            </a:r>
            <a:r>
              <a:rPr lang="en-US" altLang="zh-CN" b="1" baseline="-30000" dirty="0">
                <a:solidFill>
                  <a:schemeClr val="folHlink"/>
                </a:solidFill>
                <a:latin typeface="Times New Roman" panose="02020603050405020304" pitchFamily="18" charset="0"/>
                <a:ea typeface="微软雅黑" pitchFamily="34" charset="-122"/>
              </a:rPr>
              <a:t>1</a:t>
            </a:r>
            <a:r>
              <a:rPr lang="zh-CN" altLang="en-US" b="1" dirty="0">
                <a:solidFill>
                  <a:schemeClr val="folHlink"/>
                </a:solidFill>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因</a:t>
            </a:r>
            <a:r>
              <a:rPr lang="en-US" altLang="zh-CN" b="1" i="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除满足</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的全部需要外</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还可多余</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吨产品。</a:t>
            </a:r>
            <a:r>
              <a:rPr lang="zh-CN" altLang="en-US" b="1" dirty="0">
                <a:solidFill>
                  <a:srgbClr val="009900"/>
                </a:solidFill>
                <a:latin typeface="Times New Roman" panose="02020603050405020304" pitchFamily="18" charset="0"/>
                <a:ea typeface="微软雅黑" pitchFamily="34" charset="-122"/>
              </a:rPr>
              <a:t>在表</a:t>
            </a:r>
            <a:r>
              <a:rPr lang="en-US" altLang="zh-CN" b="1" dirty="0">
                <a:solidFill>
                  <a:srgbClr val="009900"/>
                </a:solidFill>
                <a:latin typeface="Times New Roman" panose="02020603050405020304" pitchFamily="18" charset="0"/>
                <a:ea typeface="微软雅黑" pitchFamily="34" charset="-122"/>
              </a:rPr>
              <a:t>4-5</a:t>
            </a:r>
            <a:r>
              <a:rPr lang="zh-CN" altLang="en-US" b="1" dirty="0">
                <a:solidFill>
                  <a:srgbClr val="009900"/>
                </a:solidFill>
                <a:latin typeface="Times New Roman" panose="02020603050405020304" pitchFamily="18" charset="0"/>
                <a:ea typeface="微软雅黑" pitchFamily="34" charset="-122"/>
              </a:rPr>
              <a:t>的</a:t>
            </a:r>
            <a:r>
              <a:rPr lang="en-US" altLang="zh-CN" b="1" dirty="0">
                <a:solidFill>
                  <a:srgbClr val="009900"/>
                </a:solidFill>
                <a:latin typeface="Times New Roman" panose="02020603050405020304" pitchFamily="18" charset="0"/>
                <a:ea typeface="微软雅黑" pitchFamily="34" charset="-122"/>
              </a:rPr>
              <a:t>(A</a:t>
            </a:r>
            <a:r>
              <a:rPr lang="en-US" altLang="zh-CN" b="1" baseline="-30000" dirty="0">
                <a:solidFill>
                  <a:srgbClr val="009900"/>
                </a:solidFill>
                <a:latin typeface="Times New Roman" panose="02020603050405020304" pitchFamily="18" charset="0"/>
                <a:ea typeface="微软雅黑" pitchFamily="34" charset="-122"/>
              </a:rPr>
              <a:t>2</a:t>
            </a:r>
            <a:r>
              <a:rPr lang="zh-CN" altLang="en-US" b="1" dirty="0">
                <a:solidFill>
                  <a:srgbClr val="009900"/>
                </a:solidFill>
                <a:latin typeface="仿宋" pitchFamily="49" charset="-122"/>
                <a:ea typeface="仿宋" pitchFamily="49" charset="-122"/>
              </a:rPr>
              <a:t>，</a:t>
            </a:r>
            <a:r>
              <a:rPr lang="en-US" altLang="zh-CN" b="1" dirty="0">
                <a:solidFill>
                  <a:srgbClr val="009900"/>
                </a:solidFill>
                <a:latin typeface="Times New Roman" panose="02020603050405020304" pitchFamily="18" charset="0"/>
                <a:ea typeface="微软雅黑" pitchFamily="34" charset="-122"/>
              </a:rPr>
              <a:t>B</a:t>
            </a:r>
            <a:r>
              <a:rPr lang="en-US" altLang="zh-CN" b="1" baseline="-30000" dirty="0">
                <a:solidFill>
                  <a:srgbClr val="009900"/>
                </a:solidFill>
                <a:latin typeface="Times New Roman" panose="02020603050405020304" pitchFamily="18" charset="0"/>
                <a:ea typeface="微软雅黑" pitchFamily="34" charset="-122"/>
              </a:rPr>
              <a:t>1</a:t>
            </a:r>
            <a:r>
              <a:rPr lang="en-US" altLang="zh-CN" b="1" dirty="0">
                <a:solidFill>
                  <a:srgbClr val="009900"/>
                </a:solidFill>
                <a:latin typeface="Times New Roman" panose="02020603050405020304" pitchFamily="18" charset="0"/>
                <a:ea typeface="微软雅黑" pitchFamily="34" charset="-122"/>
              </a:rPr>
              <a:t>)</a:t>
            </a:r>
            <a:r>
              <a:rPr lang="zh-CN" altLang="en-US" b="1" dirty="0">
                <a:solidFill>
                  <a:srgbClr val="009900"/>
                </a:solidFill>
                <a:latin typeface="Times New Roman" panose="02020603050405020304" pitchFamily="18" charset="0"/>
                <a:ea typeface="微软雅黑" pitchFamily="34" charset="-122"/>
              </a:rPr>
              <a:t>的交叉格处填上</a:t>
            </a:r>
            <a:r>
              <a:rPr lang="en-US" altLang="zh-CN" b="1" dirty="0">
                <a:solidFill>
                  <a:srgbClr val="009900"/>
                </a:solidFill>
                <a:latin typeface="Times New Roman" panose="02020603050405020304" pitchFamily="18" charset="0"/>
                <a:ea typeface="微软雅黑" pitchFamily="34" charset="-122"/>
              </a:rPr>
              <a:t>3</a:t>
            </a:r>
            <a:r>
              <a:rPr lang="zh-CN" altLang="en-US" b="1" dirty="0">
                <a:solidFill>
                  <a:srgbClr val="009900"/>
                </a:solidFill>
                <a:latin typeface="仿宋" pitchFamily="49" charset="-122"/>
                <a:ea typeface="仿宋" pitchFamily="49" charset="-122"/>
              </a:rPr>
              <a:t>，</a:t>
            </a:r>
            <a:r>
              <a:rPr lang="zh-CN" altLang="en-US" b="1" dirty="0">
                <a:solidFill>
                  <a:srgbClr val="009900"/>
                </a:solidFill>
                <a:latin typeface="Times New Roman" panose="02020603050405020304" pitchFamily="18" charset="0"/>
                <a:ea typeface="微软雅黑" pitchFamily="34" charset="-122"/>
              </a:rPr>
              <a:t>得表</a:t>
            </a:r>
            <a:r>
              <a:rPr lang="en-US" altLang="zh-CN" b="1" dirty="0">
                <a:solidFill>
                  <a:srgbClr val="009900"/>
                </a:solidFill>
                <a:latin typeface="Times New Roman" panose="02020603050405020304" pitchFamily="18" charset="0"/>
                <a:ea typeface="微软雅黑" pitchFamily="34" charset="-122"/>
              </a:rPr>
              <a:t>4-6</a:t>
            </a:r>
          </a:p>
          <a:p>
            <a:pPr algn="just"/>
            <a:r>
              <a:rPr lang="zh-CN" altLang="en-US" b="1" dirty="0">
                <a:latin typeface="Times New Roman" panose="02020603050405020304" pitchFamily="18" charset="0"/>
                <a:ea typeface="微软雅黑" pitchFamily="34" charset="-122"/>
              </a:rPr>
              <a:t>并将表</a:t>
            </a:r>
            <a:r>
              <a:rPr lang="en-US" altLang="zh-CN" b="1" dirty="0">
                <a:latin typeface="Times New Roman" panose="02020603050405020304" pitchFamily="18" charset="0"/>
                <a:ea typeface="微软雅黑" pitchFamily="34" charset="-122"/>
              </a:rPr>
              <a:t>4-3</a:t>
            </a:r>
            <a:r>
              <a:rPr lang="zh-CN" altLang="en-US" b="1" dirty="0">
                <a:latin typeface="Times New Roman" panose="02020603050405020304" pitchFamily="18" charset="0"/>
                <a:ea typeface="微软雅黑" pitchFamily="34" charset="-122"/>
              </a:rPr>
              <a:t>的</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列运价划去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得表</a:t>
            </a:r>
            <a:r>
              <a:rPr lang="en-US" altLang="zh-CN" b="1" dirty="0">
                <a:latin typeface="Times New Roman" panose="02020603050405020304" pitchFamily="18" charset="0"/>
                <a:ea typeface="微软雅黑" pitchFamily="34" charset="-122"/>
              </a:rPr>
              <a:t>4-7</a:t>
            </a:r>
          </a:p>
        </p:txBody>
      </p:sp>
      <p:sp>
        <p:nvSpPr>
          <p:cNvPr id="7173"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4.2.1 </a:t>
            </a:r>
            <a:r>
              <a:rPr lang="zh-CN" altLang="en-US" sz="2800" b="1" dirty="0">
                <a:solidFill>
                  <a:schemeClr val="hlink"/>
                </a:solidFill>
                <a:latin typeface="微软雅黑" pitchFamily="34" charset="-122"/>
                <a:ea typeface="微软雅黑" pitchFamily="34" charset="-122"/>
              </a:rPr>
              <a:t>确定初始基可行解</a:t>
            </a:r>
          </a:p>
        </p:txBody>
      </p:sp>
      <p:pic>
        <p:nvPicPr>
          <p:cNvPr id="330759" name="Picture 7"/>
          <p:cNvPicPr>
            <a:picLocks noChangeAspect="1"/>
          </p:cNvPicPr>
          <p:nvPr/>
        </p:nvPicPr>
        <p:blipFill>
          <a:blip r:embed="rId2"/>
          <a:stretch>
            <a:fillRect/>
          </a:stretch>
        </p:blipFill>
        <p:spPr>
          <a:xfrm>
            <a:off x="0" y="4438650"/>
            <a:ext cx="4392613" cy="1841500"/>
          </a:xfrm>
          <a:prstGeom prst="rect">
            <a:avLst/>
          </a:prstGeom>
          <a:noFill/>
          <a:ln w="9525">
            <a:noFill/>
          </a:ln>
        </p:spPr>
      </p:pic>
      <p:sp>
        <p:nvSpPr>
          <p:cNvPr id="5" name="矩形 4"/>
          <p:cNvSpPr/>
          <p:nvPr/>
        </p:nvSpPr>
        <p:spPr>
          <a:xfrm>
            <a:off x="2016125" y="6308725"/>
            <a:ext cx="987425" cy="461963"/>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4-3</a:t>
            </a:r>
            <a:endParaRPr lang="zh-CN" altLang="en-US" dirty="0">
              <a:latin typeface="微软雅黑" pitchFamily="34" charset="-122"/>
              <a:ea typeface="微软雅黑" pitchFamily="34" charset="-122"/>
            </a:endParaRPr>
          </a:p>
        </p:txBody>
      </p:sp>
      <p:pic>
        <p:nvPicPr>
          <p:cNvPr id="330761" name="Picture 9"/>
          <p:cNvPicPr>
            <a:picLocks noChangeAspect="1"/>
          </p:cNvPicPr>
          <p:nvPr/>
        </p:nvPicPr>
        <p:blipFill>
          <a:blip r:embed="rId3"/>
          <a:stretch>
            <a:fillRect/>
          </a:stretch>
        </p:blipFill>
        <p:spPr>
          <a:xfrm>
            <a:off x="4535488" y="4468813"/>
            <a:ext cx="4608512" cy="1912937"/>
          </a:xfrm>
          <a:prstGeom prst="rect">
            <a:avLst/>
          </a:prstGeom>
          <a:noFill/>
          <a:ln w="9525">
            <a:noFill/>
          </a:ln>
        </p:spPr>
      </p:pic>
      <p:sp>
        <p:nvSpPr>
          <p:cNvPr id="7" name="矩形 4"/>
          <p:cNvSpPr/>
          <p:nvPr/>
        </p:nvSpPr>
        <p:spPr>
          <a:xfrm>
            <a:off x="6443663" y="6381750"/>
            <a:ext cx="90281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330763" name="Picture 11"/>
          <p:cNvPicPr>
            <a:picLocks noChangeAspect="1"/>
          </p:cNvPicPr>
          <p:nvPr/>
        </p:nvPicPr>
        <p:blipFill>
          <a:blip r:embed="rId4"/>
          <a:stretch>
            <a:fillRect/>
          </a:stretch>
        </p:blipFill>
        <p:spPr>
          <a:xfrm>
            <a:off x="4500563" y="4437063"/>
            <a:ext cx="4643437" cy="1943100"/>
          </a:xfrm>
          <a:prstGeom prst="rect">
            <a:avLst/>
          </a:prstGeom>
          <a:noFill/>
          <a:ln w="9525">
            <a:noFill/>
          </a:ln>
        </p:spPr>
      </p:pic>
      <p:sp>
        <p:nvSpPr>
          <p:cNvPr id="8" name="矩形 4"/>
          <p:cNvSpPr/>
          <p:nvPr/>
        </p:nvSpPr>
        <p:spPr>
          <a:xfrm>
            <a:off x="6335185" y="6396335"/>
            <a:ext cx="90281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4-6</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330765" name="Picture 13"/>
          <p:cNvPicPr>
            <a:picLocks noChangeAspect="1"/>
          </p:cNvPicPr>
          <p:nvPr/>
        </p:nvPicPr>
        <p:blipFill>
          <a:blip r:embed="rId5"/>
          <a:stretch>
            <a:fillRect/>
          </a:stretch>
        </p:blipFill>
        <p:spPr>
          <a:xfrm>
            <a:off x="0" y="4437063"/>
            <a:ext cx="4427538" cy="2017712"/>
          </a:xfrm>
          <a:prstGeom prst="rect">
            <a:avLst/>
          </a:prstGeom>
          <a:noFill/>
          <a:ln w="9525">
            <a:noFill/>
          </a:ln>
        </p:spPr>
      </p:pic>
      <p:sp>
        <p:nvSpPr>
          <p:cNvPr id="9" name="矩形 4"/>
          <p:cNvSpPr/>
          <p:nvPr/>
        </p:nvSpPr>
        <p:spPr>
          <a:xfrm>
            <a:off x="1970088" y="6454775"/>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4-7</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6" name="灯片编号占位符 5">
            <a:extLst>
              <a:ext uri="{FF2B5EF4-FFF2-40B4-BE49-F238E27FC236}">
                <a16:creationId xmlns:a16="http://schemas.microsoft.com/office/drawing/2014/main" id="{73A4A72C-6E9B-4A0E-8EA1-6B9B258124E5}"/>
              </a:ext>
            </a:extLst>
          </p:cNvPr>
          <p:cNvSpPr>
            <a:spLocks noGrp="1"/>
          </p:cNvSpPr>
          <p:nvPr>
            <p:ph type="sldNum" sz="quarter" idx="12"/>
          </p:nvPr>
        </p:nvSpPr>
        <p:spPr/>
        <p:txBody>
          <a:bodyPr/>
          <a:lstStyle/>
          <a:p>
            <a:pPr>
              <a:defRPr/>
            </a:pPr>
            <a:fld id="{2AE1B59C-883C-4848-BC85-9A12DF2590B2}" type="slidenum">
              <a:rPr lang="en-US" altLang="zh-CN" smtClean="0"/>
              <a:t>16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dissolv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0759"/>
                                        </p:tgtEl>
                                        <p:attrNameLst>
                                          <p:attrName>style.visibility</p:attrName>
                                        </p:attrNameLst>
                                      </p:cBhvr>
                                      <p:to>
                                        <p:strVal val="visible"/>
                                      </p:to>
                                    </p:set>
                                    <p:animEffect transition="in" filter="blinds(horizontal)">
                                      <p:cBhvr>
                                        <p:cTn id="22" dur="500"/>
                                        <p:tgtEl>
                                          <p:spTgt spid="33075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linds(horizont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30761"/>
                                        </p:tgtEl>
                                        <p:attrNameLst>
                                          <p:attrName>style.visibility</p:attrName>
                                        </p:attrNameLst>
                                      </p:cBhvr>
                                      <p:to>
                                        <p:strVal val="visible"/>
                                      </p:to>
                                    </p:set>
                                    <p:animEffect transition="in" filter="blinds(horizontal)">
                                      <p:cBhvr>
                                        <p:cTn id="30" dur="500"/>
                                        <p:tgtEl>
                                          <p:spTgt spid="330761"/>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dissolve">
                                      <p:cBhvr>
                                        <p:cTn id="38" dur="500"/>
                                        <p:tgtEl>
                                          <p:spTgt spid="4">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30763"/>
                                        </p:tgtEl>
                                        <p:attrNameLst>
                                          <p:attrName>style.visibility</p:attrName>
                                        </p:attrNameLst>
                                      </p:cBhvr>
                                      <p:to>
                                        <p:strVal val="visible"/>
                                      </p:to>
                                    </p:set>
                                    <p:animEffect transition="in" filter="blinds(horizontal)">
                                      <p:cBhvr>
                                        <p:cTn id="43" dur="500"/>
                                        <p:tgtEl>
                                          <p:spTgt spid="33076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blinds(horizontal)">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Effect transition="in" filter="dissolve">
                                      <p:cBhvr>
                                        <p:cTn id="51" dur="500"/>
                                        <p:tgtEl>
                                          <p:spTgt spid="4">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blinds(horizontal)">
                                      <p:cBhvr>
                                        <p:cTn id="56" dur="500"/>
                                        <p:tgtEl>
                                          <p:spTgt spid="9"/>
                                        </p:tgtEl>
                                      </p:cBhvr>
                                    </p:animEffect>
                                  </p:childTnLst>
                                </p:cTn>
                              </p:par>
                              <p:par>
                                <p:cTn id="57" presetID="3" presetClass="entr" presetSubtype="10" fill="hold" nodeType="withEffect">
                                  <p:stCondLst>
                                    <p:cond delay="0"/>
                                  </p:stCondLst>
                                  <p:childTnLst>
                                    <p:set>
                                      <p:cBhvr>
                                        <p:cTn id="58" dur="1" fill="hold">
                                          <p:stCondLst>
                                            <p:cond delay="0"/>
                                          </p:stCondLst>
                                        </p:cTn>
                                        <p:tgtEl>
                                          <p:spTgt spid="330765"/>
                                        </p:tgtEl>
                                        <p:attrNameLst>
                                          <p:attrName>style.visibility</p:attrName>
                                        </p:attrNameLst>
                                      </p:cBhvr>
                                      <p:to>
                                        <p:strVal val="visible"/>
                                      </p:to>
                                    </p:set>
                                    <p:animEffect transition="in" filter="blinds(horizontal)">
                                      <p:cBhvr>
                                        <p:cTn id="59" dur="500"/>
                                        <p:tgtEl>
                                          <p:spTgt spid="330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3213100"/>
            <a:ext cx="9144000" cy="792163"/>
          </a:xfrm>
          <a:prstGeom prst="rect">
            <a:avLst/>
          </a:prstGeom>
          <a:solidFill>
            <a:srgbClr val="FFCCFF"/>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4-7</a:t>
            </a:r>
            <a:r>
              <a:rPr lang="zh-CN" altLang="en-US" b="1" dirty="0">
                <a:latin typeface="Times New Roman" panose="02020603050405020304" pitchFamily="18" charset="0"/>
                <a:ea typeface="微软雅黑" pitchFamily="34" charset="-122"/>
              </a:rPr>
              <a:t>未划去的元素中再找出最小运价</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确定</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多余的</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吨供应</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并给出表</a:t>
            </a:r>
            <a:r>
              <a:rPr lang="en-US" altLang="zh-CN" b="1" dirty="0">
                <a:latin typeface="Times New Roman" panose="02020603050405020304" pitchFamily="18" charset="0"/>
                <a:ea typeface="微软雅黑" pitchFamily="34" charset="-122"/>
              </a:rPr>
              <a:t>4-8</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表</a:t>
            </a:r>
            <a:r>
              <a:rPr lang="en-US" altLang="zh-CN" b="1" dirty="0">
                <a:latin typeface="Times New Roman" panose="02020603050405020304" pitchFamily="18" charset="0"/>
                <a:ea typeface="微软雅黑" pitchFamily="34" charset="-122"/>
              </a:rPr>
              <a:t>4-9</a:t>
            </a:r>
            <a:endParaRPr lang="zh-CN" altLang="en-US" b="1" dirty="0">
              <a:solidFill>
                <a:schemeClr val="tx2"/>
              </a:solidFill>
              <a:latin typeface="Times New Roman" panose="02020603050405020304" pitchFamily="18" charset="0"/>
              <a:ea typeface="微软雅黑" pitchFamily="34" charset="-122"/>
            </a:endParaRPr>
          </a:p>
        </p:txBody>
      </p:sp>
      <p:pic>
        <p:nvPicPr>
          <p:cNvPr id="8195" name="Picture 7"/>
          <p:cNvPicPr>
            <a:picLocks noChangeAspect="1"/>
          </p:cNvPicPr>
          <p:nvPr/>
        </p:nvPicPr>
        <p:blipFill>
          <a:blip r:embed="rId2"/>
          <a:stretch>
            <a:fillRect/>
          </a:stretch>
        </p:blipFill>
        <p:spPr>
          <a:xfrm>
            <a:off x="4500563" y="46038"/>
            <a:ext cx="4643437" cy="1943100"/>
          </a:xfrm>
          <a:prstGeom prst="rect">
            <a:avLst/>
          </a:prstGeom>
          <a:noFill/>
          <a:ln w="9525">
            <a:noFill/>
          </a:ln>
        </p:spPr>
      </p:pic>
      <p:sp>
        <p:nvSpPr>
          <p:cNvPr id="8196" name="矩形 4"/>
          <p:cNvSpPr/>
          <p:nvPr/>
        </p:nvSpPr>
        <p:spPr>
          <a:xfrm>
            <a:off x="6372225" y="1989138"/>
            <a:ext cx="90281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4-6</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8197" name="Picture 9"/>
          <p:cNvPicPr>
            <a:picLocks noChangeAspect="1"/>
          </p:cNvPicPr>
          <p:nvPr/>
        </p:nvPicPr>
        <p:blipFill>
          <a:blip r:embed="rId3"/>
          <a:stretch>
            <a:fillRect/>
          </a:stretch>
        </p:blipFill>
        <p:spPr>
          <a:xfrm>
            <a:off x="0" y="44450"/>
            <a:ext cx="4427538" cy="2017713"/>
          </a:xfrm>
          <a:prstGeom prst="rect">
            <a:avLst/>
          </a:prstGeom>
          <a:noFill/>
          <a:ln w="9525">
            <a:noFill/>
          </a:ln>
        </p:spPr>
      </p:pic>
      <p:sp>
        <p:nvSpPr>
          <p:cNvPr id="8198" name="矩形 4"/>
          <p:cNvSpPr/>
          <p:nvPr/>
        </p:nvSpPr>
        <p:spPr>
          <a:xfrm>
            <a:off x="1970088" y="2062163"/>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4-7</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331787" name="Picture 11"/>
          <p:cNvPicPr>
            <a:picLocks noChangeAspect="1"/>
          </p:cNvPicPr>
          <p:nvPr/>
        </p:nvPicPr>
        <p:blipFill>
          <a:blip r:embed="rId4"/>
          <a:stretch>
            <a:fillRect/>
          </a:stretch>
        </p:blipFill>
        <p:spPr>
          <a:xfrm>
            <a:off x="0" y="4340225"/>
            <a:ext cx="4537075" cy="1903413"/>
          </a:xfrm>
          <a:prstGeom prst="rect">
            <a:avLst/>
          </a:prstGeom>
          <a:noFill/>
          <a:ln w="9525">
            <a:noFill/>
          </a:ln>
        </p:spPr>
      </p:pic>
      <p:pic>
        <p:nvPicPr>
          <p:cNvPr id="331788" name="Picture 12"/>
          <p:cNvPicPr>
            <a:picLocks noChangeAspect="1"/>
          </p:cNvPicPr>
          <p:nvPr/>
        </p:nvPicPr>
        <p:blipFill>
          <a:blip r:embed="rId5"/>
          <a:stretch>
            <a:fillRect/>
          </a:stretch>
        </p:blipFill>
        <p:spPr>
          <a:xfrm>
            <a:off x="4643438" y="4340225"/>
            <a:ext cx="4500562" cy="1833563"/>
          </a:xfrm>
          <a:prstGeom prst="rect">
            <a:avLst/>
          </a:prstGeom>
          <a:noFill/>
          <a:ln w="9525">
            <a:noFill/>
          </a:ln>
        </p:spPr>
      </p:pic>
      <p:sp>
        <p:nvSpPr>
          <p:cNvPr id="4" name="矩形 4"/>
          <p:cNvSpPr/>
          <p:nvPr/>
        </p:nvSpPr>
        <p:spPr>
          <a:xfrm>
            <a:off x="1835150" y="6284913"/>
            <a:ext cx="90281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4-8</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6" name="矩形 4"/>
          <p:cNvSpPr/>
          <p:nvPr/>
        </p:nvSpPr>
        <p:spPr>
          <a:xfrm>
            <a:off x="6516688" y="6211888"/>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4-9</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8203" name="Text Box 18"/>
          <p:cNvSpPr txBox="1"/>
          <p:nvPr/>
        </p:nvSpPr>
        <p:spPr>
          <a:xfrm>
            <a:off x="0" y="2565400"/>
            <a:ext cx="9144000" cy="457200"/>
          </a:xfrm>
          <a:prstGeom prst="rect">
            <a:avLst/>
          </a:prstGeom>
          <a:solidFill>
            <a:srgbClr val="99FF99"/>
          </a:solidFill>
          <a:ln w="9525">
            <a:noFill/>
          </a:ln>
        </p:spPr>
        <p:txBody>
          <a:bodyPr>
            <a:spAutoFit/>
          </a:bodyPr>
          <a:lstStyle/>
          <a:p>
            <a:pPr eaLnBrk="1" hangingPunct="1">
              <a:spcBef>
                <a:spcPct val="50000"/>
              </a:spcBef>
            </a:pPr>
            <a:r>
              <a:rPr lang="zh-CN" altLang="en-US" b="1" dirty="0">
                <a:solidFill>
                  <a:schemeClr val="folHlink"/>
                </a:solidFill>
                <a:latin typeface="Times New Roman" panose="02020603050405020304" pitchFamily="18" charset="0"/>
                <a:ea typeface="微软雅黑" pitchFamily="34" charset="-122"/>
              </a:rPr>
              <a:t>为什么划去列</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Times New Roman" panose="02020603050405020304" pitchFamily="18" charset="0"/>
                <a:ea typeface="微软雅黑" pitchFamily="34" charset="-122"/>
              </a:rPr>
              <a:t>而不是划去行？</a:t>
            </a:r>
          </a:p>
        </p:txBody>
      </p:sp>
      <p:sp>
        <p:nvSpPr>
          <p:cNvPr id="331795" name="Line 19"/>
          <p:cNvSpPr/>
          <p:nvPr/>
        </p:nvSpPr>
        <p:spPr>
          <a:xfrm>
            <a:off x="6732588" y="4221163"/>
            <a:ext cx="0" cy="2016125"/>
          </a:xfrm>
          <a:prstGeom prst="line">
            <a:avLst/>
          </a:prstGeom>
          <a:ln w="9525" cap="flat" cmpd="sng">
            <a:solidFill>
              <a:schemeClr val="tx1"/>
            </a:solidFill>
            <a:prstDash val="solid"/>
            <a:headEnd type="none" w="med" len="med"/>
            <a:tailEnd type="none" w="med" len="med"/>
          </a:ln>
        </p:spPr>
      </p:sp>
      <p:sp>
        <p:nvSpPr>
          <p:cNvPr id="3" name="灯片编号占位符 2">
            <a:extLst>
              <a:ext uri="{FF2B5EF4-FFF2-40B4-BE49-F238E27FC236}">
                <a16:creationId xmlns:a16="http://schemas.microsoft.com/office/drawing/2014/main" id="{9E3403D3-188B-4094-A875-F032C08ECB03}"/>
              </a:ext>
            </a:extLst>
          </p:cNvPr>
          <p:cNvSpPr>
            <a:spLocks noGrp="1"/>
          </p:cNvSpPr>
          <p:nvPr>
            <p:ph type="sldNum" sz="quarter" idx="12"/>
          </p:nvPr>
        </p:nvSpPr>
        <p:spPr/>
        <p:txBody>
          <a:bodyPr/>
          <a:lstStyle/>
          <a:p>
            <a:pPr>
              <a:defRPr/>
            </a:pPr>
            <a:fld id="{2AE1B59C-883C-4848-BC85-9A12DF2590B2}" type="slidenum">
              <a:rPr lang="en-US" altLang="zh-CN" smtClean="0"/>
              <a:t>17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1795"/>
                                        </p:tgtEl>
                                        <p:attrNameLst>
                                          <p:attrName>style.visibility</p:attrName>
                                        </p:attrNameLst>
                                      </p:cBhvr>
                                      <p:to>
                                        <p:strVal val="visible"/>
                                      </p:to>
                                    </p:set>
                                    <p:animEffect transition="in" filter="blinds(horizontal)">
                                      <p:cBhvr>
                                        <p:cTn id="12" dur="500"/>
                                        <p:tgtEl>
                                          <p:spTgt spid="331795"/>
                                        </p:tgtEl>
                                      </p:cBhvr>
                                    </p:animEffect>
                                  </p:childTnLst>
                                </p:cTn>
                              </p:par>
                              <p:par>
                                <p:cTn id="13" presetID="3" presetClass="entr" presetSubtype="10" fill="hold" nodeType="withEffect">
                                  <p:stCondLst>
                                    <p:cond delay="0"/>
                                  </p:stCondLst>
                                  <p:childTnLst>
                                    <p:set>
                                      <p:cBhvr>
                                        <p:cTn id="14" dur="1" fill="hold">
                                          <p:stCondLst>
                                            <p:cond delay="0"/>
                                          </p:stCondLst>
                                        </p:cTn>
                                        <p:tgtEl>
                                          <p:spTgt spid="331788"/>
                                        </p:tgtEl>
                                        <p:attrNameLst>
                                          <p:attrName>style.visibility</p:attrName>
                                        </p:attrNameLst>
                                      </p:cBhvr>
                                      <p:to>
                                        <p:strVal val="visible"/>
                                      </p:to>
                                    </p:set>
                                    <p:animEffect transition="in" filter="blinds(horizontal)">
                                      <p:cBhvr>
                                        <p:cTn id="15" dur="500"/>
                                        <p:tgtEl>
                                          <p:spTgt spid="33178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331787"/>
                                        </p:tgtEl>
                                        <p:attrNameLst>
                                          <p:attrName>style.visibility</p:attrName>
                                        </p:attrNameLst>
                                      </p:cBhvr>
                                      <p:to>
                                        <p:strVal val="visible"/>
                                      </p:to>
                                    </p:set>
                                    <p:animEffect transition="in" filter="blinds(horizontal)">
                                      <p:cBhvr>
                                        <p:cTn id="21" dur="500"/>
                                        <p:tgtEl>
                                          <p:spTgt spid="33178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2636838"/>
            <a:ext cx="9144000" cy="1196975"/>
          </a:xfrm>
          <a:prstGeom prst="rect">
            <a:avLst/>
          </a:prstGeom>
          <a:no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第三步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4-9</a:t>
            </a:r>
            <a:r>
              <a:rPr lang="zh-CN" altLang="en-US" b="1" dirty="0">
                <a:latin typeface="Times New Roman" panose="02020603050405020304" pitchFamily="18" charset="0"/>
                <a:ea typeface="微软雅黑" pitchFamily="34" charset="-122"/>
              </a:rPr>
              <a:t>未划去的元素中再找出最小运价</a:t>
            </a:r>
            <a:r>
              <a:rPr lang="en-US" altLang="zh-CN" b="1"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这样一步步地进行下去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直到单位运价表上的所有元素划去为止</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最后在产销平衡表上得到一个调运方案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4-10</a:t>
            </a:r>
          </a:p>
          <a:p>
            <a:r>
              <a:rPr lang="zh-CN" altLang="en-US" sz="2800" dirty="0">
                <a:latin typeface="Times New Roman" panose="02020603050405020304" pitchFamily="18" charset="0"/>
                <a:ea typeface="华文楷体" panose="02010600040101010101" pitchFamily="2" charset="-122"/>
              </a:rPr>
              <a:t> </a:t>
            </a:r>
          </a:p>
        </p:txBody>
      </p:sp>
      <p:pic>
        <p:nvPicPr>
          <p:cNvPr id="380931" name="Picture 3"/>
          <p:cNvPicPr>
            <a:picLocks noChangeAspect="1"/>
          </p:cNvPicPr>
          <p:nvPr/>
        </p:nvPicPr>
        <p:blipFill>
          <a:blip r:embed="rId2"/>
          <a:stretch>
            <a:fillRect/>
          </a:stretch>
        </p:blipFill>
        <p:spPr>
          <a:xfrm>
            <a:off x="1763713" y="4005263"/>
            <a:ext cx="5327650" cy="2235200"/>
          </a:xfrm>
          <a:prstGeom prst="rect">
            <a:avLst/>
          </a:prstGeom>
          <a:noFill/>
          <a:ln w="9525">
            <a:noFill/>
          </a:ln>
        </p:spPr>
      </p:pic>
      <p:pic>
        <p:nvPicPr>
          <p:cNvPr id="9220" name="Picture 4"/>
          <p:cNvPicPr>
            <a:picLocks noChangeAspect="1"/>
          </p:cNvPicPr>
          <p:nvPr/>
        </p:nvPicPr>
        <p:blipFill>
          <a:blip r:embed="rId3"/>
          <a:stretch>
            <a:fillRect/>
          </a:stretch>
        </p:blipFill>
        <p:spPr>
          <a:xfrm>
            <a:off x="0" y="44450"/>
            <a:ext cx="4537075" cy="1903413"/>
          </a:xfrm>
          <a:prstGeom prst="rect">
            <a:avLst/>
          </a:prstGeom>
          <a:noFill/>
          <a:ln w="9525">
            <a:noFill/>
          </a:ln>
        </p:spPr>
      </p:pic>
      <p:pic>
        <p:nvPicPr>
          <p:cNvPr id="9221" name="Picture 5"/>
          <p:cNvPicPr>
            <a:picLocks noChangeAspect="1"/>
          </p:cNvPicPr>
          <p:nvPr/>
        </p:nvPicPr>
        <p:blipFill>
          <a:blip r:embed="rId4"/>
          <a:stretch>
            <a:fillRect/>
          </a:stretch>
        </p:blipFill>
        <p:spPr>
          <a:xfrm>
            <a:off x="4643438" y="44450"/>
            <a:ext cx="4500562" cy="1833563"/>
          </a:xfrm>
          <a:prstGeom prst="rect">
            <a:avLst/>
          </a:prstGeom>
          <a:noFill/>
          <a:ln w="9525">
            <a:noFill/>
          </a:ln>
        </p:spPr>
      </p:pic>
      <p:sp>
        <p:nvSpPr>
          <p:cNvPr id="9222" name="矩形 4"/>
          <p:cNvSpPr/>
          <p:nvPr/>
        </p:nvSpPr>
        <p:spPr>
          <a:xfrm>
            <a:off x="1835150" y="1989138"/>
            <a:ext cx="90281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4-8</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9223" name="矩形 4"/>
          <p:cNvSpPr/>
          <p:nvPr/>
        </p:nvSpPr>
        <p:spPr>
          <a:xfrm>
            <a:off x="6516688" y="1916113"/>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4-9</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4" name="矩形 4"/>
          <p:cNvSpPr/>
          <p:nvPr/>
        </p:nvSpPr>
        <p:spPr>
          <a:xfrm>
            <a:off x="4067175" y="6237288"/>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4-10</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9225" name="Line 9"/>
          <p:cNvSpPr/>
          <p:nvPr/>
        </p:nvSpPr>
        <p:spPr>
          <a:xfrm>
            <a:off x="6732588" y="0"/>
            <a:ext cx="0" cy="1844675"/>
          </a:xfrm>
          <a:prstGeom prst="line">
            <a:avLst/>
          </a:prstGeom>
          <a:ln w="57150" cap="flat" cmpd="sng">
            <a:solidFill>
              <a:schemeClr val="hlink"/>
            </a:solidFill>
            <a:prstDash val="solid"/>
            <a:headEnd type="none" w="med" len="med"/>
            <a:tailEnd type="none" w="med" len="med"/>
          </a:ln>
        </p:spPr>
      </p:sp>
      <p:sp>
        <p:nvSpPr>
          <p:cNvPr id="380938" name="Oval 10"/>
          <p:cNvSpPr/>
          <p:nvPr/>
        </p:nvSpPr>
        <p:spPr>
          <a:xfrm>
            <a:off x="7956550" y="836613"/>
            <a:ext cx="360363"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39" name="Rectangle 11"/>
          <p:cNvSpPr/>
          <p:nvPr/>
        </p:nvSpPr>
        <p:spPr>
          <a:xfrm>
            <a:off x="4356100" y="54451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0" name="Rectangle 12"/>
          <p:cNvSpPr/>
          <p:nvPr/>
        </p:nvSpPr>
        <p:spPr>
          <a:xfrm>
            <a:off x="5724525" y="54451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1" name="Rectangle 13"/>
          <p:cNvSpPr/>
          <p:nvPr/>
        </p:nvSpPr>
        <p:spPr>
          <a:xfrm>
            <a:off x="5724525" y="47974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2" name="Line 14"/>
          <p:cNvSpPr/>
          <p:nvPr/>
        </p:nvSpPr>
        <p:spPr>
          <a:xfrm>
            <a:off x="8101013" y="0"/>
            <a:ext cx="0" cy="1844675"/>
          </a:xfrm>
          <a:prstGeom prst="line">
            <a:avLst/>
          </a:prstGeom>
          <a:ln w="57150" cap="flat" cmpd="sng">
            <a:solidFill>
              <a:schemeClr val="hlink"/>
            </a:solidFill>
            <a:prstDash val="solid"/>
            <a:headEnd type="none" w="med" len="med"/>
            <a:tailEnd type="none" w="med" len="med"/>
          </a:ln>
        </p:spPr>
      </p:sp>
      <p:sp>
        <p:nvSpPr>
          <p:cNvPr id="380943" name="Oval 15"/>
          <p:cNvSpPr/>
          <p:nvPr/>
        </p:nvSpPr>
        <p:spPr>
          <a:xfrm>
            <a:off x="7235825" y="155575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4" name="Rectangle 16"/>
          <p:cNvSpPr/>
          <p:nvPr/>
        </p:nvSpPr>
        <p:spPr>
          <a:xfrm>
            <a:off x="5076825" y="4797425"/>
            <a:ext cx="431800" cy="288925"/>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5" name="Line 17"/>
          <p:cNvSpPr/>
          <p:nvPr/>
        </p:nvSpPr>
        <p:spPr>
          <a:xfrm>
            <a:off x="7380288" y="0"/>
            <a:ext cx="0" cy="1844675"/>
          </a:xfrm>
          <a:prstGeom prst="line">
            <a:avLst/>
          </a:prstGeom>
          <a:ln w="57150" cap="flat" cmpd="sng">
            <a:solidFill>
              <a:schemeClr val="hlink"/>
            </a:solidFill>
            <a:prstDash val="solid"/>
            <a:headEnd type="none" w="med" len="med"/>
            <a:tailEnd type="none" w="med" len="med"/>
          </a:ln>
        </p:spPr>
      </p:sp>
      <p:sp>
        <p:nvSpPr>
          <p:cNvPr id="380946" name="Oval 18"/>
          <p:cNvSpPr/>
          <p:nvPr/>
        </p:nvSpPr>
        <p:spPr>
          <a:xfrm>
            <a:off x="8604250" y="155575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80947" name="Line 19"/>
          <p:cNvSpPr/>
          <p:nvPr/>
        </p:nvSpPr>
        <p:spPr>
          <a:xfrm>
            <a:off x="5292725" y="1628775"/>
            <a:ext cx="3851275" cy="0"/>
          </a:xfrm>
          <a:prstGeom prst="line">
            <a:avLst/>
          </a:prstGeom>
          <a:ln w="38100" cap="flat" cmpd="sng">
            <a:solidFill>
              <a:schemeClr val="hlink"/>
            </a:solidFill>
            <a:prstDash val="solid"/>
            <a:headEnd type="none" w="med" len="med"/>
            <a:tailEnd type="none" w="med" len="med"/>
          </a:ln>
        </p:spPr>
      </p:sp>
      <p:sp>
        <p:nvSpPr>
          <p:cNvPr id="380948" name="Oval 20"/>
          <p:cNvSpPr/>
          <p:nvPr/>
        </p:nvSpPr>
        <p:spPr>
          <a:xfrm>
            <a:off x="8604250" y="8366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 name="灯片编号占位符 2">
            <a:extLst>
              <a:ext uri="{FF2B5EF4-FFF2-40B4-BE49-F238E27FC236}">
                <a16:creationId xmlns:a16="http://schemas.microsoft.com/office/drawing/2014/main" id="{6CF41B20-A526-484D-84C7-41F0B796C05B}"/>
              </a:ext>
            </a:extLst>
          </p:cNvPr>
          <p:cNvSpPr>
            <a:spLocks noGrp="1"/>
          </p:cNvSpPr>
          <p:nvPr>
            <p:ph type="sldNum" sz="quarter" idx="12"/>
          </p:nvPr>
        </p:nvSpPr>
        <p:spPr/>
        <p:txBody>
          <a:bodyPr/>
          <a:lstStyle/>
          <a:p>
            <a:pPr>
              <a:defRPr/>
            </a:pPr>
            <a:fld id="{2AE1B59C-883C-4848-BC85-9A12DF2590B2}" type="slidenum">
              <a:rPr lang="en-US" altLang="zh-CN" smtClean="0"/>
              <a:t>18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0938"/>
                                        </p:tgtEl>
                                        <p:attrNameLst>
                                          <p:attrName>style.visibility</p:attrName>
                                        </p:attrNameLst>
                                      </p:cBhvr>
                                      <p:to>
                                        <p:strVal val="visible"/>
                                      </p:to>
                                    </p:set>
                                    <p:animEffect transition="in" filter="blinds(horizontal)">
                                      <p:cBhvr>
                                        <p:cTn id="12" dur="500"/>
                                        <p:tgtEl>
                                          <p:spTgt spid="3809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0931"/>
                                        </p:tgtEl>
                                        <p:attrNameLst>
                                          <p:attrName>style.visibility</p:attrName>
                                        </p:attrNameLst>
                                      </p:cBhvr>
                                      <p:to>
                                        <p:strVal val="visible"/>
                                      </p:to>
                                    </p:set>
                                    <p:animEffect transition="in" filter="blinds(horizontal)">
                                      <p:cBhvr>
                                        <p:cTn id="17" dur="500"/>
                                        <p:tgtEl>
                                          <p:spTgt spid="38093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380944"/>
                                        </p:tgtEl>
                                      </p:cBhvr>
                                    </p:animEffect>
                                    <p:set>
                                      <p:cBhvr>
                                        <p:cTn id="22" dur="1" fill="hold">
                                          <p:stCondLst>
                                            <p:cond delay="499"/>
                                          </p:stCondLst>
                                        </p:cTn>
                                        <p:tgtEl>
                                          <p:spTgt spid="38094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0942"/>
                                        </p:tgtEl>
                                        <p:attrNameLst>
                                          <p:attrName>style.visibility</p:attrName>
                                        </p:attrNameLst>
                                      </p:cBhvr>
                                      <p:to>
                                        <p:strVal val="visible"/>
                                      </p:to>
                                    </p:set>
                                    <p:animEffect transition="in" filter="blinds(horizontal)">
                                      <p:cBhvr>
                                        <p:cTn id="27" dur="500"/>
                                        <p:tgtEl>
                                          <p:spTgt spid="38094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0943"/>
                                        </p:tgtEl>
                                        <p:attrNameLst>
                                          <p:attrName>style.visibility</p:attrName>
                                        </p:attrNameLst>
                                      </p:cBhvr>
                                      <p:to>
                                        <p:strVal val="visible"/>
                                      </p:to>
                                    </p:set>
                                    <p:animEffect transition="in" filter="blinds(horizontal)">
                                      <p:cBhvr>
                                        <p:cTn id="32" dur="500"/>
                                        <p:tgtEl>
                                          <p:spTgt spid="38094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0" nodeType="clickEffect">
                                  <p:stCondLst>
                                    <p:cond delay="0"/>
                                  </p:stCondLst>
                                  <p:childTnLst>
                                    <p:animEffect transition="out" filter="blinds(horizontal)">
                                      <p:cBhvr>
                                        <p:cTn id="36" dur="500"/>
                                        <p:tgtEl>
                                          <p:spTgt spid="380939"/>
                                        </p:tgtEl>
                                      </p:cBhvr>
                                    </p:animEffect>
                                    <p:set>
                                      <p:cBhvr>
                                        <p:cTn id="37" dur="1" fill="hold">
                                          <p:stCondLst>
                                            <p:cond delay="499"/>
                                          </p:stCondLst>
                                        </p:cTn>
                                        <p:tgtEl>
                                          <p:spTgt spid="38093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0945"/>
                                        </p:tgtEl>
                                        <p:attrNameLst>
                                          <p:attrName>style.visibility</p:attrName>
                                        </p:attrNameLst>
                                      </p:cBhvr>
                                      <p:to>
                                        <p:strVal val="visible"/>
                                      </p:to>
                                    </p:set>
                                    <p:animEffect transition="in" filter="blinds(horizontal)">
                                      <p:cBhvr>
                                        <p:cTn id="42" dur="500"/>
                                        <p:tgtEl>
                                          <p:spTgt spid="3809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80946"/>
                                        </p:tgtEl>
                                        <p:attrNameLst>
                                          <p:attrName>style.visibility</p:attrName>
                                        </p:attrNameLst>
                                      </p:cBhvr>
                                      <p:to>
                                        <p:strVal val="visible"/>
                                      </p:to>
                                    </p:set>
                                    <p:animEffect transition="in" filter="blinds(horizontal)">
                                      <p:cBhvr>
                                        <p:cTn id="47" dur="500"/>
                                        <p:tgtEl>
                                          <p:spTgt spid="38094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0" nodeType="clickEffect">
                                  <p:stCondLst>
                                    <p:cond delay="0"/>
                                  </p:stCondLst>
                                  <p:childTnLst>
                                    <p:animEffect transition="out" filter="blinds(horizontal)">
                                      <p:cBhvr>
                                        <p:cTn id="51" dur="500"/>
                                        <p:tgtEl>
                                          <p:spTgt spid="380940"/>
                                        </p:tgtEl>
                                      </p:cBhvr>
                                    </p:animEffect>
                                    <p:set>
                                      <p:cBhvr>
                                        <p:cTn id="52" dur="1" fill="hold">
                                          <p:stCondLst>
                                            <p:cond delay="499"/>
                                          </p:stCondLst>
                                        </p:cTn>
                                        <p:tgtEl>
                                          <p:spTgt spid="38094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80947"/>
                                        </p:tgtEl>
                                        <p:attrNameLst>
                                          <p:attrName>style.visibility</p:attrName>
                                        </p:attrNameLst>
                                      </p:cBhvr>
                                      <p:to>
                                        <p:strVal val="visible"/>
                                      </p:to>
                                    </p:set>
                                    <p:animEffect transition="in" filter="blinds(horizontal)">
                                      <p:cBhvr>
                                        <p:cTn id="57" dur="500"/>
                                        <p:tgtEl>
                                          <p:spTgt spid="38094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80948"/>
                                        </p:tgtEl>
                                        <p:attrNameLst>
                                          <p:attrName>style.visibility</p:attrName>
                                        </p:attrNameLst>
                                      </p:cBhvr>
                                      <p:to>
                                        <p:strVal val="visible"/>
                                      </p:to>
                                    </p:set>
                                    <p:animEffect transition="in" filter="blinds(horizontal)">
                                      <p:cBhvr>
                                        <p:cTn id="62" dur="500"/>
                                        <p:tgtEl>
                                          <p:spTgt spid="38094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0" nodeType="clickEffect">
                                  <p:stCondLst>
                                    <p:cond delay="0"/>
                                  </p:stCondLst>
                                  <p:childTnLst>
                                    <p:animEffect transition="out" filter="blinds(horizontal)">
                                      <p:cBhvr>
                                        <p:cTn id="66" dur="500"/>
                                        <p:tgtEl>
                                          <p:spTgt spid="380941"/>
                                        </p:tgtEl>
                                      </p:cBhvr>
                                    </p:animEffect>
                                    <p:set>
                                      <p:cBhvr>
                                        <p:cTn id="67" dur="1" fill="hold">
                                          <p:stCondLst>
                                            <p:cond delay="499"/>
                                          </p:stCondLst>
                                        </p:cTn>
                                        <p:tgtEl>
                                          <p:spTgt spid="38094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
                                            <p:txEl>
                                              <p:pRg st="1" end="1"/>
                                            </p:txEl>
                                          </p:spTgt>
                                        </p:tgtEl>
                                        <p:attrNameLst>
                                          <p:attrName>style.visibility</p:attrName>
                                        </p:attrNameLst>
                                      </p:cBhvr>
                                      <p:to>
                                        <p:strVal val="visible"/>
                                      </p:to>
                                    </p:set>
                                    <p:animEffect transition="in" filter="blinds(horizontal)">
                                      <p:cBhvr>
                                        <p:cTn id="72" dur="500"/>
                                        <p:tgtEl>
                                          <p:spTgt spid="2">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blinds(horizontal)">
                                      <p:cBhvr>
                                        <p:cTn id="7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80938" grpId="0" animBg="1"/>
      <p:bldP spid="380939" grpId="0" animBg="1"/>
      <p:bldP spid="380940" grpId="0" animBg="1"/>
      <p:bldP spid="380941" grpId="0" animBg="1"/>
      <p:bldP spid="380943" grpId="0" animBg="1"/>
      <p:bldP spid="380944" grpId="0" animBg="1"/>
      <p:bldP spid="380946" grpId="0" animBg="1"/>
      <p:bldP spid="3809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4"/>
          <p:cNvSpPr/>
          <p:nvPr/>
        </p:nvSpPr>
        <p:spPr>
          <a:xfrm>
            <a:off x="6516688" y="1819275"/>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4-9</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10243" name="矩形 4"/>
          <p:cNvSpPr/>
          <p:nvPr/>
        </p:nvSpPr>
        <p:spPr>
          <a:xfrm>
            <a:off x="4356100" y="5876925"/>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4-10</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10244" name="矩形 4"/>
          <p:cNvSpPr/>
          <p:nvPr/>
        </p:nvSpPr>
        <p:spPr>
          <a:xfrm>
            <a:off x="1835150" y="1916113"/>
            <a:ext cx="902811"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4-8</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2" name="Rectangle 2"/>
          <p:cNvSpPr txBox="1"/>
          <p:nvPr/>
        </p:nvSpPr>
        <p:spPr>
          <a:xfrm>
            <a:off x="0" y="2250699"/>
            <a:ext cx="9144000" cy="1800225"/>
          </a:xfrm>
          <a:prstGeom prst="rect">
            <a:avLst/>
          </a:prstGeom>
          <a:no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第三步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4-9</a:t>
            </a:r>
            <a:r>
              <a:rPr lang="zh-CN" altLang="en-US" b="1" dirty="0">
                <a:latin typeface="Times New Roman" panose="02020603050405020304" pitchFamily="18" charset="0"/>
                <a:ea typeface="微软雅黑" pitchFamily="34" charset="-122"/>
              </a:rPr>
              <a:t>未划去的元素中再找出最小运价</a:t>
            </a:r>
            <a:r>
              <a:rPr lang="en-US" altLang="zh-CN" b="1"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这样一步步地进行下去</a:t>
            </a:r>
            <a:r>
              <a:rPr lang="zh-CN" altLang="en-US" b="1" dirty="0">
                <a:latin typeface="宋体" panose="02010600030101010101" pitchFamily="2" charset="-122"/>
              </a:rPr>
              <a:t>，</a:t>
            </a:r>
            <a:r>
              <a:rPr lang="zh-CN" altLang="en-US" b="1" dirty="0">
                <a:latin typeface="Times New Roman" panose="02020603050405020304" pitchFamily="18" charset="0"/>
                <a:ea typeface="微软雅黑" pitchFamily="34" charset="-122"/>
              </a:rPr>
              <a:t>直到单位运价表上的所有元素划去为止</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最后在产销平衡表上得到一个调运方案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4-10</a:t>
            </a:r>
          </a:p>
          <a:p>
            <a:r>
              <a:rPr lang="zh-CN" altLang="en-US" b="1" dirty="0">
                <a:latin typeface="Times New Roman" panose="02020603050405020304" pitchFamily="18" charset="0"/>
                <a:ea typeface="微软雅黑" pitchFamily="34" charset="-122"/>
              </a:rPr>
              <a:t>这方案的总运费为</a:t>
            </a:r>
            <a:r>
              <a:rPr lang="en-US" altLang="zh-CN" b="1" dirty="0">
                <a:latin typeface="Times New Roman" panose="02020603050405020304" pitchFamily="18" charset="0"/>
                <a:ea typeface="微软雅黑" pitchFamily="34" charset="-122"/>
              </a:rPr>
              <a:t>86</a:t>
            </a:r>
            <a:r>
              <a:rPr lang="zh-CN" altLang="en-US" b="1" dirty="0">
                <a:latin typeface="Times New Roman" panose="02020603050405020304" pitchFamily="18" charset="0"/>
                <a:ea typeface="微软雅黑" pitchFamily="34" charset="-122"/>
              </a:rPr>
              <a:t>元</a:t>
            </a:r>
            <a:endParaRPr lang="zh-CN" altLang="en-US" sz="2800" dirty="0">
              <a:latin typeface="Times New Roman" panose="02020603050405020304" pitchFamily="18" charset="0"/>
              <a:ea typeface="华文楷体" panose="02010600040101010101" pitchFamily="2" charset="-122"/>
            </a:endParaRPr>
          </a:p>
        </p:txBody>
      </p:sp>
      <p:pic>
        <p:nvPicPr>
          <p:cNvPr id="10246" name="Picture 4"/>
          <p:cNvPicPr>
            <a:picLocks noChangeAspect="1"/>
          </p:cNvPicPr>
          <p:nvPr/>
        </p:nvPicPr>
        <p:blipFill>
          <a:blip r:embed="rId2"/>
          <a:stretch>
            <a:fillRect/>
          </a:stretch>
        </p:blipFill>
        <p:spPr>
          <a:xfrm>
            <a:off x="2051050" y="3716338"/>
            <a:ext cx="5327650" cy="2235200"/>
          </a:xfrm>
          <a:prstGeom prst="rect">
            <a:avLst/>
          </a:prstGeom>
          <a:noFill/>
          <a:ln w="9525">
            <a:noFill/>
          </a:ln>
        </p:spPr>
      </p:pic>
      <p:pic>
        <p:nvPicPr>
          <p:cNvPr id="10247" name="Picture 5"/>
          <p:cNvPicPr>
            <a:picLocks noChangeAspect="1"/>
          </p:cNvPicPr>
          <p:nvPr/>
        </p:nvPicPr>
        <p:blipFill>
          <a:blip r:embed="rId3"/>
          <a:stretch>
            <a:fillRect/>
          </a:stretch>
        </p:blipFill>
        <p:spPr>
          <a:xfrm>
            <a:off x="0" y="44450"/>
            <a:ext cx="4537075" cy="1903413"/>
          </a:xfrm>
          <a:prstGeom prst="rect">
            <a:avLst/>
          </a:prstGeom>
          <a:noFill/>
          <a:ln w="9525">
            <a:noFill/>
          </a:ln>
        </p:spPr>
      </p:pic>
      <p:pic>
        <p:nvPicPr>
          <p:cNvPr id="10248" name="Picture 6"/>
          <p:cNvPicPr>
            <a:picLocks noChangeAspect="1"/>
          </p:cNvPicPr>
          <p:nvPr/>
        </p:nvPicPr>
        <p:blipFill>
          <a:blip r:embed="rId4"/>
          <a:stretch>
            <a:fillRect/>
          </a:stretch>
        </p:blipFill>
        <p:spPr>
          <a:xfrm>
            <a:off x="4643438" y="44450"/>
            <a:ext cx="4500562" cy="1833563"/>
          </a:xfrm>
          <a:prstGeom prst="rect">
            <a:avLst/>
          </a:prstGeom>
          <a:noFill/>
          <a:ln w="9525">
            <a:noFill/>
          </a:ln>
        </p:spPr>
      </p:pic>
      <p:sp>
        <p:nvSpPr>
          <p:cNvPr id="19465" name="Text Box 10"/>
          <p:cNvSpPr txBox="1"/>
          <p:nvPr/>
        </p:nvSpPr>
        <p:spPr>
          <a:xfrm>
            <a:off x="0" y="6284913"/>
            <a:ext cx="9144000" cy="523875"/>
          </a:xfrm>
          <a:prstGeom prst="rect">
            <a:avLst/>
          </a:prstGeom>
          <a:solidFill>
            <a:srgbClr val="FFFF99"/>
          </a:solidFill>
          <a:ln w="9525">
            <a:noFill/>
          </a:ln>
        </p:spPr>
        <p:txBody>
          <a:bodyPr>
            <a:spAutoFit/>
          </a:bodyPr>
          <a:lstStyle/>
          <a:p>
            <a:pPr algn="ctr" eaLnBrk="1" hangingPunct="1"/>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4</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2</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4</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6</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3=86</a:t>
            </a:r>
          </a:p>
        </p:txBody>
      </p:sp>
      <p:sp>
        <p:nvSpPr>
          <p:cNvPr id="10" name="Oval 20"/>
          <p:cNvSpPr/>
          <p:nvPr/>
        </p:nvSpPr>
        <p:spPr>
          <a:xfrm>
            <a:off x="7885113" y="8366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1" name="Oval 20"/>
          <p:cNvSpPr/>
          <p:nvPr/>
        </p:nvSpPr>
        <p:spPr>
          <a:xfrm>
            <a:off x="5364163" y="450850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2" name="Oval 20"/>
          <p:cNvSpPr/>
          <p:nvPr/>
        </p:nvSpPr>
        <p:spPr>
          <a:xfrm>
            <a:off x="8604250" y="8366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3" name="Oval 20"/>
          <p:cNvSpPr/>
          <p:nvPr/>
        </p:nvSpPr>
        <p:spPr>
          <a:xfrm>
            <a:off x="6084888" y="450850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4" name="Oval 20"/>
          <p:cNvSpPr/>
          <p:nvPr/>
        </p:nvSpPr>
        <p:spPr>
          <a:xfrm>
            <a:off x="6516688" y="112395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5" name="Oval 20"/>
          <p:cNvSpPr/>
          <p:nvPr/>
        </p:nvSpPr>
        <p:spPr>
          <a:xfrm>
            <a:off x="3995738" y="486886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6" name="Oval 20"/>
          <p:cNvSpPr/>
          <p:nvPr/>
        </p:nvSpPr>
        <p:spPr>
          <a:xfrm>
            <a:off x="7885113" y="1125538"/>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7" name="Oval 20"/>
          <p:cNvSpPr/>
          <p:nvPr/>
        </p:nvSpPr>
        <p:spPr>
          <a:xfrm>
            <a:off x="5364163" y="486886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8" name="Oval 20"/>
          <p:cNvSpPr/>
          <p:nvPr/>
        </p:nvSpPr>
        <p:spPr>
          <a:xfrm>
            <a:off x="7164388" y="14843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9" name="Oval 20"/>
          <p:cNvSpPr/>
          <p:nvPr/>
        </p:nvSpPr>
        <p:spPr>
          <a:xfrm>
            <a:off x="4643438" y="5156200"/>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0" name="Oval 20"/>
          <p:cNvSpPr/>
          <p:nvPr/>
        </p:nvSpPr>
        <p:spPr>
          <a:xfrm>
            <a:off x="8532813" y="1484313"/>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1" name="Oval 20"/>
          <p:cNvSpPr/>
          <p:nvPr/>
        </p:nvSpPr>
        <p:spPr>
          <a:xfrm>
            <a:off x="6011863" y="5227638"/>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 name="灯片编号占位符 2">
            <a:extLst>
              <a:ext uri="{FF2B5EF4-FFF2-40B4-BE49-F238E27FC236}">
                <a16:creationId xmlns:a16="http://schemas.microsoft.com/office/drawing/2014/main" id="{7E05F028-F715-45D8-943F-7991D37077DF}"/>
              </a:ext>
            </a:extLst>
          </p:cNvPr>
          <p:cNvSpPr>
            <a:spLocks noGrp="1"/>
          </p:cNvSpPr>
          <p:nvPr>
            <p:ph type="sldNum" sz="quarter" idx="12"/>
          </p:nvPr>
        </p:nvSpPr>
        <p:spPr/>
        <p:txBody>
          <a:bodyPr/>
          <a:lstStyle/>
          <a:p>
            <a:pPr>
              <a:defRPr/>
            </a:pPr>
            <a:fld id="{2AE1B59C-883C-4848-BC85-9A12DF2590B2}" type="slidenum">
              <a:rPr lang="en-US" altLang="zh-CN" smtClean="0"/>
              <a:t>19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linds(horizontal)">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blinds(horizontal)">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linds(horizontal)">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blinds(horizontal)">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blinds(horizontal)">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
                                            <p:txEl>
                                              <p:pRg st="2" end="2"/>
                                            </p:txEl>
                                          </p:spTgt>
                                        </p:tgtEl>
                                        <p:attrNameLst>
                                          <p:attrName>style.visibility</p:attrName>
                                        </p:attrNameLst>
                                      </p:cBhvr>
                                      <p:to>
                                        <p:strVal val="visible"/>
                                      </p:to>
                                    </p:set>
                                    <p:animEffect transition="in" filter="blinds(horizontal)">
                                      <p:cBhvr>
                                        <p:cTn id="67" dur="500"/>
                                        <p:tgtEl>
                                          <p:spTgt spid="2">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9465"/>
                                        </p:tgtEl>
                                        <p:attrNameLst>
                                          <p:attrName>style.visibility</p:attrName>
                                        </p:attrNameLst>
                                      </p:cBhvr>
                                      <p:to>
                                        <p:strVal val="visible"/>
                                      </p:to>
                                    </p:set>
                                    <p:animEffect transition="in" filter="blinds(horizontal)">
                                      <p:cBhvr>
                                        <p:cTn id="72" dur="500"/>
                                        <p:tgtEl>
                                          <p:spTgt spid="19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5"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txBox="1"/>
          <p:nvPr/>
        </p:nvSpPr>
        <p:spPr>
          <a:xfrm>
            <a:off x="0" y="0"/>
            <a:ext cx="9144000" cy="404813"/>
          </a:xfrm>
          <a:prstGeom prst="rect">
            <a:avLst/>
          </a:prstGeom>
          <a:solidFill>
            <a:srgbClr val="B0FAFE"/>
          </a:solidFill>
          <a:ln w="9525">
            <a:noFill/>
          </a:ln>
        </p:spPr>
        <p:txBody>
          <a:bodyPr/>
          <a:lstStyle/>
          <a:p>
            <a:r>
              <a:rPr lang="zh-CN" altLang="en-US" b="1" dirty="0">
                <a:latin typeface="微软雅黑" pitchFamily="34" charset="-122"/>
                <a:ea typeface="微软雅黑" pitchFamily="34" charset="-122"/>
              </a:rPr>
              <a:t>用最小元素法给出的初始解是运输问题的基可行解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其理由为：</a:t>
            </a:r>
          </a:p>
        </p:txBody>
      </p:sp>
      <p:sp>
        <p:nvSpPr>
          <p:cNvPr id="3" name="Rectangle 3"/>
          <p:cNvSpPr txBox="1"/>
          <p:nvPr/>
        </p:nvSpPr>
        <p:spPr>
          <a:xfrm>
            <a:off x="0" y="476250"/>
            <a:ext cx="9144000" cy="3600450"/>
          </a:xfrm>
          <a:prstGeom prst="rect">
            <a:avLst/>
          </a:prstGeom>
          <a:noFill/>
          <a:ln w="9525">
            <a:noFill/>
          </a:ln>
        </p:spPr>
        <p:txBody>
          <a:bodyPr/>
          <a:lstStyle/>
          <a:p>
            <a:pPr marL="273050" indent="-273050" algn="just">
              <a:lnSpc>
                <a:spcPct val="90000"/>
              </a:lnSpc>
              <a:spcBef>
                <a:spcPts val="600"/>
              </a:spcBef>
              <a:buClr>
                <a:schemeClr val="accent1"/>
              </a:buClr>
              <a:buSzPct val="70000"/>
              <a:buFont typeface="Wingdings" panose="05000000000000000000" pitchFamily="2" charset="2"/>
            </a:pPr>
            <a:r>
              <a:rPr lang="en-US" altLang="zh-CN" b="1" dirty="0">
                <a:latin typeface="Times New Roman" panose="02020603050405020304" pitchFamily="18" charset="0"/>
                <a:ea typeface="微软雅黑" pitchFamily="34" charset="-122"/>
              </a:rPr>
              <a:t>(1) </a:t>
            </a:r>
            <a:r>
              <a:rPr lang="zh-CN" altLang="en-US" b="1" dirty="0">
                <a:latin typeface="Times New Roman" panose="02020603050405020304" pitchFamily="18" charset="0"/>
                <a:ea typeface="微软雅黑" pitchFamily="34" charset="-122"/>
              </a:rPr>
              <a:t>用最小元素法给出的初始解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是从单位运价表中逐次地挑选最小元素</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并比较产量和销量</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pPr>
            <a:r>
              <a:rPr lang="zh-CN" altLang="en-US" b="1" dirty="0">
                <a:solidFill>
                  <a:schemeClr val="hlink"/>
                </a:solidFill>
                <a:latin typeface="Times New Roman" panose="02020603050405020304" pitchFamily="18" charset="0"/>
                <a:ea typeface="微软雅黑" pitchFamily="34" charset="-122"/>
              </a:rPr>
              <a:t>当产大于销</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划去该元素所在列</a:t>
            </a:r>
            <a:r>
              <a:rPr lang="zh-CN" altLang="en-US" b="1" dirty="0">
                <a:latin typeface="Times New Roman" panose="02020603050405020304" pitchFamily="18" charset="0"/>
                <a:ea typeface="微软雅黑" pitchFamily="34" charset="-122"/>
              </a:rPr>
              <a:t>。</a:t>
            </a:r>
            <a:r>
              <a:rPr lang="zh-CN" altLang="en-US" b="1" dirty="0">
                <a:solidFill>
                  <a:schemeClr val="folHlink"/>
                </a:solidFill>
                <a:latin typeface="Times New Roman" panose="02020603050405020304" pitchFamily="18" charset="0"/>
                <a:ea typeface="微软雅黑" pitchFamily="34" charset="-122"/>
              </a:rPr>
              <a:t>当产小于销</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Times New Roman" panose="02020603050405020304" pitchFamily="18" charset="0"/>
                <a:ea typeface="微软雅黑" pitchFamily="34" charset="-122"/>
              </a:rPr>
              <a:t>划去该元素所在行</a:t>
            </a:r>
            <a:r>
              <a:rPr lang="zh-CN" altLang="en-US" b="1" dirty="0">
                <a:latin typeface="Times New Roman" panose="02020603050405020304" pitchFamily="18" charset="0"/>
                <a:ea typeface="微软雅黑" pitchFamily="34" charset="-122"/>
              </a:rPr>
              <a:t>然后在未划去的元素中再找最小元素</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再确定供应关系</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这样在产销平衡表上每填入一个数字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在运价表上就划去一行或一列。表中共有</a:t>
            </a:r>
            <a:r>
              <a:rPr lang="en-US" altLang="zh-CN" b="1" i="1" dirty="0">
                <a:latin typeface="Times New Roman" panose="02020603050405020304" pitchFamily="18" charset="0"/>
                <a:ea typeface="微软雅黑" pitchFamily="34" charset="-122"/>
              </a:rPr>
              <a:t>m</a:t>
            </a:r>
            <a:r>
              <a:rPr lang="zh-CN" altLang="en-US" b="1" dirty="0">
                <a:latin typeface="Times New Roman" panose="02020603050405020304" pitchFamily="18" charset="0"/>
                <a:ea typeface="微软雅黑" pitchFamily="34" charset="-122"/>
              </a:rPr>
              <a:t>行</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总共可划</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条直线。但当表中只剩一个元素时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这时当在产销平衡表上填这个数字时</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应在运价表上同时划去一行和一列</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此时把单价表上所有元素都划去了</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相应地在产销平衡表上填了</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个数字。即给出了</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个可行解变量的值</a:t>
            </a:r>
            <a:endParaRPr lang="en-US" altLang="zh-CN" b="1" dirty="0">
              <a:latin typeface="Times New Roman" panose="02020603050405020304" pitchFamily="18" charset="0"/>
              <a:ea typeface="微软雅黑" pitchFamily="34" charset="-122"/>
            </a:endParaRPr>
          </a:p>
        </p:txBody>
      </p:sp>
      <p:sp>
        <p:nvSpPr>
          <p:cNvPr id="5" name="Rectangle 2"/>
          <p:cNvSpPr txBox="1"/>
          <p:nvPr/>
        </p:nvSpPr>
        <p:spPr>
          <a:xfrm>
            <a:off x="0" y="4076700"/>
            <a:ext cx="9144000" cy="431800"/>
          </a:xfrm>
          <a:prstGeom prst="rect">
            <a:avLst/>
          </a:prstGeom>
          <a:solidFill>
            <a:srgbClr val="B0FAFE"/>
          </a:solidFill>
          <a:ln w="9525">
            <a:noFill/>
          </a:ln>
        </p:spPr>
        <p:txBody>
          <a:bodyPr/>
          <a:lstStyle/>
          <a:p>
            <a:r>
              <a:rPr lang="en-US" altLang="zh-CN" b="1" dirty="0">
                <a:latin typeface="Times New Roman" panose="02020603050405020304" pitchFamily="18" charset="0"/>
                <a:ea typeface="微软雅黑" pitchFamily="34" charset="-122"/>
              </a:rPr>
              <a:t>(2) </a:t>
            </a:r>
            <a:r>
              <a:rPr lang="zh-CN" altLang="en-US" b="1" dirty="0">
                <a:latin typeface="Times New Roman" panose="02020603050405020304" pitchFamily="18" charset="0"/>
                <a:ea typeface="微软雅黑" pitchFamily="34" charset="-122"/>
              </a:rPr>
              <a:t>这</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个变量对应的系数列向量是线性独立的</a:t>
            </a:r>
          </a:p>
        </p:txBody>
      </p:sp>
      <p:graphicFrame>
        <p:nvGraphicFramePr>
          <p:cNvPr id="6" name="Object 2"/>
          <p:cNvGraphicFramePr>
            <a:graphicFrameLocks noChangeAspect="1"/>
          </p:cNvGraphicFramePr>
          <p:nvPr/>
        </p:nvGraphicFramePr>
        <p:xfrm>
          <a:off x="2843213" y="4941888"/>
          <a:ext cx="2592387" cy="592137"/>
        </p:xfrm>
        <a:graphic>
          <a:graphicData uri="http://schemas.openxmlformats.org/presentationml/2006/ole">
            <mc:AlternateContent xmlns:mc="http://schemas.openxmlformats.org/markup-compatibility/2006">
              <mc:Choice xmlns:v="urn:schemas-microsoft-com:vml" Requires="v">
                <p:oleObj spid="_x0000_s8236" r:id="rId3" imgW="1167765" imgH="266700" progId="Equation.3">
                  <p:embed/>
                </p:oleObj>
              </mc:Choice>
              <mc:Fallback>
                <p:oleObj r:id="rId3" imgW="1167765" imgH="266700" progId="Equation.3">
                  <p:embed/>
                  <p:pic>
                    <p:nvPicPr>
                      <p:cNvPr id="6" name="Object 2"/>
                      <p:cNvPicPr/>
                      <p:nvPr/>
                    </p:nvPicPr>
                    <p:blipFill>
                      <a:blip r:embed="rId4"/>
                      <a:stretch>
                        <a:fillRect/>
                      </a:stretch>
                    </p:blipFill>
                    <p:spPr>
                      <a:xfrm>
                        <a:off x="2843213" y="4941888"/>
                        <a:ext cx="2592387" cy="592137"/>
                      </a:xfrm>
                      <a:prstGeom prst="rect">
                        <a:avLst/>
                      </a:prstGeom>
                      <a:solidFill>
                        <a:srgbClr val="FFFF99"/>
                      </a:solidFill>
                      <a:ln w="38100">
                        <a:noFill/>
                        <a:miter/>
                      </a:ln>
                    </p:spPr>
                  </p:pic>
                </p:oleObj>
              </mc:Fallback>
            </mc:AlternateContent>
          </a:graphicData>
        </a:graphic>
      </p:graphicFrame>
      <p:sp>
        <p:nvSpPr>
          <p:cNvPr id="7" name="Rectangle 2"/>
          <p:cNvSpPr txBox="1"/>
          <p:nvPr/>
        </p:nvSpPr>
        <p:spPr>
          <a:xfrm>
            <a:off x="0" y="4508500"/>
            <a:ext cx="9144000" cy="431800"/>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证   </a:t>
            </a:r>
            <a:r>
              <a:rPr lang="zh-CN" altLang="en-US" b="1" dirty="0">
                <a:latin typeface="Times New Roman" panose="02020603050405020304" pitchFamily="18" charset="0"/>
                <a:ea typeface="微软雅黑" pitchFamily="34" charset="-122"/>
              </a:rPr>
              <a:t>若表中确定的第一个变量为</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 它对应的系数列向量为</a:t>
            </a:r>
            <a:r>
              <a:rPr lang="en-US" altLang="zh-CN" b="1" dirty="0">
                <a:latin typeface="Times New Roman" panose="02020603050405020304" pitchFamily="18" charset="0"/>
                <a:ea typeface="微软雅黑" pitchFamily="34" charset="-122"/>
              </a:rPr>
              <a:t>:</a:t>
            </a:r>
          </a:p>
        </p:txBody>
      </p:sp>
      <p:sp>
        <p:nvSpPr>
          <p:cNvPr id="4" name="Rectangle 7"/>
          <p:cNvSpPr/>
          <p:nvPr/>
        </p:nvSpPr>
        <p:spPr>
          <a:xfrm>
            <a:off x="0" y="5589588"/>
            <a:ext cx="9144000" cy="1768475"/>
          </a:xfrm>
          <a:prstGeom prst="rect">
            <a:avLst/>
          </a:prstGeom>
          <a:solidFill>
            <a:srgbClr val="A0E4A2"/>
          </a:solid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当给定</a:t>
            </a:r>
            <a:r>
              <a:rPr lang="en-US" altLang="zh-CN" b="1" i="1" dirty="0">
                <a:latin typeface="Times New Roman" panose="02020603050405020304" pitchFamily="18" charset="0"/>
                <a:ea typeface="微软雅黑" pitchFamily="34" charset="-122"/>
              </a:rPr>
              <a:t>x</a:t>
            </a:r>
            <a:r>
              <a:rPr lang="en-US" altLang="zh-CN" b="1" i="1" baseline="-25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en-US" altLang="zh-CN" b="1" i="1" baseline="-25000" dirty="0">
                <a:latin typeface="Times New Roman" panose="02020603050405020304" pitchFamily="18" charset="0"/>
                <a:ea typeface="微软雅黑" pitchFamily="34" charset="-122"/>
              </a:rPr>
              <a:t>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的值后</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将划去第</a:t>
            </a:r>
            <a:r>
              <a:rPr lang="en-US" altLang="zh-CN" b="1" i="1" dirty="0">
                <a:latin typeface="Times New Roman" panose="02020603050405020304" pitchFamily="18" charset="0"/>
                <a:ea typeface="微软雅黑" pitchFamily="34" charset="-122"/>
              </a:rPr>
              <a:t>i</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行或第</a:t>
            </a:r>
            <a:r>
              <a:rPr lang="en-US" altLang="zh-CN" b="1" i="1"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列</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即其后的系数列向量中再不出现</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或</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r>
              <a:rPr lang="en-US" altLang="zh-CN" b="1" baseline="-45000" dirty="0">
                <a:latin typeface="Times New Roman" panose="02020603050405020304" pitchFamily="18" charset="0"/>
                <a:ea typeface="微软雅黑" pitchFamily="34" charset="-122"/>
              </a:rPr>
              <a:t>1</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因而不可能用解中的其他向量的线性组合表示</a:t>
            </a:r>
            <a:endParaRPr lang="en-US" altLang="zh-CN" b="1" dirty="0">
              <a:latin typeface="Times New Roman" panose="02020603050405020304" pitchFamily="18" charset="0"/>
              <a:ea typeface="微软雅黑" pitchFamily="34" charset="-122"/>
            </a:endParaRPr>
          </a:p>
          <a:p>
            <a:pPr eaLnBrk="1" hangingPunct="1">
              <a:lnSpc>
                <a:spcPct val="150000"/>
              </a:lnSpc>
            </a:pPr>
            <a:endParaRPr lang="zh-CN" altLang="en-US" sz="2800" dirty="0">
              <a:latin typeface="Times New Roman" panose="02020603050405020304" pitchFamily="18" charset="0"/>
              <a:ea typeface="华文楷体" panose="02010600040101010101" pitchFamily="2" charset="-122"/>
            </a:endParaRPr>
          </a:p>
        </p:txBody>
      </p:sp>
      <p:graphicFrame>
        <p:nvGraphicFramePr>
          <p:cNvPr id="8" name="Object 10"/>
          <p:cNvGraphicFramePr>
            <a:graphicFrameLocks noChangeAspect="1"/>
          </p:cNvGraphicFramePr>
          <p:nvPr/>
        </p:nvGraphicFramePr>
        <p:xfrm>
          <a:off x="4429125" y="4509120"/>
          <a:ext cx="534988" cy="534987"/>
        </p:xfrm>
        <a:graphic>
          <a:graphicData uri="http://schemas.openxmlformats.org/presentationml/2006/ole">
            <mc:AlternateContent xmlns:mc="http://schemas.openxmlformats.org/markup-compatibility/2006">
              <mc:Choice xmlns:v="urn:schemas-microsoft-com:vml" Requires="v">
                <p:oleObj spid="_x0000_s8237" r:id="rId5" imgW="241300" imgH="241300" progId="Equation.DSMT4">
                  <p:embed/>
                </p:oleObj>
              </mc:Choice>
              <mc:Fallback>
                <p:oleObj r:id="rId5" imgW="241300" imgH="241300" progId="Equation.DSMT4">
                  <p:embed/>
                  <p:pic>
                    <p:nvPicPr>
                      <p:cNvPr id="8" name="Object 10"/>
                      <p:cNvPicPr/>
                      <p:nvPr/>
                    </p:nvPicPr>
                    <p:blipFill>
                      <a:blip r:embed="rId6"/>
                      <a:stretch>
                        <a:fillRect/>
                      </a:stretch>
                    </p:blipFill>
                    <p:spPr>
                      <a:xfrm>
                        <a:off x="4429125" y="4509120"/>
                        <a:ext cx="534988" cy="534987"/>
                      </a:xfrm>
                      <a:prstGeom prst="rect">
                        <a:avLst/>
                      </a:prstGeom>
                      <a:solidFill>
                        <a:srgbClr val="FFFF99"/>
                      </a:solidFill>
                      <a:ln w="38100">
                        <a:noFill/>
                        <a:miter/>
                      </a:ln>
                    </p:spPr>
                  </p:pic>
                </p:oleObj>
              </mc:Fallback>
            </mc:AlternateContent>
          </a:graphicData>
        </a:graphic>
      </p:graphicFrame>
      <p:pic>
        <p:nvPicPr>
          <p:cNvPr id="10" name="Picture 8"/>
          <p:cNvPicPr>
            <a:picLocks noChangeAspect="1"/>
          </p:cNvPicPr>
          <p:nvPr/>
        </p:nvPicPr>
        <p:blipFill>
          <a:blip r:embed="rId7"/>
          <a:stretch>
            <a:fillRect/>
          </a:stretch>
        </p:blipFill>
        <p:spPr>
          <a:xfrm>
            <a:off x="2591594" y="4192588"/>
            <a:ext cx="3960812" cy="2794000"/>
          </a:xfrm>
          <a:prstGeom prst="rect">
            <a:avLst/>
          </a:prstGeom>
          <a:noFill/>
          <a:ln w="9525">
            <a:noFill/>
          </a:ln>
        </p:spPr>
      </p:pic>
      <p:sp>
        <p:nvSpPr>
          <p:cNvPr id="2" name="灯片编号占位符 1">
            <a:extLst>
              <a:ext uri="{FF2B5EF4-FFF2-40B4-BE49-F238E27FC236}">
                <a16:creationId xmlns:a16="http://schemas.microsoft.com/office/drawing/2014/main" id="{E4F1C2AA-282E-4FBF-B2AA-7844B6364194}"/>
              </a:ext>
            </a:extLst>
          </p:cNvPr>
          <p:cNvSpPr>
            <a:spLocks noGrp="1"/>
          </p:cNvSpPr>
          <p:nvPr>
            <p:ph type="sldNum" sz="quarter" idx="12"/>
          </p:nvPr>
        </p:nvSpPr>
        <p:spPr/>
        <p:txBody>
          <a:bodyPr/>
          <a:lstStyle/>
          <a:p>
            <a:pPr>
              <a:defRPr/>
            </a:pPr>
            <a:fld id="{2AE1B59C-883C-4848-BC85-9A12DF2590B2}" type="slidenum">
              <a:rPr lang="en-US" altLang="zh-CN" smtClean="0"/>
              <a:t>20</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ssolv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nodeType="clickEffect">
                                  <p:stCondLst>
                                    <p:cond delay="0"/>
                                  </p:stCondLst>
                                  <p:childTnLst>
                                    <p:animEffect transition="out" filter="blinds(horizontal)">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linds(horizontal)">
                                      <p:cBhvr>
                                        <p:cTn id="42" dur="500"/>
                                        <p:tgtEl>
                                          <p:spTgt spid="8"/>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1000"/>
                                        <p:tgtEl>
                                          <p:spTgt spid="6"/>
                                        </p:tgtEl>
                                      </p:cBhvr>
                                    </p:animEffect>
                                    <p:anim calcmode="lin" valueType="num">
                                      <p:cBhvr>
                                        <p:cTn id="51" dur="1000" fill="hold"/>
                                        <p:tgtEl>
                                          <p:spTgt spid="6"/>
                                        </p:tgtEl>
                                        <p:attrNameLst>
                                          <p:attrName>ppt_x</p:attrName>
                                        </p:attrNameLst>
                                      </p:cBhvr>
                                      <p:tavLst>
                                        <p:tav tm="0">
                                          <p:val>
                                            <p:strVal val="#ppt_x"/>
                                          </p:val>
                                        </p:tav>
                                        <p:tav tm="100000">
                                          <p:val>
                                            <p:strVal val="#ppt_x"/>
                                          </p:val>
                                        </p:tav>
                                      </p:tavLst>
                                    </p:anim>
                                    <p:anim calcmode="lin" valueType="num">
                                      <p:cBhvr>
                                        <p:cTn id="5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dissolve">
                                      <p:cBhvr>
                                        <p:cTn id="5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p:nvPr/>
        </p:nvSpPr>
        <p:spPr>
          <a:xfrm>
            <a:off x="0" y="1196975"/>
            <a:ext cx="9144000" cy="1846263"/>
          </a:xfrm>
          <a:prstGeom prst="rect">
            <a:avLst/>
          </a:prstGeom>
          <a:solidFill>
            <a:srgbClr val="A0E4A2"/>
          </a:solid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当给定</a:t>
            </a:r>
            <a:r>
              <a:rPr lang="en-US" altLang="zh-CN" b="1" i="1" dirty="0">
                <a:latin typeface="Times New Roman" panose="02020603050405020304" pitchFamily="18" charset="0"/>
                <a:ea typeface="微软雅黑" pitchFamily="34" charset="-122"/>
              </a:rPr>
              <a:t>x</a:t>
            </a:r>
            <a:r>
              <a:rPr lang="en-US" altLang="zh-CN" b="1" i="1" baseline="-25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en-US" altLang="zh-CN" b="1" i="1" baseline="-25000" dirty="0">
                <a:latin typeface="Times New Roman" panose="02020603050405020304" pitchFamily="18" charset="0"/>
                <a:ea typeface="微软雅黑" pitchFamily="34" charset="-122"/>
              </a:rPr>
              <a:t>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的值后</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将划去第</a:t>
            </a:r>
            <a:r>
              <a:rPr lang="en-US" altLang="zh-CN" b="1" i="1" dirty="0">
                <a:latin typeface="Times New Roman" panose="02020603050405020304" pitchFamily="18" charset="0"/>
                <a:ea typeface="微软雅黑" pitchFamily="34" charset="-122"/>
              </a:rPr>
              <a:t>i</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行或第</a:t>
            </a:r>
            <a:r>
              <a:rPr lang="en-US" altLang="zh-CN" b="1" i="1"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即其后的系数列向量中再不出现</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或</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r>
              <a:rPr lang="en-US" altLang="zh-CN" b="1" baseline="-45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因而不可能用解中的其他向量的线性组合表示</a:t>
            </a:r>
            <a:endParaRPr lang="en-US" altLang="zh-CN" b="1" dirty="0">
              <a:latin typeface="Times New Roman" panose="02020603050405020304" pitchFamily="18" charset="0"/>
              <a:ea typeface="微软雅黑" pitchFamily="34" charset="-122"/>
            </a:endParaRPr>
          </a:p>
          <a:p>
            <a:pPr eaLnBrk="1" hangingPunct="1">
              <a:lnSpc>
                <a:spcPct val="150000"/>
              </a:lnSpc>
            </a:pPr>
            <a:endParaRPr lang="zh-CN" altLang="en-US" sz="2800" dirty="0">
              <a:latin typeface="Times New Roman" panose="02020603050405020304" pitchFamily="18" charset="0"/>
              <a:ea typeface="华文楷体" panose="02010600040101010101" pitchFamily="2" charset="-122"/>
            </a:endParaRPr>
          </a:p>
        </p:txBody>
      </p:sp>
      <p:sp>
        <p:nvSpPr>
          <p:cNvPr id="4" name="Rectangle 7"/>
          <p:cNvSpPr/>
          <p:nvPr/>
        </p:nvSpPr>
        <p:spPr>
          <a:xfrm>
            <a:off x="0" y="2565400"/>
            <a:ext cx="9144000" cy="1846263"/>
          </a:xfrm>
          <a:prstGeom prst="rect">
            <a:avLst/>
          </a:prstGeom>
          <a:solidFill>
            <a:srgbClr val="FFFF99"/>
          </a:solidFill>
          <a:ln w="9525">
            <a:noFill/>
          </a:ln>
        </p:spPr>
        <p:txBody>
          <a:bodyPr>
            <a:spAutoFit/>
          </a:bodyPr>
          <a:lstStyle/>
          <a:p>
            <a:pPr eaLnBrk="1" hangingPunct="1">
              <a:lnSpc>
                <a:spcPct val="150000"/>
              </a:lnSpc>
            </a:pPr>
            <a:r>
              <a:rPr lang="zh-CN" altLang="en-US" b="1" dirty="0">
                <a:latin typeface="Times New Roman" panose="02020603050405020304" pitchFamily="18" charset="0"/>
                <a:ea typeface="微软雅黑" pitchFamily="34" charset="-122"/>
              </a:rPr>
              <a:t>类似地给出第二个</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第</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a:t>
            </a:r>
            <a:endParaRPr lang="en-US" altLang="zh-CN" b="1" dirty="0">
              <a:latin typeface="Times New Roman" panose="02020603050405020304" pitchFamily="18" charset="0"/>
              <a:ea typeface="微软雅黑" pitchFamily="34" charset="-122"/>
            </a:endParaRPr>
          </a:p>
          <a:p>
            <a:pPr eaLnBrk="1" hangingPunct="1">
              <a:lnSpc>
                <a:spcPct val="150000"/>
              </a:lnSpc>
            </a:pPr>
            <a:r>
              <a:rPr lang="zh-CN" altLang="en-US" b="1" dirty="0">
                <a:latin typeface="Times New Roman" panose="02020603050405020304" pitchFamily="18" charset="0"/>
                <a:ea typeface="微软雅黑" pitchFamily="34" charset="-122"/>
              </a:rPr>
              <a:t>这</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个向量都不可能用解中的其他向量的线性组合表示</a:t>
            </a:r>
            <a:endParaRPr lang="en-US" altLang="zh-CN" b="1" dirty="0">
              <a:latin typeface="Times New Roman" panose="02020603050405020304" pitchFamily="18" charset="0"/>
              <a:ea typeface="微软雅黑" pitchFamily="34" charset="-122"/>
            </a:endParaRPr>
          </a:p>
          <a:p>
            <a:pPr eaLnBrk="1" hangingPunct="1">
              <a:lnSpc>
                <a:spcPct val="150000"/>
              </a:lnSpc>
            </a:pPr>
            <a:r>
              <a:rPr lang="zh-CN" altLang="en-US" b="1" dirty="0">
                <a:latin typeface="Times New Roman" panose="02020603050405020304" pitchFamily="18" charset="0"/>
                <a:ea typeface="微软雅黑" pitchFamily="34" charset="-122"/>
              </a:rPr>
              <a:t>故这</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个向量是线性独立的</a:t>
            </a:r>
            <a:r>
              <a:rPr lang="zh-CN" altLang="en-US" sz="2800" dirty="0">
                <a:latin typeface="Times New Roman" panose="02020603050405020304" pitchFamily="18" charset="0"/>
                <a:ea typeface="华文楷体" panose="02010600040101010101" pitchFamily="2" charset="-122"/>
              </a:rPr>
              <a:t> </a:t>
            </a:r>
          </a:p>
        </p:txBody>
      </p:sp>
      <p:graphicFrame>
        <p:nvGraphicFramePr>
          <p:cNvPr id="12292" name="Object 2"/>
          <p:cNvGraphicFramePr>
            <a:graphicFrameLocks noChangeAspect="1"/>
          </p:cNvGraphicFramePr>
          <p:nvPr/>
        </p:nvGraphicFramePr>
        <p:xfrm>
          <a:off x="2843213" y="477838"/>
          <a:ext cx="2592387" cy="592137"/>
        </p:xfrm>
        <a:graphic>
          <a:graphicData uri="http://schemas.openxmlformats.org/presentationml/2006/ole">
            <mc:AlternateContent xmlns:mc="http://schemas.openxmlformats.org/markup-compatibility/2006">
              <mc:Choice xmlns:v="urn:schemas-microsoft-com:vml" Requires="v">
                <p:oleObj spid="_x0000_s9239" r:id="rId3" imgW="1167765" imgH="266700" progId="Equation.3">
                  <p:embed/>
                </p:oleObj>
              </mc:Choice>
              <mc:Fallback>
                <p:oleObj r:id="rId3" imgW="1167765" imgH="266700" progId="Equation.3">
                  <p:embed/>
                  <p:pic>
                    <p:nvPicPr>
                      <p:cNvPr id="12292" name="Object 2"/>
                      <p:cNvPicPr/>
                      <p:nvPr/>
                    </p:nvPicPr>
                    <p:blipFill>
                      <a:blip r:embed="rId4"/>
                      <a:stretch>
                        <a:fillRect/>
                      </a:stretch>
                    </p:blipFill>
                    <p:spPr>
                      <a:xfrm>
                        <a:off x="2843213" y="477838"/>
                        <a:ext cx="2592387" cy="592137"/>
                      </a:xfrm>
                      <a:prstGeom prst="rect">
                        <a:avLst/>
                      </a:prstGeom>
                      <a:solidFill>
                        <a:srgbClr val="FFFF99"/>
                      </a:solidFill>
                      <a:ln w="38100">
                        <a:noFill/>
                        <a:miter/>
                      </a:ln>
                    </p:spPr>
                  </p:pic>
                </p:oleObj>
              </mc:Fallback>
            </mc:AlternateContent>
          </a:graphicData>
        </a:graphic>
      </p:graphicFrame>
      <p:sp>
        <p:nvSpPr>
          <p:cNvPr id="12293" name="Rectangle 2"/>
          <p:cNvSpPr txBox="1"/>
          <p:nvPr/>
        </p:nvSpPr>
        <p:spPr>
          <a:xfrm>
            <a:off x="0" y="44450"/>
            <a:ext cx="9144000" cy="431800"/>
          </a:xfrm>
          <a:prstGeom prst="rect">
            <a:avLst/>
          </a:prstGeom>
          <a:solidFill>
            <a:srgbClr val="FFFF99"/>
          </a:solid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证   </a:t>
            </a:r>
            <a:r>
              <a:rPr lang="zh-CN" altLang="en-US" b="1" dirty="0">
                <a:latin typeface="Times New Roman" panose="02020603050405020304" pitchFamily="18" charset="0"/>
                <a:ea typeface="微软雅黑" pitchFamily="34" charset="-122"/>
              </a:rPr>
              <a:t>若表中确定的第一个变量为</a:t>
            </a:r>
            <a:r>
              <a:rPr lang="en-US" altLang="zh-CN" b="1" i="1" dirty="0">
                <a:latin typeface="Times New Roman" panose="02020603050405020304" pitchFamily="18" charset="0"/>
                <a:ea typeface="微软雅黑" pitchFamily="34" charset="-122"/>
              </a:rPr>
              <a:t>x</a:t>
            </a:r>
            <a:r>
              <a:rPr lang="en-US" altLang="zh-CN" b="1" i="1" baseline="-25000" dirty="0">
                <a:latin typeface="Times New Roman" panose="02020603050405020304" pitchFamily="18" charset="0"/>
                <a:ea typeface="微软雅黑" pitchFamily="34" charset="-122"/>
              </a:rPr>
              <a:t>i</a:t>
            </a:r>
            <a:r>
              <a:rPr lang="en-US" altLang="zh-CN" b="1" baseline="-45000" dirty="0">
                <a:latin typeface="Times New Roman" panose="02020603050405020304" pitchFamily="18" charset="0"/>
                <a:ea typeface="微软雅黑" pitchFamily="34" charset="-122"/>
              </a:rPr>
              <a:t>1</a:t>
            </a:r>
            <a:r>
              <a:rPr lang="en-US" altLang="zh-CN" b="1" i="1" baseline="-25000" dirty="0">
                <a:latin typeface="Times New Roman" panose="02020603050405020304" pitchFamily="18" charset="0"/>
                <a:ea typeface="微软雅黑" pitchFamily="34" charset="-122"/>
              </a:rPr>
              <a:t>j</a:t>
            </a:r>
            <a:r>
              <a:rPr lang="en-US" altLang="zh-CN" b="1" baseline="-4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它对应的系数列向量为</a:t>
            </a:r>
            <a:r>
              <a:rPr lang="en-US" altLang="zh-CN" b="1" dirty="0">
                <a:latin typeface="Times New Roman" panose="02020603050405020304" pitchFamily="18" charset="0"/>
                <a:ea typeface="微软雅黑" pitchFamily="34" charset="-122"/>
              </a:rPr>
              <a:t>:</a:t>
            </a:r>
          </a:p>
        </p:txBody>
      </p:sp>
      <p:sp>
        <p:nvSpPr>
          <p:cNvPr id="6" name="Rectangle 3"/>
          <p:cNvSpPr txBox="1"/>
          <p:nvPr/>
        </p:nvSpPr>
        <p:spPr>
          <a:xfrm>
            <a:off x="106363" y="4941888"/>
            <a:ext cx="9037637" cy="1727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b="1" dirty="0">
                <a:latin typeface="微软雅黑" pitchFamily="34" charset="-122"/>
                <a:ea typeface="微软雅黑" pitchFamily="34" charset="-122"/>
              </a:rPr>
              <a:t>用最小元素法给出初始解时</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有可能在产销平衡表上填入一个数字后</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在单位运价表上同时划去一行和一列。这时就出现退化</a:t>
            </a:r>
          </a:p>
        </p:txBody>
      </p:sp>
      <p:sp>
        <p:nvSpPr>
          <p:cNvPr id="2" name="灯片编号占位符 1">
            <a:extLst>
              <a:ext uri="{FF2B5EF4-FFF2-40B4-BE49-F238E27FC236}">
                <a16:creationId xmlns:a16="http://schemas.microsoft.com/office/drawing/2014/main" id="{89A66FFC-12B1-47E3-829D-4FEAF5BE4EB7}"/>
              </a:ext>
            </a:extLst>
          </p:cNvPr>
          <p:cNvSpPr>
            <a:spLocks noGrp="1"/>
          </p:cNvSpPr>
          <p:nvPr>
            <p:ph type="sldNum" sz="quarter" idx="12"/>
          </p:nvPr>
        </p:nvSpPr>
        <p:spPr/>
        <p:txBody>
          <a:bodyPr/>
          <a:lstStyle/>
          <a:p>
            <a:pPr>
              <a:defRPr/>
            </a:pPr>
            <a:fld id="{2AE1B59C-883C-4848-BC85-9A12DF2590B2}" type="slidenum">
              <a:rPr lang="en-US" altLang="zh-CN" smtClean="0"/>
              <a:t>21</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伏格尔法</a:t>
            </a:r>
            <a:endParaRPr lang="zh-CN" altLang="en-US" sz="2800" b="1" dirty="0">
              <a:latin typeface="微软雅黑" pitchFamily="34" charset="-122"/>
              <a:ea typeface="微软雅黑" pitchFamily="34" charset="-122"/>
            </a:endParaRPr>
          </a:p>
        </p:txBody>
      </p:sp>
      <p:sp>
        <p:nvSpPr>
          <p:cNvPr id="3" name="Rectangle 3"/>
          <p:cNvSpPr txBox="1"/>
          <p:nvPr/>
        </p:nvSpPr>
        <p:spPr>
          <a:xfrm>
            <a:off x="0" y="549275"/>
            <a:ext cx="9144000" cy="2519363"/>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最小元素法的缺点是：为了节省一处的费用</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有时造成在其他处要多花几倍的运费</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伏格尔法考虑到</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一产地的产品假如不能按最小运费就近供应</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就考虑次小运费</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这就有一个差额。差额越大</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说明不能按最小运费调运时</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运费增加越多</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因而对差额最大处</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就应当采用最小运费调运</a:t>
            </a:r>
            <a:r>
              <a:rPr lang="zh-CN" altLang="en-US" sz="3200" dirty="0">
                <a:latin typeface="华文楷体" panose="02010600040101010101" pitchFamily="2" charset="-122"/>
                <a:ea typeface="华文楷体" panose="02010600040101010101" pitchFamily="2" charset="-122"/>
              </a:rPr>
              <a:t> </a:t>
            </a:r>
          </a:p>
          <a:p>
            <a:pPr marL="273050" indent="-273050">
              <a:spcBef>
                <a:spcPts val="600"/>
              </a:spcBef>
              <a:buClr>
                <a:schemeClr val="accent1"/>
              </a:buClr>
              <a:buSzPct val="70000"/>
              <a:buFont typeface="Wingdings" panose="05000000000000000000" pitchFamily="2" charset="2"/>
              <a:buChar char=""/>
            </a:pPr>
            <a:endParaRPr lang="en-US" altLang="zh-CN" b="1" dirty="0">
              <a:latin typeface="微软雅黑" pitchFamily="34" charset="-122"/>
              <a:ea typeface="微软雅黑" pitchFamily="34" charset="-122"/>
            </a:endParaRPr>
          </a:p>
        </p:txBody>
      </p:sp>
      <p:pic>
        <p:nvPicPr>
          <p:cNvPr id="4" name="图片 3"/>
          <p:cNvPicPr>
            <a:picLocks noChangeAspect="1"/>
          </p:cNvPicPr>
          <p:nvPr/>
        </p:nvPicPr>
        <p:blipFill>
          <a:blip r:embed="rId2"/>
          <a:stretch>
            <a:fillRect/>
          </a:stretch>
        </p:blipFill>
        <p:spPr>
          <a:xfrm>
            <a:off x="892175" y="4757103"/>
            <a:ext cx="2932430" cy="1661795"/>
          </a:xfrm>
          <a:prstGeom prst="rect">
            <a:avLst/>
          </a:prstGeom>
        </p:spPr>
      </p:pic>
      <p:pic>
        <p:nvPicPr>
          <p:cNvPr id="6" name="图片 5"/>
          <p:cNvPicPr>
            <a:picLocks noChangeAspect="1"/>
          </p:cNvPicPr>
          <p:nvPr/>
        </p:nvPicPr>
        <p:blipFill>
          <a:blip r:embed="rId3"/>
          <a:stretch>
            <a:fillRect/>
          </a:stretch>
        </p:blipFill>
        <p:spPr>
          <a:xfrm>
            <a:off x="892175" y="3068638"/>
            <a:ext cx="2904490" cy="1618615"/>
          </a:xfrm>
          <a:prstGeom prst="rect">
            <a:avLst/>
          </a:prstGeom>
        </p:spPr>
      </p:pic>
      <p:pic>
        <p:nvPicPr>
          <p:cNvPr id="7" name="图片 6"/>
          <p:cNvPicPr>
            <a:picLocks noChangeAspect="1"/>
          </p:cNvPicPr>
          <p:nvPr/>
        </p:nvPicPr>
        <p:blipFill>
          <a:blip r:embed="rId4"/>
          <a:stretch>
            <a:fillRect/>
          </a:stretch>
        </p:blipFill>
        <p:spPr>
          <a:xfrm>
            <a:off x="5312144" y="3103563"/>
            <a:ext cx="2843565" cy="1618615"/>
          </a:xfrm>
          <a:prstGeom prst="rect">
            <a:avLst/>
          </a:prstGeom>
        </p:spPr>
      </p:pic>
      <p:pic>
        <p:nvPicPr>
          <p:cNvPr id="11" name="图片 10"/>
          <p:cNvPicPr>
            <a:picLocks noChangeAspect="1"/>
          </p:cNvPicPr>
          <p:nvPr/>
        </p:nvPicPr>
        <p:blipFill>
          <a:blip r:embed="rId5"/>
          <a:stretch>
            <a:fillRect/>
          </a:stretch>
        </p:blipFill>
        <p:spPr>
          <a:xfrm>
            <a:off x="5319397" y="4761931"/>
            <a:ext cx="2822983" cy="1661795"/>
          </a:xfrm>
          <a:prstGeom prst="rect">
            <a:avLst/>
          </a:prstGeom>
        </p:spPr>
      </p:pic>
      <p:sp>
        <p:nvSpPr>
          <p:cNvPr id="8" name="Text Box 10">
            <a:extLst>
              <a:ext uri="{FF2B5EF4-FFF2-40B4-BE49-F238E27FC236}">
                <a16:creationId xmlns:a16="http://schemas.microsoft.com/office/drawing/2014/main" id="{7D253D94-D2B0-4523-B4F1-ED2EFAC5846A}"/>
              </a:ext>
            </a:extLst>
          </p:cNvPr>
          <p:cNvSpPr txBox="1"/>
          <p:nvPr/>
        </p:nvSpPr>
        <p:spPr>
          <a:xfrm>
            <a:off x="0" y="6308725"/>
            <a:ext cx="9144000" cy="523220"/>
          </a:xfrm>
          <a:prstGeom prst="rect">
            <a:avLst/>
          </a:prstGeom>
          <a:solidFill>
            <a:srgbClr val="FFFF99"/>
          </a:solidFill>
          <a:ln w="9525">
            <a:noFill/>
          </a:ln>
        </p:spPr>
        <p:txBody>
          <a:bodyPr>
            <a:spAutoFit/>
          </a:bodyPr>
          <a:lstStyle/>
          <a:p>
            <a:pPr eaLnBrk="1" hangingPunct="1"/>
            <a:r>
              <a:rPr lang="en-US" altLang="zh-CN" b="1" dirty="0">
                <a:solidFill>
                  <a:schemeClr val="hlink"/>
                </a:solidFill>
                <a:latin typeface="Times New Roman" panose="02020603050405020304" pitchFamily="18" charset="0"/>
                <a:ea typeface="微软雅黑" pitchFamily="34" charset="-122"/>
              </a:rPr>
              <a:t>          1</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9</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100</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9=912                         2</a:t>
            </a:r>
            <a:r>
              <a:rPr lang="en-US" altLang="zh-CN" b="1" dirty="0">
                <a:solidFill>
                  <a:schemeClr val="hlink"/>
                </a:solidFill>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9</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10=48      </a:t>
            </a:r>
          </a:p>
        </p:txBody>
      </p:sp>
      <p:sp>
        <p:nvSpPr>
          <p:cNvPr id="2" name="灯片编号占位符 1">
            <a:extLst>
              <a:ext uri="{FF2B5EF4-FFF2-40B4-BE49-F238E27FC236}">
                <a16:creationId xmlns:a16="http://schemas.microsoft.com/office/drawing/2014/main" id="{6D3473A0-B965-42A3-B7FB-4DC93F3C4825}"/>
              </a:ext>
            </a:extLst>
          </p:cNvPr>
          <p:cNvSpPr>
            <a:spLocks noGrp="1"/>
          </p:cNvSpPr>
          <p:nvPr>
            <p:ph type="sldNum" sz="quarter" idx="12"/>
          </p:nvPr>
        </p:nvSpPr>
        <p:spPr/>
        <p:txBody>
          <a:bodyPr/>
          <a:lstStyle/>
          <a:p>
            <a:pPr>
              <a:defRPr/>
            </a:pPr>
            <a:fld id="{2AE1B59C-883C-4848-BC85-9A12DF2590B2}" type="slidenum">
              <a:rPr lang="en-US" altLang="zh-CN" smtClean="0"/>
              <a:t>22</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dissolve">
                                      <p:cBhvr>
                                        <p:cTn id="26" dur="5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dissolve">
                                      <p:cBhvr>
                                        <p:cTn id="3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txBox="1"/>
          <p:nvPr/>
        </p:nvSpPr>
        <p:spPr>
          <a:xfrm>
            <a:off x="0" y="0"/>
            <a:ext cx="91440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伏格尔法</a:t>
            </a:r>
            <a:endParaRPr lang="zh-CN" altLang="en-US" sz="2800" b="1" dirty="0">
              <a:latin typeface="微软雅黑" pitchFamily="34" charset="-122"/>
              <a:ea typeface="微软雅黑" pitchFamily="34" charset="-122"/>
            </a:endParaRPr>
          </a:p>
        </p:txBody>
      </p:sp>
      <p:sp>
        <p:nvSpPr>
          <p:cNvPr id="14339" name="Rectangle 3"/>
          <p:cNvSpPr txBox="1"/>
          <p:nvPr/>
        </p:nvSpPr>
        <p:spPr>
          <a:xfrm>
            <a:off x="0" y="549275"/>
            <a:ext cx="9144000" cy="2519363"/>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最小元素法的缺点是：为了节省一处的费用</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有时造成在其他处要多花几倍的运费</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伏格尔法考虑到</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一产地的产品假如不能按最小运费就近供应</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就考虑次小运费</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这就有一个差额。差额越大</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说明不能按最小运费调运时</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运费增加越多</a:t>
            </a:r>
            <a:endParaRPr lang="en-US" altLang="zh-CN" b="1" dirty="0">
              <a:latin typeface="微软雅黑" pitchFamily="34" charset="-122"/>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微软雅黑" pitchFamily="34" charset="-122"/>
                <a:ea typeface="微软雅黑" pitchFamily="34" charset="-122"/>
              </a:rPr>
              <a:t>因而对差额最大处</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就应当采用最小运费调运</a:t>
            </a:r>
            <a:r>
              <a:rPr lang="zh-CN" altLang="en-US" sz="3200" dirty="0">
                <a:latin typeface="华文楷体" panose="02010600040101010101" pitchFamily="2" charset="-122"/>
                <a:ea typeface="华文楷体" panose="02010600040101010101" pitchFamily="2" charset="-122"/>
              </a:rPr>
              <a:t> </a:t>
            </a:r>
          </a:p>
        </p:txBody>
      </p:sp>
      <p:sp>
        <p:nvSpPr>
          <p:cNvPr id="14340" name="Rectangle 2"/>
          <p:cNvSpPr txBox="1"/>
          <p:nvPr/>
        </p:nvSpPr>
        <p:spPr>
          <a:xfrm>
            <a:off x="0" y="3068638"/>
            <a:ext cx="9144000" cy="431800"/>
          </a:xfrm>
          <a:prstGeom prst="rect">
            <a:avLst/>
          </a:prstGeom>
          <a:solidFill>
            <a:srgbClr val="FFFF99"/>
          </a:solidFill>
          <a:ln w="9525">
            <a:noFill/>
          </a:ln>
        </p:spPr>
        <p:txBody>
          <a:bodyPr/>
          <a:lstStyle/>
          <a:p>
            <a:r>
              <a:rPr lang="zh-CN" altLang="en-US" b="1" dirty="0">
                <a:latin typeface="微软雅黑" pitchFamily="34" charset="-122"/>
                <a:ea typeface="微软雅黑" pitchFamily="34" charset="-122"/>
              </a:rPr>
              <a:t>伏格尔法的步骤是：</a:t>
            </a:r>
          </a:p>
        </p:txBody>
      </p:sp>
      <p:sp>
        <p:nvSpPr>
          <p:cNvPr id="6" name="Rectangle 3"/>
          <p:cNvSpPr txBox="1"/>
          <p:nvPr/>
        </p:nvSpPr>
        <p:spPr>
          <a:xfrm>
            <a:off x="0" y="3500438"/>
            <a:ext cx="9144000" cy="792162"/>
          </a:xfrm>
          <a:prstGeom prst="rect">
            <a:avLst/>
          </a:prstGeom>
          <a:solidFill>
            <a:srgbClr val="B3F1F7"/>
          </a:solidFill>
          <a:ln w="9525">
            <a:noFill/>
          </a:ln>
        </p:spPr>
        <p:txBody>
          <a:bodyPr/>
          <a:lstStyle/>
          <a:p>
            <a:pPr marL="273050" indent="-273050">
              <a:spcBef>
                <a:spcPts val="600"/>
              </a:spcBef>
              <a:buClr>
                <a:schemeClr val="accent1"/>
              </a:buClr>
              <a:buSzPct val="70000"/>
              <a:buFont typeface="Wingdings" panose="05000000000000000000" pitchFamily="2" charset="2"/>
            </a:pPr>
            <a:r>
              <a:rPr lang="zh-CN" altLang="en-US" b="1" dirty="0">
                <a:solidFill>
                  <a:srgbClr val="C00000"/>
                </a:solidFill>
                <a:latin typeface="微软雅黑" pitchFamily="34" charset="-122"/>
                <a:ea typeface="微软雅黑" pitchFamily="34" charset="-122"/>
              </a:rPr>
              <a:t>第一步</a:t>
            </a:r>
            <a:r>
              <a:rPr lang="zh-CN" altLang="en-US" b="1" dirty="0">
                <a:latin typeface="微软雅黑" pitchFamily="34" charset="-122"/>
                <a:ea typeface="微软雅黑" pitchFamily="34" charset="-122"/>
              </a:rPr>
              <a:t>：在表</a:t>
            </a:r>
            <a:r>
              <a:rPr lang="en-US" altLang="zh-CN" b="1" dirty="0">
                <a:latin typeface="Times New Roman" panose="02020603050405020304" pitchFamily="18" charset="0"/>
                <a:ea typeface="微软雅黑" pitchFamily="34" charset="-122"/>
                <a:cs typeface="Times New Roman" panose="02020603050405020304" pitchFamily="18" charset="0"/>
              </a:rPr>
              <a:t>4-4</a:t>
            </a:r>
            <a:r>
              <a:rPr lang="zh-CN" altLang="en-US" b="1" dirty="0">
                <a:latin typeface="微软雅黑" pitchFamily="34" charset="-122"/>
                <a:ea typeface="微软雅黑" pitchFamily="34" charset="-122"/>
              </a:rPr>
              <a:t>中分别计算出各行和各列的最小运费和次最小运费的差额</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并填入该表的最右列和最下行</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见表</a:t>
            </a:r>
            <a:r>
              <a:rPr lang="en-US" altLang="zh-CN" b="1" dirty="0">
                <a:latin typeface="Times New Roman" panose="02020603050405020304" pitchFamily="18" charset="0"/>
                <a:ea typeface="微软雅黑" pitchFamily="34" charset="-122"/>
                <a:cs typeface="Times New Roman" panose="02020603050405020304" pitchFamily="18" charset="0"/>
              </a:rPr>
              <a:t>4-11</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337926" name="Picture 6"/>
          <p:cNvPicPr>
            <a:picLocks noChangeAspect="1"/>
          </p:cNvPicPr>
          <p:nvPr/>
        </p:nvPicPr>
        <p:blipFill>
          <a:blip r:embed="rId2"/>
          <a:stretch>
            <a:fillRect/>
          </a:stretch>
        </p:blipFill>
        <p:spPr>
          <a:xfrm>
            <a:off x="34925" y="4414838"/>
            <a:ext cx="4392613" cy="1841500"/>
          </a:xfrm>
          <a:prstGeom prst="rect">
            <a:avLst/>
          </a:prstGeom>
          <a:noFill/>
          <a:ln w="9525">
            <a:noFill/>
          </a:ln>
        </p:spPr>
      </p:pic>
      <p:sp>
        <p:nvSpPr>
          <p:cNvPr id="5" name="矩形 4"/>
          <p:cNvSpPr/>
          <p:nvPr/>
        </p:nvSpPr>
        <p:spPr>
          <a:xfrm>
            <a:off x="2051050" y="6284913"/>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337928" name="Picture 8"/>
          <p:cNvPicPr>
            <a:picLocks noChangeAspect="1"/>
          </p:cNvPicPr>
          <p:nvPr/>
        </p:nvPicPr>
        <p:blipFill>
          <a:blip r:embed="rId3"/>
          <a:stretch>
            <a:fillRect/>
          </a:stretch>
        </p:blipFill>
        <p:spPr>
          <a:xfrm>
            <a:off x="4640263" y="4437063"/>
            <a:ext cx="4503737" cy="1876425"/>
          </a:xfrm>
          <a:prstGeom prst="rect">
            <a:avLst/>
          </a:prstGeom>
          <a:noFill/>
          <a:ln w="9525">
            <a:noFill/>
          </a:ln>
        </p:spPr>
      </p:pic>
      <p:sp>
        <p:nvSpPr>
          <p:cNvPr id="7" name="矩形 4"/>
          <p:cNvSpPr/>
          <p:nvPr/>
        </p:nvSpPr>
        <p:spPr>
          <a:xfrm>
            <a:off x="6227763" y="6381750"/>
            <a:ext cx="1045286"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4-11</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5C036766-9572-45F8-AC13-7A0DF0FFD846}"/>
              </a:ext>
            </a:extLst>
          </p:cNvPr>
          <p:cNvSpPr>
            <a:spLocks noGrp="1"/>
          </p:cNvSpPr>
          <p:nvPr>
            <p:ph type="sldNum" sz="quarter" idx="12"/>
          </p:nvPr>
        </p:nvSpPr>
        <p:spPr/>
        <p:txBody>
          <a:bodyPr/>
          <a:lstStyle/>
          <a:p>
            <a:pPr>
              <a:defRPr/>
            </a:pPr>
            <a:fld id="{2AE1B59C-883C-4848-BC85-9A12DF2590B2}" type="slidenum">
              <a:rPr lang="en-US" altLang="zh-CN" smtClean="0"/>
              <a:t>23</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26"/>
                                        </p:tgtEl>
                                        <p:attrNameLst>
                                          <p:attrName>style.visibility</p:attrName>
                                        </p:attrNameLst>
                                      </p:cBhvr>
                                      <p:to>
                                        <p:strVal val="visible"/>
                                      </p:to>
                                    </p:set>
                                    <p:animEffect transition="in" filter="blinds(horizontal)">
                                      <p:cBhvr>
                                        <p:cTn id="7" dur="500"/>
                                        <p:tgtEl>
                                          <p:spTgt spid="3379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37928"/>
                                        </p:tgtEl>
                                        <p:attrNameLst>
                                          <p:attrName>style.visibility</p:attrName>
                                        </p:attrNameLst>
                                      </p:cBhvr>
                                      <p:to>
                                        <p:strVal val="visible"/>
                                      </p:to>
                                    </p:set>
                                    <p:animEffect transition="in" filter="blinds(horizontal)">
                                      <p:cBhvr>
                                        <p:cTn id="20" dur="500"/>
                                        <p:tgtEl>
                                          <p:spTgt spid="33792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4"/>
          <p:cNvSpPr/>
          <p:nvPr/>
        </p:nvSpPr>
        <p:spPr>
          <a:xfrm>
            <a:off x="6353175" y="1844675"/>
            <a:ext cx="1045286"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4-11</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15363" name="Picture 6"/>
          <p:cNvPicPr>
            <a:picLocks noChangeAspect="1"/>
          </p:cNvPicPr>
          <p:nvPr/>
        </p:nvPicPr>
        <p:blipFill>
          <a:blip r:embed="rId2"/>
          <a:stretch>
            <a:fillRect/>
          </a:stretch>
        </p:blipFill>
        <p:spPr>
          <a:xfrm>
            <a:off x="34925" y="-26987"/>
            <a:ext cx="4392613" cy="1841500"/>
          </a:xfrm>
          <a:prstGeom prst="rect">
            <a:avLst/>
          </a:prstGeom>
          <a:noFill/>
          <a:ln w="9525">
            <a:noFill/>
          </a:ln>
        </p:spPr>
      </p:pic>
      <p:sp>
        <p:nvSpPr>
          <p:cNvPr id="15364" name="矩形 4"/>
          <p:cNvSpPr/>
          <p:nvPr/>
        </p:nvSpPr>
        <p:spPr>
          <a:xfrm>
            <a:off x="2051050" y="1843088"/>
            <a:ext cx="902811"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pic>
        <p:nvPicPr>
          <p:cNvPr id="15365" name="Picture 8"/>
          <p:cNvPicPr>
            <a:picLocks noChangeAspect="1"/>
          </p:cNvPicPr>
          <p:nvPr/>
        </p:nvPicPr>
        <p:blipFill>
          <a:blip r:embed="rId3"/>
          <a:stretch>
            <a:fillRect/>
          </a:stretch>
        </p:blipFill>
        <p:spPr>
          <a:xfrm>
            <a:off x="4640263" y="-4762"/>
            <a:ext cx="4503737" cy="1876425"/>
          </a:xfrm>
          <a:prstGeom prst="rect">
            <a:avLst/>
          </a:prstGeom>
          <a:noFill/>
          <a:ln w="9525">
            <a:noFill/>
          </a:ln>
        </p:spPr>
      </p:pic>
      <p:sp>
        <p:nvSpPr>
          <p:cNvPr id="2" name="Rectangle 2"/>
          <p:cNvSpPr txBox="1"/>
          <p:nvPr/>
        </p:nvSpPr>
        <p:spPr>
          <a:xfrm>
            <a:off x="0" y="2276475"/>
            <a:ext cx="9144000" cy="1296988"/>
          </a:xfrm>
          <a:prstGeom prst="rect">
            <a:avLst/>
          </a:prstGeom>
          <a:solidFill>
            <a:srgbClr val="FFCCFF"/>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：从行或列差额中选出最大者</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选择它所在行或列中的最小元素。在表</a:t>
            </a:r>
            <a:r>
              <a:rPr lang="en-US" altLang="zh-CN" b="1" dirty="0">
                <a:latin typeface="Times New Roman" panose="02020603050405020304" pitchFamily="18" charset="0"/>
                <a:ea typeface="微软雅黑" pitchFamily="34" charset="-122"/>
              </a:rPr>
              <a:t>4-11</a:t>
            </a:r>
            <a:r>
              <a:rPr lang="zh-CN" altLang="en-US" b="1" dirty="0">
                <a:latin typeface="Times New Roman" panose="02020603050405020304" pitchFamily="18" charset="0"/>
                <a:ea typeface="微软雅黑" pitchFamily="34" charset="-122"/>
              </a:rPr>
              <a:t>中</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列是最大差额所在列。</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列中最小元素为</a:t>
            </a:r>
            <a:r>
              <a:rPr lang="en-US" altLang="zh-CN" b="1" dirty="0">
                <a:latin typeface="Times New Roman" panose="02020603050405020304" pitchFamily="18" charset="0"/>
                <a:ea typeface="微软雅黑" pitchFamily="34" charset="-122"/>
              </a:rPr>
              <a:t>4</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可确定</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的产品先供应</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的需要。得表</a:t>
            </a:r>
            <a:r>
              <a:rPr lang="en-US" altLang="zh-CN" b="1" dirty="0">
                <a:latin typeface="Times New Roman" panose="02020603050405020304" pitchFamily="18" charset="0"/>
                <a:ea typeface="微软雅黑" pitchFamily="34" charset="-122"/>
              </a:rPr>
              <a:t>4-12</a:t>
            </a:r>
            <a:endParaRPr lang="zh-CN" altLang="en-US" sz="3200" dirty="0">
              <a:latin typeface="Times New Roman" panose="02020603050405020304" pitchFamily="18" charset="0"/>
              <a:ea typeface="华文楷体" panose="02010600040101010101" pitchFamily="2" charset="-122"/>
            </a:endParaRPr>
          </a:p>
        </p:txBody>
      </p:sp>
      <p:pic>
        <p:nvPicPr>
          <p:cNvPr id="338955" name="Picture 11"/>
          <p:cNvPicPr>
            <a:picLocks noChangeAspect="1"/>
          </p:cNvPicPr>
          <p:nvPr/>
        </p:nvPicPr>
        <p:blipFill>
          <a:blip r:embed="rId4"/>
          <a:stretch>
            <a:fillRect/>
          </a:stretch>
        </p:blipFill>
        <p:spPr>
          <a:xfrm>
            <a:off x="0" y="4395788"/>
            <a:ext cx="4211638" cy="1849437"/>
          </a:xfrm>
          <a:prstGeom prst="rect">
            <a:avLst/>
          </a:prstGeom>
          <a:noFill/>
          <a:ln w="9525">
            <a:noFill/>
          </a:ln>
        </p:spPr>
      </p:pic>
      <p:sp>
        <p:nvSpPr>
          <p:cNvPr id="4" name="矩形 4"/>
          <p:cNvSpPr/>
          <p:nvPr/>
        </p:nvSpPr>
        <p:spPr>
          <a:xfrm>
            <a:off x="1403350" y="6308725"/>
            <a:ext cx="1056700"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4-12</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6" name="Rectangle 2"/>
          <p:cNvSpPr txBox="1"/>
          <p:nvPr/>
        </p:nvSpPr>
        <p:spPr>
          <a:xfrm>
            <a:off x="0" y="3573463"/>
            <a:ext cx="9144000" cy="431800"/>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同时将运价表中的</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2</a:t>
            </a:r>
            <a:r>
              <a:rPr lang="zh-CN" altLang="en-US" b="1" dirty="0">
                <a:latin typeface="Times New Roman" panose="02020603050405020304" pitchFamily="18" charset="0"/>
                <a:ea typeface="微软雅黑" pitchFamily="34" charset="-122"/>
              </a:rPr>
              <a:t>列数字划去。如表</a:t>
            </a:r>
            <a:r>
              <a:rPr lang="en-US" altLang="zh-CN" b="1" dirty="0">
                <a:latin typeface="Times New Roman" panose="02020603050405020304" pitchFamily="18" charset="0"/>
                <a:ea typeface="微软雅黑" pitchFamily="34" charset="-122"/>
              </a:rPr>
              <a:t>4-13</a:t>
            </a:r>
            <a:r>
              <a:rPr lang="zh-CN" altLang="en-US" b="1" dirty="0">
                <a:latin typeface="Times New Roman" panose="02020603050405020304" pitchFamily="18" charset="0"/>
                <a:ea typeface="微软雅黑" pitchFamily="34" charset="-122"/>
              </a:rPr>
              <a:t>所示</a:t>
            </a:r>
          </a:p>
        </p:txBody>
      </p:sp>
      <p:pic>
        <p:nvPicPr>
          <p:cNvPr id="338958" name="Picture 14"/>
          <p:cNvPicPr>
            <a:picLocks noChangeAspect="1"/>
          </p:cNvPicPr>
          <p:nvPr/>
        </p:nvPicPr>
        <p:blipFill>
          <a:blip r:embed="rId5"/>
          <a:stretch>
            <a:fillRect/>
          </a:stretch>
        </p:blipFill>
        <p:spPr>
          <a:xfrm>
            <a:off x="4427538" y="4381500"/>
            <a:ext cx="4716462" cy="1827213"/>
          </a:xfrm>
          <a:prstGeom prst="rect">
            <a:avLst/>
          </a:prstGeom>
          <a:noFill/>
          <a:ln w="9525">
            <a:noFill/>
          </a:ln>
        </p:spPr>
      </p:pic>
      <p:sp>
        <p:nvSpPr>
          <p:cNvPr id="7" name="矩形 4"/>
          <p:cNvSpPr/>
          <p:nvPr/>
        </p:nvSpPr>
        <p:spPr>
          <a:xfrm>
            <a:off x="6300788" y="6237288"/>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4-13</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12" name="椭圆 11"/>
          <p:cNvSpPr/>
          <p:nvPr/>
        </p:nvSpPr>
        <p:spPr>
          <a:xfrm>
            <a:off x="6516688" y="1196975"/>
            <a:ext cx="576262" cy="360363"/>
          </a:xfrm>
          <a:prstGeom prst="ellipse">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3" name="椭圆 12"/>
          <p:cNvSpPr/>
          <p:nvPr/>
        </p:nvSpPr>
        <p:spPr>
          <a:xfrm>
            <a:off x="1835150" y="5516563"/>
            <a:ext cx="576263" cy="360362"/>
          </a:xfrm>
          <a:prstGeom prst="ellipse">
            <a:avLst/>
          </a:prstGeom>
          <a:noFill/>
          <a:ln w="381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3" name="灯片编号占位符 2">
            <a:extLst>
              <a:ext uri="{FF2B5EF4-FFF2-40B4-BE49-F238E27FC236}">
                <a16:creationId xmlns:a16="http://schemas.microsoft.com/office/drawing/2014/main" id="{B94EAF8E-4281-4E5B-97D2-00C3B79AF608}"/>
              </a:ext>
            </a:extLst>
          </p:cNvPr>
          <p:cNvSpPr>
            <a:spLocks noGrp="1"/>
          </p:cNvSpPr>
          <p:nvPr>
            <p:ph type="sldNum" sz="quarter" idx="12"/>
          </p:nvPr>
        </p:nvSpPr>
        <p:spPr/>
        <p:txBody>
          <a:bodyPr/>
          <a:lstStyle/>
          <a:p>
            <a:pPr>
              <a:defRPr/>
            </a:pPr>
            <a:fld id="{2AE1B59C-883C-4848-BC85-9A12DF2590B2}" type="slidenum">
              <a:rPr lang="en-US" altLang="zh-CN" smtClean="0"/>
              <a:t>24</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8955"/>
                                        </p:tgtEl>
                                        <p:attrNameLst>
                                          <p:attrName>style.visibility</p:attrName>
                                        </p:attrNameLst>
                                      </p:cBhvr>
                                      <p:to>
                                        <p:strVal val="visible"/>
                                      </p:to>
                                    </p:set>
                                    <p:animEffect transition="in" filter="blinds(horizontal)">
                                      <p:cBhvr>
                                        <p:cTn id="17" dur="500"/>
                                        <p:tgtEl>
                                          <p:spTgt spid="33895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38958"/>
                                        </p:tgtEl>
                                        <p:attrNameLst>
                                          <p:attrName>style.visibility</p:attrName>
                                        </p:attrNameLst>
                                      </p:cBhvr>
                                      <p:to>
                                        <p:strVal val="visible"/>
                                      </p:to>
                                    </p:set>
                                    <p:animEffect transition="in" filter="blinds(horizontal)">
                                      <p:cBhvr>
                                        <p:cTn id="35" dur="500"/>
                                        <p:tgtEl>
                                          <p:spTgt spid="338958"/>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linds(horizontal)">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4"/>
          <p:cNvSpPr/>
          <p:nvPr/>
        </p:nvSpPr>
        <p:spPr>
          <a:xfrm>
            <a:off x="6300788" y="1819275"/>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4-13</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16387" name="矩形 4"/>
          <p:cNvSpPr/>
          <p:nvPr/>
        </p:nvSpPr>
        <p:spPr>
          <a:xfrm>
            <a:off x="1403350" y="1844675"/>
            <a:ext cx="1056700"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4-12</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 name="Rectangle 5"/>
          <p:cNvSpPr txBox="1"/>
          <p:nvPr/>
        </p:nvSpPr>
        <p:spPr>
          <a:xfrm>
            <a:off x="0" y="2205038"/>
            <a:ext cx="9144000" cy="1728787"/>
          </a:xfrm>
          <a:prstGeom prst="rect">
            <a:avLst/>
          </a:prstGeom>
          <a:noFill/>
          <a:ln w="9525">
            <a:noFill/>
          </a:ln>
        </p:spPr>
        <p:txBody>
          <a:bodyPr/>
          <a:lstStyle/>
          <a:p>
            <a:r>
              <a:rPr lang="zh-CN" altLang="en-US" b="1" dirty="0">
                <a:solidFill>
                  <a:srgbClr val="C00000"/>
                </a:solidFill>
                <a:latin typeface="微软雅黑" pitchFamily="34" charset="-122"/>
                <a:ea typeface="微软雅黑" pitchFamily="34" charset="-122"/>
              </a:rPr>
              <a:t>第三步</a:t>
            </a:r>
            <a:r>
              <a:rPr lang="zh-CN" altLang="en-US" b="1" dirty="0">
                <a:latin typeface="微软雅黑" pitchFamily="34" charset="-122"/>
                <a:ea typeface="微软雅黑" pitchFamily="34" charset="-122"/>
              </a:rPr>
              <a:t>：对表</a:t>
            </a:r>
            <a:r>
              <a:rPr lang="en-US" altLang="zh-CN" b="1" dirty="0">
                <a:latin typeface="Times New Roman" panose="02020603050405020304" pitchFamily="18" charset="0"/>
                <a:ea typeface="微软雅黑" pitchFamily="34" charset="-122"/>
                <a:cs typeface="Times New Roman" panose="02020603050405020304" pitchFamily="18" charset="0"/>
              </a:rPr>
              <a:t>4-13</a:t>
            </a:r>
            <a:r>
              <a:rPr lang="zh-CN" altLang="en-US" b="1" dirty="0">
                <a:latin typeface="微软雅黑" pitchFamily="34" charset="-122"/>
                <a:ea typeface="微软雅黑" pitchFamily="34" charset="-122"/>
              </a:rPr>
              <a:t>中未划去的元素再分别计算出各行、各列的最小运费和次最小运费的差额</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并填入该表的最右列和最下行。重复第一、二步。直到给出初始解为止</a:t>
            </a:r>
            <a:endParaRPr lang="en-US" altLang="zh-CN" b="1" dirty="0">
              <a:latin typeface="微软雅黑" pitchFamily="34" charset="-122"/>
              <a:ea typeface="微软雅黑" pitchFamily="34" charset="-122"/>
            </a:endParaRPr>
          </a:p>
          <a:p>
            <a:r>
              <a:rPr lang="zh-CN" altLang="en-US" b="1" dirty="0">
                <a:latin typeface="微软雅黑" pitchFamily="34" charset="-122"/>
                <a:ea typeface="微软雅黑" pitchFamily="34" charset="-122"/>
              </a:rPr>
              <a:t>用此法给出</a:t>
            </a:r>
            <a:r>
              <a:rPr lang="zh-CN" altLang="en-US" b="1" dirty="0">
                <a:solidFill>
                  <a:srgbClr val="FF0000"/>
                </a:solidFill>
                <a:latin typeface="微软雅黑" pitchFamily="34" charset="-122"/>
                <a:ea typeface="微软雅黑" pitchFamily="34" charset="-122"/>
              </a:rPr>
              <a:t>例</a:t>
            </a:r>
            <a:r>
              <a:rPr lang="en-US" altLang="zh-CN" b="1" dirty="0">
                <a:solidFill>
                  <a:srgbClr val="FF0000"/>
                </a:solidFill>
                <a:latin typeface="Times New Roman" panose="02020603050405020304" pitchFamily="18" charset="0"/>
                <a:cs typeface="Times New Roman" panose="02020603050405020304" pitchFamily="18" charset="0"/>
              </a:rPr>
              <a:t>4-1</a:t>
            </a:r>
            <a:r>
              <a:rPr lang="zh-CN" altLang="en-US" b="1" dirty="0">
                <a:latin typeface="微软雅黑" pitchFamily="34" charset="-122"/>
                <a:ea typeface="微软雅黑" pitchFamily="34" charset="-122"/>
              </a:rPr>
              <a:t>的初始解列于表</a:t>
            </a:r>
            <a:r>
              <a:rPr lang="en-US" altLang="zh-CN" b="1" dirty="0">
                <a:latin typeface="Times New Roman" panose="02020603050405020304" pitchFamily="18" charset="0"/>
                <a:ea typeface="微软雅黑" pitchFamily="34" charset="-122"/>
                <a:cs typeface="Times New Roman" panose="02020603050405020304" pitchFamily="18" charset="0"/>
              </a:rPr>
              <a:t>4-14</a:t>
            </a:r>
            <a:endParaRPr lang="zh-CN" altLang="en-US" b="1" dirty="0">
              <a:latin typeface="Times New Roman" panose="02020603050405020304" pitchFamily="18" charset="0"/>
              <a:ea typeface="微软雅黑" pitchFamily="34" charset="-122"/>
              <a:cs typeface="Times New Roman" panose="02020603050405020304" pitchFamily="18" charset="0"/>
            </a:endParaRPr>
          </a:p>
        </p:txBody>
      </p:sp>
      <p:pic>
        <p:nvPicPr>
          <p:cNvPr id="16389" name="Picture 5"/>
          <p:cNvPicPr>
            <a:picLocks noChangeAspect="1"/>
          </p:cNvPicPr>
          <p:nvPr/>
        </p:nvPicPr>
        <p:blipFill>
          <a:blip r:embed="rId2"/>
          <a:stretch>
            <a:fillRect/>
          </a:stretch>
        </p:blipFill>
        <p:spPr>
          <a:xfrm>
            <a:off x="0" y="58738"/>
            <a:ext cx="4211638" cy="1849437"/>
          </a:xfrm>
          <a:prstGeom prst="rect">
            <a:avLst/>
          </a:prstGeom>
          <a:noFill/>
          <a:ln w="9525">
            <a:noFill/>
          </a:ln>
        </p:spPr>
      </p:pic>
      <p:pic>
        <p:nvPicPr>
          <p:cNvPr id="16390" name="Picture 7"/>
          <p:cNvPicPr>
            <a:picLocks noChangeAspect="1"/>
          </p:cNvPicPr>
          <p:nvPr/>
        </p:nvPicPr>
        <p:blipFill>
          <a:blip r:embed="rId3"/>
          <a:stretch>
            <a:fillRect/>
          </a:stretch>
        </p:blipFill>
        <p:spPr>
          <a:xfrm>
            <a:off x="4427538" y="44450"/>
            <a:ext cx="4716462" cy="1827213"/>
          </a:xfrm>
          <a:prstGeom prst="rect">
            <a:avLst/>
          </a:prstGeom>
          <a:noFill/>
          <a:ln w="9525">
            <a:noFill/>
          </a:ln>
        </p:spPr>
      </p:pic>
      <p:pic>
        <p:nvPicPr>
          <p:cNvPr id="342025" name="Picture 9"/>
          <p:cNvPicPr>
            <a:picLocks noChangeAspect="1"/>
          </p:cNvPicPr>
          <p:nvPr/>
        </p:nvPicPr>
        <p:blipFill>
          <a:blip r:embed="rId4"/>
          <a:stretch>
            <a:fillRect/>
          </a:stretch>
        </p:blipFill>
        <p:spPr>
          <a:xfrm>
            <a:off x="1042988" y="3860800"/>
            <a:ext cx="6264275" cy="2622550"/>
          </a:xfrm>
          <a:prstGeom prst="rect">
            <a:avLst/>
          </a:prstGeom>
          <a:noFill/>
          <a:ln w="9525">
            <a:noFill/>
          </a:ln>
        </p:spPr>
      </p:pic>
      <p:sp>
        <p:nvSpPr>
          <p:cNvPr id="4" name="矩形 4"/>
          <p:cNvSpPr/>
          <p:nvPr/>
        </p:nvSpPr>
        <p:spPr>
          <a:xfrm>
            <a:off x="7301981" y="5972464"/>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42028" name="Rectangle 12"/>
          <p:cNvSpPr/>
          <p:nvPr/>
        </p:nvSpPr>
        <p:spPr>
          <a:xfrm>
            <a:off x="5580063" y="5589588"/>
            <a:ext cx="504825" cy="360362"/>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29" name="Rectangle 13"/>
          <p:cNvSpPr/>
          <p:nvPr/>
        </p:nvSpPr>
        <p:spPr>
          <a:xfrm>
            <a:off x="5580063" y="5157788"/>
            <a:ext cx="504825" cy="360362"/>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0" name="Rectangle 14"/>
          <p:cNvSpPr/>
          <p:nvPr/>
        </p:nvSpPr>
        <p:spPr>
          <a:xfrm>
            <a:off x="5651500" y="4797425"/>
            <a:ext cx="504825" cy="360363"/>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1" name="Rectangle 15"/>
          <p:cNvSpPr/>
          <p:nvPr/>
        </p:nvSpPr>
        <p:spPr>
          <a:xfrm>
            <a:off x="4787900" y="4797425"/>
            <a:ext cx="504825" cy="360363"/>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2" name="Rectangle 16"/>
          <p:cNvSpPr/>
          <p:nvPr/>
        </p:nvSpPr>
        <p:spPr>
          <a:xfrm>
            <a:off x="3203575" y="5157788"/>
            <a:ext cx="504825" cy="360362"/>
          </a:xfrm>
          <a:prstGeom prst="rect">
            <a:avLst/>
          </a:prstGeom>
          <a:solidFill>
            <a:srgbClr val="B3F1F7"/>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3" name="Oval 17"/>
          <p:cNvSpPr/>
          <p:nvPr/>
        </p:nvSpPr>
        <p:spPr>
          <a:xfrm>
            <a:off x="7667625" y="1557338"/>
            <a:ext cx="433388"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4" name="Line 18"/>
          <p:cNvSpPr/>
          <p:nvPr/>
        </p:nvSpPr>
        <p:spPr>
          <a:xfrm>
            <a:off x="4787900" y="1412875"/>
            <a:ext cx="4105275" cy="0"/>
          </a:xfrm>
          <a:prstGeom prst="line">
            <a:avLst/>
          </a:prstGeom>
          <a:ln w="38100" cap="flat" cmpd="sng">
            <a:solidFill>
              <a:schemeClr val="hlink"/>
            </a:solidFill>
            <a:prstDash val="solid"/>
            <a:headEnd type="none" w="med" len="med"/>
            <a:tailEnd type="none" w="med" len="med"/>
          </a:ln>
        </p:spPr>
      </p:sp>
      <p:sp>
        <p:nvSpPr>
          <p:cNvPr id="342035" name="Oval 19"/>
          <p:cNvSpPr/>
          <p:nvPr/>
        </p:nvSpPr>
        <p:spPr>
          <a:xfrm>
            <a:off x="5940425" y="1557338"/>
            <a:ext cx="433388"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36" name="Line 20"/>
          <p:cNvSpPr/>
          <p:nvPr/>
        </p:nvSpPr>
        <p:spPr>
          <a:xfrm>
            <a:off x="6156325" y="0"/>
            <a:ext cx="0" cy="1916113"/>
          </a:xfrm>
          <a:prstGeom prst="line">
            <a:avLst/>
          </a:prstGeom>
          <a:ln w="38100" cap="flat" cmpd="sng">
            <a:solidFill>
              <a:schemeClr val="hlink"/>
            </a:solidFill>
            <a:prstDash val="solid"/>
            <a:headEnd type="none" w="med" len="med"/>
            <a:tailEnd type="none" w="med" len="med"/>
          </a:ln>
        </p:spPr>
      </p:sp>
      <p:sp>
        <p:nvSpPr>
          <p:cNvPr id="342037" name="Text Box 21"/>
          <p:cNvSpPr txBox="1"/>
          <p:nvPr/>
        </p:nvSpPr>
        <p:spPr>
          <a:xfrm>
            <a:off x="7734300" y="1564957"/>
            <a:ext cx="288748" cy="400110"/>
          </a:xfrm>
          <a:prstGeom prst="rect">
            <a:avLst/>
          </a:prstGeom>
          <a:solidFill>
            <a:srgbClr val="B3F1F7"/>
          </a:solidFill>
          <a:ln w="9525">
            <a:noFill/>
          </a:ln>
        </p:spPr>
        <p:txBody>
          <a:bodyPr wrap="square">
            <a:spAutoFit/>
          </a:bodyPr>
          <a:lstStyle/>
          <a:p>
            <a:pPr eaLnBrk="1" hangingPunct="1">
              <a:spcBef>
                <a:spcPts val="0"/>
              </a:spcBef>
            </a:pPr>
            <a:r>
              <a:rPr lang="en-US" altLang="zh-CN" sz="2000" dirty="0">
                <a:latin typeface="Times New Roman" panose="02020603050405020304" pitchFamily="18" charset="0"/>
                <a:ea typeface="微软雅黑" pitchFamily="34" charset="-122"/>
              </a:rPr>
              <a:t>2</a:t>
            </a:r>
          </a:p>
        </p:txBody>
      </p:sp>
      <p:sp>
        <p:nvSpPr>
          <p:cNvPr id="342038" name="Text Box 22"/>
          <p:cNvSpPr txBox="1"/>
          <p:nvPr/>
        </p:nvSpPr>
        <p:spPr>
          <a:xfrm>
            <a:off x="8459788" y="692150"/>
            <a:ext cx="433387" cy="581025"/>
          </a:xfrm>
          <a:prstGeom prst="rect">
            <a:avLst/>
          </a:prstGeom>
          <a:solidFill>
            <a:srgbClr val="B3F1F7"/>
          </a:solidFill>
          <a:ln w="9525">
            <a:noFill/>
          </a:ln>
        </p:spPr>
        <p:txBody>
          <a:bodyPr>
            <a:spAutoFit/>
          </a:bodyPr>
          <a:lstStyle/>
          <a:p>
            <a:pPr eaLnBrk="1" hangingPunct="1">
              <a:lnSpc>
                <a:spcPct val="80000"/>
              </a:lnSpc>
            </a:pPr>
            <a:r>
              <a:rPr lang="en-US" altLang="zh-CN" sz="2000" dirty="0">
                <a:latin typeface="Times New Roman" panose="02020603050405020304" pitchFamily="18" charset="0"/>
                <a:ea typeface="微软雅黑" pitchFamily="34" charset="-122"/>
              </a:rPr>
              <a:t>7</a:t>
            </a:r>
          </a:p>
          <a:p>
            <a:pPr eaLnBrk="1" hangingPunct="1">
              <a:lnSpc>
                <a:spcPct val="80000"/>
              </a:lnSpc>
            </a:pPr>
            <a:r>
              <a:rPr lang="en-US" altLang="zh-CN" sz="2000" dirty="0">
                <a:latin typeface="Times New Roman" panose="02020603050405020304" pitchFamily="18" charset="0"/>
                <a:ea typeface="微软雅黑" pitchFamily="34" charset="-122"/>
              </a:rPr>
              <a:t>6</a:t>
            </a:r>
          </a:p>
        </p:txBody>
      </p:sp>
      <p:sp>
        <p:nvSpPr>
          <p:cNvPr id="342039" name="Oval 23"/>
          <p:cNvSpPr/>
          <p:nvPr/>
        </p:nvSpPr>
        <p:spPr>
          <a:xfrm>
            <a:off x="8388350" y="692150"/>
            <a:ext cx="433388"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42040" name="Line 24"/>
          <p:cNvSpPr/>
          <p:nvPr/>
        </p:nvSpPr>
        <p:spPr>
          <a:xfrm>
            <a:off x="7308850" y="0"/>
            <a:ext cx="0" cy="1916113"/>
          </a:xfrm>
          <a:prstGeom prst="line">
            <a:avLst/>
          </a:prstGeom>
          <a:ln w="38100" cap="flat" cmpd="sng">
            <a:solidFill>
              <a:schemeClr val="hlink"/>
            </a:solidFill>
            <a:prstDash val="solid"/>
            <a:headEnd type="none" w="med" len="med"/>
            <a:tailEnd type="none" w="med" len="med"/>
          </a:ln>
        </p:spPr>
      </p:sp>
      <p:sp>
        <p:nvSpPr>
          <p:cNvPr id="342041" name="Line 25"/>
          <p:cNvSpPr/>
          <p:nvPr/>
        </p:nvSpPr>
        <p:spPr>
          <a:xfrm>
            <a:off x="5038725" y="1125538"/>
            <a:ext cx="4105275" cy="0"/>
          </a:xfrm>
          <a:prstGeom prst="line">
            <a:avLst/>
          </a:prstGeom>
          <a:ln w="38100" cap="flat" cmpd="sng">
            <a:solidFill>
              <a:schemeClr val="hlink"/>
            </a:solidFill>
            <a:prstDash val="solid"/>
            <a:headEnd type="none" w="med" len="med"/>
            <a:tailEnd type="none" w="med" len="med"/>
          </a:ln>
        </p:spPr>
      </p:sp>
      <p:sp>
        <p:nvSpPr>
          <p:cNvPr id="2" name="灯片编号占位符 1">
            <a:extLst>
              <a:ext uri="{FF2B5EF4-FFF2-40B4-BE49-F238E27FC236}">
                <a16:creationId xmlns:a16="http://schemas.microsoft.com/office/drawing/2014/main" id="{302DEB19-DB91-4411-8D2B-5933E3ADE26A}"/>
              </a:ext>
            </a:extLst>
          </p:cNvPr>
          <p:cNvSpPr>
            <a:spLocks noGrp="1"/>
          </p:cNvSpPr>
          <p:nvPr>
            <p:ph type="sldNum" sz="quarter" idx="12"/>
          </p:nvPr>
        </p:nvSpPr>
        <p:spPr/>
        <p:txBody>
          <a:bodyPr/>
          <a:lstStyle/>
          <a:p>
            <a:pPr>
              <a:defRPr/>
            </a:pPr>
            <a:fld id="{2AE1B59C-883C-4848-BC85-9A12DF2590B2}" type="slidenum">
              <a:rPr lang="en-US" altLang="zh-CN" smtClean="0"/>
              <a:t>25</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2032"/>
                                        </p:tgtEl>
                                        <p:attrNameLst>
                                          <p:attrName>style.visibility</p:attrName>
                                        </p:attrNameLst>
                                      </p:cBhvr>
                                      <p:to>
                                        <p:strVal val="visible"/>
                                      </p:to>
                                    </p:set>
                                    <p:animEffect transition="in" filter="blinds(horizontal)">
                                      <p:cBhvr>
                                        <p:cTn id="12" dur="500"/>
                                        <p:tgtEl>
                                          <p:spTgt spid="34203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42031"/>
                                        </p:tgtEl>
                                        <p:attrNameLst>
                                          <p:attrName>style.visibility</p:attrName>
                                        </p:attrNameLst>
                                      </p:cBhvr>
                                      <p:to>
                                        <p:strVal val="visible"/>
                                      </p:to>
                                    </p:set>
                                    <p:animEffect transition="in" filter="blinds(horizontal)">
                                      <p:cBhvr>
                                        <p:cTn id="15" dur="500"/>
                                        <p:tgtEl>
                                          <p:spTgt spid="34203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42030"/>
                                        </p:tgtEl>
                                        <p:attrNameLst>
                                          <p:attrName>style.visibility</p:attrName>
                                        </p:attrNameLst>
                                      </p:cBhvr>
                                      <p:to>
                                        <p:strVal val="visible"/>
                                      </p:to>
                                    </p:set>
                                    <p:animEffect transition="in" filter="blinds(horizontal)">
                                      <p:cBhvr>
                                        <p:cTn id="18" dur="500"/>
                                        <p:tgtEl>
                                          <p:spTgt spid="34203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42029"/>
                                        </p:tgtEl>
                                        <p:attrNameLst>
                                          <p:attrName>style.visibility</p:attrName>
                                        </p:attrNameLst>
                                      </p:cBhvr>
                                      <p:to>
                                        <p:strVal val="visible"/>
                                      </p:to>
                                    </p:set>
                                    <p:animEffect transition="in" filter="blinds(horizontal)">
                                      <p:cBhvr>
                                        <p:cTn id="21" dur="500"/>
                                        <p:tgtEl>
                                          <p:spTgt spid="34202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42028"/>
                                        </p:tgtEl>
                                        <p:attrNameLst>
                                          <p:attrName>style.visibility</p:attrName>
                                        </p:attrNameLst>
                                      </p:cBhvr>
                                      <p:to>
                                        <p:strVal val="visible"/>
                                      </p:to>
                                    </p:set>
                                    <p:animEffect transition="in" filter="blinds(horizontal)">
                                      <p:cBhvr>
                                        <p:cTn id="24" dur="500"/>
                                        <p:tgtEl>
                                          <p:spTgt spid="342028"/>
                                        </p:tgtEl>
                                      </p:cBhvr>
                                    </p:animEffect>
                                  </p:childTnLst>
                                </p:cTn>
                              </p:par>
                              <p:par>
                                <p:cTn id="25" presetID="3" presetClass="entr" presetSubtype="10" fill="hold" nodeType="withEffect">
                                  <p:stCondLst>
                                    <p:cond delay="0"/>
                                  </p:stCondLst>
                                  <p:childTnLst>
                                    <p:set>
                                      <p:cBhvr>
                                        <p:cTn id="26" dur="1" fill="hold">
                                          <p:stCondLst>
                                            <p:cond delay="0"/>
                                          </p:stCondLst>
                                        </p:cTn>
                                        <p:tgtEl>
                                          <p:spTgt spid="342025"/>
                                        </p:tgtEl>
                                        <p:attrNameLst>
                                          <p:attrName>style.visibility</p:attrName>
                                        </p:attrNameLst>
                                      </p:cBhvr>
                                      <p:to>
                                        <p:strVal val="visible"/>
                                      </p:to>
                                    </p:set>
                                    <p:animEffect transition="in" filter="blinds(horizontal)">
                                      <p:cBhvr>
                                        <p:cTn id="27" dur="500"/>
                                        <p:tgtEl>
                                          <p:spTgt spid="34202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42033"/>
                                        </p:tgtEl>
                                        <p:attrNameLst>
                                          <p:attrName>style.visibility</p:attrName>
                                        </p:attrNameLst>
                                      </p:cBhvr>
                                      <p:to>
                                        <p:strVal val="visible"/>
                                      </p:to>
                                    </p:set>
                                    <p:animEffect transition="in" filter="blinds(horizontal)">
                                      <p:cBhvr>
                                        <p:cTn id="35" dur="500"/>
                                        <p:tgtEl>
                                          <p:spTgt spid="34203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1" nodeType="clickEffect">
                                  <p:stCondLst>
                                    <p:cond delay="0"/>
                                  </p:stCondLst>
                                  <p:childTnLst>
                                    <p:animEffect transition="out" filter="blinds(horizontal)">
                                      <p:cBhvr>
                                        <p:cTn id="39" dur="500"/>
                                        <p:tgtEl>
                                          <p:spTgt spid="342028"/>
                                        </p:tgtEl>
                                      </p:cBhvr>
                                    </p:animEffect>
                                    <p:set>
                                      <p:cBhvr>
                                        <p:cTn id="40" dur="1" fill="hold">
                                          <p:stCondLst>
                                            <p:cond delay="499"/>
                                          </p:stCondLst>
                                        </p:cTn>
                                        <p:tgtEl>
                                          <p:spTgt spid="34202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42034"/>
                                        </p:tgtEl>
                                        <p:attrNameLst>
                                          <p:attrName>style.visibility</p:attrName>
                                        </p:attrNameLst>
                                      </p:cBhvr>
                                      <p:to>
                                        <p:strVal val="visible"/>
                                      </p:to>
                                    </p:set>
                                    <p:animEffect transition="in" filter="blinds(horizontal)">
                                      <p:cBhvr>
                                        <p:cTn id="45" dur="500"/>
                                        <p:tgtEl>
                                          <p:spTgt spid="34203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42037"/>
                                        </p:tgtEl>
                                        <p:attrNameLst>
                                          <p:attrName>style.visibility</p:attrName>
                                        </p:attrNameLst>
                                      </p:cBhvr>
                                      <p:to>
                                        <p:strVal val="visible"/>
                                      </p:to>
                                    </p:set>
                                    <p:animEffect transition="in" filter="blinds(horizontal)">
                                      <p:cBhvr>
                                        <p:cTn id="50" dur="500"/>
                                        <p:tgtEl>
                                          <p:spTgt spid="342037"/>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42035"/>
                                        </p:tgtEl>
                                        <p:attrNameLst>
                                          <p:attrName>style.visibility</p:attrName>
                                        </p:attrNameLst>
                                      </p:cBhvr>
                                      <p:to>
                                        <p:strVal val="visible"/>
                                      </p:to>
                                    </p:set>
                                    <p:animEffect transition="in" filter="blinds(horizontal)">
                                      <p:cBhvr>
                                        <p:cTn id="55" dur="500"/>
                                        <p:tgtEl>
                                          <p:spTgt spid="34203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1" nodeType="clickEffect">
                                  <p:stCondLst>
                                    <p:cond delay="0"/>
                                  </p:stCondLst>
                                  <p:childTnLst>
                                    <p:animEffect transition="out" filter="blinds(horizontal)">
                                      <p:cBhvr>
                                        <p:cTn id="59" dur="500"/>
                                        <p:tgtEl>
                                          <p:spTgt spid="342032"/>
                                        </p:tgtEl>
                                      </p:cBhvr>
                                    </p:animEffect>
                                    <p:set>
                                      <p:cBhvr>
                                        <p:cTn id="60" dur="1" fill="hold">
                                          <p:stCondLst>
                                            <p:cond delay="499"/>
                                          </p:stCondLst>
                                        </p:cTn>
                                        <p:tgtEl>
                                          <p:spTgt spid="342032"/>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42036"/>
                                        </p:tgtEl>
                                        <p:attrNameLst>
                                          <p:attrName>style.visibility</p:attrName>
                                        </p:attrNameLst>
                                      </p:cBhvr>
                                      <p:to>
                                        <p:strVal val="visible"/>
                                      </p:to>
                                    </p:set>
                                    <p:animEffect transition="in" filter="blinds(horizontal)">
                                      <p:cBhvr>
                                        <p:cTn id="65" dur="500"/>
                                        <p:tgtEl>
                                          <p:spTgt spid="342036"/>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42038"/>
                                        </p:tgtEl>
                                        <p:attrNameLst>
                                          <p:attrName>style.visibility</p:attrName>
                                        </p:attrNameLst>
                                      </p:cBhvr>
                                      <p:to>
                                        <p:strVal val="visible"/>
                                      </p:to>
                                    </p:set>
                                    <p:animEffect transition="in" filter="blinds(horizontal)">
                                      <p:cBhvr>
                                        <p:cTn id="70" dur="500"/>
                                        <p:tgtEl>
                                          <p:spTgt spid="342038"/>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42039"/>
                                        </p:tgtEl>
                                        <p:attrNameLst>
                                          <p:attrName>style.visibility</p:attrName>
                                        </p:attrNameLst>
                                      </p:cBhvr>
                                      <p:to>
                                        <p:strVal val="visible"/>
                                      </p:to>
                                    </p:set>
                                    <p:animEffect transition="in" filter="blinds(horizontal)">
                                      <p:cBhvr>
                                        <p:cTn id="75" dur="500"/>
                                        <p:tgtEl>
                                          <p:spTgt spid="342039"/>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342031"/>
                                        </p:tgtEl>
                                      </p:cBhvr>
                                    </p:animEffect>
                                    <p:set>
                                      <p:cBhvr>
                                        <p:cTn id="80" dur="1" fill="hold">
                                          <p:stCondLst>
                                            <p:cond delay="499"/>
                                          </p:stCondLst>
                                        </p:cTn>
                                        <p:tgtEl>
                                          <p:spTgt spid="34203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342040"/>
                                        </p:tgtEl>
                                        <p:attrNameLst>
                                          <p:attrName>style.visibility</p:attrName>
                                        </p:attrNameLst>
                                      </p:cBhvr>
                                      <p:to>
                                        <p:strVal val="visible"/>
                                      </p:to>
                                    </p:set>
                                    <p:animEffect transition="in" filter="blinds(horizontal)">
                                      <p:cBhvr>
                                        <p:cTn id="85" dur="500"/>
                                        <p:tgtEl>
                                          <p:spTgt spid="342040"/>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xit" presetSubtype="10" fill="hold" grpId="1" nodeType="clickEffect">
                                  <p:stCondLst>
                                    <p:cond delay="0"/>
                                  </p:stCondLst>
                                  <p:childTnLst>
                                    <p:animEffect transition="out" filter="blinds(horizontal)">
                                      <p:cBhvr>
                                        <p:cTn id="89" dur="500"/>
                                        <p:tgtEl>
                                          <p:spTgt spid="342029"/>
                                        </p:tgtEl>
                                      </p:cBhvr>
                                    </p:animEffect>
                                    <p:set>
                                      <p:cBhvr>
                                        <p:cTn id="90" dur="1" fill="hold">
                                          <p:stCondLst>
                                            <p:cond delay="499"/>
                                          </p:stCondLst>
                                        </p:cTn>
                                        <p:tgtEl>
                                          <p:spTgt spid="34202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342041"/>
                                        </p:tgtEl>
                                        <p:attrNameLst>
                                          <p:attrName>style.visibility</p:attrName>
                                        </p:attrNameLst>
                                      </p:cBhvr>
                                      <p:to>
                                        <p:strVal val="visible"/>
                                      </p:to>
                                    </p:set>
                                    <p:animEffect transition="in" filter="blinds(horizontal)">
                                      <p:cBhvr>
                                        <p:cTn id="95" dur="500"/>
                                        <p:tgtEl>
                                          <p:spTgt spid="342041"/>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xit" presetSubtype="10" fill="hold" grpId="1" nodeType="clickEffect">
                                  <p:stCondLst>
                                    <p:cond delay="0"/>
                                  </p:stCondLst>
                                  <p:childTnLst>
                                    <p:animEffect transition="out" filter="blinds(horizontal)">
                                      <p:cBhvr>
                                        <p:cTn id="99" dur="500"/>
                                        <p:tgtEl>
                                          <p:spTgt spid="342030"/>
                                        </p:tgtEl>
                                      </p:cBhvr>
                                    </p:animEffect>
                                    <p:set>
                                      <p:cBhvr>
                                        <p:cTn id="100" dur="1" fill="hold">
                                          <p:stCondLst>
                                            <p:cond delay="499"/>
                                          </p:stCondLst>
                                        </p:cTn>
                                        <p:tgtEl>
                                          <p:spTgt spid="342030"/>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3">
                                            <p:txEl>
                                              <p:pRg st="1" end="1"/>
                                            </p:txEl>
                                          </p:spTgt>
                                        </p:tgtEl>
                                        <p:attrNameLst>
                                          <p:attrName>style.visibility</p:attrName>
                                        </p:attrNameLst>
                                      </p:cBhvr>
                                      <p:to>
                                        <p:strVal val="visible"/>
                                      </p:to>
                                    </p:set>
                                    <p:animEffect transition="in" filter="blinds(horizontal)">
                                      <p:cBhvr>
                                        <p:cTn id="10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2028" grpId="0" animBg="1"/>
      <p:bldP spid="342028" grpId="1" animBg="1"/>
      <p:bldP spid="342029" grpId="0" animBg="1"/>
      <p:bldP spid="342029" grpId="1" animBg="1"/>
      <p:bldP spid="342030" grpId="0" animBg="1"/>
      <p:bldP spid="342030" grpId="1" animBg="1"/>
      <p:bldP spid="342031" grpId="0" animBg="1"/>
      <p:bldP spid="342031" grpId="1" animBg="1"/>
      <p:bldP spid="342032" grpId="0" animBg="1"/>
      <p:bldP spid="342032" grpId="1" animBg="1"/>
      <p:bldP spid="342033" grpId="0" animBg="1"/>
      <p:bldP spid="342035" grpId="0" animBg="1"/>
      <p:bldP spid="342037" grpId="0" animBg="1"/>
      <p:bldP spid="342038" grpId="0" animBg="1"/>
      <p:bldP spid="34203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p:nvPr/>
        </p:nvSpPr>
        <p:spPr>
          <a:xfrm>
            <a:off x="108744" y="5233490"/>
            <a:ext cx="9144000" cy="584775"/>
          </a:xfrm>
          <a:prstGeom prst="rect">
            <a:avLst/>
          </a:prstGeom>
          <a:solidFill>
            <a:srgbClr val="FFFF99"/>
          </a:solidFill>
          <a:ln w="9525">
            <a:noFill/>
          </a:ln>
        </p:spPr>
        <p:txBody>
          <a:bodyPr>
            <a:spAutoFit/>
          </a:bodyPr>
          <a:lstStyle/>
          <a:p>
            <a:pPr algn="ctr" eaLnBrk="1" hangingPunct="1"/>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3200" b="1" dirty="0">
                <a:solidFill>
                  <a:srgbClr val="0070C0"/>
                </a:solidFill>
                <a:latin typeface="Gill Sans Ultra Bold" pitchFamily="34" charset="0"/>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4</a:t>
            </a:r>
            <a:r>
              <a:rPr lang="en-US" altLang="zh-CN" sz="2800" b="1" dirty="0">
                <a:solidFill>
                  <a:schemeClr val="hlink"/>
                </a:solidFill>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6</a:t>
            </a:r>
            <a:r>
              <a:rPr lang="en-US" altLang="zh-CN" sz="2800" b="1" dirty="0">
                <a:solidFill>
                  <a:srgbClr val="0070C0"/>
                </a:solidFill>
                <a:latin typeface="Gill Sans Ultra Bold" pitchFamily="34" charset="0"/>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3</a:t>
            </a:r>
            <a:r>
              <a:rPr lang="en-US" altLang="zh-CN" sz="2800" b="1" dirty="0">
                <a:solidFill>
                  <a:schemeClr val="hlink"/>
                </a:solidFill>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2</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8</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3=85</a:t>
            </a:r>
          </a:p>
        </p:txBody>
      </p:sp>
      <p:sp>
        <p:nvSpPr>
          <p:cNvPr id="17410" name="矩形 4"/>
          <p:cNvSpPr/>
          <p:nvPr/>
        </p:nvSpPr>
        <p:spPr>
          <a:xfrm>
            <a:off x="6300788" y="1819275"/>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4-13</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17411" name="矩形 4"/>
          <p:cNvSpPr/>
          <p:nvPr/>
        </p:nvSpPr>
        <p:spPr>
          <a:xfrm>
            <a:off x="1403350" y="1844675"/>
            <a:ext cx="1056700" cy="461665"/>
          </a:xfrm>
          <a:prstGeom prst="rect">
            <a:avLst/>
          </a:prstGeom>
          <a:solidFill>
            <a:srgbClr val="FFFF99"/>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4-12</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17412" name="Rectangle 5"/>
          <p:cNvSpPr txBox="1"/>
          <p:nvPr/>
        </p:nvSpPr>
        <p:spPr>
          <a:xfrm>
            <a:off x="0" y="2205038"/>
            <a:ext cx="9144000" cy="1728787"/>
          </a:xfrm>
          <a:prstGeom prst="rect">
            <a:avLst/>
          </a:prstGeom>
          <a:noFill/>
          <a:ln w="9525">
            <a:noFill/>
          </a:ln>
        </p:spPr>
        <p:txBody>
          <a:bodyPr/>
          <a:lstStyle/>
          <a:p>
            <a:r>
              <a:rPr lang="zh-CN" altLang="en-US" b="1" dirty="0">
                <a:solidFill>
                  <a:srgbClr val="C00000"/>
                </a:solidFill>
                <a:latin typeface="微软雅黑" pitchFamily="34" charset="-122"/>
                <a:ea typeface="微软雅黑" pitchFamily="34" charset="-122"/>
              </a:rPr>
              <a:t>第三步</a:t>
            </a:r>
            <a:r>
              <a:rPr lang="zh-CN" altLang="en-US" b="1" dirty="0">
                <a:latin typeface="微软雅黑" pitchFamily="34" charset="-122"/>
                <a:ea typeface="微软雅黑" pitchFamily="34" charset="-122"/>
              </a:rPr>
              <a:t>：对表</a:t>
            </a:r>
            <a:r>
              <a:rPr lang="en-US" altLang="zh-CN" b="1" dirty="0">
                <a:latin typeface="Times New Roman" panose="02020603050405020304" pitchFamily="18" charset="0"/>
                <a:ea typeface="微软雅黑" pitchFamily="34" charset="-122"/>
                <a:cs typeface="Times New Roman" panose="02020603050405020304" pitchFamily="18" charset="0"/>
              </a:rPr>
              <a:t>4-13</a:t>
            </a:r>
            <a:r>
              <a:rPr lang="zh-CN" altLang="en-US" b="1" dirty="0">
                <a:latin typeface="微软雅黑" pitchFamily="34" charset="-122"/>
                <a:ea typeface="微软雅黑" pitchFamily="34" charset="-122"/>
              </a:rPr>
              <a:t>中未划去的元素再分别计算出各行、各列的最小运费和次最小运费的差额</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并填入该表的最右列和最下行。重复第一、二步。直到给出初始解为止。用此法给出</a:t>
            </a:r>
            <a:r>
              <a:rPr lang="zh-CN" altLang="en-US" b="1" dirty="0">
                <a:solidFill>
                  <a:srgbClr val="FF0000"/>
                </a:solidFill>
                <a:latin typeface="微软雅黑" pitchFamily="34" charset="-122"/>
                <a:ea typeface="微软雅黑" pitchFamily="34" charset="-122"/>
              </a:rPr>
              <a:t>例</a:t>
            </a:r>
            <a:r>
              <a:rPr lang="en-US" altLang="zh-CN" b="1" dirty="0">
                <a:solidFill>
                  <a:srgbClr val="FF0000"/>
                </a:solidFill>
                <a:latin typeface="Times New Roman" panose="02020603050405020304" pitchFamily="18" charset="0"/>
                <a:ea typeface="微软雅黑" pitchFamily="34" charset="-122"/>
                <a:cs typeface="Times New Roman" panose="02020603050405020304" pitchFamily="18" charset="0"/>
              </a:rPr>
              <a:t>4-1</a:t>
            </a:r>
            <a:r>
              <a:rPr lang="zh-CN" altLang="en-US" b="1" dirty="0">
                <a:latin typeface="微软雅黑" pitchFamily="34" charset="-122"/>
                <a:ea typeface="微软雅黑" pitchFamily="34" charset="-122"/>
              </a:rPr>
              <a:t>的初始解列于表</a:t>
            </a:r>
            <a:r>
              <a:rPr lang="en-US" altLang="zh-CN" b="1" dirty="0">
                <a:latin typeface="Times New Roman" panose="02020603050405020304" pitchFamily="18" charset="0"/>
                <a:ea typeface="微软雅黑" pitchFamily="34" charset="-122"/>
                <a:cs typeface="Times New Roman" panose="02020603050405020304" pitchFamily="18" charset="0"/>
              </a:rPr>
              <a:t>4-14</a:t>
            </a:r>
            <a:endParaRPr lang="zh-CN" altLang="en-US" b="1" dirty="0">
              <a:latin typeface="Times New Roman" panose="02020603050405020304" pitchFamily="18" charset="0"/>
              <a:ea typeface="微软雅黑" pitchFamily="34" charset="-122"/>
              <a:cs typeface="Times New Roman" panose="02020603050405020304" pitchFamily="18" charset="0"/>
            </a:endParaRPr>
          </a:p>
        </p:txBody>
      </p:sp>
      <p:pic>
        <p:nvPicPr>
          <p:cNvPr id="17413" name="Picture 5"/>
          <p:cNvPicPr>
            <a:picLocks noChangeAspect="1"/>
          </p:cNvPicPr>
          <p:nvPr/>
        </p:nvPicPr>
        <p:blipFill>
          <a:blip r:embed="rId2"/>
          <a:stretch>
            <a:fillRect/>
          </a:stretch>
        </p:blipFill>
        <p:spPr>
          <a:xfrm>
            <a:off x="0" y="58738"/>
            <a:ext cx="4211638" cy="1849437"/>
          </a:xfrm>
          <a:prstGeom prst="rect">
            <a:avLst/>
          </a:prstGeom>
          <a:noFill/>
          <a:ln w="9525">
            <a:noFill/>
          </a:ln>
        </p:spPr>
      </p:pic>
      <p:pic>
        <p:nvPicPr>
          <p:cNvPr id="17414" name="Picture 6"/>
          <p:cNvPicPr>
            <a:picLocks noChangeAspect="1"/>
          </p:cNvPicPr>
          <p:nvPr/>
        </p:nvPicPr>
        <p:blipFill>
          <a:blip r:embed="rId3"/>
          <a:stretch>
            <a:fillRect/>
          </a:stretch>
        </p:blipFill>
        <p:spPr>
          <a:xfrm>
            <a:off x="4427538" y="44450"/>
            <a:ext cx="4716462" cy="1827213"/>
          </a:xfrm>
          <a:prstGeom prst="rect">
            <a:avLst/>
          </a:prstGeom>
          <a:noFill/>
          <a:ln w="9525">
            <a:noFill/>
          </a:ln>
        </p:spPr>
      </p:pic>
      <p:pic>
        <p:nvPicPr>
          <p:cNvPr id="17415" name="Picture 7"/>
          <p:cNvPicPr>
            <a:picLocks noChangeAspect="1"/>
          </p:cNvPicPr>
          <p:nvPr/>
        </p:nvPicPr>
        <p:blipFill>
          <a:blip r:embed="rId4"/>
          <a:stretch>
            <a:fillRect/>
          </a:stretch>
        </p:blipFill>
        <p:spPr>
          <a:xfrm>
            <a:off x="2484438" y="3429000"/>
            <a:ext cx="4392612" cy="1838325"/>
          </a:xfrm>
          <a:prstGeom prst="rect">
            <a:avLst/>
          </a:prstGeom>
          <a:noFill/>
          <a:ln w="9525">
            <a:noFill/>
          </a:ln>
        </p:spPr>
      </p:pic>
      <p:sp>
        <p:nvSpPr>
          <p:cNvPr id="17416" name="矩形 4"/>
          <p:cNvSpPr/>
          <p:nvPr/>
        </p:nvSpPr>
        <p:spPr>
          <a:xfrm>
            <a:off x="6877050" y="4771825"/>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2" name="Rectangle 3"/>
          <p:cNvSpPr txBox="1"/>
          <p:nvPr/>
        </p:nvSpPr>
        <p:spPr>
          <a:xfrm>
            <a:off x="-36512" y="5706468"/>
            <a:ext cx="9144000" cy="1151532"/>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由以上可见：伏格尔法同最小元素法除在确定供求关系的原则上不同外</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其余步骤相同。一般地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伏格尔法给出的初始解比用最小元素法给出的初始解更接近最优解</a:t>
            </a:r>
          </a:p>
        </p:txBody>
      </p:sp>
      <p:sp>
        <p:nvSpPr>
          <p:cNvPr id="3" name="灯片编号占位符 2">
            <a:extLst>
              <a:ext uri="{FF2B5EF4-FFF2-40B4-BE49-F238E27FC236}">
                <a16:creationId xmlns:a16="http://schemas.microsoft.com/office/drawing/2014/main" id="{818BCC4D-7463-4B20-AE21-5D6CB532D126}"/>
              </a:ext>
            </a:extLst>
          </p:cNvPr>
          <p:cNvSpPr>
            <a:spLocks noGrp="1"/>
          </p:cNvSpPr>
          <p:nvPr>
            <p:ph type="sldNum" sz="quarter" idx="12"/>
          </p:nvPr>
        </p:nvSpPr>
        <p:spPr/>
        <p:txBody>
          <a:bodyPr/>
          <a:lstStyle/>
          <a:p>
            <a:pPr>
              <a:defRPr/>
            </a:pPr>
            <a:fld id="{2AE1B59C-883C-4848-BC85-9A12DF2590B2}" type="slidenum">
              <a:rPr lang="en-US" altLang="zh-CN" smtClean="0"/>
              <a:t>26</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txBox="1"/>
          <p:nvPr/>
        </p:nvSpPr>
        <p:spPr>
          <a:xfrm>
            <a:off x="0" y="0"/>
            <a:ext cx="9144000" cy="549275"/>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4.2.2  </a:t>
            </a:r>
            <a:r>
              <a:rPr lang="zh-CN" altLang="en-US" sz="2800" b="1" dirty="0">
                <a:solidFill>
                  <a:schemeClr val="hlink"/>
                </a:solidFill>
                <a:latin typeface="微软雅黑" pitchFamily="34" charset="-122"/>
                <a:ea typeface="微软雅黑" pitchFamily="34" charset="-122"/>
              </a:rPr>
              <a:t>最优解的判别</a:t>
            </a:r>
          </a:p>
        </p:txBody>
      </p:sp>
      <p:sp>
        <p:nvSpPr>
          <p:cNvPr id="3" name="Rectangle 3"/>
          <p:cNvSpPr txBox="1"/>
          <p:nvPr/>
        </p:nvSpPr>
        <p:spPr>
          <a:xfrm>
            <a:off x="0" y="476250"/>
            <a:ext cx="9144000" cy="1728788"/>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判别的方法是计算空格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非基变量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的检验数</a:t>
            </a:r>
            <a:r>
              <a:rPr lang="en-US" altLang="zh-CN" b="1" i="1"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因运输问题的目标函数是要求实现最小化</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故当所有的</a:t>
            </a:r>
          </a:p>
        </p:txBody>
      </p:sp>
      <p:sp>
        <p:nvSpPr>
          <p:cNvPr id="5" name="Rectangle 2"/>
          <p:cNvSpPr txBox="1"/>
          <p:nvPr/>
        </p:nvSpPr>
        <p:spPr>
          <a:xfrm>
            <a:off x="0" y="2276475"/>
            <a:ext cx="9144000" cy="576263"/>
          </a:xfrm>
          <a:prstGeom prst="rect">
            <a:avLst/>
          </a:prstGeom>
          <a:solidFill>
            <a:srgbClr val="B3F1F7"/>
          </a:solidFill>
          <a:ln w="9525">
            <a:noFill/>
          </a:ln>
        </p:spPr>
        <p:txBody>
          <a:bodyPr/>
          <a:lstStyle/>
          <a:p>
            <a:r>
              <a:rPr lang="en-US" altLang="zh-CN" sz="2800" b="1" dirty="0">
                <a:solidFill>
                  <a:schemeClr val="hlink"/>
                </a:solidFill>
                <a:latin typeface="微软雅黑" pitchFamily="34" charset="-122"/>
                <a:ea typeface="微软雅黑" pitchFamily="34" charset="-122"/>
              </a:rPr>
              <a:t>I. </a:t>
            </a:r>
            <a:r>
              <a:rPr lang="zh-CN" altLang="en-US" sz="2800" b="1" dirty="0">
                <a:solidFill>
                  <a:schemeClr val="hlink"/>
                </a:solidFill>
                <a:latin typeface="微软雅黑" pitchFamily="34" charset="-122"/>
                <a:ea typeface="微软雅黑" pitchFamily="34" charset="-122"/>
              </a:rPr>
              <a:t>闭回路法</a:t>
            </a:r>
          </a:p>
        </p:txBody>
      </p:sp>
      <p:sp>
        <p:nvSpPr>
          <p:cNvPr id="6" name="Rectangle 3"/>
          <p:cNvSpPr txBox="1"/>
          <p:nvPr/>
        </p:nvSpPr>
        <p:spPr>
          <a:xfrm>
            <a:off x="0" y="2852738"/>
            <a:ext cx="9144000" cy="2016125"/>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在给出调运方案的计算表上</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如下表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从每一空格出发找一条闭回路</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闭回路是以某空格为起点。用水平或垂直线向前划</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当碰到一数字格时</a:t>
            </a:r>
            <a:r>
              <a:rPr lang="zh-CN" altLang="en-US" b="1" dirty="0">
                <a:solidFill>
                  <a:srgbClr val="FF0000"/>
                </a:solidFill>
                <a:latin typeface="微软雅黑" pitchFamily="34" charset="-122"/>
                <a:ea typeface="微软雅黑" pitchFamily="34" charset="-122"/>
              </a:rPr>
              <a:t>可以</a:t>
            </a:r>
            <a:r>
              <a:rPr lang="zh-CN" altLang="en-US" b="1" dirty="0">
                <a:latin typeface="Times New Roman" panose="02020603050405020304" pitchFamily="18" charset="0"/>
                <a:ea typeface="微软雅黑" pitchFamily="34" charset="-122"/>
              </a:rPr>
              <a:t>转</a:t>
            </a:r>
            <a:r>
              <a:rPr lang="en-US" altLang="zh-CN" b="1" dirty="0">
                <a:latin typeface="Times New Roman" panose="02020603050405020304" pitchFamily="18" charset="0"/>
                <a:ea typeface="微软雅黑" pitchFamily="34" charset="-122"/>
              </a:rPr>
              <a:t>90°</a:t>
            </a:r>
            <a:r>
              <a:rPr lang="zh-CN" altLang="en-US" b="1" dirty="0">
                <a:latin typeface="Times New Roman" panose="02020603050405020304" pitchFamily="18" charset="0"/>
                <a:ea typeface="微软雅黑" pitchFamily="34" charset="-122"/>
              </a:rPr>
              <a:t>后</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继续前进</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直到回到起始空格为止</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闭回路如图</a:t>
            </a:r>
            <a:r>
              <a:rPr lang="en-US" altLang="zh-CN" b="1" dirty="0">
                <a:latin typeface="Times New Roman" panose="02020603050405020304" pitchFamily="18" charset="0"/>
                <a:ea typeface="微软雅黑" pitchFamily="34" charset="-122"/>
              </a:rPr>
              <a:t>4-2</a:t>
            </a:r>
            <a:r>
              <a:rPr lang="zh-CN" altLang="en-US" b="1" dirty="0">
                <a:latin typeface="Times New Roman" panose="02020603050405020304" pitchFamily="18" charset="0"/>
                <a:ea typeface="微软雅黑" pitchFamily="34" charset="-122"/>
              </a:rPr>
              <a:t>的</a:t>
            </a:r>
            <a:r>
              <a:rPr lang="en-US" altLang="zh-CN" b="1" dirty="0">
                <a:latin typeface="Times New Roman" panose="02020603050405020304" pitchFamily="18" charset="0"/>
                <a:ea typeface="微软雅黑" pitchFamily="34" charset="-122"/>
              </a:rPr>
              <a:t>(a),(b),(c)</a:t>
            </a:r>
            <a:r>
              <a:rPr lang="zh-CN" altLang="en-US" b="1" dirty="0">
                <a:latin typeface="Times New Roman" panose="02020603050405020304" pitchFamily="18" charset="0"/>
                <a:ea typeface="微软雅黑" pitchFamily="34" charset="-122"/>
              </a:rPr>
              <a:t>等所示 </a:t>
            </a:r>
          </a:p>
        </p:txBody>
      </p:sp>
      <p:pic>
        <p:nvPicPr>
          <p:cNvPr id="344070" name="Picture 6"/>
          <p:cNvPicPr>
            <a:picLocks noChangeAspect="1"/>
          </p:cNvPicPr>
          <p:nvPr/>
        </p:nvPicPr>
        <p:blipFill>
          <a:blip r:embed="rId3"/>
          <a:stretch>
            <a:fillRect/>
          </a:stretch>
        </p:blipFill>
        <p:spPr>
          <a:xfrm>
            <a:off x="0" y="4868863"/>
            <a:ext cx="4716463" cy="1938337"/>
          </a:xfrm>
          <a:prstGeom prst="rect">
            <a:avLst/>
          </a:prstGeom>
          <a:noFill/>
          <a:ln w="9525">
            <a:noFill/>
          </a:ln>
        </p:spPr>
      </p:pic>
      <p:pic>
        <p:nvPicPr>
          <p:cNvPr id="4" name="Picture 4"/>
          <p:cNvPicPr>
            <a:picLocks noChangeAspect="1"/>
          </p:cNvPicPr>
          <p:nvPr/>
        </p:nvPicPr>
        <p:blipFill>
          <a:blip r:embed="rId4"/>
          <a:stretch>
            <a:fillRect/>
          </a:stretch>
        </p:blipFill>
        <p:spPr>
          <a:xfrm>
            <a:off x="4787900" y="5135563"/>
            <a:ext cx="4356100" cy="1030287"/>
          </a:xfrm>
          <a:prstGeom prst="rect">
            <a:avLst/>
          </a:prstGeom>
          <a:solidFill>
            <a:srgbClr val="FFCCFF"/>
          </a:solidFill>
          <a:ln w="9525">
            <a:noFill/>
          </a:ln>
        </p:spPr>
      </p:pic>
      <p:sp>
        <p:nvSpPr>
          <p:cNvPr id="11" name="矩形 10"/>
          <p:cNvSpPr/>
          <p:nvPr/>
        </p:nvSpPr>
        <p:spPr>
          <a:xfrm>
            <a:off x="6804025" y="6165850"/>
            <a:ext cx="902811" cy="461665"/>
          </a:xfrm>
          <a:prstGeom prst="rect">
            <a:avLst/>
          </a:prstGeom>
          <a:noFill/>
          <a:ln w="9525">
            <a:noFill/>
          </a:ln>
        </p:spPr>
        <p:txBody>
          <a:bodyPr wrap="none">
            <a:spAutoFit/>
          </a:bodyPr>
          <a:lstStyle/>
          <a:p>
            <a:pPr eaLnBrk="1" hangingPunct="1"/>
            <a:r>
              <a:rPr lang="zh-CN" altLang="en-US" dirty="0">
                <a:latin typeface="微软雅黑" pitchFamily="34" charset="-122"/>
                <a:ea typeface="微软雅黑" pitchFamily="34" charset="-122"/>
              </a:rPr>
              <a:t>图</a:t>
            </a:r>
            <a:r>
              <a:rPr lang="en-US" altLang="zh-CN" dirty="0">
                <a:latin typeface="Times New Roman" panose="02020603050405020304" pitchFamily="18" charset="0"/>
                <a:ea typeface="微软雅黑" pitchFamily="34" charset="-122"/>
                <a:cs typeface="Times New Roman" panose="02020603050405020304" pitchFamily="18" charset="0"/>
              </a:rPr>
              <a:t>4-2</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graphicFrame>
        <p:nvGraphicFramePr>
          <p:cNvPr id="18441" name="Object 2"/>
          <p:cNvGraphicFramePr>
            <a:graphicFrameLocks noChangeAspect="1"/>
          </p:cNvGraphicFramePr>
          <p:nvPr/>
        </p:nvGraphicFramePr>
        <p:xfrm>
          <a:off x="6084888" y="404813"/>
          <a:ext cx="1774825" cy="565150"/>
        </p:xfrm>
        <a:graphic>
          <a:graphicData uri="http://schemas.openxmlformats.org/presentationml/2006/ole">
            <mc:AlternateContent xmlns:mc="http://schemas.openxmlformats.org/markup-compatibility/2006">
              <mc:Choice xmlns:v="urn:schemas-microsoft-com:vml" Requires="v">
                <p:oleObj spid="_x0000_s10286" r:id="rId5" imgW="799465" imgH="254000" progId="Equation.DSMT4">
                  <p:embed/>
                </p:oleObj>
              </mc:Choice>
              <mc:Fallback>
                <p:oleObj r:id="rId5" imgW="799465" imgH="254000" progId="Equation.DSMT4">
                  <p:embed/>
                  <p:pic>
                    <p:nvPicPr>
                      <p:cNvPr id="18441" name="Object 2"/>
                      <p:cNvPicPr/>
                      <p:nvPr/>
                    </p:nvPicPr>
                    <p:blipFill>
                      <a:blip r:embed="rId6"/>
                      <a:stretch>
                        <a:fillRect/>
                      </a:stretch>
                    </p:blipFill>
                    <p:spPr>
                      <a:xfrm>
                        <a:off x="6084888" y="404813"/>
                        <a:ext cx="1774825" cy="565150"/>
                      </a:xfrm>
                      <a:prstGeom prst="rect">
                        <a:avLst/>
                      </a:prstGeom>
                      <a:solidFill>
                        <a:srgbClr val="FFFF99"/>
                      </a:solidFill>
                      <a:ln w="38100">
                        <a:noFill/>
                        <a:miter/>
                      </a:ln>
                    </p:spPr>
                  </p:pic>
                </p:oleObj>
              </mc:Fallback>
            </mc:AlternateContent>
          </a:graphicData>
        </a:graphic>
      </p:graphicFrame>
      <p:sp>
        <p:nvSpPr>
          <p:cNvPr id="12" name="Rectangle 3"/>
          <p:cNvSpPr txBox="1"/>
          <p:nvPr/>
        </p:nvSpPr>
        <p:spPr>
          <a:xfrm>
            <a:off x="71438" y="1341438"/>
            <a:ext cx="9072562" cy="431800"/>
          </a:xfrm>
          <a:prstGeom prst="rect">
            <a:avLst/>
          </a:prstGeom>
          <a:noFill/>
          <a:ln w="9525">
            <a:noFill/>
          </a:ln>
        </p:spPr>
        <p:txBody>
          <a:bodyPr/>
          <a:lstStyle/>
          <a:p>
            <a:pPr marL="273050" indent="-273050">
              <a:spcBef>
                <a:spcPts val="600"/>
              </a:spcBef>
              <a:buClr>
                <a:schemeClr val="accent1"/>
              </a:buClr>
              <a:buSzPct val="70000"/>
            </a:pPr>
            <a:r>
              <a:rPr lang="zh-CN" altLang="en-US" b="1" dirty="0">
                <a:latin typeface="Times New Roman" panose="02020603050405020304" pitchFamily="18" charset="0"/>
                <a:ea typeface="微软雅黑" pitchFamily="34" charset="-122"/>
              </a:rPr>
              <a:t>                                    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为最优解</a:t>
            </a:r>
            <a:endParaRPr lang="en-US" altLang="zh-CN" b="1" dirty="0">
              <a:latin typeface="Times New Roman" panose="02020603050405020304" pitchFamily="18" charset="0"/>
              <a:ea typeface="微软雅黑" pitchFamily="34" charset="-122"/>
            </a:endParaRPr>
          </a:p>
        </p:txBody>
      </p:sp>
      <p:sp>
        <p:nvSpPr>
          <p:cNvPr id="13" name="Rectangle 3"/>
          <p:cNvSpPr txBox="1"/>
          <p:nvPr/>
        </p:nvSpPr>
        <p:spPr>
          <a:xfrm>
            <a:off x="0" y="1773238"/>
            <a:ext cx="9145588" cy="503237"/>
          </a:xfrm>
          <a:prstGeom prst="rect">
            <a:avLst/>
          </a:prstGeom>
          <a:noFill/>
          <a:ln w="9525">
            <a:noFill/>
          </a:ln>
        </p:spPr>
        <p:txBody>
          <a:bodyPr/>
          <a:lstStyle/>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下面介绍两种求空格检验数的方法： </a:t>
            </a:r>
            <a:r>
              <a:rPr lang="en-US" altLang="zh-CN" b="1" dirty="0">
                <a:solidFill>
                  <a:schemeClr val="hlink"/>
                </a:solidFill>
                <a:latin typeface="Times New Roman" panose="02020603050405020304" pitchFamily="18" charset="0"/>
                <a:ea typeface="微软雅黑" pitchFamily="34" charset="-122"/>
              </a:rPr>
              <a:t>I. </a:t>
            </a:r>
            <a:r>
              <a:rPr lang="zh-CN" altLang="en-US" b="1" dirty="0">
                <a:solidFill>
                  <a:schemeClr val="hlink"/>
                </a:solidFill>
                <a:latin typeface="Times New Roman" panose="02020603050405020304" pitchFamily="18" charset="0"/>
                <a:ea typeface="微软雅黑" pitchFamily="34" charset="-122"/>
              </a:rPr>
              <a:t>闭回路法</a:t>
            </a:r>
            <a:r>
              <a:rPr lang="zh-CN" altLang="en-US" b="1" dirty="0">
                <a:solidFill>
                  <a:schemeClr val="hlink"/>
                </a:solidFill>
                <a:latin typeface="仿宋" pitchFamily="49" charset="-122"/>
                <a:ea typeface="仿宋" pitchFamily="49" charset="-122"/>
              </a:rPr>
              <a:t>；</a:t>
            </a:r>
            <a:r>
              <a:rPr lang="en-US" altLang="zh-CN" b="1" dirty="0">
                <a:solidFill>
                  <a:schemeClr val="hlink"/>
                </a:solidFill>
                <a:latin typeface="Times New Roman" panose="02020603050405020304" pitchFamily="18" charset="0"/>
                <a:ea typeface="微软雅黑" pitchFamily="34" charset="-122"/>
              </a:rPr>
              <a:t>II. </a:t>
            </a:r>
            <a:r>
              <a:rPr lang="zh-CN" altLang="en-US" b="1" dirty="0">
                <a:solidFill>
                  <a:schemeClr val="hlink"/>
                </a:solidFill>
                <a:latin typeface="Times New Roman" panose="02020603050405020304" pitchFamily="18" charset="0"/>
                <a:ea typeface="微软雅黑" pitchFamily="34" charset="-122"/>
              </a:rPr>
              <a:t>位势法</a:t>
            </a:r>
          </a:p>
        </p:txBody>
      </p:sp>
      <p:graphicFrame>
        <p:nvGraphicFramePr>
          <p:cNvPr id="9" name="Object 11"/>
          <p:cNvGraphicFramePr>
            <a:graphicFrameLocks noChangeAspect="1"/>
          </p:cNvGraphicFramePr>
          <p:nvPr/>
        </p:nvGraphicFramePr>
        <p:xfrm>
          <a:off x="533400" y="1340000"/>
          <a:ext cx="2309813" cy="504824"/>
        </p:xfrm>
        <a:graphic>
          <a:graphicData uri="http://schemas.openxmlformats.org/presentationml/2006/ole">
            <mc:AlternateContent xmlns:mc="http://schemas.openxmlformats.org/markup-compatibility/2006">
              <mc:Choice xmlns:v="urn:schemas-microsoft-com:vml" Requires="v">
                <p:oleObj spid="_x0000_s10287" r:id="rId7" imgW="1040765" imgH="254000" progId="Equation.DSMT4">
                  <p:embed/>
                </p:oleObj>
              </mc:Choice>
              <mc:Fallback>
                <p:oleObj r:id="rId7" imgW="1040765" imgH="254000" progId="Equation.DSMT4">
                  <p:embed/>
                  <p:pic>
                    <p:nvPicPr>
                      <p:cNvPr id="9" name="Object 11"/>
                      <p:cNvPicPr/>
                      <p:nvPr/>
                    </p:nvPicPr>
                    <p:blipFill>
                      <a:blip r:embed="rId8"/>
                      <a:stretch>
                        <a:fillRect/>
                      </a:stretch>
                    </p:blipFill>
                    <p:spPr>
                      <a:xfrm>
                        <a:off x="533400" y="1340000"/>
                        <a:ext cx="2309813" cy="504824"/>
                      </a:xfrm>
                      <a:prstGeom prst="rect">
                        <a:avLst/>
                      </a:prstGeom>
                      <a:solidFill>
                        <a:srgbClr val="FFFF99"/>
                      </a:solidFill>
                      <a:ln w="38100">
                        <a:noFill/>
                        <a:miter/>
                      </a:ln>
                    </p:spPr>
                  </p:pic>
                </p:oleObj>
              </mc:Fallback>
            </mc:AlternateContent>
          </a:graphicData>
        </a:graphic>
      </p:graphicFrame>
      <p:sp>
        <p:nvSpPr>
          <p:cNvPr id="14" name="矩形 13"/>
          <p:cNvSpPr/>
          <p:nvPr/>
        </p:nvSpPr>
        <p:spPr>
          <a:xfrm>
            <a:off x="1906588" y="3716338"/>
            <a:ext cx="1846262" cy="360362"/>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5" name="矩形 14"/>
          <p:cNvSpPr/>
          <p:nvPr/>
        </p:nvSpPr>
        <p:spPr>
          <a:xfrm>
            <a:off x="8539163" y="3716338"/>
            <a:ext cx="433387" cy="360362"/>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6" name="矩形 15"/>
          <p:cNvSpPr/>
          <p:nvPr/>
        </p:nvSpPr>
        <p:spPr>
          <a:xfrm>
            <a:off x="323850" y="4076700"/>
            <a:ext cx="647700" cy="43180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7" name="矩形 16"/>
          <p:cNvSpPr/>
          <p:nvPr/>
        </p:nvSpPr>
        <p:spPr>
          <a:xfrm>
            <a:off x="5364163" y="4076700"/>
            <a:ext cx="1871662" cy="360363"/>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8" name="矩形 17"/>
          <p:cNvSpPr/>
          <p:nvPr/>
        </p:nvSpPr>
        <p:spPr>
          <a:xfrm>
            <a:off x="1835150" y="4076700"/>
            <a:ext cx="1081088" cy="360363"/>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19" name="椭圆 18"/>
          <p:cNvSpPr/>
          <p:nvPr/>
        </p:nvSpPr>
        <p:spPr>
          <a:xfrm>
            <a:off x="4859338" y="5373688"/>
            <a:ext cx="144462" cy="142875"/>
          </a:xfrm>
          <a:prstGeom prst="ellipse">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0" name="椭圆 19"/>
          <p:cNvSpPr/>
          <p:nvPr/>
        </p:nvSpPr>
        <p:spPr>
          <a:xfrm>
            <a:off x="6372225" y="5589588"/>
            <a:ext cx="144463" cy="142875"/>
          </a:xfrm>
          <a:prstGeom prst="ellipse">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1" name="椭圆 20"/>
          <p:cNvSpPr/>
          <p:nvPr/>
        </p:nvSpPr>
        <p:spPr>
          <a:xfrm>
            <a:off x="7956550" y="5084763"/>
            <a:ext cx="144463" cy="144462"/>
          </a:xfrm>
          <a:prstGeom prst="ellipse">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2" name="TextBox 21"/>
          <p:cNvSpPr txBox="1"/>
          <p:nvPr/>
        </p:nvSpPr>
        <p:spPr>
          <a:xfrm>
            <a:off x="5651500" y="4941888"/>
            <a:ext cx="1223963" cy="460375"/>
          </a:xfrm>
          <a:prstGeom prst="rect">
            <a:avLst/>
          </a:prstGeom>
          <a:noFill/>
          <a:ln w="9525">
            <a:noFill/>
          </a:ln>
        </p:spPr>
        <p:txBody>
          <a:bodyPr>
            <a:spAutoFit/>
          </a:bodyPr>
          <a:lstStyle/>
          <a:p>
            <a:pPr eaLnBrk="1" hangingPunct="1"/>
            <a:r>
              <a:rPr lang="zh-CN" altLang="en-US" b="1" dirty="0">
                <a:solidFill>
                  <a:srgbClr val="FF0000"/>
                </a:solidFill>
                <a:latin typeface="微软雅黑" pitchFamily="34" charset="-122"/>
                <a:ea typeface="微软雅黑" pitchFamily="34" charset="-122"/>
              </a:rPr>
              <a:t>空格</a:t>
            </a:r>
          </a:p>
        </p:txBody>
      </p:sp>
      <p:sp>
        <p:nvSpPr>
          <p:cNvPr id="23" name="矩形 22"/>
          <p:cNvSpPr/>
          <p:nvPr/>
        </p:nvSpPr>
        <p:spPr>
          <a:xfrm>
            <a:off x="1908175" y="5661025"/>
            <a:ext cx="1511300" cy="360363"/>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 name="灯片编号占位符 1">
            <a:extLst>
              <a:ext uri="{FF2B5EF4-FFF2-40B4-BE49-F238E27FC236}">
                <a16:creationId xmlns:a16="http://schemas.microsoft.com/office/drawing/2014/main" id="{193C19B3-B3A6-4526-B374-4941BDB1F70B}"/>
              </a:ext>
            </a:extLst>
          </p:cNvPr>
          <p:cNvSpPr>
            <a:spLocks noGrp="1"/>
          </p:cNvSpPr>
          <p:nvPr>
            <p:ph type="sldNum" sz="quarter" idx="12"/>
          </p:nvPr>
        </p:nvSpPr>
        <p:spPr/>
        <p:txBody>
          <a:bodyPr/>
          <a:lstStyle/>
          <a:p>
            <a:pPr>
              <a:defRPr/>
            </a:pPr>
            <a:fld id="{2AE1B59C-883C-4848-BC85-9A12DF2590B2}" type="slidenum">
              <a:rPr lang="en-US" altLang="zh-CN" smtClean="0"/>
              <a:t>27</a:t>
            </a:fld>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par>
                                <p:cTn id="13" presetID="3" presetClass="entr" presetSubtype="1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dissolve">
                                      <p:cBhvr>
                                        <p:cTn id="20" dur="500"/>
                                        <p:tgtEl>
                                          <p:spTgt spid="1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dissolve">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44070"/>
                                        </p:tgtEl>
                                        <p:attrNameLst>
                                          <p:attrName>style.visibility</p:attrName>
                                        </p:attrNameLst>
                                      </p:cBhvr>
                                      <p:to>
                                        <p:strVal val="visible"/>
                                      </p:to>
                                    </p:set>
                                    <p:animEffect transition="in" filter="blinds(horizontal)">
                                      <p:cBhvr>
                                        <p:cTn id="35" dur="500"/>
                                        <p:tgtEl>
                                          <p:spTgt spid="344070"/>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animEffect transition="in" filter="dissolve">
                                      <p:cBhvr>
                                        <p:cTn id="40" dur="500"/>
                                        <p:tgtEl>
                                          <p:spTgt spid="6">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blinds(horizont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blinds(horizontal)">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blinds(horizontal)">
                                      <p:cBhvr>
                                        <p:cTn id="55" dur="500"/>
                                        <p:tgtEl>
                                          <p:spTgt spid="16"/>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linds(horizontal)">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blinds(horizontal)">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blinds(horizontal)">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animEffect transition="in" filter="dissolve">
                                      <p:cBhvr>
                                        <p:cTn id="73" dur="500"/>
                                        <p:tgtEl>
                                          <p:spTgt spid="6">
                                            <p:txEl>
                                              <p:pRg st="2" end="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blinds(horizontal)">
                                      <p:cBhvr>
                                        <p:cTn id="78" dur="500"/>
                                        <p:tgtEl>
                                          <p:spTgt spid="4"/>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blinds(horizontal)">
                                      <p:cBhvr>
                                        <p:cTn id="81" dur="500"/>
                                        <p:tgtEl>
                                          <p:spTgt spid="11"/>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blinds(horizontal)">
                                      <p:cBhvr>
                                        <p:cTn id="86" dur="500"/>
                                        <p:tgtEl>
                                          <p:spTgt spid="21"/>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blinds(horizontal)">
                                      <p:cBhvr>
                                        <p:cTn id="89" dur="500"/>
                                        <p:tgtEl>
                                          <p:spTgt spid="20"/>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blinds(horizontal)">
                                      <p:cBhvr>
                                        <p:cTn id="92" dur="500"/>
                                        <p:tgtEl>
                                          <p:spTgt spid="19"/>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blinds(horizontal)">
                                      <p:cBhvr>
                                        <p:cTn id="9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p:bldP spid="14" grpId="0" bldLvl="0" animBg="1"/>
      <p:bldP spid="15" grpId="0" bldLvl="0" animBg="1"/>
      <p:bldP spid="16" grpId="0" animBg="1"/>
      <p:bldP spid="17" grpId="0" bldLvl="0" animBg="1"/>
      <p:bldP spid="18" grpId="0" bldLvl="0" animBg="1"/>
      <p:bldP spid="19" grpId="0" animBg="1"/>
      <p:bldP spid="20" grpId="0" animBg="1"/>
      <p:bldP spid="21" grpId="0" animBg="1"/>
      <p:bldP spid="22" grpId="0"/>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p:cNvPicPr>
          <p:nvPr/>
        </p:nvPicPr>
        <p:blipFill>
          <a:blip r:embed="rId3"/>
          <a:stretch>
            <a:fillRect/>
          </a:stretch>
        </p:blipFill>
        <p:spPr>
          <a:xfrm>
            <a:off x="3348038" y="3887788"/>
            <a:ext cx="5113337" cy="2970212"/>
          </a:xfrm>
          <a:prstGeom prst="rect">
            <a:avLst/>
          </a:prstGeom>
          <a:solidFill>
            <a:srgbClr val="B3F1F7"/>
          </a:solidFill>
          <a:ln w="9525">
            <a:noFill/>
          </a:ln>
        </p:spPr>
      </p:pic>
      <p:sp>
        <p:nvSpPr>
          <p:cNvPr id="4101" name="Rectangle 2"/>
          <p:cNvSpPr txBox="1"/>
          <p:nvPr/>
        </p:nvSpPr>
        <p:spPr>
          <a:xfrm>
            <a:off x="0" y="0"/>
            <a:ext cx="9324975" cy="1125538"/>
          </a:xfrm>
          <a:prstGeom prst="rect">
            <a:avLst/>
          </a:prstGeom>
          <a:noFill/>
          <a:ln w="9525">
            <a:noFill/>
          </a:ln>
        </p:spPr>
        <p:txBody>
          <a:bodyPr/>
          <a:lstStyle/>
          <a:p>
            <a:r>
              <a:rPr lang="zh-CN" altLang="en-US" b="1" dirty="0">
                <a:latin typeface="Times New Roman" panose="02020603050405020304" pitchFamily="18" charset="0"/>
                <a:ea typeface="微软雅黑" pitchFamily="34" charset="-122"/>
              </a:rPr>
              <a:t>从每一空格出发</a:t>
            </a:r>
            <a:r>
              <a:rPr lang="zh-CN" altLang="en-US" b="1" dirty="0">
                <a:solidFill>
                  <a:schemeClr val="hlink"/>
                </a:solidFill>
                <a:latin typeface="Times New Roman" panose="02020603050405020304" pitchFamily="18" charset="0"/>
                <a:ea typeface="微软雅黑" pitchFamily="34" charset="-122"/>
              </a:rPr>
              <a:t>一定存在</a:t>
            </a:r>
            <a:r>
              <a:rPr lang="zh-CN" altLang="en-US" b="1" dirty="0">
                <a:latin typeface="Times New Roman" panose="02020603050405020304" pitchFamily="18" charset="0"/>
                <a:ea typeface="微软雅黑" pitchFamily="34" charset="-122"/>
              </a:rPr>
              <a:t>和</a:t>
            </a:r>
            <a:r>
              <a:rPr lang="zh-CN" altLang="en-US" b="1" dirty="0">
                <a:solidFill>
                  <a:schemeClr val="hlink"/>
                </a:solidFill>
                <a:latin typeface="Times New Roman" panose="02020603050405020304" pitchFamily="18" charset="0"/>
                <a:ea typeface="微软雅黑" pitchFamily="34" charset="-122"/>
              </a:rPr>
              <a:t>可以找到唯一</a:t>
            </a:r>
            <a:r>
              <a:rPr lang="zh-CN" altLang="en-US" b="1" dirty="0">
                <a:latin typeface="Times New Roman" panose="02020603050405020304" pitchFamily="18" charset="0"/>
                <a:ea typeface="微软雅黑" pitchFamily="34" charset="-122"/>
              </a:rPr>
              <a:t>的闭回路</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因</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m+n-</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个数字格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对应的系数向量是一个基。任一空格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非基变量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对应的系数向量是这个基的线性组合。</a:t>
            </a:r>
            <a:endParaRPr lang="zh-CN" altLang="en-US" b="1" dirty="0">
              <a:solidFill>
                <a:schemeClr val="tx2"/>
              </a:solidFill>
              <a:latin typeface="Times New Roman" panose="02020603050405020304" pitchFamily="18" charset="0"/>
              <a:ea typeface="微软雅黑" pitchFamily="34" charset="-122"/>
            </a:endParaRPr>
          </a:p>
        </p:txBody>
      </p:sp>
      <p:graphicFrame>
        <p:nvGraphicFramePr>
          <p:cNvPr id="5" name="Object 2"/>
          <p:cNvGraphicFramePr>
            <a:graphicFrameLocks noChangeAspect="1"/>
          </p:cNvGraphicFramePr>
          <p:nvPr/>
        </p:nvGraphicFramePr>
        <p:xfrm>
          <a:off x="1403350" y="1209675"/>
          <a:ext cx="6769100" cy="2290763"/>
        </p:xfrm>
        <a:graphic>
          <a:graphicData uri="http://schemas.openxmlformats.org/presentationml/2006/ole">
            <mc:AlternateContent xmlns:mc="http://schemas.openxmlformats.org/markup-compatibility/2006">
              <mc:Choice xmlns:v="urn:schemas-microsoft-com:vml" Requires="v">
                <p:oleObj spid="_x0000_s11312" r:id="rId4" imgW="4241800" imgH="1435100" progId="Equation.DSMT4">
                  <p:embed/>
                </p:oleObj>
              </mc:Choice>
              <mc:Fallback>
                <p:oleObj r:id="rId4" imgW="4241800" imgH="1435100" progId="Equation.DSMT4">
                  <p:embed/>
                  <p:pic>
                    <p:nvPicPr>
                      <p:cNvPr id="5" name="Object 2"/>
                      <p:cNvPicPr/>
                      <p:nvPr/>
                    </p:nvPicPr>
                    <p:blipFill>
                      <a:blip r:embed="rId5"/>
                      <a:stretch>
                        <a:fillRect/>
                      </a:stretch>
                    </p:blipFill>
                    <p:spPr>
                      <a:xfrm>
                        <a:off x="1403350" y="1209675"/>
                        <a:ext cx="6769100" cy="2290763"/>
                      </a:xfrm>
                      <a:prstGeom prst="rect">
                        <a:avLst/>
                      </a:prstGeom>
                      <a:solidFill>
                        <a:srgbClr val="FFCCFF"/>
                      </a:solidFill>
                      <a:ln w="38100">
                        <a:noFill/>
                        <a:miter/>
                      </a:ln>
                    </p:spPr>
                  </p:pic>
                </p:oleObj>
              </mc:Fallback>
            </mc:AlternateContent>
          </a:graphicData>
        </a:graphic>
      </p:graphicFrame>
      <p:sp>
        <p:nvSpPr>
          <p:cNvPr id="6" name="Rectangle 2"/>
          <p:cNvSpPr txBox="1"/>
          <p:nvPr/>
        </p:nvSpPr>
        <p:spPr>
          <a:xfrm>
            <a:off x="0" y="3500438"/>
            <a:ext cx="9144000" cy="433387"/>
          </a:xfrm>
          <a:prstGeom prst="rect">
            <a:avLst/>
          </a:prstGeom>
          <a:solidFill>
            <a:srgbClr val="B3F1F7"/>
          </a:solidFill>
          <a:ln w="9525">
            <a:noFill/>
          </a:ln>
        </p:spPr>
        <p:txBody>
          <a:bodyPr/>
          <a:lstStyle/>
          <a:p>
            <a:r>
              <a:rPr lang="zh-CN" altLang="en-US" b="1" dirty="0">
                <a:latin typeface="Times New Roman" panose="02020603050405020304" pitchFamily="18" charset="0"/>
                <a:ea typeface="微软雅黑" pitchFamily="34" charset="-122"/>
              </a:rPr>
              <a:t>其中</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ik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lk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ls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us </a:t>
            </a:r>
            <a:r>
              <a:rPr lang="en-US" altLang="zh-CN" b="1" i="1" dirty="0">
                <a:latin typeface="Times New Roman" panose="02020603050405020304" pitchFamily="18" charset="0"/>
                <a:ea typeface="微软雅黑" pitchFamily="34" charset="-122"/>
              </a:rPr>
              <a:t>, P</a:t>
            </a:r>
            <a:r>
              <a:rPr lang="en-US" altLang="zh-CN" b="1" i="1" baseline="-30000" dirty="0">
                <a:latin typeface="Times New Roman" panose="02020603050405020304" pitchFamily="18" charset="0"/>
                <a:ea typeface="微软雅黑" pitchFamily="34" charset="-122"/>
              </a:rPr>
              <a:t>uj</a:t>
            </a:r>
            <a:r>
              <a:rPr lang="en-US" altLang="zh-CN" b="1" baseline="-30000"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。而这些向量构成了闭回路</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见图</a:t>
            </a:r>
            <a:r>
              <a:rPr lang="en-US" altLang="zh-CN" b="1" dirty="0">
                <a:latin typeface="Times New Roman" panose="02020603050405020304" pitchFamily="18" charset="0"/>
                <a:ea typeface="微软雅黑" pitchFamily="34" charset="-122"/>
              </a:rPr>
              <a:t>4-3)</a:t>
            </a:r>
            <a:endParaRPr lang="zh-CN" altLang="en-US" sz="2800" dirty="0">
              <a:solidFill>
                <a:schemeClr val="tx2"/>
              </a:solidFill>
              <a:latin typeface="微软雅黑" pitchFamily="34" charset="-122"/>
              <a:ea typeface="华文楷体" panose="02010600040101010101" pitchFamily="2" charset="-122"/>
            </a:endParaRPr>
          </a:p>
        </p:txBody>
      </p:sp>
      <p:sp>
        <p:nvSpPr>
          <p:cNvPr id="4" name="矩形 3"/>
          <p:cNvSpPr/>
          <p:nvPr/>
        </p:nvSpPr>
        <p:spPr>
          <a:xfrm>
            <a:off x="8199904" y="6308725"/>
            <a:ext cx="902811" cy="461665"/>
          </a:xfrm>
          <a:prstGeom prst="rect">
            <a:avLst/>
          </a:prstGeom>
          <a:noFill/>
          <a:ln w="9525">
            <a:noFill/>
          </a:ln>
        </p:spPr>
        <p:txBody>
          <a:bodyPr wrap="none">
            <a:spAutoFit/>
          </a:bodyPr>
          <a:lstStyle/>
          <a:p>
            <a:pPr eaLnBrk="1" hangingPunct="1"/>
            <a:r>
              <a:rPr lang="zh-CN" altLang="en-US" dirty="0">
                <a:latin typeface="微软雅黑" pitchFamily="34" charset="-122"/>
                <a:ea typeface="微软雅黑" pitchFamily="34" charset="-122"/>
              </a:rPr>
              <a:t>图</a:t>
            </a:r>
            <a:r>
              <a:rPr lang="en-US" altLang="zh-CN" dirty="0">
                <a:latin typeface="Times New Roman" panose="02020603050405020304" pitchFamily="18" charset="0"/>
                <a:ea typeface="微软雅黑" pitchFamily="34" charset="-122"/>
                <a:cs typeface="Times New Roman" panose="02020603050405020304" pitchFamily="18" charset="0"/>
              </a:rPr>
              <a:t>4-3</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46119" name="Text Box 7"/>
          <p:cNvSpPr txBox="1"/>
          <p:nvPr/>
        </p:nvSpPr>
        <p:spPr>
          <a:xfrm>
            <a:off x="0" y="4027488"/>
            <a:ext cx="3492500" cy="2862262"/>
          </a:xfrm>
          <a:prstGeom prst="rect">
            <a:avLst/>
          </a:prstGeom>
          <a:solidFill>
            <a:srgbClr val="FFFF99"/>
          </a:solidFill>
          <a:ln w="9525">
            <a:noFill/>
          </a:ln>
        </p:spPr>
        <p:txBody>
          <a:bodyPr>
            <a:spAutoFit/>
          </a:bodyPr>
          <a:lstStyle/>
          <a:p>
            <a:pPr eaLnBrk="1" hangingPunct="1">
              <a:spcBef>
                <a:spcPct val="50000"/>
              </a:spcBef>
            </a:pPr>
            <a:r>
              <a:rPr lang="zh-CN" altLang="en-US" b="1" dirty="0">
                <a:solidFill>
                  <a:schemeClr val="hlink"/>
                </a:solidFill>
                <a:latin typeface="Tahoma" panose="020B0604030504040204" pitchFamily="34" charset="0"/>
                <a:ea typeface="微软雅黑" pitchFamily="34" charset="-122"/>
              </a:rPr>
              <a:t>存在性的证明</a:t>
            </a:r>
            <a:r>
              <a:rPr lang="zh-CN" altLang="en-US" b="1" dirty="0">
                <a:latin typeface="Tahoma" panose="020B0604030504040204" pitchFamily="34" charset="0"/>
                <a:ea typeface="微软雅黑" pitchFamily="34" charset="-122"/>
              </a:rPr>
              <a:t>：因为数字格为基</a:t>
            </a:r>
          </a:p>
          <a:p>
            <a:pPr eaLnBrk="1" hangingPunct="1">
              <a:spcBef>
                <a:spcPct val="50000"/>
              </a:spcBef>
            </a:pPr>
            <a:r>
              <a:rPr lang="zh-CN" altLang="en-US" b="1" dirty="0">
                <a:solidFill>
                  <a:schemeClr val="hlink"/>
                </a:solidFill>
                <a:latin typeface="Tahoma" panose="020B0604030504040204" pitchFamily="34" charset="0"/>
                <a:ea typeface="微软雅黑" pitchFamily="34" charset="-122"/>
              </a:rPr>
              <a:t>唯一性的证明</a:t>
            </a:r>
            <a:r>
              <a:rPr lang="zh-CN" altLang="en-US" b="1" dirty="0">
                <a:latin typeface="Tahoma" panose="020B0604030504040204" pitchFamily="34" charset="0"/>
                <a:ea typeface="微软雅黑" pitchFamily="34" charset="-122"/>
              </a:rPr>
              <a:t>：反证法</a:t>
            </a:r>
            <a:r>
              <a:rPr lang="zh-CN" altLang="en-US" b="1" dirty="0">
                <a:latin typeface="仿宋" panose="02010609060101010101" pitchFamily="49" charset="-122"/>
                <a:ea typeface="仿宋" panose="02010609060101010101" pitchFamily="49" charset="-122"/>
              </a:rPr>
              <a:t>，</a:t>
            </a:r>
            <a:r>
              <a:rPr lang="zh-CN" altLang="en-US" b="1" dirty="0">
                <a:latin typeface="Tahoma" panose="020B0604030504040204" pitchFamily="34" charset="0"/>
                <a:ea typeface="微软雅黑" pitchFamily="34" charset="-122"/>
              </a:rPr>
              <a:t>若还存在另一个闭回路</a:t>
            </a:r>
            <a:r>
              <a:rPr lang="zh-CN" altLang="en-US" b="1" dirty="0">
                <a:latin typeface="仿宋" panose="02010609060101010101" pitchFamily="49" charset="-122"/>
                <a:ea typeface="仿宋" panose="02010609060101010101" pitchFamily="49" charset="-122"/>
              </a:rPr>
              <a:t>，</a:t>
            </a:r>
            <a:r>
              <a:rPr lang="zh-CN" altLang="en-US" b="1" dirty="0">
                <a:latin typeface="Tahoma" panose="020B0604030504040204" pitchFamily="34" charset="0"/>
                <a:ea typeface="微软雅黑" pitchFamily="34" charset="-122"/>
              </a:rPr>
              <a:t>则两种表示作差后</a:t>
            </a:r>
            <a:r>
              <a:rPr lang="zh-CN" altLang="en-US" b="1" dirty="0">
                <a:latin typeface="仿宋" panose="02010609060101010101" pitchFamily="49" charset="-122"/>
                <a:ea typeface="仿宋" panose="02010609060101010101" pitchFamily="49" charset="-122"/>
              </a:rPr>
              <a:t>，</a:t>
            </a:r>
            <a:r>
              <a:rPr lang="zh-CN" altLang="en-US" b="1" dirty="0">
                <a:latin typeface="Tahoma" panose="020B0604030504040204" pitchFamily="34" charset="0"/>
                <a:ea typeface="微软雅黑" pitchFamily="34" charset="-122"/>
              </a:rPr>
              <a:t>数字格对应的系数向量线性相关</a:t>
            </a:r>
            <a:r>
              <a:rPr lang="zh-CN" altLang="en-US" b="1" dirty="0">
                <a:latin typeface="仿宋" panose="02010609060101010101" pitchFamily="49" charset="-122"/>
                <a:ea typeface="仿宋" panose="02010609060101010101" pitchFamily="49" charset="-122"/>
              </a:rPr>
              <a:t>，</a:t>
            </a:r>
            <a:r>
              <a:rPr lang="zh-CN" altLang="en-US" b="1" dirty="0">
                <a:latin typeface="Tahoma" panose="020B0604030504040204" pitchFamily="34" charset="0"/>
                <a:ea typeface="微软雅黑" pitchFamily="34" charset="-122"/>
              </a:rPr>
              <a:t>矛盾！</a:t>
            </a:r>
          </a:p>
        </p:txBody>
      </p:sp>
      <p:grpSp>
        <p:nvGrpSpPr>
          <p:cNvPr id="8" name="组合 7"/>
          <p:cNvGrpSpPr/>
          <p:nvPr/>
        </p:nvGrpSpPr>
        <p:grpSpPr>
          <a:xfrm>
            <a:off x="6078538" y="715963"/>
            <a:ext cx="3092450" cy="461962"/>
            <a:chOff x="7701774" y="894705"/>
            <a:chExt cx="3092513" cy="461665"/>
          </a:xfrm>
        </p:grpSpPr>
        <p:graphicFrame>
          <p:nvGraphicFramePr>
            <p:cNvPr id="19465" name="Object 8"/>
            <p:cNvGraphicFramePr>
              <a:graphicFrameLocks noChangeAspect="1"/>
            </p:cNvGraphicFramePr>
            <p:nvPr/>
          </p:nvGraphicFramePr>
          <p:xfrm>
            <a:off x="8231982" y="933449"/>
            <a:ext cx="284162" cy="384175"/>
          </p:xfrm>
          <a:graphic>
            <a:graphicData uri="http://schemas.openxmlformats.org/presentationml/2006/ole">
              <mc:AlternateContent xmlns:mc="http://schemas.openxmlformats.org/markup-compatibility/2006">
                <mc:Choice xmlns:v="urn:schemas-microsoft-com:vml" Requires="v">
                  <p:oleObj spid="_x0000_s11313" r:id="rId6" imgW="177800" imgH="241300" progId="Equation.DSMT4">
                    <p:embed/>
                  </p:oleObj>
                </mc:Choice>
                <mc:Fallback>
                  <p:oleObj r:id="rId6" imgW="177800" imgH="241300" progId="Equation.DSMT4">
                    <p:embed/>
                    <p:pic>
                      <p:nvPicPr>
                        <p:cNvPr id="19465" name="Object 8"/>
                        <p:cNvPicPr/>
                        <p:nvPr/>
                      </p:nvPicPr>
                      <p:blipFill>
                        <a:blip r:embed="rId7"/>
                        <a:stretch>
                          <a:fillRect/>
                        </a:stretch>
                      </p:blipFill>
                      <p:spPr>
                        <a:xfrm>
                          <a:off x="8231982" y="933449"/>
                          <a:ext cx="284162" cy="384175"/>
                        </a:xfrm>
                        <a:prstGeom prst="rect">
                          <a:avLst/>
                        </a:prstGeom>
                        <a:solidFill>
                          <a:srgbClr val="FFCCFF"/>
                        </a:solidFill>
                        <a:ln w="38100">
                          <a:noFill/>
                          <a:miter/>
                        </a:ln>
                      </p:spPr>
                    </p:pic>
                  </p:oleObj>
                </mc:Fallback>
              </mc:AlternateContent>
            </a:graphicData>
          </a:graphic>
        </p:graphicFrame>
        <p:sp>
          <p:nvSpPr>
            <p:cNvPr id="19466" name="矩形 6"/>
            <p:cNvSpPr/>
            <p:nvPr/>
          </p:nvSpPr>
          <p:spPr>
            <a:xfrm>
              <a:off x="7701774" y="894705"/>
              <a:ext cx="3092513" cy="461665"/>
            </a:xfrm>
            <a:prstGeom prst="rect">
              <a:avLst/>
            </a:prstGeom>
            <a:noFill/>
            <a:ln w="9525">
              <a:noFill/>
            </a:ln>
          </p:spPr>
          <p:txBody>
            <a:bodyPr wrap="none">
              <a:spAutoFit/>
            </a:bodyPr>
            <a:lstStyle/>
            <a:p>
              <a:pPr eaLnBrk="1" hangingPunct="1"/>
              <a:r>
                <a:rPr lang="zh-CN" altLang="en-US" b="1" dirty="0">
                  <a:latin typeface="Times New Roman" panose="02020603050405020304" pitchFamily="18" charset="0"/>
                  <a:ea typeface="微软雅黑" pitchFamily="34" charset="-122"/>
                </a:rPr>
                <a:t>如</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可表示为</a:t>
              </a:r>
              <a:endParaRPr lang="zh-CN" altLang="en-US" dirty="0">
                <a:latin typeface="Tahoma" panose="020B0604030504040204" pitchFamily="34" charset="0"/>
                <a:ea typeface="微软雅黑" pitchFamily="34" charset="-122"/>
              </a:endParaRPr>
            </a:p>
          </p:txBody>
        </p:sp>
      </p:grpSp>
      <p:sp>
        <p:nvSpPr>
          <p:cNvPr id="2" name="灯片编号占位符 1">
            <a:extLst>
              <a:ext uri="{FF2B5EF4-FFF2-40B4-BE49-F238E27FC236}">
                <a16:creationId xmlns:a16="http://schemas.microsoft.com/office/drawing/2014/main" id="{0D80E12C-AB6E-40B6-B62C-2E2BE3F82B34}"/>
              </a:ext>
            </a:extLst>
          </p:cNvPr>
          <p:cNvSpPr>
            <a:spLocks noGrp="1"/>
          </p:cNvSpPr>
          <p:nvPr>
            <p:ph type="sldNum" sz="quarter" idx="12"/>
          </p:nvPr>
        </p:nvSpPr>
        <p:spPr/>
        <p:txBody>
          <a:bodyPr/>
          <a:lstStyle/>
          <a:p>
            <a:pPr>
              <a:defRPr/>
            </a:pPr>
            <a:fld id="{2AE1B59C-883C-4848-BC85-9A12DF2590B2}" type="slidenum">
              <a:rPr lang="en-US" altLang="zh-CN" smtClean="0"/>
              <a:t>28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1">
                                            <p:txEl>
                                              <p:pRg st="1" end="1"/>
                                            </p:txEl>
                                          </p:spTgt>
                                        </p:tgtEl>
                                        <p:attrNameLst>
                                          <p:attrName>style.visibility</p:attrName>
                                        </p:attrNameLst>
                                      </p:cBhvr>
                                      <p:to>
                                        <p:strVal val="visible"/>
                                      </p:to>
                                    </p:set>
                                    <p:animEffect transition="in" filter="blinds(horizontal)">
                                      <p:cBhvr>
                                        <p:cTn id="7" dur="500"/>
                                        <p:tgtEl>
                                          <p:spTgt spid="410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46119">
                                            <p:txEl>
                                              <p:pRg st="0" end="0"/>
                                            </p:txEl>
                                          </p:spTgt>
                                        </p:tgtEl>
                                        <p:attrNameLst>
                                          <p:attrName>style.visibility</p:attrName>
                                        </p:attrNameLst>
                                      </p:cBhvr>
                                      <p:to>
                                        <p:strVal val="visible"/>
                                      </p:to>
                                    </p:set>
                                    <p:animEffect transition="in" filter="blinds(horizontal)">
                                      <p:cBhvr>
                                        <p:cTn id="40" dur="500"/>
                                        <p:tgtEl>
                                          <p:spTgt spid="34611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46119">
                                            <p:txEl>
                                              <p:pRg st="1" end="1"/>
                                            </p:txEl>
                                          </p:spTgt>
                                        </p:tgtEl>
                                        <p:attrNameLst>
                                          <p:attrName>style.visibility</p:attrName>
                                        </p:attrNameLst>
                                      </p:cBhvr>
                                      <p:to>
                                        <p:strVal val="visible"/>
                                      </p:to>
                                    </p:set>
                                    <p:animEffect transition="in" filter="blinds(horizontal)">
                                      <p:cBhvr>
                                        <p:cTn id="45" dur="500"/>
                                        <p:tgtEl>
                                          <p:spTgt spid="3461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0" y="2205038"/>
            <a:ext cx="9144000" cy="1871662"/>
          </a:xfrm>
          <a:prstGeom prst="rect">
            <a:avLst/>
          </a:prstGeom>
          <a:solidFill>
            <a:srgbClr val="FFFF99"/>
          </a:solidFill>
          <a:ln w="9525">
            <a:noFill/>
          </a:ln>
        </p:spPr>
        <p:txBody>
          <a:bodyPr/>
          <a:lstStyle/>
          <a:p>
            <a:pPr>
              <a:buFont typeface="Wingdings" panose="05000000000000000000" pitchFamily="2" charset="2"/>
            </a:pPr>
            <a:r>
              <a:rPr lang="zh-CN" altLang="en-US" b="1" dirty="0">
                <a:latin typeface="Times New Roman" panose="02020603050405020304" pitchFamily="18" charset="0"/>
                <a:ea typeface="微软雅黑" pitchFamily="34" charset="-122"/>
              </a:rPr>
              <a:t>闭回路法计算检验数的经济解释：</a:t>
            </a:r>
            <a:endParaRPr lang="en-US" altLang="zh-CN" b="1" dirty="0">
              <a:latin typeface="Times New Roman" panose="02020603050405020304" pitchFamily="18" charset="0"/>
              <a:ea typeface="微软雅黑" pitchFamily="34" charset="-122"/>
            </a:endParaRPr>
          </a:p>
          <a:p>
            <a:pPr>
              <a:buFont typeface="Wingdings" panose="05000000000000000000" pitchFamily="2" charset="2"/>
            </a:pPr>
            <a:r>
              <a:rPr lang="zh-CN" altLang="en-US" b="1" dirty="0">
                <a:latin typeface="Times New Roman" panose="02020603050405020304" pitchFamily="18" charset="0"/>
                <a:ea typeface="微软雅黑" pitchFamily="34" charset="-122"/>
              </a:rPr>
              <a:t>在已给出初始解的表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中</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 从任一空格出发</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endParaRPr lang="en-US" altLang="zh-CN" b="1" dirty="0">
              <a:latin typeface="仿宋" pitchFamily="49" charset="-122"/>
              <a:ea typeface="仿宋" pitchFamily="49" charset="-122"/>
            </a:endParaRPr>
          </a:p>
          <a:p>
            <a:pPr>
              <a:buFont typeface="Wingdings" panose="05000000000000000000" pitchFamily="2" charset="2"/>
            </a:pPr>
            <a:r>
              <a:rPr lang="zh-CN" altLang="en-US" b="1" dirty="0">
                <a:latin typeface="Times New Roman" panose="02020603050405020304" pitchFamily="18" charset="0"/>
                <a:ea typeface="微软雅黑" pitchFamily="34" charset="-122"/>
              </a:rPr>
              <a:t>若让</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的产品调运</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吨给</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。为保持产销平衡</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就要依次作调整：在</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处减少</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处增加</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处减少</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吨即构成了以</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空格为起点</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其他为数字格的闭回路</a:t>
            </a:r>
          </a:p>
        </p:txBody>
      </p:sp>
      <p:pic>
        <p:nvPicPr>
          <p:cNvPr id="20484" name="Picture 3"/>
          <p:cNvPicPr>
            <a:picLocks noChangeAspect="1"/>
          </p:cNvPicPr>
          <p:nvPr/>
        </p:nvPicPr>
        <p:blipFill>
          <a:blip r:embed="rId3"/>
          <a:stretch>
            <a:fillRect/>
          </a:stretch>
        </p:blipFill>
        <p:spPr>
          <a:xfrm>
            <a:off x="1547813" y="0"/>
            <a:ext cx="5327650" cy="2235200"/>
          </a:xfrm>
          <a:prstGeom prst="rect">
            <a:avLst/>
          </a:prstGeom>
          <a:noFill/>
          <a:ln w="9525">
            <a:noFill/>
          </a:ln>
        </p:spPr>
      </p:pic>
      <p:sp>
        <p:nvSpPr>
          <p:cNvPr id="20485" name="矩形 4"/>
          <p:cNvSpPr/>
          <p:nvPr/>
        </p:nvSpPr>
        <p:spPr>
          <a:xfrm>
            <a:off x="6875463" y="1743373"/>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4-10</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48168" name="Line 8"/>
          <p:cNvSpPr/>
          <p:nvPr/>
        </p:nvSpPr>
        <p:spPr>
          <a:xfrm>
            <a:off x="3635375" y="908050"/>
            <a:ext cx="1296988" cy="0"/>
          </a:xfrm>
          <a:prstGeom prst="line">
            <a:avLst/>
          </a:prstGeom>
          <a:ln w="38100" cap="flat" cmpd="sng">
            <a:solidFill>
              <a:schemeClr val="hlink"/>
            </a:solidFill>
            <a:prstDash val="solid"/>
            <a:headEnd type="none" w="med" len="med"/>
            <a:tailEnd type="triangle" w="med" len="med"/>
          </a:ln>
        </p:spPr>
      </p:sp>
      <p:sp>
        <p:nvSpPr>
          <p:cNvPr id="348169" name="Line 9"/>
          <p:cNvSpPr/>
          <p:nvPr/>
        </p:nvSpPr>
        <p:spPr>
          <a:xfrm>
            <a:off x="4859338" y="981075"/>
            <a:ext cx="0" cy="360363"/>
          </a:xfrm>
          <a:prstGeom prst="line">
            <a:avLst/>
          </a:prstGeom>
          <a:ln w="38100" cap="flat" cmpd="sng">
            <a:solidFill>
              <a:schemeClr val="hlink"/>
            </a:solidFill>
            <a:prstDash val="solid"/>
            <a:headEnd type="none" w="med" len="med"/>
            <a:tailEnd type="triangle" w="med" len="med"/>
          </a:ln>
        </p:spPr>
      </p:sp>
      <p:sp>
        <p:nvSpPr>
          <p:cNvPr id="348171" name="Line 11"/>
          <p:cNvSpPr/>
          <p:nvPr/>
        </p:nvSpPr>
        <p:spPr>
          <a:xfrm flipH="1" flipV="1">
            <a:off x="3851275" y="1341438"/>
            <a:ext cx="936625" cy="0"/>
          </a:xfrm>
          <a:prstGeom prst="line">
            <a:avLst/>
          </a:prstGeom>
          <a:ln w="38100" cap="flat" cmpd="sng">
            <a:solidFill>
              <a:schemeClr val="hlink"/>
            </a:solidFill>
            <a:prstDash val="solid"/>
            <a:headEnd type="none" w="med" len="med"/>
            <a:tailEnd type="triangle" w="med" len="med"/>
          </a:ln>
        </p:spPr>
      </p:sp>
      <p:sp>
        <p:nvSpPr>
          <p:cNvPr id="348172" name="Line 12"/>
          <p:cNvSpPr/>
          <p:nvPr/>
        </p:nvSpPr>
        <p:spPr>
          <a:xfrm flipV="1">
            <a:off x="3779838" y="981075"/>
            <a:ext cx="0" cy="287338"/>
          </a:xfrm>
          <a:prstGeom prst="line">
            <a:avLst/>
          </a:prstGeom>
          <a:ln w="38100" cap="flat" cmpd="sng">
            <a:solidFill>
              <a:schemeClr val="hlink"/>
            </a:solidFill>
            <a:prstDash val="solid"/>
            <a:headEnd type="none" w="med" len="med"/>
            <a:tailEnd type="triangle" w="med" len="med"/>
          </a:ln>
        </p:spPr>
      </p:sp>
      <p:graphicFrame>
        <p:nvGraphicFramePr>
          <p:cNvPr id="3" name="Object 2"/>
          <p:cNvGraphicFramePr>
            <a:graphicFrameLocks noChangeAspect="1"/>
          </p:cNvGraphicFramePr>
          <p:nvPr>
            <p:extLst>
              <p:ext uri="{D42A27DB-BD31-4B8C-83A1-F6EECF244321}">
                <p14:modId xmlns:p14="http://schemas.microsoft.com/office/powerpoint/2010/main" val="29484133"/>
              </p:ext>
            </p:extLst>
          </p:nvPr>
        </p:nvGraphicFramePr>
        <p:xfrm>
          <a:off x="233239" y="4102418"/>
          <a:ext cx="8637588" cy="1208087"/>
        </p:xfrm>
        <a:graphic>
          <a:graphicData uri="http://schemas.openxmlformats.org/presentationml/2006/ole">
            <mc:AlternateContent xmlns:mc="http://schemas.openxmlformats.org/markup-compatibility/2006">
              <mc:Choice xmlns:v="urn:schemas-microsoft-com:vml" Requires="v">
                <p:oleObj spid="_x0000_s12346" r:id="rId4" imgW="3263900" imgH="457200" progId="Equation.DSMT4">
                  <p:embed/>
                </p:oleObj>
              </mc:Choice>
              <mc:Fallback>
                <p:oleObj r:id="rId4" imgW="3263900" imgH="457200" progId="Equation.DSMT4">
                  <p:embed/>
                  <p:pic>
                    <p:nvPicPr>
                      <p:cNvPr id="3" name="Object 2"/>
                      <p:cNvPicPr/>
                      <p:nvPr/>
                    </p:nvPicPr>
                    <p:blipFill>
                      <a:blip r:embed="rId5"/>
                      <a:stretch>
                        <a:fillRect/>
                      </a:stretch>
                    </p:blipFill>
                    <p:spPr>
                      <a:xfrm>
                        <a:off x="233239" y="4102418"/>
                        <a:ext cx="8637588" cy="1208087"/>
                      </a:xfrm>
                      <a:prstGeom prst="rect">
                        <a:avLst/>
                      </a:prstGeom>
                      <a:solidFill>
                        <a:srgbClr val="FFCCFF"/>
                      </a:solidFill>
                      <a:ln w="38100">
                        <a:noFill/>
                        <a:miter/>
                      </a:ln>
                    </p:spPr>
                  </p:pic>
                </p:oleObj>
              </mc:Fallback>
            </mc:AlternateContent>
          </a:graphicData>
        </a:graphic>
      </p:graphicFrame>
      <p:sp>
        <p:nvSpPr>
          <p:cNvPr id="13" name="矩形 12"/>
          <p:cNvSpPr/>
          <p:nvPr/>
        </p:nvSpPr>
        <p:spPr>
          <a:xfrm>
            <a:off x="3851275" y="836613"/>
            <a:ext cx="1081088" cy="504825"/>
          </a:xfrm>
          <a:prstGeom prst="rect">
            <a:avLst/>
          </a:prstGeom>
          <a:noFill/>
          <a:ln w="762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380306613"/>
              </p:ext>
            </p:extLst>
          </p:nvPr>
        </p:nvGraphicFramePr>
        <p:xfrm>
          <a:off x="586458" y="5573713"/>
          <a:ext cx="7931150" cy="1208087"/>
        </p:xfrm>
        <a:graphic>
          <a:graphicData uri="http://schemas.openxmlformats.org/presentationml/2006/ole">
            <mc:AlternateContent xmlns:mc="http://schemas.openxmlformats.org/markup-compatibility/2006">
              <mc:Choice xmlns:v="urn:schemas-microsoft-com:vml" Requires="v">
                <p:oleObj spid="_x0000_s12347" name="Equation" r:id="rId6" imgW="2997200" imgH="457200" progId="Equation.DSMT4">
                  <p:embed/>
                </p:oleObj>
              </mc:Choice>
              <mc:Fallback>
                <p:oleObj name="Equation" r:id="rId6" imgW="2997200" imgH="457200" progId="Equation.DSMT4">
                  <p:embed/>
                  <p:pic>
                    <p:nvPicPr>
                      <p:cNvPr id="5" name="Object 13"/>
                      <p:cNvPicPr/>
                      <p:nvPr/>
                    </p:nvPicPr>
                    <p:blipFill>
                      <a:blip r:embed="rId7"/>
                      <a:stretch>
                        <a:fillRect/>
                      </a:stretch>
                    </p:blipFill>
                    <p:spPr>
                      <a:xfrm>
                        <a:off x="586458" y="5573713"/>
                        <a:ext cx="7931150" cy="1208087"/>
                      </a:xfrm>
                      <a:prstGeom prst="rect">
                        <a:avLst/>
                      </a:prstGeom>
                      <a:solidFill>
                        <a:srgbClr val="FFCCFF"/>
                      </a:solidFill>
                      <a:ln w="38100">
                        <a:noFill/>
                        <a:miter/>
                      </a:ln>
                    </p:spPr>
                  </p:pic>
                </p:oleObj>
              </mc:Fallback>
            </mc:AlternateContent>
          </a:graphicData>
        </a:graphic>
      </p:graphicFrame>
      <p:sp>
        <p:nvSpPr>
          <p:cNvPr id="7" name="灯片编号占位符 6">
            <a:extLst>
              <a:ext uri="{FF2B5EF4-FFF2-40B4-BE49-F238E27FC236}">
                <a16:creationId xmlns:a16="http://schemas.microsoft.com/office/drawing/2014/main" id="{B5F810B9-2544-4C32-B6B5-15B6C1FD3B48}"/>
              </a:ext>
            </a:extLst>
          </p:cNvPr>
          <p:cNvSpPr>
            <a:spLocks noGrp="1"/>
          </p:cNvSpPr>
          <p:nvPr>
            <p:ph type="sldNum" sz="quarter" idx="12"/>
          </p:nvPr>
        </p:nvSpPr>
        <p:spPr/>
        <p:txBody>
          <a:bodyPr/>
          <a:lstStyle/>
          <a:p>
            <a:pPr>
              <a:defRPr/>
            </a:pPr>
            <a:fld id="{2AE1B59C-883C-4848-BC85-9A12DF2590B2}" type="slidenum">
              <a:rPr lang="en-US" altLang="zh-CN" smtClean="0"/>
              <a:t>29</a:t>
            </a:fld>
            <a:endParaRPr lang="en-US" altLang="zh-CN"/>
          </a:p>
        </p:txBody>
      </p:sp>
      <p:graphicFrame>
        <p:nvGraphicFramePr>
          <p:cNvPr id="35" name="Object 2">
            <a:extLst>
              <a:ext uri="{FF2B5EF4-FFF2-40B4-BE49-F238E27FC236}">
                <a16:creationId xmlns:a16="http://schemas.microsoft.com/office/drawing/2014/main" id="{0135E268-9BC4-4500-A4D3-C9FDBE8B159A}"/>
              </a:ext>
            </a:extLst>
          </p:cNvPr>
          <p:cNvGraphicFramePr>
            <a:graphicFrameLocks noChangeAspect="1"/>
          </p:cNvGraphicFramePr>
          <p:nvPr>
            <p:extLst>
              <p:ext uri="{D42A27DB-BD31-4B8C-83A1-F6EECF244321}">
                <p14:modId xmlns:p14="http://schemas.microsoft.com/office/powerpoint/2010/main" val="379936769"/>
              </p:ext>
            </p:extLst>
          </p:nvPr>
        </p:nvGraphicFramePr>
        <p:xfrm>
          <a:off x="1115517" y="5231780"/>
          <a:ext cx="6336703" cy="1626220"/>
        </p:xfrm>
        <a:graphic>
          <a:graphicData uri="http://schemas.openxmlformats.org/presentationml/2006/ole">
            <mc:AlternateContent xmlns:mc="http://schemas.openxmlformats.org/markup-compatibility/2006">
              <mc:Choice xmlns:v="urn:schemas-microsoft-com:vml" Requires="v">
                <p:oleObj spid="_x0000_s12348" name="Equation" r:id="rId8" imgW="2666880" imgH="685800" progId="Equation.DSMT4">
                  <p:embed/>
                </p:oleObj>
              </mc:Choice>
              <mc:Fallback>
                <p:oleObj name="Equation" r:id="rId8" imgW="2666880" imgH="685800" progId="Equation.DSMT4">
                  <p:embed/>
                  <p:pic>
                    <p:nvPicPr>
                      <p:cNvPr id="3" name="Object 2"/>
                      <p:cNvPicPr/>
                      <p:nvPr/>
                    </p:nvPicPr>
                    <p:blipFill>
                      <a:blip r:embed="rId9"/>
                      <a:stretch>
                        <a:fillRect/>
                      </a:stretch>
                    </p:blipFill>
                    <p:spPr>
                      <a:xfrm>
                        <a:off x="1115517" y="5231780"/>
                        <a:ext cx="6336703" cy="1626220"/>
                      </a:xfrm>
                      <a:prstGeom prst="rect">
                        <a:avLst/>
                      </a:prstGeom>
                      <a:solidFill>
                        <a:srgbClr val="FFCCFF"/>
                      </a:solid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dissolve">
                                      <p:cBhvr>
                                        <p:cTn id="27" dur="500"/>
                                        <p:tgtEl>
                                          <p:spTgt spid="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48168"/>
                                        </p:tgtEl>
                                        <p:attrNameLst>
                                          <p:attrName>style.visibility</p:attrName>
                                        </p:attrNameLst>
                                      </p:cBhvr>
                                      <p:to>
                                        <p:strVal val="visible"/>
                                      </p:to>
                                    </p:set>
                                    <p:animEffect transition="in" filter="blinds(horizontal)">
                                      <p:cBhvr>
                                        <p:cTn id="32" dur="500"/>
                                        <p:tgtEl>
                                          <p:spTgt spid="34816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48169"/>
                                        </p:tgtEl>
                                        <p:attrNameLst>
                                          <p:attrName>style.visibility</p:attrName>
                                        </p:attrNameLst>
                                      </p:cBhvr>
                                      <p:to>
                                        <p:strVal val="visible"/>
                                      </p:to>
                                    </p:set>
                                    <p:animEffect transition="in" filter="blinds(horizontal)">
                                      <p:cBhvr>
                                        <p:cTn id="37" dur="500"/>
                                        <p:tgtEl>
                                          <p:spTgt spid="34816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48171"/>
                                        </p:tgtEl>
                                        <p:attrNameLst>
                                          <p:attrName>style.visibility</p:attrName>
                                        </p:attrNameLst>
                                      </p:cBhvr>
                                      <p:to>
                                        <p:strVal val="visible"/>
                                      </p:to>
                                    </p:set>
                                    <p:animEffect transition="in" filter="blinds(horizontal)">
                                      <p:cBhvr>
                                        <p:cTn id="42" dur="500"/>
                                        <p:tgtEl>
                                          <p:spTgt spid="34817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48172"/>
                                        </p:tgtEl>
                                        <p:attrNameLst>
                                          <p:attrName>style.visibility</p:attrName>
                                        </p:attrNameLst>
                                      </p:cBhvr>
                                      <p:to>
                                        <p:strVal val="visible"/>
                                      </p:to>
                                    </p:set>
                                    <p:animEffect transition="in" filter="blinds(horizontal)">
                                      <p:cBhvr>
                                        <p:cTn id="47" dur="500"/>
                                        <p:tgtEl>
                                          <p:spTgt spid="348172"/>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1000"/>
                                        <p:tgtEl>
                                          <p:spTgt spid="3"/>
                                        </p:tgtEl>
                                      </p:cBhvr>
                                    </p:animEffect>
                                    <p:anim calcmode="lin" valueType="num">
                                      <p:cBhvr>
                                        <p:cTn id="53" dur="1000" fill="hold"/>
                                        <p:tgtEl>
                                          <p:spTgt spid="3"/>
                                        </p:tgtEl>
                                        <p:attrNameLst>
                                          <p:attrName>ppt_x</p:attrName>
                                        </p:attrNameLst>
                                      </p:cBhvr>
                                      <p:tavLst>
                                        <p:tav tm="0">
                                          <p:val>
                                            <p:strVal val="#ppt_x"/>
                                          </p:val>
                                        </p:tav>
                                        <p:tav tm="100000">
                                          <p:val>
                                            <p:strVal val="#ppt_x"/>
                                          </p:val>
                                        </p:tav>
                                      </p:tavLst>
                                    </p:anim>
                                    <p:anim calcmode="lin" valueType="num">
                                      <p:cBhvr>
                                        <p:cTn id="5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3" presetClass="exit" presetSubtype="10" fill="hold" nodeType="clickEffect">
                                  <p:stCondLst>
                                    <p:cond delay="0"/>
                                  </p:stCondLst>
                                  <p:childTnLst>
                                    <p:animEffect transition="out" filter="blinds(horizontal)">
                                      <p:cBhvr>
                                        <p:cTn id="65" dur="500"/>
                                        <p:tgtEl>
                                          <p:spTgt spid="35"/>
                                        </p:tgtEl>
                                      </p:cBhvr>
                                    </p:animEffect>
                                    <p:set>
                                      <p:cBhvr>
                                        <p:cTn id="66" dur="1" fill="hold">
                                          <p:stCondLst>
                                            <p:cond delay="499"/>
                                          </p:stCondLst>
                                        </p:cTn>
                                        <p:tgtEl>
                                          <p:spTgt spid="3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fade">
                                      <p:cBhvr>
                                        <p:cTn id="71" dur="1000"/>
                                        <p:tgtEl>
                                          <p:spTgt spid="5"/>
                                        </p:tgtEl>
                                      </p:cBhvr>
                                    </p:animEffect>
                                    <p:anim calcmode="lin" valueType="num">
                                      <p:cBhvr>
                                        <p:cTn id="72" dur="1000" fill="hold"/>
                                        <p:tgtEl>
                                          <p:spTgt spid="5"/>
                                        </p:tgtEl>
                                        <p:attrNameLst>
                                          <p:attrName>ppt_x</p:attrName>
                                        </p:attrNameLst>
                                      </p:cBhvr>
                                      <p:tavLst>
                                        <p:tav tm="0">
                                          <p:val>
                                            <p:strVal val="#ppt_x"/>
                                          </p:val>
                                        </p:tav>
                                        <p:tav tm="100000">
                                          <p:val>
                                            <p:strVal val="#ppt_x"/>
                                          </p:val>
                                        </p:tav>
                                      </p:tavLst>
                                    </p:anim>
                                    <p:anim calcmode="lin" valueType="num">
                                      <p:cBhvr>
                                        <p:cTn id="7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62213" y="6308725"/>
            <a:ext cx="1223962"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4-15</a:t>
            </a:r>
            <a:endParaRPr lang="zh-CN" altLang="en-US" dirty="0">
              <a:latin typeface="微软雅黑" pitchFamily="34" charset="-122"/>
              <a:ea typeface="微软雅黑" pitchFamily="34" charset="-122"/>
            </a:endParaRPr>
          </a:p>
        </p:txBody>
      </p:sp>
      <p:sp>
        <p:nvSpPr>
          <p:cNvPr id="2" name="Rectangle 2"/>
          <p:cNvSpPr txBox="1"/>
          <p:nvPr/>
        </p:nvSpPr>
        <p:spPr>
          <a:xfrm>
            <a:off x="0" y="2205038"/>
            <a:ext cx="9144000" cy="1871662"/>
          </a:xfrm>
          <a:prstGeom prst="rect">
            <a:avLst/>
          </a:prstGeom>
          <a:solidFill>
            <a:srgbClr val="FFFF99"/>
          </a:solidFill>
          <a:ln w="9525">
            <a:noFill/>
          </a:ln>
        </p:spPr>
        <p:txBody>
          <a:bodyPr/>
          <a:lstStyle/>
          <a:p>
            <a:pPr>
              <a:buFont typeface="Wingdings" panose="05000000000000000000" pitchFamily="2" charset="2"/>
            </a:pPr>
            <a:r>
              <a:rPr lang="zh-CN" altLang="en-US" b="1" dirty="0">
                <a:latin typeface="Times New Roman" panose="02020603050405020304" pitchFamily="18" charset="0"/>
                <a:ea typeface="微软雅黑" pitchFamily="34" charset="-122"/>
              </a:rPr>
              <a:t>闭回路法计算检验数的经济解释：</a:t>
            </a:r>
            <a:endParaRPr lang="en-US" altLang="zh-CN" b="1" dirty="0">
              <a:latin typeface="Times New Roman" panose="02020603050405020304" pitchFamily="18" charset="0"/>
              <a:ea typeface="微软雅黑" pitchFamily="34" charset="-122"/>
            </a:endParaRPr>
          </a:p>
          <a:p>
            <a:pPr>
              <a:buFont typeface="Wingdings" panose="05000000000000000000" pitchFamily="2" charset="2"/>
            </a:pPr>
            <a:r>
              <a:rPr lang="zh-CN" altLang="en-US" b="1" dirty="0">
                <a:latin typeface="Times New Roman" panose="02020603050405020304" pitchFamily="18" charset="0"/>
                <a:ea typeface="微软雅黑" pitchFamily="34" charset="-122"/>
              </a:rPr>
              <a:t>在已给出初始解的表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中</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 从任一空格出发</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endParaRPr lang="en-US" altLang="zh-CN" b="1" dirty="0">
              <a:latin typeface="仿宋" pitchFamily="49" charset="-122"/>
              <a:ea typeface="仿宋" pitchFamily="49" charset="-122"/>
            </a:endParaRPr>
          </a:p>
          <a:p>
            <a:pPr>
              <a:buFont typeface="Wingdings" panose="05000000000000000000" pitchFamily="2" charset="2"/>
            </a:pPr>
            <a:r>
              <a:rPr lang="zh-CN" altLang="en-US" b="1" dirty="0">
                <a:latin typeface="Times New Roman" panose="02020603050405020304" pitchFamily="18" charset="0"/>
                <a:ea typeface="微软雅黑" pitchFamily="34" charset="-122"/>
              </a:rPr>
              <a:t>若让</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的产品调运</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吨给</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。为保持产销平衡</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就要依次作调整：在</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处减少</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处增加</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处减少</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吨即构成了以</a:t>
            </a:r>
            <a:r>
              <a:rPr lang="en-US" altLang="zh-CN" b="1" dirty="0">
                <a:latin typeface="Times New Roman" panose="02020603050405020304" pitchFamily="18" charset="0"/>
                <a:ea typeface="微软雅黑" pitchFamily="34" charset="-122"/>
              </a:rPr>
              <a:t>(A</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空格为起点</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其他为数字格的闭回路</a:t>
            </a:r>
          </a:p>
        </p:txBody>
      </p:sp>
      <p:pic>
        <p:nvPicPr>
          <p:cNvPr id="20484" name="Picture 3"/>
          <p:cNvPicPr>
            <a:picLocks noChangeAspect="1"/>
          </p:cNvPicPr>
          <p:nvPr/>
        </p:nvPicPr>
        <p:blipFill>
          <a:blip r:embed="rId2"/>
          <a:stretch>
            <a:fillRect/>
          </a:stretch>
        </p:blipFill>
        <p:spPr>
          <a:xfrm>
            <a:off x="1547813" y="0"/>
            <a:ext cx="5327650" cy="2235200"/>
          </a:xfrm>
          <a:prstGeom prst="rect">
            <a:avLst/>
          </a:prstGeom>
          <a:noFill/>
          <a:ln w="9525">
            <a:noFill/>
          </a:ln>
        </p:spPr>
      </p:pic>
      <p:sp>
        <p:nvSpPr>
          <p:cNvPr id="20485" name="矩形 4"/>
          <p:cNvSpPr/>
          <p:nvPr/>
        </p:nvSpPr>
        <p:spPr>
          <a:xfrm>
            <a:off x="6875463" y="1743373"/>
            <a:ext cx="105670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4-10</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6" name="Rectangle 2"/>
          <p:cNvSpPr txBox="1"/>
          <p:nvPr/>
        </p:nvSpPr>
        <p:spPr>
          <a:xfrm>
            <a:off x="0" y="4365625"/>
            <a:ext cx="3635375" cy="1574800"/>
          </a:xfrm>
          <a:prstGeom prst="rect">
            <a:avLst/>
          </a:prstGeom>
          <a:solidFill>
            <a:srgbClr val="B3F1F7"/>
          </a:solidFill>
          <a:ln w="9525">
            <a:noFill/>
          </a:ln>
        </p:spPr>
        <p:txBody>
          <a:bodyPr/>
          <a:lstStyle/>
          <a:p>
            <a:r>
              <a:rPr lang="zh-CN" altLang="en-US" b="1" dirty="0">
                <a:latin typeface="微软雅黑" pitchFamily="34" charset="-122"/>
                <a:ea typeface="微软雅黑" pitchFamily="34" charset="-122"/>
              </a:rPr>
              <a:t>如表</a:t>
            </a:r>
            <a:r>
              <a:rPr lang="en-US" altLang="zh-CN" b="1" dirty="0">
                <a:latin typeface="Times New Roman" panose="02020603050405020304" pitchFamily="18" charset="0"/>
                <a:ea typeface="微软雅黑" pitchFamily="34" charset="-122"/>
                <a:cs typeface="Times New Roman" panose="02020603050405020304" pitchFamily="18" charset="0"/>
              </a:rPr>
              <a:t>4-15</a:t>
            </a:r>
            <a:r>
              <a:rPr lang="zh-CN" altLang="en-US" b="1" dirty="0">
                <a:latin typeface="微软雅黑" pitchFamily="34" charset="-122"/>
                <a:ea typeface="微软雅黑" pitchFamily="34" charset="-122"/>
              </a:rPr>
              <a:t>中的虚线所示。在这表中闭回路各顶点所在格的右上角数字是单位运价</a:t>
            </a:r>
            <a:endParaRPr lang="zh-CN" altLang="en-US" b="1" dirty="0">
              <a:solidFill>
                <a:schemeClr val="tx2"/>
              </a:solidFill>
              <a:latin typeface="微软雅黑" pitchFamily="34" charset="-122"/>
              <a:ea typeface="微软雅黑" pitchFamily="34" charset="-122"/>
            </a:endParaRPr>
          </a:p>
        </p:txBody>
      </p:sp>
      <p:sp>
        <p:nvSpPr>
          <p:cNvPr id="348168" name="Line 8"/>
          <p:cNvSpPr/>
          <p:nvPr/>
        </p:nvSpPr>
        <p:spPr>
          <a:xfrm>
            <a:off x="3635375" y="908050"/>
            <a:ext cx="1296988" cy="0"/>
          </a:xfrm>
          <a:prstGeom prst="line">
            <a:avLst/>
          </a:prstGeom>
          <a:ln w="38100" cap="flat" cmpd="sng">
            <a:solidFill>
              <a:schemeClr val="hlink"/>
            </a:solidFill>
            <a:prstDash val="solid"/>
            <a:headEnd type="none" w="med" len="med"/>
            <a:tailEnd type="triangle" w="med" len="med"/>
          </a:ln>
        </p:spPr>
      </p:sp>
      <p:sp>
        <p:nvSpPr>
          <p:cNvPr id="348169" name="Line 9"/>
          <p:cNvSpPr/>
          <p:nvPr/>
        </p:nvSpPr>
        <p:spPr>
          <a:xfrm>
            <a:off x="4859338" y="981075"/>
            <a:ext cx="0" cy="360363"/>
          </a:xfrm>
          <a:prstGeom prst="line">
            <a:avLst/>
          </a:prstGeom>
          <a:ln w="38100" cap="flat" cmpd="sng">
            <a:solidFill>
              <a:schemeClr val="hlink"/>
            </a:solidFill>
            <a:prstDash val="solid"/>
            <a:headEnd type="none" w="med" len="med"/>
            <a:tailEnd type="triangle" w="med" len="med"/>
          </a:ln>
        </p:spPr>
      </p:sp>
      <p:sp>
        <p:nvSpPr>
          <p:cNvPr id="348171" name="Line 11"/>
          <p:cNvSpPr/>
          <p:nvPr/>
        </p:nvSpPr>
        <p:spPr>
          <a:xfrm flipH="1" flipV="1">
            <a:off x="3851275" y="1341438"/>
            <a:ext cx="936625" cy="0"/>
          </a:xfrm>
          <a:prstGeom prst="line">
            <a:avLst/>
          </a:prstGeom>
          <a:ln w="38100" cap="flat" cmpd="sng">
            <a:solidFill>
              <a:schemeClr val="hlink"/>
            </a:solidFill>
            <a:prstDash val="solid"/>
            <a:headEnd type="none" w="med" len="med"/>
            <a:tailEnd type="triangle" w="med" len="med"/>
          </a:ln>
        </p:spPr>
      </p:sp>
      <p:sp>
        <p:nvSpPr>
          <p:cNvPr id="348172" name="Line 12"/>
          <p:cNvSpPr/>
          <p:nvPr/>
        </p:nvSpPr>
        <p:spPr>
          <a:xfrm flipV="1">
            <a:off x="3779838" y="981075"/>
            <a:ext cx="0" cy="287338"/>
          </a:xfrm>
          <a:prstGeom prst="line">
            <a:avLst/>
          </a:prstGeom>
          <a:ln w="38100" cap="flat" cmpd="sng">
            <a:solidFill>
              <a:schemeClr val="hlink"/>
            </a:solidFill>
            <a:prstDash val="solid"/>
            <a:headEnd type="none" w="med" len="med"/>
            <a:tailEnd type="triangle" w="med" len="med"/>
          </a:ln>
        </p:spPr>
      </p:sp>
      <p:sp>
        <p:nvSpPr>
          <p:cNvPr id="13" name="矩形 12"/>
          <p:cNvSpPr/>
          <p:nvPr/>
        </p:nvSpPr>
        <p:spPr>
          <a:xfrm>
            <a:off x="3851275" y="836613"/>
            <a:ext cx="1081088" cy="504825"/>
          </a:xfrm>
          <a:prstGeom prst="rect">
            <a:avLst/>
          </a:prstGeom>
          <a:noFill/>
          <a:ln w="7620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grpSp>
        <p:nvGrpSpPr>
          <p:cNvPr id="30" name="组合 29"/>
          <p:cNvGrpSpPr/>
          <p:nvPr/>
        </p:nvGrpSpPr>
        <p:grpSpPr>
          <a:xfrm>
            <a:off x="3686175" y="4199890"/>
            <a:ext cx="5457190" cy="2658110"/>
            <a:chOff x="5805" y="2234"/>
            <a:chExt cx="8594" cy="4186"/>
          </a:xfrm>
        </p:grpSpPr>
        <p:pic>
          <p:nvPicPr>
            <p:cNvPr id="28" name="图片 27"/>
            <p:cNvPicPr>
              <a:picLocks noChangeAspect="1"/>
            </p:cNvPicPr>
            <p:nvPr/>
          </p:nvPicPr>
          <p:blipFill>
            <a:blip r:embed="rId3"/>
            <a:stretch>
              <a:fillRect/>
            </a:stretch>
          </p:blipFill>
          <p:spPr>
            <a:xfrm>
              <a:off x="5805" y="2234"/>
              <a:ext cx="8595" cy="4186"/>
            </a:xfrm>
            <a:prstGeom prst="rect">
              <a:avLst/>
            </a:prstGeom>
          </p:spPr>
        </p:pic>
        <p:grpSp>
          <p:nvGrpSpPr>
            <p:cNvPr id="29" name="组合 28"/>
            <p:cNvGrpSpPr/>
            <p:nvPr/>
          </p:nvGrpSpPr>
          <p:grpSpPr>
            <a:xfrm>
              <a:off x="8447" y="3057"/>
              <a:ext cx="4660" cy="2088"/>
              <a:chOff x="8447" y="2944"/>
              <a:chExt cx="4660" cy="2088"/>
            </a:xfrm>
          </p:grpSpPr>
          <p:cxnSp>
            <p:nvCxnSpPr>
              <p:cNvPr id="8" name="直接连接符 7"/>
              <p:cNvCxnSpPr/>
              <p:nvPr/>
            </p:nvCxnSpPr>
            <p:spPr>
              <a:xfrm>
                <a:off x="9242" y="3586"/>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0" name="直接连接符 9"/>
              <p:cNvCxnSpPr/>
              <p:nvPr/>
            </p:nvCxnSpPr>
            <p:spPr>
              <a:xfrm>
                <a:off x="8447" y="3520"/>
                <a:ext cx="0" cy="100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1" name="直接连接符 10"/>
              <p:cNvCxnSpPr/>
              <p:nvPr/>
            </p:nvCxnSpPr>
            <p:spPr>
              <a:xfrm>
                <a:off x="11055" y="3685"/>
                <a:ext cx="0" cy="581"/>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2" name="直接连接符 11"/>
              <p:cNvCxnSpPr/>
              <p:nvPr/>
            </p:nvCxnSpPr>
            <p:spPr>
              <a:xfrm>
                <a:off x="9242" y="4379"/>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16" name="矩形 15"/>
              <p:cNvSpPr/>
              <p:nvPr/>
            </p:nvSpPr>
            <p:spPr>
              <a:xfrm>
                <a:off x="12189" y="4632"/>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7" name="矩形 16"/>
              <p:cNvSpPr/>
              <p:nvPr/>
            </p:nvSpPr>
            <p:spPr>
              <a:xfrm>
                <a:off x="10942" y="4642"/>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8" name="矩形 17"/>
              <p:cNvSpPr/>
              <p:nvPr/>
            </p:nvSpPr>
            <p:spPr>
              <a:xfrm>
                <a:off x="9853" y="4642"/>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9" name="矩形 18"/>
              <p:cNvSpPr/>
              <p:nvPr/>
            </p:nvSpPr>
            <p:spPr>
              <a:xfrm>
                <a:off x="8560" y="4632"/>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0" name="矩形 19"/>
              <p:cNvSpPr/>
              <p:nvPr/>
            </p:nvSpPr>
            <p:spPr>
              <a:xfrm>
                <a:off x="12189" y="3800"/>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1" name="矩形 20"/>
              <p:cNvSpPr/>
              <p:nvPr/>
            </p:nvSpPr>
            <p:spPr>
              <a:xfrm>
                <a:off x="10942" y="3810"/>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2" name="矩形 21"/>
              <p:cNvSpPr/>
              <p:nvPr/>
            </p:nvSpPr>
            <p:spPr>
              <a:xfrm>
                <a:off x="9853" y="3810"/>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3" name="矩形 22"/>
              <p:cNvSpPr/>
              <p:nvPr/>
            </p:nvSpPr>
            <p:spPr>
              <a:xfrm>
                <a:off x="8560" y="3800"/>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4" name="矩形 23"/>
              <p:cNvSpPr/>
              <p:nvPr/>
            </p:nvSpPr>
            <p:spPr>
              <a:xfrm>
                <a:off x="12189" y="2944"/>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5" name="矩形 24"/>
              <p:cNvSpPr/>
              <p:nvPr/>
            </p:nvSpPr>
            <p:spPr>
              <a:xfrm>
                <a:off x="10942" y="2954"/>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6" name="矩形 25"/>
              <p:cNvSpPr/>
              <p:nvPr/>
            </p:nvSpPr>
            <p:spPr>
              <a:xfrm>
                <a:off x="9853" y="2954"/>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7" name="矩形 26"/>
              <p:cNvSpPr/>
              <p:nvPr/>
            </p:nvSpPr>
            <p:spPr>
              <a:xfrm>
                <a:off x="8560" y="2944"/>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grpSp>
      </p:grpSp>
      <p:sp>
        <p:nvSpPr>
          <p:cNvPr id="7" name="灯片编号占位符 6">
            <a:extLst>
              <a:ext uri="{FF2B5EF4-FFF2-40B4-BE49-F238E27FC236}">
                <a16:creationId xmlns:a16="http://schemas.microsoft.com/office/drawing/2014/main" id="{B5F810B9-2544-4C32-B6B5-15B6C1FD3B48}"/>
              </a:ext>
            </a:extLst>
          </p:cNvPr>
          <p:cNvSpPr>
            <a:spLocks noGrp="1"/>
          </p:cNvSpPr>
          <p:nvPr>
            <p:ph type="sldNum" sz="quarter" idx="12"/>
          </p:nvPr>
        </p:nvSpPr>
        <p:spPr/>
        <p:txBody>
          <a:bodyPr/>
          <a:lstStyle/>
          <a:p>
            <a:pPr>
              <a:defRPr/>
            </a:pPr>
            <a:fld id="{2AE1B59C-883C-4848-BC85-9A12DF2590B2}" type="slidenum">
              <a:rPr lang="en-US" altLang="zh-CN" smtClean="0"/>
              <a:t>30</a:t>
            </a:fld>
            <a:endParaRPr lang="en-US" altLang="zh-CN"/>
          </a:p>
        </p:txBody>
      </p:sp>
    </p:spTree>
    <p:extLst>
      <p:ext uri="{BB962C8B-B14F-4D97-AF65-F5344CB8AC3E}">
        <p14:creationId xmlns:p14="http://schemas.microsoft.com/office/powerpoint/2010/main" val="2072255540"/>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8514" name="Picture 2"/>
          <p:cNvPicPr>
            <a:picLocks noChangeAspect="1"/>
          </p:cNvPicPr>
          <p:nvPr/>
        </p:nvPicPr>
        <p:blipFill>
          <a:blip r:embed="rId2"/>
          <a:stretch>
            <a:fillRect/>
          </a:stretch>
        </p:blipFill>
        <p:spPr>
          <a:xfrm>
            <a:off x="0" y="3716338"/>
            <a:ext cx="9144000" cy="2316162"/>
          </a:xfrm>
          <a:prstGeom prst="rect">
            <a:avLst/>
          </a:prstGeom>
          <a:noFill/>
          <a:ln w="9525">
            <a:noFill/>
          </a:ln>
        </p:spPr>
      </p:pic>
      <p:sp>
        <p:nvSpPr>
          <p:cNvPr id="2" name="Rectangle 2"/>
          <p:cNvSpPr txBox="1"/>
          <p:nvPr/>
        </p:nvSpPr>
        <p:spPr>
          <a:xfrm>
            <a:off x="0" y="2159000"/>
            <a:ext cx="9144000" cy="1557338"/>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可见这调整的方案使运费增加</a:t>
            </a:r>
          </a:p>
          <a:p>
            <a:pPr>
              <a:buFont typeface="Wingdings" panose="05000000000000000000" pitchFamily="2" charset="2"/>
            </a:pPr>
            <a:r>
              <a:rPr lang="en-US" altLang="zh-CN" b="1" dirty="0">
                <a:latin typeface="Times New Roman" panose="02020603050405020304" pitchFamily="18" charset="0"/>
                <a:ea typeface="微软雅黑" pitchFamily="34" charset="-122"/>
              </a:rPr>
              <a:t>                  (+1)×3+(-1)×3+(+1)×2+(-1)×</a:t>
            </a:r>
            <a:r>
              <a:rPr lang="zh-CN" altLang="en-US" b="1" dirty="0">
                <a:latin typeface="Times New Roman" panose="02020603050405020304" pitchFamily="18" charset="0"/>
                <a:ea typeface="微软雅黑" pitchFamily="34" charset="-122"/>
              </a:rPr>
              <a:t>１</a:t>
            </a:r>
            <a:r>
              <a:rPr lang="en-US" altLang="zh-CN" b="1" dirty="0">
                <a:latin typeface="Times New Roman" panose="02020603050405020304" pitchFamily="18" charset="0"/>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a:p>
            <a:pPr>
              <a:buFont typeface="Wingdings" panose="05000000000000000000" pitchFamily="2" charset="2"/>
              <a:buChar char="l"/>
            </a:pPr>
            <a:r>
              <a:rPr lang="zh-CN" altLang="en-US" b="1" dirty="0">
                <a:latin typeface="微软雅黑" pitchFamily="34" charset="-122"/>
                <a:ea typeface="微软雅黑" pitchFamily="34" charset="-122"/>
              </a:rPr>
              <a:t>这表明若这样调整运量将增加运费。将</a:t>
            </a:r>
            <a:r>
              <a:rPr lang="zh-CN" altLang="en-US" b="1" dirty="0">
                <a:latin typeface="仿宋" panose="02010609060101010101" pitchFamily="49" charset="-122"/>
                <a:ea typeface="仿宋" panose="02010609060101010101" pitchFamily="49" charset="-122"/>
              </a:rPr>
              <a:t>“</a:t>
            </a:r>
            <a:r>
              <a:rPr lang="en-US" altLang="zh-CN" b="1" dirty="0">
                <a:latin typeface="微软雅黑" pitchFamily="34" charset="-122"/>
                <a:ea typeface="微软雅黑" pitchFamily="34" charset="-122"/>
              </a:rPr>
              <a:t>1</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这个数填入</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a:t>
            </a:r>
            <a:r>
              <a:rPr lang="en-US" altLang="zh-CN" b="1" baseline="-25000"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en-US" altLang="zh-CN" b="1" baseline="-25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zh-CN" altLang="en-US" b="1" dirty="0">
                <a:latin typeface="微软雅黑" pitchFamily="34" charset="-122"/>
                <a:ea typeface="微软雅黑" pitchFamily="34" charset="-122"/>
              </a:rPr>
              <a:t>格</a:t>
            </a:r>
            <a:r>
              <a:rPr lang="zh-CN" altLang="en-US" b="1" dirty="0">
                <a:solidFill>
                  <a:srgbClr val="FF0000"/>
                </a:solidFill>
                <a:latin typeface="微软雅黑" pitchFamily="34" charset="-122"/>
                <a:ea typeface="微软雅黑" pitchFamily="34" charset="-122"/>
              </a:rPr>
              <a:t>这就是检验数</a:t>
            </a:r>
            <a:r>
              <a:rPr lang="zh-CN" altLang="en-US" b="1" dirty="0">
                <a:latin typeface="微软雅黑" pitchFamily="34" charset="-122"/>
                <a:ea typeface="微软雅黑" pitchFamily="34" charset="-122"/>
              </a:rPr>
              <a:t>。</a:t>
            </a:r>
          </a:p>
        </p:txBody>
      </p:sp>
      <p:sp>
        <p:nvSpPr>
          <p:cNvPr id="21509" name="矩形 3"/>
          <p:cNvSpPr/>
          <p:nvPr/>
        </p:nvSpPr>
        <p:spPr>
          <a:xfrm>
            <a:off x="3348037" y="26035"/>
            <a:ext cx="1223963" cy="461665"/>
          </a:xfrm>
          <a:prstGeom prst="rect">
            <a:avLst/>
          </a:prstGeom>
          <a:solidFill>
            <a:schemeClr val="accent2">
              <a:lumMod val="40000"/>
              <a:lumOff val="60000"/>
            </a:schemeClr>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4-15</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 name="Rectangle 2"/>
          <p:cNvSpPr txBox="1"/>
          <p:nvPr/>
        </p:nvSpPr>
        <p:spPr>
          <a:xfrm>
            <a:off x="0" y="6078538"/>
            <a:ext cx="9144000" cy="779462"/>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a:t>
            </a:r>
            <a:r>
              <a:rPr lang="en-US" altLang="zh-CN" b="1" dirty="0">
                <a:latin typeface="微软雅黑" pitchFamily="34" charset="-122"/>
                <a:ea typeface="微软雅黑" pitchFamily="34" charset="-122"/>
              </a:rPr>
              <a:t>(12)</a:t>
            </a:r>
            <a:r>
              <a:rPr lang="zh-CN" altLang="en-US" b="1" dirty="0">
                <a:latin typeface="微软雅黑" pitchFamily="34" charset="-122"/>
                <a:ea typeface="微软雅黑" pitchFamily="34" charset="-122"/>
              </a:rPr>
              <a:t>调整的方案使运费增加</a:t>
            </a:r>
          </a:p>
          <a:p>
            <a:pPr>
              <a:buFont typeface="Wingdings" panose="05000000000000000000" pitchFamily="2" charset="2"/>
            </a:pPr>
            <a:r>
              <a:rPr lang="en-US" altLang="zh-CN" b="1" dirty="0">
                <a:latin typeface="微软雅黑" pitchFamily="34" charset="-122"/>
                <a:ea typeface="微软雅黑" pitchFamily="34" charset="-122"/>
              </a:rPr>
              <a:t>                  </a:t>
            </a:r>
            <a:r>
              <a:rPr lang="en-US" altLang="zh-CN" b="1" dirty="0">
                <a:latin typeface="Times New Roman" panose="02020603050405020304" pitchFamily="18" charset="0"/>
                <a:ea typeface="微软雅黑" pitchFamily="34" charset="-122"/>
              </a:rPr>
              <a:t>(+1)×11+(-1)×10+(+1)×5+(-1)×4=2</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p:txBody>
      </p:sp>
      <p:sp>
        <p:nvSpPr>
          <p:cNvPr id="13" name="矩形 12"/>
          <p:cNvSpPr/>
          <p:nvPr/>
        </p:nvSpPr>
        <p:spPr>
          <a:xfrm>
            <a:off x="2374900" y="3255963"/>
            <a:ext cx="6769100" cy="460375"/>
          </a:xfrm>
          <a:prstGeom prst="rect">
            <a:avLst/>
          </a:prstGeom>
          <a:noFill/>
          <a:ln w="9525">
            <a:noFill/>
          </a:ln>
        </p:spPr>
        <p:txBody>
          <a:bodyPr>
            <a:spAutoFit/>
          </a:bodyPr>
          <a:lstStyle/>
          <a:p>
            <a:pPr eaLnBrk="1" hangingPunct="1"/>
            <a:r>
              <a:rPr lang="zh-CN" altLang="en-US" b="1" dirty="0">
                <a:latin typeface="微软雅黑" pitchFamily="34" charset="-122"/>
                <a:ea typeface="微软雅黑" pitchFamily="34" charset="-122"/>
              </a:rPr>
              <a:t>按以上所述</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可找出所有空格的检验数</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见下表</a:t>
            </a:r>
            <a:endParaRPr lang="zh-CN" altLang="en-US" dirty="0">
              <a:latin typeface="Tahoma" panose="020B0604030504040204" pitchFamily="34" charset="0"/>
              <a:ea typeface="微软雅黑" pitchFamily="34" charset="-122"/>
            </a:endParaRPr>
          </a:p>
        </p:txBody>
      </p:sp>
      <p:grpSp>
        <p:nvGrpSpPr>
          <p:cNvPr id="5" name="组合 4"/>
          <p:cNvGrpSpPr/>
          <p:nvPr/>
        </p:nvGrpSpPr>
        <p:grpSpPr>
          <a:xfrm>
            <a:off x="4378325" y="26035"/>
            <a:ext cx="4765675" cy="2520315"/>
            <a:chOff x="5805" y="2234"/>
            <a:chExt cx="8594" cy="4186"/>
          </a:xfrm>
        </p:grpSpPr>
        <p:pic>
          <p:nvPicPr>
            <p:cNvPr id="6" name="图片 5"/>
            <p:cNvPicPr>
              <a:picLocks noChangeAspect="1"/>
            </p:cNvPicPr>
            <p:nvPr/>
          </p:nvPicPr>
          <p:blipFill>
            <a:blip r:embed="rId3"/>
            <a:stretch>
              <a:fillRect/>
            </a:stretch>
          </p:blipFill>
          <p:spPr>
            <a:xfrm>
              <a:off x="5805" y="2234"/>
              <a:ext cx="8595" cy="4186"/>
            </a:xfrm>
            <a:prstGeom prst="rect">
              <a:avLst/>
            </a:prstGeom>
          </p:spPr>
        </p:pic>
        <p:grpSp>
          <p:nvGrpSpPr>
            <p:cNvPr id="7" name="组合 6"/>
            <p:cNvGrpSpPr/>
            <p:nvPr/>
          </p:nvGrpSpPr>
          <p:grpSpPr>
            <a:xfrm>
              <a:off x="8447" y="3057"/>
              <a:ext cx="4660" cy="2088"/>
              <a:chOff x="8447" y="2944"/>
              <a:chExt cx="4660" cy="2088"/>
            </a:xfrm>
          </p:grpSpPr>
          <p:cxnSp>
            <p:nvCxnSpPr>
              <p:cNvPr id="9" name="直接连接符 8"/>
              <p:cNvCxnSpPr/>
              <p:nvPr/>
            </p:nvCxnSpPr>
            <p:spPr>
              <a:xfrm>
                <a:off x="9242" y="3586"/>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4" name="直接连接符 13"/>
              <p:cNvCxnSpPr/>
              <p:nvPr/>
            </p:nvCxnSpPr>
            <p:spPr>
              <a:xfrm>
                <a:off x="8447" y="3520"/>
                <a:ext cx="0" cy="100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5" name="直接连接符 14"/>
              <p:cNvCxnSpPr/>
              <p:nvPr/>
            </p:nvCxnSpPr>
            <p:spPr>
              <a:xfrm>
                <a:off x="11055" y="3685"/>
                <a:ext cx="0" cy="581"/>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31" name="直接连接符 30"/>
              <p:cNvCxnSpPr/>
              <p:nvPr/>
            </p:nvCxnSpPr>
            <p:spPr>
              <a:xfrm>
                <a:off x="9242" y="4379"/>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32" name="矩形 31"/>
              <p:cNvSpPr/>
              <p:nvPr/>
            </p:nvSpPr>
            <p:spPr>
              <a:xfrm>
                <a:off x="12189" y="4632"/>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3" name="矩形 32"/>
              <p:cNvSpPr/>
              <p:nvPr/>
            </p:nvSpPr>
            <p:spPr>
              <a:xfrm>
                <a:off x="10942" y="4642"/>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4" name="矩形 33"/>
              <p:cNvSpPr/>
              <p:nvPr/>
            </p:nvSpPr>
            <p:spPr>
              <a:xfrm>
                <a:off x="9853" y="4642"/>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5" name="矩形 34"/>
              <p:cNvSpPr/>
              <p:nvPr/>
            </p:nvSpPr>
            <p:spPr>
              <a:xfrm>
                <a:off x="8560" y="4632"/>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6" name="矩形 35"/>
              <p:cNvSpPr/>
              <p:nvPr/>
            </p:nvSpPr>
            <p:spPr>
              <a:xfrm>
                <a:off x="12189" y="3800"/>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7" name="矩形 36"/>
              <p:cNvSpPr/>
              <p:nvPr/>
            </p:nvSpPr>
            <p:spPr>
              <a:xfrm>
                <a:off x="10942" y="3810"/>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8" name="矩形 37"/>
              <p:cNvSpPr/>
              <p:nvPr/>
            </p:nvSpPr>
            <p:spPr>
              <a:xfrm>
                <a:off x="9853" y="3810"/>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39" name="矩形 38"/>
              <p:cNvSpPr/>
              <p:nvPr/>
            </p:nvSpPr>
            <p:spPr>
              <a:xfrm>
                <a:off x="8560" y="3800"/>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40" name="矩形 39"/>
              <p:cNvSpPr/>
              <p:nvPr/>
            </p:nvSpPr>
            <p:spPr>
              <a:xfrm>
                <a:off x="12189" y="2944"/>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41" name="矩形 40"/>
              <p:cNvSpPr/>
              <p:nvPr/>
            </p:nvSpPr>
            <p:spPr>
              <a:xfrm>
                <a:off x="10942" y="2954"/>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42" name="矩形 41"/>
              <p:cNvSpPr/>
              <p:nvPr/>
            </p:nvSpPr>
            <p:spPr>
              <a:xfrm>
                <a:off x="9853" y="2954"/>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43" name="矩形 42"/>
              <p:cNvSpPr/>
              <p:nvPr/>
            </p:nvSpPr>
            <p:spPr>
              <a:xfrm>
                <a:off x="8560" y="2944"/>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grpSp>
      </p:grpSp>
      <p:sp>
        <p:nvSpPr>
          <p:cNvPr id="448519" name="Line 7"/>
          <p:cNvSpPr/>
          <p:nvPr/>
        </p:nvSpPr>
        <p:spPr>
          <a:xfrm>
            <a:off x="6732270" y="764540"/>
            <a:ext cx="1296988" cy="0"/>
          </a:xfrm>
          <a:prstGeom prst="line">
            <a:avLst/>
          </a:prstGeom>
          <a:ln w="38100" cap="flat" cmpd="sng">
            <a:solidFill>
              <a:schemeClr val="hlink"/>
            </a:solidFill>
            <a:prstDash val="solid"/>
            <a:headEnd type="none" w="med" len="med"/>
            <a:tailEnd type="triangle" w="med" len="med"/>
          </a:ln>
        </p:spPr>
      </p:sp>
      <p:sp>
        <p:nvSpPr>
          <p:cNvPr id="448520" name="Line 8"/>
          <p:cNvSpPr/>
          <p:nvPr/>
        </p:nvSpPr>
        <p:spPr>
          <a:xfrm>
            <a:off x="7956233" y="837565"/>
            <a:ext cx="0" cy="1008063"/>
          </a:xfrm>
          <a:prstGeom prst="line">
            <a:avLst/>
          </a:prstGeom>
          <a:ln w="38100" cap="flat" cmpd="sng">
            <a:solidFill>
              <a:schemeClr val="hlink"/>
            </a:solidFill>
            <a:prstDash val="solid"/>
            <a:headEnd type="none" w="med" len="med"/>
            <a:tailEnd type="triangle" w="med" len="med"/>
          </a:ln>
        </p:spPr>
      </p:sp>
      <p:sp>
        <p:nvSpPr>
          <p:cNvPr id="448521" name="Line 9"/>
          <p:cNvSpPr/>
          <p:nvPr/>
        </p:nvSpPr>
        <p:spPr>
          <a:xfrm flipH="1" flipV="1">
            <a:off x="6444933" y="1845628"/>
            <a:ext cx="1439862" cy="0"/>
          </a:xfrm>
          <a:prstGeom prst="line">
            <a:avLst/>
          </a:prstGeom>
          <a:ln w="38100" cap="flat" cmpd="sng">
            <a:solidFill>
              <a:schemeClr val="hlink"/>
            </a:solidFill>
            <a:prstDash val="solid"/>
            <a:headEnd type="none" w="med" len="med"/>
            <a:tailEnd type="triangle" w="med" len="med"/>
          </a:ln>
        </p:spPr>
      </p:sp>
      <p:sp>
        <p:nvSpPr>
          <p:cNvPr id="448522" name="Line 10"/>
          <p:cNvSpPr/>
          <p:nvPr/>
        </p:nvSpPr>
        <p:spPr>
          <a:xfrm flipV="1">
            <a:off x="6516370" y="764540"/>
            <a:ext cx="0" cy="1008063"/>
          </a:xfrm>
          <a:prstGeom prst="line">
            <a:avLst/>
          </a:prstGeom>
          <a:ln w="38100" cap="flat" cmpd="sng">
            <a:solidFill>
              <a:schemeClr val="hlink"/>
            </a:solidFill>
            <a:prstDash val="solid"/>
            <a:headEnd type="none" w="med" len="med"/>
            <a:tailEnd type="triangle" w="med" len="med"/>
          </a:ln>
        </p:spPr>
      </p:sp>
      <p:sp>
        <p:nvSpPr>
          <p:cNvPr id="4" name="灯片编号占位符 3">
            <a:extLst>
              <a:ext uri="{FF2B5EF4-FFF2-40B4-BE49-F238E27FC236}">
                <a16:creationId xmlns:a16="http://schemas.microsoft.com/office/drawing/2014/main" id="{2877FD0B-F838-4828-8BC5-615B1453310E}"/>
              </a:ext>
            </a:extLst>
          </p:cNvPr>
          <p:cNvSpPr>
            <a:spLocks noGrp="1"/>
          </p:cNvSpPr>
          <p:nvPr>
            <p:ph type="sldNum" sz="quarter" idx="12"/>
          </p:nvPr>
        </p:nvSpPr>
        <p:spPr/>
        <p:txBody>
          <a:bodyPr/>
          <a:lstStyle/>
          <a:p>
            <a:pPr>
              <a:defRPr/>
            </a:pPr>
            <a:fld id="{2AE1B59C-883C-4848-BC85-9A12DF2590B2}" type="slidenum">
              <a:rPr lang="en-US" altLang="zh-CN" smtClean="0"/>
              <a:t>31</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8514"/>
                                        </p:tgtEl>
                                        <p:attrNameLst>
                                          <p:attrName>style.visibility</p:attrName>
                                        </p:attrNameLst>
                                      </p:cBhvr>
                                      <p:to>
                                        <p:strVal val="visible"/>
                                      </p:to>
                                    </p:set>
                                    <p:animEffect transition="in" filter="blinds(horizontal)">
                                      <p:cBhvr>
                                        <p:cTn id="27" dur="500"/>
                                        <p:tgtEl>
                                          <p:spTgt spid="4485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48519"/>
                                        </p:tgtEl>
                                        <p:attrNameLst>
                                          <p:attrName>style.visibility</p:attrName>
                                        </p:attrNameLst>
                                      </p:cBhvr>
                                      <p:to>
                                        <p:strVal val="visible"/>
                                      </p:to>
                                    </p:set>
                                    <p:animEffect transition="in" filter="blinds(horizontal)">
                                      <p:cBhvr>
                                        <p:cTn id="32" dur="500"/>
                                        <p:tgtEl>
                                          <p:spTgt spid="4485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48520"/>
                                        </p:tgtEl>
                                        <p:attrNameLst>
                                          <p:attrName>style.visibility</p:attrName>
                                        </p:attrNameLst>
                                      </p:cBhvr>
                                      <p:to>
                                        <p:strVal val="visible"/>
                                      </p:to>
                                    </p:set>
                                    <p:animEffect transition="in" filter="blinds(horizontal)">
                                      <p:cBhvr>
                                        <p:cTn id="37" dur="500"/>
                                        <p:tgtEl>
                                          <p:spTgt spid="44852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48521"/>
                                        </p:tgtEl>
                                        <p:attrNameLst>
                                          <p:attrName>style.visibility</p:attrName>
                                        </p:attrNameLst>
                                      </p:cBhvr>
                                      <p:to>
                                        <p:strVal val="visible"/>
                                      </p:to>
                                    </p:set>
                                    <p:animEffect transition="in" filter="blinds(horizontal)">
                                      <p:cBhvr>
                                        <p:cTn id="42" dur="500"/>
                                        <p:tgtEl>
                                          <p:spTgt spid="44852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48522"/>
                                        </p:tgtEl>
                                        <p:attrNameLst>
                                          <p:attrName>style.visibility</p:attrName>
                                        </p:attrNameLst>
                                      </p:cBhvr>
                                      <p:to>
                                        <p:strVal val="visible"/>
                                      </p:to>
                                    </p:set>
                                    <p:animEffect transition="in" filter="blinds(horizontal)">
                                      <p:cBhvr>
                                        <p:cTn id="47" dur="500"/>
                                        <p:tgtEl>
                                          <p:spTgt spid="44852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1" end="1"/>
                                            </p:txEl>
                                          </p:spTgt>
                                        </p:tgtEl>
                                        <p:attrNameLst>
                                          <p:attrName>style.visibility</p:attrName>
                                        </p:attrNameLst>
                                      </p:cBhvr>
                                      <p:to>
                                        <p:strVal val="visible"/>
                                      </p:to>
                                    </p:set>
                                    <p:animEffect transition="in" filter="dissolve">
                                      <p:cBhvr>
                                        <p:cTn id="52" dur="500"/>
                                        <p:tgtEl>
                                          <p:spTgt spid="3">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
                                            <p:txEl>
                                              <p:pRg st="0" end="0"/>
                                            </p:txEl>
                                          </p:spTgt>
                                        </p:tgtEl>
                                        <p:attrNameLst>
                                          <p:attrName>style.visibility</p:attrName>
                                        </p:attrNameLst>
                                      </p:cBhvr>
                                      <p:to>
                                        <p:strVal val="visible"/>
                                      </p:to>
                                    </p:set>
                                    <p:animEffect transition="in" filter="dissolve">
                                      <p:cBhvr>
                                        <p:cTn id="5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2"/>
          <p:cNvGraphicFramePr>
            <a:graphicFrameLocks noChangeAspect="1"/>
          </p:cNvGraphicFramePr>
          <p:nvPr/>
        </p:nvGraphicFramePr>
        <p:xfrm>
          <a:off x="-14287" y="3143250"/>
          <a:ext cx="4248150" cy="2359025"/>
        </p:xfrm>
        <a:graphic>
          <a:graphicData uri="http://schemas.openxmlformats.org/presentationml/2006/ole">
            <mc:AlternateContent xmlns:mc="http://schemas.openxmlformats.org/markup-compatibility/2006">
              <mc:Choice xmlns:v="urn:schemas-microsoft-com:vml" Requires="v">
                <p:oleObj spid="_x0000_s13335" r:id="rId3" imgW="2082800" imgH="1155700" progId="Equation.DSMT4">
                  <p:embed/>
                </p:oleObj>
              </mc:Choice>
              <mc:Fallback>
                <p:oleObj r:id="rId3" imgW="2082800" imgH="1155700" progId="Equation.DSMT4">
                  <p:embed/>
                  <p:pic>
                    <p:nvPicPr>
                      <p:cNvPr id="22530" name="Object 2"/>
                      <p:cNvPicPr/>
                      <p:nvPr/>
                    </p:nvPicPr>
                    <p:blipFill>
                      <a:blip r:embed="rId4"/>
                      <a:stretch>
                        <a:fillRect/>
                      </a:stretch>
                    </p:blipFill>
                    <p:spPr>
                      <a:xfrm>
                        <a:off x="-14287" y="3143250"/>
                        <a:ext cx="4248150" cy="2359025"/>
                      </a:xfrm>
                      <a:prstGeom prst="rect">
                        <a:avLst/>
                      </a:prstGeom>
                      <a:solidFill>
                        <a:schemeClr val="accent1"/>
                      </a:solidFill>
                      <a:ln w="38100">
                        <a:noFill/>
                        <a:miter/>
                      </a:ln>
                    </p:spPr>
                  </p:pic>
                </p:oleObj>
              </mc:Fallback>
            </mc:AlternateContent>
          </a:graphicData>
        </a:graphic>
      </p:graphicFrame>
      <p:sp>
        <p:nvSpPr>
          <p:cNvPr id="22532" name="Rectangle 3"/>
          <p:cNvSpPr txBox="1"/>
          <p:nvPr/>
        </p:nvSpPr>
        <p:spPr>
          <a:xfrm>
            <a:off x="0" y="0"/>
            <a:ext cx="9361805" cy="426085"/>
          </a:xfrm>
          <a:prstGeom prst="rect">
            <a:avLst/>
          </a:prstGeom>
          <a:noFill/>
          <a:ln w="9525">
            <a:noFill/>
          </a:ln>
        </p:spPr>
        <p:txBody>
          <a:bodyPr/>
          <a:lstStyle/>
          <a:p>
            <a:pPr marL="273050" indent="-273050">
              <a:spcBef>
                <a:spcPts val="600"/>
              </a:spcBef>
              <a:buClr>
                <a:schemeClr val="accent1"/>
              </a:buClr>
              <a:buSzPct val="70000"/>
            </a:pPr>
            <a:r>
              <a:rPr lang="zh-CN" altLang="en-US" b="1" dirty="0">
                <a:latin typeface="Times New Roman" panose="02020603050405020304" pitchFamily="18" charset="0"/>
                <a:ea typeface="微软雅黑" pitchFamily="34" charset="-122"/>
              </a:rPr>
              <a:t>闭回路法计算检验数的理论解释：</a:t>
            </a:r>
          </a:p>
        </p:txBody>
      </p:sp>
      <p:sp>
        <p:nvSpPr>
          <p:cNvPr id="24583" name="Rectangle 2"/>
          <p:cNvSpPr txBox="1"/>
          <p:nvPr/>
        </p:nvSpPr>
        <p:spPr>
          <a:xfrm>
            <a:off x="179705" y="2542540"/>
            <a:ext cx="9109075" cy="576263"/>
          </a:xfrm>
          <a:prstGeom prst="rect">
            <a:avLst/>
          </a:prstGeom>
          <a:noFill/>
          <a:ln w="9525">
            <a:noFill/>
          </a:ln>
        </p:spPr>
        <p:txBody>
          <a:bodyPr/>
          <a:lstStyle/>
          <a:p>
            <a:r>
              <a:rPr lang="zh-CN" altLang="en-US" b="1" dirty="0">
                <a:solidFill>
                  <a:srgbClr val="0000FF"/>
                </a:solidFill>
                <a:latin typeface="Times New Roman" panose="02020603050405020304" pitchFamily="18" charset="0"/>
                <a:ea typeface="微软雅黑" pitchFamily="34" charset="-122"/>
              </a:rPr>
              <a:t>将                                                    代入目标函数</a:t>
            </a:r>
            <a:r>
              <a:rPr lang="en-US" altLang="zh-CN" b="1" dirty="0">
                <a:solidFill>
                  <a:srgbClr val="0000FF"/>
                </a:solidFill>
                <a:latin typeface="Times New Roman" panose="02020603050405020304" pitchFamily="18" charset="0"/>
                <a:ea typeface="微软雅黑" pitchFamily="34" charset="-122"/>
              </a:rPr>
              <a:t>(2-20)</a:t>
            </a:r>
            <a:r>
              <a:rPr lang="zh-CN" altLang="en-US" b="1" dirty="0">
                <a:solidFill>
                  <a:srgbClr val="0000FF"/>
                </a:solidFill>
                <a:latin typeface="Times New Roman" panose="02020603050405020304" pitchFamily="18" charset="0"/>
                <a:ea typeface="微软雅黑" pitchFamily="34" charset="-122"/>
              </a:rPr>
              <a:t>式</a:t>
            </a:r>
            <a:r>
              <a:rPr lang="zh-CN" altLang="en-US" b="1" dirty="0">
                <a:solidFill>
                  <a:srgbClr val="0000FF"/>
                </a:solidFill>
                <a:latin typeface="仿宋" panose="02010609060101010101" pitchFamily="49" charset="-122"/>
                <a:ea typeface="仿宋" panose="02010609060101010101" pitchFamily="49" charset="-122"/>
              </a:rPr>
              <a:t>，</a:t>
            </a:r>
            <a:r>
              <a:rPr lang="zh-CN" altLang="en-US" b="1" dirty="0">
                <a:solidFill>
                  <a:srgbClr val="0000FF"/>
                </a:solidFill>
                <a:latin typeface="Times New Roman" panose="02020603050405020304" pitchFamily="18" charset="0"/>
                <a:ea typeface="微软雅黑" pitchFamily="34" charset="-122"/>
              </a:rPr>
              <a:t>整理后得</a:t>
            </a:r>
            <a:br>
              <a:rPr lang="zh-CN" altLang="en-US" b="1" dirty="0">
                <a:solidFill>
                  <a:schemeClr val="tx2"/>
                </a:solidFill>
                <a:latin typeface="Times New Roman" panose="02020603050405020304" pitchFamily="18" charset="0"/>
                <a:ea typeface="微软雅黑" pitchFamily="34" charset="-122"/>
              </a:rPr>
            </a:br>
            <a:endParaRPr lang="zh-CN" altLang="en-US" b="1" dirty="0">
              <a:solidFill>
                <a:schemeClr val="tx2"/>
              </a:solidFill>
              <a:latin typeface="Times New Roman" panose="02020603050405020304" pitchFamily="18" charset="0"/>
              <a:ea typeface="微软雅黑" pitchFamily="34" charset="-122"/>
            </a:endParaRPr>
          </a:p>
        </p:txBody>
      </p:sp>
      <p:sp>
        <p:nvSpPr>
          <p:cNvPr id="10" name="Rectangle 2"/>
          <p:cNvSpPr txBox="1"/>
          <p:nvPr/>
        </p:nvSpPr>
        <p:spPr>
          <a:xfrm>
            <a:off x="-14287" y="6400800"/>
            <a:ext cx="9109075" cy="576263"/>
          </a:xfrm>
          <a:prstGeom prst="rect">
            <a:avLst/>
          </a:prstGeom>
          <a:noFill/>
          <a:ln w="9525">
            <a:noFill/>
          </a:ln>
        </p:spPr>
        <p:txBody>
          <a:bodyPr/>
          <a:lstStyle/>
          <a:p>
            <a:r>
              <a:rPr lang="zh-CN" altLang="en-US" b="1" dirty="0">
                <a:solidFill>
                  <a:srgbClr val="0000FF"/>
                </a:solidFill>
                <a:latin typeface="Times New Roman" panose="02020603050405020304" pitchFamily="18" charset="0"/>
                <a:ea typeface="微软雅黑" pitchFamily="34" charset="-122"/>
              </a:rPr>
              <a:t>非基变量取值从</a:t>
            </a:r>
            <a:r>
              <a:rPr lang="en-US" altLang="zh-CN" b="1" dirty="0">
                <a:solidFill>
                  <a:srgbClr val="0000FF"/>
                </a:solidFill>
                <a:latin typeface="Times New Roman" panose="02020603050405020304" pitchFamily="18" charset="0"/>
                <a:ea typeface="微软雅黑" pitchFamily="34" charset="-122"/>
              </a:rPr>
              <a:t>0</a:t>
            </a:r>
            <a:r>
              <a:rPr lang="zh-CN" altLang="en-US" b="1" dirty="0">
                <a:solidFill>
                  <a:srgbClr val="0000FF"/>
                </a:solidFill>
                <a:latin typeface="Times New Roman" panose="02020603050405020304" pitchFamily="18" charset="0"/>
                <a:ea typeface="微软雅黑" pitchFamily="34" charset="-122"/>
              </a:rPr>
              <a:t>变到 </a:t>
            </a:r>
            <a:r>
              <a:rPr lang="en-US" altLang="zh-CN" b="1" dirty="0">
                <a:solidFill>
                  <a:srgbClr val="0000FF"/>
                </a:solidFill>
                <a:latin typeface="Times New Roman" panose="02020603050405020304" pitchFamily="18" charset="0"/>
                <a:ea typeface="微软雅黑" pitchFamily="34" charset="-122"/>
              </a:rPr>
              <a:t>1</a:t>
            </a:r>
            <a:r>
              <a:rPr lang="zh-CN" altLang="en-US" b="1" dirty="0">
                <a:solidFill>
                  <a:srgbClr val="0000FF"/>
                </a:solidFill>
                <a:latin typeface="Times New Roman" panose="02020603050405020304" pitchFamily="18" charset="0"/>
                <a:ea typeface="微软雅黑" pitchFamily="34" charset="-122"/>
              </a:rPr>
              <a:t>时</a:t>
            </a:r>
            <a:r>
              <a:rPr lang="zh-CN" altLang="en-US" b="1" dirty="0">
                <a:solidFill>
                  <a:srgbClr val="0000FF"/>
                </a:solidFill>
                <a:latin typeface="仿宋" panose="02010609060101010101" pitchFamily="49" charset="-122"/>
                <a:ea typeface="仿宋" panose="02010609060101010101" pitchFamily="49" charset="-122"/>
              </a:rPr>
              <a:t>，</a:t>
            </a:r>
            <a:r>
              <a:rPr lang="zh-CN" altLang="en-US" b="1" dirty="0">
                <a:solidFill>
                  <a:srgbClr val="0000FF"/>
                </a:solidFill>
                <a:latin typeface="Times New Roman" panose="02020603050405020304" pitchFamily="18" charset="0"/>
                <a:ea typeface="微软雅黑" pitchFamily="34" charset="-122"/>
              </a:rPr>
              <a:t>目标函数的改变量正好是其系数</a:t>
            </a:r>
            <a:endParaRPr lang="zh-CN" altLang="en-US" b="1" dirty="0">
              <a:solidFill>
                <a:schemeClr val="tx2"/>
              </a:solidFill>
              <a:latin typeface="Times New Roman" panose="02020603050405020304" pitchFamily="18" charset="0"/>
              <a:ea typeface="微软雅黑" pitchFamily="34" charset="-122"/>
            </a:endParaRPr>
          </a:p>
        </p:txBody>
      </p:sp>
      <p:pic>
        <p:nvPicPr>
          <p:cNvPr id="8" name="图片 7" descr="多行公式1.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3260" y="423545"/>
            <a:ext cx="6978015" cy="2094865"/>
          </a:xfrm>
          <a:prstGeom prst="rect">
            <a:avLst/>
          </a:prstGeom>
        </p:spPr>
      </p:pic>
      <p:pic>
        <p:nvPicPr>
          <p:cNvPr id="9" name="图片 8" descr="多行公式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98575" y="3110865"/>
            <a:ext cx="7796530" cy="3218180"/>
          </a:xfrm>
          <a:prstGeom prst="rect">
            <a:avLst/>
          </a:prstGeom>
        </p:spPr>
      </p:pic>
      <p:sp>
        <p:nvSpPr>
          <p:cNvPr id="24588" name="Rectangle 12"/>
          <p:cNvSpPr/>
          <p:nvPr/>
        </p:nvSpPr>
        <p:spPr>
          <a:xfrm>
            <a:off x="3495675" y="5495290"/>
            <a:ext cx="1511300" cy="745490"/>
          </a:xfrm>
          <a:prstGeom prst="rect">
            <a:avLst/>
          </a:prstGeom>
          <a:noFill/>
          <a:ln w="5715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pic>
        <p:nvPicPr>
          <p:cNvPr id="11" name="图片 10" descr="单行公式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160" y="2455545"/>
            <a:ext cx="3511550" cy="629285"/>
          </a:xfrm>
          <a:prstGeom prst="rect">
            <a:avLst/>
          </a:prstGeom>
        </p:spPr>
      </p:pic>
      <p:sp>
        <p:nvSpPr>
          <p:cNvPr id="2" name="灯片编号占位符 1">
            <a:extLst>
              <a:ext uri="{FF2B5EF4-FFF2-40B4-BE49-F238E27FC236}">
                <a16:creationId xmlns:a16="http://schemas.microsoft.com/office/drawing/2014/main" id="{A3E8465C-1396-465C-A407-B43A150B3728}"/>
              </a:ext>
            </a:extLst>
          </p:cNvPr>
          <p:cNvSpPr>
            <a:spLocks noGrp="1"/>
          </p:cNvSpPr>
          <p:nvPr>
            <p:ph type="sldNum" sz="quarter" idx="12"/>
          </p:nvPr>
        </p:nvSpPr>
        <p:spPr/>
        <p:txBody>
          <a:bodyPr/>
          <a:lstStyle/>
          <a:p>
            <a:pPr>
              <a:defRPr/>
            </a:pPr>
            <a:fld id="{2AE1B59C-883C-4848-BC85-9A12DF2590B2}" type="slidenum">
              <a:rPr lang="en-US" altLang="zh-CN" smtClean="0"/>
              <a:t>32</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583"/>
                                        </p:tgtEl>
                                        <p:attrNameLst>
                                          <p:attrName>style.visibility</p:attrName>
                                        </p:attrNameLst>
                                      </p:cBhvr>
                                      <p:to>
                                        <p:strVal val="visible"/>
                                      </p:to>
                                    </p:set>
                                    <p:animEffect transition="in" filter="blinds(horizontal)">
                                      <p:cBhvr>
                                        <p:cTn id="10" dur="500"/>
                                        <p:tgtEl>
                                          <p:spTgt spid="2458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458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3" grpId="1"/>
      <p:bldP spid="10" grpId="0"/>
      <p:bldP spid="24588"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2385" y="188595"/>
            <a:ext cx="9079230" cy="4510405"/>
          </a:xfrm>
          <a:prstGeom prst="rect">
            <a:avLst/>
          </a:prstGeom>
        </p:spPr>
      </p:pic>
      <p:sp>
        <p:nvSpPr>
          <p:cNvPr id="23555" name="Line 5"/>
          <p:cNvSpPr/>
          <p:nvPr/>
        </p:nvSpPr>
        <p:spPr>
          <a:xfrm>
            <a:off x="3995936" y="2851150"/>
            <a:ext cx="1296987" cy="0"/>
          </a:xfrm>
          <a:prstGeom prst="line">
            <a:avLst/>
          </a:prstGeom>
          <a:ln w="76200" cap="flat" cmpd="sng">
            <a:solidFill>
              <a:schemeClr val="hlink"/>
            </a:solidFill>
            <a:prstDash val="solid"/>
            <a:headEnd type="none" w="med" len="med"/>
            <a:tailEnd type="triangle" w="med" len="med"/>
          </a:ln>
        </p:spPr>
      </p:sp>
      <p:sp>
        <p:nvSpPr>
          <p:cNvPr id="447495" name="Line 7"/>
          <p:cNvSpPr/>
          <p:nvPr/>
        </p:nvSpPr>
        <p:spPr>
          <a:xfrm flipH="1" flipV="1">
            <a:off x="4067175" y="3859213"/>
            <a:ext cx="2449513" cy="0"/>
          </a:xfrm>
          <a:prstGeom prst="line">
            <a:avLst/>
          </a:prstGeom>
          <a:ln w="76200" cap="flat" cmpd="sng">
            <a:solidFill>
              <a:schemeClr val="hlink"/>
            </a:solidFill>
            <a:prstDash val="solid"/>
            <a:headEnd type="none" w="med" len="med"/>
            <a:tailEnd type="triangle" w="med" len="med"/>
          </a:ln>
        </p:spPr>
      </p:sp>
      <p:sp>
        <p:nvSpPr>
          <p:cNvPr id="447496" name="Line 8"/>
          <p:cNvSpPr/>
          <p:nvPr/>
        </p:nvSpPr>
        <p:spPr>
          <a:xfrm flipV="1">
            <a:off x="5364163" y="1843088"/>
            <a:ext cx="0" cy="1008062"/>
          </a:xfrm>
          <a:prstGeom prst="line">
            <a:avLst/>
          </a:prstGeom>
          <a:ln w="76200" cap="flat" cmpd="sng">
            <a:solidFill>
              <a:schemeClr val="hlink"/>
            </a:solidFill>
            <a:prstDash val="solid"/>
            <a:headEnd type="none" w="med" len="med"/>
            <a:tailEnd type="triangle" w="med" len="med"/>
          </a:ln>
        </p:spPr>
      </p:sp>
      <p:sp>
        <p:nvSpPr>
          <p:cNvPr id="447497" name="Line 9"/>
          <p:cNvSpPr/>
          <p:nvPr/>
        </p:nvSpPr>
        <p:spPr>
          <a:xfrm>
            <a:off x="5435600" y="1770063"/>
            <a:ext cx="1296988" cy="0"/>
          </a:xfrm>
          <a:prstGeom prst="line">
            <a:avLst/>
          </a:prstGeom>
          <a:ln w="76200" cap="flat" cmpd="sng">
            <a:solidFill>
              <a:schemeClr val="hlink"/>
            </a:solidFill>
            <a:prstDash val="solid"/>
            <a:headEnd type="none" w="med" len="med"/>
            <a:tailEnd type="triangle" w="med" len="med"/>
          </a:ln>
        </p:spPr>
      </p:sp>
      <p:pic>
        <p:nvPicPr>
          <p:cNvPr id="23561" name="Picture 11"/>
          <p:cNvPicPr>
            <a:picLocks noChangeAspect="1"/>
          </p:cNvPicPr>
          <p:nvPr/>
        </p:nvPicPr>
        <p:blipFill>
          <a:blip r:embed="rId3"/>
          <a:stretch>
            <a:fillRect/>
          </a:stretch>
        </p:blipFill>
        <p:spPr>
          <a:xfrm>
            <a:off x="0" y="4941888"/>
            <a:ext cx="9144000" cy="1916112"/>
          </a:xfrm>
          <a:prstGeom prst="rect">
            <a:avLst/>
          </a:prstGeom>
          <a:noFill/>
          <a:ln w="9525">
            <a:noFill/>
          </a:ln>
        </p:spPr>
      </p:pic>
      <p:sp>
        <p:nvSpPr>
          <p:cNvPr id="2" name="Rectangle 2"/>
          <p:cNvSpPr txBox="1"/>
          <p:nvPr/>
        </p:nvSpPr>
        <p:spPr>
          <a:xfrm>
            <a:off x="0" y="6078538"/>
            <a:ext cx="9144000" cy="779462"/>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a:t>
            </a:r>
            <a:r>
              <a:rPr lang="en-US" altLang="zh-CN" b="1" dirty="0">
                <a:latin typeface="Times New Roman" panose="02020603050405020304" pitchFamily="18" charset="0"/>
                <a:ea typeface="微软雅黑" pitchFamily="34" charset="-122"/>
                <a:cs typeface="Times New Roman" panose="02020603050405020304" pitchFamily="18" charset="0"/>
              </a:rPr>
              <a:t>(22)</a:t>
            </a:r>
            <a:r>
              <a:rPr lang="zh-CN" altLang="en-US" b="1" dirty="0">
                <a:latin typeface="微软雅黑" pitchFamily="34" charset="-122"/>
                <a:ea typeface="微软雅黑" pitchFamily="34" charset="-122"/>
              </a:rPr>
              <a:t>调整的方案使运费增加</a:t>
            </a:r>
          </a:p>
          <a:p>
            <a:pPr algn="ctr">
              <a:buFont typeface="Wingdings" panose="05000000000000000000" pitchFamily="2" charset="2"/>
            </a:pPr>
            <a:r>
              <a:rPr lang="en-US" altLang="zh-CN" b="1" dirty="0">
                <a:latin typeface="Times New Roman" panose="02020603050405020304" pitchFamily="18" charset="0"/>
                <a:ea typeface="微软雅黑" pitchFamily="34" charset="-122"/>
              </a:rPr>
              <a:t>(+1)×9+(-1)×2+(+1)×3+(-1)×10 +(+1)×5+(-1)×4=1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p:txBody>
      </p:sp>
      <p:cxnSp>
        <p:nvCxnSpPr>
          <p:cNvPr id="3" name="直接连接符 2"/>
          <p:cNvCxnSpPr/>
          <p:nvPr/>
        </p:nvCxnSpPr>
        <p:spPr>
          <a:xfrm>
            <a:off x="3131820" y="1921510"/>
            <a:ext cx="1944370"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4" name="直接连接符 3"/>
          <p:cNvCxnSpPr/>
          <p:nvPr/>
        </p:nvCxnSpPr>
        <p:spPr>
          <a:xfrm>
            <a:off x="3131820" y="2924810"/>
            <a:ext cx="1944370"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6" name="直接连接符 5"/>
          <p:cNvCxnSpPr/>
          <p:nvPr/>
        </p:nvCxnSpPr>
        <p:spPr>
          <a:xfrm>
            <a:off x="2411730" y="1917065"/>
            <a:ext cx="0" cy="94615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7" name="直接连接符 6"/>
          <p:cNvCxnSpPr/>
          <p:nvPr/>
        </p:nvCxnSpPr>
        <p:spPr>
          <a:xfrm>
            <a:off x="5220335" y="1905000"/>
            <a:ext cx="0" cy="94615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8" name="矩形 7"/>
          <p:cNvSpPr/>
          <p:nvPr/>
        </p:nvSpPr>
        <p:spPr>
          <a:xfrm>
            <a:off x="3924300" y="1196975"/>
            <a:ext cx="942975"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9" name="矩形 8"/>
          <p:cNvSpPr/>
          <p:nvPr/>
        </p:nvSpPr>
        <p:spPr>
          <a:xfrm>
            <a:off x="2555875" y="119697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0" name="矩形 9"/>
          <p:cNvSpPr/>
          <p:nvPr/>
        </p:nvSpPr>
        <p:spPr>
          <a:xfrm>
            <a:off x="2555875" y="220154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1" name="矩形 10"/>
          <p:cNvSpPr/>
          <p:nvPr/>
        </p:nvSpPr>
        <p:spPr>
          <a:xfrm>
            <a:off x="2555875" y="320611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2" name="矩形 11"/>
          <p:cNvSpPr/>
          <p:nvPr/>
        </p:nvSpPr>
        <p:spPr>
          <a:xfrm>
            <a:off x="3952240" y="2181860"/>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3" name="矩形 12"/>
          <p:cNvSpPr/>
          <p:nvPr/>
        </p:nvSpPr>
        <p:spPr>
          <a:xfrm>
            <a:off x="3947795" y="317309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4" name="矩形 13"/>
          <p:cNvSpPr/>
          <p:nvPr/>
        </p:nvSpPr>
        <p:spPr>
          <a:xfrm>
            <a:off x="5339715" y="317309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5" name="矩形 14"/>
          <p:cNvSpPr/>
          <p:nvPr/>
        </p:nvSpPr>
        <p:spPr>
          <a:xfrm>
            <a:off x="6757670" y="317309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6" name="矩形 15"/>
          <p:cNvSpPr/>
          <p:nvPr/>
        </p:nvSpPr>
        <p:spPr>
          <a:xfrm>
            <a:off x="6757670" y="220154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7" name="矩形 16"/>
          <p:cNvSpPr/>
          <p:nvPr/>
        </p:nvSpPr>
        <p:spPr>
          <a:xfrm>
            <a:off x="6757670" y="1212850"/>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8" name="矩形 17"/>
          <p:cNvSpPr/>
          <p:nvPr/>
        </p:nvSpPr>
        <p:spPr>
          <a:xfrm>
            <a:off x="5341620" y="1221105"/>
            <a:ext cx="919480" cy="438785"/>
          </a:xfrm>
          <a:prstGeom prst="rect">
            <a:avLst/>
          </a:prstGeom>
          <a:solidFill>
            <a:schemeClr val="accent1">
              <a:alpha val="0"/>
            </a:schemeClr>
          </a:solidFill>
          <a:ln w="2857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447498" name="Line 10"/>
          <p:cNvSpPr/>
          <p:nvPr/>
        </p:nvSpPr>
        <p:spPr>
          <a:xfrm flipV="1">
            <a:off x="3995936" y="2922588"/>
            <a:ext cx="0" cy="792162"/>
          </a:xfrm>
          <a:prstGeom prst="line">
            <a:avLst/>
          </a:prstGeom>
          <a:ln w="76200" cap="flat" cmpd="sng">
            <a:solidFill>
              <a:schemeClr val="hlink"/>
            </a:solidFill>
            <a:prstDash val="solid"/>
            <a:headEnd type="none" w="med" len="med"/>
            <a:tailEnd type="triangle" w="med" len="med"/>
          </a:ln>
        </p:spPr>
      </p:sp>
      <p:sp>
        <p:nvSpPr>
          <p:cNvPr id="447494" name="Line 6"/>
          <p:cNvSpPr/>
          <p:nvPr/>
        </p:nvSpPr>
        <p:spPr>
          <a:xfrm>
            <a:off x="6660232" y="1843088"/>
            <a:ext cx="0" cy="2016125"/>
          </a:xfrm>
          <a:prstGeom prst="line">
            <a:avLst/>
          </a:prstGeom>
          <a:ln w="76200" cap="flat" cmpd="sng">
            <a:solidFill>
              <a:schemeClr val="hlink"/>
            </a:solidFill>
            <a:prstDash val="solid"/>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7496"/>
                                        </p:tgtEl>
                                        <p:attrNameLst>
                                          <p:attrName>style.visibility</p:attrName>
                                        </p:attrNameLst>
                                      </p:cBhvr>
                                      <p:to>
                                        <p:strVal val="visible"/>
                                      </p:to>
                                    </p:set>
                                    <p:animEffect transition="in" filter="blinds(horizontal)">
                                      <p:cBhvr>
                                        <p:cTn id="7" dur="500"/>
                                        <p:tgtEl>
                                          <p:spTgt spid="4474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7497"/>
                                        </p:tgtEl>
                                        <p:attrNameLst>
                                          <p:attrName>style.visibility</p:attrName>
                                        </p:attrNameLst>
                                      </p:cBhvr>
                                      <p:to>
                                        <p:strVal val="visible"/>
                                      </p:to>
                                    </p:set>
                                    <p:animEffect transition="in" filter="blinds(horizontal)">
                                      <p:cBhvr>
                                        <p:cTn id="12" dur="500"/>
                                        <p:tgtEl>
                                          <p:spTgt spid="4474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7494"/>
                                        </p:tgtEl>
                                        <p:attrNameLst>
                                          <p:attrName>style.visibility</p:attrName>
                                        </p:attrNameLst>
                                      </p:cBhvr>
                                      <p:to>
                                        <p:strVal val="visible"/>
                                      </p:to>
                                    </p:set>
                                    <p:animEffect transition="in" filter="blinds(horizontal)">
                                      <p:cBhvr>
                                        <p:cTn id="17" dur="500"/>
                                        <p:tgtEl>
                                          <p:spTgt spid="4474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7495"/>
                                        </p:tgtEl>
                                        <p:attrNameLst>
                                          <p:attrName>style.visibility</p:attrName>
                                        </p:attrNameLst>
                                      </p:cBhvr>
                                      <p:to>
                                        <p:strVal val="visible"/>
                                      </p:to>
                                    </p:set>
                                    <p:animEffect transition="in" filter="blinds(horizontal)">
                                      <p:cBhvr>
                                        <p:cTn id="22" dur="500"/>
                                        <p:tgtEl>
                                          <p:spTgt spid="44749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7498"/>
                                        </p:tgtEl>
                                        <p:attrNameLst>
                                          <p:attrName>style.visibility</p:attrName>
                                        </p:attrNameLst>
                                      </p:cBhvr>
                                      <p:to>
                                        <p:strVal val="visible"/>
                                      </p:to>
                                    </p:set>
                                    <p:animEffect transition="in" filter="blinds(horizontal)">
                                      <p:cBhvr>
                                        <p:cTn id="27" dur="500"/>
                                        <p:tgtEl>
                                          <p:spTgt spid="44749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dissolve">
                                      <p:cBhvr>
                                        <p:cTn id="32" dur="500"/>
                                        <p:tgtEl>
                                          <p:spTgt spid="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dissolve">
                                      <p:cBhvr>
                                        <p:cTn id="3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p:cNvPicPr>
            <a:picLocks noChangeAspect="1"/>
          </p:cNvPicPr>
          <p:nvPr/>
        </p:nvPicPr>
        <p:blipFill>
          <a:blip r:embed="rId2"/>
          <a:stretch>
            <a:fillRect/>
          </a:stretch>
        </p:blipFill>
        <p:spPr>
          <a:xfrm>
            <a:off x="0" y="3716338"/>
            <a:ext cx="9144000" cy="2316162"/>
          </a:xfrm>
          <a:prstGeom prst="rect">
            <a:avLst/>
          </a:prstGeom>
          <a:noFill/>
          <a:ln w="9525">
            <a:noFill/>
          </a:ln>
        </p:spPr>
      </p:pic>
      <p:sp>
        <p:nvSpPr>
          <p:cNvPr id="24579" name="Rectangle 2"/>
          <p:cNvSpPr txBox="1"/>
          <p:nvPr/>
        </p:nvSpPr>
        <p:spPr>
          <a:xfrm>
            <a:off x="0" y="2159000"/>
            <a:ext cx="9144000" cy="1557338"/>
          </a:xfrm>
          <a:prstGeom prst="rect">
            <a:avLst/>
          </a:prstGeom>
          <a:solidFill>
            <a:srgbClr val="FFFF99"/>
          </a:solidFill>
          <a:ln w="9525">
            <a:noFill/>
          </a:ln>
        </p:spPr>
        <p:txBody>
          <a:bodyPr/>
          <a:lstStyle/>
          <a:p>
            <a:pPr>
              <a:buFont typeface="Wingdings" panose="05000000000000000000" pitchFamily="2" charset="2"/>
              <a:buChar char="l"/>
            </a:pPr>
            <a:r>
              <a:rPr lang="zh-CN" altLang="en-US" b="1" dirty="0">
                <a:latin typeface="微软雅黑" pitchFamily="34" charset="-122"/>
                <a:ea typeface="微软雅黑" pitchFamily="34" charset="-122"/>
              </a:rPr>
              <a:t>可见这调整的方案使运费增加</a:t>
            </a:r>
          </a:p>
          <a:p>
            <a:pPr>
              <a:buFont typeface="Wingdings" panose="05000000000000000000" pitchFamily="2" charset="2"/>
            </a:pPr>
            <a:r>
              <a:rPr lang="en-US" altLang="zh-CN" b="1" dirty="0">
                <a:latin typeface="微软雅黑" pitchFamily="34" charset="-122"/>
                <a:ea typeface="微软雅黑" pitchFamily="34" charset="-122"/>
              </a:rPr>
              <a:t>                  (+1)×3+(-1)×3+(+1)×2+(-1)×</a:t>
            </a:r>
            <a:r>
              <a:rPr lang="zh-CN" altLang="en-US" b="1" dirty="0">
                <a:latin typeface="微软雅黑" pitchFamily="34" charset="-122"/>
                <a:ea typeface="微软雅黑" pitchFamily="34" charset="-122"/>
              </a:rPr>
              <a:t>１</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p>
          <a:p>
            <a:pPr>
              <a:buFont typeface="Wingdings" panose="05000000000000000000" pitchFamily="2" charset="2"/>
              <a:buChar char="l"/>
            </a:pPr>
            <a:r>
              <a:rPr lang="zh-CN" altLang="en-US" b="1" dirty="0">
                <a:latin typeface="微软雅黑" pitchFamily="34" charset="-122"/>
                <a:ea typeface="微软雅黑" pitchFamily="34" charset="-122"/>
              </a:rPr>
              <a:t>这表明若这样调整运量将增加运费。将</a:t>
            </a:r>
            <a:r>
              <a:rPr lang="zh-CN" altLang="en-US" b="1" dirty="0">
                <a:latin typeface="仿宋" panose="02010609060101010101" pitchFamily="49" charset="-122"/>
                <a:ea typeface="仿宋" panose="02010609060101010101" pitchFamily="49" charset="-122"/>
              </a:rPr>
              <a:t>“</a:t>
            </a:r>
            <a:r>
              <a:rPr lang="en-US" altLang="zh-CN" b="1" dirty="0">
                <a:latin typeface="微软雅黑" pitchFamily="34" charset="-122"/>
                <a:ea typeface="微软雅黑" pitchFamily="34" charset="-122"/>
              </a:rPr>
              <a:t>1</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这个数填入</a:t>
            </a:r>
            <a:r>
              <a:rPr lang="en-US" altLang="zh-CN" b="1" dirty="0">
                <a:latin typeface="微软雅黑" pitchFamily="34" charset="-122"/>
                <a:ea typeface="微软雅黑" pitchFamily="34" charset="-122"/>
              </a:rPr>
              <a:t>(</a:t>
            </a:r>
            <a:r>
              <a:rPr lang="en-US" altLang="zh-CN" b="1" i="1" dirty="0">
                <a:latin typeface="Times New Roman" panose="02020603050405020304" pitchFamily="18" charset="0"/>
                <a:ea typeface="微软雅黑" pitchFamily="34" charset="-122"/>
                <a:cs typeface="Times New Roman" panose="02020603050405020304" pitchFamily="18" charset="0"/>
              </a:rPr>
              <a:t>A</a:t>
            </a:r>
            <a:r>
              <a:rPr lang="en-US" altLang="zh-CN" b="1" baseline="-25000" dirty="0">
                <a:latin typeface="Times New Roman" panose="02020603050405020304" pitchFamily="18" charset="0"/>
                <a:ea typeface="微软雅黑" pitchFamily="34" charset="-122"/>
                <a:cs typeface="Times New Roman" panose="02020603050405020304" pitchFamily="18" charset="0"/>
              </a:rPr>
              <a:t>1</a:t>
            </a:r>
            <a:r>
              <a:rPr lang="zh-CN" altLang="en-US" b="1" dirty="0">
                <a:latin typeface="Times New Roman" panose="02020603050405020304" pitchFamily="18" charset="0"/>
                <a:ea typeface="仿宋" pitchFamily="49" charset="-122"/>
                <a:cs typeface="Times New Roman" panose="02020603050405020304" pitchFamily="18" charset="0"/>
              </a:rPr>
              <a:t>，</a:t>
            </a:r>
            <a:r>
              <a:rPr lang="en-US" altLang="zh-CN" b="1" i="1" dirty="0">
                <a:latin typeface="Times New Roman" panose="02020603050405020304" pitchFamily="18" charset="0"/>
                <a:ea typeface="微软雅黑" pitchFamily="34" charset="-122"/>
                <a:cs typeface="Times New Roman" panose="02020603050405020304" pitchFamily="18" charset="0"/>
              </a:rPr>
              <a:t>B</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格这就是检验数。按以上所述</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可找出所有空格的检验数</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见下表</a:t>
            </a:r>
          </a:p>
        </p:txBody>
      </p:sp>
      <p:sp>
        <p:nvSpPr>
          <p:cNvPr id="24580" name="Rectangle 4"/>
          <p:cNvSpPr/>
          <p:nvPr/>
        </p:nvSpPr>
        <p:spPr>
          <a:xfrm>
            <a:off x="0" y="6035675"/>
            <a:ext cx="9144000" cy="461963"/>
          </a:xfrm>
          <a:prstGeom prst="rect">
            <a:avLst/>
          </a:prstGeom>
          <a:solidFill>
            <a:srgbClr val="FFCCFF"/>
          </a:solidFill>
          <a:ln w="9525">
            <a:noFill/>
          </a:ln>
        </p:spPr>
        <p:txBody>
          <a:bodyPr>
            <a:spAutoFit/>
          </a:bodyPr>
          <a:lstStyle/>
          <a:p>
            <a:pPr algn="just" eaLnBrk="1" hangingPunct="1"/>
            <a:r>
              <a:rPr lang="zh-CN" altLang="en-US" b="1" dirty="0">
                <a:latin typeface="微软雅黑" pitchFamily="34" charset="-122"/>
                <a:ea typeface="微软雅黑" pitchFamily="34" charset="-122"/>
              </a:rPr>
              <a:t>当检验数还存在负数时</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说明原方案不是最优解</a:t>
            </a:r>
            <a:r>
              <a:rPr lang="zh-CN" altLang="en-US" b="1" dirty="0">
                <a:latin typeface="仿宋" panose="02010609060101010101" pitchFamily="49" charset="-122"/>
                <a:ea typeface="仿宋" panose="02010609060101010101" pitchFamily="49" charset="-122"/>
              </a:rPr>
              <a:t>，</a:t>
            </a:r>
            <a:r>
              <a:rPr lang="zh-CN" altLang="en-US" b="1" dirty="0">
                <a:latin typeface="微软雅黑" pitchFamily="34" charset="-122"/>
                <a:ea typeface="微软雅黑" pitchFamily="34" charset="-122"/>
              </a:rPr>
              <a:t>要继续改进</a:t>
            </a:r>
            <a:endParaRPr lang="en-US" altLang="zh-CN" sz="4400" dirty="0">
              <a:latin typeface="Verdana" panose="020B0604030504040204" pitchFamily="34" charset="0"/>
              <a:ea typeface="华文楷体" panose="02010600040101010101" pitchFamily="2" charset="-122"/>
            </a:endParaRPr>
          </a:p>
        </p:txBody>
      </p:sp>
      <p:sp>
        <p:nvSpPr>
          <p:cNvPr id="24581" name="矩形 3"/>
          <p:cNvSpPr/>
          <p:nvPr/>
        </p:nvSpPr>
        <p:spPr>
          <a:xfrm>
            <a:off x="3348038" y="1052513"/>
            <a:ext cx="1223962" cy="461665"/>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4-15</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grpSp>
        <p:nvGrpSpPr>
          <p:cNvPr id="30" name="组合 29"/>
          <p:cNvGrpSpPr/>
          <p:nvPr/>
        </p:nvGrpSpPr>
        <p:grpSpPr>
          <a:xfrm>
            <a:off x="4572000" y="27940"/>
            <a:ext cx="4570730" cy="2315210"/>
            <a:chOff x="5805" y="2234"/>
            <a:chExt cx="8594" cy="4186"/>
          </a:xfrm>
        </p:grpSpPr>
        <p:pic>
          <p:nvPicPr>
            <p:cNvPr id="28" name="图片 27"/>
            <p:cNvPicPr>
              <a:picLocks noChangeAspect="1"/>
            </p:cNvPicPr>
            <p:nvPr/>
          </p:nvPicPr>
          <p:blipFill>
            <a:blip r:embed="rId3"/>
            <a:stretch>
              <a:fillRect/>
            </a:stretch>
          </p:blipFill>
          <p:spPr>
            <a:xfrm>
              <a:off x="5805" y="2234"/>
              <a:ext cx="8595" cy="4186"/>
            </a:xfrm>
            <a:prstGeom prst="rect">
              <a:avLst/>
            </a:prstGeom>
          </p:spPr>
        </p:pic>
        <p:grpSp>
          <p:nvGrpSpPr>
            <p:cNvPr id="29" name="组合 28"/>
            <p:cNvGrpSpPr/>
            <p:nvPr/>
          </p:nvGrpSpPr>
          <p:grpSpPr>
            <a:xfrm>
              <a:off x="8447" y="3057"/>
              <a:ext cx="4660" cy="2088"/>
              <a:chOff x="8447" y="2944"/>
              <a:chExt cx="4660" cy="2088"/>
            </a:xfrm>
          </p:grpSpPr>
          <p:cxnSp>
            <p:nvCxnSpPr>
              <p:cNvPr id="8" name="直接连接符 7"/>
              <p:cNvCxnSpPr/>
              <p:nvPr/>
            </p:nvCxnSpPr>
            <p:spPr>
              <a:xfrm>
                <a:off x="9242" y="3586"/>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0" name="直接连接符 9"/>
              <p:cNvCxnSpPr/>
              <p:nvPr/>
            </p:nvCxnSpPr>
            <p:spPr>
              <a:xfrm>
                <a:off x="8447" y="3520"/>
                <a:ext cx="0" cy="1000"/>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1" name="直接连接符 10"/>
              <p:cNvCxnSpPr/>
              <p:nvPr/>
            </p:nvCxnSpPr>
            <p:spPr>
              <a:xfrm>
                <a:off x="11055" y="3685"/>
                <a:ext cx="0" cy="581"/>
              </a:xfrm>
              <a:prstGeom prst="line">
                <a:avLst/>
              </a:prstGeom>
              <a:solidFill>
                <a:schemeClr val="accent1"/>
              </a:solidFill>
              <a:ln w="38100" cap="flat" cmpd="sng" algn="ctr">
                <a:solidFill>
                  <a:schemeClr val="tx1"/>
                </a:solidFill>
                <a:prstDash val="sysDash"/>
                <a:miter lim="800000"/>
                <a:headEnd type="none" w="med" len="med"/>
                <a:tailEnd type="none" w="med" len="med"/>
              </a:ln>
            </p:spPr>
          </p:cxnSp>
          <p:cxnSp>
            <p:nvCxnSpPr>
              <p:cNvPr id="12" name="直接连接符 11"/>
              <p:cNvCxnSpPr/>
              <p:nvPr/>
            </p:nvCxnSpPr>
            <p:spPr>
              <a:xfrm>
                <a:off x="9242" y="4379"/>
                <a:ext cx="1701" cy="0"/>
              </a:xfrm>
              <a:prstGeom prst="line">
                <a:avLst/>
              </a:prstGeom>
              <a:solidFill>
                <a:schemeClr val="accent1"/>
              </a:solidFill>
              <a:ln w="38100" cap="flat" cmpd="sng" algn="ctr">
                <a:solidFill>
                  <a:schemeClr val="tx1"/>
                </a:solidFill>
                <a:prstDash val="sysDash"/>
                <a:miter lim="800000"/>
                <a:headEnd type="none" w="med" len="med"/>
                <a:tailEnd type="none" w="med" len="med"/>
              </a:ln>
            </p:spPr>
          </p:cxnSp>
          <p:sp>
            <p:nvSpPr>
              <p:cNvPr id="16" name="矩形 15"/>
              <p:cNvSpPr/>
              <p:nvPr/>
            </p:nvSpPr>
            <p:spPr>
              <a:xfrm>
                <a:off x="12189" y="4632"/>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7" name="矩形 16"/>
              <p:cNvSpPr/>
              <p:nvPr/>
            </p:nvSpPr>
            <p:spPr>
              <a:xfrm>
                <a:off x="10942" y="4642"/>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8" name="矩形 17"/>
              <p:cNvSpPr/>
              <p:nvPr/>
            </p:nvSpPr>
            <p:spPr>
              <a:xfrm>
                <a:off x="9853" y="4642"/>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19" name="矩形 18"/>
              <p:cNvSpPr/>
              <p:nvPr/>
            </p:nvSpPr>
            <p:spPr>
              <a:xfrm>
                <a:off x="8560" y="4632"/>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0" name="矩形 19"/>
              <p:cNvSpPr/>
              <p:nvPr/>
            </p:nvSpPr>
            <p:spPr>
              <a:xfrm>
                <a:off x="12189" y="3800"/>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1" name="矩形 20"/>
              <p:cNvSpPr/>
              <p:nvPr/>
            </p:nvSpPr>
            <p:spPr>
              <a:xfrm>
                <a:off x="10942" y="3810"/>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2" name="矩形 21"/>
              <p:cNvSpPr/>
              <p:nvPr/>
            </p:nvSpPr>
            <p:spPr>
              <a:xfrm>
                <a:off x="9853" y="3810"/>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3" name="矩形 22"/>
              <p:cNvSpPr/>
              <p:nvPr/>
            </p:nvSpPr>
            <p:spPr>
              <a:xfrm>
                <a:off x="8560" y="3800"/>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4" name="矩形 23"/>
              <p:cNvSpPr/>
              <p:nvPr/>
            </p:nvSpPr>
            <p:spPr>
              <a:xfrm>
                <a:off x="12189" y="2944"/>
                <a:ext cx="919" cy="377"/>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5" name="矩形 24"/>
              <p:cNvSpPr/>
              <p:nvPr/>
            </p:nvSpPr>
            <p:spPr>
              <a:xfrm>
                <a:off x="10942" y="2954"/>
                <a:ext cx="919" cy="390"/>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6" name="矩形 25"/>
              <p:cNvSpPr/>
              <p:nvPr/>
            </p:nvSpPr>
            <p:spPr>
              <a:xfrm>
                <a:off x="9853" y="2954"/>
                <a:ext cx="762" cy="36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sp>
            <p:nvSpPr>
              <p:cNvPr id="27" name="矩形 26"/>
              <p:cNvSpPr/>
              <p:nvPr/>
            </p:nvSpPr>
            <p:spPr>
              <a:xfrm>
                <a:off x="8560" y="2944"/>
                <a:ext cx="919" cy="376"/>
              </a:xfrm>
              <a:prstGeom prst="rect">
                <a:avLst/>
              </a:prstGeom>
              <a:solidFill>
                <a:schemeClr val="accent1">
                  <a:alpha val="0"/>
                </a:schemeClr>
              </a:solidFill>
              <a:ln w="19050"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微软雅黑" panose="020B0503020204020204" pitchFamily="34" charset="-122"/>
                </a:endParaRPr>
              </a:p>
            </p:txBody>
          </p:sp>
        </p:grpSp>
      </p:grpSp>
      <p:sp>
        <p:nvSpPr>
          <p:cNvPr id="2" name="灯片编号占位符 1">
            <a:extLst>
              <a:ext uri="{FF2B5EF4-FFF2-40B4-BE49-F238E27FC236}">
                <a16:creationId xmlns:a16="http://schemas.microsoft.com/office/drawing/2014/main" id="{594DE8BA-9048-4D77-9A43-ABCAED7E10EC}"/>
              </a:ext>
            </a:extLst>
          </p:cNvPr>
          <p:cNvSpPr>
            <a:spLocks noGrp="1"/>
          </p:cNvSpPr>
          <p:nvPr>
            <p:ph type="sldNum" sz="quarter" idx="12"/>
          </p:nvPr>
        </p:nvSpPr>
        <p:spPr/>
        <p:txBody>
          <a:bodyPr/>
          <a:lstStyle/>
          <a:p>
            <a:pPr>
              <a:defRPr/>
            </a:pPr>
            <a:fld id="{2AE1B59C-883C-4848-BC85-9A12DF2590B2}" type="slidenum">
              <a:rPr lang="en-US" altLang="zh-CN" smtClean="0"/>
              <a:t>34</a:t>
            </a:fld>
            <a:endParaRPr lang="en-US" altLang="zh-CN"/>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2"/>
          <p:cNvGraphicFramePr>
            <a:graphicFrameLocks noChangeAspect="1"/>
          </p:cNvGraphicFramePr>
          <p:nvPr/>
        </p:nvGraphicFramePr>
        <p:xfrm>
          <a:off x="1516063" y="3860800"/>
          <a:ext cx="5610225" cy="615950"/>
        </p:xfrm>
        <a:graphic>
          <a:graphicData uri="http://schemas.openxmlformats.org/presentationml/2006/ole">
            <mc:AlternateContent xmlns:mc="http://schemas.openxmlformats.org/markup-compatibility/2006">
              <mc:Choice xmlns:v="urn:schemas-microsoft-com:vml" Requires="v">
                <p:oleObj spid="_x0000_s14430" r:id="rId3" imgW="2197100" imgH="241300" progId="Equation.DSMT4">
                  <p:embed/>
                </p:oleObj>
              </mc:Choice>
              <mc:Fallback>
                <p:oleObj r:id="rId3" imgW="2197100" imgH="241300" progId="Equation.DSMT4">
                  <p:embed/>
                  <p:pic>
                    <p:nvPicPr>
                      <p:cNvPr id="7" name="Object 2"/>
                      <p:cNvPicPr/>
                      <p:nvPr/>
                    </p:nvPicPr>
                    <p:blipFill>
                      <a:blip r:embed="rId4"/>
                      <a:stretch>
                        <a:fillRect/>
                      </a:stretch>
                    </p:blipFill>
                    <p:spPr>
                      <a:xfrm>
                        <a:off x="1516063" y="3860800"/>
                        <a:ext cx="5610225" cy="615950"/>
                      </a:xfrm>
                      <a:prstGeom prst="rect">
                        <a:avLst/>
                      </a:prstGeom>
                      <a:solidFill>
                        <a:srgbClr val="FFFF99"/>
                      </a:solidFill>
                      <a:ln w="38100">
                        <a:noFill/>
                        <a:miter/>
                      </a:ln>
                    </p:spPr>
                  </p:pic>
                </p:oleObj>
              </mc:Fallback>
            </mc:AlternateContent>
          </a:graphicData>
        </a:graphic>
      </p:graphicFrame>
      <p:sp>
        <p:nvSpPr>
          <p:cNvPr id="25603" name="Rectangle 2"/>
          <p:cNvSpPr txBox="1"/>
          <p:nvPr/>
        </p:nvSpPr>
        <p:spPr>
          <a:xfrm>
            <a:off x="0" y="0"/>
            <a:ext cx="9144000" cy="549275"/>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位势法</a:t>
            </a:r>
          </a:p>
        </p:txBody>
      </p:sp>
      <p:sp>
        <p:nvSpPr>
          <p:cNvPr id="3" name="Rectangle 3"/>
          <p:cNvSpPr txBox="1"/>
          <p:nvPr/>
        </p:nvSpPr>
        <p:spPr>
          <a:xfrm>
            <a:off x="0" y="476250"/>
            <a:ext cx="9144000" cy="3240088"/>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用闭回路法求检验数时</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需给每一空格找一条闭回路</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当产销点很多时</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这种计算很繁</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下面介绍较为简便的方法</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位势法</a:t>
            </a: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设</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是对应运输问题的</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个约束条件的对偶变量</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B</a:t>
            </a:r>
            <a:r>
              <a:rPr lang="zh-CN" altLang="en-US" b="1" dirty="0">
                <a:latin typeface="Times New Roman" panose="02020603050405020304" pitchFamily="18" charset="0"/>
                <a:ea typeface="微软雅黑" pitchFamily="34" charset="-122"/>
              </a:rPr>
              <a:t>是含有一个人工变量</a:t>
            </a: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a</a:t>
            </a:r>
            <a:r>
              <a:rPr lang="zh-CN" altLang="en-US" b="1" dirty="0">
                <a:latin typeface="Times New Roman" panose="02020603050405020304" pitchFamily="18" charset="0"/>
                <a:ea typeface="微软雅黑" pitchFamily="34" charset="-122"/>
              </a:rPr>
              <a:t>的</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m</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初始基矩阵</a:t>
            </a:r>
            <a:endParaRPr lang="en-US" altLang="zh-CN" b="1" dirty="0">
              <a:latin typeface="Times New Roman" panose="02020603050405020304" pitchFamily="18" charset="0"/>
              <a:ea typeface="微软雅黑" pitchFamily="34" charset="-122"/>
            </a:endParaRP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人工变量</a:t>
            </a: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a</a:t>
            </a:r>
            <a:r>
              <a:rPr lang="zh-CN" altLang="en-US" b="1" dirty="0">
                <a:latin typeface="Times New Roman" panose="02020603050405020304" pitchFamily="18" charset="0"/>
                <a:ea typeface="微软雅黑" pitchFamily="34" charset="-122"/>
              </a:rPr>
              <a:t>在目标函数中的系数</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a</a:t>
            </a:r>
            <a:r>
              <a:rPr lang="en-US" altLang="zh-CN" b="1" dirty="0">
                <a:latin typeface="Times New Roman" panose="02020603050405020304" pitchFamily="18" charset="0"/>
                <a:ea typeface="微软雅黑" pitchFamily="34" charset="-122"/>
              </a:rPr>
              <a:t>=0</a:t>
            </a:r>
          </a:p>
          <a:p>
            <a:pPr marL="273050" indent="-273050">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从线性规划的对偶理论可知</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 </a:t>
            </a:r>
          </a:p>
        </p:txBody>
      </p:sp>
      <p:sp>
        <p:nvSpPr>
          <p:cNvPr id="8" name="Rectangle 3"/>
          <p:cNvSpPr txBox="1"/>
          <p:nvPr/>
        </p:nvSpPr>
        <p:spPr>
          <a:xfrm>
            <a:off x="0" y="4437063"/>
            <a:ext cx="9144000" cy="792162"/>
          </a:xfrm>
          <a:prstGeom prst="rect">
            <a:avLst/>
          </a:prstGeom>
          <a:solidFill>
            <a:srgbClr val="B3F1F7"/>
          </a:solidFill>
          <a:ln w="9525">
            <a:noFill/>
          </a:ln>
        </p:spPr>
        <p:txBody>
          <a:bodyPr/>
          <a:lstStyle/>
          <a:p>
            <a:pPr marL="273050" indent="-273050" algn="just">
              <a:lnSpc>
                <a:spcPct val="15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而每个决策变量</a:t>
            </a: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ij</a:t>
            </a:r>
            <a:r>
              <a:rPr lang="zh-CN" altLang="en-US" b="1" dirty="0">
                <a:latin typeface="Times New Roman" panose="02020603050405020304" pitchFamily="18" charset="0"/>
                <a:ea typeface="微软雅黑" pitchFamily="34" charset="-122"/>
              </a:rPr>
              <a:t>的系数向量</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i</a:t>
            </a:r>
            <a:r>
              <a:rPr lang="en-US" altLang="zh-CN" b="1" i="1" dirty="0">
                <a:latin typeface="Times New Roman" panose="02020603050405020304" pitchFamily="18" charset="0"/>
                <a:ea typeface="微软雅黑" pitchFamily="34" charset="-122"/>
              </a:rPr>
              <a:t>+e</a:t>
            </a:r>
            <a:r>
              <a:rPr lang="en-US" altLang="zh-CN" b="1" i="1" baseline="-30000" dirty="0">
                <a:latin typeface="Times New Roman" panose="02020603050405020304" pitchFamily="18" charset="0"/>
                <a:ea typeface="微软雅黑" pitchFamily="34" charset="-122"/>
              </a:rPr>
              <a:t>m+j</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所以</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B</a:t>
            </a:r>
            <a:r>
              <a:rPr lang="en-US" altLang="zh-CN" b="1" i="1" dirty="0">
                <a:latin typeface="Times New Roman" panose="02020603050405020304" pitchFamily="18" charset="0"/>
                <a:ea typeface="微软雅黑" pitchFamily="34" charset="-122"/>
              </a:rPr>
              <a:t>B</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P</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endParaRPr lang="en-US" altLang="zh-CN" b="1" dirty="0">
              <a:latin typeface="Times New Roman" panose="02020603050405020304" pitchFamily="18" charset="0"/>
              <a:ea typeface="微软雅黑" pitchFamily="34" charset="-122"/>
            </a:endParaRPr>
          </a:p>
          <a:p>
            <a:pPr marL="273050" indent="-273050" algn="just">
              <a:lnSpc>
                <a:spcPct val="15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于是检验数</a:t>
            </a:r>
          </a:p>
        </p:txBody>
      </p:sp>
      <p:graphicFrame>
        <p:nvGraphicFramePr>
          <p:cNvPr id="4" name="Object 3"/>
          <p:cNvGraphicFramePr>
            <a:graphicFrameLocks noChangeAspect="1"/>
          </p:cNvGraphicFramePr>
          <p:nvPr>
            <p:extLst>
              <p:ext uri="{D42A27DB-BD31-4B8C-83A1-F6EECF244321}">
                <p14:modId xmlns:p14="http://schemas.microsoft.com/office/powerpoint/2010/main" val="492841685"/>
              </p:ext>
            </p:extLst>
          </p:nvPr>
        </p:nvGraphicFramePr>
        <p:xfrm>
          <a:off x="2136734" y="5227637"/>
          <a:ext cx="4679950" cy="576263"/>
        </p:xfrm>
        <a:graphic>
          <a:graphicData uri="http://schemas.openxmlformats.org/presentationml/2006/ole">
            <mc:AlternateContent xmlns:mc="http://schemas.openxmlformats.org/markup-compatibility/2006">
              <mc:Choice xmlns:v="urn:schemas-microsoft-com:vml" Requires="v">
                <p:oleObj spid="_x0000_s14431" r:id="rId5" imgW="2057400" imgH="254000" progId="Equation.3">
                  <p:embed/>
                </p:oleObj>
              </mc:Choice>
              <mc:Fallback>
                <p:oleObj r:id="rId5" imgW="2057400" imgH="254000" progId="Equation.3">
                  <p:embed/>
                  <p:pic>
                    <p:nvPicPr>
                      <p:cNvPr id="4" name="Object 3"/>
                      <p:cNvPicPr/>
                      <p:nvPr/>
                    </p:nvPicPr>
                    <p:blipFill>
                      <a:blip r:embed="rId6"/>
                      <a:stretch>
                        <a:fillRect/>
                      </a:stretch>
                    </p:blipFill>
                    <p:spPr>
                      <a:xfrm>
                        <a:off x="2136734" y="5227637"/>
                        <a:ext cx="4679950" cy="576263"/>
                      </a:xfrm>
                      <a:prstGeom prst="rect">
                        <a:avLst/>
                      </a:prstGeom>
                      <a:solidFill>
                        <a:srgbClr val="FFCCFF"/>
                      </a:solidFill>
                      <a:ln w="38100">
                        <a:noFill/>
                        <a:miter/>
                      </a:ln>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1369285770"/>
              </p:ext>
            </p:extLst>
          </p:nvPr>
        </p:nvGraphicFramePr>
        <p:xfrm>
          <a:off x="2136734" y="6240463"/>
          <a:ext cx="4679950" cy="573087"/>
        </p:xfrm>
        <a:graphic>
          <a:graphicData uri="http://schemas.openxmlformats.org/presentationml/2006/ole">
            <mc:AlternateContent xmlns:mc="http://schemas.openxmlformats.org/markup-compatibility/2006">
              <mc:Choice xmlns:v="urn:schemas-microsoft-com:vml" Requires="v">
                <p:oleObj spid="_x0000_s14432" r:id="rId7" imgW="1536700" imgH="241300" progId="Equation.DSMT4">
                  <p:embed/>
                </p:oleObj>
              </mc:Choice>
              <mc:Fallback>
                <p:oleObj r:id="rId7" imgW="1536700" imgH="241300" progId="Equation.DSMT4">
                  <p:embed/>
                  <p:pic>
                    <p:nvPicPr>
                      <p:cNvPr id="9" name="Object 4"/>
                      <p:cNvPicPr/>
                      <p:nvPr/>
                    </p:nvPicPr>
                    <p:blipFill>
                      <a:blip r:embed="rId8"/>
                      <a:stretch>
                        <a:fillRect/>
                      </a:stretch>
                    </p:blipFill>
                    <p:spPr>
                      <a:xfrm>
                        <a:off x="2136734" y="6240463"/>
                        <a:ext cx="4679950" cy="573087"/>
                      </a:xfrm>
                      <a:prstGeom prst="rect">
                        <a:avLst/>
                      </a:prstGeom>
                      <a:solidFill>
                        <a:srgbClr val="FFCCFF"/>
                      </a:solidFill>
                      <a:ln w="38100">
                        <a:noFill/>
                        <a:miter/>
                      </a:ln>
                    </p:spPr>
                  </p:pic>
                </p:oleObj>
              </mc:Fallback>
            </mc:AlternateContent>
          </a:graphicData>
        </a:graphic>
      </p:graphicFrame>
      <p:sp>
        <p:nvSpPr>
          <p:cNvPr id="10" name="Rectangle 7"/>
          <p:cNvSpPr/>
          <p:nvPr/>
        </p:nvSpPr>
        <p:spPr>
          <a:xfrm>
            <a:off x="0" y="5778500"/>
            <a:ext cx="9144000" cy="461963"/>
          </a:xfrm>
          <a:prstGeom prst="rect">
            <a:avLst/>
          </a:prstGeom>
          <a:solidFill>
            <a:srgbClr val="B3F1F7"/>
          </a:solidFill>
          <a:ln w="9525">
            <a:noFill/>
          </a:ln>
        </p:spPr>
        <p:txBody>
          <a:bodyPr wrap="square">
            <a:spAutoFit/>
          </a:bodyPr>
          <a:lstStyle/>
          <a:p>
            <a:r>
              <a:rPr lang="zh-CN" altLang="en-US" b="1" dirty="0">
                <a:latin typeface="微软雅黑" pitchFamily="34" charset="-122"/>
                <a:ea typeface="微软雅黑" pitchFamily="34" charset="-122"/>
              </a:rPr>
              <a:t>由单纯形法得知所有基变量的检验数等于</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。即 </a:t>
            </a:r>
          </a:p>
        </p:txBody>
      </p:sp>
      <p:graphicFrame>
        <p:nvGraphicFramePr>
          <p:cNvPr id="11" name="对象 10"/>
          <p:cNvGraphicFramePr/>
          <p:nvPr>
            <p:extLst>
              <p:ext uri="{D42A27DB-BD31-4B8C-83A1-F6EECF244321}">
                <p14:modId xmlns:p14="http://schemas.microsoft.com/office/powerpoint/2010/main" val="1295665160"/>
              </p:ext>
            </p:extLst>
          </p:nvPr>
        </p:nvGraphicFramePr>
        <p:xfrm>
          <a:off x="1819275" y="4434609"/>
          <a:ext cx="5505450" cy="2365375"/>
        </p:xfrm>
        <a:graphic>
          <a:graphicData uri="http://schemas.openxmlformats.org/presentationml/2006/ole">
            <mc:AlternateContent xmlns:mc="http://schemas.openxmlformats.org/markup-compatibility/2006">
              <mc:Choice xmlns:v="urn:schemas-microsoft-com:vml" Requires="v">
                <p:oleObj spid="_x0000_s14433" r:id="rId9" imgW="5551170" imgH="2556510" progId="Paint.Picture">
                  <p:embed/>
                </p:oleObj>
              </mc:Choice>
              <mc:Fallback>
                <p:oleObj r:id="rId9" imgW="5551170" imgH="2556510" progId="Paint.Picture">
                  <p:embed/>
                  <p:pic>
                    <p:nvPicPr>
                      <p:cNvPr id="11" name="对象 10"/>
                      <p:cNvPicPr/>
                      <p:nvPr/>
                    </p:nvPicPr>
                    <p:blipFill>
                      <a:blip r:embed="rId10"/>
                      <a:stretch>
                        <a:fillRect/>
                      </a:stretch>
                    </p:blipFill>
                    <p:spPr>
                      <a:xfrm>
                        <a:off x="1819275" y="4434609"/>
                        <a:ext cx="5505450" cy="2365375"/>
                      </a:xfrm>
                      <a:prstGeom prst="rect">
                        <a:avLst/>
                      </a:prstGeom>
                      <a:noFill/>
                      <a:ln w="38100">
                        <a:noFill/>
                        <a:miter/>
                      </a:ln>
                    </p:spPr>
                  </p:pic>
                </p:oleObj>
              </mc:Fallback>
            </mc:AlternateContent>
          </a:graphicData>
        </a:graphic>
      </p:graphicFrame>
      <p:sp>
        <p:nvSpPr>
          <p:cNvPr id="2" name="灯片编号占位符 1">
            <a:extLst>
              <a:ext uri="{FF2B5EF4-FFF2-40B4-BE49-F238E27FC236}">
                <a16:creationId xmlns:a16="http://schemas.microsoft.com/office/drawing/2014/main" id="{97B7E401-FB5F-467C-A198-7BE5EB614871}"/>
              </a:ext>
            </a:extLst>
          </p:cNvPr>
          <p:cNvSpPr>
            <a:spLocks noGrp="1"/>
          </p:cNvSpPr>
          <p:nvPr>
            <p:ph type="sldNum" sz="quarter" idx="12"/>
          </p:nvPr>
        </p:nvSpPr>
        <p:spPr/>
        <p:txBody>
          <a:bodyPr/>
          <a:lstStyle/>
          <a:p>
            <a:pPr>
              <a:defRPr/>
            </a:pPr>
            <a:fld id="{2AE1B59C-883C-4848-BC85-9A12DF2590B2}" type="slidenum">
              <a:rPr lang="en-US" altLang="zh-CN" smtClean="0"/>
              <a:t>35</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11"/>
                                        </p:tgtEl>
                                      </p:cBhvr>
                                    </p:animEffect>
                                    <p:set>
                                      <p:cBhvr>
                                        <p:cTn id="49" dur="1" fill="hold">
                                          <p:stCondLst>
                                            <p:cond delay="499"/>
                                          </p:stCondLst>
                                        </p:cTn>
                                        <p:tgtEl>
                                          <p:spTgt spid="1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8">
                                            <p:bg/>
                                          </p:spTgt>
                                        </p:tgtEl>
                                        <p:attrNameLst>
                                          <p:attrName>style.visibility</p:attrName>
                                        </p:attrNameLst>
                                      </p:cBhvr>
                                      <p:to>
                                        <p:strVal val="visible"/>
                                      </p:to>
                                    </p:set>
                                    <p:animEffect transition="in" filter="dissolve">
                                      <p:cBhvr>
                                        <p:cTn id="54" dur="500"/>
                                        <p:tgtEl>
                                          <p:spTgt spid="8">
                                            <p:bg/>
                                          </p:spTgt>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8">
                                            <p:txEl>
                                              <p:pRg st="0" end="0"/>
                                            </p:txEl>
                                          </p:spTgt>
                                        </p:tgtEl>
                                        <p:attrNameLst>
                                          <p:attrName>style.visibility</p:attrName>
                                        </p:attrNameLst>
                                      </p:cBhvr>
                                      <p:to>
                                        <p:strVal val="visible"/>
                                      </p:to>
                                    </p:set>
                                    <p:animEffect transition="in" filter="dissolve">
                                      <p:cBhvr>
                                        <p:cTn id="57" dur="500"/>
                                        <p:tgtEl>
                                          <p:spTgt spid="8">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8">
                                            <p:txEl>
                                              <p:pRg st="1" end="1"/>
                                            </p:txEl>
                                          </p:spTgt>
                                        </p:tgtEl>
                                        <p:attrNameLst>
                                          <p:attrName>style.visibility</p:attrName>
                                        </p:attrNameLst>
                                      </p:cBhvr>
                                      <p:to>
                                        <p:strVal val="visible"/>
                                      </p:to>
                                    </p:set>
                                    <p:animEffect transition="in" filter="dissolve">
                                      <p:cBhvr>
                                        <p:cTn id="62" dur="500"/>
                                        <p:tgtEl>
                                          <p:spTgt spid="8">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1000"/>
                                        <p:tgtEl>
                                          <p:spTgt spid="4"/>
                                        </p:tgtEl>
                                      </p:cBhvr>
                                    </p:animEffect>
                                    <p:anim calcmode="lin" valueType="num">
                                      <p:cBhvr>
                                        <p:cTn id="68" dur="1000" fill="hold"/>
                                        <p:tgtEl>
                                          <p:spTgt spid="4"/>
                                        </p:tgtEl>
                                        <p:attrNameLst>
                                          <p:attrName>ppt_x</p:attrName>
                                        </p:attrNameLst>
                                      </p:cBhvr>
                                      <p:tavLst>
                                        <p:tav tm="0">
                                          <p:val>
                                            <p:strVal val="#ppt_x"/>
                                          </p:val>
                                        </p:tav>
                                        <p:tav tm="100000">
                                          <p:val>
                                            <p:strVal val="#ppt_x"/>
                                          </p:val>
                                        </p:tav>
                                      </p:tavLst>
                                    </p:anim>
                                    <p:anim calcmode="lin" valueType="num">
                                      <p:cBhvr>
                                        <p:cTn id="6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dissolve">
                                      <p:cBhvr>
                                        <p:cTn id="74" dur="500"/>
                                        <p:tgtEl>
                                          <p:spTgt spid="10"/>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fade">
                                      <p:cBhvr>
                                        <p:cTn id="79" dur="1000"/>
                                        <p:tgtEl>
                                          <p:spTgt spid="9"/>
                                        </p:tgtEl>
                                      </p:cBhvr>
                                    </p:animEffect>
                                    <p:anim calcmode="lin" valueType="num">
                                      <p:cBhvr>
                                        <p:cTn id="80" dur="1000" fill="hold"/>
                                        <p:tgtEl>
                                          <p:spTgt spid="9"/>
                                        </p:tgtEl>
                                        <p:attrNameLst>
                                          <p:attrName>ppt_x</p:attrName>
                                        </p:attrNameLst>
                                      </p:cBhvr>
                                      <p:tavLst>
                                        <p:tav tm="0">
                                          <p:val>
                                            <p:strVal val="#ppt_x"/>
                                          </p:val>
                                        </p:tav>
                                        <p:tav tm="100000">
                                          <p:val>
                                            <p:strVal val="#ppt_x"/>
                                          </p:val>
                                        </p:tav>
                                      </p:tavLst>
                                    </p:anim>
                                    <p:anim calcmode="lin" valueType="num">
                                      <p:cBhvr>
                                        <p:cTn id="8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txBox="1"/>
          <p:nvPr/>
        </p:nvSpPr>
        <p:spPr>
          <a:xfrm>
            <a:off x="71438" y="215900"/>
            <a:ext cx="3708400" cy="1484313"/>
          </a:xfrm>
          <a:prstGeom prst="rect">
            <a:avLst/>
          </a:prstGeom>
          <a:no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例如</a:t>
            </a:r>
            <a:r>
              <a:rPr lang="zh-CN" altLang="en-US" b="1" dirty="0">
                <a:solidFill>
                  <a:schemeClr val="hlink"/>
                </a:solidFill>
                <a:latin typeface="宋体" panose="02010600030101010101" pitchFamily="2" charset="-122"/>
                <a:cs typeface="Times New Roman" panose="02020603050405020304" pitchFamily="18" charset="0"/>
              </a:rPr>
              <a:t>，</a:t>
            </a:r>
            <a:r>
              <a:rPr lang="zh-CN" altLang="en-US" b="1" dirty="0">
                <a:solidFill>
                  <a:schemeClr val="hlink"/>
                </a:solidFill>
                <a:latin typeface="Times New Roman" panose="02020603050405020304" pitchFamily="18" charset="0"/>
                <a:ea typeface="微软雅黑" pitchFamily="34" charset="-122"/>
              </a:rPr>
              <a:t>在例</a:t>
            </a:r>
            <a:r>
              <a:rPr lang="en-US" altLang="zh-CN" b="1" dirty="0">
                <a:solidFill>
                  <a:schemeClr val="hlink"/>
                </a:solidFill>
                <a:latin typeface="Times New Roman" panose="02020603050405020304" pitchFamily="18" charset="0"/>
                <a:ea typeface="微软雅黑" pitchFamily="34" charset="-122"/>
              </a:rPr>
              <a:t>4-1</a:t>
            </a:r>
            <a:r>
              <a:rPr lang="zh-CN" altLang="en-US" b="1" dirty="0">
                <a:solidFill>
                  <a:schemeClr val="hlink"/>
                </a:solidFill>
                <a:latin typeface="Times New Roman" panose="02020603050405020304" pitchFamily="18" charset="0"/>
                <a:ea typeface="微软雅黑" pitchFamily="34" charset="-122"/>
              </a:rPr>
              <a:t>的由最小元素法得到的初始解中</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13</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14</a:t>
            </a:r>
            <a:r>
              <a:rPr lang="en-US" altLang="zh-CN" b="1" i="1" baseline="-30000" dirty="0">
                <a:solidFill>
                  <a:schemeClr val="hlink"/>
                </a:solidFill>
                <a:latin typeface="Times New Roman" panose="02020603050405020304" pitchFamily="18" charset="0"/>
                <a:ea typeface="微软雅黑" pitchFamily="34" charset="-122"/>
              </a:rPr>
              <a:t> </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21</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23</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32</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34</a:t>
            </a:r>
            <a:r>
              <a:rPr lang="zh-CN" altLang="en-US" b="1" dirty="0">
                <a:solidFill>
                  <a:schemeClr val="hlink"/>
                </a:solidFill>
                <a:latin typeface="Times New Roman" panose="02020603050405020304" pitchFamily="18" charset="0"/>
                <a:ea typeface="微软雅黑" pitchFamily="34" charset="-122"/>
              </a:rPr>
              <a:t>是基变量</a:t>
            </a:r>
            <a:endParaRPr lang="zh-CN" altLang="en-US" sz="2800" dirty="0">
              <a:solidFill>
                <a:schemeClr val="hlink"/>
              </a:solidFill>
              <a:latin typeface="微软雅黑" pitchFamily="34" charset="-122"/>
              <a:ea typeface="华文楷体" panose="02010600040101010101" pitchFamily="2" charset="-122"/>
            </a:endParaRPr>
          </a:p>
        </p:txBody>
      </p:sp>
      <p:sp>
        <p:nvSpPr>
          <p:cNvPr id="3" name="Rectangle 3"/>
          <p:cNvSpPr txBox="1"/>
          <p:nvPr/>
        </p:nvSpPr>
        <p:spPr>
          <a:xfrm>
            <a:off x="0" y="2667000"/>
            <a:ext cx="9144000" cy="4191000"/>
          </a:xfrm>
          <a:prstGeom prst="rect">
            <a:avLst/>
          </a:prstGeom>
          <a:solidFill>
            <a:srgbClr val="FFCCFF"/>
          </a:solidFill>
          <a:ln w="9525">
            <a:noFill/>
          </a:ln>
        </p:spPr>
        <p:txBody>
          <a:bodyPr/>
          <a:lstStyle/>
          <a:p>
            <a:pPr marL="273050" indent="-273050" algn="just">
              <a:lnSpc>
                <a:spcPct val="90000"/>
              </a:lnSpc>
              <a:spcBef>
                <a:spcPts val="600"/>
              </a:spcBef>
              <a:buClr>
                <a:schemeClr val="accent1"/>
              </a:buClr>
              <a:buSzPct val="70000"/>
            </a:pPr>
            <a:r>
              <a:rPr lang="zh-CN" altLang="en-US" b="1" dirty="0">
                <a:latin typeface="Times New Roman" panose="02020603050405020304" pitchFamily="18" charset="0"/>
                <a:ea typeface="微软雅黑" pitchFamily="34" charset="-122"/>
              </a:rPr>
              <a:t>基变量的检验数</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a</a:t>
            </a:r>
            <a:r>
              <a:rPr lang="en-US" altLang="zh-CN" b="1" i="1" dirty="0">
                <a:latin typeface="Times New Roman" panose="02020603050405020304" pitchFamily="18" charset="0"/>
                <a:ea typeface="微软雅黑" pitchFamily="34" charset="-122"/>
              </a:rPr>
              <a:t>      c</a:t>
            </a:r>
            <a:r>
              <a:rPr lang="en-US" altLang="zh-CN" b="1" i="1" baseline="-30000" dirty="0">
                <a:latin typeface="Times New Roman" panose="02020603050405020304" pitchFamily="18" charset="0"/>
                <a:ea typeface="微软雅黑" pitchFamily="34" charset="-122"/>
              </a:rPr>
              <a:t>a</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a</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10</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p>
          <a:p>
            <a:pPr marL="273050" indent="-273050" algn="just">
              <a:lnSpc>
                <a:spcPct val="9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从以上</a:t>
            </a:r>
            <a:r>
              <a:rPr lang="en-US" altLang="zh-CN" b="1" dirty="0">
                <a:latin typeface="Times New Roman" panose="02020603050405020304" pitchFamily="18" charset="0"/>
                <a:ea typeface="微软雅黑" pitchFamily="34" charset="-122"/>
              </a:rPr>
              <a:t>7</a:t>
            </a:r>
            <a:r>
              <a:rPr lang="zh-CN" altLang="en-US" b="1" dirty="0">
                <a:latin typeface="Times New Roman" panose="02020603050405020304" pitchFamily="18" charset="0"/>
                <a:ea typeface="微软雅黑" pitchFamily="34" charset="-122"/>
              </a:rPr>
              <a:t>个方程中</a:t>
            </a:r>
            <a:r>
              <a:rPr lang="zh-CN" altLang="en-US" b="1" dirty="0">
                <a:latin typeface="宋体" panose="02010600030101010101" pitchFamily="2" charset="-122"/>
              </a:rPr>
              <a:t>，</a:t>
            </a: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可求得</a:t>
            </a:r>
          </a:p>
          <a:p>
            <a:pPr marL="273050" indent="-273050" algn="ctr">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  </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=2,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=9,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p>
        </p:txBody>
      </p:sp>
      <p:pic>
        <p:nvPicPr>
          <p:cNvPr id="26628" name="Picture 4"/>
          <p:cNvPicPr>
            <a:picLocks noChangeAspect="1"/>
          </p:cNvPicPr>
          <p:nvPr/>
        </p:nvPicPr>
        <p:blipFill>
          <a:blip r:embed="rId2"/>
          <a:stretch>
            <a:fillRect/>
          </a:stretch>
        </p:blipFill>
        <p:spPr>
          <a:xfrm>
            <a:off x="3816350" y="0"/>
            <a:ext cx="5327650" cy="2235200"/>
          </a:xfrm>
          <a:prstGeom prst="rect">
            <a:avLst/>
          </a:prstGeom>
          <a:noFill/>
          <a:ln w="9525">
            <a:noFill/>
          </a:ln>
        </p:spPr>
      </p:pic>
      <p:pic>
        <p:nvPicPr>
          <p:cNvPr id="26629" name="Picture 5"/>
          <p:cNvPicPr>
            <a:picLocks noChangeAspect="1"/>
          </p:cNvPicPr>
          <p:nvPr/>
        </p:nvPicPr>
        <p:blipFill>
          <a:blip r:embed="rId3"/>
          <a:stretch>
            <a:fillRect/>
          </a:stretch>
        </p:blipFill>
        <p:spPr>
          <a:xfrm>
            <a:off x="4751388" y="2205038"/>
            <a:ext cx="4392612" cy="1841500"/>
          </a:xfrm>
          <a:prstGeom prst="rect">
            <a:avLst/>
          </a:prstGeom>
          <a:noFill/>
          <a:ln w="9525">
            <a:noFill/>
          </a:ln>
        </p:spPr>
      </p:pic>
      <p:sp>
        <p:nvSpPr>
          <p:cNvPr id="6" name="Rectangle 2"/>
          <p:cNvSpPr txBox="1"/>
          <p:nvPr/>
        </p:nvSpPr>
        <p:spPr>
          <a:xfrm>
            <a:off x="144463" y="1773238"/>
            <a:ext cx="3635375" cy="863600"/>
          </a:xfrm>
          <a:prstGeom prst="rect">
            <a:avLst/>
          </a:prstGeom>
          <a:noFill/>
          <a:ln w="9525">
            <a:noFill/>
          </a:ln>
        </p:spPr>
        <p:txBody>
          <a:bodyPr/>
          <a:lstStyle/>
          <a:p>
            <a:r>
              <a:rPr lang="en-US" altLang="zh-CN" b="1" i="1" dirty="0">
                <a:solidFill>
                  <a:schemeClr val="hlink"/>
                </a:solidFill>
                <a:latin typeface="Times New Roman" panose="02020603050405020304" pitchFamily="18" charset="0"/>
                <a:ea typeface="微软雅黑" pitchFamily="34" charset="-122"/>
              </a:rPr>
              <a:t>x</a:t>
            </a:r>
            <a:r>
              <a:rPr lang="en-US" altLang="zh-CN" b="1" i="1" baseline="-30000" dirty="0">
                <a:solidFill>
                  <a:schemeClr val="hlink"/>
                </a:solidFill>
                <a:latin typeface="Times New Roman" panose="02020603050405020304" pitchFamily="18" charset="0"/>
                <a:ea typeface="微软雅黑" pitchFamily="34" charset="-122"/>
              </a:rPr>
              <a:t>a</a:t>
            </a:r>
            <a:r>
              <a:rPr lang="zh-CN" altLang="en-US" b="1" dirty="0">
                <a:solidFill>
                  <a:schemeClr val="hlink"/>
                </a:solidFill>
                <a:latin typeface="Times New Roman" panose="02020603050405020304" pitchFamily="18" charset="0"/>
                <a:ea typeface="微软雅黑" pitchFamily="34" charset="-122"/>
              </a:rPr>
              <a:t>为人工变量</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c</a:t>
            </a:r>
            <a:r>
              <a:rPr lang="en-US" altLang="zh-CN" b="1" i="1" baseline="-25000" dirty="0">
                <a:solidFill>
                  <a:schemeClr val="hlink"/>
                </a:solidFill>
                <a:latin typeface="Times New Roman" panose="02020603050405020304" pitchFamily="18" charset="0"/>
                <a:ea typeface="微软雅黑" pitchFamily="34" charset="-122"/>
              </a:rPr>
              <a:t>a</a:t>
            </a:r>
            <a:r>
              <a:rPr lang="en-US" altLang="zh-CN" b="1" dirty="0">
                <a:solidFill>
                  <a:schemeClr val="hlink"/>
                </a:solidFill>
                <a:latin typeface="Times New Roman" panose="02020603050405020304" pitchFamily="18" charset="0"/>
                <a:ea typeface="微软雅黑" pitchFamily="34" charset="-122"/>
              </a:rPr>
              <a:t>=0</a:t>
            </a:r>
            <a:endParaRPr lang="zh-CN" altLang="en-US" sz="2800" dirty="0">
              <a:solidFill>
                <a:schemeClr val="hlink"/>
              </a:solidFill>
              <a:latin typeface="微软雅黑" pitchFamily="34" charset="-122"/>
              <a:ea typeface="华文楷体" panose="02010600040101010101" pitchFamily="2" charset="-122"/>
            </a:endParaRPr>
          </a:p>
        </p:txBody>
      </p:sp>
      <p:sp>
        <p:nvSpPr>
          <p:cNvPr id="7" name="Oval 23"/>
          <p:cNvSpPr/>
          <p:nvPr/>
        </p:nvSpPr>
        <p:spPr>
          <a:xfrm>
            <a:off x="7812088" y="2997200"/>
            <a:ext cx="433387"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8" name="Oval 23"/>
          <p:cNvSpPr/>
          <p:nvPr/>
        </p:nvSpPr>
        <p:spPr>
          <a:xfrm>
            <a:off x="8526608" y="2997200"/>
            <a:ext cx="433387" cy="30804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9" name="Oval 23"/>
          <p:cNvSpPr/>
          <p:nvPr/>
        </p:nvSpPr>
        <p:spPr>
          <a:xfrm>
            <a:off x="6480175" y="3333153"/>
            <a:ext cx="433387"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0" name="Oval 23"/>
          <p:cNvSpPr/>
          <p:nvPr/>
        </p:nvSpPr>
        <p:spPr>
          <a:xfrm>
            <a:off x="7812696" y="3316144"/>
            <a:ext cx="503720"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1" name="Oval 23"/>
          <p:cNvSpPr/>
          <p:nvPr/>
        </p:nvSpPr>
        <p:spPr>
          <a:xfrm>
            <a:off x="7091363" y="3688556"/>
            <a:ext cx="433388"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2" name="Oval 23"/>
          <p:cNvSpPr/>
          <p:nvPr/>
        </p:nvSpPr>
        <p:spPr>
          <a:xfrm>
            <a:off x="8470106" y="3679104"/>
            <a:ext cx="433387" cy="29837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 name="灯片编号占位符 1">
            <a:extLst>
              <a:ext uri="{FF2B5EF4-FFF2-40B4-BE49-F238E27FC236}">
                <a16:creationId xmlns:a16="http://schemas.microsoft.com/office/drawing/2014/main" id="{0F50C497-6219-492B-AD5C-4EF71E4F0360}"/>
              </a:ext>
            </a:extLst>
          </p:cNvPr>
          <p:cNvSpPr>
            <a:spLocks noGrp="1"/>
          </p:cNvSpPr>
          <p:nvPr>
            <p:ph type="sldNum" sz="quarter" idx="12"/>
          </p:nvPr>
        </p:nvSpPr>
        <p:spPr/>
        <p:txBody>
          <a:bodyPr/>
          <a:lstStyle/>
          <a:p>
            <a:pPr>
              <a:defRPr/>
            </a:pPr>
            <a:fld id="{2AE1B59C-883C-4848-BC85-9A12DF2590B2}" type="slidenum">
              <a:rPr lang="en-US" altLang="zh-CN" smtClean="0"/>
              <a:t>36</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anim calcmode="lin" valueType="num">
                                      <p:cBhvr>
                                        <p:cTn id="3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linds(horizontal)">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blinds(horizontal)">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animEffect transition="in" filter="fade">
                                      <p:cBhvr>
                                        <p:cTn id="53" dur="1000"/>
                                        <p:tgtEl>
                                          <p:spTgt spid="3">
                                            <p:txEl>
                                              <p:pRg st="2" end="2"/>
                                            </p:txEl>
                                          </p:spTgt>
                                        </p:tgtEl>
                                      </p:cBhvr>
                                    </p:animEffect>
                                    <p:anim calcmode="lin" valueType="num">
                                      <p:cBhvr>
                                        <p:cTn id="5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linds(horizontal)">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animEffect transition="in" filter="fade">
                                      <p:cBhvr>
                                        <p:cTn id="65" dur="1000"/>
                                        <p:tgtEl>
                                          <p:spTgt spid="3">
                                            <p:txEl>
                                              <p:pRg st="5" end="5"/>
                                            </p:txEl>
                                          </p:spTgt>
                                        </p:tgtEl>
                                      </p:cBhvr>
                                    </p:animEffect>
                                    <p:anim calcmode="lin" valueType="num">
                                      <p:cBhvr>
                                        <p:cTn id="6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6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blinds(horizontal)">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3" end="3"/>
                                            </p:txEl>
                                          </p:spTgt>
                                        </p:tgtEl>
                                        <p:attrNameLst>
                                          <p:attrName>style.visibility</p:attrName>
                                        </p:attrNameLst>
                                      </p:cBhvr>
                                      <p:to>
                                        <p:strVal val="visible"/>
                                      </p:to>
                                    </p:set>
                                    <p:animEffect transition="in" filter="fade">
                                      <p:cBhvr>
                                        <p:cTn id="77" dur="1000"/>
                                        <p:tgtEl>
                                          <p:spTgt spid="3">
                                            <p:txEl>
                                              <p:pRg st="3" end="3"/>
                                            </p:txEl>
                                          </p:spTgt>
                                        </p:tgtEl>
                                      </p:cBhvr>
                                    </p:animEffect>
                                    <p:anim calcmode="lin" valueType="num">
                                      <p:cBhvr>
                                        <p:cTn id="7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blinds(horizontal)">
                                      <p:cBhvr>
                                        <p:cTn id="84" dur="5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3">
                                            <p:txEl>
                                              <p:pRg st="1" end="1"/>
                                            </p:txEl>
                                          </p:spTgt>
                                        </p:tgtEl>
                                        <p:attrNameLst>
                                          <p:attrName>style.visibility</p:attrName>
                                        </p:attrNameLst>
                                      </p:cBhvr>
                                      <p:to>
                                        <p:strVal val="visible"/>
                                      </p:to>
                                    </p:set>
                                    <p:animEffect transition="in" filter="fade">
                                      <p:cBhvr>
                                        <p:cTn id="89" dur="1000"/>
                                        <p:tgtEl>
                                          <p:spTgt spid="3">
                                            <p:txEl>
                                              <p:pRg st="1" end="1"/>
                                            </p:txEl>
                                          </p:spTgt>
                                        </p:tgtEl>
                                      </p:cBhvr>
                                    </p:animEffect>
                                    <p:anim calcmode="lin" valueType="num">
                                      <p:cBhvr>
                                        <p:cTn id="9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3">
                                            <p:txEl>
                                              <p:pRg st="8" end="8"/>
                                            </p:txEl>
                                          </p:spTgt>
                                        </p:tgtEl>
                                        <p:attrNameLst>
                                          <p:attrName>style.visibility</p:attrName>
                                        </p:attrNameLst>
                                      </p:cBhvr>
                                      <p:to>
                                        <p:strVal val="visible"/>
                                      </p:to>
                                    </p:set>
                                    <p:animEffect transition="in" filter="fade">
                                      <p:cBhvr>
                                        <p:cTn id="96" dur="1000"/>
                                        <p:tgtEl>
                                          <p:spTgt spid="3">
                                            <p:txEl>
                                              <p:pRg st="8" end="8"/>
                                            </p:txEl>
                                          </p:spTgt>
                                        </p:tgtEl>
                                      </p:cBhvr>
                                    </p:animEffect>
                                    <p:anim calcmode="lin" valueType="num">
                                      <p:cBhvr>
                                        <p:cTn id="9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nodeType="clickEffect">
                                  <p:stCondLst>
                                    <p:cond delay="0"/>
                                  </p:stCondLst>
                                  <p:childTnLst>
                                    <p:set>
                                      <p:cBhvr>
                                        <p:cTn id="102" dur="1" fill="hold">
                                          <p:stCondLst>
                                            <p:cond delay="0"/>
                                          </p:stCondLst>
                                        </p:cTn>
                                        <p:tgtEl>
                                          <p:spTgt spid="3">
                                            <p:txEl>
                                              <p:pRg st="9" end="9"/>
                                            </p:txEl>
                                          </p:spTgt>
                                        </p:tgtEl>
                                        <p:attrNameLst>
                                          <p:attrName>style.visibility</p:attrName>
                                        </p:attrNameLst>
                                      </p:cBhvr>
                                      <p:to>
                                        <p:strVal val="visible"/>
                                      </p:to>
                                    </p:set>
                                    <p:animEffect transition="in" filter="fade">
                                      <p:cBhvr>
                                        <p:cTn id="103" dur="1000"/>
                                        <p:tgtEl>
                                          <p:spTgt spid="3">
                                            <p:txEl>
                                              <p:pRg st="9" end="9"/>
                                            </p:txEl>
                                          </p:spTgt>
                                        </p:tgtEl>
                                      </p:cBhvr>
                                    </p:animEffect>
                                    <p:anim calcmode="lin" valueType="num">
                                      <p:cBhvr>
                                        <p:cTn id="10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0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P spid="11"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02901" y="6309320"/>
            <a:ext cx="1439863"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4-18</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5" name="TextBox 3"/>
          <p:cNvSpPr txBox="1"/>
          <p:nvPr/>
        </p:nvSpPr>
        <p:spPr>
          <a:xfrm>
            <a:off x="6659563" y="4221163"/>
            <a:ext cx="1439862" cy="457200"/>
          </a:xfrm>
          <a:prstGeom prst="rect">
            <a:avLst/>
          </a:prstGeom>
          <a:solidFill>
            <a:srgbClr val="FFCCFF"/>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4-17</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6" name="TextBox 3"/>
          <p:cNvSpPr txBox="1"/>
          <p:nvPr/>
        </p:nvSpPr>
        <p:spPr>
          <a:xfrm>
            <a:off x="1619250" y="4149725"/>
            <a:ext cx="1296988" cy="461665"/>
          </a:xfrm>
          <a:prstGeom prst="rect">
            <a:avLst/>
          </a:prstGeom>
          <a:solidFill>
            <a:srgbClr val="B3F1F7"/>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4-10</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27653" name="Rectangle 2"/>
          <p:cNvSpPr txBox="1"/>
          <p:nvPr/>
        </p:nvSpPr>
        <p:spPr>
          <a:xfrm>
            <a:off x="0" y="0"/>
            <a:ext cx="9144000" cy="476250"/>
          </a:xfrm>
          <a:prstGeom prst="rect">
            <a:avLst/>
          </a:prstGeom>
          <a:noFill/>
          <a:ln w="9525">
            <a:noFill/>
          </a:ln>
        </p:spPr>
        <p:txBody>
          <a:bodyPr/>
          <a:lstStyle/>
          <a:p>
            <a:r>
              <a:rPr lang="zh-CN" altLang="en-US" b="1" dirty="0">
                <a:latin typeface="微软雅黑" pitchFamily="34" charset="-122"/>
                <a:ea typeface="微软雅黑" pitchFamily="34" charset="-122"/>
              </a:rPr>
              <a:t>非基变量的检验数</a:t>
            </a:r>
            <a:r>
              <a:rPr lang="zh-CN" altLang="en-US" sz="2800" dirty="0">
                <a:latin typeface="Century Schoolbook" pitchFamily="18" charset="0"/>
                <a:ea typeface="华文楷体" panose="02010600040101010101" pitchFamily="2" charset="-122"/>
              </a:rPr>
              <a:t> </a:t>
            </a:r>
          </a:p>
        </p:txBody>
      </p:sp>
      <p:graphicFrame>
        <p:nvGraphicFramePr>
          <p:cNvPr id="3" name="Object 1"/>
          <p:cNvGraphicFramePr>
            <a:graphicFrameLocks noChangeAspect="1"/>
          </p:cNvGraphicFramePr>
          <p:nvPr/>
        </p:nvGraphicFramePr>
        <p:xfrm>
          <a:off x="2214563" y="404813"/>
          <a:ext cx="3778250" cy="554037"/>
        </p:xfrm>
        <a:graphic>
          <a:graphicData uri="http://schemas.openxmlformats.org/presentationml/2006/ole">
            <mc:AlternateContent xmlns:mc="http://schemas.openxmlformats.org/markup-compatibility/2006">
              <mc:Choice xmlns:v="urn:schemas-microsoft-com:vml" Requires="v">
                <p:oleObj spid="_x0000_s15384" name="Equation" r:id="rId3" imgW="1651000" imgH="241300" progId="Equation.DSMT4">
                  <p:embed/>
                </p:oleObj>
              </mc:Choice>
              <mc:Fallback>
                <p:oleObj name="Equation" r:id="rId3" imgW="1651000" imgH="241300" progId="Equation.DSMT4">
                  <p:embed/>
                  <p:pic>
                    <p:nvPicPr>
                      <p:cNvPr id="3" name="Object 1"/>
                      <p:cNvPicPr/>
                      <p:nvPr/>
                    </p:nvPicPr>
                    <p:blipFill>
                      <a:blip r:embed="rId4"/>
                      <a:stretch>
                        <a:fillRect/>
                      </a:stretch>
                    </p:blipFill>
                    <p:spPr>
                      <a:xfrm>
                        <a:off x="2214563" y="404813"/>
                        <a:ext cx="3778250" cy="554037"/>
                      </a:xfrm>
                      <a:prstGeom prst="rect">
                        <a:avLst/>
                      </a:prstGeom>
                      <a:noFill/>
                      <a:ln w="38100">
                        <a:noFill/>
                        <a:miter/>
                      </a:ln>
                    </p:spPr>
                  </p:pic>
                </p:oleObj>
              </mc:Fallback>
            </mc:AlternateContent>
          </a:graphicData>
        </a:graphic>
      </p:graphicFrame>
      <p:sp>
        <p:nvSpPr>
          <p:cNvPr id="7" name="Rectangle 5"/>
          <p:cNvSpPr/>
          <p:nvPr/>
        </p:nvSpPr>
        <p:spPr>
          <a:xfrm>
            <a:off x="0" y="981075"/>
            <a:ext cx="9144000" cy="954088"/>
          </a:xfrm>
          <a:prstGeom prst="rect">
            <a:avLst/>
          </a:prstGeom>
          <a:solidFill>
            <a:srgbClr val="FFCCFF"/>
          </a:solid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可以从已知的</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zh-CN" altLang="en-US" b="1" dirty="0">
                <a:latin typeface="Times New Roman" panose="02020603050405020304" pitchFamily="18" charset="0"/>
                <a:ea typeface="微软雅黑" pitchFamily="34" charset="-122"/>
              </a:rPr>
              <a:t>值中求得。这些计算可在表格中进行</a:t>
            </a:r>
            <a:endParaRPr lang="en-US" altLang="zh-CN" b="1" dirty="0">
              <a:latin typeface="Times New Roman" panose="02020603050405020304" pitchFamily="18" charset="0"/>
              <a:ea typeface="微软雅黑" pitchFamily="34" charset="-122"/>
            </a:endParaRPr>
          </a:p>
          <a:p>
            <a:pPr eaLnBrk="1" hangingPunct="1"/>
            <a:endParaRPr lang="zh-CN" altLang="en-US" sz="3200" dirty="0">
              <a:latin typeface="Times New Roman" panose="02020603050405020304" pitchFamily="18" charset="0"/>
              <a:ea typeface="华文楷体" panose="02010600040101010101" pitchFamily="2" charset="-122"/>
            </a:endParaRPr>
          </a:p>
        </p:txBody>
      </p:sp>
      <p:pic>
        <p:nvPicPr>
          <p:cNvPr id="354309" name="Picture 5"/>
          <p:cNvPicPr>
            <a:picLocks noChangeAspect="1"/>
          </p:cNvPicPr>
          <p:nvPr/>
        </p:nvPicPr>
        <p:blipFill>
          <a:blip r:embed="rId5"/>
          <a:stretch>
            <a:fillRect/>
          </a:stretch>
        </p:blipFill>
        <p:spPr>
          <a:xfrm>
            <a:off x="4427538" y="2276475"/>
            <a:ext cx="4716462" cy="1976438"/>
          </a:xfrm>
          <a:prstGeom prst="rect">
            <a:avLst/>
          </a:prstGeom>
          <a:noFill/>
          <a:ln w="9525">
            <a:noFill/>
          </a:ln>
        </p:spPr>
      </p:pic>
      <p:sp>
        <p:nvSpPr>
          <p:cNvPr id="8" name="Rectangle 2"/>
          <p:cNvSpPr txBox="1"/>
          <p:nvPr/>
        </p:nvSpPr>
        <p:spPr>
          <a:xfrm>
            <a:off x="0" y="1484313"/>
            <a:ext cx="9144000" cy="792162"/>
          </a:xfrm>
          <a:prstGeom prst="rect">
            <a:avLst/>
          </a:prstGeom>
          <a:solidFill>
            <a:srgbClr val="B3F1F7"/>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第一步</a:t>
            </a:r>
            <a:r>
              <a:rPr lang="zh-CN" altLang="en-US" b="1" dirty="0">
                <a:latin typeface="Times New Roman" panose="02020603050405020304" pitchFamily="18" charset="0"/>
                <a:ea typeface="微软雅黑" pitchFamily="34" charset="-122"/>
              </a:rPr>
              <a:t>：按最小元素法给出表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的初始解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然后做表</a:t>
            </a:r>
            <a:r>
              <a:rPr lang="en-US" altLang="zh-CN" b="1" dirty="0">
                <a:latin typeface="Times New Roman" panose="02020603050405020304" pitchFamily="18" charset="0"/>
                <a:ea typeface="微软雅黑" pitchFamily="34" charset="-122"/>
              </a:rPr>
              <a:t>4-17</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即在对应表</a:t>
            </a:r>
            <a:r>
              <a:rPr lang="en-US" altLang="zh-CN" b="1" dirty="0">
                <a:latin typeface="Times New Roman" panose="02020603050405020304" pitchFamily="18" charset="0"/>
                <a:ea typeface="微软雅黑" pitchFamily="34" charset="-122"/>
              </a:rPr>
              <a:t>4-10</a:t>
            </a:r>
            <a:r>
              <a:rPr lang="zh-CN" altLang="en-US" b="1" dirty="0">
                <a:latin typeface="Times New Roman" panose="02020603050405020304" pitchFamily="18" charset="0"/>
                <a:ea typeface="微软雅黑" pitchFamily="34" charset="-122"/>
              </a:rPr>
              <a:t>的数字格处填入单位运价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4-17</a:t>
            </a:r>
            <a:endParaRPr lang="zh-CN" altLang="en-US" b="1" dirty="0">
              <a:solidFill>
                <a:schemeClr val="tx2"/>
              </a:solidFill>
              <a:latin typeface="Times New Roman" panose="02020603050405020304" pitchFamily="18" charset="0"/>
              <a:ea typeface="微软雅黑" pitchFamily="34" charset="-122"/>
            </a:endParaRPr>
          </a:p>
        </p:txBody>
      </p:sp>
      <p:pic>
        <p:nvPicPr>
          <p:cNvPr id="354311" name="Picture 7"/>
          <p:cNvPicPr>
            <a:picLocks noChangeAspect="1"/>
          </p:cNvPicPr>
          <p:nvPr/>
        </p:nvPicPr>
        <p:blipFill>
          <a:blip r:embed="rId6"/>
          <a:stretch>
            <a:fillRect/>
          </a:stretch>
        </p:blipFill>
        <p:spPr>
          <a:xfrm>
            <a:off x="0" y="2276475"/>
            <a:ext cx="4427538" cy="1943100"/>
          </a:xfrm>
          <a:prstGeom prst="rect">
            <a:avLst/>
          </a:prstGeom>
          <a:noFill/>
          <a:ln w="9525">
            <a:noFill/>
          </a:ln>
        </p:spPr>
      </p:pic>
      <p:pic>
        <p:nvPicPr>
          <p:cNvPr id="354314" name="Picture 10"/>
          <p:cNvPicPr>
            <a:picLocks noChangeAspect="1"/>
          </p:cNvPicPr>
          <p:nvPr/>
        </p:nvPicPr>
        <p:blipFill>
          <a:blip r:embed="rId7"/>
          <a:stretch>
            <a:fillRect/>
          </a:stretch>
        </p:blipFill>
        <p:spPr>
          <a:xfrm>
            <a:off x="4140200" y="4724400"/>
            <a:ext cx="5003800" cy="2090738"/>
          </a:xfrm>
          <a:prstGeom prst="rect">
            <a:avLst/>
          </a:prstGeom>
          <a:noFill/>
          <a:ln w="9525">
            <a:noFill/>
          </a:ln>
        </p:spPr>
      </p:pic>
      <p:sp>
        <p:nvSpPr>
          <p:cNvPr id="9" name="Rectangle 2"/>
          <p:cNvSpPr txBox="1"/>
          <p:nvPr/>
        </p:nvSpPr>
        <p:spPr>
          <a:xfrm>
            <a:off x="0" y="4581525"/>
            <a:ext cx="4067175" cy="1368425"/>
          </a:xfrm>
          <a:prstGeom prst="rect">
            <a:avLst/>
          </a:prstGeom>
          <a:solidFill>
            <a:srgbClr val="FFFF99"/>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4-17</a:t>
            </a:r>
            <a:r>
              <a:rPr lang="zh-CN" altLang="en-US" b="1" dirty="0">
                <a:latin typeface="Times New Roman" panose="02020603050405020304" pitchFamily="18" charset="0"/>
                <a:ea typeface="微软雅黑" pitchFamily="34" charset="-122"/>
              </a:rPr>
              <a:t>上增加一行一列</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在列中填入</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 </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在行中填入</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 </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得表</a:t>
            </a:r>
            <a:r>
              <a:rPr lang="en-US" altLang="zh-CN" b="1" dirty="0">
                <a:latin typeface="Times New Roman" panose="02020603050405020304" pitchFamily="18" charset="0"/>
                <a:ea typeface="微软雅黑" pitchFamily="34" charset="-122"/>
              </a:rPr>
              <a:t>4-18</a:t>
            </a:r>
          </a:p>
          <a:p>
            <a:endParaRPr lang="zh-CN" altLang="en-US" b="1" dirty="0">
              <a:latin typeface="Times New Roman" panose="02020603050405020304" pitchFamily="18" charset="0"/>
              <a:ea typeface="微软雅黑" pitchFamily="34" charset="-122"/>
            </a:endParaRPr>
          </a:p>
        </p:txBody>
      </p:sp>
      <p:pic>
        <p:nvPicPr>
          <p:cNvPr id="354317" name="Picture 13"/>
          <p:cNvPicPr>
            <a:picLocks noChangeAspect="1"/>
          </p:cNvPicPr>
          <p:nvPr/>
        </p:nvPicPr>
        <p:blipFill>
          <a:blip r:embed="rId8"/>
          <a:stretch>
            <a:fillRect/>
          </a:stretch>
        </p:blipFill>
        <p:spPr>
          <a:xfrm>
            <a:off x="4751388" y="4724400"/>
            <a:ext cx="4392612" cy="1841500"/>
          </a:xfrm>
          <a:prstGeom prst="rect">
            <a:avLst/>
          </a:prstGeom>
          <a:noFill/>
          <a:ln w="9525">
            <a:noFill/>
          </a:ln>
        </p:spPr>
      </p:pic>
      <p:sp>
        <p:nvSpPr>
          <p:cNvPr id="14" name="矩形 13"/>
          <p:cNvSpPr/>
          <p:nvPr/>
        </p:nvSpPr>
        <p:spPr>
          <a:xfrm>
            <a:off x="-1116012" y="5949950"/>
            <a:ext cx="5545137" cy="833438"/>
          </a:xfrm>
          <a:prstGeom prst="rect">
            <a:avLst/>
          </a:prstGeom>
          <a:noFill/>
          <a:ln w="9525">
            <a:noFill/>
          </a:ln>
        </p:spPr>
        <p:txBody>
          <a:bodyPr>
            <a:spAutoFit/>
          </a:bodyPr>
          <a:lstStyle/>
          <a:p>
            <a:pPr marL="273050" indent="-273050" algn="ctr">
              <a:lnSpc>
                <a:spcPct val="90000"/>
              </a:lnSpc>
              <a:spcBef>
                <a:spcPts val="600"/>
              </a:spcBef>
              <a:buClr>
                <a:schemeClr val="accent1"/>
              </a:buClr>
              <a:buSzPct val="70000"/>
            </a:pP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 </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a:t>
            </a:r>
          </a:p>
          <a:p>
            <a:pPr marL="273050" indent="-273050" algn="ctr">
              <a:lnSpc>
                <a:spcPct val="90000"/>
              </a:lnSpc>
              <a:spcBef>
                <a:spcPts val="600"/>
              </a:spcBef>
              <a:buClr>
                <a:schemeClr val="accent1"/>
              </a:buClr>
              <a:buSzPct val="70000"/>
            </a:pP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=2,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=9,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p>
        </p:txBody>
      </p:sp>
      <p:sp>
        <p:nvSpPr>
          <p:cNvPr id="2" name="灯片编号占位符 1">
            <a:extLst>
              <a:ext uri="{FF2B5EF4-FFF2-40B4-BE49-F238E27FC236}">
                <a16:creationId xmlns:a16="http://schemas.microsoft.com/office/drawing/2014/main" id="{FD363248-A799-473A-92AB-C0CB9DF7F581}"/>
              </a:ext>
            </a:extLst>
          </p:cNvPr>
          <p:cNvSpPr>
            <a:spLocks noGrp="1"/>
          </p:cNvSpPr>
          <p:nvPr>
            <p:ph type="sldNum" sz="quarter" idx="12"/>
          </p:nvPr>
        </p:nvSpPr>
        <p:spPr/>
        <p:txBody>
          <a:bodyPr/>
          <a:lstStyle/>
          <a:p>
            <a:pPr>
              <a:defRPr/>
            </a:pPr>
            <a:fld id="{2AE1B59C-883C-4848-BC85-9A12DF2590B2}" type="slidenum">
              <a:rPr lang="en-US" altLang="zh-CN" smtClean="0"/>
              <a:t>37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dissolv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54311"/>
                                        </p:tgtEl>
                                        <p:attrNameLst>
                                          <p:attrName>style.visibility</p:attrName>
                                        </p:attrNameLst>
                                      </p:cBhvr>
                                      <p:to>
                                        <p:strVal val="visible"/>
                                      </p:to>
                                    </p:set>
                                    <p:animEffect transition="in" filter="blinds(horizontal)">
                                      <p:cBhvr>
                                        <p:cTn id="24" dur="500"/>
                                        <p:tgtEl>
                                          <p:spTgt spid="3543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par>
                                <p:cTn id="28" presetID="3" presetClass="entr" presetSubtype="10" fill="hold" nodeType="withEffect">
                                  <p:stCondLst>
                                    <p:cond delay="0"/>
                                  </p:stCondLst>
                                  <p:childTnLst>
                                    <p:set>
                                      <p:cBhvr>
                                        <p:cTn id="29" dur="1" fill="hold">
                                          <p:stCondLst>
                                            <p:cond delay="0"/>
                                          </p:stCondLst>
                                        </p:cTn>
                                        <p:tgtEl>
                                          <p:spTgt spid="354309"/>
                                        </p:tgtEl>
                                        <p:attrNameLst>
                                          <p:attrName>style.visibility</p:attrName>
                                        </p:attrNameLst>
                                      </p:cBhvr>
                                      <p:to>
                                        <p:strVal val="visible"/>
                                      </p:to>
                                    </p:set>
                                    <p:animEffect transition="in" filter="blinds(horizontal)">
                                      <p:cBhvr>
                                        <p:cTn id="30" dur="500"/>
                                        <p:tgtEl>
                                          <p:spTgt spid="354309"/>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linds(horizontal)">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54317"/>
                                        </p:tgtEl>
                                        <p:attrNameLst>
                                          <p:attrName>style.visibility</p:attrName>
                                        </p:attrNameLst>
                                      </p:cBhvr>
                                      <p:to>
                                        <p:strVal val="visible"/>
                                      </p:to>
                                    </p:set>
                                    <p:animEffect transition="in" filter="blinds(horizontal)">
                                      <p:cBhvr>
                                        <p:cTn id="38" dur="500"/>
                                        <p:tgtEl>
                                          <p:spTgt spid="35431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nodeType="clickEffect">
                                  <p:stCondLst>
                                    <p:cond delay="0"/>
                                  </p:stCondLst>
                                  <p:childTnLst>
                                    <p:animEffect transition="out" filter="blinds(horizontal)">
                                      <p:cBhvr>
                                        <p:cTn id="42" dur="500"/>
                                        <p:tgtEl>
                                          <p:spTgt spid="354317"/>
                                        </p:tgtEl>
                                      </p:cBhvr>
                                    </p:animEffect>
                                    <p:set>
                                      <p:cBhvr>
                                        <p:cTn id="43" dur="1" fill="hold">
                                          <p:stCondLst>
                                            <p:cond delay="499"/>
                                          </p:stCondLst>
                                        </p:cTn>
                                        <p:tgtEl>
                                          <p:spTgt spid="35431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dissolv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54314"/>
                                        </p:tgtEl>
                                        <p:attrNameLst>
                                          <p:attrName>style.visibility</p:attrName>
                                        </p:attrNameLst>
                                      </p:cBhvr>
                                      <p:to>
                                        <p:strVal val="visible"/>
                                      </p:to>
                                    </p:set>
                                    <p:animEffect transition="in" filter="blinds(horizontal)">
                                      <p:cBhvr>
                                        <p:cTn id="53" dur="500"/>
                                        <p:tgtEl>
                                          <p:spTgt spid="354314"/>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blinds(horizontal)">
                                      <p:cBhvr>
                                        <p:cTn id="56" dur="500"/>
                                        <p:tgtEl>
                                          <p:spTgt spid="4"/>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blinds(horizontal)">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animBg="1"/>
      <p:bldP spid="6" grpId="0" animBg="1"/>
      <p:bldP spid="7" grpId="0" animBg="1"/>
      <p:bldP spid="8" grpId="0" animBg="1"/>
      <p:bldP spid="9" grpId="0" animBg="1"/>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350124" y="6400800"/>
            <a:ext cx="113364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4-19</a:t>
            </a:r>
            <a:r>
              <a:rPr lang="en-US" altLang="zh-CN" b="1" dirty="0">
                <a:latin typeface="Times New Roman" panose="02020603050405020304" pitchFamily="18" charset="0"/>
                <a:ea typeface="微软雅黑" pitchFamily="34" charset="-122"/>
              </a:rPr>
              <a:t> </a:t>
            </a:r>
            <a:endParaRPr lang="zh-CN" altLang="en-US" b="1" dirty="0">
              <a:latin typeface="Verdana" panose="020B0604030504040204" pitchFamily="34" charset="0"/>
              <a:ea typeface="微软雅黑" pitchFamily="34" charset="-122"/>
            </a:endParaRPr>
          </a:p>
        </p:txBody>
      </p:sp>
      <p:pic>
        <p:nvPicPr>
          <p:cNvPr id="8" name="图片 7"/>
          <p:cNvPicPr>
            <a:picLocks noChangeAspect="1"/>
          </p:cNvPicPr>
          <p:nvPr/>
        </p:nvPicPr>
        <p:blipFill>
          <a:blip r:embed="rId2"/>
          <a:stretch>
            <a:fillRect/>
          </a:stretch>
        </p:blipFill>
        <p:spPr>
          <a:xfrm>
            <a:off x="2411730" y="4508500"/>
            <a:ext cx="6330315" cy="2340610"/>
          </a:xfrm>
          <a:prstGeom prst="rect">
            <a:avLst/>
          </a:prstGeom>
        </p:spPr>
      </p:pic>
      <p:sp>
        <p:nvSpPr>
          <p:cNvPr id="4" name="Rectangle 6"/>
          <p:cNvSpPr/>
          <p:nvPr/>
        </p:nvSpPr>
        <p:spPr>
          <a:xfrm>
            <a:off x="0" y="4581525"/>
            <a:ext cx="2411413" cy="1570038"/>
          </a:xfrm>
          <a:prstGeom prst="rect">
            <a:avLst/>
          </a:prstGeom>
          <a:solidFill>
            <a:srgbClr val="FFFF99"/>
          </a:solidFill>
          <a:ln w="9525">
            <a:noFill/>
          </a:ln>
        </p:spPr>
        <p:txBody>
          <a:bodyPr>
            <a:spAutoFit/>
          </a:bodyPr>
          <a:lstStyle/>
          <a:p>
            <a:pPr eaLnBrk="1" hangingPunct="1"/>
            <a:r>
              <a:rPr lang="zh-CN" altLang="en-US" b="1" dirty="0">
                <a:latin typeface="微软雅黑" pitchFamily="34" charset="-122"/>
                <a:ea typeface="微软雅黑" pitchFamily="34" charset="-122"/>
              </a:rPr>
              <a:t>表</a:t>
            </a:r>
            <a:r>
              <a:rPr lang="en-US" altLang="zh-CN" b="1" dirty="0">
                <a:latin typeface="Times New Roman" panose="02020603050405020304" pitchFamily="18" charset="0"/>
                <a:ea typeface="微软雅黑" pitchFamily="34" charset="-122"/>
                <a:cs typeface="Times New Roman" panose="02020603050405020304" pitchFamily="18" charset="0"/>
              </a:rPr>
              <a:t>4-19</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中还有负检验数。说明未得最优解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还可以改进</a:t>
            </a:r>
            <a:endParaRPr lang="en-US" altLang="zh-CN" b="1" dirty="0">
              <a:latin typeface="微软雅黑" pitchFamily="34" charset="-122"/>
              <a:ea typeface="微软雅黑" pitchFamily="34" charset="-122"/>
            </a:endParaRPr>
          </a:p>
        </p:txBody>
      </p:sp>
      <p:sp>
        <p:nvSpPr>
          <p:cNvPr id="3" name="TextBox 3"/>
          <p:cNvSpPr txBox="1"/>
          <p:nvPr/>
        </p:nvSpPr>
        <p:spPr>
          <a:xfrm>
            <a:off x="2989263" y="1603375"/>
            <a:ext cx="1439862"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4-18</a:t>
            </a:r>
            <a:endParaRPr lang="zh-CN" altLang="en-US" dirty="0">
              <a:latin typeface="微软雅黑" pitchFamily="34" charset="-122"/>
              <a:ea typeface="微软雅黑" pitchFamily="34" charset="-122"/>
            </a:endParaRPr>
          </a:p>
        </p:txBody>
      </p:sp>
      <p:sp>
        <p:nvSpPr>
          <p:cNvPr id="6" name="Rectangle 4"/>
          <p:cNvSpPr/>
          <p:nvPr/>
        </p:nvSpPr>
        <p:spPr>
          <a:xfrm>
            <a:off x="0" y="2060575"/>
            <a:ext cx="9324975" cy="1262063"/>
          </a:xfrm>
          <a:prstGeom prst="rect">
            <a:avLst/>
          </a:prstGeom>
          <a:solidFill>
            <a:srgbClr val="B3F1F7"/>
          </a:solid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先令</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然后按</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B</a:t>
            </a:r>
            <a:r>
              <a:rPr lang="zh-CN" altLang="en-US" b="1" dirty="0">
                <a:latin typeface="Times New Roman" panose="02020603050405020304" pitchFamily="18" charset="0"/>
                <a:ea typeface="微软雅黑" pitchFamily="34" charset="-122"/>
              </a:rPr>
              <a:t>相继地确定</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zh-CN" altLang="en-US" b="1" dirty="0">
                <a:latin typeface="Times New Roman" panose="02020603050405020304" pitchFamily="18" charset="0"/>
                <a:ea typeface="微软雅黑" pitchFamily="34" charset="-122"/>
              </a:rPr>
              <a:t>。由表</a:t>
            </a:r>
            <a:r>
              <a:rPr lang="en-US" altLang="zh-CN" b="1" dirty="0">
                <a:latin typeface="Times New Roman" panose="02020603050405020304" pitchFamily="18" charset="0"/>
                <a:ea typeface="微软雅黑" pitchFamily="34" charset="-122"/>
              </a:rPr>
              <a:t>4-18</a:t>
            </a:r>
            <a:r>
              <a:rPr lang="zh-CN" altLang="en-US" b="1" dirty="0">
                <a:latin typeface="Times New Roman" panose="02020603050405020304" pitchFamily="18" charset="0"/>
                <a:ea typeface="微软雅黑" pitchFamily="34" charset="-122"/>
              </a:rPr>
              <a:t>可见</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当</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a:t>
            </a:r>
            <a:r>
              <a:rPr lang="zh-CN" altLang="en-US" b="1" dirty="0">
                <a:latin typeface="Times New Roman" panose="02020603050405020304" pitchFamily="18" charset="0"/>
                <a:ea typeface="微软雅黑" pitchFamily="34" charset="-122"/>
              </a:rPr>
              <a:t>可得</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a:t>
            </a:r>
            <a:r>
              <a:rPr lang="zh-CN" altLang="en-US" b="1" dirty="0">
                <a:latin typeface="仿宋" pitchFamily="49" charset="-122"/>
                <a:ea typeface="仿宋" pitchFamily="49" charset="-122"/>
              </a:rPr>
              <a:t>，</a:t>
            </a:r>
            <a:endParaRPr lang="en-US" altLang="zh-CN" sz="2800" dirty="0">
              <a:latin typeface="Times New Roman" panose="02020603050405020304" pitchFamily="18" charset="0"/>
              <a:ea typeface="华文楷体" panose="02010600040101010101" pitchFamily="2" charset="-122"/>
            </a:endParaRPr>
          </a:p>
          <a:p>
            <a:pPr eaLnBrk="1" hangingPunct="1"/>
            <a:endParaRPr lang="zh-CN" altLang="en-US" sz="2800" dirty="0">
              <a:latin typeface="Times New Roman" panose="02020603050405020304" pitchFamily="18" charset="0"/>
              <a:ea typeface="华文楷体" panose="02010600040101010101" pitchFamily="2" charset="-122"/>
            </a:endParaRPr>
          </a:p>
        </p:txBody>
      </p:sp>
      <p:pic>
        <p:nvPicPr>
          <p:cNvPr id="28679" name="Picture 6"/>
          <p:cNvPicPr>
            <a:picLocks noChangeAspect="1"/>
          </p:cNvPicPr>
          <p:nvPr/>
        </p:nvPicPr>
        <p:blipFill>
          <a:blip r:embed="rId3"/>
          <a:stretch>
            <a:fillRect/>
          </a:stretch>
        </p:blipFill>
        <p:spPr>
          <a:xfrm>
            <a:off x="4140200" y="44450"/>
            <a:ext cx="5003800" cy="2090738"/>
          </a:xfrm>
          <a:prstGeom prst="rect">
            <a:avLst/>
          </a:prstGeom>
          <a:noFill/>
          <a:ln w="9525">
            <a:noFill/>
          </a:ln>
        </p:spPr>
      </p:pic>
      <p:sp>
        <p:nvSpPr>
          <p:cNvPr id="28680" name="Rectangle 2"/>
          <p:cNvSpPr txBox="1"/>
          <p:nvPr/>
        </p:nvSpPr>
        <p:spPr>
          <a:xfrm>
            <a:off x="0" y="0"/>
            <a:ext cx="4067175" cy="1152525"/>
          </a:xfrm>
          <a:prstGeom prst="rect">
            <a:avLst/>
          </a:prstGeom>
          <a:solidFill>
            <a:srgbClr val="FFFF99"/>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第二步</a:t>
            </a:r>
            <a:r>
              <a:rPr lang="zh-CN" altLang="en-US" b="1" dirty="0">
                <a:latin typeface="Times New Roman" panose="02020603050405020304" pitchFamily="18" charset="0"/>
                <a:ea typeface="微软雅黑" pitchFamily="34" charset="-122"/>
              </a:rPr>
              <a:t>：在表</a:t>
            </a:r>
            <a:r>
              <a:rPr lang="en-US" altLang="zh-CN" b="1" dirty="0">
                <a:latin typeface="Times New Roman" panose="02020603050405020304" pitchFamily="18" charset="0"/>
                <a:ea typeface="微软雅黑" pitchFamily="34" charset="-122"/>
              </a:rPr>
              <a:t>4-17</a:t>
            </a:r>
            <a:r>
              <a:rPr lang="zh-CN" altLang="en-US" b="1" dirty="0">
                <a:latin typeface="Times New Roman" panose="02020603050405020304" pitchFamily="18" charset="0"/>
                <a:ea typeface="微软雅黑" pitchFamily="34" charset="-122"/>
              </a:rPr>
              <a:t>上增加一行一列</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在列中填入</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 </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在行中填入</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en-US" altLang="zh-CN" b="1" baseline="-30000" dirty="0">
                <a:latin typeface="Times New Roman" panose="02020603050405020304" pitchFamily="18" charset="0"/>
                <a:ea typeface="微软雅黑" pitchFamily="34" charset="-122"/>
              </a:rPr>
              <a:t> </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itchFamily="34" charset="-122"/>
              </a:rPr>
              <a:t>得表</a:t>
            </a:r>
            <a:r>
              <a:rPr lang="en-US" altLang="zh-CN" b="1" dirty="0">
                <a:latin typeface="Times New Roman" panose="02020603050405020304" pitchFamily="18" charset="0"/>
                <a:ea typeface="微软雅黑" pitchFamily="34" charset="-122"/>
              </a:rPr>
              <a:t>4-18</a:t>
            </a:r>
            <a:endParaRPr lang="zh-CN" altLang="en-US" b="1" dirty="0">
              <a:latin typeface="Times New Roman" panose="02020603050405020304" pitchFamily="18" charset="0"/>
              <a:ea typeface="微软雅黑" pitchFamily="34" charset="-122"/>
            </a:endParaRPr>
          </a:p>
        </p:txBody>
      </p:sp>
      <p:sp>
        <p:nvSpPr>
          <p:cNvPr id="7" name="Rectangle 2"/>
          <p:cNvSpPr txBox="1"/>
          <p:nvPr/>
        </p:nvSpPr>
        <p:spPr>
          <a:xfrm>
            <a:off x="0" y="3357563"/>
            <a:ext cx="9144000" cy="1150937"/>
          </a:xfrm>
          <a:prstGeom prst="rect">
            <a:avLst/>
          </a:prstGeom>
          <a:solidFill>
            <a:srgbClr val="FFFF99"/>
          </a:solidFill>
          <a:ln w="9525">
            <a:noFill/>
          </a:ln>
        </p:spPr>
        <p:txBody>
          <a:bodyPr/>
          <a:lstStyle/>
          <a:p>
            <a:r>
              <a:rPr lang="zh-CN" altLang="en-US" b="1" dirty="0">
                <a:solidFill>
                  <a:srgbClr val="C00000"/>
                </a:solidFill>
                <a:latin typeface="Times New Roman" panose="02020603050405020304" pitchFamily="18" charset="0"/>
                <a:ea typeface="微软雅黑" pitchFamily="34" charset="-122"/>
              </a:rPr>
              <a:t>第三步</a:t>
            </a:r>
            <a:r>
              <a:rPr lang="zh-CN" altLang="en-US" b="1" dirty="0">
                <a:latin typeface="Times New Roman" panose="02020603050405020304" pitchFamily="18" charset="0"/>
                <a:ea typeface="微软雅黑" pitchFamily="34" charset="-122"/>
              </a:rPr>
              <a:t>：按</a:t>
            </a:r>
            <a:r>
              <a:rPr lang="en-US" altLang="zh-CN" b="1" i="1" dirty="0">
                <a:latin typeface="Times New Roman" panose="02020603050405020304" pitchFamily="18" charset="0"/>
                <a:ea typeface="微软雅黑" pitchFamily="34" charset="-122"/>
              </a:rPr>
              <a:t>σ</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i="1" baseline="-30000"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j</a:t>
            </a:r>
            <a:r>
              <a:rPr lang="en-US" altLang="zh-CN" b="1" dirty="0">
                <a:latin typeface="Times New Roman" panose="02020603050405020304" pitchFamily="18" charset="0"/>
                <a:ea typeface="微软雅黑" pitchFamily="34" charset="-122"/>
              </a:rPr>
              <a:t>), </a:t>
            </a:r>
            <a:r>
              <a:rPr lang="en-US" altLang="zh-CN" b="1" i="1" dirty="0">
                <a:latin typeface="Times New Roman" panose="02020603050405020304" pitchFamily="18" charset="0"/>
                <a:ea typeface="微软雅黑" pitchFamily="34" charset="-122"/>
              </a:rPr>
              <a:t>ij</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N</a:t>
            </a:r>
            <a:r>
              <a:rPr lang="zh-CN" altLang="en-US" b="1" dirty="0">
                <a:latin typeface="Times New Roman" panose="02020603050405020304" pitchFamily="18" charset="0"/>
                <a:ea typeface="微软雅黑" pitchFamily="34" charset="-122"/>
              </a:rPr>
              <a:t>计算所有空格的检验数。如</a:t>
            </a:r>
            <a:br>
              <a:rPr lang="zh-CN" altLang="en-US" b="1" dirty="0">
                <a:latin typeface="Times New Roman" panose="02020603050405020304" pitchFamily="18" charset="0"/>
                <a:ea typeface="微软雅黑" pitchFamily="34" charset="-122"/>
              </a:rPr>
            </a:br>
            <a:r>
              <a:rPr lang="en-US" altLang="zh-CN" b="1" i="1" dirty="0">
                <a:latin typeface="Times New Roman" panose="02020603050405020304" pitchFamily="18" charset="0"/>
                <a:ea typeface="微软雅黑" pitchFamily="34" charset="-122"/>
              </a:rPr>
              <a:t>σ</a:t>
            </a:r>
            <a:r>
              <a:rPr lang="en-US" altLang="zh-CN" b="1" baseline="-30000" dirty="0">
                <a:latin typeface="Times New Roman" panose="02020603050405020304" pitchFamily="18" charset="0"/>
                <a:ea typeface="微软雅黑" pitchFamily="34" charset="-122"/>
              </a:rPr>
              <a:t>11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baseline="-30000" dirty="0">
                <a:latin typeface="Times New Roman" panose="02020603050405020304" pitchFamily="18" charset="0"/>
                <a:ea typeface="微软雅黑" pitchFamily="34" charset="-122"/>
              </a:rPr>
              <a:t>11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)=3-(0+2)=1             </a:t>
            </a:r>
            <a:r>
              <a:rPr lang="en-US" altLang="zh-CN" b="1" i="1" dirty="0">
                <a:latin typeface="Times New Roman" panose="02020603050405020304" pitchFamily="18" charset="0"/>
                <a:ea typeface="微软雅黑" pitchFamily="34" charset="-122"/>
              </a:rPr>
              <a:t>σ</a:t>
            </a:r>
            <a:r>
              <a:rPr lang="en-US" altLang="zh-CN" b="1" baseline="-30000" dirty="0">
                <a:latin typeface="Times New Roman" panose="02020603050405020304" pitchFamily="18" charset="0"/>
                <a:ea typeface="微软雅黑" pitchFamily="34" charset="-122"/>
              </a:rPr>
              <a:t>12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c</a:t>
            </a:r>
            <a:r>
              <a:rPr lang="en-US" altLang="zh-CN" b="1" baseline="-30000" dirty="0">
                <a:latin typeface="Times New Roman" panose="02020603050405020304" pitchFamily="18" charset="0"/>
                <a:ea typeface="微软雅黑" pitchFamily="34" charset="-122"/>
              </a:rPr>
              <a:t>12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)=11-(0+9)=2 </a:t>
            </a:r>
            <a:br>
              <a:rPr lang="en-US" altLang="zh-CN" b="1" dirty="0">
                <a:latin typeface="Times New Roman" panose="02020603050405020304" pitchFamily="18" charset="0"/>
                <a:ea typeface="微软雅黑" pitchFamily="34" charset="-122"/>
              </a:rPr>
            </a:br>
            <a:r>
              <a:rPr lang="zh-CN" altLang="en-US" b="1" dirty="0">
                <a:latin typeface="Times New Roman" panose="02020603050405020304" pitchFamily="18" charset="0"/>
                <a:ea typeface="微软雅黑" pitchFamily="34" charset="-122"/>
              </a:rPr>
              <a:t>这些计算可直接在表</a:t>
            </a:r>
            <a:r>
              <a:rPr lang="en-US" altLang="zh-CN" b="1" dirty="0">
                <a:latin typeface="Times New Roman" panose="02020603050405020304" pitchFamily="18" charset="0"/>
                <a:ea typeface="微软雅黑" pitchFamily="34" charset="-122"/>
              </a:rPr>
              <a:t>4-18</a:t>
            </a:r>
            <a:r>
              <a:rPr lang="zh-CN" altLang="en-US" b="1" dirty="0">
                <a:latin typeface="Times New Roman" panose="02020603050405020304" pitchFamily="18" charset="0"/>
                <a:ea typeface="微软雅黑" pitchFamily="34" charset="-122"/>
              </a:rPr>
              <a:t>上进行。特设计计算表</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4-19</a:t>
            </a:r>
            <a:endParaRPr lang="zh-CN" altLang="en-US" b="1" dirty="0">
              <a:solidFill>
                <a:schemeClr val="tx2"/>
              </a:solidFill>
              <a:latin typeface="Times New Roman" panose="02020603050405020304" pitchFamily="18" charset="0"/>
              <a:ea typeface="微软雅黑" pitchFamily="34" charset="-122"/>
            </a:endParaRPr>
          </a:p>
        </p:txBody>
      </p:sp>
      <p:sp>
        <p:nvSpPr>
          <p:cNvPr id="356365" name="Rectangle 13"/>
          <p:cNvSpPr/>
          <p:nvPr/>
        </p:nvSpPr>
        <p:spPr>
          <a:xfrm>
            <a:off x="8459788" y="1052513"/>
            <a:ext cx="504825" cy="358775"/>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6" name="Rectangle 14"/>
          <p:cNvSpPr/>
          <p:nvPr/>
        </p:nvSpPr>
        <p:spPr>
          <a:xfrm>
            <a:off x="8532813" y="1341438"/>
            <a:ext cx="504825" cy="358775"/>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7" name="Rectangle 15"/>
          <p:cNvSpPr/>
          <p:nvPr/>
        </p:nvSpPr>
        <p:spPr>
          <a:xfrm>
            <a:off x="5867400"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8" name="Rectangle 16"/>
          <p:cNvSpPr/>
          <p:nvPr/>
        </p:nvSpPr>
        <p:spPr>
          <a:xfrm>
            <a:off x="6516688"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69" name="Rectangle 17"/>
          <p:cNvSpPr/>
          <p:nvPr/>
        </p:nvSpPr>
        <p:spPr>
          <a:xfrm>
            <a:off x="7164388"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0" name="Rectangle 18"/>
          <p:cNvSpPr/>
          <p:nvPr/>
        </p:nvSpPr>
        <p:spPr>
          <a:xfrm>
            <a:off x="7812088" y="1844675"/>
            <a:ext cx="431800" cy="215900"/>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1" name="Oval 19"/>
          <p:cNvSpPr/>
          <p:nvPr/>
        </p:nvSpPr>
        <p:spPr>
          <a:xfrm>
            <a:off x="7164388" y="765175"/>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2" name="Oval 20"/>
          <p:cNvSpPr/>
          <p:nvPr/>
        </p:nvSpPr>
        <p:spPr>
          <a:xfrm>
            <a:off x="7812088" y="765175"/>
            <a:ext cx="4318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3" name="Oval 21"/>
          <p:cNvSpPr/>
          <p:nvPr/>
        </p:nvSpPr>
        <p:spPr>
          <a:xfrm>
            <a:off x="7885113" y="1412875"/>
            <a:ext cx="431800"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4" name="Oval 22"/>
          <p:cNvSpPr/>
          <p:nvPr/>
        </p:nvSpPr>
        <p:spPr>
          <a:xfrm>
            <a:off x="7164388" y="1125538"/>
            <a:ext cx="431800"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5" name="Oval 23"/>
          <p:cNvSpPr/>
          <p:nvPr/>
        </p:nvSpPr>
        <p:spPr>
          <a:xfrm>
            <a:off x="5940425" y="1125538"/>
            <a:ext cx="431800"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6" name="Oval 24"/>
          <p:cNvSpPr/>
          <p:nvPr/>
        </p:nvSpPr>
        <p:spPr>
          <a:xfrm>
            <a:off x="6516688" y="1412875"/>
            <a:ext cx="431800" cy="287338"/>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7" name="Rectangle 25"/>
          <p:cNvSpPr/>
          <p:nvPr/>
        </p:nvSpPr>
        <p:spPr>
          <a:xfrm>
            <a:off x="3923665" y="5194300"/>
            <a:ext cx="821055" cy="28511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8" name="Rectangle 26"/>
          <p:cNvSpPr/>
          <p:nvPr/>
        </p:nvSpPr>
        <p:spPr>
          <a:xfrm>
            <a:off x="4932045" y="5194300"/>
            <a:ext cx="916305" cy="285750"/>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79" name="Rectangle 27"/>
          <p:cNvSpPr/>
          <p:nvPr/>
        </p:nvSpPr>
        <p:spPr>
          <a:xfrm>
            <a:off x="4932045" y="5663565"/>
            <a:ext cx="866140" cy="28638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80" name="Rectangle 28"/>
          <p:cNvSpPr/>
          <p:nvPr/>
        </p:nvSpPr>
        <p:spPr>
          <a:xfrm>
            <a:off x="7050405" y="5734050"/>
            <a:ext cx="955675" cy="20510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81" name="Rectangle 29"/>
          <p:cNvSpPr/>
          <p:nvPr/>
        </p:nvSpPr>
        <p:spPr>
          <a:xfrm>
            <a:off x="3901440" y="6181090"/>
            <a:ext cx="955040" cy="21653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56382" name="Rectangle 30"/>
          <p:cNvSpPr/>
          <p:nvPr/>
        </p:nvSpPr>
        <p:spPr>
          <a:xfrm>
            <a:off x="5940425" y="6180455"/>
            <a:ext cx="1079500" cy="215265"/>
          </a:xfrm>
          <a:prstGeom prst="rect">
            <a:avLst/>
          </a:prstGeom>
          <a:noFill/>
          <a:ln w="38100" cap="flat" cmpd="sng">
            <a:solidFill>
              <a:schemeClr val="hlink"/>
            </a:solidFill>
            <a:prstDash val="solid"/>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9" name="矩形 28"/>
          <p:cNvSpPr/>
          <p:nvPr/>
        </p:nvSpPr>
        <p:spPr>
          <a:xfrm>
            <a:off x="0" y="2420938"/>
            <a:ext cx="9144000" cy="461962"/>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                                                       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r>
              <a:rPr lang="zh-CN" altLang="en-US" b="1" dirty="0">
                <a:latin typeface="Times New Roman" panose="02020603050405020304" pitchFamily="18" charset="0"/>
                <a:ea typeface="微软雅黑" pitchFamily="34" charset="-122"/>
              </a:rPr>
              <a:t>可得</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r>
              <a:rPr lang="zh-CN" altLang="en-US" b="1" dirty="0">
                <a:latin typeface="仿宋" pitchFamily="49" charset="-122"/>
                <a:ea typeface="仿宋" pitchFamily="49" charset="-122"/>
              </a:rPr>
              <a:t>；</a:t>
            </a:r>
            <a:endParaRPr lang="zh-CN" altLang="en-US" dirty="0">
              <a:latin typeface="Tahoma" panose="020B0604030504040204" pitchFamily="34" charset="0"/>
              <a:ea typeface="微软雅黑" panose="020B0503020204020204" pitchFamily="34" charset="-122"/>
            </a:endParaRPr>
          </a:p>
        </p:txBody>
      </p:sp>
      <p:sp>
        <p:nvSpPr>
          <p:cNvPr id="30" name="矩形 29"/>
          <p:cNvSpPr/>
          <p:nvPr/>
        </p:nvSpPr>
        <p:spPr>
          <a:xfrm>
            <a:off x="0" y="2420938"/>
            <a:ext cx="9144000" cy="892175"/>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                                                                                              在</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r>
              <a:rPr lang="zh-CN" altLang="en-US" b="1" dirty="0">
                <a:latin typeface="Times New Roman" panose="02020603050405020304" pitchFamily="18" charset="0"/>
                <a:ea typeface="微软雅黑" pitchFamily="34" charset="-122"/>
              </a:rPr>
              <a:t>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=5</a:t>
            </a:r>
            <a:r>
              <a:rPr lang="zh-CN" altLang="en-US" b="1" dirty="0">
                <a:latin typeface="Times New Roman" panose="02020603050405020304" pitchFamily="18" charset="0"/>
                <a:ea typeface="微软雅黑" pitchFamily="34" charset="-122"/>
              </a:rPr>
              <a:t>可得</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以此类推可确定所有的</a:t>
            </a:r>
            <a:r>
              <a:rPr lang="en-US" altLang="zh-CN" b="1" i="1" dirty="0">
                <a:latin typeface="Times New Roman" panose="02020603050405020304" pitchFamily="18" charset="0"/>
                <a:ea typeface="微软雅黑" pitchFamily="34" charset="-122"/>
              </a:rPr>
              <a:t>u</a:t>
            </a:r>
            <a:r>
              <a:rPr lang="en-US" altLang="zh-CN" b="1" i="1" baseline="-30000" dirty="0">
                <a:latin typeface="Times New Roman" panose="02020603050405020304" pitchFamily="18" charset="0"/>
                <a:ea typeface="微软雅黑" pitchFamily="34" charset="-122"/>
              </a:rPr>
              <a:t>i</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v</a:t>
            </a:r>
            <a:r>
              <a:rPr lang="en-US" altLang="zh-CN" b="1" i="1" baseline="-30000" dirty="0">
                <a:latin typeface="Times New Roman" panose="02020603050405020304" pitchFamily="18" charset="0"/>
                <a:ea typeface="微软雅黑" pitchFamily="34" charset="-122"/>
              </a:rPr>
              <a:t>j</a:t>
            </a:r>
            <a:r>
              <a:rPr lang="zh-CN" altLang="en-US" b="1" dirty="0">
                <a:latin typeface="Times New Roman" panose="02020603050405020304" pitchFamily="18" charset="0"/>
                <a:ea typeface="微软雅黑" pitchFamily="34" charset="-122"/>
              </a:rPr>
              <a:t>的数值</a:t>
            </a:r>
            <a:r>
              <a:rPr lang="zh-CN" altLang="en-US" sz="2800" dirty="0">
                <a:latin typeface="Times New Roman" panose="02020603050405020304" pitchFamily="18" charset="0"/>
                <a:ea typeface="华文楷体" panose="02010600040101010101" pitchFamily="2" charset="-122"/>
              </a:rPr>
              <a:t> </a:t>
            </a:r>
            <a:endParaRPr lang="zh-CN" altLang="en-US" dirty="0">
              <a:latin typeface="Tahoma" panose="020B0604030504040204" pitchFamily="34"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DA15AE90-6284-48F2-BB19-099CAEACB123}"/>
              </a:ext>
            </a:extLst>
          </p:cNvPr>
          <p:cNvSpPr>
            <a:spLocks noGrp="1"/>
          </p:cNvSpPr>
          <p:nvPr>
            <p:ph type="sldNum" sz="quarter" idx="12"/>
          </p:nvPr>
        </p:nvSpPr>
        <p:spPr/>
        <p:txBody>
          <a:bodyPr/>
          <a:lstStyle/>
          <a:p>
            <a:pPr>
              <a:defRPr/>
            </a:pPr>
            <a:fld id="{2AE1B59C-883C-4848-BC85-9A12DF2590B2}" type="slidenum">
              <a:rPr lang="en-US" altLang="zh-CN" smtClean="0"/>
              <a:t>38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56371"/>
                                        </p:tgtEl>
                                        <p:attrNameLst>
                                          <p:attrName>style.visibility</p:attrName>
                                        </p:attrNameLst>
                                      </p:cBhvr>
                                      <p:to>
                                        <p:strVal val="visible"/>
                                      </p:to>
                                    </p:set>
                                    <p:animEffect transition="in" filter="blinds(horizontal)">
                                      <p:cBhvr>
                                        <p:cTn id="15" dur="500"/>
                                        <p:tgtEl>
                                          <p:spTgt spid="35637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356369"/>
                                        </p:tgtEl>
                                      </p:cBhvr>
                                    </p:animEffect>
                                    <p:set>
                                      <p:cBhvr>
                                        <p:cTn id="20" dur="1" fill="hold">
                                          <p:stCondLst>
                                            <p:cond delay="499"/>
                                          </p:stCondLst>
                                        </p:cTn>
                                        <p:tgtEl>
                                          <p:spTgt spid="35636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linds(horizontal)">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56372"/>
                                        </p:tgtEl>
                                        <p:attrNameLst>
                                          <p:attrName>style.visibility</p:attrName>
                                        </p:attrNameLst>
                                      </p:cBhvr>
                                      <p:to>
                                        <p:strVal val="visible"/>
                                      </p:to>
                                    </p:set>
                                    <p:animEffect transition="in" filter="blinds(horizontal)">
                                      <p:cBhvr>
                                        <p:cTn id="30" dur="500"/>
                                        <p:tgtEl>
                                          <p:spTgt spid="35637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356370"/>
                                        </p:tgtEl>
                                      </p:cBhvr>
                                    </p:animEffect>
                                    <p:set>
                                      <p:cBhvr>
                                        <p:cTn id="35" dur="1" fill="hold">
                                          <p:stCondLst>
                                            <p:cond delay="499"/>
                                          </p:stCondLst>
                                        </p:cTn>
                                        <p:tgtEl>
                                          <p:spTgt spid="35637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56373"/>
                                        </p:tgtEl>
                                        <p:attrNameLst>
                                          <p:attrName>style.visibility</p:attrName>
                                        </p:attrNameLst>
                                      </p:cBhvr>
                                      <p:to>
                                        <p:strVal val="visible"/>
                                      </p:to>
                                    </p:set>
                                    <p:animEffect transition="in" filter="blinds(horizontal)">
                                      <p:cBhvr>
                                        <p:cTn id="40" dur="500"/>
                                        <p:tgtEl>
                                          <p:spTgt spid="35637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grpId="0" nodeType="clickEffect">
                                  <p:stCondLst>
                                    <p:cond delay="0"/>
                                  </p:stCondLst>
                                  <p:childTnLst>
                                    <p:animEffect transition="out" filter="blinds(horizontal)">
                                      <p:cBhvr>
                                        <p:cTn id="44" dur="500"/>
                                        <p:tgtEl>
                                          <p:spTgt spid="356366"/>
                                        </p:tgtEl>
                                      </p:cBhvr>
                                    </p:animEffect>
                                    <p:set>
                                      <p:cBhvr>
                                        <p:cTn id="45" dur="1" fill="hold">
                                          <p:stCondLst>
                                            <p:cond delay="499"/>
                                          </p:stCondLst>
                                        </p:cTn>
                                        <p:tgtEl>
                                          <p:spTgt spid="356366"/>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56376"/>
                                        </p:tgtEl>
                                        <p:attrNameLst>
                                          <p:attrName>style.visibility</p:attrName>
                                        </p:attrNameLst>
                                      </p:cBhvr>
                                      <p:to>
                                        <p:strVal val="visible"/>
                                      </p:to>
                                    </p:set>
                                    <p:animEffect transition="in" filter="blinds(horizontal)">
                                      <p:cBhvr>
                                        <p:cTn id="50" dur="500"/>
                                        <p:tgtEl>
                                          <p:spTgt spid="35637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xit" presetSubtype="10" fill="hold" grpId="0" nodeType="clickEffect">
                                  <p:stCondLst>
                                    <p:cond delay="0"/>
                                  </p:stCondLst>
                                  <p:childTnLst>
                                    <p:animEffect transition="out" filter="blinds(horizontal)">
                                      <p:cBhvr>
                                        <p:cTn id="54" dur="500"/>
                                        <p:tgtEl>
                                          <p:spTgt spid="356368"/>
                                        </p:tgtEl>
                                      </p:cBhvr>
                                    </p:animEffect>
                                    <p:set>
                                      <p:cBhvr>
                                        <p:cTn id="55" dur="1" fill="hold">
                                          <p:stCondLst>
                                            <p:cond delay="499"/>
                                          </p:stCondLst>
                                        </p:cTn>
                                        <p:tgtEl>
                                          <p:spTgt spid="356368"/>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blinds(horizontal)">
                                      <p:cBhvr>
                                        <p:cTn id="60" dur="50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56374"/>
                                        </p:tgtEl>
                                        <p:attrNameLst>
                                          <p:attrName>style.visibility</p:attrName>
                                        </p:attrNameLst>
                                      </p:cBhvr>
                                      <p:to>
                                        <p:strVal val="visible"/>
                                      </p:to>
                                    </p:set>
                                    <p:animEffect transition="in" filter="blinds(horizontal)">
                                      <p:cBhvr>
                                        <p:cTn id="65" dur="500"/>
                                        <p:tgtEl>
                                          <p:spTgt spid="35637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xit" presetSubtype="10" fill="hold" grpId="0" nodeType="clickEffect">
                                  <p:stCondLst>
                                    <p:cond delay="0"/>
                                  </p:stCondLst>
                                  <p:childTnLst>
                                    <p:animEffect transition="out" filter="blinds(horizontal)">
                                      <p:cBhvr>
                                        <p:cTn id="69" dur="500"/>
                                        <p:tgtEl>
                                          <p:spTgt spid="356365"/>
                                        </p:tgtEl>
                                      </p:cBhvr>
                                    </p:animEffect>
                                    <p:set>
                                      <p:cBhvr>
                                        <p:cTn id="70" dur="1" fill="hold">
                                          <p:stCondLst>
                                            <p:cond delay="499"/>
                                          </p:stCondLst>
                                        </p:cTn>
                                        <p:tgtEl>
                                          <p:spTgt spid="35636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56375"/>
                                        </p:tgtEl>
                                        <p:attrNameLst>
                                          <p:attrName>style.visibility</p:attrName>
                                        </p:attrNameLst>
                                      </p:cBhvr>
                                      <p:to>
                                        <p:strVal val="visible"/>
                                      </p:to>
                                    </p:set>
                                    <p:animEffect transition="in" filter="blinds(horizontal)">
                                      <p:cBhvr>
                                        <p:cTn id="75" dur="500"/>
                                        <p:tgtEl>
                                          <p:spTgt spid="356375"/>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0" nodeType="clickEffect">
                                  <p:stCondLst>
                                    <p:cond delay="0"/>
                                  </p:stCondLst>
                                  <p:childTnLst>
                                    <p:animEffect transition="out" filter="blinds(horizontal)">
                                      <p:cBhvr>
                                        <p:cTn id="79" dur="500"/>
                                        <p:tgtEl>
                                          <p:spTgt spid="356367"/>
                                        </p:tgtEl>
                                      </p:cBhvr>
                                    </p:animEffect>
                                    <p:set>
                                      <p:cBhvr>
                                        <p:cTn id="80" dur="1" fill="hold">
                                          <p:stCondLst>
                                            <p:cond delay="499"/>
                                          </p:stCondLst>
                                        </p:cTn>
                                        <p:tgtEl>
                                          <p:spTgt spid="35636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7">
                                            <p:txEl>
                                              <p:pRg st="0" end="0"/>
                                            </p:txEl>
                                          </p:spTgt>
                                        </p:tgtEl>
                                        <p:attrNameLst>
                                          <p:attrName>style.visibility</p:attrName>
                                        </p:attrNameLst>
                                      </p:cBhvr>
                                      <p:to>
                                        <p:strVal val="visible"/>
                                      </p:to>
                                    </p:set>
                                    <p:animEffect transition="in" filter="dissolve">
                                      <p:cBhvr>
                                        <p:cTn id="85" dur="500"/>
                                        <p:tgtEl>
                                          <p:spTgt spid="7">
                                            <p:txEl>
                                              <p:pRg st="0" end="0"/>
                                            </p:txEl>
                                          </p:spTgt>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blinds(horizontal)">
                                      <p:cBhvr>
                                        <p:cTn id="88" dur="500"/>
                                        <p:tgtEl>
                                          <p:spTgt spid="5"/>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4"/>
                                        </p:tgtEl>
                                        <p:attrNameLst>
                                          <p:attrName>style.visibility</p:attrName>
                                        </p:attrNameLst>
                                      </p:cBhvr>
                                      <p:to>
                                        <p:strVal val="visible"/>
                                      </p:to>
                                    </p:set>
                                    <p:animEffect transition="in" filter="dissolve">
                                      <p:cBhvr>
                                        <p:cTn id="93" dur="500"/>
                                        <p:tgtEl>
                                          <p:spTgt spid="4"/>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356377"/>
                                        </p:tgtEl>
                                        <p:attrNameLst>
                                          <p:attrName>style.visibility</p:attrName>
                                        </p:attrNameLst>
                                      </p:cBhvr>
                                      <p:to>
                                        <p:strVal val="visible"/>
                                      </p:to>
                                    </p:set>
                                    <p:animEffect transition="in" filter="blinds(horizontal)">
                                      <p:cBhvr>
                                        <p:cTn id="98" dur="500"/>
                                        <p:tgtEl>
                                          <p:spTgt spid="356377"/>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356378"/>
                                        </p:tgtEl>
                                        <p:attrNameLst>
                                          <p:attrName>style.visibility</p:attrName>
                                        </p:attrNameLst>
                                      </p:cBhvr>
                                      <p:to>
                                        <p:strVal val="visible"/>
                                      </p:to>
                                    </p:set>
                                    <p:animEffect transition="in" filter="blinds(horizontal)">
                                      <p:cBhvr>
                                        <p:cTn id="103" dur="500"/>
                                        <p:tgtEl>
                                          <p:spTgt spid="356378"/>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356379"/>
                                        </p:tgtEl>
                                        <p:attrNameLst>
                                          <p:attrName>style.visibility</p:attrName>
                                        </p:attrNameLst>
                                      </p:cBhvr>
                                      <p:to>
                                        <p:strVal val="visible"/>
                                      </p:to>
                                    </p:set>
                                    <p:animEffect transition="in" filter="blinds(horizontal)">
                                      <p:cBhvr>
                                        <p:cTn id="108" dur="500"/>
                                        <p:tgtEl>
                                          <p:spTgt spid="356379"/>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356380"/>
                                        </p:tgtEl>
                                        <p:attrNameLst>
                                          <p:attrName>style.visibility</p:attrName>
                                        </p:attrNameLst>
                                      </p:cBhvr>
                                      <p:to>
                                        <p:strVal val="visible"/>
                                      </p:to>
                                    </p:set>
                                    <p:animEffect transition="in" filter="blinds(horizontal)">
                                      <p:cBhvr>
                                        <p:cTn id="113" dur="500"/>
                                        <p:tgtEl>
                                          <p:spTgt spid="356380"/>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356381"/>
                                        </p:tgtEl>
                                        <p:attrNameLst>
                                          <p:attrName>style.visibility</p:attrName>
                                        </p:attrNameLst>
                                      </p:cBhvr>
                                      <p:to>
                                        <p:strVal val="visible"/>
                                      </p:to>
                                    </p:set>
                                    <p:animEffect transition="in" filter="blinds(horizontal)">
                                      <p:cBhvr>
                                        <p:cTn id="118" dur="500"/>
                                        <p:tgtEl>
                                          <p:spTgt spid="356381"/>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356382"/>
                                        </p:tgtEl>
                                        <p:attrNameLst>
                                          <p:attrName>style.visibility</p:attrName>
                                        </p:attrNameLst>
                                      </p:cBhvr>
                                      <p:to>
                                        <p:strVal val="visible"/>
                                      </p:to>
                                    </p:set>
                                    <p:animEffect transition="in" filter="blinds(horizontal)">
                                      <p:cBhvr>
                                        <p:cTn id="123" dur="500"/>
                                        <p:tgtEl>
                                          <p:spTgt spid="356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 grpId="0" animBg="1"/>
      <p:bldP spid="3" grpId="0" bldLvl="0" animBg="1"/>
      <p:bldP spid="6" grpId="0" animBg="1"/>
      <p:bldP spid="356365" grpId="0" animBg="1"/>
      <p:bldP spid="356366" grpId="0" animBg="1"/>
      <p:bldP spid="356367" grpId="0" animBg="1"/>
      <p:bldP spid="356368" grpId="0" animBg="1"/>
      <p:bldP spid="356369" grpId="0" animBg="1"/>
      <p:bldP spid="356370" grpId="0" animBg="1"/>
      <p:bldP spid="356371" grpId="0" animBg="1"/>
      <p:bldP spid="356372" grpId="0" animBg="1"/>
      <p:bldP spid="356373" grpId="0" animBg="1"/>
      <p:bldP spid="356374" grpId="0" animBg="1"/>
      <p:bldP spid="356375" grpId="0" animBg="1"/>
      <p:bldP spid="356376" grpId="0" animBg="1"/>
      <p:bldP spid="356377" grpId="0" bldLvl="0" animBg="1"/>
      <p:bldP spid="356378" grpId="0" bldLvl="0" animBg="1"/>
      <p:bldP spid="356379" grpId="0" bldLvl="0" animBg="1"/>
      <p:bldP spid="356380" grpId="0" bldLvl="0" animBg="1"/>
      <p:bldP spid="356381" grpId="0" bldLvl="0" animBg="1"/>
      <p:bldP spid="356382" grpId="0" bldLvl="0" animBg="1"/>
      <p:bldP spid="29" grpId="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0018" name="Object 2"/>
          <p:cNvGraphicFramePr>
            <a:graphicFrameLocks noChangeAspect="1"/>
          </p:cNvGraphicFramePr>
          <p:nvPr/>
        </p:nvGraphicFramePr>
        <p:xfrm>
          <a:off x="1143000" y="4267200"/>
          <a:ext cx="4083050" cy="2743200"/>
        </p:xfrm>
        <a:graphic>
          <a:graphicData uri="http://schemas.openxmlformats.org/presentationml/2006/ole">
            <mc:AlternateContent xmlns:mc="http://schemas.openxmlformats.org/markup-compatibility/2006">
              <mc:Choice xmlns:v="urn:schemas-microsoft-com:vml" Requires="v">
                <p:oleObj spid="_x0000_s16470" r:id="rId3" imgW="3549650" imgH="2317115" progId="Word.Document.8">
                  <p:embed/>
                </p:oleObj>
              </mc:Choice>
              <mc:Fallback>
                <p:oleObj r:id="rId3" imgW="3549650" imgH="2317115" progId="Word.Document.8">
                  <p:embed/>
                  <p:pic>
                    <p:nvPicPr>
                      <p:cNvPr id="470018" name="Object 2"/>
                      <p:cNvPicPr/>
                      <p:nvPr/>
                    </p:nvPicPr>
                    <p:blipFill>
                      <a:blip r:embed="rId4"/>
                      <a:stretch>
                        <a:fillRect/>
                      </a:stretch>
                    </p:blipFill>
                    <p:spPr>
                      <a:xfrm>
                        <a:off x="1143000" y="4267200"/>
                        <a:ext cx="4083050" cy="2743200"/>
                      </a:xfrm>
                      <a:prstGeom prst="rect">
                        <a:avLst/>
                      </a:prstGeom>
                      <a:noFill/>
                      <a:ln w="38100">
                        <a:noFill/>
                        <a:miter/>
                      </a:ln>
                    </p:spPr>
                  </p:pic>
                </p:oleObj>
              </mc:Fallback>
            </mc:AlternateContent>
          </a:graphicData>
        </a:graphic>
      </p:graphicFrame>
      <p:sp>
        <p:nvSpPr>
          <p:cNvPr id="470019" name="Text Box 3"/>
          <p:cNvSpPr txBox="1"/>
          <p:nvPr/>
        </p:nvSpPr>
        <p:spPr>
          <a:xfrm>
            <a:off x="1295400" y="3810000"/>
            <a:ext cx="33528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位势表</a:t>
            </a:r>
          </a:p>
        </p:txBody>
      </p:sp>
      <p:sp>
        <p:nvSpPr>
          <p:cNvPr id="470020" name="Text Box 4"/>
          <p:cNvSpPr txBox="1"/>
          <p:nvPr/>
        </p:nvSpPr>
        <p:spPr>
          <a:xfrm>
            <a:off x="2362200" y="6019800"/>
            <a:ext cx="3810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1</a:t>
            </a:r>
          </a:p>
        </p:txBody>
      </p:sp>
      <p:sp>
        <p:nvSpPr>
          <p:cNvPr id="470021" name="Text Box 5"/>
          <p:cNvSpPr txBox="1"/>
          <p:nvPr/>
        </p:nvSpPr>
        <p:spPr>
          <a:xfrm>
            <a:off x="4648200" y="5334000"/>
            <a:ext cx="3810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0</a:t>
            </a:r>
          </a:p>
        </p:txBody>
      </p:sp>
      <p:sp>
        <p:nvSpPr>
          <p:cNvPr id="470022" name="Text Box 6"/>
          <p:cNvSpPr txBox="1"/>
          <p:nvPr/>
        </p:nvSpPr>
        <p:spPr>
          <a:xfrm>
            <a:off x="3429000" y="6019800"/>
            <a:ext cx="3810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2</a:t>
            </a:r>
          </a:p>
        </p:txBody>
      </p:sp>
      <p:sp>
        <p:nvSpPr>
          <p:cNvPr id="470023" name="Text Box 7"/>
          <p:cNvSpPr txBox="1"/>
          <p:nvPr/>
        </p:nvSpPr>
        <p:spPr>
          <a:xfrm>
            <a:off x="4648200" y="5029200"/>
            <a:ext cx="4572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1</a:t>
            </a:r>
          </a:p>
        </p:txBody>
      </p:sp>
      <p:sp>
        <p:nvSpPr>
          <p:cNvPr id="470024" name="Text Box 8"/>
          <p:cNvSpPr txBox="1"/>
          <p:nvPr/>
        </p:nvSpPr>
        <p:spPr>
          <a:xfrm>
            <a:off x="4038600" y="6019800"/>
            <a:ext cx="5334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9</a:t>
            </a:r>
          </a:p>
        </p:txBody>
      </p:sp>
      <p:sp>
        <p:nvSpPr>
          <p:cNvPr id="470025" name="Text Box 9"/>
          <p:cNvSpPr txBox="1"/>
          <p:nvPr/>
        </p:nvSpPr>
        <p:spPr>
          <a:xfrm>
            <a:off x="4572000" y="5638800"/>
            <a:ext cx="5334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-4</a:t>
            </a:r>
          </a:p>
        </p:txBody>
      </p:sp>
      <p:sp>
        <p:nvSpPr>
          <p:cNvPr id="470026" name="Text Box 10"/>
          <p:cNvSpPr txBox="1"/>
          <p:nvPr/>
        </p:nvSpPr>
        <p:spPr>
          <a:xfrm>
            <a:off x="2895600" y="6019800"/>
            <a:ext cx="4572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8</a:t>
            </a:r>
          </a:p>
        </p:txBody>
      </p:sp>
      <p:sp>
        <p:nvSpPr>
          <p:cNvPr id="470027" name="Text Box 11"/>
          <p:cNvSpPr txBox="1"/>
          <p:nvPr/>
        </p:nvSpPr>
        <p:spPr>
          <a:xfrm>
            <a:off x="2057400" y="5105400"/>
            <a:ext cx="9144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sp>
        <p:nvSpPr>
          <p:cNvPr id="470028" name="Text Box 12"/>
          <p:cNvSpPr txBox="1"/>
          <p:nvPr/>
        </p:nvSpPr>
        <p:spPr>
          <a:xfrm>
            <a:off x="2743200" y="51054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9</a:t>
            </a:r>
            <a:r>
              <a:rPr lang="zh-CN" altLang="en-US" sz="1800" dirty="0">
                <a:solidFill>
                  <a:schemeClr val="bg1"/>
                </a:solidFill>
                <a:latin typeface="Times New Roman" panose="02020603050405020304" pitchFamily="18" charset="0"/>
                <a:ea typeface="微软雅黑" pitchFamily="34" charset="-122"/>
              </a:rPr>
              <a:t>）</a:t>
            </a:r>
          </a:p>
        </p:txBody>
      </p:sp>
      <p:sp>
        <p:nvSpPr>
          <p:cNvPr id="470029" name="Text Box 13"/>
          <p:cNvSpPr txBox="1"/>
          <p:nvPr/>
        </p:nvSpPr>
        <p:spPr>
          <a:xfrm>
            <a:off x="2743200" y="5334000"/>
            <a:ext cx="7620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8</a:t>
            </a:r>
            <a:r>
              <a:rPr lang="zh-CN" altLang="en-US" sz="1800" dirty="0">
                <a:solidFill>
                  <a:schemeClr val="bg1"/>
                </a:solidFill>
                <a:latin typeface="Times New Roman" panose="02020603050405020304" pitchFamily="18" charset="0"/>
                <a:ea typeface="微软雅黑" pitchFamily="34" charset="-122"/>
              </a:rPr>
              <a:t>）</a:t>
            </a:r>
          </a:p>
        </p:txBody>
      </p:sp>
      <p:sp>
        <p:nvSpPr>
          <p:cNvPr id="470030" name="Text Box 14"/>
          <p:cNvSpPr txBox="1"/>
          <p:nvPr/>
        </p:nvSpPr>
        <p:spPr>
          <a:xfrm>
            <a:off x="3886200" y="5334000"/>
            <a:ext cx="7620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9</a:t>
            </a:r>
            <a:r>
              <a:rPr lang="zh-CN" altLang="en-US" sz="1800" dirty="0">
                <a:solidFill>
                  <a:schemeClr val="bg1"/>
                </a:solidFill>
                <a:latin typeface="Times New Roman" panose="02020603050405020304" pitchFamily="18" charset="0"/>
                <a:ea typeface="微软雅黑" pitchFamily="34" charset="-122"/>
              </a:rPr>
              <a:t>）</a:t>
            </a:r>
          </a:p>
        </p:txBody>
      </p:sp>
      <p:sp>
        <p:nvSpPr>
          <p:cNvPr id="470031" name="Text Box 15"/>
          <p:cNvSpPr txBox="1"/>
          <p:nvPr/>
        </p:nvSpPr>
        <p:spPr>
          <a:xfrm>
            <a:off x="2057400" y="56388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-3</a:t>
            </a:r>
            <a:r>
              <a:rPr lang="zh-CN" altLang="en-US" sz="1800" dirty="0">
                <a:solidFill>
                  <a:schemeClr val="bg1"/>
                </a:solidFill>
                <a:latin typeface="Times New Roman" panose="02020603050405020304" pitchFamily="18" charset="0"/>
                <a:ea typeface="微软雅黑" pitchFamily="34" charset="-122"/>
              </a:rPr>
              <a:t>）</a:t>
            </a:r>
          </a:p>
        </p:txBody>
      </p:sp>
      <p:sp>
        <p:nvSpPr>
          <p:cNvPr id="470032" name="Text Box 16"/>
          <p:cNvSpPr txBox="1"/>
          <p:nvPr/>
        </p:nvSpPr>
        <p:spPr>
          <a:xfrm>
            <a:off x="3276600" y="5638800"/>
            <a:ext cx="9906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graphicFrame>
        <p:nvGraphicFramePr>
          <p:cNvPr id="470033" name="Object 17"/>
          <p:cNvGraphicFramePr>
            <a:graphicFrameLocks noChangeAspect="1"/>
          </p:cNvGraphicFramePr>
          <p:nvPr/>
        </p:nvGraphicFramePr>
        <p:xfrm>
          <a:off x="5148263" y="765175"/>
          <a:ext cx="3252787" cy="2128838"/>
        </p:xfrm>
        <a:graphic>
          <a:graphicData uri="http://schemas.openxmlformats.org/presentationml/2006/ole">
            <mc:AlternateContent xmlns:mc="http://schemas.openxmlformats.org/markup-compatibility/2006">
              <mc:Choice xmlns:v="urn:schemas-microsoft-com:vml" Requires="v">
                <p:oleObj spid="_x0000_s16471" r:id="rId5" imgW="2797175" imgH="2114550" progId="Word.Document.8">
                  <p:embed/>
                </p:oleObj>
              </mc:Choice>
              <mc:Fallback>
                <p:oleObj r:id="rId5" imgW="2797175" imgH="2114550" progId="Word.Document.8">
                  <p:embed/>
                  <p:pic>
                    <p:nvPicPr>
                      <p:cNvPr id="470033" name="Object 17"/>
                      <p:cNvPicPr/>
                      <p:nvPr/>
                    </p:nvPicPr>
                    <p:blipFill>
                      <a:blip r:embed="rId6"/>
                      <a:stretch>
                        <a:fillRect/>
                      </a:stretch>
                    </p:blipFill>
                    <p:spPr>
                      <a:xfrm>
                        <a:off x="5148263" y="765175"/>
                        <a:ext cx="3252787" cy="2128838"/>
                      </a:xfrm>
                      <a:prstGeom prst="rect">
                        <a:avLst/>
                      </a:prstGeom>
                      <a:noFill/>
                      <a:ln w="38100">
                        <a:noFill/>
                        <a:miter/>
                      </a:ln>
                    </p:spPr>
                  </p:pic>
                </p:oleObj>
              </mc:Fallback>
            </mc:AlternateContent>
          </a:graphicData>
        </a:graphic>
      </p:graphicFrame>
      <p:sp>
        <p:nvSpPr>
          <p:cNvPr id="470034" name="Text Box 18"/>
          <p:cNvSpPr txBox="1"/>
          <p:nvPr/>
        </p:nvSpPr>
        <p:spPr>
          <a:xfrm>
            <a:off x="5580063" y="3933825"/>
            <a:ext cx="28194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检验数表</a:t>
            </a:r>
          </a:p>
        </p:txBody>
      </p:sp>
      <p:graphicFrame>
        <p:nvGraphicFramePr>
          <p:cNvPr id="29715" name="Object 21"/>
          <p:cNvGraphicFramePr>
            <a:graphicFrameLocks noChangeAspect="1"/>
          </p:cNvGraphicFramePr>
          <p:nvPr/>
        </p:nvGraphicFramePr>
        <p:xfrm>
          <a:off x="1295400" y="549275"/>
          <a:ext cx="3962400" cy="2663825"/>
        </p:xfrm>
        <a:graphic>
          <a:graphicData uri="http://schemas.openxmlformats.org/presentationml/2006/ole">
            <mc:AlternateContent xmlns:mc="http://schemas.openxmlformats.org/markup-compatibility/2006">
              <mc:Choice xmlns:v="urn:schemas-microsoft-com:vml" Requires="v">
                <p:oleObj spid="_x0000_s16472" r:id="rId7" imgW="3562985" imgH="2317115" progId="Word.Document.8">
                  <p:embed/>
                </p:oleObj>
              </mc:Choice>
              <mc:Fallback>
                <p:oleObj r:id="rId7" imgW="3562985" imgH="2317115" progId="Word.Document.8">
                  <p:embed/>
                  <p:pic>
                    <p:nvPicPr>
                      <p:cNvPr id="29715" name="Object 21"/>
                      <p:cNvPicPr/>
                      <p:nvPr/>
                    </p:nvPicPr>
                    <p:blipFill>
                      <a:blip r:embed="rId8"/>
                      <a:stretch>
                        <a:fillRect/>
                      </a:stretch>
                    </p:blipFill>
                    <p:spPr>
                      <a:xfrm>
                        <a:off x="1295400" y="549275"/>
                        <a:ext cx="3962400" cy="2663825"/>
                      </a:xfrm>
                      <a:prstGeom prst="rect">
                        <a:avLst/>
                      </a:prstGeom>
                      <a:noFill/>
                      <a:ln w="38100">
                        <a:noFill/>
                        <a:miter/>
                      </a:ln>
                    </p:spPr>
                  </p:pic>
                </p:oleObj>
              </mc:Fallback>
            </mc:AlternateContent>
          </a:graphicData>
        </a:graphic>
      </p:graphicFrame>
      <p:graphicFrame>
        <p:nvGraphicFramePr>
          <p:cNvPr id="470038" name="Object 22"/>
          <p:cNvGraphicFramePr>
            <a:graphicFrameLocks noChangeAspect="1"/>
          </p:cNvGraphicFramePr>
          <p:nvPr/>
        </p:nvGraphicFramePr>
        <p:xfrm>
          <a:off x="5556250" y="4508500"/>
          <a:ext cx="3048000" cy="2019300"/>
        </p:xfrm>
        <a:graphic>
          <a:graphicData uri="http://schemas.openxmlformats.org/presentationml/2006/ole">
            <mc:AlternateContent xmlns:mc="http://schemas.openxmlformats.org/markup-compatibility/2006">
              <mc:Choice xmlns:v="urn:schemas-microsoft-com:vml" Requires="v">
                <p:oleObj spid="_x0000_s16473" r:id="rId9" imgW="2786380" imgH="2114550" progId="Word.Document.8">
                  <p:embed/>
                </p:oleObj>
              </mc:Choice>
              <mc:Fallback>
                <p:oleObj r:id="rId9" imgW="2786380" imgH="2114550" progId="Word.Document.8">
                  <p:embed/>
                  <p:pic>
                    <p:nvPicPr>
                      <p:cNvPr id="470038" name="Object 22"/>
                      <p:cNvPicPr/>
                      <p:nvPr/>
                    </p:nvPicPr>
                    <p:blipFill>
                      <a:blip r:embed="rId10"/>
                      <a:stretch>
                        <a:fillRect/>
                      </a:stretch>
                    </p:blipFill>
                    <p:spPr>
                      <a:xfrm>
                        <a:off x="5556250" y="4508500"/>
                        <a:ext cx="3048000" cy="2019300"/>
                      </a:xfrm>
                      <a:prstGeom prst="rect">
                        <a:avLst/>
                      </a:prstGeom>
                      <a:noFill/>
                      <a:ln w="38100">
                        <a:noFill/>
                        <a:miter/>
                      </a:ln>
                    </p:spPr>
                  </p:pic>
                </p:oleObj>
              </mc:Fallback>
            </mc:AlternateContent>
          </a:graphicData>
        </a:graphic>
      </p:graphicFrame>
      <p:sp>
        <p:nvSpPr>
          <p:cNvPr id="470039" name="Line 23"/>
          <p:cNvSpPr/>
          <p:nvPr/>
        </p:nvSpPr>
        <p:spPr>
          <a:xfrm flipH="1">
            <a:off x="2555875" y="1773238"/>
            <a:ext cx="3744913" cy="3529012"/>
          </a:xfrm>
          <a:prstGeom prst="line">
            <a:avLst/>
          </a:prstGeom>
          <a:ln w="57150" cap="flat" cmpd="sng">
            <a:solidFill>
              <a:schemeClr val="hlink"/>
            </a:solidFill>
            <a:prstDash val="solid"/>
            <a:headEnd type="none" w="med" len="med"/>
            <a:tailEnd type="triangle" w="med" len="med"/>
          </a:ln>
        </p:spPr>
      </p:sp>
      <p:sp>
        <p:nvSpPr>
          <p:cNvPr id="470040" name="Line 24"/>
          <p:cNvSpPr/>
          <p:nvPr/>
        </p:nvSpPr>
        <p:spPr>
          <a:xfrm>
            <a:off x="2627313" y="5300663"/>
            <a:ext cx="3960812" cy="0"/>
          </a:xfrm>
          <a:prstGeom prst="line">
            <a:avLst/>
          </a:prstGeom>
          <a:ln w="38100" cap="flat" cmpd="sng">
            <a:solidFill>
              <a:schemeClr val="hlink"/>
            </a:solidFill>
            <a:prstDash val="solid"/>
            <a:headEnd type="none" w="med" len="med"/>
            <a:tailEnd type="triangle" w="med" len="med"/>
          </a:ln>
        </p:spPr>
      </p:sp>
      <p:sp>
        <p:nvSpPr>
          <p:cNvPr id="470041" name="Line 25"/>
          <p:cNvSpPr/>
          <p:nvPr/>
        </p:nvSpPr>
        <p:spPr>
          <a:xfrm flipH="1">
            <a:off x="3276600" y="1773238"/>
            <a:ext cx="3527425" cy="3527425"/>
          </a:xfrm>
          <a:prstGeom prst="line">
            <a:avLst/>
          </a:prstGeom>
          <a:ln w="57150" cap="flat" cmpd="sng">
            <a:solidFill>
              <a:schemeClr val="hlink"/>
            </a:solidFill>
            <a:prstDash val="solid"/>
            <a:headEnd type="none" w="med" len="med"/>
            <a:tailEnd type="triangle" w="med" len="med"/>
          </a:ln>
        </p:spPr>
      </p:sp>
      <p:sp>
        <p:nvSpPr>
          <p:cNvPr id="470042" name="Line 26"/>
          <p:cNvSpPr/>
          <p:nvPr/>
        </p:nvSpPr>
        <p:spPr>
          <a:xfrm>
            <a:off x="3276600" y="5300663"/>
            <a:ext cx="3816350" cy="73025"/>
          </a:xfrm>
          <a:prstGeom prst="line">
            <a:avLst/>
          </a:prstGeom>
          <a:ln w="38100" cap="flat" cmpd="sng">
            <a:solidFill>
              <a:schemeClr val="hlink"/>
            </a:solidFill>
            <a:prstDash val="solid"/>
            <a:headEnd type="none" w="med" len="med"/>
            <a:tailEnd type="triangle" w="med" len="med"/>
          </a:ln>
        </p:spPr>
      </p:sp>
      <p:sp>
        <p:nvSpPr>
          <p:cNvPr id="470043" name="Line 27"/>
          <p:cNvSpPr/>
          <p:nvPr/>
        </p:nvSpPr>
        <p:spPr>
          <a:xfrm flipH="1">
            <a:off x="3276600" y="2060575"/>
            <a:ext cx="3527425" cy="3455988"/>
          </a:xfrm>
          <a:prstGeom prst="line">
            <a:avLst/>
          </a:prstGeom>
          <a:ln w="57150" cap="flat" cmpd="sng">
            <a:solidFill>
              <a:schemeClr val="hlink"/>
            </a:solidFill>
            <a:prstDash val="solid"/>
            <a:headEnd type="none" w="med" len="med"/>
            <a:tailEnd type="triangle" w="med" len="med"/>
          </a:ln>
        </p:spPr>
      </p:sp>
      <p:sp>
        <p:nvSpPr>
          <p:cNvPr id="470044" name="Line 28"/>
          <p:cNvSpPr/>
          <p:nvPr/>
        </p:nvSpPr>
        <p:spPr>
          <a:xfrm>
            <a:off x="3276600" y="5516563"/>
            <a:ext cx="3887788" cy="73025"/>
          </a:xfrm>
          <a:prstGeom prst="line">
            <a:avLst/>
          </a:prstGeom>
          <a:ln w="38100" cap="flat" cmpd="sng">
            <a:solidFill>
              <a:schemeClr val="hlink"/>
            </a:solidFill>
            <a:prstDash val="solid"/>
            <a:headEnd type="none" w="med" len="med"/>
            <a:tailEnd type="triangle" w="med" len="med"/>
          </a:ln>
        </p:spPr>
      </p:sp>
      <p:sp>
        <p:nvSpPr>
          <p:cNvPr id="470045" name="Line 29"/>
          <p:cNvSpPr/>
          <p:nvPr/>
        </p:nvSpPr>
        <p:spPr>
          <a:xfrm flipH="1">
            <a:off x="4427538" y="1989138"/>
            <a:ext cx="3457575" cy="3527425"/>
          </a:xfrm>
          <a:prstGeom prst="line">
            <a:avLst/>
          </a:prstGeom>
          <a:ln w="57150" cap="flat" cmpd="sng">
            <a:solidFill>
              <a:schemeClr val="hlink"/>
            </a:solidFill>
            <a:prstDash val="solid"/>
            <a:headEnd type="none" w="med" len="med"/>
            <a:tailEnd type="triangle" w="med" len="med"/>
          </a:ln>
        </p:spPr>
      </p:sp>
      <p:sp>
        <p:nvSpPr>
          <p:cNvPr id="470046" name="Line 30"/>
          <p:cNvSpPr/>
          <p:nvPr/>
        </p:nvSpPr>
        <p:spPr>
          <a:xfrm>
            <a:off x="4500563" y="5516563"/>
            <a:ext cx="3600450" cy="73025"/>
          </a:xfrm>
          <a:prstGeom prst="line">
            <a:avLst/>
          </a:prstGeom>
          <a:ln w="38100" cap="flat" cmpd="sng">
            <a:solidFill>
              <a:schemeClr val="hlink"/>
            </a:solidFill>
            <a:prstDash val="solid"/>
            <a:headEnd type="none" w="med" len="med"/>
            <a:tailEnd type="triangle" w="med" len="med"/>
          </a:ln>
        </p:spPr>
      </p:sp>
      <p:sp>
        <p:nvSpPr>
          <p:cNvPr id="470047" name="Line 31"/>
          <p:cNvSpPr/>
          <p:nvPr/>
        </p:nvSpPr>
        <p:spPr>
          <a:xfrm flipH="1">
            <a:off x="2627313" y="2420938"/>
            <a:ext cx="3673475" cy="3384550"/>
          </a:xfrm>
          <a:prstGeom prst="line">
            <a:avLst/>
          </a:prstGeom>
          <a:ln w="57150" cap="flat" cmpd="sng">
            <a:solidFill>
              <a:schemeClr val="hlink"/>
            </a:solidFill>
            <a:prstDash val="solid"/>
            <a:headEnd type="none" w="med" len="med"/>
            <a:tailEnd type="triangle" w="med" len="med"/>
          </a:ln>
        </p:spPr>
      </p:sp>
      <p:sp>
        <p:nvSpPr>
          <p:cNvPr id="470048" name="Line 32"/>
          <p:cNvSpPr/>
          <p:nvPr/>
        </p:nvSpPr>
        <p:spPr>
          <a:xfrm>
            <a:off x="2700338" y="5805488"/>
            <a:ext cx="3959225" cy="144462"/>
          </a:xfrm>
          <a:prstGeom prst="line">
            <a:avLst/>
          </a:prstGeom>
          <a:ln w="38100" cap="flat" cmpd="sng">
            <a:solidFill>
              <a:schemeClr val="hlink"/>
            </a:solidFill>
            <a:prstDash val="solid"/>
            <a:headEnd type="none" w="med" len="med"/>
            <a:tailEnd type="triangle" w="med" len="med"/>
          </a:ln>
        </p:spPr>
      </p:sp>
      <p:sp>
        <p:nvSpPr>
          <p:cNvPr id="470049" name="Line 33"/>
          <p:cNvSpPr/>
          <p:nvPr/>
        </p:nvSpPr>
        <p:spPr>
          <a:xfrm flipH="1">
            <a:off x="3851275" y="2349500"/>
            <a:ext cx="3457575" cy="3455988"/>
          </a:xfrm>
          <a:prstGeom prst="line">
            <a:avLst/>
          </a:prstGeom>
          <a:ln w="57150" cap="flat" cmpd="sng">
            <a:solidFill>
              <a:schemeClr val="hlink"/>
            </a:solidFill>
            <a:prstDash val="solid"/>
            <a:headEnd type="none" w="med" len="med"/>
            <a:tailEnd type="triangle" w="med" len="med"/>
          </a:ln>
        </p:spPr>
      </p:sp>
      <p:sp>
        <p:nvSpPr>
          <p:cNvPr id="470050" name="Line 34"/>
          <p:cNvSpPr/>
          <p:nvPr/>
        </p:nvSpPr>
        <p:spPr>
          <a:xfrm>
            <a:off x="3851275" y="5805488"/>
            <a:ext cx="3744913" cy="71437"/>
          </a:xfrm>
          <a:prstGeom prst="line">
            <a:avLst/>
          </a:prstGeom>
          <a:ln w="38100" cap="flat" cmpd="sng">
            <a:solidFill>
              <a:schemeClr val="hlink"/>
            </a:solidFill>
            <a:prstDash val="solid"/>
            <a:headEnd type="none" w="med" len="med"/>
            <a:tailEnd type="triangle" w="med" len="med"/>
          </a:ln>
        </p:spPr>
      </p:sp>
      <p:sp>
        <p:nvSpPr>
          <p:cNvPr id="2" name="灯片编号占位符 1">
            <a:extLst>
              <a:ext uri="{FF2B5EF4-FFF2-40B4-BE49-F238E27FC236}">
                <a16:creationId xmlns:a16="http://schemas.microsoft.com/office/drawing/2014/main" id="{1FE33C8C-A058-401E-AA26-B55496472DAD}"/>
              </a:ext>
            </a:extLst>
          </p:cNvPr>
          <p:cNvSpPr>
            <a:spLocks noGrp="1"/>
          </p:cNvSpPr>
          <p:nvPr>
            <p:ph type="sldNum" sz="quarter" idx="12"/>
          </p:nvPr>
        </p:nvSpPr>
        <p:spPr/>
        <p:txBody>
          <a:bodyPr/>
          <a:lstStyle/>
          <a:p>
            <a:pPr>
              <a:defRPr/>
            </a:pPr>
            <a:fld id="{2AE1B59C-883C-4848-BC85-9A12DF2590B2}" type="slidenum">
              <a:rPr lang="en-US" altLang="zh-CN" smtClean="0"/>
              <a:t>39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0033"/>
                                        </p:tgtEl>
                                        <p:attrNameLst>
                                          <p:attrName>style.visibility</p:attrName>
                                        </p:attrNameLst>
                                      </p:cBhvr>
                                      <p:to>
                                        <p:strVal val="visible"/>
                                      </p:to>
                                    </p:set>
                                    <p:anim calcmode="lin" valueType="num">
                                      <p:cBhvr additive="base">
                                        <p:cTn id="7" dur="500" fill="hold"/>
                                        <p:tgtEl>
                                          <p:spTgt spid="470033"/>
                                        </p:tgtEl>
                                        <p:attrNameLst>
                                          <p:attrName>ppt_x</p:attrName>
                                        </p:attrNameLst>
                                      </p:cBhvr>
                                      <p:tavLst>
                                        <p:tav tm="0">
                                          <p:val>
                                            <p:strVal val="0-#ppt_w/2"/>
                                          </p:val>
                                        </p:tav>
                                        <p:tav tm="100000">
                                          <p:val>
                                            <p:strVal val="#ppt_x"/>
                                          </p:val>
                                        </p:tav>
                                      </p:tavLst>
                                    </p:anim>
                                    <p:anim calcmode="lin" valueType="num">
                                      <p:cBhvr additive="base">
                                        <p:cTn id="8" dur="500" fill="hold"/>
                                        <p:tgtEl>
                                          <p:spTgt spid="4700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0019"/>
                                        </p:tgtEl>
                                        <p:attrNameLst>
                                          <p:attrName>style.visibility</p:attrName>
                                        </p:attrNameLst>
                                      </p:cBhvr>
                                      <p:to>
                                        <p:strVal val="visible"/>
                                      </p:to>
                                    </p:set>
                                    <p:anim calcmode="lin" valueType="num">
                                      <p:cBhvr additive="base">
                                        <p:cTn id="13" dur="500" fill="hold"/>
                                        <p:tgtEl>
                                          <p:spTgt spid="470019"/>
                                        </p:tgtEl>
                                        <p:attrNameLst>
                                          <p:attrName>ppt_x</p:attrName>
                                        </p:attrNameLst>
                                      </p:cBhvr>
                                      <p:tavLst>
                                        <p:tav tm="0">
                                          <p:val>
                                            <p:strVal val="0-#ppt_w/2"/>
                                          </p:val>
                                        </p:tav>
                                        <p:tav tm="100000">
                                          <p:val>
                                            <p:strVal val="#ppt_x"/>
                                          </p:val>
                                        </p:tav>
                                      </p:tavLst>
                                    </p:anim>
                                    <p:anim calcmode="lin" valueType="num">
                                      <p:cBhvr additive="base">
                                        <p:cTn id="14" dur="500" fill="hold"/>
                                        <p:tgtEl>
                                          <p:spTgt spid="4700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0018"/>
                                        </p:tgtEl>
                                        <p:attrNameLst>
                                          <p:attrName>style.visibility</p:attrName>
                                        </p:attrNameLst>
                                      </p:cBhvr>
                                      <p:to>
                                        <p:strVal val="visible"/>
                                      </p:to>
                                    </p:set>
                                    <p:anim calcmode="lin" valueType="num">
                                      <p:cBhvr additive="base">
                                        <p:cTn id="19" dur="500" fill="hold"/>
                                        <p:tgtEl>
                                          <p:spTgt spid="470018"/>
                                        </p:tgtEl>
                                        <p:attrNameLst>
                                          <p:attrName>ppt_x</p:attrName>
                                        </p:attrNameLst>
                                      </p:cBhvr>
                                      <p:tavLst>
                                        <p:tav tm="0">
                                          <p:val>
                                            <p:strVal val="0-#ppt_w/2"/>
                                          </p:val>
                                        </p:tav>
                                        <p:tav tm="100000">
                                          <p:val>
                                            <p:strVal val="#ppt_x"/>
                                          </p:val>
                                        </p:tav>
                                      </p:tavLst>
                                    </p:anim>
                                    <p:anim calcmode="lin" valueType="num">
                                      <p:cBhvr additive="base">
                                        <p:cTn id="20" dur="500" fill="hold"/>
                                        <p:tgtEl>
                                          <p:spTgt spid="4700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0020"/>
                                        </p:tgtEl>
                                        <p:attrNameLst>
                                          <p:attrName>style.visibility</p:attrName>
                                        </p:attrNameLst>
                                      </p:cBhvr>
                                      <p:to>
                                        <p:strVal val="visible"/>
                                      </p:to>
                                    </p:set>
                                    <p:anim calcmode="lin" valueType="num">
                                      <p:cBhvr additive="base">
                                        <p:cTn id="25" dur="500" fill="hold"/>
                                        <p:tgtEl>
                                          <p:spTgt spid="470020"/>
                                        </p:tgtEl>
                                        <p:attrNameLst>
                                          <p:attrName>ppt_x</p:attrName>
                                        </p:attrNameLst>
                                      </p:cBhvr>
                                      <p:tavLst>
                                        <p:tav tm="0">
                                          <p:val>
                                            <p:strVal val="0-#ppt_w/2"/>
                                          </p:val>
                                        </p:tav>
                                        <p:tav tm="100000">
                                          <p:val>
                                            <p:strVal val="#ppt_x"/>
                                          </p:val>
                                        </p:tav>
                                      </p:tavLst>
                                    </p:anim>
                                    <p:anim calcmode="lin" valueType="num">
                                      <p:cBhvr additive="base">
                                        <p:cTn id="26" dur="500" fill="hold"/>
                                        <p:tgtEl>
                                          <p:spTgt spid="47002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70021"/>
                                        </p:tgtEl>
                                        <p:attrNameLst>
                                          <p:attrName>style.visibility</p:attrName>
                                        </p:attrNameLst>
                                      </p:cBhvr>
                                      <p:to>
                                        <p:strVal val="visible"/>
                                      </p:to>
                                    </p:set>
                                    <p:anim calcmode="lin" valueType="num">
                                      <p:cBhvr additive="base">
                                        <p:cTn id="31" dur="500" fill="hold"/>
                                        <p:tgtEl>
                                          <p:spTgt spid="470021"/>
                                        </p:tgtEl>
                                        <p:attrNameLst>
                                          <p:attrName>ppt_x</p:attrName>
                                        </p:attrNameLst>
                                      </p:cBhvr>
                                      <p:tavLst>
                                        <p:tav tm="0">
                                          <p:val>
                                            <p:strVal val="0-#ppt_w/2"/>
                                          </p:val>
                                        </p:tav>
                                        <p:tav tm="100000">
                                          <p:val>
                                            <p:strVal val="#ppt_x"/>
                                          </p:val>
                                        </p:tav>
                                      </p:tavLst>
                                    </p:anim>
                                    <p:anim calcmode="lin" valueType="num">
                                      <p:cBhvr additive="base">
                                        <p:cTn id="32" dur="500" fill="hold"/>
                                        <p:tgtEl>
                                          <p:spTgt spid="47002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70022"/>
                                        </p:tgtEl>
                                        <p:attrNameLst>
                                          <p:attrName>style.visibility</p:attrName>
                                        </p:attrNameLst>
                                      </p:cBhvr>
                                      <p:to>
                                        <p:strVal val="visible"/>
                                      </p:to>
                                    </p:set>
                                    <p:anim calcmode="lin" valueType="num">
                                      <p:cBhvr additive="base">
                                        <p:cTn id="37" dur="500" fill="hold"/>
                                        <p:tgtEl>
                                          <p:spTgt spid="470022"/>
                                        </p:tgtEl>
                                        <p:attrNameLst>
                                          <p:attrName>ppt_x</p:attrName>
                                        </p:attrNameLst>
                                      </p:cBhvr>
                                      <p:tavLst>
                                        <p:tav tm="0">
                                          <p:val>
                                            <p:strVal val="0-#ppt_w/2"/>
                                          </p:val>
                                        </p:tav>
                                        <p:tav tm="100000">
                                          <p:val>
                                            <p:strVal val="#ppt_x"/>
                                          </p:val>
                                        </p:tav>
                                      </p:tavLst>
                                    </p:anim>
                                    <p:anim calcmode="lin" valueType="num">
                                      <p:cBhvr additive="base">
                                        <p:cTn id="38" dur="500" fill="hold"/>
                                        <p:tgtEl>
                                          <p:spTgt spid="47002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70023"/>
                                        </p:tgtEl>
                                        <p:attrNameLst>
                                          <p:attrName>style.visibility</p:attrName>
                                        </p:attrNameLst>
                                      </p:cBhvr>
                                      <p:to>
                                        <p:strVal val="visible"/>
                                      </p:to>
                                    </p:set>
                                    <p:anim calcmode="lin" valueType="num">
                                      <p:cBhvr additive="base">
                                        <p:cTn id="43" dur="500" fill="hold"/>
                                        <p:tgtEl>
                                          <p:spTgt spid="470023"/>
                                        </p:tgtEl>
                                        <p:attrNameLst>
                                          <p:attrName>ppt_x</p:attrName>
                                        </p:attrNameLst>
                                      </p:cBhvr>
                                      <p:tavLst>
                                        <p:tav tm="0">
                                          <p:val>
                                            <p:strVal val="0-#ppt_w/2"/>
                                          </p:val>
                                        </p:tav>
                                        <p:tav tm="100000">
                                          <p:val>
                                            <p:strVal val="#ppt_x"/>
                                          </p:val>
                                        </p:tav>
                                      </p:tavLst>
                                    </p:anim>
                                    <p:anim calcmode="lin" valueType="num">
                                      <p:cBhvr additive="base">
                                        <p:cTn id="44" dur="500" fill="hold"/>
                                        <p:tgtEl>
                                          <p:spTgt spid="4700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70024"/>
                                        </p:tgtEl>
                                        <p:attrNameLst>
                                          <p:attrName>style.visibility</p:attrName>
                                        </p:attrNameLst>
                                      </p:cBhvr>
                                      <p:to>
                                        <p:strVal val="visible"/>
                                      </p:to>
                                    </p:set>
                                    <p:anim calcmode="lin" valueType="num">
                                      <p:cBhvr additive="base">
                                        <p:cTn id="49" dur="500" fill="hold"/>
                                        <p:tgtEl>
                                          <p:spTgt spid="470024"/>
                                        </p:tgtEl>
                                        <p:attrNameLst>
                                          <p:attrName>ppt_x</p:attrName>
                                        </p:attrNameLst>
                                      </p:cBhvr>
                                      <p:tavLst>
                                        <p:tav tm="0">
                                          <p:val>
                                            <p:strVal val="0-#ppt_w/2"/>
                                          </p:val>
                                        </p:tav>
                                        <p:tav tm="100000">
                                          <p:val>
                                            <p:strVal val="#ppt_x"/>
                                          </p:val>
                                        </p:tav>
                                      </p:tavLst>
                                    </p:anim>
                                    <p:anim calcmode="lin" valueType="num">
                                      <p:cBhvr additive="base">
                                        <p:cTn id="50" dur="500" fill="hold"/>
                                        <p:tgtEl>
                                          <p:spTgt spid="47002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70025"/>
                                        </p:tgtEl>
                                        <p:attrNameLst>
                                          <p:attrName>style.visibility</p:attrName>
                                        </p:attrNameLst>
                                      </p:cBhvr>
                                      <p:to>
                                        <p:strVal val="visible"/>
                                      </p:to>
                                    </p:set>
                                    <p:anim calcmode="lin" valueType="num">
                                      <p:cBhvr additive="base">
                                        <p:cTn id="55" dur="500" fill="hold"/>
                                        <p:tgtEl>
                                          <p:spTgt spid="470025"/>
                                        </p:tgtEl>
                                        <p:attrNameLst>
                                          <p:attrName>ppt_x</p:attrName>
                                        </p:attrNameLst>
                                      </p:cBhvr>
                                      <p:tavLst>
                                        <p:tav tm="0">
                                          <p:val>
                                            <p:strVal val="0-#ppt_w/2"/>
                                          </p:val>
                                        </p:tav>
                                        <p:tav tm="100000">
                                          <p:val>
                                            <p:strVal val="#ppt_x"/>
                                          </p:val>
                                        </p:tav>
                                      </p:tavLst>
                                    </p:anim>
                                    <p:anim calcmode="lin" valueType="num">
                                      <p:cBhvr additive="base">
                                        <p:cTn id="56" dur="500" fill="hold"/>
                                        <p:tgtEl>
                                          <p:spTgt spid="470025"/>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70026"/>
                                        </p:tgtEl>
                                        <p:attrNameLst>
                                          <p:attrName>style.visibility</p:attrName>
                                        </p:attrNameLst>
                                      </p:cBhvr>
                                      <p:to>
                                        <p:strVal val="visible"/>
                                      </p:to>
                                    </p:set>
                                    <p:anim calcmode="lin" valueType="num">
                                      <p:cBhvr additive="base">
                                        <p:cTn id="61" dur="500" fill="hold"/>
                                        <p:tgtEl>
                                          <p:spTgt spid="470026"/>
                                        </p:tgtEl>
                                        <p:attrNameLst>
                                          <p:attrName>ppt_x</p:attrName>
                                        </p:attrNameLst>
                                      </p:cBhvr>
                                      <p:tavLst>
                                        <p:tav tm="0">
                                          <p:val>
                                            <p:strVal val="0-#ppt_w/2"/>
                                          </p:val>
                                        </p:tav>
                                        <p:tav tm="100000">
                                          <p:val>
                                            <p:strVal val="#ppt_x"/>
                                          </p:val>
                                        </p:tav>
                                      </p:tavLst>
                                    </p:anim>
                                    <p:anim calcmode="lin" valueType="num">
                                      <p:cBhvr additive="base">
                                        <p:cTn id="62" dur="500" fill="hold"/>
                                        <p:tgtEl>
                                          <p:spTgt spid="47002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70027"/>
                                        </p:tgtEl>
                                        <p:attrNameLst>
                                          <p:attrName>style.visibility</p:attrName>
                                        </p:attrNameLst>
                                      </p:cBhvr>
                                      <p:to>
                                        <p:strVal val="visible"/>
                                      </p:to>
                                    </p:set>
                                    <p:anim calcmode="lin" valueType="num">
                                      <p:cBhvr additive="base">
                                        <p:cTn id="67" dur="500" fill="hold"/>
                                        <p:tgtEl>
                                          <p:spTgt spid="470027"/>
                                        </p:tgtEl>
                                        <p:attrNameLst>
                                          <p:attrName>ppt_x</p:attrName>
                                        </p:attrNameLst>
                                      </p:cBhvr>
                                      <p:tavLst>
                                        <p:tav tm="0">
                                          <p:val>
                                            <p:strVal val="0-#ppt_w/2"/>
                                          </p:val>
                                        </p:tav>
                                        <p:tav tm="100000">
                                          <p:val>
                                            <p:strVal val="#ppt_x"/>
                                          </p:val>
                                        </p:tav>
                                      </p:tavLst>
                                    </p:anim>
                                    <p:anim calcmode="lin" valueType="num">
                                      <p:cBhvr additive="base">
                                        <p:cTn id="68" dur="500" fill="hold"/>
                                        <p:tgtEl>
                                          <p:spTgt spid="470027"/>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70028"/>
                                        </p:tgtEl>
                                        <p:attrNameLst>
                                          <p:attrName>style.visibility</p:attrName>
                                        </p:attrNameLst>
                                      </p:cBhvr>
                                      <p:to>
                                        <p:strVal val="visible"/>
                                      </p:to>
                                    </p:set>
                                    <p:anim calcmode="lin" valueType="num">
                                      <p:cBhvr additive="base">
                                        <p:cTn id="73" dur="500" fill="hold"/>
                                        <p:tgtEl>
                                          <p:spTgt spid="470028"/>
                                        </p:tgtEl>
                                        <p:attrNameLst>
                                          <p:attrName>ppt_x</p:attrName>
                                        </p:attrNameLst>
                                      </p:cBhvr>
                                      <p:tavLst>
                                        <p:tav tm="0">
                                          <p:val>
                                            <p:strVal val="0-#ppt_w/2"/>
                                          </p:val>
                                        </p:tav>
                                        <p:tav tm="100000">
                                          <p:val>
                                            <p:strVal val="#ppt_x"/>
                                          </p:val>
                                        </p:tav>
                                      </p:tavLst>
                                    </p:anim>
                                    <p:anim calcmode="lin" valueType="num">
                                      <p:cBhvr additive="base">
                                        <p:cTn id="74" dur="500" fill="hold"/>
                                        <p:tgtEl>
                                          <p:spTgt spid="470028"/>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70029"/>
                                        </p:tgtEl>
                                        <p:attrNameLst>
                                          <p:attrName>style.visibility</p:attrName>
                                        </p:attrNameLst>
                                      </p:cBhvr>
                                      <p:to>
                                        <p:strVal val="visible"/>
                                      </p:to>
                                    </p:set>
                                    <p:anim calcmode="lin" valueType="num">
                                      <p:cBhvr additive="base">
                                        <p:cTn id="79" dur="500" fill="hold"/>
                                        <p:tgtEl>
                                          <p:spTgt spid="470029"/>
                                        </p:tgtEl>
                                        <p:attrNameLst>
                                          <p:attrName>ppt_x</p:attrName>
                                        </p:attrNameLst>
                                      </p:cBhvr>
                                      <p:tavLst>
                                        <p:tav tm="0">
                                          <p:val>
                                            <p:strVal val="0-#ppt_w/2"/>
                                          </p:val>
                                        </p:tav>
                                        <p:tav tm="100000">
                                          <p:val>
                                            <p:strVal val="#ppt_x"/>
                                          </p:val>
                                        </p:tav>
                                      </p:tavLst>
                                    </p:anim>
                                    <p:anim calcmode="lin" valueType="num">
                                      <p:cBhvr additive="base">
                                        <p:cTn id="80" dur="500" fill="hold"/>
                                        <p:tgtEl>
                                          <p:spTgt spid="470029"/>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70030"/>
                                        </p:tgtEl>
                                        <p:attrNameLst>
                                          <p:attrName>style.visibility</p:attrName>
                                        </p:attrNameLst>
                                      </p:cBhvr>
                                      <p:to>
                                        <p:strVal val="visible"/>
                                      </p:to>
                                    </p:set>
                                    <p:anim calcmode="lin" valueType="num">
                                      <p:cBhvr additive="base">
                                        <p:cTn id="85" dur="500" fill="hold"/>
                                        <p:tgtEl>
                                          <p:spTgt spid="470030"/>
                                        </p:tgtEl>
                                        <p:attrNameLst>
                                          <p:attrName>ppt_x</p:attrName>
                                        </p:attrNameLst>
                                      </p:cBhvr>
                                      <p:tavLst>
                                        <p:tav tm="0">
                                          <p:val>
                                            <p:strVal val="0-#ppt_w/2"/>
                                          </p:val>
                                        </p:tav>
                                        <p:tav tm="100000">
                                          <p:val>
                                            <p:strVal val="#ppt_x"/>
                                          </p:val>
                                        </p:tav>
                                      </p:tavLst>
                                    </p:anim>
                                    <p:anim calcmode="lin" valueType="num">
                                      <p:cBhvr additive="base">
                                        <p:cTn id="86" dur="500" fill="hold"/>
                                        <p:tgtEl>
                                          <p:spTgt spid="470030"/>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70031"/>
                                        </p:tgtEl>
                                        <p:attrNameLst>
                                          <p:attrName>style.visibility</p:attrName>
                                        </p:attrNameLst>
                                      </p:cBhvr>
                                      <p:to>
                                        <p:strVal val="visible"/>
                                      </p:to>
                                    </p:set>
                                    <p:anim calcmode="lin" valueType="num">
                                      <p:cBhvr additive="base">
                                        <p:cTn id="91" dur="500" fill="hold"/>
                                        <p:tgtEl>
                                          <p:spTgt spid="470031"/>
                                        </p:tgtEl>
                                        <p:attrNameLst>
                                          <p:attrName>ppt_x</p:attrName>
                                        </p:attrNameLst>
                                      </p:cBhvr>
                                      <p:tavLst>
                                        <p:tav tm="0">
                                          <p:val>
                                            <p:strVal val="0-#ppt_w/2"/>
                                          </p:val>
                                        </p:tav>
                                        <p:tav tm="100000">
                                          <p:val>
                                            <p:strVal val="#ppt_x"/>
                                          </p:val>
                                        </p:tav>
                                      </p:tavLst>
                                    </p:anim>
                                    <p:anim calcmode="lin" valueType="num">
                                      <p:cBhvr additive="base">
                                        <p:cTn id="92" dur="500" fill="hold"/>
                                        <p:tgtEl>
                                          <p:spTgt spid="470031"/>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70032"/>
                                        </p:tgtEl>
                                        <p:attrNameLst>
                                          <p:attrName>style.visibility</p:attrName>
                                        </p:attrNameLst>
                                      </p:cBhvr>
                                      <p:to>
                                        <p:strVal val="visible"/>
                                      </p:to>
                                    </p:set>
                                    <p:anim calcmode="lin" valueType="num">
                                      <p:cBhvr additive="base">
                                        <p:cTn id="97" dur="500" fill="hold"/>
                                        <p:tgtEl>
                                          <p:spTgt spid="470032"/>
                                        </p:tgtEl>
                                        <p:attrNameLst>
                                          <p:attrName>ppt_x</p:attrName>
                                        </p:attrNameLst>
                                      </p:cBhvr>
                                      <p:tavLst>
                                        <p:tav tm="0">
                                          <p:val>
                                            <p:strVal val="0-#ppt_w/2"/>
                                          </p:val>
                                        </p:tav>
                                        <p:tav tm="100000">
                                          <p:val>
                                            <p:strVal val="#ppt_x"/>
                                          </p:val>
                                        </p:tav>
                                      </p:tavLst>
                                    </p:anim>
                                    <p:anim calcmode="lin" valueType="num">
                                      <p:cBhvr additive="base">
                                        <p:cTn id="98" dur="500" fill="hold"/>
                                        <p:tgtEl>
                                          <p:spTgt spid="470032"/>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70034"/>
                                        </p:tgtEl>
                                        <p:attrNameLst>
                                          <p:attrName>style.visibility</p:attrName>
                                        </p:attrNameLst>
                                      </p:cBhvr>
                                      <p:to>
                                        <p:strVal val="visible"/>
                                      </p:to>
                                    </p:set>
                                    <p:anim calcmode="lin" valueType="num">
                                      <p:cBhvr additive="base">
                                        <p:cTn id="103" dur="500" fill="hold"/>
                                        <p:tgtEl>
                                          <p:spTgt spid="470034"/>
                                        </p:tgtEl>
                                        <p:attrNameLst>
                                          <p:attrName>ppt_x</p:attrName>
                                        </p:attrNameLst>
                                      </p:cBhvr>
                                      <p:tavLst>
                                        <p:tav tm="0">
                                          <p:val>
                                            <p:strVal val="0-#ppt_w/2"/>
                                          </p:val>
                                        </p:tav>
                                        <p:tav tm="100000">
                                          <p:val>
                                            <p:strVal val="#ppt_x"/>
                                          </p:val>
                                        </p:tav>
                                      </p:tavLst>
                                    </p:anim>
                                    <p:anim calcmode="lin" valueType="num">
                                      <p:cBhvr additive="base">
                                        <p:cTn id="104" dur="500" fill="hold"/>
                                        <p:tgtEl>
                                          <p:spTgt spid="470034"/>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470038"/>
                                        </p:tgtEl>
                                        <p:attrNameLst>
                                          <p:attrName>style.visibility</p:attrName>
                                        </p:attrNameLst>
                                      </p:cBhvr>
                                      <p:to>
                                        <p:strVal val="visible"/>
                                      </p:to>
                                    </p:set>
                                    <p:anim calcmode="lin" valueType="num">
                                      <p:cBhvr additive="base">
                                        <p:cTn id="109" dur="500" fill="hold"/>
                                        <p:tgtEl>
                                          <p:spTgt spid="470038"/>
                                        </p:tgtEl>
                                        <p:attrNameLst>
                                          <p:attrName>ppt_x</p:attrName>
                                        </p:attrNameLst>
                                      </p:cBhvr>
                                      <p:tavLst>
                                        <p:tav tm="0">
                                          <p:val>
                                            <p:strVal val="0-#ppt_w/2"/>
                                          </p:val>
                                        </p:tav>
                                        <p:tav tm="100000">
                                          <p:val>
                                            <p:strVal val="#ppt_x"/>
                                          </p:val>
                                        </p:tav>
                                      </p:tavLst>
                                    </p:anim>
                                    <p:anim calcmode="lin" valueType="num">
                                      <p:cBhvr additive="base">
                                        <p:cTn id="110" dur="500" fill="hold"/>
                                        <p:tgtEl>
                                          <p:spTgt spid="47003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470039"/>
                                        </p:tgtEl>
                                        <p:attrNameLst>
                                          <p:attrName>style.visibility</p:attrName>
                                        </p:attrNameLst>
                                      </p:cBhvr>
                                      <p:to>
                                        <p:strVal val="visible"/>
                                      </p:to>
                                    </p:set>
                                    <p:animEffect transition="in" filter="blinds(horizontal)">
                                      <p:cBhvr>
                                        <p:cTn id="115" dur="500"/>
                                        <p:tgtEl>
                                          <p:spTgt spid="470039"/>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470040"/>
                                        </p:tgtEl>
                                        <p:attrNameLst>
                                          <p:attrName>style.visibility</p:attrName>
                                        </p:attrNameLst>
                                      </p:cBhvr>
                                      <p:to>
                                        <p:strVal val="visible"/>
                                      </p:to>
                                    </p:set>
                                    <p:animEffect transition="in" filter="blinds(horizontal)">
                                      <p:cBhvr>
                                        <p:cTn id="120" dur="500"/>
                                        <p:tgtEl>
                                          <p:spTgt spid="470040"/>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xit" presetSubtype="10" fill="hold" nodeType="clickEffect">
                                  <p:stCondLst>
                                    <p:cond delay="0"/>
                                  </p:stCondLst>
                                  <p:childTnLst>
                                    <p:animEffect transition="out" filter="blinds(horizontal)">
                                      <p:cBhvr>
                                        <p:cTn id="124" dur="500"/>
                                        <p:tgtEl>
                                          <p:spTgt spid="470039"/>
                                        </p:tgtEl>
                                      </p:cBhvr>
                                    </p:animEffect>
                                    <p:set>
                                      <p:cBhvr>
                                        <p:cTn id="125" dur="1" fill="hold">
                                          <p:stCondLst>
                                            <p:cond delay="499"/>
                                          </p:stCondLst>
                                        </p:cTn>
                                        <p:tgtEl>
                                          <p:spTgt spid="470039"/>
                                        </p:tgtEl>
                                        <p:attrNameLst>
                                          <p:attrName>style.visibility</p:attrName>
                                        </p:attrNameLst>
                                      </p:cBhvr>
                                      <p:to>
                                        <p:strVal val="hidden"/>
                                      </p:to>
                                    </p:set>
                                  </p:childTnLst>
                                </p:cTn>
                              </p:par>
                              <p:par>
                                <p:cTn id="126" presetID="3" presetClass="exit" presetSubtype="10" fill="hold" nodeType="withEffect">
                                  <p:stCondLst>
                                    <p:cond delay="0"/>
                                  </p:stCondLst>
                                  <p:childTnLst>
                                    <p:animEffect transition="out" filter="blinds(horizontal)">
                                      <p:cBhvr>
                                        <p:cTn id="127" dur="500"/>
                                        <p:tgtEl>
                                          <p:spTgt spid="470040"/>
                                        </p:tgtEl>
                                      </p:cBhvr>
                                    </p:animEffect>
                                    <p:set>
                                      <p:cBhvr>
                                        <p:cTn id="128" dur="1" fill="hold">
                                          <p:stCondLst>
                                            <p:cond delay="499"/>
                                          </p:stCondLst>
                                        </p:cTn>
                                        <p:tgtEl>
                                          <p:spTgt spid="4700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nodeType="clickEffect">
                                  <p:stCondLst>
                                    <p:cond delay="0"/>
                                  </p:stCondLst>
                                  <p:childTnLst>
                                    <p:set>
                                      <p:cBhvr>
                                        <p:cTn id="132" dur="1" fill="hold">
                                          <p:stCondLst>
                                            <p:cond delay="0"/>
                                          </p:stCondLst>
                                        </p:cTn>
                                        <p:tgtEl>
                                          <p:spTgt spid="470041"/>
                                        </p:tgtEl>
                                        <p:attrNameLst>
                                          <p:attrName>style.visibility</p:attrName>
                                        </p:attrNameLst>
                                      </p:cBhvr>
                                      <p:to>
                                        <p:strVal val="visible"/>
                                      </p:to>
                                    </p:set>
                                    <p:animEffect transition="in" filter="blinds(horizontal)">
                                      <p:cBhvr>
                                        <p:cTn id="133" dur="500"/>
                                        <p:tgtEl>
                                          <p:spTgt spid="470041"/>
                                        </p:tgtEl>
                                      </p:cBhvr>
                                    </p:animEffect>
                                  </p:childTnLst>
                                </p:cTn>
                              </p:par>
                            </p:childTnLst>
                          </p:cTn>
                        </p:par>
                      </p:childTnLst>
                    </p:cTn>
                  </p:par>
                  <p:par>
                    <p:cTn id="134" fill="hold">
                      <p:stCondLst>
                        <p:cond delay="indefinite"/>
                      </p:stCondLst>
                      <p:childTnLst>
                        <p:par>
                          <p:cTn id="135" fill="hold">
                            <p:stCondLst>
                              <p:cond delay="0"/>
                            </p:stCondLst>
                            <p:childTnLst>
                              <p:par>
                                <p:cTn id="136" presetID="3" presetClass="entr" presetSubtype="10" fill="hold" nodeType="clickEffect">
                                  <p:stCondLst>
                                    <p:cond delay="0"/>
                                  </p:stCondLst>
                                  <p:childTnLst>
                                    <p:set>
                                      <p:cBhvr>
                                        <p:cTn id="137" dur="1" fill="hold">
                                          <p:stCondLst>
                                            <p:cond delay="0"/>
                                          </p:stCondLst>
                                        </p:cTn>
                                        <p:tgtEl>
                                          <p:spTgt spid="470042"/>
                                        </p:tgtEl>
                                        <p:attrNameLst>
                                          <p:attrName>style.visibility</p:attrName>
                                        </p:attrNameLst>
                                      </p:cBhvr>
                                      <p:to>
                                        <p:strVal val="visible"/>
                                      </p:to>
                                    </p:set>
                                    <p:animEffect transition="in" filter="blinds(horizontal)">
                                      <p:cBhvr>
                                        <p:cTn id="138" dur="500"/>
                                        <p:tgtEl>
                                          <p:spTgt spid="470042"/>
                                        </p:tgtEl>
                                      </p:cBhvr>
                                    </p:animEffect>
                                  </p:childTnLst>
                                </p:cTn>
                              </p:par>
                            </p:childTnLst>
                          </p:cTn>
                        </p:par>
                      </p:childTnLst>
                    </p:cTn>
                  </p:par>
                  <p:par>
                    <p:cTn id="139" fill="hold">
                      <p:stCondLst>
                        <p:cond delay="indefinite"/>
                      </p:stCondLst>
                      <p:childTnLst>
                        <p:par>
                          <p:cTn id="140" fill="hold">
                            <p:stCondLst>
                              <p:cond delay="0"/>
                            </p:stCondLst>
                            <p:childTnLst>
                              <p:par>
                                <p:cTn id="141" presetID="3" presetClass="exit" presetSubtype="10" fill="hold" nodeType="clickEffect">
                                  <p:stCondLst>
                                    <p:cond delay="0"/>
                                  </p:stCondLst>
                                  <p:childTnLst>
                                    <p:animEffect transition="out" filter="blinds(horizontal)">
                                      <p:cBhvr>
                                        <p:cTn id="142" dur="500"/>
                                        <p:tgtEl>
                                          <p:spTgt spid="470041"/>
                                        </p:tgtEl>
                                      </p:cBhvr>
                                    </p:animEffect>
                                    <p:set>
                                      <p:cBhvr>
                                        <p:cTn id="143" dur="1" fill="hold">
                                          <p:stCondLst>
                                            <p:cond delay="499"/>
                                          </p:stCondLst>
                                        </p:cTn>
                                        <p:tgtEl>
                                          <p:spTgt spid="470041"/>
                                        </p:tgtEl>
                                        <p:attrNameLst>
                                          <p:attrName>style.visibility</p:attrName>
                                        </p:attrNameLst>
                                      </p:cBhvr>
                                      <p:to>
                                        <p:strVal val="hidden"/>
                                      </p:to>
                                    </p:set>
                                  </p:childTnLst>
                                </p:cTn>
                              </p:par>
                              <p:par>
                                <p:cTn id="144" presetID="3" presetClass="exit" presetSubtype="10" fill="hold" nodeType="withEffect">
                                  <p:stCondLst>
                                    <p:cond delay="0"/>
                                  </p:stCondLst>
                                  <p:childTnLst>
                                    <p:animEffect transition="out" filter="blinds(horizontal)">
                                      <p:cBhvr>
                                        <p:cTn id="145" dur="500"/>
                                        <p:tgtEl>
                                          <p:spTgt spid="470042"/>
                                        </p:tgtEl>
                                      </p:cBhvr>
                                    </p:animEffect>
                                    <p:set>
                                      <p:cBhvr>
                                        <p:cTn id="146" dur="1" fill="hold">
                                          <p:stCondLst>
                                            <p:cond delay="499"/>
                                          </p:stCondLst>
                                        </p:cTn>
                                        <p:tgtEl>
                                          <p:spTgt spid="470042"/>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3" presetClass="entr" presetSubtype="10" fill="hold" nodeType="clickEffect">
                                  <p:stCondLst>
                                    <p:cond delay="0"/>
                                  </p:stCondLst>
                                  <p:childTnLst>
                                    <p:set>
                                      <p:cBhvr>
                                        <p:cTn id="150" dur="1" fill="hold">
                                          <p:stCondLst>
                                            <p:cond delay="0"/>
                                          </p:stCondLst>
                                        </p:cTn>
                                        <p:tgtEl>
                                          <p:spTgt spid="470043"/>
                                        </p:tgtEl>
                                        <p:attrNameLst>
                                          <p:attrName>style.visibility</p:attrName>
                                        </p:attrNameLst>
                                      </p:cBhvr>
                                      <p:to>
                                        <p:strVal val="visible"/>
                                      </p:to>
                                    </p:set>
                                    <p:animEffect transition="in" filter="blinds(horizontal)">
                                      <p:cBhvr>
                                        <p:cTn id="151" dur="500"/>
                                        <p:tgtEl>
                                          <p:spTgt spid="470043"/>
                                        </p:tgtEl>
                                      </p:cBhvr>
                                    </p:animEffect>
                                  </p:childTnLst>
                                </p:cTn>
                              </p:par>
                            </p:childTnLst>
                          </p:cTn>
                        </p:par>
                      </p:childTnLst>
                    </p:cTn>
                  </p:par>
                  <p:par>
                    <p:cTn id="152" fill="hold">
                      <p:stCondLst>
                        <p:cond delay="indefinite"/>
                      </p:stCondLst>
                      <p:childTnLst>
                        <p:par>
                          <p:cTn id="153" fill="hold">
                            <p:stCondLst>
                              <p:cond delay="0"/>
                            </p:stCondLst>
                            <p:childTnLst>
                              <p:par>
                                <p:cTn id="154" presetID="3" presetClass="entr" presetSubtype="10" fill="hold" nodeType="clickEffect">
                                  <p:stCondLst>
                                    <p:cond delay="0"/>
                                  </p:stCondLst>
                                  <p:childTnLst>
                                    <p:set>
                                      <p:cBhvr>
                                        <p:cTn id="155" dur="1" fill="hold">
                                          <p:stCondLst>
                                            <p:cond delay="0"/>
                                          </p:stCondLst>
                                        </p:cTn>
                                        <p:tgtEl>
                                          <p:spTgt spid="470044"/>
                                        </p:tgtEl>
                                        <p:attrNameLst>
                                          <p:attrName>style.visibility</p:attrName>
                                        </p:attrNameLst>
                                      </p:cBhvr>
                                      <p:to>
                                        <p:strVal val="visible"/>
                                      </p:to>
                                    </p:set>
                                    <p:animEffect transition="in" filter="blinds(horizontal)">
                                      <p:cBhvr>
                                        <p:cTn id="156" dur="500"/>
                                        <p:tgtEl>
                                          <p:spTgt spid="470044"/>
                                        </p:tgtEl>
                                      </p:cBhvr>
                                    </p:animEffect>
                                  </p:childTnLst>
                                </p:cTn>
                              </p:par>
                            </p:childTnLst>
                          </p:cTn>
                        </p:par>
                      </p:childTnLst>
                    </p:cTn>
                  </p:par>
                  <p:par>
                    <p:cTn id="157" fill="hold">
                      <p:stCondLst>
                        <p:cond delay="indefinite"/>
                      </p:stCondLst>
                      <p:childTnLst>
                        <p:par>
                          <p:cTn id="158" fill="hold">
                            <p:stCondLst>
                              <p:cond delay="0"/>
                            </p:stCondLst>
                            <p:childTnLst>
                              <p:par>
                                <p:cTn id="159" presetID="3" presetClass="exit" presetSubtype="10" fill="hold" nodeType="clickEffect">
                                  <p:stCondLst>
                                    <p:cond delay="0"/>
                                  </p:stCondLst>
                                  <p:childTnLst>
                                    <p:animEffect transition="out" filter="blinds(horizontal)">
                                      <p:cBhvr>
                                        <p:cTn id="160" dur="500"/>
                                        <p:tgtEl>
                                          <p:spTgt spid="470043"/>
                                        </p:tgtEl>
                                      </p:cBhvr>
                                    </p:animEffect>
                                    <p:set>
                                      <p:cBhvr>
                                        <p:cTn id="161" dur="1" fill="hold">
                                          <p:stCondLst>
                                            <p:cond delay="499"/>
                                          </p:stCondLst>
                                        </p:cTn>
                                        <p:tgtEl>
                                          <p:spTgt spid="470043"/>
                                        </p:tgtEl>
                                        <p:attrNameLst>
                                          <p:attrName>style.visibility</p:attrName>
                                        </p:attrNameLst>
                                      </p:cBhvr>
                                      <p:to>
                                        <p:strVal val="hidden"/>
                                      </p:to>
                                    </p:set>
                                  </p:childTnLst>
                                </p:cTn>
                              </p:par>
                              <p:par>
                                <p:cTn id="162" presetID="3" presetClass="exit" presetSubtype="10" fill="hold" nodeType="withEffect">
                                  <p:stCondLst>
                                    <p:cond delay="0"/>
                                  </p:stCondLst>
                                  <p:childTnLst>
                                    <p:animEffect transition="out" filter="blinds(horizontal)">
                                      <p:cBhvr>
                                        <p:cTn id="163" dur="500"/>
                                        <p:tgtEl>
                                          <p:spTgt spid="470044"/>
                                        </p:tgtEl>
                                      </p:cBhvr>
                                    </p:animEffect>
                                    <p:set>
                                      <p:cBhvr>
                                        <p:cTn id="164" dur="1" fill="hold">
                                          <p:stCondLst>
                                            <p:cond delay="499"/>
                                          </p:stCondLst>
                                        </p:cTn>
                                        <p:tgtEl>
                                          <p:spTgt spid="470044"/>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nodeType="clickEffect">
                                  <p:stCondLst>
                                    <p:cond delay="0"/>
                                  </p:stCondLst>
                                  <p:childTnLst>
                                    <p:set>
                                      <p:cBhvr>
                                        <p:cTn id="168" dur="1" fill="hold">
                                          <p:stCondLst>
                                            <p:cond delay="0"/>
                                          </p:stCondLst>
                                        </p:cTn>
                                        <p:tgtEl>
                                          <p:spTgt spid="470045"/>
                                        </p:tgtEl>
                                        <p:attrNameLst>
                                          <p:attrName>style.visibility</p:attrName>
                                        </p:attrNameLst>
                                      </p:cBhvr>
                                      <p:to>
                                        <p:strVal val="visible"/>
                                      </p:to>
                                    </p:set>
                                    <p:animEffect transition="in" filter="blinds(horizontal)">
                                      <p:cBhvr>
                                        <p:cTn id="169" dur="500"/>
                                        <p:tgtEl>
                                          <p:spTgt spid="470045"/>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nodeType="clickEffect">
                                  <p:stCondLst>
                                    <p:cond delay="0"/>
                                  </p:stCondLst>
                                  <p:childTnLst>
                                    <p:set>
                                      <p:cBhvr>
                                        <p:cTn id="173" dur="1" fill="hold">
                                          <p:stCondLst>
                                            <p:cond delay="0"/>
                                          </p:stCondLst>
                                        </p:cTn>
                                        <p:tgtEl>
                                          <p:spTgt spid="470046"/>
                                        </p:tgtEl>
                                        <p:attrNameLst>
                                          <p:attrName>style.visibility</p:attrName>
                                        </p:attrNameLst>
                                      </p:cBhvr>
                                      <p:to>
                                        <p:strVal val="visible"/>
                                      </p:to>
                                    </p:set>
                                    <p:animEffect transition="in" filter="blinds(horizontal)">
                                      <p:cBhvr>
                                        <p:cTn id="174" dur="500"/>
                                        <p:tgtEl>
                                          <p:spTgt spid="470046"/>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xit" presetSubtype="10" fill="hold" nodeType="clickEffect">
                                  <p:stCondLst>
                                    <p:cond delay="0"/>
                                  </p:stCondLst>
                                  <p:childTnLst>
                                    <p:animEffect transition="out" filter="blinds(horizontal)">
                                      <p:cBhvr>
                                        <p:cTn id="178" dur="500"/>
                                        <p:tgtEl>
                                          <p:spTgt spid="470045"/>
                                        </p:tgtEl>
                                      </p:cBhvr>
                                    </p:animEffect>
                                    <p:set>
                                      <p:cBhvr>
                                        <p:cTn id="179" dur="1" fill="hold">
                                          <p:stCondLst>
                                            <p:cond delay="499"/>
                                          </p:stCondLst>
                                        </p:cTn>
                                        <p:tgtEl>
                                          <p:spTgt spid="470045"/>
                                        </p:tgtEl>
                                        <p:attrNameLst>
                                          <p:attrName>style.visibility</p:attrName>
                                        </p:attrNameLst>
                                      </p:cBhvr>
                                      <p:to>
                                        <p:strVal val="hidden"/>
                                      </p:to>
                                    </p:set>
                                  </p:childTnLst>
                                </p:cTn>
                              </p:par>
                              <p:par>
                                <p:cTn id="180" presetID="3" presetClass="exit" presetSubtype="10" fill="hold" nodeType="withEffect">
                                  <p:stCondLst>
                                    <p:cond delay="0"/>
                                  </p:stCondLst>
                                  <p:childTnLst>
                                    <p:animEffect transition="out" filter="blinds(horizontal)">
                                      <p:cBhvr>
                                        <p:cTn id="181" dur="500"/>
                                        <p:tgtEl>
                                          <p:spTgt spid="470046"/>
                                        </p:tgtEl>
                                      </p:cBhvr>
                                    </p:animEffect>
                                    <p:set>
                                      <p:cBhvr>
                                        <p:cTn id="182" dur="1" fill="hold">
                                          <p:stCondLst>
                                            <p:cond delay="499"/>
                                          </p:stCondLst>
                                        </p:cTn>
                                        <p:tgtEl>
                                          <p:spTgt spid="470046"/>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3" presetClass="entr" presetSubtype="10" fill="hold" nodeType="clickEffect">
                                  <p:stCondLst>
                                    <p:cond delay="0"/>
                                  </p:stCondLst>
                                  <p:childTnLst>
                                    <p:set>
                                      <p:cBhvr>
                                        <p:cTn id="186" dur="1" fill="hold">
                                          <p:stCondLst>
                                            <p:cond delay="0"/>
                                          </p:stCondLst>
                                        </p:cTn>
                                        <p:tgtEl>
                                          <p:spTgt spid="470047"/>
                                        </p:tgtEl>
                                        <p:attrNameLst>
                                          <p:attrName>style.visibility</p:attrName>
                                        </p:attrNameLst>
                                      </p:cBhvr>
                                      <p:to>
                                        <p:strVal val="visible"/>
                                      </p:to>
                                    </p:set>
                                    <p:animEffect transition="in" filter="blinds(horizontal)">
                                      <p:cBhvr>
                                        <p:cTn id="187" dur="500"/>
                                        <p:tgtEl>
                                          <p:spTgt spid="470047"/>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nodeType="clickEffect">
                                  <p:stCondLst>
                                    <p:cond delay="0"/>
                                  </p:stCondLst>
                                  <p:childTnLst>
                                    <p:set>
                                      <p:cBhvr>
                                        <p:cTn id="191" dur="1" fill="hold">
                                          <p:stCondLst>
                                            <p:cond delay="0"/>
                                          </p:stCondLst>
                                        </p:cTn>
                                        <p:tgtEl>
                                          <p:spTgt spid="470048"/>
                                        </p:tgtEl>
                                        <p:attrNameLst>
                                          <p:attrName>style.visibility</p:attrName>
                                        </p:attrNameLst>
                                      </p:cBhvr>
                                      <p:to>
                                        <p:strVal val="visible"/>
                                      </p:to>
                                    </p:set>
                                    <p:animEffect transition="in" filter="blinds(horizontal)">
                                      <p:cBhvr>
                                        <p:cTn id="192" dur="500"/>
                                        <p:tgtEl>
                                          <p:spTgt spid="470048"/>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xit" presetSubtype="10" fill="hold" nodeType="clickEffect">
                                  <p:stCondLst>
                                    <p:cond delay="0"/>
                                  </p:stCondLst>
                                  <p:childTnLst>
                                    <p:animEffect transition="out" filter="blinds(horizontal)">
                                      <p:cBhvr>
                                        <p:cTn id="196" dur="500"/>
                                        <p:tgtEl>
                                          <p:spTgt spid="470047"/>
                                        </p:tgtEl>
                                      </p:cBhvr>
                                    </p:animEffect>
                                    <p:set>
                                      <p:cBhvr>
                                        <p:cTn id="197" dur="1" fill="hold">
                                          <p:stCondLst>
                                            <p:cond delay="499"/>
                                          </p:stCondLst>
                                        </p:cTn>
                                        <p:tgtEl>
                                          <p:spTgt spid="470047"/>
                                        </p:tgtEl>
                                        <p:attrNameLst>
                                          <p:attrName>style.visibility</p:attrName>
                                        </p:attrNameLst>
                                      </p:cBhvr>
                                      <p:to>
                                        <p:strVal val="hidden"/>
                                      </p:to>
                                    </p:set>
                                  </p:childTnLst>
                                </p:cTn>
                              </p:par>
                              <p:par>
                                <p:cTn id="198" presetID="3" presetClass="exit" presetSubtype="10" fill="hold" nodeType="withEffect">
                                  <p:stCondLst>
                                    <p:cond delay="0"/>
                                  </p:stCondLst>
                                  <p:childTnLst>
                                    <p:animEffect transition="out" filter="blinds(horizontal)">
                                      <p:cBhvr>
                                        <p:cTn id="199" dur="500"/>
                                        <p:tgtEl>
                                          <p:spTgt spid="470048"/>
                                        </p:tgtEl>
                                      </p:cBhvr>
                                    </p:animEffect>
                                    <p:set>
                                      <p:cBhvr>
                                        <p:cTn id="200" dur="1" fill="hold">
                                          <p:stCondLst>
                                            <p:cond delay="499"/>
                                          </p:stCondLst>
                                        </p:cTn>
                                        <p:tgtEl>
                                          <p:spTgt spid="470048"/>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3" presetClass="entr" presetSubtype="10" fill="hold" nodeType="clickEffect">
                                  <p:stCondLst>
                                    <p:cond delay="0"/>
                                  </p:stCondLst>
                                  <p:childTnLst>
                                    <p:set>
                                      <p:cBhvr>
                                        <p:cTn id="204" dur="1" fill="hold">
                                          <p:stCondLst>
                                            <p:cond delay="0"/>
                                          </p:stCondLst>
                                        </p:cTn>
                                        <p:tgtEl>
                                          <p:spTgt spid="470049"/>
                                        </p:tgtEl>
                                        <p:attrNameLst>
                                          <p:attrName>style.visibility</p:attrName>
                                        </p:attrNameLst>
                                      </p:cBhvr>
                                      <p:to>
                                        <p:strVal val="visible"/>
                                      </p:to>
                                    </p:set>
                                    <p:animEffect transition="in" filter="blinds(horizontal)">
                                      <p:cBhvr>
                                        <p:cTn id="205" dur="500"/>
                                        <p:tgtEl>
                                          <p:spTgt spid="470049"/>
                                        </p:tgtEl>
                                      </p:cBhvr>
                                    </p:animEffect>
                                  </p:childTnLst>
                                </p:cTn>
                              </p:par>
                            </p:childTnLst>
                          </p:cTn>
                        </p:par>
                      </p:childTnLst>
                    </p:cTn>
                  </p:par>
                  <p:par>
                    <p:cTn id="206" fill="hold">
                      <p:stCondLst>
                        <p:cond delay="indefinite"/>
                      </p:stCondLst>
                      <p:childTnLst>
                        <p:par>
                          <p:cTn id="207" fill="hold">
                            <p:stCondLst>
                              <p:cond delay="0"/>
                            </p:stCondLst>
                            <p:childTnLst>
                              <p:par>
                                <p:cTn id="208" presetID="3" presetClass="entr" presetSubtype="10" fill="hold" nodeType="clickEffect">
                                  <p:stCondLst>
                                    <p:cond delay="0"/>
                                  </p:stCondLst>
                                  <p:childTnLst>
                                    <p:set>
                                      <p:cBhvr>
                                        <p:cTn id="209" dur="1" fill="hold">
                                          <p:stCondLst>
                                            <p:cond delay="0"/>
                                          </p:stCondLst>
                                        </p:cTn>
                                        <p:tgtEl>
                                          <p:spTgt spid="470050"/>
                                        </p:tgtEl>
                                        <p:attrNameLst>
                                          <p:attrName>style.visibility</p:attrName>
                                        </p:attrNameLst>
                                      </p:cBhvr>
                                      <p:to>
                                        <p:strVal val="visible"/>
                                      </p:to>
                                    </p:set>
                                    <p:animEffect transition="in" filter="blinds(horizontal)">
                                      <p:cBhvr>
                                        <p:cTn id="210" dur="500"/>
                                        <p:tgtEl>
                                          <p:spTgt spid="470050"/>
                                        </p:tgtEl>
                                      </p:cBhvr>
                                    </p:animEffect>
                                  </p:childTnLst>
                                </p:cTn>
                              </p:par>
                            </p:childTnLst>
                          </p:cTn>
                        </p:par>
                      </p:childTnLst>
                    </p:cTn>
                  </p:par>
                  <p:par>
                    <p:cTn id="211" fill="hold">
                      <p:stCondLst>
                        <p:cond delay="indefinite"/>
                      </p:stCondLst>
                      <p:childTnLst>
                        <p:par>
                          <p:cTn id="212" fill="hold">
                            <p:stCondLst>
                              <p:cond delay="0"/>
                            </p:stCondLst>
                            <p:childTnLst>
                              <p:par>
                                <p:cTn id="213" presetID="3" presetClass="exit" presetSubtype="10" fill="hold" nodeType="clickEffect">
                                  <p:stCondLst>
                                    <p:cond delay="0"/>
                                  </p:stCondLst>
                                  <p:childTnLst>
                                    <p:animEffect transition="out" filter="blinds(horizontal)">
                                      <p:cBhvr>
                                        <p:cTn id="214" dur="500"/>
                                        <p:tgtEl>
                                          <p:spTgt spid="470049"/>
                                        </p:tgtEl>
                                      </p:cBhvr>
                                    </p:animEffect>
                                    <p:set>
                                      <p:cBhvr>
                                        <p:cTn id="215" dur="1" fill="hold">
                                          <p:stCondLst>
                                            <p:cond delay="499"/>
                                          </p:stCondLst>
                                        </p:cTn>
                                        <p:tgtEl>
                                          <p:spTgt spid="470049"/>
                                        </p:tgtEl>
                                        <p:attrNameLst>
                                          <p:attrName>style.visibility</p:attrName>
                                        </p:attrNameLst>
                                      </p:cBhvr>
                                      <p:to>
                                        <p:strVal val="hidden"/>
                                      </p:to>
                                    </p:set>
                                  </p:childTnLst>
                                </p:cTn>
                              </p:par>
                              <p:par>
                                <p:cTn id="216" presetID="3" presetClass="exit" presetSubtype="10" fill="hold" nodeType="withEffect">
                                  <p:stCondLst>
                                    <p:cond delay="0"/>
                                  </p:stCondLst>
                                  <p:childTnLst>
                                    <p:animEffect transition="out" filter="blinds(horizontal)">
                                      <p:cBhvr>
                                        <p:cTn id="217" dur="500"/>
                                        <p:tgtEl>
                                          <p:spTgt spid="470050"/>
                                        </p:tgtEl>
                                      </p:cBhvr>
                                    </p:animEffect>
                                    <p:set>
                                      <p:cBhvr>
                                        <p:cTn id="218" dur="1" fill="hold">
                                          <p:stCondLst>
                                            <p:cond delay="499"/>
                                          </p:stCondLst>
                                        </p:cTn>
                                        <p:tgtEl>
                                          <p:spTgt spid="470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9" grpId="0"/>
      <p:bldP spid="470020" grpId="0"/>
      <p:bldP spid="470021" grpId="0"/>
      <p:bldP spid="470022" grpId="0"/>
      <p:bldP spid="470023" grpId="0"/>
      <p:bldP spid="470024" grpId="0"/>
      <p:bldP spid="470025" grpId="0"/>
      <p:bldP spid="470026" grpId="0"/>
      <p:bldP spid="470027" grpId="0"/>
      <p:bldP spid="470028" grpId="0"/>
      <p:bldP spid="470029" grpId="0"/>
      <p:bldP spid="470030" grpId="0"/>
      <p:bldP spid="470031" grpId="0"/>
      <p:bldP spid="470032" grpId="0"/>
      <p:bldP spid="47003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txBox="1"/>
          <p:nvPr/>
        </p:nvSpPr>
        <p:spPr>
          <a:xfrm>
            <a:off x="144463" y="144463"/>
            <a:ext cx="3779465" cy="1484312"/>
          </a:xfrm>
          <a:prstGeom prst="rect">
            <a:avLst/>
          </a:prstGeom>
          <a:noFill/>
          <a:ln w="9525">
            <a:noFill/>
          </a:ln>
        </p:spPr>
        <p:txBody>
          <a:bodyPr/>
          <a:lstStyle/>
          <a:p>
            <a:r>
              <a:rPr lang="zh-CN" altLang="en-US" b="1" dirty="0">
                <a:solidFill>
                  <a:schemeClr val="hlink"/>
                </a:solidFill>
                <a:latin typeface="Times New Roman" panose="02020603050405020304" pitchFamily="18" charset="0"/>
                <a:ea typeface="微软雅黑" pitchFamily="34" charset="-122"/>
              </a:rPr>
              <a:t>例如</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在例</a:t>
            </a:r>
            <a:r>
              <a:rPr lang="en-US" altLang="zh-CN" b="1" dirty="0">
                <a:solidFill>
                  <a:schemeClr val="hlink"/>
                </a:solidFill>
                <a:latin typeface="Times New Roman" panose="02020603050405020304" pitchFamily="18" charset="0"/>
                <a:ea typeface="微软雅黑" pitchFamily="34" charset="-122"/>
              </a:rPr>
              <a:t>4-1</a:t>
            </a:r>
            <a:r>
              <a:rPr lang="zh-CN" altLang="en-US" b="1" dirty="0">
                <a:solidFill>
                  <a:schemeClr val="hlink"/>
                </a:solidFill>
                <a:latin typeface="Times New Roman" panose="02020603050405020304" pitchFamily="18" charset="0"/>
                <a:ea typeface="微软雅黑" pitchFamily="34" charset="-122"/>
              </a:rPr>
              <a:t>的由最小元素法得到的初始解中</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13</a:t>
            </a:r>
            <a:r>
              <a:rPr lang="zh-CN" altLang="en-US" b="1" i="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14</a:t>
            </a:r>
            <a:r>
              <a:rPr lang="en-US" altLang="zh-CN" b="1" i="1" baseline="-30000" dirty="0">
                <a:solidFill>
                  <a:schemeClr val="hlink"/>
                </a:solidFill>
                <a:latin typeface="Times New Roman" panose="02020603050405020304" pitchFamily="18" charset="0"/>
                <a:ea typeface="微软雅黑" pitchFamily="34" charset="-122"/>
              </a:rPr>
              <a:t> </a:t>
            </a:r>
            <a:r>
              <a:rPr lang="zh-CN" altLang="en-US" b="1" baseline="-30000"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21</a:t>
            </a:r>
            <a:r>
              <a:rPr lang="en-US" altLang="zh-CN" b="1" i="1" baseline="-30000" dirty="0">
                <a:solidFill>
                  <a:schemeClr val="hlink"/>
                </a:solidFill>
                <a:latin typeface="Times New Roman" panose="02020603050405020304" pitchFamily="18" charset="0"/>
                <a:ea typeface="微软雅黑" pitchFamily="34" charset="-122"/>
              </a:rPr>
              <a:t> </a:t>
            </a:r>
            <a:r>
              <a:rPr lang="zh-CN" altLang="en-US" b="1" baseline="-30000"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23</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 x</a:t>
            </a:r>
            <a:r>
              <a:rPr lang="en-US" altLang="zh-CN" b="1" baseline="-30000" dirty="0">
                <a:solidFill>
                  <a:schemeClr val="hlink"/>
                </a:solidFill>
                <a:latin typeface="Times New Roman" panose="02020603050405020304" pitchFamily="18" charset="0"/>
                <a:ea typeface="微软雅黑" pitchFamily="34" charset="-122"/>
              </a:rPr>
              <a:t>32</a:t>
            </a:r>
            <a:r>
              <a:rPr lang="en-US" altLang="zh-CN" b="1" i="1" dirty="0">
                <a:solidFill>
                  <a:schemeClr val="hlink"/>
                </a:solidFill>
                <a:latin typeface="Times New Roman" panose="02020603050405020304" pitchFamily="18" charset="0"/>
                <a:ea typeface="微软雅黑" pitchFamily="34" charset="-122"/>
              </a:rPr>
              <a:t> </a:t>
            </a:r>
            <a:r>
              <a:rPr lang="zh-CN" altLang="en-US" b="1" dirty="0">
                <a:solidFill>
                  <a:schemeClr val="hlink"/>
                </a:solidFill>
                <a:latin typeface="仿宋" pitchFamily="49" charset="-122"/>
                <a:ea typeface="仿宋" pitchFamily="49" charset="-122"/>
              </a:rPr>
              <a:t>，</a:t>
            </a:r>
            <a:r>
              <a:rPr lang="en-US" altLang="zh-CN" b="1" i="1" dirty="0">
                <a:solidFill>
                  <a:schemeClr val="hlink"/>
                </a:solidFill>
                <a:latin typeface="Times New Roman" panose="02020603050405020304" pitchFamily="18" charset="0"/>
                <a:ea typeface="微软雅黑" pitchFamily="34" charset="-122"/>
              </a:rPr>
              <a:t>x</a:t>
            </a:r>
            <a:r>
              <a:rPr lang="en-US" altLang="zh-CN" b="1" baseline="-30000" dirty="0">
                <a:solidFill>
                  <a:schemeClr val="hlink"/>
                </a:solidFill>
                <a:latin typeface="Times New Roman" panose="02020603050405020304" pitchFamily="18" charset="0"/>
                <a:ea typeface="微软雅黑" pitchFamily="34" charset="-122"/>
              </a:rPr>
              <a:t>34</a:t>
            </a:r>
            <a:r>
              <a:rPr lang="zh-CN" altLang="en-US" b="1" dirty="0">
                <a:solidFill>
                  <a:schemeClr val="hlink"/>
                </a:solidFill>
                <a:latin typeface="Times New Roman" panose="02020603050405020304" pitchFamily="18" charset="0"/>
                <a:ea typeface="微软雅黑" pitchFamily="34" charset="-122"/>
              </a:rPr>
              <a:t>是基变量</a:t>
            </a:r>
            <a:endParaRPr lang="zh-CN" altLang="en-US" sz="2800" dirty="0">
              <a:solidFill>
                <a:schemeClr val="hlink"/>
              </a:solidFill>
              <a:latin typeface="微软雅黑" pitchFamily="34" charset="-122"/>
              <a:ea typeface="华文楷体" panose="02010600040101010101" pitchFamily="2" charset="-122"/>
            </a:endParaRPr>
          </a:p>
        </p:txBody>
      </p:sp>
      <p:sp>
        <p:nvSpPr>
          <p:cNvPr id="3" name="Rectangle 3"/>
          <p:cNvSpPr txBox="1"/>
          <p:nvPr/>
        </p:nvSpPr>
        <p:spPr>
          <a:xfrm>
            <a:off x="0" y="2667000"/>
            <a:ext cx="9144000" cy="4191000"/>
          </a:xfrm>
          <a:prstGeom prst="rect">
            <a:avLst/>
          </a:prstGeom>
          <a:solidFill>
            <a:srgbClr val="FFCCFF"/>
          </a:solidFill>
          <a:ln w="9525">
            <a:noFill/>
          </a:ln>
        </p:spPr>
        <p:txBody>
          <a:bodyPr/>
          <a:lstStyle/>
          <a:p>
            <a:pPr marL="273050" indent="-273050" algn="just">
              <a:lnSpc>
                <a:spcPct val="90000"/>
              </a:lnSpc>
              <a:spcBef>
                <a:spcPts val="600"/>
              </a:spcBef>
              <a:buClr>
                <a:schemeClr val="accent1"/>
              </a:buClr>
              <a:buSzPct val="70000"/>
            </a:pPr>
            <a:r>
              <a:rPr lang="zh-CN" altLang="en-US" b="1" dirty="0">
                <a:latin typeface="Times New Roman" panose="02020603050405020304" pitchFamily="18" charset="0"/>
                <a:ea typeface="微软雅黑" pitchFamily="34" charset="-122"/>
              </a:rPr>
              <a:t>基变量的检验数</a:t>
            </a: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i="1" baseline="-30000" dirty="0">
                <a:latin typeface="Times New Roman" panose="02020603050405020304" pitchFamily="18" charset="0"/>
                <a:ea typeface="微软雅黑" pitchFamily="34" charset="-122"/>
              </a:rPr>
              <a:t>a</a:t>
            </a:r>
            <a:endParaRPr lang="en-US" altLang="zh-CN" b="1" i="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en-US" altLang="zh-CN" b="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=-5</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21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 </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32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 </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2</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=9-</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 </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3</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a:p>
            <a:pPr marL="273050" indent="-273050" algn="just">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x</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    c</a:t>
            </a:r>
            <a:r>
              <a:rPr lang="en-US" altLang="zh-CN" b="1" baseline="-30000" dirty="0">
                <a:latin typeface="Times New Roman" panose="02020603050405020304" pitchFamily="18" charset="0"/>
                <a:ea typeface="微软雅黑" pitchFamily="34" charset="-122"/>
              </a:rPr>
              <a:t>14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en-US" altLang="zh-CN" b="1" i="1" dirty="0">
                <a:latin typeface="Times New Roman" panose="02020603050405020304" pitchFamily="18" charset="0"/>
                <a:ea typeface="微软雅黑" pitchFamily="34" charset="-122"/>
              </a:rPr>
              <a:t>  </a:t>
            </a:r>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10</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en-US" altLang="zh-CN" b="1" i="1" dirty="0">
                <a:latin typeface="Times New Roman" panose="02020603050405020304" pitchFamily="18" charset="0"/>
                <a:ea typeface="微软雅黑" pitchFamily="34" charset="-122"/>
              </a:rPr>
              <a:t> v</a:t>
            </a:r>
            <a:r>
              <a:rPr lang="en-US" altLang="zh-CN" b="1" baseline="-30000" dirty="0">
                <a:latin typeface="Times New Roman" panose="02020603050405020304" pitchFamily="18" charset="0"/>
                <a:ea typeface="微软雅黑" pitchFamily="34" charset="-122"/>
              </a:rPr>
              <a:t>4</a:t>
            </a:r>
            <a:r>
              <a:rPr lang="en-US" altLang="zh-CN" b="1" i="1"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10</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endParaRPr lang="en-US" altLang="zh-CN" b="1" dirty="0">
              <a:latin typeface="Times New Roman" panose="02020603050405020304" pitchFamily="18" charset="0"/>
              <a:ea typeface="微软雅黑" pitchFamily="34" charset="-122"/>
            </a:endParaRPr>
          </a:p>
        </p:txBody>
      </p:sp>
      <p:pic>
        <p:nvPicPr>
          <p:cNvPr id="30724" name="Picture 4"/>
          <p:cNvPicPr>
            <a:picLocks noChangeAspect="1"/>
          </p:cNvPicPr>
          <p:nvPr/>
        </p:nvPicPr>
        <p:blipFill>
          <a:blip r:embed="rId2"/>
          <a:stretch>
            <a:fillRect/>
          </a:stretch>
        </p:blipFill>
        <p:spPr>
          <a:xfrm>
            <a:off x="3816350" y="0"/>
            <a:ext cx="5327650" cy="2235200"/>
          </a:xfrm>
          <a:prstGeom prst="rect">
            <a:avLst/>
          </a:prstGeom>
          <a:noFill/>
          <a:ln w="9525">
            <a:noFill/>
          </a:ln>
        </p:spPr>
      </p:pic>
      <p:pic>
        <p:nvPicPr>
          <p:cNvPr id="30725" name="Picture 5"/>
          <p:cNvPicPr>
            <a:picLocks noChangeAspect="1"/>
          </p:cNvPicPr>
          <p:nvPr/>
        </p:nvPicPr>
        <p:blipFill>
          <a:blip r:embed="rId3"/>
          <a:stretch>
            <a:fillRect/>
          </a:stretch>
        </p:blipFill>
        <p:spPr>
          <a:xfrm>
            <a:off x="4751388" y="1633393"/>
            <a:ext cx="4392612" cy="1841500"/>
          </a:xfrm>
          <a:prstGeom prst="rect">
            <a:avLst/>
          </a:prstGeom>
          <a:noFill/>
          <a:ln w="9525">
            <a:noFill/>
          </a:ln>
        </p:spPr>
      </p:pic>
      <p:sp>
        <p:nvSpPr>
          <p:cNvPr id="30726" name="Rectangle 2"/>
          <p:cNvSpPr txBox="1"/>
          <p:nvPr/>
        </p:nvSpPr>
        <p:spPr>
          <a:xfrm>
            <a:off x="0" y="1628775"/>
            <a:ext cx="3635375" cy="863600"/>
          </a:xfrm>
          <a:prstGeom prst="rect">
            <a:avLst/>
          </a:prstGeom>
          <a:noFill/>
          <a:ln w="9525">
            <a:noFill/>
          </a:ln>
        </p:spPr>
        <p:txBody>
          <a:bodyPr/>
          <a:lstStyle/>
          <a:p>
            <a:r>
              <a:rPr lang="en-US" altLang="zh-CN" b="1" i="1" dirty="0">
                <a:solidFill>
                  <a:schemeClr val="hlink"/>
                </a:solidFill>
                <a:latin typeface="Times New Roman" panose="02020603050405020304" pitchFamily="18" charset="0"/>
                <a:ea typeface="微软雅黑" pitchFamily="34" charset="-122"/>
              </a:rPr>
              <a:t>x</a:t>
            </a:r>
            <a:r>
              <a:rPr lang="en-US" altLang="zh-CN" b="1" i="1" baseline="-30000" dirty="0">
                <a:solidFill>
                  <a:schemeClr val="hlink"/>
                </a:solidFill>
                <a:latin typeface="Times New Roman" panose="02020603050405020304" pitchFamily="18" charset="0"/>
                <a:ea typeface="微软雅黑" pitchFamily="34" charset="-122"/>
              </a:rPr>
              <a:t>a</a:t>
            </a:r>
            <a:r>
              <a:rPr lang="zh-CN" altLang="en-US" b="1" dirty="0">
                <a:solidFill>
                  <a:schemeClr val="hlink"/>
                </a:solidFill>
                <a:latin typeface="Times New Roman" panose="02020603050405020304" pitchFamily="18" charset="0"/>
                <a:ea typeface="微软雅黑" pitchFamily="34" charset="-122"/>
              </a:rPr>
              <a:t>为人工变量，</a:t>
            </a:r>
            <a:r>
              <a:rPr lang="en-US" altLang="zh-CN" b="1" i="1" dirty="0">
                <a:solidFill>
                  <a:schemeClr val="hlink"/>
                </a:solidFill>
                <a:latin typeface="Times New Roman" panose="02020603050405020304" pitchFamily="18" charset="0"/>
                <a:ea typeface="微软雅黑" pitchFamily="34" charset="-122"/>
              </a:rPr>
              <a:t>c</a:t>
            </a:r>
            <a:r>
              <a:rPr lang="en-US" altLang="zh-CN" b="1" i="1" baseline="-25000" dirty="0">
                <a:solidFill>
                  <a:schemeClr val="hlink"/>
                </a:solidFill>
                <a:latin typeface="Times New Roman" panose="02020603050405020304" pitchFamily="18" charset="0"/>
                <a:ea typeface="微软雅黑" pitchFamily="34" charset="-122"/>
              </a:rPr>
              <a:t>a</a:t>
            </a:r>
            <a:r>
              <a:rPr lang="en-US" altLang="zh-CN" b="1" dirty="0">
                <a:solidFill>
                  <a:schemeClr val="hlink"/>
                </a:solidFill>
                <a:latin typeface="Times New Roman" panose="02020603050405020304" pitchFamily="18" charset="0"/>
                <a:ea typeface="微软雅黑" pitchFamily="34" charset="-122"/>
              </a:rPr>
              <a:t>=0</a:t>
            </a:r>
            <a:endParaRPr lang="zh-CN" altLang="en-US" sz="2800" dirty="0">
              <a:solidFill>
                <a:schemeClr val="hlink"/>
              </a:solidFill>
              <a:latin typeface="微软雅黑" pitchFamily="34" charset="-122"/>
              <a:ea typeface="华文楷体" panose="02010600040101010101" pitchFamily="2" charset="-122"/>
            </a:endParaRPr>
          </a:p>
        </p:txBody>
      </p:sp>
      <p:sp>
        <p:nvSpPr>
          <p:cNvPr id="30727" name="Oval 23"/>
          <p:cNvSpPr/>
          <p:nvPr/>
        </p:nvSpPr>
        <p:spPr>
          <a:xfrm>
            <a:off x="7812088" y="2420938"/>
            <a:ext cx="433387"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28" name="Oval 23"/>
          <p:cNvSpPr/>
          <p:nvPr/>
        </p:nvSpPr>
        <p:spPr>
          <a:xfrm>
            <a:off x="8531226" y="2420938"/>
            <a:ext cx="433387"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29" name="Oval 23"/>
          <p:cNvSpPr/>
          <p:nvPr/>
        </p:nvSpPr>
        <p:spPr>
          <a:xfrm>
            <a:off x="6516216" y="2781623"/>
            <a:ext cx="361379"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30" name="Oval 23"/>
          <p:cNvSpPr/>
          <p:nvPr/>
        </p:nvSpPr>
        <p:spPr>
          <a:xfrm>
            <a:off x="7776914" y="2750344"/>
            <a:ext cx="433387" cy="287337"/>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31" name="Oval 23"/>
          <p:cNvSpPr/>
          <p:nvPr/>
        </p:nvSpPr>
        <p:spPr>
          <a:xfrm>
            <a:off x="7092280" y="3105294"/>
            <a:ext cx="431900"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30732" name="Oval 23"/>
          <p:cNvSpPr/>
          <p:nvPr/>
        </p:nvSpPr>
        <p:spPr>
          <a:xfrm>
            <a:off x="8459218" y="3098223"/>
            <a:ext cx="505395" cy="288925"/>
          </a:xfrm>
          <a:prstGeom prst="ellipse">
            <a:avLst/>
          </a:prstGeom>
          <a:noFill/>
          <a:ln w="38100" cap="flat" cmpd="sng">
            <a:solidFill>
              <a:schemeClr val="hlink"/>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3" name="TextBox 12"/>
          <p:cNvSpPr txBox="1"/>
          <p:nvPr/>
        </p:nvSpPr>
        <p:spPr>
          <a:xfrm>
            <a:off x="0" y="1700213"/>
            <a:ext cx="3419872" cy="523875"/>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tx1"/>
                </a:solidFill>
                <a:effectLst/>
                <a:uLnTx/>
                <a:uFillTx/>
                <a:latin typeface="+mn-lt"/>
                <a:ea typeface="微软雅黑" pitchFamily="34" charset="-122"/>
                <a:cs typeface="+mn-cs"/>
              </a:rPr>
              <a:t>把</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u</a:t>
            </a:r>
            <a:r>
              <a:rPr kumimoji="1" lang="en-US" altLang="zh-CN" sz="2800" b="1" i="0" u="none" strike="noStrike" kern="1200" cap="none" spc="0" normalizeH="0" baseline="-2500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1</a:t>
            </a:r>
            <a:r>
              <a:rPr kumimoji="1" lang="zh-CN" altLang="en-US" sz="2800" b="1" i="0" u="none" strike="noStrike" kern="1200" cap="none" spc="0" normalizeH="0" baseline="0" noProof="0" dirty="0">
                <a:ln>
                  <a:noFill/>
                </a:ln>
                <a:solidFill>
                  <a:schemeClr val="tx1"/>
                </a:solidFill>
                <a:effectLst/>
                <a:uLnTx/>
                <a:uFillTx/>
                <a:latin typeface="+mn-lt"/>
                <a:ea typeface="微软雅黑" pitchFamily="34" charset="-122"/>
                <a:cs typeface="+mn-cs"/>
              </a:rPr>
              <a:t>看成参数</a:t>
            </a:r>
          </a:p>
        </p:txBody>
      </p:sp>
      <p:sp>
        <p:nvSpPr>
          <p:cNvPr id="14" name="矩形 13"/>
          <p:cNvSpPr/>
          <p:nvPr/>
        </p:nvSpPr>
        <p:spPr>
          <a:xfrm>
            <a:off x="250825" y="6024563"/>
            <a:ext cx="7561263" cy="833437"/>
          </a:xfrm>
          <a:prstGeom prst="rect">
            <a:avLst/>
          </a:prstGeom>
          <a:noFill/>
          <a:ln w="9525">
            <a:noFill/>
          </a:ln>
        </p:spPr>
        <p:txBody>
          <a:bodyPr>
            <a:spAutoFit/>
          </a:bodyPr>
          <a:lstStyle/>
          <a:p>
            <a:pPr marL="273050" indent="-273050" algn="just">
              <a:lnSpc>
                <a:spcPct val="9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由</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可求得</a:t>
            </a:r>
          </a:p>
          <a:p>
            <a:pPr marL="273050" indent="-273050" algn="ctr">
              <a:lnSpc>
                <a:spcPct val="90000"/>
              </a:lnSpc>
              <a:spcBef>
                <a:spcPts val="600"/>
              </a:spcBef>
              <a:buClr>
                <a:schemeClr val="accent1"/>
              </a:buClr>
              <a:buSzPct val="70000"/>
              <a:buFont typeface="Wingdings" panose="05000000000000000000" pitchFamily="2" charset="2"/>
              <a:buChar char=""/>
            </a:pP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=-1,  </a:t>
            </a:r>
            <a:r>
              <a:rPr lang="en-US" altLang="zh-CN" b="1" i="1" dirty="0">
                <a:latin typeface="Times New Roman" panose="02020603050405020304" pitchFamily="18" charset="0"/>
                <a:ea typeface="微软雅黑" pitchFamily="34" charset="-122"/>
              </a:rPr>
              <a:t>u</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=-5,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1</a:t>
            </a:r>
            <a:r>
              <a:rPr lang="en-US" altLang="zh-CN" b="1" dirty="0">
                <a:latin typeface="Times New Roman" panose="02020603050405020304" pitchFamily="18" charset="0"/>
                <a:ea typeface="微软雅黑" pitchFamily="34" charset="-122"/>
              </a:rPr>
              <a:t>=2,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2</a:t>
            </a:r>
            <a:r>
              <a:rPr lang="en-US" altLang="zh-CN" b="1" dirty="0">
                <a:latin typeface="Times New Roman" panose="02020603050405020304" pitchFamily="18" charset="0"/>
                <a:ea typeface="微软雅黑" pitchFamily="34" charset="-122"/>
              </a:rPr>
              <a:t>=9,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3</a:t>
            </a:r>
            <a:r>
              <a:rPr lang="en-US" altLang="zh-CN" b="1" dirty="0">
                <a:latin typeface="Times New Roman" panose="02020603050405020304" pitchFamily="18" charset="0"/>
                <a:ea typeface="微软雅黑" pitchFamily="34" charset="-122"/>
              </a:rPr>
              <a:t>=3,  </a:t>
            </a:r>
            <a:r>
              <a:rPr lang="en-US" altLang="zh-CN" b="1" i="1" dirty="0">
                <a:latin typeface="Times New Roman" panose="02020603050405020304" pitchFamily="18" charset="0"/>
                <a:ea typeface="微软雅黑" pitchFamily="34" charset="-122"/>
              </a:rPr>
              <a:t>v</a:t>
            </a:r>
            <a:r>
              <a:rPr lang="en-US" altLang="zh-CN" b="1" baseline="-30000" dirty="0">
                <a:latin typeface="Times New Roman" panose="02020603050405020304" pitchFamily="18" charset="0"/>
                <a:ea typeface="微软雅黑" pitchFamily="34" charset="-122"/>
              </a:rPr>
              <a:t>4</a:t>
            </a:r>
            <a:r>
              <a:rPr lang="en-US" altLang="zh-CN" b="1" dirty="0">
                <a:latin typeface="Times New Roman" panose="02020603050405020304" pitchFamily="18" charset="0"/>
                <a:ea typeface="微软雅黑" pitchFamily="34" charset="-122"/>
              </a:rPr>
              <a:t>=10</a:t>
            </a:r>
          </a:p>
        </p:txBody>
      </p:sp>
      <p:sp>
        <p:nvSpPr>
          <p:cNvPr id="2" name="灯片编号占位符 1">
            <a:extLst>
              <a:ext uri="{FF2B5EF4-FFF2-40B4-BE49-F238E27FC236}">
                <a16:creationId xmlns:a16="http://schemas.microsoft.com/office/drawing/2014/main" id="{3ABA7D59-F656-4F0A-BA1A-D3FF600E89B0}"/>
              </a:ext>
            </a:extLst>
          </p:cNvPr>
          <p:cNvSpPr>
            <a:spLocks noGrp="1"/>
          </p:cNvSpPr>
          <p:nvPr>
            <p:ph type="sldNum" sz="quarter" idx="12"/>
          </p:nvPr>
        </p:nvSpPr>
        <p:spPr/>
        <p:txBody>
          <a:bodyPr/>
          <a:lstStyle/>
          <a:p>
            <a:pPr>
              <a:defRPr/>
            </a:pPr>
            <a:fld id="{2AE1B59C-883C-4848-BC85-9A12DF2590B2}" type="slidenum">
              <a:rPr lang="en-US" altLang="zh-CN" smtClean="0"/>
              <a:t>40</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blinds(horizontal)">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linds(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p:cNvSpPr/>
          <p:nvPr/>
        </p:nvSpPr>
        <p:spPr>
          <a:xfrm>
            <a:off x="5580112" y="6423719"/>
            <a:ext cx="113364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4-20</a:t>
            </a:r>
            <a:r>
              <a:rPr lang="en-US" altLang="zh-CN" b="1" dirty="0">
                <a:latin typeface="Times New Roman" panose="02020603050405020304" pitchFamily="18" charset="0"/>
                <a:ea typeface="微软雅黑" pitchFamily="34" charset="-122"/>
              </a:rPr>
              <a:t> </a:t>
            </a:r>
            <a:endParaRPr lang="zh-CN" altLang="en-US" b="1" dirty="0">
              <a:latin typeface="Verdana" panose="020B0604030504040204" pitchFamily="34" charset="0"/>
              <a:ea typeface="微软雅黑" pitchFamily="34" charset="-122"/>
            </a:endParaRPr>
          </a:p>
        </p:txBody>
      </p:sp>
      <p:sp>
        <p:nvSpPr>
          <p:cNvPr id="5" name="矩形 4"/>
          <p:cNvSpPr/>
          <p:nvPr/>
        </p:nvSpPr>
        <p:spPr>
          <a:xfrm>
            <a:off x="1350124" y="3933825"/>
            <a:ext cx="113364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4-19</a:t>
            </a:r>
            <a:r>
              <a:rPr lang="en-US" altLang="zh-CN" b="1" dirty="0">
                <a:latin typeface="Times New Roman" panose="02020603050405020304" pitchFamily="18" charset="0"/>
                <a:ea typeface="微软雅黑" pitchFamily="34" charset="-122"/>
                <a:cs typeface="Times New Roman" panose="02020603050405020304" pitchFamily="18" charset="0"/>
              </a:rPr>
              <a:t> </a:t>
            </a:r>
            <a:endParaRPr lang="zh-CN" altLang="en-US" b="1" dirty="0">
              <a:latin typeface="Times New Roman" panose="02020603050405020304" pitchFamily="18" charset="0"/>
              <a:ea typeface="微软雅黑" pitchFamily="34" charset="-122"/>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2412365" y="2078990"/>
            <a:ext cx="6330315" cy="2340610"/>
          </a:xfrm>
          <a:prstGeom prst="rect">
            <a:avLst/>
          </a:prstGeom>
        </p:spPr>
      </p:pic>
      <p:sp>
        <p:nvSpPr>
          <p:cNvPr id="31746" name="Rectangle 2"/>
          <p:cNvSpPr txBox="1"/>
          <p:nvPr/>
        </p:nvSpPr>
        <p:spPr>
          <a:xfrm>
            <a:off x="57150" y="0"/>
            <a:ext cx="78486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4.2.3 </a:t>
            </a:r>
            <a:r>
              <a:rPr lang="zh-CN" altLang="en-US" sz="2800" b="1" dirty="0">
                <a:solidFill>
                  <a:schemeClr val="hlink"/>
                </a:solidFill>
                <a:latin typeface="微软雅黑" pitchFamily="34" charset="-122"/>
                <a:ea typeface="微软雅黑" pitchFamily="34" charset="-122"/>
              </a:rPr>
              <a:t>改进的方法</a:t>
            </a:r>
            <a:r>
              <a:rPr lang="en-US" altLang="zh-CN" sz="2800" b="1" dirty="0">
                <a:solidFill>
                  <a:schemeClr val="hlink"/>
                </a:solidFill>
                <a:latin typeface="华文楷体" panose="02010600040101010101" pitchFamily="2" charset="-122"/>
                <a:ea typeface="微软雅黑" pitchFamily="34" charset="-122"/>
              </a:rPr>
              <a:t>——</a:t>
            </a:r>
            <a:r>
              <a:rPr lang="zh-CN" altLang="en-US" sz="2800" b="1" dirty="0">
                <a:solidFill>
                  <a:schemeClr val="hlink"/>
                </a:solidFill>
                <a:latin typeface="微软雅黑" pitchFamily="34" charset="-122"/>
                <a:ea typeface="微软雅黑" pitchFamily="34" charset="-122"/>
              </a:rPr>
              <a:t>闭回路调整法</a:t>
            </a:r>
          </a:p>
        </p:txBody>
      </p:sp>
      <p:sp>
        <p:nvSpPr>
          <p:cNvPr id="3" name="Rectangle 3"/>
          <p:cNvSpPr txBox="1"/>
          <p:nvPr/>
        </p:nvSpPr>
        <p:spPr>
          <a:xfrm>
            <a:off x="57150" y="465947"/>
            <a:ext cx="9144000" cy="2016125"/>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当在表中空格处出现负检验数时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表明未得最优解</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若有两个和两个以上的负检验数时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一般选其中最小的负检验数</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以它对应的空格为调入格。即以它对应的非基变量为换入变量</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pPr>
            <a:r>
              <a:rPr lang="zh-CN" altLang="en-US" b="1" dirty="0">
                <a:latin typeface="Times New Roman" panose="02020603050405020304" pitchFamily="18" charset="0"/>
                <a:ea typeface="微软雅黑" pitchFamily="34" charset="-122"/>
              </a:rPr>
              <a:t>由表</a:t>
            </a:r>
            <a:r>
              <a:rPr lang="en-US" altLang="zh-CN" b="1" dirty="0">
                <a:latin typeface="Times New Roman" panose="02020603050405020304" pitchFamily="18" charset="0"/>
                <a:ea typeface="微软雅黑" pitchFamily="34" charset="-122"/>
              </a:rPr>
              <a:t>4-19</a:t>
            </a:r>
            <a:r>
              <a:rPr lang="zh-CN" altLang="en-US" b="1" dirty="0">
                <a:latin typeface="Times New Roman" panose="02020603050405020304" pitchFamily="18" charset="0"/>
                <a:ea typeface="微软雅黑" pitchFamily="34" charset="-122"/>
              </a:rPr>
              <a:t>得</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为调入格</a:t>
            </a:r>
          </a:p>
          <a:p>
            <a:pPr marL="273050" indent="-273050">
              <a:spcBef>
                <a:spcPts val="600"/>
              </a:spcBef>
              <a:buClr>
                <a:schemeClr val="accent1"/>
              </a:buClr>
              <a:buSzPct val="70000"/>
              <a:buFont typeface="Wingdings" panose="05000000000000000000" pitchFamily="2" charset="2"/>
              <a:buChar char=""/>
            </a:pPr>
            <a:endParaRPr lang="en-US" altLang="zh-CN" b="1" dirty="0">
              <a:latin typeface="Times New Roman" panose="02020603050405020304" pitchFamily="18" charset="0"/>
              <a:ea typeface="微软雅黑" pitchFamily="34" charset="-122"/>
            </a:endParaRPr>
          </a:p>
        </p:txBody>
      </p:sp>
      <p:pic>
        <p:nvPicPr>
          <p:cNvPr id="358404" name="Picture 4"/>
          <p:cNvPicPr>
            <a:picLocks noChangeAspect="1"/>
          </p:cNvPicPr>
          <p:nvPr/>
        </p:nvPicPr>
        <p:blipFill>
          <a:blip r:embed="rId3"/>
          <a:stretch>
            <a:fillRect/>
          </a:stretch>
        </p:blipFill>
        <p:spPr>
          <a:xfrm>
            <a:off x="0" y="4418013"/>
            <a:ext cx="5651500" cy="2439987"/>
          </a:xfrm>
          <a:prstGeom prst="rect">
            <a:avLst/>
          </a:prstGeom>
          <a:noFill/>
          <a:ln w="9525">
            <a:noFill/>
          </a:ln>
        </p:spPr>
      </p:pic>
      <p:sp>
        <p:nvSpPr>
          <p:cNvPr id="27656" name="矩形 7"/>
          <p:cNvSpPr/>
          <p:nvPr/>
        </p:nvSpPr>
        <p:spPr>
          <a:xfrm>
            <a:off x="3923030" y="2580005"/>
            <a:ext cx="849630" cy="441325"/>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57" name="矩形 8"/>
          <p:cNvSpPr/>
          <p:nvPr/>
        </p:nvSpPr>
        <p:spPr>
          <a:xfrm>
            <a:off x="4926965" y="3097530"/>
            <a:ext cx="942340" cy="4165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58" name="矩形 9"/>
          <p:cNvSpPr/>
          <p:nvPr/>
        </p:nvSpPr>
        <p:spPr>
          <a:xfrm>
            <a:off x="4932045" y="2578735"/>
            <a:ext cx="942975" cy="43942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59" name="矩形 10"/>
          <p:cNvSpPr/>
          <p:nvPr/>
        </p:nvSpPr>
        <p:spPr>
          <a:xfrm>
            <a:off x="3924300" y="3546475"/>
            <a:ext cx="862330" cy="4038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60" name="矩形 11"/>
          <p:cNvSpPr/>
          <p:nvPr/>
        </p:nvSpPr>
        <p:spPr>
          <a:xfrm>
            <a:off x="5940425" y="3546475"/>
            <a:ext cx="1082040" cy="4165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sp>
        <p:nvSpPr>
          <p:cNvPr id="27661" name="矩形 12"/>
          <p:cNvSpPr/>
          <p:nvPr/>
        </p:nvSpPr>
        <p:spPr>
          <a:xfrm>
            <a:off x="7020560" y="3072765"/>
            <a:ext cx="991235" cy="441960"/>
          </a:xfrm>
          <a:prstGeom prst="rect">
            <a:avLst/>
          </a:prstGeom>
          <a:noFill/>
          <a:ln w="57150"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itchFamily="34" charset="-122"/>
            </a:endParaRPr>
          </a:p>
        </p:txBody>
      </p:sp>
      <p:cxnSp>
        <p:nvCxnSpPr>
          <p:cNvPr id="15" name="直接箭头连接符 14"/>
          <p:cNvCxnSpPr/>
          <p:nvPr/>
        </p:nvCxnSpPr>
        <p:spPr>
          <a:xfrm flipH="1">
            <a:off x="3635375" y="6021388"/>
            <a:ext cx="576263" cy="0"/>
          </a:xfrm>
          <a:prstGeom prst="straightConnector1">
            <a:avLst/>
          </a:prstGeom>
          <a:ln w="57150" cap="flat" cmpd="sng">
            <a:solidFill>
              <a:srgbClr val="FF0000"/>
            </a:solidFill>
            <a:prstDash val="solid"/>
            <a:miter/>
            <a:headEnd type="none" w="med" len="med"/>
            <a:tailEnd type="arrow" w="med" len="med"/>
          </a:ln>
        </p:spPr>
      </p:cxnSp>
      <p:cxnSp>
        <p:nvCxnSpPr>
          <p:cNvPr id="17" name="直接箭头连接符 16"/>
          <p:cNvCxnSpPr/>
          <p:nvPr/>
        </p:nvCxnSpPr>
        <p:spPr>
          <a:xfrm flipV="1">
            <a:off x="3635375" y="5445125"/>
            <a:ext cx="0" cy="360363"/>
          </a:xfrm>
          <a:prstGeom prst="straightConnector1">
            <a:avLst/>
          </a:prstGeom>
          <a:ln w="76200" cap="flat" cmpd="sng">
            <a:solidFill>
              <a:srgbClr val="FF0000"/>
            </a:solidFill>
            <a:prstDash val="solid"/>
            <a:miter/>
            <a:headEnd type="none" w="med" len="med"/>
            <a:tailEnd type="arrow" w="med" len="med"/>
          </a:ln>
        </p:spPr>
      </p:cxnSp>
      <p:cxnSp>
        <p:nvCxnSpPr>
          <p:cNvPr id="19" name="直接箭头连接符 18"/>
          <p:cNvCxnSpPr/>
          <p:nvPr/>
        </p:nvCxnSpPr>
        <p:spPr>
          <a:xfrm>
            <a:off x="3708400" y="5445125"/>
            <a:ext cx="503238" cy="0"/>
          </a:xfrm>
          <a:prstGeom prst="straightConnector1">
            <a:avLst/>
          </a:prstGeom>
          <a:ln w="76200" cap="flat" cmpd="sng">
            <a:solidFill>
              <a:srgbClr val="FF0000"/>
            </a:solidFill>
            <a:prstDash val="solid"/>
            <a:miter/>
            <a:headEnd type="none" w="med" len="med"/>
            <a:tailEnd type="arrow" w="med" len="med"/>
          </a:ln>
        </p:spPr>
      </p:cxnSp>
      <p:cxnSp>
        <p:nvCxnSpPr>
          <p:cNvPr id="21" name="直接箭头连接符 20"/>
          <p:cNvCxnSpPr/>
          <p:nvPr/>
        </p:nvCxnSpPr>
        <p:spPr>
          <a:xfrm>
            <a:off x="4284663" y="5516563"/>
            <a:ext cx="0" cy="360362"/>
          </a:xfrm>
          <a:prstGeom prst="straightConnector1">
            <a:avLst/>
          </a:prstGeom>
          <a:ln w="76200" cap="flat" cmpd="sng">
            <a:solidFill>
              <a:srgbClr val="FF0000"/>
            </a:solidFill>
            <a:prstDash val="solid"/>
            <a:miter/>
            <a:headEnd type="none" w="med" len="med"/>
            <a:tailEnd type="arrow" w="med" len="med"/>
          </a:ln>
        </p:spPr>
      </p:cxnSp>
      <p:sp>
        <p:nvSpPr>
          <p:cNvPr id="23" name="矩形 22"/>
          <p:cNvSpPr/>
          <p:nvPr/>
        </p:nvSpPr>
        <p:spPr>
          <a:xfrm>
            <a:off x="71438" y="2276475"/>
            <a:ext cx="2197100" cy="1570038"/>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以</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格为出发点</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作一闭回路</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4-20</a:t>
            </a:r>
            <a:r>
              <a:rPr lang="zh-CN" altLang="en-US" b="1" dirty="0">
                <a:latin typeface="Times New Roman" panose="02020603050405020304" pitchFamily="18" charset="0"/>
                <a:ea typeface="微软雅黑" pitchFamily="34" charset="-122"/>
              </a:rPr>
              <a:t>所示</a:t>
            </a:r>
            <a:endParaRPr lang="zh-CN" altLang="en-US" dirty="0">
              <a:latin typeface="Tahoma" panose="020B0604030504040204" pitchFamily="34" charset="0"/>
              <a:ea typeface="微软雅黑" pitchFamily="34" charset="-122"/>
            </a:endParaRPr>
          </a:p>
        </p:txBody>
      </p:sp>
      <p:sp>
        <p:nvSpPr>
          <p:cNvPr id="2" name="灯片编号占位符 1">
            <a:extLst>
              <a:ext uri="{FF2B5EF4-FFF2-40B4-BE49-F238E27FC236}">
                <a16:creationId xmlns:a16="http://schemas.microsoft.com/office/drawing/2014/main" id="{08BDC548-CB45-4434-BB05-B8C6130981ED}"/>
              </a:ext>
            </a:extLst>
          </p:cNvPr>
          <p:cNvSpPr>
            <a:spLocks noGrp="1"/>
          </p:cNvSpPr>
          <p:nvPr>
            <p:ph type="sldNum" sz="quarter" idx="12"/>
          </p:nvPr>
        </p:nvSpPr>
        <p:spPr/>
        <p:txBody>
          <a:bodyPr/>
          <a:lstStyle/>
          <a:p>
            <a:pPr>
              <a:defRPr/>
            </a:pPr>
            <a:fld id="{2AE1B59C-883C-4848-BC85-9A12DF2590B2}" type="slidenum">
              <a:rPr lang="en-US" altLang="zh-CN" smtClean="0"/>
              <a:t>41</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par>
                                <p:cTn id="18" presetID="1"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7659"/>
                                        </p:tgtEl>
                                        <p:attrNameLst>
                                          <p:attrName>style.visibility</p:attrName>
                                        </p:attrNameLst>
                                      </p:cBhvr>
                                      <p:to>
                                        <p:strVal val="visible"/>
                                      </p:to>
                                    </p:set>
                                    <p:animEffect transition="in" filter="blinds(horizontal)">
                                      <p:cBhvr>
                                        <p:cTn id="24" dur="500"/>
                                        <p:tgtEl>
                                          <p:spTgt spid="2765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7656"/>
                                        </p:tgtEl>
                                        <p:attrNameLst>
                                          <p:attrName>style.visibility</p:attrName>
                                        </p:attrNameLst>
                                      </p:cBhvr>
                                      <p:to>
                                        <p:strVal val="visible"/>
                                      </p:to>
                                    </p:set>
                                    <p:animEffect transition="in" filter="blinds(horizontal)">
                                      <p:cBhvr>
                                        <p:cTn id="27" dur="500"/>
                                        <p:tgtEl>
                                          <p:spTgt spid="2765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7658"/>
                                        </p:tgtEl>
                                        <p:attrNameLst>
                                          <p:attrName>style.visibility</p:attrName>
                                        </p:attrNameLst>
                                      </p:cBhvr>
                                      <p:to>
                                        <p:strVal val="visible"/>
                                      </p:to>
                                    </p:set>
                                    <p:animEffect transition="in" filter="blinds(horizontal)">
                                      <p:cBhvr>
                                        <p:cTn id="30" dur="500"/>
                                        <p:tgtEl>
                                          <p:spTgt spid="2765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7657"/>
                                        </p:tgtEl>
                                        <p:attrNameLst>
                                          <p:attrName>style.visibility</p:attrName>
                                        </p:attrNameLst>
                                      </p:cBhvr>
                                      <p:to>
                                        <p:strVal val="visible"/>
                                      </p:to>
                                    </p:set>
                                    <p:animEffect transition="in" filter="blinds(horizontal)">
                                      <p:cBhvr>
                                        <p:cTn id="33" dur="500"/>
                                        <p:tgtEl>
                                          <p:spTgt spid="27657"/>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7660"/>
                                        </p:tgtEl>
                                        <p:attrNameLst>
                                          <p:attrName>style.visibility</p:attrName>
                                        </p:attrNameLst>
                                      </p:cBhvr>
                                      <p:to>
                                        <p:strVal val="visible"/>
                                      </p:to>
                                    </p:set>
                                    <p:animEffect transition="in" filter="blinds(horizontal)">
                                      <p:cBhvr>
                                        <p:cTn id="36" dur="500"/>
                                        <p:tgtEl>
                                          <p:spTgt spid="27660"/>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7661"/>
                                        </p:tgtEl>
                                        <p:attrNameLst>
                                          <p:attrName>style.visibility</p:attrName>
                                        </p:attrNameLst>
                                      </p:cBhvr>
                                      <p:to>
                                        <p:strVal val="visible"/>
                                      </p:to>
                                    </p:set>
                                    <p:animEffect transition="in" filter="blinds(horizontal)">
                                      <p:cBhvr>
                                        <p:cTn id="39" dur="500"/>
                                        <p:tgtEl>
                                          <p:spTgt spid="2766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linds(horizontal)">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358404"/>
                                        </p:tgtEl>
                                        <p:attrNameLst>
                                          <p:attrName>style.visibility</p:attrName>
                                        </p:attrNameLst>
                                      </p:cBhvr>
                                      <p:to>
                                        <p:strVal val="visible"/>
                                      </p:to>
                                    </p:set>
                                    <p:animEffect transition="in" filter="blinds(horizontal)">
                                      <p:cBhvr>
                                        <p:cTn id="49" dur="500"/>
                                        <p:tgtEl>
                                          <p:spTgt spid="35840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linds(horizontal)">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blinds(horizontal)">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linds(horizontal)">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blinds(horizontal)">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7656" grpId="0" bldLvl="0" animBg="1"/>
      <p:bldP spid="27657" grpId="0" bldLvl="0" animBg="1"/>
      <p:bldP spid="27658" grpId="0" bldLvl="0" animBg="1"/>
      <p:bldP spid="27659" grpId="0" bldLvl="0" animBg="1"/>
      <p:bldP spid="27660" grpId="0" bldLvl="0" animBg="1"/>
      <p:bldP spid="27661" grpId="0" bldLvl="0" animBg="1"/>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4"/>
          <p:cNvSpPr/>
          <p:nvPr/>
        </p:nvSpPr>
        <p:spPr>
          <a:xfrm>
            <a:off x="6084888" y="2349500"/>
            <a:ext cx="113364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4-20</a:t>
            </a:r>
            <a:r>
              <a:rPr lang="en-US" altLang="zh-CN" b="1" dirty="0">
                <a:latin typeface="Times New Roman" panose="02020603050405020304" pitchFamily="18" charset="0"/>
                <a:ea typeface="微软雅黑" pitchFamily="34" charset="-122"/>
              </a:rPr>
              <a:t> </a:t>
            </a:r>
            <a:endParaRPr lang="zh-CN" altLang="en-US" b="1" dirty="0">
              <a:latin typeface="Verdana" panose="020B0604030504040204" pitchFamily="34" charset="0"/>
              <a:ea typeface="微软雅黑" pitchFamily="34" charset="-122"/>
            </a:endParaRPr>
          </a:p>
        </p:txBody>
      </p:sp>
      <p:sp>
        <p:nvSpPr>
          <p:cNvPr id="2" name="Rectangle 2"/>
          <p:cNvSpPr txBox="1"/>
          <p:nvPr/>
        </p:nvSpPr>
        <p:spPr>
          <a:xfrm>
            <a:off x="0" y="0"/>
            <a:ext cx="3851275" cy="3284538"/>
          </a:xfrm>
          <a:prstGeom prst="rect">
            <a:avLst/>
          </a:prstGeom>
          <a:solidFill>
            <a:srgbClr val="FFCCFF"/>
          </a:solidFill>
          <a:ln w="9525">
            <a:noFill/>
          </a:ln>
        </p:spPr>
        <p:txBody>
          <a:bodyPr/>
          <a:lstStyle/>
          <a:p>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格的调入量</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是选择闭回路上具有</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的数字格中的最小者</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θ=min(1,  3)=1(</a:t>
            </a:r>
            <a:r>
              <a:rPr lang="zh-CN" altLang="en-US" b="1" dirty="0">
                <a:latin typeface="Times New Roman" panose="02020603050405020304" pitchFamily="18" charset="0"/>
                <a:ea typeface="微软雅黑" pitchFamily="34" charset="-122"/>
              </a:rPr>
              <a:t>其原理与单纯形法按</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规划来确定换出变量相同</a:t>
            </a:r>
            <a:r>
              <a:rPr lang="en-US" altLang="zh-CN" b="1" dirty="0">
                <a:latin typeface="Times New Roman" panose="02020603050405020304" pitchFamily="18" charset="0"/>
                <a:ea typeface="微软雅黑" pitchFamily="34" charset="-122"/>
              </a:rPr>
              <a:t>)</a:t>
            </a:r>
          </a:p>
          <a:p>
            <a:r>
              <a:rPr lang="zh-CN" altLang="en-US" b="1" dirty="0">
                <a:latin typeface="Times New Roman" panose="02020603050405020304" pitchFamily="18" charset="0"/>
                <a:ea typeface="微软雅黑" pitchFamily="34" charset="-122"/>
              </a:rPr>
              <a:t>然后按闭回路上的正、负号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加入和减去此值</a:t>
            </a:r>
            <a:endParaRPr lang="zh-CN" altLang="en-US" b="1" dirty="0">
              <a:solidFill>
                <a:schemeClr val="tx2"/>
              </a:solidFill>
              <a:latin typeface="Times New Roman" panose="02020603050405020304" pitchFamily="18" charset="0"/>
              <a:ea typeface="微软雅黑" pitchFamily="34" charset="-122"/>
            </a:endParaRPr>
          </a:p>
        </p:txBody>
      </p:sp>
      <p:pic>
        <p:nvPicPr>
          <p:cNvPr id="32772" name="Picture 7"/>
          <p:cNvPicPr>
            <a:picLocks noChangeAspect="1"/>
          </p:cNvPicPr>
          <p:nvPr/>
        </p:nvPicPr>
        <p:blipFill>
          <a:blip r:embed="rId2"/>
          <a:stretch>
            <a:fillRect/>
          </a:stretch>
        </p:blipFill>
        <p:spPr>
          <a:xfrm>
            <a:off x="3708400" y="0"/>
            <a:ext cx="5435600" cy="2346325"/>
          </a:xfrm>
          <a:prstGeom prst="rect">
            <a:avLst/>
          </a:prstGeom>
          <a:noFill/>
          <a:ln w="9525">
            <a:noFill/>
          </a:ln>
        </p:spPr>
      </p:pic>
      <p:sp>
        <p:nvSpPr>
          <p:cNvPr id="3" name="灯片编号占位符 2">
            <a:extLst>
              <a:ext uri="{FF2B5EF4-FFF2-40B4-BE49-F238E27FC236}">
                <a16:creationId xmlns:a16="http://schemas.microsoft.com/office/drawing/2014/main" id="{8948E5A3-E3CB-4141-BEB6-0502F62373D7}"/>
              </a:ext>
            </a:extLst>
          </p:cNvPr>
          <p:cNvSpPr>
            <a:spLocks noGrp="1"/>
          </p:cNvSpPr>
          <p:nvPr>
            <p:ph type="sldNum" sz="quarter" idx="12"/>
          </p:nvPr>
        </p:nvSpPr>
        <p:spPr/>
        <p:txBody>
          <a:bodyPr/>
          <a:lstStyle/>
          <a:p>
            <a:pPr>
              <a:defRPr/>
            </a:pPr>
            <a:fld id="{2AE1B59C-883C-4848-BC85-9A12DF2590B2}" type="slidenum">
              <a:rPr lang="en-US" altLang="zh-CN" smtClean="0"/>
              <a:t>42</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4"/>
          <p:cNvGraphicFramePr>
            <a:graphicFrameLocks noChangeAspect="1"/>
          </p:cNvGraphicFramePr>
          <p:nvPr/>
        </p:nvGraphicFramePr>
        <p:xfrm>
          <a:off x="395288" y="260350"/>
          <a:ext cx="4267200" cy="2971800"/>
        </p:xfrm>
        <a:graphic>
          <a:graphicData uri="http://schemas.openxmlformats.org/presentationml/2006/ole">
            <mc:AlternateContent xmlns:mc="http://schemas.openxmlformats.org/markup-compatibility/2006">
              <mc:Choice xmlns:v="urn:schemas-microsoft-com:vml" Requires="v">
                <p:oleObj spid="_x0000_s17452" r:id="rId3" imgW="3603625" imgH="2317115" progId="Word.Document.8">
                  <p:embed/>
                </p:oleObj>
              </mc:Choice>
              <mc:Fallback>
                <p:oleObj r:id="rId3" imgW="3603625" imgH="2317115" progId="Word.Document.8">
                  <p:embed/>
                  <p:pic>
                    <p:nvPicPr>
                      <p:cNvPr id="33794" name="Object 4"/>
                      <p:cNvPicPr/>
                      <p:nvPr/>
                    </p:nvPicPr>
                    <p:blipFill>
                      <a:blip r:embed="rId4"/>
                      <a:stretch>
                        <a:fillRect/>
                      </a:stretch>
                    </p:blipFill>
                    <p:spPr>
                      <a:xfrm>
                        <a:off x="395288" y="260350"/>
                        <a:ext cx="4267200" cy="2971800"/>
                      </a:xfrm>
                      <a:prstGeom prst="rect">
                        <a:avLst/>
                      </a:prstGeom>
                      <a:noFill/>
                      <a:ln w="38100">
                        <a:noFill/>
                        <a:miter/>
                      </a:ln>
                    </p:spPr>
                  </p:pic>
                </p:oleObj>
              </mc:Fallback>
            </mc:AlternateContent>
          </a:graphicData>
        </a:graphic>
      </p:graphicFrame>
      <p:graphicFrame>
        <p:nvGraphicFramePr>
          <p:cNvPr id="471045" name="Object 5"/>
          <p:cNvGraphicFramePr>
            <a:graphicFrameLocks noChangeAspect="1"/>
          </p:cNvGraphicFramePr>
          <p:nvPr/>
        </p:nvGraphicFramePr>
        <p:xfrm>
          <a:off x="5029200" y="260350"/>
          <a:ext cx="4360863" cy="3429000"/>
        </p:xfrm>
        <a:graphic>
          <a:graphicData uri="http://schemas.openxmlformats.org/presentationml/2006/ole">
            <mc:AlternateContent xmlns:mc="http://schemas.openxmlformats.org/markup-compatibility/2006">
              <mc:Choice xmlns:v="urn:schemas-microsoft-com:vml" Requires="v">
                <p:oleObj spid="_x0000_s17453" r:id="rId5" imgW="4135120" imgH="2724150" progId="Word.Document.8">
                  <p:embed/>
                </p:oleObj>
              </mc:Choice>
              <mc:Fallback>
                <p:oleObj r:id="rId5" imgW="4135120" imgH="2724150" progId="Word.Document.8">
                  <p:embed/>
                  <p:pic>
                    <p:nvPicPr>
                      <p:cNvPr id="471045" name="Object 5"/>
                      <p:cNvPicPr/>
                      <p:nvPr/>
                    </p:nvPicPr>
                    <p:blipFill>
                      <a:blip r:embed="rId6"/>
                      <a:stretch>
                        <a:fillRect/>
                      </a:stretch>
                    </p:blipFill>
                    <p:spPr>
                      <a:xfrm>
                        <a:off x="5029200" y="260350"/>
                        <a:ext cx="4360863" cy="3429000"/>
                      </a:xfrm>
                      <a:prstGeom prst="rect">
                        <a:avLst/>
                      </a:prstGeom>
                      <a:noFill/>
                      <a:ln w="38100">
                        <a:noFill/>
                        <a:miter/>
                      </a:ln>
                    </p:spPr>
                  </p:pic>
                </p:oleObj>
              </mc:Fallback>
            </mc:AlternateContent>
          </a:graphicData>
        </a:graphic>
      </p:graphicFrame>
      <p:sp>
        <p:nvSpPr>
          <p:cNvPr id="471047" name="Text Box 7"/>
          <p:cNvSpPr txBox="1"/>
          <p:nvPr/>
        </p:nvSpPr>
        <p:spPr>
          <a:xfrm>
            <a:off x="7235825" y="1484313"/>
            <a:ext cx="304800" cy="457200"/>
          </a:xfrm>
          <a:prstGeom prst="rect">
            <a:avLst/>
          </a:prstGeom>
          <a:solidFill>
            <a:srgbClr val="0000FF"/>
          </a:solidFill>
          <a:ln w="9525">
            <a:noFill/>
          </a:ln>
        </p:spPr>
        <p:txBody>
          <a:bodyPr>
            <a:spAutoFit/>
          </a:bodyPr>
          <a:lstStyle/>
          <a:p>
            <a:pPr eaLnBrk="1" hangingPunct="1">
              <a:spcBef>
                <a:spcPct val="50000"/>
              </a:spcBef>
            </a:pPr>
            <a:endParaRPr lang="zh-CN" altLang="en-US" dirty="0">
              <a:latin typeface="Times New Roman" panose="02020603050405020304" pitchFamily="18" charset="0"/>
              <a:ea typeface="微软雅黑" pitchFamily="34" charset="-122"/>
            </a:endParaRPr>
          </a:p>
        </p:txBody>
      </p:sp>
      <p:sp>
        <p:nvSpPr>
          <p:cNvPr id="471048" name="Rectangle 8"/>
          <p:cNvSpPr/>
          <p:nvPr/>
        </p:nvSpPr>
        <p:spPr>
          <a:xfrm>
            <a:off x="3151137" y="1323975"/>
            <a:ext cx="412751" cy="304800"/>
          </a:xfrm>
          <a:prstGeom prst="rect">
            <a:avLst/>
          </a:prstGeom>
          <a:noFill/>
          <a:ln w="38100" cap="flat" cmpd="sng">
            <a:solidFill>
              <a:schemeClr val="hlink"/>
            </a:solidFill>
            <a:prstDash val="sysDot"/>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71050" name="Rectangle 10"/>
          <p:cNvSpPr/>
          <p:nvPr/>
        </p:nvSpPr>
        <p:spPr>
          <a:xfrm>
            <a:off x="7452320" y="1341438"/>
            <a:ext cx="373063" cy="304800"/>
          </a:xfrm>
          <a:prstGeom prst="rect">
            <a:avLst/>
          </a:prstGeom>
          <a:noFill/>
          <a:ln w="38100" cap="flat" cmpd="sng">
            <a:solidFill>
              <a:schemeClr val="hlink"/>
            </a:solidFill>
            <a:prstDash val="sysDot"/>
            <a:miter/>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 name="灯片编号占位符 1">
            <a:extLst>
              <a:ext uri="{FF2B5EF4-FFF2-40B4-BE49-F238E27FC236}">
                <a16:creationId xmlns:a16="http://schemas.microsoft.com/office/drawing/2014/main" id="{08F67185-6A73-4DAB-82D2-09B82780255F}"/>
              </a:ext>
            </a:extLst>
          </p:cNvPr>
          <p:cNvSpPr>
            <a:spLocks noGrp="1"/>
          </p:cNvSpPr>
          <p:nvPr>
            <p:ph type="sldNum" sz="quarter" idx="12"/>
          </p:nvPr>
        </p:nvSpPr>
        <p:spPr/>
        <p:txBody>
          <a:bodyPr/>
          <a:lstStyle/>
          <a:p>
            <a:pPr>
              <a:defRPr/>
            </a:pPr>
            <a:fld id="{2AE1B59C-883C-4848-BC85-9A12DF2590B2}" type="slidenum">
              <a:rPr lang="en-US" altLang="zh-CN" smtClean="0"/>
              <a:t>43</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48"/>
                                        </p:tgtEl>
                                        <p:attrNameLst>
                                          <p:attrName>style.visibility</p:attrName>
                                        </p:attrNameLst>
                                      </p:cBhvr>
                                      <p:to>
                                        <p:strVal val="visible"/>
                                      </p:to>
                                    </p:set>
                                    <p:anim calcmode="lin" valueType="num">
                                      <p:cBhvr additive="base">
                                        <p:cTn id="7" dur="500" fill="hold"/>
                                        <p:tgtEl>
                                          <p:spTgt spid="471048"/>
                                        </p:tgtEl>
                                        <p:attrNameLst>
                                          <p:attrName>ppt_x</p:attrName>
                                        </p:attrNameLst>
                                      </p:cBhvr>
                                      <p:tavLst>
                                        <p:tav tm="0">
                                          <p:val>
                                            <p:strVal val="0-#ppt_w/2"/>
                                          </p:val>
                                        </p:tav>
                                        <p:tav tm="100000">
                                          <p:val>
                                            <p:strVal val="#ppt_x"/>
                                          </p:val>
                                        </p:tav>
                                      </p:tavLst>
                                    </p:anim>
                                    <p:anim calcmode="lin" valueType="num">
                                      <p:cBhvr additive="base">
                                        <p:cTn id="8" dur="500" fill="hold"/>
                                        <p:tgtEl>
                                          <p:spTgt spid="4710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1045"/>
                                        </p:tgtEl>
                                        <p:attrNameLst>
                                          <p:attrName>style.visibility</p:attrName>
                                        </p:attrNameLst>
                                      </p:cBhvr>
                                      <p:to>
                                        <p:strVal val="visible"/>
                                      </p:to>
                                    </p:set>
                                    <p:anim calcmode="lin" valueType="num">
                                      <p:cBhvr additive="base">
                                        <p:cTn id="13" dur="500" fill="hold"/>
                                        <p:tgtEl>
                                          <p:spTgt spid="471045"/>
                                        </p:tgtEl>
                                        <p:attrNameLst>
                                          <p:attrName>ppt_x</p:attrName>
                                        </p:attrNameLst>
                                      </p:cBhvr>
                                      <p:tavLst>
                                        <p:tav tm="0">
                                          <p:val>
                                            <p:strVal val="0-#ppt_w/2"/>
                                          </p:val>
                                        </p:tav>
                                        <p:tav tm="100000">
                                          <p:val>
                                            <p:strVal val="#ppt_x"/>
                                          </p:val>
                                        </p:tav>
                                      </p:tavLst>
                                    </p:anim>
                                    <p:anim calcmode="lin" valueType="num">
                                      <p:cBhvr additive="base">
                                        <p:cTn id="14" dur="500" fill="hold"/>
                                        <p:tgtEl>
                                          <p:spTgt spid="47104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71050"/>
                                        </p:tgtEl>
                                        <p:attrNameLst>
                                          <p:attrName>style.visibility</p:attrName>
                                        </p:attrNameLst>
                                      </p:cBhvr>
                                      <p:to>
                                        <p:strVal val="visible"/>
                                      </p:to>
                                    </p:set>
                                    <p:anim calcmode="lin" valueType="num">
                                      <p:cBhvr additive="base">
                                        <p:cTn id="19" dur="500" fill="hold"/>
                                        <p:tgtEl>
                                          <p:spTgt spid="471050"/>
                                        </p:tgtEl>
                                        <p:attrNameLst>
                                          <p:attrName>ppt_x</p:attrName>
                                        </p:attrNameLst>
                                      </p:cBhvr>
                                      <p:tavLst>
                                        <p:tav tm="0">
                                          <p:val>
                                            <p:strVal val="0-#ppt_w/2"/>
                                          </p:val>
                                        </p:tav>
                                        <p:tav tm="100000">
                                          <p:val>
                                            <p:strVal val="#ppt_x"/>
                                          </p:val>
                                        </p:tav>
                                      </p:tavLst>
                                    </p:anim>
                                    <p:anim calcmode="lin" valueType="num">
                                      <p:cBhvr additive="base">
                                        <p:cTn id="20" dur="500" fill="hold"/>
                                        <p:tgtEl>
                                          <p:spTgt spid="47105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1047"/>
                                        </p:tgtEl>
                                        <p:attrNameLst>
                                          <p:attrName>style.visibility</p:attrName>
                                        </p:attrNameLst>
                                      </p:cBhvr>
                                      <p:to>
                                        <p:strVal val="visible"/>
                                      </p:to>
                                    </p:set>
                                    <p:anim calcmode="lin" valueType="num">
                                      <p:cBhvr additive="base">
                                        <p:cTn id="25" dur="500" fill="hold"/>
                                        <p:tgtEl>
                                          <p:spTgt spid="471047"/>
                                        </p:tgtEl>
                                        <p:attrNameLst>
                                          <p:attrName>ppt_x</p:attrName>
                                        </p:attrNameLst>
                                      </p:cBhvr>
                                      <p:tavLst>
                                        <p:tav tm="0">
                                          <p:val>
                                            <p:strVal val="0-#ppt_w/2"/>
                                          </p:val>
                                        </p:tav>
                                        <p:tav tm="100000">
                                          <p:val>
                                            <p:strVal val="#ppt_x"/>
                                          </p:val>
                                        </p:tav>
                                      </p:tavLst>
                                    </p:anim>
                                    <p:anim calcmode="lin" valueType="num">
                                      <p:cBhvr additive="base">
                                        <p:cTn id="26" dur="500" fill="hold"/>
                                        <p:tgtEl>
                                          <p:spTgt spid="4710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7" grpId="0" animBg="1"/>
      <p:bldP spid="471048" grpId="0" animBg="1"/>
      <p:bldP spid="47105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p:nvPr/>
        </p:nvSpPr>
        <p:spPr>
          <a:xfrm>
            <a:off x="6227763" y="4724400"/>
            <a:ext cx="1450975"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4-21</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4819" name="矩形 4"/>
          <p:cNvSpPr/>
          <p:nvPr/>
        </p:nvSpPr>
        <p:spPr>
          <a:xfrm>
            <a:off x="6084888" y="2349500"/>
            <a:ext cx="113364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4-20</a:t>
            </a:r>
            <a:r>
              <a:rPr lang="en-US" altLang="zh-CN" b="1" dirty="0">
                <a:latin typeface="Times New Roman" panose="02020603050405020304" pitchFamily="18" charset="0"/>
                <a:ea typeface="微软雅黑" pitchFamily="34" charset="-122"/>
              </a:rPr>
              <a:t> </a:t>
            </a:r>
            <a:endParaRPr lang="zh-CN" altLang="en-US" b="1" dirty="0">
              <a:latin typeface="Verdana" panose="020B0604030504040204" pitchFamily="34" charset="0"/>
              <a:ea typeface="微软雅黑" pitchFamily="34" charset="-122"/>
            </a:endParaRPr>
          </a:p>
        </p:txBody>
      </p:sp>
      <p:sp>
        <p:nvSpPr>
          <p:cNvPr id="2" name="Rectangle 2"/>
          <p:cNvSpPr txBox="1"/>
          <p:nvPr/>
        </p:nvSpPr>
        <p:spPr>
          <a:xfrm>
            <a:off x="0" y="0"/>
            <a:ext cx="3851275" cy="4149725"/>
          </a:xfrm>
          <a:prstGeom prst="rect">
            <a:avLst/>
          </a:prstGeom>
          <a:solidFill>
            <a:srgbClr val="FFCCFF"/>
          </a:solidFill>
          <a:ln w="9525">
            <a:noFill/>
          </a:ln>
        </p:spPr>
        <p:txBody>
          <a:bodyPr/>
          <a:lstStyle/>
          <a:p>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格的调入量</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是选择闭回路上具有</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的数字格中的最小者</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θ=min(1, 3)=1(</a:t>
            </a:r>
            <a:r>
              <a:rPr lang="zh-CN" altLang="en-US" b="1" dirty="0">
                <a:latin typeface="Times New Roman" panose="02020603050405020304" pitchFamily="18" charset="0"/>
                <a:ea typeface="微软雅黑" pitchFamily="34" charset="-122"/>
              </a:rPr>
              <a:t>其原理与单纯形法按</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规划来确定换出变量相同</a:t>
            </a:r>
            <a:r>
              <a:rPr lang="en-US" altLang="zh-CN" b="1" dirty="0">
                <a:latin typeface="Times New Roman" panose="02020603050405020304" pitchFamily="18" charset="0"/>
                <a:ea typeface="微软雅黑" pitchFamily="34" charset="-122"/>
              </a:rPr>
              <a:t>)</a:t>
            </a:r>
          </a:p>
          <a:p>
            <a:r>
              <a:rPr lang="zh-CN" altLang="en-US" b="1" dirty="0">
                <a:latin typeface="Times New Roman" panose="02020603050405020304" pitchFamily="18" charset="0"/>
                <a:ea typeface="微软雅黑" pitchFamily="34" charset="-122"/>
              </a:rPr>
              <a:t>然后按闭回路上的正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负号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加入和减去此值</a:t>
            </a:r>
            <a:endParaRPr lang="en-US" altLang="zh-CN" b="1" dirty="0">
              <a:latin typeface="Times New Roman" panose="02020603050405020304" pitchFamily="18" charset="0"/>
              <a:ea typeface="微软雅黑" pitchFamily="34" charset="-122"/>
            </a:endParaRPr>
          </a:p>
          <a:p>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得到调整方案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所示</a:t>
            </a:r>
            <a:endParaRPr lang="zh-CN" altLang="en-US" b="1" dirty="0">
              <a:solidFill>
                <a:schemeClr val="tx2"/>
              </a:solidFill>
              <a:latin typeface="Times New Roman" panose="02020603050405020304" pitchFamily="18" charset="0"/>
              <a:ea typeface="微软雅黑" pitchFamily="34" charset="-122"/>
            </a:endParaRPr>
          </a:p>
        </p:txBody>
      </p:sp>
      <p:pic>
        <p:nvPicPr>
          <p:cNvPr id="359428" name="Picture 4"/>
          <p:cNvPicPr>
            <a:picLocks noChangeAspect="1"/>
          </p:cNvPicPr>
          <p:nvPr/>
        </p:nvPicPr>
        <p:blipFill>
          <a:blip r:embed="rId2"/>
          <a:stretch>
            <a:fillRect/>
          </a:stretch>
        </p:blipFill>
        <p:spPr>
          <a:xfrm>
            <a:off x="4356100" y="2781300"/>
            <a:ext cx="4787900" cy="1989138"/>
          </a:xfrm>
          <a:prstGeom prst="rect">
            <a:avLst/>
          </a:prstGeom>
          <a:noFill/>
          <a:ln w="9525">
            <a:noFill/>
          </a:ln>
        </p:spPr>
      </p:pic>
      <p:pic>
        <p:nvPicPr>
          <p:cNvPr id="34822" name="Picture 7"/>
          <p:cNvPicPr>
            <a:picLocks noChangeAspect="1"/>
          </p:cNvPicPr>
          <p:nvPr/>
        </p:nvPicPr>
        <p:blipFill>
          <a:blip r:embed="rId3"/>
          <a:stretch>
            <a:fillRect/>
          </a:stretch>
        </p:blipFill>
        <p:spPr>
          <a:xfrm>
            <a:off x="3708400" y="0"/>
            <a:ext cx="5435600" cy="2346325"/>
          </a:xfrm>
          <a:prstGeom prst="rect">
            <a:avLst/>
          </a:prstGeom>
          <a:noFill/>
          <a:ln w="9525">
            <a:noFill/>
          </a:ln>
        </p:spPr>
      </p:pic>
      <p:sp>
        <p:nvSpPr>
          <p:cNvPr id="6" name="Rectangle 2"/>
          <p:cNvSpPr txBox="1"/>
          <p:nvPr/>
        </p:nvSpPr>
        <p:spPr>
          <a:xfrm>
            <a:off x="0" y="5353050"/>
            <a:ext cx="9144000" cy="1504950"/>
          </a:xfrm>
          <a:prstGeom prst="rect">
            <a:avLst/>
          </a:prstGeom>
          <a:noFill/>
          <a:ln w="9525">
            <a:noFill/>
          </a:ln>
        </p:spPr>
        <p:txBody>
          <a:bodyPr/>
          <a:lstStyle/>
          <a:p>
            <a:r>
              <a:rPr lang="zh-CN" altLang="en-US" b="1" dirty="0">
                <a:latin typeface="微软雅黑" pitchFamily="34" charset="-122"/>
                <a:ea typeface="微软雅黑" pitchFamily="34" charset="-122"/>
              </a:rPr>
              <a:t>对表</a:t>
            </a:r>
            <a:r>
              <a:rPr lang="en-US" altLang="zh-CN" b="1" dirty="0">
                <a:latin typeface="Times New Roman" panose="02020603050405020304" pitchFamily="18" charset="0"/>
                <a:ea typeface="微软雅黑" pitchFamily="34" charset="-122"/>
                <a:cs typeface="Times New Roman" panose="02020603050405020304" pitchFamily="18" charset="0"/>
              </a:rPr>
              <a:t>4-21</a:t>
            </a:r>
            <a:r>
              <a:rPr lang="zh-CN" altLang="en-US" b="1" dirty="0">
                <a:latin typeface="微软雅黑" pitchFamily="34" charset="-122"/>
                <a:ea typeface="微软雅黑" pitchFamily="34" charset="-122"/>
              </a:rPr>
              <a:t>给出的解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再用闭回路法或位势法求各空格的检验数</a:t>
            </a:r>
          </a:p>
        </p:txBody>
      </p:sp>
      <p:sp>
        <p:nvSpPr>
          <p:cNvPr id="4" name="灯片编号占位符 3">
            <a:extLst>
              <a:ext uri="{FF2B5EF4-FFF2-40B4-BE49-F238E27FC236}">
                <a16:creationId xmlns:a16="http://schemas.microsoft.com/office/drawing/2014/main" id="{ADC5E87F-BB1F-478F-B6CE-F34712A48677}"/>
              </a:ext>
            </a:extLst>
          </p:cNvPr>
          <p:cNvSpPr>
            <a:spLocks noGrp="1"/>
          </p:cNvSpPr>
          <p:nvPr>
            <p:ph type="sldNum" sz="quarter" idx="12"/>
          </p:nvPr>
        </p:nvSpPr>
        <p:spPr/>
        <p:txBody>
          <a:bodyPr/>
          <a:lstStyle/>
          <a:p>
            <a:pPr>
              <a:defRPr/>
            </a:pPr>
            <a:fld id="{2AE1B59C-883C-4848-BC85-9A12DF2590B2}" type="slidenum">
              <a:rPr lang="en-US" altLang="zh-CN" smtClean="0"/>
              <a:t>44</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linds(horizontal)">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359428"/>
                                        </p:tgtEl>
                                        <p:attrNameLst>
                                          <p:attrName>style.visibility</p:attrName>
                                        </p:attrNameLst>
                                      </p:cBhvr>
                                      <p:to>
                                        <p:strVal val="visible"/>
                                      </p:to>
                                    </p:set>
                                    <p:animEffect transition="in" filter="blinds(horizontal)">
                                      <p:cBhvr>
                                        <p:cTn id="15" dur="500"/>
                                        <p:tgtEl>
                                          <p:spTgt spid="35942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dissolve">
                                      <p:cBhvr>
                                        <p:cTn id="2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19"/>
          <p:cNvGraphicFramePr>
            <a:graphicFrameLocks noChangeAspect="1"/>
          </p:cNvGraphicFramePr>
          <p:nvPr/>
        </p:nvGraphicFramePr>
        <p:xfrm>
          <a:off x="755650" y="476250"/>
          <a:ext cx="4419600" cy="2743200"/>
        </p:xfrm>
        <a:graphic>
          <a:graphicData uri="http://schemas.openxmlformats.org/presentationml/2006/ole">
            <mc:AlternateContent xmlns:mc="http://schemas.openxmlformats.org/markup-compatibility/2006">
              <mc:Choice xmlns:v="urn:schemas-microsoft-com:vml" Requires="v">
                <p:oleObj spid="_x0000_s18518" r:id="rId3" imgW="3587750" imgH="2317115" progId="Word.Document.8">
                  <p:embed/>
                </p:oleObj>
              </mc:Choice>
              <mc:Fallback>
                <p:oleObj r:id="rId3" imgW="3587750" imgH="2317115" progId="Word.Document.8">
                  <p:embed/>
                  <p:pic>
                    <p:nvPicPr>
                      <p:cNvPr id="35842" name="Object 19"/>
                      <p:cNvPicPr/>
                      <p:nvPr/>
                    </p:nvPicPr>
                    <p:blipFill>
                      <a:blip r:embed="rId4"/>
                      <a:stretch>
                        <a:fillRect/>
                      </a:stretch>
                    </p:blipFill>
                    <p:spPr>
                      <a:xfrm>
                        <a:off x="755650" y="476250"/>
                        <a:ext cx="4419600" cy="2743200"/>
                      </a:xfrm>
                      <a:prstGeom prst="rect">
                        <a:avLst/>
                      </a:prstGeom>
                      <a:noFill/>
                      <a:ln w="38100">
                        <a:noFill/>
                        <a:miter/>
                      </a:ln>
                    </p:spPr>
                  </p:pic>
                </p:oleObj>
              </mc:Fallback>
            </mc:AlternateContent>
          </a:graphicData>
        </a:graphic>
      </p:graphicFrame>
      <p:graphicFrame>
        <p:nvGraphicFramePr>
          <p:cNvPr id="473090" name="Object 2"/>
          <p:cNvGraphicFramePr>
            <a:graphicFrameLocks noChangeAspect="1"/>
          </p:cNvGraphicFramePr>
          <p:nvPr/>
        </p:nvGraphicFramePr>
        <p:xfrm>
          <a:off x="914400" y="3894138"/>
          <a:ext cx="4383088" cy="2868612"/>
        </p:xfrm>
        <a:graphic>
          <a:graphicData uri="http://schemas.openxmlformats.org/presentationml/2006/ole">
            <mc:AlternateContent xmlns:mc="http://schemas.openxmlformats.org/markup-compatibility/2006">
              <mc:Choice xmlns:v="urn:schemas-microsoft-com:vml" Requires="v">
                <p:oleObj spid="_x0000_s18519" r:id="rId5" imgW="3536950" imgH="2317115" progId="Word.Document.8">
                  <p:embed/>
                </p:oleObj>
              </mc:Choice>
              <mc:Fallback>
                <p:oleObj r:id="rId5" imgW="3536950" imgH="2317115" progId="Word.Document.8">
                  <p:embed/>
                  <p:pic>
                    <p:nvPicPr>
                      <p:cNvPr id="473090" name="Object 2"/>
                      <p:cNvPicPr/>
                      <p:nvPr/>
                    </p:nvPicPr>
                    <p:blipFill>
                      <a:blip r:embed="rId6"/>
                      <a:stretch>
                        <a:fillRect/>
                      </a:stretch>
                    </p:blipFill>
                    <p:spPr>
                      <a:xfrm>
                        <a:off x="914400" y="3894138"/>
                        <a:ext cx="4383088" cy="2868612"/>
                      </a:xfrm>
                      <a:prstGeom prst="rect">
                        <a:avLst/>
                      </a:prstGeom>
                      <a:noFill/>
                      <a:ln w="38100">
                        <a:noFill/>
                        <a:miter/>
                      </a:ln>
                    </p:spPr>
                  </p:pic>
                </p:oleObj>
              </mc:Fallback>
            </mc:AlternateContent>
          </a:graphicData>
        </a:graphic>
      </p:graphicFrame>
      <p:sp>
        <p:nvSpPr>
          <p:cNvPr id="473091" name="Text Box 3"/>
          <p:cNvSpPr txBox="1"/>
          <p:nvPr/>
        </p:nvSpPr>
        <p:spPr>
          <a:xfrm>
            <a:off x="1447800" y="3505200"/>
            <a:ext cx="33528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位势表</a:t>
            </a:r>
          </a:p>
        </p:txBody>
      </p:sp>
      <p:sp>
        <p:nvSpPr>
          <p:cNvPr id="473092" name="Text Box 4"/>
          <p:cNvSpPr txBox="1"/>
          <p:nvPr/>
        </p:nvSpPr>
        <p:spPr>
          <a:xfrm>
            <a:off x="2209800" y="5715000"/>
            <a:ext cx="3810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1</a:t>
            </a:r>
          </a:p>
        </p:txBody>
      </p:sp>
      <p:sp>
        <p:nvSpPr>
          <p:cNvPr id="473093" name="Text Box 5"/>
          <p:cNvSpPr txBox="1"/>
          <p:nvPr/>
        </p:nvSpPr>
        <p:spPr>
          <a:xfrm>
            <a:off x="4800600" y="5029200"/>
            <a:ext cx="457200" cy="366713"/>
          </a:xfrm>
          <a:prstGeom prst="rect">
            <a:avLst/>
          </a:prstGeom>
          <a:noFill/>
          <a:ln w="9525">
            <a:noFill/>
          </a:ln>
        </p:spPr>
        <p:txBody>
          <a:bodyPr>
            <a:spAutoFit/>
          </a:bodyPr>
          <a:lstStyle/>
          <a:p>
            <a:pPr eaLnBrk="1" hangingPunct="1">
              <a:spcBef>
                <a:spcPct val="50000"/>
              </a:spcBef>
            </a:pPr>
            <a:r>
              <a:rPr lang="en-US" altLang="zh-CN" sz="1800" dirty="0">
                <a:solidFill>
                  <a:schemeClr val="bg1"/>
                </a:solidFill>
                <a:latin typeface="Times New Roman" panose="02020603050405020304" pitchFamily="18" charset="0"/>
                <a:ea typeface="微软雅黑" pitchFamily="34" charset="-122"/>
              </a:rPr>
              <a:t>0</a:t>
            </a:r>
          </a:p>
        </p:txBody>
      </p:sp>
      <p:sp>
        <p:nvSpPr>
          <p:cNvPr id="473095" name="Text Box 7"/>
          <p:cNvSpPr txBox="1"/>
          <p:nvPr/>
        </p:nvSpPr>
        <p:spPr>
          <a:xfrm>
            <a:off x="4800600" y="4724400"/>
            <a:ext cx="4572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2</a:t>
            </a:r>
          </a:p>
        </p:txBody>
      </p:sp>
      <p:sp>
        <p:nvSpPr>
          <p:cNvPr id="473094" name="Text Box 6"/>
          <p:cNvSpPr txBox="1"/>
          <p:nvPr/>
        </p:nvSpPr>
        <p:spPr>
          <a:xfrm>
            <a:off x="3581400" y="5715000"/>
            <a:ext cx="3810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1</a:t>
            </a:r>
          </a:p>
        </p:txBody>
      </p:sp>
      <p:sp>
        <p:nvSpPr>
          <p:cNvPr id="473096" name="Text Box 8"/>
          <p:cNvSpPr txBox="1"/>
          <p:nvPr/>
        </p:nvSpPr>
        <p:spPr>
          <a:xfrm>
            <a:off x="4191000" y="5715000"/>
            <a:ext cx="5334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8</a:t>
            </a:r>
          </a:p>
        </p:txBody>
      </p:sp>
      <p:sp>
        <p:nvSpPr>
          <p:cNvPr id="473097" name="Text Box 9"/>
          <p:cNvSpPr txBox="1"/>
          <p:nvPr/>
        </p:nvSpPr>
        <p:spPr>
          <a:xfrm>
            <a:off x="4724400" y="5300663"/>
            <a:ext cx="533400" cy="396875"/>
          </a:xfrm>
          <a:prstGeom prst="rect">
            <a:avLst/>
          </a:prstGeom>
          <a:noFill/>
          <a:ln w="9525">
            <a:noFill/>
          </a:ln>
        </p:spPr>
        <p:txBody>
          <a:bodyPr>
            <a:spAutoFit/>
          </a:bodyPr>
          <a:lstStyle/>
          <a:p>
            <a:pPr eaLnBrk="1" hangingPunct="1">
              <a:spcBef>
                <a:spcPct val="50000"/>
              </a:spcBef>
            </a:pPr>
            <a:r>
              <a:rPr lang="en-US" altLang="zh-CN" sz="2000" dirty="0">
                <a:solidFill>
                  <a:schemeClr val="bg1"/>
                </a:solidFill>
                <a:latin typeface="Times New Roman" panose="02020603050405020304" pitchFamily="18" charset="0"/>
                <a:ea typeface="微软雅黑" pitchFamily="34" charset="-122"/>
              </a:rPr>
              <a:t>-3</a:t>
            </a:r>
          </a:p>
        </p:txBody>
      </p:sp>
      <p:sp>
        <p:nvSpPr>
          <p:cNvPr id="473098" name="Text Box 10"/>
          <p:cNvSpPr txBox="1"/>
          <p:nvPr/>
        </p:nvSpPr>
        <p:spPr>
          <a:xfrm>
            <a:off x="2895600" y="5715000"/>
            <a:ext cx="457200" cy="457200"/>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微软雅黑" pitchFamily="34" charset="-122"/>
              </a:rPr>
              <a:t>7</a:t>
            </a:r>
          </a:p>
        </p:txBody>
      </p:sp>
      <p:sp>
        <p:nvSpPr>
          <p:cNvPr id="473099" name="Text Box 11"/>
          <p:cNvSpPr txBox="1"/>
          <p:nvPr/>
        </p:nvSpPr>
        <p:spPr>
          <a:xfrm>
            <a:off x="1981200" y="4724400"/>
            <a:ext cx="9144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3</a:t>
            </a:r>
            <a:r>
              <a:rPr lang="zh-CN" altLang="en-US" sz="1800" dirty="0">
                <a:solidFill>
                  <a:schemeClr val="bg1"/>
                </a:solidFill>
                <a:latin typeface="Times New Roman" panose="02020603050405020304" pitchFamily="18" charset="0"/>
                <a:ea typeface="微软雅黑" pitchFamily="34" charset="-122"/>
              </a:rPr>
              <a:t>）</a:t>
            </a:r>
          </a:p>
        </p:txBody>
      </p:sp>
      <p:sp>
        <p:nvSpPr>
          <p:cNvPr id="473100" name="Text Box 12"/>
          <p:cNvSpPr txBox="1"/>
          <p:nvPr/>
        </p:nvSpPr>
        <p:spPr>
          <a:xfrm>
            <a:off x="2667000" y="47244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9</a:t>
            </a:r>
            <a:r>
              <a:rPr lang="zh-CN" altLang="en-US" sz="1800" dirty="0">
                <a:solidFill>
                  <a:schemeClr val="bg1"/>
                </a:solidFill>
                <a:latin typeface="Times New Roman" panose="02020603050405020304" pitchFamily="18" charset="0"/>
                <a:ea typeface="微软雅黑" pitchFamily="34" charset="-122"/>
              </a:rPr>
              <a:t>）</a:t>
            </a:r>
          </a:p>
        </p:txBody>
      </p:sp>
      <p:sp>
        <p:nvSpPr>
          <p:cNvPr id="473101" name="Text Box 13"/>
          <p:cNvSpPr txBox="1"/>
          <p:nvPr/>
        </p:nvSpPr>
        <p:spPr>
          <a:xfrm>
            <a:off x="2667000" y="5029200"/>
            <a:ext cx="7620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7</a:t>
            </a:r>
            <a:r>
              <a:rPr lang="zh-CN" altLang="en-US" sz="1800" dirty="0">
                <a:solidFill>
                  <a:schemeClr val="bg1"/>
                </a:solidFill>
                <a:latin typeface="Times New Roman" panose="02020603050405020304" pitchFamily="18" charset="0"/>
                <a:ea typeface="微软雅黑" pitchFamily="34" charset="-122"/>
              </a:rPr>
              <a:t>）</a:t>
            </a:r>
          </a:p>
        </p:txBody>
      </p:sp>
      <p:sp>
        <p:nvSpPr>
          <p:cNvPr id="473102" name="Text Box 14"/>
          <p:cNvSpPr txBox="1"/>
          <p:nvPr/>
        </p:nvSpPr>
        <p:spPr>
          <a:xfrm>
            <a:off x="3352800" y="5029200"/>
            <a:ext cx="10668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1</a:t>
            </a:r>
            <a:r>
              <a:rPr lang="zh-CN" altLang="en-US" sz="1800" dirty="0">
                <a:solidFill>
                  <a:schemeClr val="bg1"/>
                </a:solidFill>
                <a:latin typeface="Times New Roman" panose="02020603050405020304" pitchFamily="18" charset="0"/>
                <a:ea typeface="微软雅黑" pitchFamily="34" charset="-122"/>
              </a:rPr>
              <a:t>）</a:t>
            </a:r>
          </a:p>
        </p:txBody>
      </p:sp>
      <p:sp>
        <p:nvSpPr>
          <p:cNvPr id="473103" name="Text Box 15"/>
          <p:cNvSpPr txBox="1"/>
          <p:nvPr/>
        </p:nvSpPr>
        <p:spPr>
          <a:xfrm>
            <a:off x="1905000" y="5257800"/>
            <a:ext cx="8382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sp>
        <p:nvSpPr>
          <p:cNvPr id="473104" name="Text Box 16"/>
          <p:cNvSpPr txBox="1"/>
          <p:nvPr/>
        </p:nvSpPr>
        <p:spPr>
          <a:xfrm>
            <a:off x="3352800" y="5257800"/>
            <a:ext cx="990600" cy="366713"/>
          </a:xfrm>
          <a:prstGeom prst="rect">
            <a:avLst/>
          </a:prstGeom>
          <a:noFill/>
          <a:ln w="9525">
            <a:noFill/>
          </a:ln>
        </p:spPr>
        <p:txBody>
          <a:bodyPr>
            <a:spAutoFit/>
          </a:bodyPr>
          <a:lstStyle/>
          <a:p>
            <a:pPr eaLnBrk="1" hangingPunct="1">
              <a:spcBef>
                <a:spcPct val="50000"/>
              </a:spcBef>
            </a:pPr>
            <a:r>
              <a:rPr lang="zh-CN" altLang="en-US" sz="1800" dirty="0">
                <a:solidFill>
                  <a:schemeClr val="bg1"/>
                </a:solidFill>
                <a:latin typeface="Times New Roman" panose="02020603050405020304" pitchFamily="18" charset="0"/>
                <a:ea typeface="微软雅黑" pitchFamily="34" charset="-122"/>
              </a:rPr>
              <a:t>（</a:t>
            </a:r>
            <a:r>
              <a:rPr lang="en-US" altLang="zh-CN" sz="1800" dirty="0">
                <a:solidFill>
                  <a:schemeClr val="bg1"/>
                </a:solidFill>
                <a:latin typeface="Times New Roman" panose="02020603050405020304" pitchFamily="18" charset="0"/>
                <a:ea typeface="微软雅黑" pitchFamily="34" charset="-122"/>
              </a:rPr>
              <a:t>-2</a:t>
            </a:r>
            <a:r>
              <a:rPr lang="zh-CN" altLang="en-US" sz="1800" dirty="0">
                <a:solidFill>
                  <a:schemeClr val="bg1"/>
                </a:solidFill>
                <a:latin typeface="Times New Roman" panose="02020603050405020304" pitchFamily="18" charset="0"/>
                <a:ea typeface="微软雅黑" pitchFamily="34" charset="-122"/>
              </a:rPr>
              <a:t>）</a:t>
            </a:r>
          </a:p>
        </p:txBody>
      </p:sp>
      <p:graphicFrame>
        <p:nvGraphicFramePr>
          <p:cNvPr id="473105" name="Object 17"/>
          <p:cNvGraphicFramePr>
            <a:graphicFrameLocks noChangeAspect="1"/>
          </p:cNvGraphicFramePr>
          <p:nvPr/>
        </p:nvGraphicFramePr>
        <p:xfrm>
          <a:off x="5292725" y="549275"/>
          <a:ext cx="3505200" cy="2590800"/>
        </p:xfrm>
        <a:graphic>
          <a:graphicData uri="http://schemas.openxmlformats.org/presentationml/2006/ole">
            <mc:AlternateContent xmlns:mc="http://schemas.openxmlformats.org/markup-compatibility/2006">
              <mc:Choice xmlns:v="urn:schemas-microsoft-com:vml" Requires="v">
                <p:oleObj spid="_x0000_s18520" r:id="rId7" imgW="2786380" imgH="2114550" progId="Word.Document.8">
                  <p:embed/>
                </p:oleObj>
              </mc:Choice>
              <mc:Fallback>
                <p:oleObj r:id="rId7" imgW="2786380" imgH="2114550" progId="Word.Document.8">
                  <p:embed/>
                  <p:pic>
                    <p:nvPicPr>
                      <p:cNvPr id="473105" name="Object 17"/>
                      <p:cNvPicPr/>
                      <p:nvPr/>
                    </p:nvPicPr>
                    <p:blipFill>
                      <a:blip r:embed="rId8"/>
                      <a:stretch>
                        <a:fillRect/>
                      </a:stretch>
                    </p:blipFill>
                    <p:spPr>
                      <a:xfrm>
                        <a:off x="5292725" y="549275"/>
                        <a:ext cx="3505200" cy="2590800"/>
                      </a:xfrm>
                      <a:prstGeom prst="rect">
                        <a:avLst/>
                      </a:prstGeom>
                      <a:noFill/>
                      <a:ln w="38100">
                        <a:noFill/>
                        <a:miter/>
                      </a:ln>
                    </p:spPr>
                  </p:pic>
                </p:oleObj>
              </mc:Fallback>
            </mc:AlternateContent>
          </a:graphicData>
        </a:graphic>
      </p:graphicFrame>
      <p:sp>
        <p:nvSpPr>
          <p:cNvPr id="473106" name="Text Box 18"/>
          <p:cNvSpPr txBox="1"/>
          <p:nvPr/>
        </p:nvSpPr>
        <p:spPr>
          <a:xfrm>
            <a:off x="5562600" y="3505200"/>
            <a:ext cx="2819400"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检验数表</a:t>
            </a:r>
          </a:p>
        </p:txBody>
      </p:sp>
      <p:graphicFrame>
        <p:nvGraphicFramePr>
          <p:cNvPr id="473108" name="Object 20"/>
          <p:cNvGraphicFramePr>
            <a:graphicFrameLocks noChangeAspect="1"/>
          </p:cNvGraphicFramePr>
          <p:nvPr/>
        </p:nvGraphicFramePr>
        <p:xfrm>
          <a:off x="5334000" y="3962400"/>
          <a:ext cx="3505200" cy="2286000"/>
        </p:xfrm>
        <a:graphic>
          <a:graphicData uri="http://schemas.openxmlformats.org/presentationml/2006/ole">
            <mc:AlternateContent xmlns:mc="http://schemas.openxmlformats.org/markup-compatibility/2006">
              <mc:Choice xmlns:v="urn:schemas-microsoft-com:vml" Requires="v">
                <p:oleObj spid="_x0000_s18521" r:id="rId9" imgW="2859405" imgH="2114550" progId="Word.Document.8">
                  <p:embed/>
                </p:oleObj>
              </mc:Choice>
              <mc:Fallback>
                <p:oleObj r:id="rId9" imgW="2859405" imgH="2114550" progId="Word.Document.8">
                  <p:embed/>
                  <p:pic>
                    <p:nvPicPr>
                      <p:cNvPr id="473108" name="Object 20"/>
                      <p:cNvPicPr/>
                      <p:nvPr/>
                    </p:nvPicPr>
                    <p:blipFill>
                      <a:blip r:embed="rId10"/>
                      <a:stretch>
                        <a:fillRect/>
                      </a:stretch>
                    </p:blipFill>
                    <p:spPr>
                      <a:xfrm>
                        <a:off x="5334000" y="3962400"/>
                        <a:ext cx="3505200" cy="2286000"/>
                      </a:xfrm>
                      <a:prstGeom prst="rect">
                        <a:avLst/>
                      </a:prstGeom>
                      <a:noFill/>
                      <a:ln w="38100">
                        <a:noFill/>
                        <a:miter/>
                      </a:ln>
                    </p:spPr>
                  </p:pic>
                </p:oleObj>
              </mc:Fallback>
            </mc:AlternateContent>
          </a:graphicData>
        </a:graphic>
      </p:graphicFrame>
      <p:sp>
        <p:nvSpPr>
          <p:cNvPr id="473110" name="Text Box 22"/>
          <p:cNvSpPr txBox="1"/>
          <p:nvPr/>
        </p:nvSpPr>
        <p:spPr>
          <a:xfrm>
            <a:off x="5364163" y="5867400"/>
            <a:ext cx="3779837" cy="457200"/>
          </a:xfrm>
          <a:prstGeom prst="rect">
            <a:avLst/>
          </a:prstGeom>
          <a:noFill/>
          <a:ln w="9525">
            <a:noFill/>
          </a:ln>
        </p:spPr>
        <p:txBody>
          <a:bodyPr>
            <a:spAutoFit/>
          </a:bodyPr>
          <a:lstStyle/>
          <a:p>
            <a:pPr eaLnBrk="1" hangingPunct="1">
              <a:spcBef>
                <a:spcPct val="50000"/>
              </a:spcBef>
            </a:pPr>
            <a:r>
              <a:rPr lang="zh-CN" altLang="en-US" b="1" dirty="0">
                <a:solidFill>
                  <a:schemeClr val="hlink"/>
                </a:solidFill>
                <a:latin typeface="Times New Roman" panose="02020603050405020304" pitchFamily="18" charset="0"/>
                <a:ea typeface="微软雅黑" pitchFamily="34" charset="-122"/>
              </a:rPr>
              <a:t>检验数都非负</a:t>
            </a:r>
            <a:r>
              <a:rPr lang="zh-CN" altLang="en-US" b="1" dirty="0">
                <a:solidFill>
                  <a:schemeClr val="hlink"/>
                </a:solidFill>
                <a:latin typeface="仿宋" pitchFamily="49" charset="-122"/>
                <a:ea typeface="仿宋" pitchFamily="49" charset="-122"/>
              </a:rPr>
              <a:t>，</a:t>
            </a:r>
            <a:r>
              <a:rPr lang="zh-CN" altLang="en-US" b="1" dirty="0">
                <a:solidFill>
                  <a:schemeClr val="hlink"/>
                </a:solidFill>
                <a:latin typeface="Times New Roman" panose="02020603050405020304" pitchFamily="18" charset="0"/>
                <a:ea typeface="微软雅黑" pitchFamily="34" charset="-122"/>
              </a:rPr>
              <a:t>得最优解</a:t>
            </a:r>
          </a:p>
        </p:txBody>
      </p:sp>
      <p:sp>
        <p:nvSpPr>
          <p:cNvPr id="2" name="灯片编号占位符 1">
            <a:extLst>
              <a:ext uri="{FF2B5EF4-FFF2-40B4-BE49-F238E27FC236}">
                <a16:creationId xmlns:a16="http://schemas.microsoft.com/office/drawing/2014/main" id="{DFE84CA4-6393-4372-9A7D-A0E65EA376FC}"/>
              </a:ext>
            </a:extLst>
          </p:cNvPr>
          <p:cNvSpPr>
            <a:spLocks noGrp="1"/>
          </p:cNvSpPr>
          <p:nvPr>
            <p:ph type="sldNum" sz="quarter" idx="12"/>
          </p:nvPr>
        </p:nvSpPr>
        <p:spPr/>
        <p:txBody>
          <a:bodyPr/>
          <a:lstStyle/>
          <a:p>
            <a:pPr>
              <a:defRPr/>
            </a:pPr>
            <a:fld id="{2AE1B59C-883C-4848-BC85-9A12DF2590B2}" type="slidenum">
              <a:rPr lang="en-US" altLang="zh-CN" smtClean="0"/>
              <a:t>45</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3105"/>
                                        </p:tgtEl>
                                        <p:attrNameLst>
                                          <p:attrName>style.visibility</p:attrName>
                                        </p:attrNameLst>
                                      </p:cBhvr>
                                      <p:to>
                                        <p:strVal val="visible"/>
                                      </p:to>
                                    </p:set>
                                    <p:anim calcmode="lin" valueType="num">
                                      <p:cBhvr additive="base">
                                        <p:cTn id="7" dur="500" fill="hold"/>
                                        <p:tgtEl>
                                          <p:spTgt spid="473105"/>
                                        </p:tgtEl>
                                        <p:attrNameLst>
                                          <p:attrName>ppt_x</p:attrName>
                                        </p:attrNameLst>
                                      </p:cBhvr>
                                      <p:tavLst>
                                        <p:tav tm="0">
                                          <p:val>
                                            <p:strVal val="0-#ppt_w/2"/>
                                          </p:val>
                                        </p:tav>
                                        <p:tav tm="100000">
                                          <p:val>
                                            <p:strVal val="#ppt_x"/>
                                          </p:val>
                                        </p:tav>
                                      </p:tavLst>
                                    </p:anim>
                                    <p:anim calcmode="lin" valueType="num">
                                      <p:cBhvr additive="base">
                                        <p:cTn id="8" dur="500" fill="hold"/>
                                        <p:tgtEl>
                                          <p:spTgt spid="4731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3091"/>
                                        </p:tgtEl>
                                        <p:attrNameLst>
                                          <p:attrName>style.visibility</p:attrName>
                                        </p:attrNameLst>
                                      </p:cBhvr>
                                      <p:to>
                                        <p:strVal val="visible"/>
                                      </p:to>
                                    </p:set>
                                    <p:anim calcmode="lin" valueType="num">
                                      <p:cBhvr additive="base">
                                        <p:cTn id="13" dur="500" fill="hold"/>
                                        <p:tgtEl>
                                          <p:spTgt spid="473091"/>
                                        </p:tgtEl>
                                        <p:attrNameLst>
                                          <p:attrName>ppt_x</p:attrName>
                                        </p:attrNameLst>
                                      </p:cBhvr>
                                      <p:tavLst>
                                        <p:tav tm="0">
                                          <p:val>
                                            <p:strVal val="0-#ppt_w/2"/>
                                          </p:val>
                                        </p:tav>
                                        <p:tav tm="100000">
                                          <p:val>
                                            <p:strVal val="#ppt_x"/>
                                          </p:val>
                                        </p:tav>
                                      </p:tavLst>
                                    </p:anim>
                                    <p:anim calcmode="lin" valueType="num">
                                      <p:cBhvr additive="base">
                                        <p:cTn id="14" dur="500" fill="hold"/>
                                        <p:tgtEl>
                                          <p:spTgt spid="4730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3090"/>
                                        </p:tgtEl>
                                        <p:attrNameLst>
                                          <p:attrName>style.visibility</p:attrName>
                                        </p:attrNameLst>
                                      </p:cBhvr>
                                      <p:to>
                                        <p:strVal val="visible"/>
                                      </p:to>
                                    </p:set>
                                    <p:anim calcmode="lin" valueType="num">
                                      <p:cBhvr additive="base">
                                        <p:cTn id="19" dur="500" fill="hold"/>
                                        <p:tgtEl>
                                          <p:spTgt spid="473090"/>
                                        </p:tgtEl>
                                        <p:attrNameLst>
                                          <p:attrName>ppt_x</p:attrName>
                                        </p:attrNameLst>
                                      </p:cBhvr>
                                      <p:tavLst>
                                        <p:tav tm="0">
                                          <p:val>
                                            <p:strVal val="0-#ppt_w/2"/>
                                          </p:val>
                                        </p:tav>
                                        <p:tav tm="100000">
                                          <p:val>
                                            <p:strVal val="#ppt_x"/>
                                          </p:val>
                                        </p:tav>
                                      </p:tavLst>
                                    </p:anim>
                                    <p:anim calcmode="lin" valueType="num">
                                      <p:cBhvr additive="base">
                                        <p:cTn id="20" dur="500" fill="hold"/>
                                        <p:tgtEl>
                                          <p:spTgt spid="47309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73092"/>
                                        </p:tgtEl>
                                        <p:attrNameLst>
                                          <p:attrName>style.visibility</p:attrName>
                                        </p:attrNameLst>
                                      </p:cBhvr>
                                      <p:to>
                                        <p:strVal val="visible"/>
                                      </p:to>
                                    </p:set>
                                    <p:anim calcmode="lin" valueType="num">
                                      <p:cBhvr additive="base">
                                        <p:cTn id="25" dur="500" fill="hold"/>
                                        <p:tgtEl>
                                          <p:spTgt spid="473092"/>
                                        </p:tgtEl>
                                        <p:attrNameLst>
                                          <p:attrName>ppt_x</p:attrName>
                                        </p:attrNameLst>
                                      </p:cBhvr>
                                      <p:tavLst>
                                        <p:tav tm="0">
                                          <p:val>
                                            <p:strVal val="0-#ppt_w/2"/>
                                          </p:val>
                                        </p:tav>
                                        <p:tav tm="100000">
                                          <p:val>
                                            <p:strVal val="#ppt_x"/>
                                          </p:val>
                                        </p:tav>
                                      </p:tavLst>
                                    </p:anim>
                                    <p:anim calcmode="lin" valueType="num">
                                      <p:cBhvr additive="base">
                                        <p:cTn id="26" dur="500" fill="hold"/>
                                        <p:tgtEl>
                                          <p:spTgt spid="47309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73093"/>
                                        </p:tgtEl>
                                        <p:attrNameLst>
                                          <p:attrName>style.visibility</p:attrName>
                                        </p:attrNameLst>
                                      </p:cBhvr>
                                      <p:to>
                                        <p:strVal val="visible"/>
                                      </p:to>
                                    </p:set>
                                    <p:anim calcmode="lin" valueType="num">
                                      <p:cBhvr additive="base">
                                        <p:cTn id="31" dur="500" fill="hold"/>
                                        <p:tgtEl>
                                          <p:spTgt spid="473093"/>
                                        </p:tgtEl>
                                        <p:attrNameLst>
                                          <p:attrName>ppt_x</p:attrName>
                                        </p:attrNameLst>
                                      </p:cBhvr>
                                      <p:tavLst>
                                        <p:tav tm="0">
                                          <p:val>
                                            <p:strVal val="0-#ppt_w/2"/>
                                          </p:val>
                                        </p:tav>
                                        <p:tav tm="100000">
                                          <p:val>
                                            <p:strVal val="#ppt_x"/>
                                          </p:val>
                                        </p:tav>
                                      </p:tavLst>
                                    </p:anim>
                                    <p:anim calcmode="lin" valueType="num">
                                      <p:cBhvr additive="base">
                                        <p:cTn id="32" dur="500" fill="hold"/>
                                        <p:tgtEl>
                                          <p:spTgt spid="47309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73096"/>
                                        </p:tgtEl>
                                        <p:attrNameLst>
                                          <p:attrName>style.visibility</p:attrName>
                                        </p:attrNameLst>
                                      </p:cBhvr>
                                      <p:to>
                                        <p:strVal val="visible"/>
                                      </p:to>
                                    </p:set>
                                    <p:anim calcmode="lin" valueType="num">
                                      <p:cBhvr additive="base">
                                        <p:cTn id="37" dur="500" fill="hold"/>
                                        <p:tgtEl>
                                          <p:spTgt spid="473096"/>
                                        </p:tgtEl>
                                        <p:attrNameLst>
                                          <p:attrName>ppt_x</p:attrName>
                                        </p:attrNameLst>
                                      </p:cBhvr>
                                      <p:tavLst>
                                        <p:tav tm="0">
                                          <p:val>
                                            <p:strVal val="0-#ppt_w/2"/>
                                          </p:val>
                                        </p:tav>
                                        <p:tav tm="100000">
                                          <p:val>
                                            <p:strVal val="#ppt_x"/>
                                          </p:val>
                                        </p:tav>
                                      </p:tavLst>
                                    </p:anim>
                                    <p:anim calcmode="lin" valueType="num">
                                      <p:cBhvr additive="base">
                                        <p:cTn id="38" dur="500" fill="hold"/>
                                        <p:tgtEl>
                                          <p:spTgt spid="47309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73095"/>
                                        </p:tgtEl>
                                        <p:attrNameLst>
                                          <p:attrName>style.visibility</p:attrName>
                                        </p:attrNameLst>
                                      </p:cBhvr>
                                      <p:to>
                                        <p:strVal val="visible"/>
                                      </p:to>
                                    </p:set>
                                    <p:anim calcmode="lin" valueType="num">
                                      <p:cBhvr additive="base">
                                        <p:cTn id="43" dur="500" fill="hold"/>
                                        <p:tgtEl>
                                          <p:spTgt spid="473095"/>
                                        </p:tgtEl>
                                        <p:attrNameLst>
                                          <p:attrName>ppt_x</p:attrName>
                                        </p:attrNameLst>
                                      </p:cBhvr>
                                      <p:tavLst>
                                        <p:tav tm="0">
                                          <p:val>
                                            <p:strVal val="0-#ppt_w/2"/>
                                          </p:val>
                                        </p:tav>
                                        <p:tav tm="100000">
                                          <p:val>
                                            <p:strVal val="#ppt_x"/>
                                          </p:val>
                                        </p:tav>
                                      </p:tavLst>
                                    </p:anim>
                                    <p:anim calcmode="lin" valueType="num">
                                      <p:cBhvr additive="base">
                                        <p:cTn id="44" dur="500" fill="hold"/>
                                        <p:tgtEl>
                                          <p:spTgt spid="47309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73094"/>
                                        </p:tgtEl>
                                        <p:attrNameLst>
                                          <p:attrName>style.visibility</p:attrName>
                                        </p:attrNameLst>
                                      </p:cBhvr>
                                      <p:to>
                                        <p:strVal val="visible"/>
                                      </p:to>
                                    </p:set>
                                    <p:anim calcmode="lin" valueType="num">
                                      <p:cBhvr additive="base">
                                        <p:cTn id="49" dur="500" fill="hold"/>
                                        <p:tgtEl>
                                          <p:spTgt spid="473094"/>
                                        </p:tgtEl>
                                        <p:attrNameLst>
                                          <p:attrName>ppt_x</p:attrName>
                                        </p:attrNameLst>
                                      </p:cBhvr>
                                      <p:tavLst>
                                        <p:tav tm="0">
                                          <p:val>
                                            <p:strVal val="0-#ppt_w/2"/>
                                          </p:val>
                                        </p:tav>
                                        <p:tav tm="100000">
                                          <p:val>
                                            <p:strVal val="#ppt_x"/>
                                          </p:val>
                                        </p:tav>
                                      </p:tavLst>
                                    </p:anim>
                                    <p:anim calcmode="lin" valueType="num">
                                      <p:cBhvr additive="base">
                                        <p:cTn id="50" dur="500" fill="hold"/>
                                        <p:tgtEl>
                                          <p:spTgt spid="47309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73097"/>
                                        </p:tgtEl>
                                        <p:attrNameLst>
                                          <p:attrName>style.visibility</p:attrName>
                                        </p:attrNameLst>
                                      </p:cBhvr>
                                      <p:to>
                                        <p:strVal val="visible"/>
                                      </p:to>
                                    </p:set>
                                    <p:anim calcmode="lin" valueType="num">
                                      <p:cBhvr additive="base">
                                        <p:cTn id="55" dur="500" fill="hold"/>
                                        <p:tgtEl>
                                          <p:spTgt spid="473097"/>
                                        </p:tgtEl>
                                        <p:attrNameLst>
                                          <p:attrName>ppt_x</p:attrName>
                                        </p:attrNameLst>
                                      </p:cBhvr>
                                      <p:tavLst>
                                        <p:tav tm="0">
                                          <p:val>
                                            <p:strVal val="0-#ppt_w/2"/>
                                          </p:val>
                                        </p:tav>
                                        <p:tav tm="100000">
                                          <p:val>
                                            <p:strVal val="#ppt_x"/>
                                          </p:val>
                                        </p:tav>
                                      </p:tavLst>
                                    </p:anim>
                                    <p:anim calcmode="lin" valueType="num">
                                      <p:cBhvr additive="base">
                                        <p:cTn id="56" dur="500" fill="hold"/>
                                        <p:tgtEl>
                                          <p:spTgt spid="47309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73098"/>
                                        </p:tgtEl>
                                        <p:attrNameLst>
                                          <p:attrName>style.visibility</p:attrName>
                                        </p:attrNameLst>
                                      </p:cBhvr>
                                      <p:to>
                                        <p:strVal val="visible"/>
                                      </p:to>
                                    </p:set>
                                    <p:anim calcmode="lin" valueType="num">
                                      <p:cBhvr additive="base">
                                        <p:cTn id="61" dur="500" fill="hold"/>
                                        <p:tgtEl>
                                          <p:spTgt spid="473098"/>
                                        </p:tgtEl>
                                        <p:attrNameLst>
                                          <p:attrName>ppt_x</p:attrName>
                                        </p:attrNameLst>
                                      </p:cBhvr>
                                      <p:tavLst>
                                        <p:tav tm="0">
                                          <p:val>
                                            <p:strVal val="0-#ppt_w/2"/>
                                          </p:val>
                                        </p:tav>
                                        <p:tav tm="100000">
                                          <p:val>
                                            <p:strVal val="#ppt_x"/>
                                          </p:val>
                                        </p:tav>
                                      </p:tavLst>
                                    </p:anim>
                                    <p:anim calcmode="lin" valueType="num">
                                      <p:cBhvr additive="base">
                                        <p:cTn id="62" dur="500" fill="hold"/>
                                        <p:tgtEl>
                                          <p:spTgt spid="47309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73099"/>
                                        </p:tgtEl>
                                        <p:attrNameLst>
                                          <p:attrName>style.visibility</p:attrName>
                                        </p:attrNameLst>
                                      </p:cBhvr>
                                      <p:to>
                                        <p:strVal val="visible"/>
                                      </p:to>
                                    </p:set>
                                    <p:anim calcmode="lin" valueType="num">
                                      <p:cBhvr additive="base">
                                        <p:cTn id="67" dur="500" fill="hold"/>
                                        <p:tgtEl>
                                          <p:spTgt spid="473099"/>
                                        </p:tgtEl>
                                        <p:attrNameLst>
                                          <p:attrName>ppt_x</p:attrName>
                                        </p:attrNameLst>
                                      </p:cBhvr>
                                      <p:tavLst>
                                        <p:tav tm="0">
                                          <p:val>
                                            <p:strVal val="0-#ppt_w/2"/>
                                          </p:val>
                                        </p:tav>
                                        <p:tav tm="100000">
                                          <p:val>
                                            <p:strVal val="#ppt_x"/>
                                          </p:val>
                                        </p:tav>
                                      </p:tavLst>
                                    </p:anim>
                                    <p:anim calcmode="lin" valueType="num">
                                      <p:cBhvr additive="base">
                                        <p:cTn id="68" dur="500" fill="hold"/>
                                        <p:tgtEl>
                                          <p:spTgt spid="473099"/>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73100"/>
                                        </p:tgtEl>
                                        <p:attrNameLst>
                                          <p:attrName>style.visibility</p:attrName>
                                        </p:attrNameLst>
                                      </p:cBhvr>
                                      <p:to>
                                        <p:strVal val="visible"/>
                                      </p:to>
                                    </p:set>
                                    <p:anim calcmode="lin" valueType="num">
                                      <p:cBhvr additive="base">
                                        <p:cTn id="73" dur="500" fill="hold"/>
                                        <p:tgtEl>
                                          <p:spTgt spid="473100"/>
                                        </p:tgtEl>
                                        <p:attrNameLst>
                                          <p:attrName>ppt_x</p:attrName>
                                        </p:attrNameLst>
                                      </p:cBhvr>
                                      <p:tavLst>
                                        <p:tav tm="0">
                                          <p:val>
                                            <p:strVal val="0-#ppt_w/2"/>
                                          </p:val>
                                        </p:tav>
                                        <p:tav tm="100000">
                                          <p:val>
                                            <p:strVal val="#ppt_x"/>
                                          </p:val>
                                        </p:tav>
                                      </p:tavLst>
                                    </p:anim>
                                    <p:anim calcmode="lin" valueType="num">
                                      <p:cBhvr additive="base">
                                        <p:cTn id="74" dur="500" fill="hold"/>
                                        <p:tgtEl>
                                          <p:spTgt spid="473100"/>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73101"/>
                                        </p:tgtEl>
                                        <p:attrNameLst>
                                          <p:attrName>style.visibility</p:attrName>
                                        </p:attrNameLst>
                                      </p:cBhvr>
                                      <p:to>
                                        <p:strVal val="visible"/>
                                      </p:to>
                                    </p:set>
                                    <p:anim calcmode="lin" valueType="num">
                                      <p:cBhvr additive="base">
                                        <p:cTn id="79" dur="500" fill="hold"/>
                                        <p:tgtEl>
                                          <p:spTgt spid="473101"/>
                                        </p:tgtEl>
                                        <p:attrNameLst>
                                          <p:attrName>ppt_x</p:attrName>
                                        </p:attrNameLst>
                                      </p:cBhvr>
                                      <p:tavLst>
                                        <p:tav tm="0">
                                          <p:val>
                                            <p:strVal val="0-#ppt_w/2"/>
                                          </p:val>
                                        </p:tav>
                                        <p:tav tm="100000">
                                          <p:val>
                                            <p:strVal val="#ppt_x"/>
                                          </p:val>
                                        </p:tav>
                                      </p:tavLst>
                                    </p:anim>
                                    <p:anim calcmode="lin" valueType="num">
                                      <p:cBhvr additive="base">
                                        <p:cTn id="80" dur="500" fill="hold"/>
                                        <p:tgtEl>
                                          <p:spTgt spid="473101"/>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73102"/>
                                        </p:tgtEl>
                                        <p:attrNameLst>
                                          <p:attrName>style.visibility</p:attrName>
                                        </p:attrNameLst>
                                      </p:cBhvr>
                                      <p:to>
                                        <p:strVal val="visible"/>
                                      </p:to>
                                    </p:set>
                                    <p:anim calcmode="lin" valueType="num">
                                      <p:cBhvr additive="base">
                                        <p:cTn id="85" dur="500" fill="hold"/>
                                        <p:tgtEl>
                                          <p:spTgt spid="473102"/>
                                        </p:tgtEl>
                                        <p:attrNameLst>
                                          <p:attrName>ppt_x</p:attrName>
                                        </p:attrNameLst>
                                      </p:cBhvr>
                                      <p:tavLst>
                                        <p:tav tm="0">
                                          <p:val>
                                            <p:strVal val="0-#ppt_w/2"/>
                                          </p:val>
                                        </p:tav>
                                        <p:tav tm="100000">
                                          <p:val>
                                            <p:strVal val="#ppt_x"/>
                                          </p:val>
                                        </p:tav>
                                      </p:tavLst>
                                    </p:anim>
                                    <p:anim calcmode="lin" valueType="num">
                                      <p:cBhvr additive="base">
                                        <p:cTn id="86" dur="500" fill="hold"/>
                                        <p:tgtEl>
                                          <p:spTgt spid="47310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73103"/>
                                        </p:tgtEl>
                                        <p:attrNameLst>
                                          <p:attrName>style.visibility</p:attrName>
                                        </p:attrNameLst>
                                      </p:cBhvr>
                                      <p:to>
                                        <p:strVal val="visible"/>
                                      </p:to>
                                    </p:set>
                                    <p:anim calcmode="lin" valueType="num">
                                      <p:cBhvr additive="base">
                                        <p:cTn id="91" dur="500" fill="hold"/>
                                        <p:tgtEl>
                                          <p:spTgt spid="473103"/>
                                        </p:tgtEl>
                                        <p:attrNameLst>
                                          <p:attrName>ppt_x</p:attrName>
                                        </p:attrNameLst>
                                      </p:cBhvr>
                                      <p:tavLst>
                                        <p:tav tm="0">
                                          <p:val>
                                            <p:strVal val="0-#ppt_w/2"/>
                                          </p:val>
                                        </p:tav>
                                        <p:tav tm="100000">
                                          <p:val>
                                            <p:strVal val="#ppt_x"/>
                                          </p:val>
                                        </p:tav>
                                      </p:tavLst>
                                    </p:anim>
                                    <p:anim calcmode="lin" valueType="num">
                                      <p:cBhvr additive="base">
                                        <p:cTn id="92" dur="500" fill="hold"/>
                                        <p:tgtEl>
                                          <p:spTgt spid="473103"/>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73104"/>
                                        </p:tgtEl>
                                        <p:attrNameLst>
                                          <p:attrName>style.visibility</p:attrName>
                                        </p:attrNameLst>
                                      </p:cBhvr>
                                      <p:to>
                                        <p:strVal val="visible"/>
                                      </p:to>
                                    </p:set>
                                    <p:anim calcmode="lin" valueType="num">
                                      <p:cBhvr additive="base">
                                        <p:cTn id="97" dur="500" fill="hold"/>
                                        <p:tgtEl>
                                          <p:spTgt spid="473104"/>
                                        </p:tgtEl>
                                        <p:attrNameLst>
                                          <p:attrName>ppt_x</p:attrName>
                                        </p:attrNameLst>
                                      </p:cBhvr>
                                      <p:tavLst>
                                        <p:tav tm="0">
                                          <p:val>
                                            <p:strVal val="0-#ppt_w/2"/>
                                          </p:val>
                                        </p:tav>
                                        <p:tav tm="100000">
                                          <p:val>
                                            <p:strVal val="#ppt_x"/>
                                          </p:val>
                                        </p:tav>
                                      </p:tavLst>
                                    </p:anim>
                                    <p:anim calcmode="lin" valueType="num">
                                      <p:cBhvr additive="base">
                                        <p:cTn id="98" dur="500" fill="hold"/>
                                        <p:tgtEl>
                                          <p:spTgt spid="473104"/>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73106"/>
                                        </p:tgtEl>
                                        <p:attrNameLst>
                                          <p:attrName>style.visibility</p:attrName>
                                        </p:attrNameLst>
                                      </p:cBhvr>
                                      <p:to>
                                        <p:strVal val="visible"/>
                                      </p:to>
                                    </p:set>
                                    <p:anim calcmode="lin" valueType="num">
                                      <p:cBhvr additive="base">
                                        <p:cTn id="103" dur="500" fill="hold"/>
                                        <p:tgtEl>
                                          <p:spTgt spid="473106"/>
                                        </p:tgtEl>
                                        <p:attrNameLst>
                                          <p:attrName>ppt_x</p:attrName>
                                        </p:attrNameLst>
                                      </p:cBhvr>
                                      <p:tavLst>
                                        <p:tav tm="0">
                                          <p:val>
                                            <p:strVal val="0-#ppt_w/2"/>
                                          </p:val>
                                        </p:tav>
                                        <p:tav tm="100000">
                                          <p:val>
                                            <p:strVal val="#ppt_x"/>
                                          </p:val>
                                        </p:tav>
                                      </p:tavLst>
                                    </p:anim>
                                    <p:anim calcmode="lin" valueType="num">
                                      <p:cBhvr additive="base">
                                        <p:cTn id="104" dur="500" fill="hold"/>
                                        <p:tgtEl>
                                          <p:spTgt spid="473106"/>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473108"/>
                                        </p:tgtEl>
                                        <p:attrNameLst>
                                          <p:attrName>style.visibility</p:attrName>
                                        </p:attrNameLst>
                                      </p:cBhvr>
                                      <p:to>
                                        <p:strVal val="visible"/>
                                      </p:to>
                                    </p:set>
                                    <p:anim calcmode="lin" valueType="num">
                                      <p:cBhvr additive="base">
                                        <p:cTn id="109" dur="500" fill="hold"/>
                                        <p:tgtEl>
                                          <p:spTgt spid="473108"/>
                                        </p:tgtEl>
                                        <p:attrNameLst>
                                          <p:attrName>ppt_x</p:attrName>
                                        </p:attrNameLst>
                                      </p:cBhvr>
                                      <p:tavLst>
                                        <p:tav tm="0">
                                          <p:val>
                                            <p:strVal val="0-#ppt_w/2"/>
                                          </p:val>
                                        </p:tav>
                                        <p:tav tm="100000">
                                          <p:val>
                                            <p:strVal val="#ppt_x"/>
                                          </p:val>
                                        </p:tav>
                                      </p:tavLst>
                                    </p:anim>
                                    <p:anim calcmode="lin" valueType="num">
                                      <p:cBhvr additive="base">
                                        <p:cTn id="110" dur="500" fill="hold"/>
                                        <p:tgtEl>
                                          <p:spTgt spid="47310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473110"/>
                                        </p:tgtEl>
                                        <p:attrNameLst>
                                          <p:attrName>style.visibility</p:attrName>
                                        </p:attrNameLst>
                                      </p:cBhvr>
                                      <p:to>
                                        <p:strVal val="visible"/>
                                      </p:to>
                                    </p:set>
                                    <p:anim calcmode="lin" valueType="num">
                                      <p:cBhvr additive="base">
                                        <p:cTn id="115" dur="500" fill="hold"/>
                                        <p:tgtEl>
                                          <p:spTgt spid="473110"/>
                                        </p:tgtEl>
                                        <p:attrNameLst>
                                          <p:attrName>ppt_x</p:attrName>
                                        </p:attrNameLst>
                                      </p:cBhvr>
                                      <p:tavLst>
                                        <p:tav tm="0">
                                          <p:val>
                                            <p:strVal val="0-#ppt_w/2"/>
                                          </p:val>
                                        </p:tav>
                                        <p:tav tm="100000">
                                          <p:val>
                                            <p:strVal val="#ppt_x"/>
                                          </p:val>
                                        </p:tav>
                                      </p:tavLst>
                                    </p:anim>
                                    <p:anim calcmode="lin" valueType="num">
                                      <p:cBhvr additive="base">
                                        <p:cTn id="116" dur="500" fill="hold"/>
                                        <p:tgtEl>
                                          <p:spTgt spid="4731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091" grpId="0"/>
      <p:bldP spid="473092" grpId="0"/>
      <p:bldP spid="473093" grpId="0"/>
      <p:bldP spid="473095" grpId="0"/>
      <p:bldP spid="473094" grpId="0"/>
      <p:bldP spid="473096" grpId="0"/>
      <p:bldP spid="473097" grpId="0"/>
      <p:bldP spid="473098" grpId="0"/>
      <p:bldP spid="473099" grpId="0"/>
      <p:bldP spid="473100" grpId="0"/>
      <p:bldP spid="473101" grpId="0"/>
      <p:bldP spid="473102" grpId="0"/>
      <p:bldP spid="473103" grpId="0"/>
      <p:bldP spid="473104" grpId="0"/>
      <p:bldP spid="473106" grpId="0"/>
      <p:bldP spid="4731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3"/>
          <p:cNvSpPr/>
          <p:nvPr/>
        </p:nvSpPr>
        <p:spPr>
          <a:xfrm>
            <a:off x="1403350" y="4988024"/>
            <a:ext cx="1450975" cy="457200"/>
          </a:xfrm>
          <a:prstGeom prst="rect">
            <a:avLst/>
          </a:prstGeom>
          <a:solidFill>
            <a:srgbClr val="CC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4-22</a:t>
            </a:r>
            <a:endParaRPr lang="zh-CN" altLang="en-US" dirty="0">
              <a:latin typeface="微软雅黑" pitchFamily="34" charset="-122"/>
              <a:ea typeface="微软雅黑" pitchFamily="34" charset="-122"/>
            </a:endParaRPr>
          </a:p>
        </p:txBody>
      </p:sp>
      <p:sp>
        <p:nvSpPr>
          <p:cNvPr id="36867" name="矩形 3"/>
          <p:cNvSpPr/>
          <p:nvPr/>
        </p:nvSpPr>
        <p:spPr>
          <a:xfrm>
            <a:off x="6227763" y="4724400"/>
            <a:ext cx="1450975" cy="457200"/>
          </a:xfrm>
          <a:prstGeom prst="rect">
            <a:avLst/>
          </a:prstGeom>
          <a:solidFill>
            <a:srgbClr val="FF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4-21</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6868" name="矩形 4"/>
          <p:cNvSpPr/>
          <p:nvPr/>
        </p:nvSpPr>
        <p:spPr>
          <a:xfrm>
            <a:off x="6084888" y="2349500"/>
            <a:ext cx="1133644"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4-20</a:t>
            </a:r>
            <a:r>
              <a:rPr lang="en-US" altLang="zh-CN" b="1" dirty="0">
                <a:latin typeface="Times New Roman" panose="02020603050405020304" pitchFamily="18" charset="0"/>
                <a:ea typeface="微软雅黑" pitchFamily="34" charset="-122"/>
              </a:rPr>
              <a:t> </a:t>
            </a:r>
            <a:endParaRPr lang="zh-CN" altLang="en-US" b="1" dirty="0">
              <a:latin typeface="Verdana" panose="020B0604030504040204" pitchFamily="34" charset="0"/>
              <a:ea typeface="微软雅黑" pitchFamily="34" charset="-122"/>
            </a:endParaRPr>
          </a:p>
        </p:txBody>
      </p:sp>
      <p:sp>
        <p:nvSpPr>
          <p:cNvPr id="36869" name="Rectangle 2"/>
          <p:cNvSpPr txBox="1"/>
          <p:nvPr/>
        </p:nvSpPr>
        <p:spPr>
          <a:xfrm>
            <a:off x="0" y="0"/>
            <a:ext cx="3851275" cy="3284538"/>
          </a:xfrm>
          <a:prstGeom prst="rect">
            <a:avLst/>
          </a:prstGeom>
          <a:solidFill>
            <a:srgbClr val="FFCCFF"/>
          </a:solidFill>
          <a:ln w="9525">
            <a:noFill/>
          </a:ln>
        </p:spPr>
        <p:txBody>
          <a:bodyPr/>
          <a:lstStyle/>
          <a:p>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zh-CN" altLang="en-US" b="1" dirty="0">
                <a:latin typeface="Times New Roman" panose="02020603050405020304" pitchFamily="18" charset="0"/>
                <a:ea typeface="微软雅黑" pitchFamily="34" charset="-122"/>
              </a:rPr>
              <a:t>格的调入量</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是选择闭回路上具有</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的数字格中的最小者</a:t>
            </a:r>
            <a:endParaRPr lang="en-US" altLang="zh-CN" b="1" dirty="0">
              <a:latin typeface="Times New Roman" panose="02020603050405020304" pitchFamily="18" charset="0"/>
              <a:ea typeface="微软雅黑" pitchFamily="34" charset="-122"/>
            </a:endParaRPr>
          </a:p>
          <a:p>
            <a:r>
              <a:rPr lang="zh-CN" altLang="en-US" b="1" dirty="0">
                <a:latin typeface="Times New Roman" panose="02020603050405020304" pitchFamily="18" charset="0"/>
                <a:ea typeface="微软雅黑" pitchFamily="34" charset="-122"/>
              </a:rPr>
              <a:t>即</a:t>
            </a:r>
            <a:r>
              <a:rPr lang="en-US" altLang="zh-CN" b="1" dirty="0">
                <a:latin typeface="Times New Roman" panose="02020603050405020304" pitchFamily="18" charset="0"/>
                <a:ea typeface="微软雅黑" pitchFamily="34" charset="-122"/>
              </a:rPr>
              <a:t>θ=min(1, 3)=1(</a:t>
            </a:r>
            <a:r>
              <a:rPr lang="zh-CN" altLang="en-US" b="1" dirty="0">
                <a:latin typeface="Times New Roman" panose="02020603050405020304" pitchFamily="18" charset="0"/>
                <a:ea typeface="微软雅黑" pitchFamily="34" charset="-122"/>
              </a:rPr>
              <a:t>其原理与单纯形法按</a:t>
            </a:r>
            <a:r>
              <a:rPr lang="en-US" altLang="zh-CN" b="1" dirty="0">
                <a:latin typeface="Times New Roman" panose="02020603050405020304" pitchFamily="18" charset="0"/>
                <a:ea typeface="微软雅黑" pitchFamily="34" charset="-122"/>
              </a:rPr>
              <a:t>θ</a:t>
            </a:r>
            <a:r>
              <a:rPr lang="zh-CN" altLang="en-US" b="1" dirty="0">
                <a:latin typeface="Times New Roman" panose="02020603050405020304" pitchFamily="18" charset="0"/>
                <a:ea typeface="微软雅黑" pitchFamily="34" charset="-122"/>
              </a:rPr>
              <a:t>规划来确定换出变量相同</a:t>
            </a:r>
            <a:r>
              <a:rPr lang="en-US" altLang="zh-CN" b="1" dirty="0">
                <a:latin typeface="Times New Roman" panose="02020603050405020304" pitchFamily="18" charset="0"/>
                <a:ea typeface="微软雅黑" pitchFamily="34" charset="-122"/>
              </a:rPr>
              <a:t>)</a:t>
            </a:r>
          </a:p>
          <a:p>
            <a:r>
              <a:rPr lang="zh-CN" altLang="en-US" b="1" dirty="0">
                <a:latin typeface="Times New Roman" panose="02020603050405020304" pitchFamily="18" charset="0"/>
                <a:ea typeface="微软雅黑" pitchFamily="34" charset="-122"/>
              </a:rPr>
              <a:t>然后按闭回路上的正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负号</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加入和减去此值</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得到调整方案</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如表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所示</a:t>
            </a:r>
            <a:endParaRPr lang="zh-CN" altLang="en-US" b="1" dirty="0">
              <a:solidFill>
                <a:schemeClr val="tx2"/>
              </a:solidFill>
              <a:latin typeface="Times New Roman" panose="02020603050405020304" pitchFamily="18" charset="0"/>
              <a:ea typeface="微软雅黑" pitchFamily="34" charset="-122"/>
            </a:endParaRPr>
          </a:p>
        </p:txBody>
      </p:sp>
      <p:pic>
        <p:nvPicPr>
          <p:cNvPr id="36870" name="Picture 4"/>
          <p:cNvPicPr>
            <a:picLocks noChangeAspect="1"/>
          </p:cNvPicPr>
          <p:nvPr/>
        </p:nvPicPr>
        <p:blipFill>
          <a:blip r:embed="rId2"/>
          <a:stretch>
            <a:fillRect/>
          </a:stretch>
        </p:blipFill>
        <p:spPr>
          <a:xfrm>
            <a:off x="4356100" y="2781300"/>
            <a:ext cx="4787900" cy="1989138"/>
          </a:xfrm>
          <a:prstGeom prst="rect">
            <a:avLst/>
          </a:prstGeom>
          <a:noFill/>
          <a:ln w="9525">
            <a:noFill/>
          </a:ln>
        </p:spPr>
      </p:pic>
      <p:pic>
        <p:nvPicPr>
          <p:cNvPr id="36871" name="Picture 7"/>
          <p:cNvPicPr>
            <a:picLocks noChangeAspect="1"/>
          </p:cNvPicPr>
          <p:nvPr/>
        </p:nvPicPr>
        <p:blipFill>
          <a:blip r:embed="rId3"/>
          <a:stretch>
            <a:fillRect/>
          </a:stretch>
        </p:blipFill>
        <p:spPr>
          <a:xfrm>
            <a:off x="3708400" y="0"/>
            <a:ext cx="5435600" cy="2346325"/>
          </a:xfrm>
          <a:prstGeom prst="rect">
            <a:avLst/>
          </a:prstGeom>
          <a:noFill/>
          <a:ln w="9525">
            <a:noFill/>
          </a:ln>
        </p:spPr>
      </p:pic>
      <p:sp>
        <p:nvSpPr>
          <p:cNvPr id="6" name="Rectangle 2"/>
          <p:cNvSpPr txBox="1"/>
          <p:nvPr/>
        </p:nvSpPr>
        <p:spPr>
          <a:xfrm>
            <a:off x="0" y="5353050"/>
            <a:ext cx="9144000" cy="1504950"/>
          </a:xfrm>
          <a:prstGeom prst="rect">
            <a:avLst/>
          </a:prstGeom>
          <a:noFill/>
          <a:ln w="9525">
            <a:noFill/>
          </a:ln>
        </p:spPr>
        <p:txBody>
          <a:bodyPr/>
          <a:lstStyle/>
          <a:p>
            <a:r>
              <a:rPr lang="zh-CN" altLang="en-US" b="1" dirty="0">
                <a:latin typeface="微软雅黑" pitchFamily="34" charset="-122"/>
                <a:ea typeface="微软雅黑" pitchFamily="34" charset="-122"/>
              </a:rPr>
              <a:t>对表</a:t>
            </a:r>
            <a:r>
              <a:rPr lang="en-US" altLang="zh-CN" b="1" dirty="0">
                <a:latin typeface="Times New Roman" panose="02020603050405020304" pitchFamily="18" charset="0"/>
                <a:ea typeface="微软雅黑" pitchFamily="34" charset="-122"/>
                <a:cs typeface="Times New Roman" panose="02020603050405020304" pitchFamily="18" charset="0"/>
              </a:rPr>
              <a:t>4-21</a:t>
            </a:r>
            <a:r>
              <a:rPr lang="zh-CN" altLang="en-US" b="1" dirty="0">
                <a:latin typeface="微软雅黑" pitchFamily="34" charset="-122"/>
                <a:ea typeface="微软雅黑" pitchFamily="34" charset="-122"/>
              </a:rPr>
              <a:t>给出的解</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再用闭回路法或位势法求各空格的检验数</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见表</a:t>
            </a:r>
            <a:r>
              <a:rPr lang="en-US" altLang="zh-CN" b="1" dirty="0">
                <a:latin typeface="Times New Roman" panose="02020603050405020304" pitchFamily="18" charset="0"/>
                <a:ea typeface="微软雅黑" pitchFamily="34" charset="-122"/>
                <a:cs typeface="Times New Roman" panose="02020603050405020304" pitchFamily="18" charset="0"/>
              </a:rPr>
              <a:t>4-22</a:t>
            </a:r>
          </a:p>
          <a:p>
            <a:r>
              <a:rPr lang="zh-CN" altLang="en-US" b="1" dirty="0">
                <a:latin typeface="微软雅黑" pitchFamily="34" charset="-122"/>
                <a:ea typeface="微软雅黑" pitchFamily="34" charset="-122"/>
              </a:rPr>
              <a:t>表中的所有检验数都非负</a:t>
            </a:r>
            <a:r>
              <a:rPr lang="zh-CN" altLang="en-US" b="1" dirty="0">
                <a:latin typeface="仿宋" pitchFamily="49" charset="-122"/>
                <a:ea typeface="仿宋" pitchFamily="49" charset="-122"/>
              </a:rPr>
              <a:t>，</a:t>
            </a:r>
            <a:r>
              <a:rPr lang="zh-CN" altLang="en-US" b="1" dirty="0">
                <a:latin typeface="微软雅黑" pitchFamily="34" charset="-122"/>
                <a:ea typeface="微软雅黑" pitchFamily="34" charset="-122"/>
              </a:rPr>
              <a:t>故表</a:t>
            </a:r>
            <a:r>
              <a:rPr lang="en-US" altLang="zh-CN" b="1" dirty="0">
                <a:latin typeface="Times New Roman" panose="02020603050405020304" pitchFamily="18" charset="0"/>
                <a:ea typeface="微软雅黑" pitchFamily="34" charset="-122"/>
                <a:cs typeface="Times New Roman" panose="02020603050405020304" pitchFamily="18" charset="0"/>
              </a:rPr>
              <a:t>4-21</a:t>
            </a:r>
            <a:r>
              <a:rPr lang="zh-CN" altLang="en-US" b="1" dirty="0">
                <a:latin typeface="微软雅黑" pitchFamily="34" charset="-122"/>
                <a:ea typeface="微软雅黑" pitchFamily="34" charset="-122"/>
              </a:rPr>
              <a:t>中的解为最优解</a:t>
            </a:r>
            <a:endParaRPr lang="en-US" altLang="zh-CN" b="1" dirty="0">
              <a:latin typeface="微软雅黑" pitchFamily="34" charset="-122"/>
              <a:ea typeface="微软雅黑" pitchFamily="34" charset="-122"/>
            </a:endParaRPr>
          </a:p>
          <a:p>
            <a:r>
              <a:rPr lang="zh-CN" altLang="en-US" b="1" dirty="0">
                <a:latin typeface="微软雅黑" pitchFamily="34" charset="-122"/>
                <a:ea typeface="微软雅黑" pitchFamily="34" charset="-122"/>
              </a:rPr>
              <a:t>这时得到的总运费最小是</a:t>
            </a:r>
            <a:r>
              <a:rPr lang="en-US" altLang="zh-CN" b="1" dirty="0">
                <a:latin typeface="Times New Roman" panose="02020603050405020304" pitchFamily="18" charset="0"/>
                <a:ea typeface="微软雅黑" pitchFamily="34" charset="-122"/>
                <a:cs typeface="Times New Roman" panose="02020603050405020304" pitchFamily="18" charset="0"/>
              </a:rPr>
              <a:t>85</a:t>
            </a:r>
            <a:r>
              <a:rPr lang="zh-CN" altLang="en-US" b="1" dirty="0">
                <a:latin typeface="微软雅黑" pitchFamily="34" charset="-122"/>
                <a:ea typeface="微软雅黑" pitchFamily="34" charset="-122"/>
              </a:rPr>
              <a:t>元</a:t>
            </a:r>
          </a:p>
        </p:txBody>
      </p:sp>
      <p:pic>
        <p:nvPicPr>
          <p:cNvPr id="36873" name="Picture 12"/>
          <p:cNvPicPr>
            <a:picLocks noChangeAspect="1"/>
          </p:cNvPicPr>
          <p:nvPr/>
        </p:nvPicPr>
        <p:blipFill>
          <a:blip r:embed="rId4"/>
          <a:stretch>
            <a:fillRect/>
          </a:stretch>
        </p:blipFill>
        <p:spPr>
          <a:xfrm>
            <a:off x="0" y="3284538"/>
            <a:ext cx="4356100" cy="1773237"/>
          </a:xfrm>
          <a:prstGeom prst="rect">
            <a:avLst/>
          </a:prstGeom>
          <a:noFill/>
          <a:ln w="9525">
            <a:noFill/>
          </a:ln>
        </p:spPr>
      </p:pic>
      <p:pic>
        <p:nvPicPr>
          <p:cNvPr id="359438" name="Picture 14"/>
          <p:cNvPicPr>
            <a:picLocks noChangeAspect="1"/>
          </p:cNvPicPr>
          <p:nvPr/>
        </p:nvPicPr>
        <p:blipFill>
          <a:blip r:embed="rId5"/>
          <a:stretch>
            <a:fillRect/>
          </a:stretch>
        </p:blipFill>
        <p:spPr>
          <a:xfrm>
            <a:off x="0" y="3284538"/>
            <a:ext cx="4356100" cy="2089150"/>
          </a:xfrm>
          <a:prstGeom prst="rect">
            <a:avLst/>
          </a:prstGeom>
          <a:noFill/>
          <a:ln w="9525">
            <a:noFill/>
          </a:ln>
        </p:spPr>
      </p:pic>
      <p:sp>
        <p:nvSpPr>
          <p:cNvPr id="2" name="灯片编号占位符 1">
            <a:extLst>
              <a:ext uri="{FF2B5EF4-FFF2-40B4-BE49-F238E27FC236}">
                <a16:creationId xmlns:a16="http://schemas.microsoft.com/office/drawing/2014/main" id="{D32D055D-12F5-4044-A3EB-DFFC27EC62C4}"/>
              </a:ext>
            </a:extLst>
          </p:cNvPr>
          <p:cNvSpPr>
            <a:spLocks noGrp="1"/>
          </p:cNvSpPr>
          <p:nvPr>
            <p:ph type="sldNum" sz="quarter" idx="12"/>
          </p:nvPr>
        </p:nvSpPr>
        <p:spPr/>
        <p:txBody>
          <a:bodyPr/>
          <a:lstStyle/>
          <a:p>
            <a:pPr>
              <a:defRPr/>
            </a:pPr>
            <a:fld id="{2AE1B59C-883C-4848-BC85-9A12DF2590B2}" type="slidenum">
              <a:rPr lang="en-US" altLang="zh-CN" smtClean="0"/>
              <a:t>46</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9438"/>
                                        </p:tgtEl>
                                        <p:attrNameLst>
                                          <p:attrName>style.visibility</p:attrName>
                                        </p:attrNameLst>
                                      </p:cBhvr>
                                      <p:to>
                                        <p:strVal val="visible"/>
                                      </p:to>
                                    </p:set>
                                    <p:animEffect transition="in" filter="blinds(horizontal)">
                                      <p:cBhvr>
                                        <p:cTn id="17" dur="500"/>
                                        <p:tgtEl>
                                          <p:spTgt spid="359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p:nvPr/>
        </p:nvSpPr>
        <p:spPr>
          <a:xfrm>
            <a:off x="0" y="1125538"/>
            <a:ext cx="9144000" cy="1135062"/>
          </a:xfrm>
          <a:prstGeom prst="rect">
            <a:avLst/>
          </a:prstGeom>
          <a:solidFill>
            <a:srgbClr val="B3F1F7"/>
          </a:solidFill>
          <a:ln w="9525">
            <a:noFill/>
          </a:ln>
        </p:spPr>
        <p:txBody>
          <a:bodyPr>
            <a:spAutoFit/>
          </a:bodyPr>
          <a:lstStyle/>
          <a:p>
            <a:pPr eaLnBrk="1" hangingPunct="1">
              <a:lnSpc>
                <a:spcPct val="150000"/>
              </a:lnSpc>
              <a:spcBef>
                <a:spcPct val="50000"/>
              </a:spcBef>
            </a:pPr>
            <a:r>
              <a:rPr lang="zh-CN" altLang="en-US" b="1" dirty="0">
                <a:latin typeface="Times New Roman" panose="02020603050405020304" pitchFamily="18" charset="0"/>
                <a:ea typeface="微软雅黑" pitchFamily="34" charset="-122"/>
                <a:cs typeface="Times New Roman" panose="02020603050405020304" pitchFamily="18" charset="0"/>
              </a:rPr>
              <a:t>（</a:t>
            </a:r>
            <a:r>
              <a:rPr lang="en-US" altLang="zh-CN" b="1" dirty="0">
                <a:latin typeface="Times New Roman" panose="02020603050405020304" pitchFamily="18" charset="0"/>
                <a:ea typeface="微软雅黑" pitchFamily="34" charset="-122"/>
                <a:cs typeface="Times New Roman" panose="02020603050405020304" pitchFamily="18" charset="0"/>
              </a:rPr>
              <a:t>1</a:t>
            </a:r>
            <a:r>
              <a:rPr lang="zh-CN" altLang="en-US" b="1" dirty="0">
                <a:latin typeface="Times New Roman" panose="02020603050405020304" pitchFamily="18" charset="0"/>
                <a:ea typeface="微软雅黑" pitchFamily="34" charset="-122"/>
                <a:cs typeface="Times New Roman" panose="02020603050405020304" pitchFamily="18" charset="0"/>
              </a:rPr>
              <a:t>）</a:t>
            </a:r>
            <a:r>
              <a:rPr lang="zh-CN" altLang="en-US" b="1" dirty="0">
                <a:latin typeface="Times New Roman" panose="02020603050405020304" pitchFamily="18" charset="0"/>
                <a:ea typeface="微软雅黑" pitchFamily="34" charset="-122"/>
              </a:rPr>
              <a:t>从一个检验数为负数且最小的空格出发</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和其它数字格构成闭回路。可证</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此闭回路存在且唯一</a:t>
            </a:r>
          </a:p>
        </p:txBody>
      </p:sp>
      <p:sp>
        <p:nvSpPr>
          <p:cNvPr id="471043" name="Text Box 3"/>
          <p:cNvSpPr txBox="1"/>
          <p:nvPr/>
        </p:nvSpPr>
        <p:spPr>
          <a:xfrm>
            <a:off x="0" y="2924175"/>
            <a:ext cx="9252520" cy="577081"/>
          </a:xfrm>
          <a:prstGeom prst="rect">
            <a:avLst/>
          </a:prstGeom>
          <a:solidFill>
            <a:srgbClr val="FFFF99"/>
          </a:solidFill>
          <a:ln w="9525">
            <a:noFill/>
          </a:ln>
        </p:spPr>
        <p:txBody>
          <a:bodyPr wrap="square">
            <a:spAutoFit/>
          </a:bodyPr>
          <a:lstStyle/>
          <a:p>
            <a:pPr eaLnBrk="1" hangingPunct="1">
              <a:lnSpc>
                <a:spcPct val="150000"/>
              </a:lnSpc>
              <a:spcBef>
                <a:spcPct val="50000"/>
              </a:spcBef>
            </a:pPr>
            <a:r>
              <a:rPr lang="zh-CN" altLang="en-US" b="1" dirty="0">
                <a:latin typeface="Times New Roman" panose="02020603050405020304" pitchFamily="18" charset="0"/>
                <a:ea typeface="微软雅黑" pitchFamily="34" charset="-122"/>
                <a:cs typeface="Times New Roman" panose="02020603050405020304" pitchFamily="18" charset="0"/>
              </a:rPr>
              <a:t>（</a:t>
            </a:r>
            <a:r>
              <a:rPr lang="en-US" altLang="zh-CN" b="1" dirty="0">
                <a:latin typeface="Times New Roman" panose="02020603050405020304" pitchFamily="18" charset="0"/>
                <a:ea typeface="微软雅黑" pitchFamily="34" charset="-122"/>
                <a:cs typeface="Times New Roman" panose="02020603050405020304" pitchFamily="18" charset="0"/>
              </a:rPr>
              <a:t>2</a:t>
            </a:r>
            <a:r>
              <a:rPr lang="zh-CN" altLang="en-US" b="1" dirty="0">
                <a:latin typeface="Times New Roman" panose="02020603050405020304" pitchFamily="18" charset="0"/>
                <a:ea typeface="微软雅黑" pitchFamily="34" charset="-122"/>
                <a:cs typeface="Times New Roman" panose="02020603050405020304" pitchFamily="18" charset="0"/>
              </a:rPr>
              <a:t>）</a:t>
            </a:r>
            <a:r>
              <a:rPr lang="zh-CN" altLang="en-US" b="1" dirty="0">
                <a:latin typeface="Times New Roman" panose="02020603050405020304" pitchFamily="18" charset="0"/>
                <a:ea typeface="微软雅黑" pitchFamily="34" charset="-122"/>
              </a:rPr>
              <a:t>在闭回路上进行运量调整</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使选定空格处的运量尽可能地增加</a:t>
            </a:r>
          </a:p>
        </p:txBody>
      </p:sp>
      <p:sp>
        <p:nvSpPr>
          <p:cNvPr id="471046" name="Text Box 6"/>
          <p:cNvSpPr txBox="1"/>
          <p:nvPr/>
        </p:nvSpPr>
        <p:spPr>
          <a:xfrm>
            <a:off x="0" y="4797425"/>
            <a:ext cx="9144000" cy="1135063"/>
          </a:xfrm>
          <a:prstGeom prst="rect">
            <a:avLst/>
          </a:prstGeom>
          <a:solidFill>
            <a:srgbClr val="FFCCFF"/>
          </a:solidFill>
          <a:ln w="9525">
            <a:noFill/>
          </a:ln>
        </p:spPr>
        <p:txBody>
          <a:bodyPr>
            <a:spAutoFit/>
          </a:bodyPr>
          <a:lstStyle/>
          <a:p>
            <a:pPr eaLnBrk="1" hangingPunct="1">
              <a:lnSpc>
                <a:spcPct val="150000"/>
              </a:lnSpc>
              <a:spcBef>
                <a:spcPct val="50000"/>
              </a:spcBef>
            </a:pPr>
            <a:r>
              <a:rPr lang="zh-CN" altLang="en-US" b="1" dirty="0">
                <a:latin typeface="Times New Roman" panose="02020603050405020304" pitchFamily="18" charset="0"/>
                <a:ea typeface="微软雅黑" pitchFamily="34" charset="-122"/>
                <a:cs typeface="Times New Roman" panose="02020603050405020304" pitchFamily="18" charset="0"/>
              </a:rPr>
              <a:t>（</a:t>
            </a:r>
            <a:r>
              <a:rPr lang="en-US" altLang="zh-CN" b="1" dirty="0">
                <a:latin typeface="Times New Roman" panose="02020603050405020304" pitchFamily="18" charset="0"/>
                <a:ea typeface="微软雅黑" pitchFamily="34" charset="-122"/>
                <a:cs typeface="Times New Roman" panose="02020603050405020304" pitchFamily="18" charset="0"/>
              </a:rPr>
              <a:t>3</a:t>
            </a:r>
            <a:r>
              <a:rPr lang="zh-CN" altLang="en-US" b="1" dirty="0">
                <a:latin typeface="Times New Roman" panose="02020603050405020304" pitchFamily="18" charset="0"/>
                <a:ea typeface="微软雅黑" pitchFamily="34" charset="-122"/>
                <a:cs typeface="Times New Roman" panose="02020603050405020304" pitchFamily="18" charset="0"/>
              </a:rPr>
              <a:t>）</a:t>
            </a:r>
            <a:r>
              <a:rPr lang="zh-CN" altLang="en-US" b="1" dirty="0">
                <a:latin typeface="Times New Roman" panose="02020603050405020304" pitchFamily="18" charset="0"/>
                <a:ea typeface="微软雅黑" pitchFamily="34" charset="-122"/>
              </a:rPr>
              <a:t>运量调整后</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必然使某个数字格变成零。把一个变成零的数字格抹去</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得新的调运方案</a:t>
            </a:r>
          </a:p>
        </p:txBody>
      </p:sp>
      <p:sp>
        <p:nvSpPr>
          <p:cNvPr id="2" name="灯片编号占位符 1">
            <a:extLst>
              <a:ext uri="{FF2B5EF4-FFF2-40B4-BE49-F238E27FC236}">
                <a16:creationId xmlns:a16="http://schemas.microsoft.com/office/drawing/2014/main" id="{78020620-8F2D-4204-9FE2-FF74D67C9D3C}"/>
              </a:ext>
            </a:extLst>
          </p:cNvPr>
          <p:cNvSpPr>
            <a:spLocks noGrp="1"/>
          </p:cNvSpPr>
          <p:nvPr>
            <p:ph type="sldNum" sz="quarter" idx="12"/>
          </p:nvPr>
        </p:nvSpPr>
        <p:spPr/>
        <p:txBody>
          <a:bodyPr/>
          <a:lstStyle/>
          <a:p>
            <a:pPr>
              <a:defRPr/>
            </a:pPr>
            <a:fld id="{2AE1B59C-883C-4848-BC85-9A12DF2590B2}" type="slidenum">
              <a:rPr lang="en-US" altLang="zh-CN" smtClean="0"/>
              <a:t>47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43"/>
                                        </p:tgtEl>
                                        <p:attrNameLst>
                                          <p:attrName>style.visibility</p:attrName>
                                        </p:attrNameLst>
                                      </p:cBhvr>
                                      <p:to>
                                        <p:strVal val="visible"/>
                                      </p:to>
                                    </p:set>
                                    <p:anim calcmode="lin" valueType="num">
                                      <p:cBhvr additive="base">
                                        <p:cTn id="7" dur="500" fill="hold"/>
                                        <p:tgtEl>
                                          <p:spTgt spid="471043"/>
                                        </p:tgtEl>
                                        <p:attrNameLst>
                                          <p:attrName>ppt_x</p:attrName>
                                        </p:attrNameLst>
                                      </p:cBhvr>
                                      <p:tavLst>
                                        <p:tav tm="0">
                                          <p:val>
                                            <p:strVal val="0-#ppt_w/2"/>
                                          </p:val>
                                        </p:tav>
                                        <p:tav tm="100000">
                                          <p:val>
                                            <p:strVal val="#ppt_x"/>
                                          </p:val>
                                        </p:tav>
                                      </p:tavLst>
                                    </p:anim>
                                    <p:anim calcmode="lin" valueType="num">
                                      <p:cBhvr additive="base">
                                        <p:cTn id="8" dur="500" fill="hold"/>
                                        <p:tgtEl>
                                          <p:spTgt spid="4710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046"/>
                                        </p:tgtEl>
                                        <p:attrNameLst>
                                          <p:attrName>style.visibility</p:attrName>
                                        </p:attrNameLst>
                                      </p:cBhvr>
                                      <p:to>
                                        <p:strVal val="visible"/>
                                      </p:to>
                                    </p:set>
                                    <p:anim calcmode="lin" valueType="num">
                                      <p:cBhvr additive="base">
                                        <p:cTn id="13" dur="500" fill="hold"/>
                                        <p:tgtEl>
                                          <p:spTgt spid="471046"/>
                                        </p:tgtEl>
                                        <p:attrNameLst>
                                          <p:attrName>ppt_x</p:attrName>
                                        </p:attrNameLst>
                                      </p:cBhvr>
                                      <p:tavLst>
                                        <p:tav tm="0">
                                          <p:val>
                                            <p:strVal val="0-#ppt_w/2"/>
                                          </p:val>
                                        </p:tav>
                                        <p:tav tm="100000">
                                          <p:val>
                                            <p:strVal val="#ppt_x"/>
                                          </p:val>
                                        </p:tav>
                                      </p:tavLst>
                                    </p:anim>
                                    <p:anim calcmode="lin" valueType="num">
                                      <p:cBhvr additive="base">
                                        <p:cTn id="14" dur="500" fill="hold"/>
                                        <p:tgtEl>
                                          <p:spTgt spid="4710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3" grpId="0" animBg="1"/>
      <p:bldP spid="47104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3"/>
          <p:cNvSpPr/>
          <p:nvPr/>
        </p:nvSpPr>
        <p:spPr>
          <a:xfrm>
            <a:off x="1835151" y="6546850"/>
            <a:ext cx="831850" cy="338138"/>
          </a:xfrm>
          <a:prstGeom prst="rect">
            <a:avLst/>
          </a:prstGeom>
          <a:solidFill>
            <a:srgbClr val="FFFF99"/>
          </a:solidFill>
          <a:ln w="9525">
            <a:noFill/>
          </a:ln>
        </p:spPr>
        <p:txBody>
          <a:bodyPr wrap="square">
            <a:spAutoFit/>
          </a:bodyPr>
          <a:lstStyle/>
          <a:p>
            <a:pPr eaLnBrk="1" hangingPunct="1"/>
            <a:r>
              <a:rPr lang="zh-CN" altLang="en-US" sz="1600" b="1" dirty="0">
                <a:latin typeface="微软雅黑" pitchFamily="34" charset="-122"/>
                <a:ea typeface="微软雅黑" pitchFamily="34" charset="-122"/>
              </a:rPr>
              <a:t>表</a:t>
            </a:r>
            <a:r>
              <a:rPr lang="en-US" altLang="zh-CN" sz="1600" b="1" dirty="0">
                <a:latin typeface="Times New Roman" panose="02020603050405020304" pitchFamily="18" charset="0"/>
                <a:ea typeface="微软雅黑" pitchFamily="34" charset="-122"/>
                <a:cs typeface="Times New Roman" panose="02020603050405020304" pitchFamily="18" charset="0"/>
              </a:rPr>
              <a:t>4-21</a:t>
            </a:r>
            <a:endParaRPr lang="zh-CN" altLang="en-US" sz="1600" b="1" dirty="0">
              <a:latin typeface="Times New Roman" panose="02020603050405020304" pitchFamily="18" charset="0"/>
              <a:ea typeface="微软雅黑" pitchFamily="34" charset="-122"/>
              <a:cs typeface="Times New Roman" panose="02020603050405020304" pitchFamily="18" charset="0"/>
            </a:endParaRPr>
          </a:p>
        </p:txBody>
      </p:sp>
      <p:sp>
        <p:nvSpPr>
          <p:cNvPr id="6" name="Rectangle 3"/>
          <p:cNvSpPr txBox="1"/>
          <p:nvPr/>
        </p:nvSpPr>
        <p:spPr>
          <a:xfrm>
            <a:off x="0" y="1412875"/>
            <a:ext cx="9144000" cy="3455988"/>
          </a:xfrm>
          <a:prstGeom prst="rect">
            <a:avLst/>
          </a:prstGeom>
          <a:solidFill>
            <a:srgbClr val="B3F1F7"/>
          </a:solidFill>
          <a:ln w="9525">
            <a:noFill/>
          </a:ln>
        </p:spPr>
        <p:txBody>
          <a:bodyPr/>
          <a:lstStyle/>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节中提到</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产销平衡的运输问题必定存在最优解。那么有唯一最优解还是无穷多最优解</a:t>
            </a:r>
            <a:r>
              <a:rPr lang="en-US" altLang="zh-CN" b="1" dirty="0">
                <a:latin typeface="Times New Roman" panose="02020603050405020304" pitchFamily="18" charset="0"/>
                <a:ea typeface="微软雅黑" pitchFamily="34" charset="-122"/>
              </a:rPr>
              <a:t>? </a:t>
            </a: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某个非基变量</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空格</a:t>
            </a:r>
            <a:r>
              <a:rPr lang="en-US" altLang="zh-CN" b="1"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的检验数为</a:t>
            </a:r>
            <a:r>
              <a:rPr lang="en-US" altLang="zh-CN" b="1" dirty="0">
                <a:latin typeface="Times New Roman" panose="02020603050405020304" pitchFamily="18" charset="0"/>
                <a:ea typeface="微软雅黑" pitchFamily="34" charset="-122"/>
              </a:rPr>
              <a:t>0</a:t>
            </a:r>
            <a:r>
              <a:rPr lang="zh-CN" altLang="en-US" b="1" dirty="0">
                <a:latin typeface="Times New Roman" panose="02020603050405020304" pitchFamily="18" charset="0"/>
                <a:ea typeface="微软雅黑" pitchFamily="34" charset="-122"/>
              </a:rPr>
              <a:t>时</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该问题有无穷多最优解</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表</a:t>
            </a:r>
            <a:r>
              <a:rPr lang="en-US" altLang="zh-CN" b="1" dirty="0">
                <a:latin typeface="Times New Roman" panose="02020603050405020304" pitchFamily="18" charset="0"/>
                <a:ea typeface="微软雅黑" pitchFamily="34" charset="-122"/>
              </a:rPr>
              <a:t>4-22</a:t>
            </a:r>
            <a:r>
              <a:rPr lang="zh-CN" altLang="en-US" b="1" dirty="0">
                <a:latin typeface="Times New Roman" panose="02020603050405020304" pitchFamily="18" charset="0"/>
                <a:ea typeface="微软雅黑" pitchFamily="34" charset="-122"/>
              </a:rPr>
              <a:t>空格</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的检验数是</a:t>
            </a:r>
            <a:r>
              <a:rPr lang="en-US" altLang="zh-CN" b="1" dirty="0">
                <a:latin typeface="Times New Roman" panose="02020603050405020304" pitchFamily="18" charset="0"/>
                <a:ea typeface="微软雅黑" pitchFamily="34" charset="-122"/>
              </a:rPr>
              <a:t>0</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表明</a:t>
            </a:r>
            <a:r>
              <a:rPr lang="zh-CN" altLang="en-US" b="1" dirty="0">
                <a:solidFill>
                  <a:srgbClr val="FF0000"/>
                </a:solidFill>
                <a:latin typeface="Times New Roman" panose="02020603050405020304" pitchFamily="18" charset="0"/>
                <a:ea typeface="微软雅黑" pitchFamily="34" charset="-122"/>
              </a:rPr>
              <a:t>例</a:t>
            </a:r>
            <a:r>
              <a:rPr lang="en-US" altLang="zh-CN" b="1" dirty="0">
                <a:solidFill>
                  <a:srgbClr val="FF0000"/>
                </a:solidFill>
                <a:latin typeface="Times New Roman" panose="02020603050405020304" pitchFamily="18" charset="0"/>
                <a:ea typeface="微软雅黑" pitchFamily="34" charset="-122"/>
              </a:rPr>
              <a:t>4-1</a:t>
            </a:r>
            <a:r>
              <a:rPr lang="zh-CN" altLang="en-US" b="1" dirty="0">
                <a:latin typeface="Times New Roman" panose="02020603050405020304" pitchFamily="18" charset="0"/>
                <a:ea typeface="微软雅黑" pitchFamily="34" charset="-122"/>
              </a:rPr>
              <a:t>有无穷多最优解</a:t>
            </a:r>
            <a:endParaRPr lang="en-US" altLang="zh-CN" b="1" dirty="0">
              <a:latin typeface="Times New Roman" panose="02020603050405020304" pitchFamily="18" charset="0"/>
              <a:ea typeface="微软雅黑" pitchFamily="34" charset="-122"/>
            </a:endParaRPr>
          </a:p>
          <a:p>
            <a:pPr marL="273050" indent="-273050" algn="just">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itchFamily="34" charset="-122"/>
              </a:rPr>
              <a:t>可在表</a:t>
            </a:r>
            <a:r>
              <a:rPr lang="en-US" altLang="zh-CN" b="1" dirty="0">
                <a:latin typeface="Times New Roman" panose="02020603050405020304" pitchFamily="18" charset="0"/>
                <a:ea typeface="微软雅黑" pitchFamily="34" charset="-122"/>
              </a:rPr>
              <a:t>4-21</a:t>
            </a:r>
            <a:r>
              <a:rPr lang="zh-CN" altLang="en-US" b="1" dirty="0">
                <a:latin typeface="Times New Roman" panose="02020603050405020304" pitchFamily="18" charset="0"/>
                <a:ea typeface="微软雅黑" pitchFamily="34" charset="-122"/>
              </a:rPr>
              <a:t>中以</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zh-CN" altLang="en-US" b="1" dirty="0">
                <a:latin typeface="Times New Roman" panose="02020603050405020304" pitchFamily="18" charset="0"/>
                <a:ea typeface="微软雅黑" pitchFamily="34" charset="-122"/>
              </a:rPr>
              <a:t>为调入格</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作闭回路</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4)</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-(2</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en-US" altLang="zh-CN" b="1" baseline="-30000" dirty="0">
                <a:latin typeface="Times New Roman" panose="02020603050405020304" pitchFamily="18" charset="0"/>
                <a:ea typeface="微软雅黑" pitchFamily="34" charset="-122"/>
              </a:rPr>
              <a:t>-</a:t>
            </a:r>
            <a:r>
              <a:rPr lang="en-US" altLang="zh-CN" b="1" dirty="0">
                <a:latin typeface="Times New Roman" panose="02020603050405020304" pitchFamily="18" charset="0"/>
                <a:ea typeface="微软雅黑" pitchFamily="34" charset="-122"/>
              </a:rPr>
              <a:t>-(1</a:t>
            </a:r>
            <a:r>
              <a:rPr lang="zh-CN" altLang="en-US" b="1" dirty="0">
                <a:latin typeface="仿宋" pitchFamily="49" charset="-122"/>
                <a:ea typeface="仿宋" pitchFamily="49" charset="-122"/>
              </a:rPr>
              <a:t>，</a:t>
            </a:r>
            <a:r>
              <a:rPr lang="en-US" altLang="zh-CN" b="1" dirty="0">
                <a:latin typeface="Times New Roman" panose="02020603050405020304" pitchFamily="18" charset="0"/>
                <a:ea typeface="微软雅黑" pitchFamily="34" charset="-122"/>
              </a:rPr>
              <a:t>1)</a:t>
            </a:r>
            <a:r>
              <a:rPr lang="en-US" altLang="zh-CN" b="1" baseline="-30000" dirty="0">
                <a:latin typeface="Times New Roman" panose="02020603050405020304" pitchFamily="18" charset="0"/>
                <a:ea typeface="微软雅黑" pitchFamily="34" charset="-122"/>
              </a:rPr>
              <a:t>+</a:t>
            </a:r>
            <a:r>
              <a:rPr lang="zh-CN" altLang="en-US" b="1" dirty="0">
                <a:latin typeface="Times New Roman" panose="02020603050405020304" pitchFamily="18" charset="0"/>
                <a:ea typeface="微软雅黑" pitchFamily="34" charset="-122"/>
              </a:rPr>
              <a:t>。确定</a:t>
            </a:r>
            <a:r>
              <a:rPr lang="en-US" altLang="zh-CN" b="1" dirty="0">
                <a:latin typeface="Times New Roman" panose="02020603050405020304" pitchFamily="18" charset="0"/>
                <a:ea typeface="微软雅黑" pitchFamily="34" charset="-122"/>
              </a:rPr>
              <a:t>θ=min(2, 3)=2</a:t>
            </a:r>
          </a:p>
          <a:p>
            <a:pPr marL="273050" indent="-273050" algn="just">
              <a:spcBef>
                <a:spcPts val="600"/>
              </a:spcBef>
              <a:buClr>
                <a:schemeClr val="accent1"/>
              </a:buClr>
              <a:buSzPct val="70000"/>
              <a:buFont typeface="Wingdings" panose="05000000000000000000" pitchFamily="2" charset="2"/>
              <a:buChar char=""/>
            </a:pPr>
            <a:endParaRPr lang="en-US" altLang="zh-CN" b="1" dirty="0">
              <a:latin typeface="Times New Roman" panose="02020603050405020304" pitchFamily="18" charset="0"/>
              <a:ea typeface="微软雅黑" pitchFamily="34" charset="-122"/>
            </a:endParaRPr>
          </a:p>
        </p:txBody>
      </p:sp>
      <p:sp>
        <p:nvSpPr>
          <p:cNvPr id="8" name="矩形 7"/>
          <p:cNvSpPr/>
          <p:nvPr/>
        </p:nvSpPr>
        <p:spPr>
          <a:xfrm>
            <a:off x="6169025" y="6400800"/>
            <a:ext cx="1450975" cy="457200"/>
          </a:xfrm>
          <a:prstGeom prst="rect">
            <a:avLst/>
          </a:prstGeom>
          <a:solidFill>
            <a:srgbClr val="CCFF99"/>
          </a:solidFill>
          <a:ln w="9525">
            <a:noFill/>
          </a:ln>
        </p:spPr>
        <p:txBody>
          <a:bodyPr>
            <a:spAutoFit/>
          </a:bodyPr>
          <a:lstStyle/>
          <a:p>
            <a:pPr eaLnBrk="1" hangingPunct="1"/>
            <a:r>
              <a:rPr lang="zh-CN" altLang="en-US"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4-22</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8916" name="Rectangle 2"/>
          <p:cNvSpPr txBox="1"/>
          <p:nvPr/>
        </p:nvSpPr>
        <p:spPr>
          <a:xfrm>
            <a:off x="0" y="-12700"/>
            <a:ext cx="7848600" cy="476250"/>
          </a:xfrm>
          <a:prstGeom prst="rect">
            <a:avLst/>
          </a:prstGeom>
          <a:noFill/>
          <a:ln w="9525">
            <a:noFill/>
          </a:ln>
        </p:spPr>
        <p:txBody>
          <a:bodyPr/>
          <a:lstStyle/>
          <a:p>
            <a:r>
              <a:rPr lang="en-US" altLang="zh-CN" sz="2800" b="1" dirty="0">
                <a:solidFill>
                  <a:schemeClr val="hlink"/>
                </a:solidFill>
                <a:latin typeface="微软雅黑" pitchFamily="34" charset="-122"/>
                <a:ea typeface="微软雅黑" pitchFamily="34" charset="-122"/>
              </a:rPr>
              <a:t>4.2.4  </a:t>
            </a:r>
            <a:r>
              <a:rPr lang="zh-CN" altLang="en-US" sz="2800" b="1" dirty="0">
                <a:solidFill>
                  <a:schemeClr val="hlink"/>
                </a:solidFill>
                <a:latin typeface="微软雅黑" pitchFamily="34" charset="-122"/>
                <a:ea typeface="微软雅黑" pitchFamily="34" charset="-122"/>
              </a:rPr>
              <a:t>表上作业法计算中的问题</a:t>
            </a:r>
          </a:p>
        </p:txBody>
      </p:sp>
      <p:pic>
        <p:nvPicPr>
          <p:cNvPr id="9" name="Picture 12"/>
          <p:cNvPicPr>
            <a:picLocks noChangeAspect="1"/>
          </p:cNvPicPr>
          <p:nvPr/>
        </p:nvPicPr>
        <p:blipFill>
          <a:blip r:embed="rId2"/>
          <a:stretch>
            <a:fillRect/>
          </a:stretch>
        </p:blipFill>
        <p:spPr>
          <a:xfrm>
            <a:off x="4787900" y="4683125"/>
            <a:ext cx="4356100" cy="1773238"/>
          </a:xfrm>
          <a:prstGeom prst="rect">
            <a:avLst/>
          </a:prstGeom>
          <a:noFill/>
          <a:ln w="9525">
            <a:noFill/>
          </a:ln>
        </p:spPr>
      </p:pic>
      <p:sp>
        <p:nvSpPr>
          <p:cNvPr id="3" name="Rectangle 3"/>
          <p:cNvSpPr txBox="1"/>
          <p:nvPr/>
        </p:nvSpPr>
        <p:spPr>
          <a:xfrm>
            <a:off x="0" y="404813"/>
            <a:ext cx="9144000" cy="503237"/>
          </a:xfrm>
          <a:prstGeom prst="rect">
            <a:avLst/>
          </a:prstGeom>
          <a:noFill/>
          <a:ln w="9525">
            <a:noFill/>
          </a:ln>
        </p:spPr>
        <p:txBody>
          <a:bodyPr/>
          <a:lstStyle/>
          <a:p>
            <a:pPr marL="273050" indent="-273050" algn="just">
              <a:spcBef>
                <a:spcPts val="600"/>
              </a:spcBef>
              <a:buClr>
                <a:schemeClr val="accent1"/>
              </a:buClr>
              <a:buSzPct val="70000"/>
              <a:buFont typeface="Wingdings" panose="05000000000000000000" pitchFamily="2" charset="2"/>
            </a:pPr>
            <a:r>
              <a:rPr lang="en-US" altLang="zh-CN" sz="2800" b="1" dirty="0">
                <a:solidFill>
                  <a:schemeClr val="folHlink"/>
                </a:solidFill>
                <a:latin typeface="微软雅黑" pitchFamily="34" charset="-122"/>
                <a:ea typeface="微软雅黑" pitchFamily="34" charset="-122"/>
              </a:rPr>
              <a:t>I. </a:t>
            </a:r>
            <a:r>
              <a:rPr lang="zh-CN" altLang="en-US" sz="2800" b="1" dirty="0">
                <a:solidFill>
                  <a:schemeClr val="folHlink"/>
                </a:solidFill>
                <a:latin typeface="微软雅黑" pitchFamily="34" charset="-122"/>
                <a:ea typeface="微软雅黑" pitchFamily="34" charset="-122"/>
              </a:rPr>
              <a:t>无穷多最优解      </a:t>
            </a:r>
            <a:r>
              <a:rPr lang="en-US" altLang="zh-CN" sz="2800" b="1" dirty="0">
                <a:solidFill>
                  <a:schemeClr val="folHlink"/>
                </a:solidFill>
                <a:latin typeface="微软雅黑" pitchFamily="34" charset="-122"/>
                <a:ea typeface="微软雅黑" pitchFamily="34" charset="-122"/>
              </a:rPr>
              <a:t>II. </a:t>
            </a:r>
            <a:r>
              <a:rPr lang="zh-CN" altLang="en-US" sz="2800" b="1" dirty="0">
                <a:solidFill>
                  <a:schemeClr val="folHlink"/>
                </a:solidFill>
                <a:latin typeface="微软雅黑" pitchFamily="34" charset="-122"/>
                <a:ea typeface="微软雅黑" pitchFamily="34" charset="-122"/>
              </a:rPr>
              <a:t>退化</a:t>
            </a:r>
          </a:p>
        </p:txBody>
      </p:sp>
      <p:sp>
        <p:nvSpPr>
          <p:cNvPr id="5" name="Rectangle 2"/>
          <p:cNvSpPr txBox="1"/>
          <p:nvPr/>
        </p:nvSpPr>
        <p:spPr>
          <a:xfrm>
            <a:off x="0" y="908050"/>
            <a:ext cx="9144000" cy="503238"/>
          </a:xfrm>
          <a:prstGeom prst="rect">
            <a:avLst/>
          </a:prstGeom>
          <a:solidFill>
            <a:srgbClr val="CCFF99"/>
          </a:solidFill>
          <a:ln w="9525">
            <a:noFill/>
          </a:ln>
        </p:spPr>
        <p:txBody>
          <a:bodyPr/>
          <a:lstStyle/>
          <a:p>
            <a:r>
              <a:rPr lang="en-US" altLang="zh-CN" sz="2800" b="1" dirty="0">
                <a:solidFill>
                  <a:schemeClr val="hlink"/>
                </a:solidFill>
                <a:latin typeface="微软雅黑" pitchFamily="34" charset="-122"/>
                <a:ea typeface="微软雅黑" pitchFamily="34" charset="-122"/>
              </a:rPr>
              <a:t>I. </a:t>
            </a:r>
            <a:r>
              <a:rPr lang="zh-CN" altLang="en-US" sz="2800" b="1" dirty="0">
                <a:solidFill>
                  <a:schemeClr val="hlink"/>
                </a:solidFill>
                <a:latin typeface="微软雅黑" pitchFamily="34" charset="-122"/>
                <a:ea typeface="微软雅黑" pitchFamily="34" charset="-122"/>
              </a:rPr>
              <a:t>无穷多最优解</a:t>
            </a:r>
          </a:p>
        </p:txBody>
      </p:sp>
      <p:pic>
        <p:nvPicPr>
          <p:cNvPr id="11" name="Picture 4"/>
          <p:cNvPicPr>
            <a:picLocks noChangeAspect="1"/>
          </p:cNvPicPr>
          <p:nvPr/>
        </p:nvPicPr>
        <p:blipFill>
          <a:blip r:embed="rId3"/>
          <a:stretch>
            <a:fillRect/>
          </a:stretch>
        </p:blipFill>
        <p:spPr>
          <a:xfrm>
            <a:off x="0" y="4608513"/>
            <a:ext cx="4787900" cy="1989137"/>
          </a:xfrm>
          <a:prstGeom prst="rect">
            <a:avLst/>
          </a:prstGeom>
          <a:noFill/>
          <a:ln w="9525">
            <a:noFill/>
          </a:ln>
        </p:spPr>
      </p:pic>
      <p:cxnSp>
        <p:nvCxnSpPr>
          <p:cNvPr id="13" name="直接箭头连接符 12"/>
          <p:cNvCxnSpPr/>
          <p:nvPr/>
        </p:nvCxnSpPr>
        <p:spPr>
          <a:xfrm>
            <a:off x="1908175" y="5445125"/>
            <a:ext cx="1655763" cy="0"/>
          </a:xfrm>
          <a:prstGeom prst="straightConnector1">
            <a:avLst/>
          </a:prstGeom>
          <a:ln w="57150" cap="flat" cmpd="sng">
            <a:solidFill>
              <a:srgbClr val="FF0000"/>
            </a:solidFill>
            <a:prstDash val="solid"/>
            <a:miter/>
            <a:headEnd type="none" w="med" len="med"/>
            <a:tailEnd type="arrow" w="med" len="med"/>
          </a:ln>
        </p:spPr>
      </p:cxnSp>
      <p:cxnSp>
        <p:nvCxnSpPr>
          <p:cNvPr id="15" name="直接箭头连接符 14"/>
          <p:cNvCxnSpPr/>
          <p:nvPr/>
        </p:nvCxnSpPr>
        <p:spPr>
          <a:xfrm>
            <a:off x="3492500" y="5516563"/>
            <a:ext cx="0" cy="288925"/>
          </a:xfrm>
          <a:prstGeom prst="straightConnector1">
            <a:avLst/>
          </a:prstGeom>
          <a:ln w="57150" cap="flat" cmpd="sng">
            <a:solidFill>
              <a:srgbClr val="FF0000"/>
            </a:solidFill>
            <a:prstDash val="solid"/>
            <a:miter/>
            <a:headEnd type="none" w="med" len="med"/>
            <a:tailEnd type="arrow" w="med" len="med"/>
          </a:ln>
        </p:spPr>
      </p:cxnSp>
      <p:cxnSp>
        <p:nvCxnSpPr>
          <p:cNvPr id="17" name="直接箭头连接符 16"/>
          <p:cNvCxnSpPr/>
          <p:nvPr/>
        </p:nvCxnSpPr>
        <p:spPr>
          <a:xfrm flipH="1">
            <a:off x="1979613" y="5805488"/>
            <a:ext cx="1439862" cy="0"/>
          </a:xfrm>
          <a:prstGeom prst="straightConnector1">
            <a:avLst/>
          </a:prstGeom>
          <a:ln w="57150" cap="flat" cmpd="sng">
            <a:solidFill>
              <a:srgbClr val="FF0000"/>
            </a:solidFill>
            <a:prstDash val="solid"/>
            <a:miter/>
            <a:headEnd type="none" w="med" len="med"/>
            <a:tailEnd type="arrow" w="med" len="med"/>
          </a:ln>
        </p:spPr>
      </p:cxnSp>
      <p:cxnSp>
        <p:nvCxnSpPr>
          <p:cNvPr id="19" name="直接箭头连接符 18"/>
          <p:cNvCxnSpPr/>
          <p:nvPr/>
        </p:nvCxnSpPr>
        <p:spPr>
          <a:xfrm flipV="1">
            <a:off x="1979613" y="5445224"/>
            <a:ext cx="0" cy="288925"/>
          </a:xfrm>
          <a:prstGeom prst="straightConnector1">
            <a:avLst/>
          </a:prstGeom>
          <a:ln w="57150" cap="flat" cmpd="sng">
            <a:solidFill>
              <a:srgbClr val="FF0000"/>
            </a:solidFill>
            <a:prstDash val="solid"/>
            <a:miter/>
            <a:headEnd type="none" w="med" len="med"/>
            <a:tailEnd type="arrow" w="med" len="med"/>
          </a:ln>
        </p:spPr>
      </p:cxnSp>
      <p:sp>
        <p:nvSpPr>
          <p:cNvPr id="4" name="矩形 3"/>
          <p:cNvSpPr/>
          <p:nvPr/>
        </p:nvSpPr>
        <p:spPr>
          <a:xfrm>
            <a:off x="3300557" y="6492667"/>
            <a:ext cx="1450975" cy="338554"/>
          </a:xfrm>
          <a:prstGeom prst="rect">
            <a:avLst/>
          </a:prstGeom>
          <a:solidFill>
            <a:srgbClr val="FFFF99"/>
          </a:solidFill>
          <a:ln w="9525">
            <a:noFill/>
          </a:ln>
        </p:spPr>
        <p:txBody>
          <a:bodyPr>
            <a:spAutoFit/>
          </a:bodyPr>
          <a:lstStyle/>
          <a:p>
            <a:pPr eaLnBrk="1" hangingPunct="1"/>
            <a:r>
              <a:rPr lang="zh-CN" altLang="en-US" sz="1600" b="1" dirty="0">
                <a:latin typeface="微软雅黑" pitchFamily="34" charset="-122"/>
                <a:ea typeface="微软雅黑" pitchFamily="34" charset="-122"/>
              </a:rPr>
              <a:t>表</a:t>
            </a:r>
            <a:r>
              <a:rPr lang="en-US" altLang="zh-CN" sz="1600" b="1" dirty="0">
                <a:latin typeface="Times New Roman" panose="02020603050405020304" pitchFamily="18" charset="0"/>
                <a:ea typeface="微软雅黑" pitchFamily="34" charset="-122"/>
                <a:cs typeface="Times New Roman" panose="02020603050405020304" pitchFamily="18" charset="0"/>
              </a:rPr>
              <a:t>4-23</a:t>
            </a:r>
            <a:endParaRPr lang="zh-CN" altLang="en-US" sz="1600" b="1" dirty="0">
              <a:latin typeface="Times New Roman" panose="02020603050405020304" pitchFamily="18" charset="0"/>
              <a:ea typeface="微软雅黑" pitchFamily="34" charset="-122"/>
              <a:cs typeface="Times New Roman" panose="02020603050405020304" pitchFamily="18" charset="0"/>
            </a:endParaRPr>
          </a:p>
        </p:txBody>
      </p:sp>
      <p:pic>
        <p:nvPicPr>
          <p:cNvPr id="362502" name="Picture 6"/>
          <p:cNvPicPr>
            <a:picLocks noChangeAspect="1"/>
          </p:cNvPicPr>
          <p:nvPr/>
        </p:nvPicPr>
        <p:blipFill>
          <a:blip r:embed="rId4"/>
          <a:stretch>
            <a:fillRect/>
          </a:stretch>
        </p:blipFill>
        <p:spPr>
          <a:xfrm>
            <a:off x="4048125" y="4632397"/>
            <a:ext cx="5095875" cy="2205038"/>
          </a:xfrm>
          <a:prstGeom prst="rect">
            <a:avLst/>
          </a:prstGeom>
          <a:noFill/>
          <a:ln w="9525">
            <a:noFill/>
          </a:ln>
        </p:spPr>
      </p:pic>
      <p:sp>
        <p:nvSpPr>
          <p:cNvPr id="16" name="椭圆 15"/>
          <p:cNvSpPr/>
          <p:nvPr/>
        </p:nvSpPr>
        <p:spPr>
          <a:xfrm>
            <a:off x="3492500" y="5300663"/>
            <a:ext cx="287338" cy="288925"/>
          </a:xfrm>
          <a:prstGeom prst="ellipse">
            <a:avLst/>
          </a:prstGeom>
          <a:noFill/>
          <a:ln w="28575"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18" name="椭圆 17"/>
          <p:cNvSpPr/>
          <p:nvPr/>
        </p:nvSpPr>
        <p:spPr>
          <a:xfrm>
            <a:off x="1619250" y="5589588"/>
            <a:ext cx="288925" cy="287337"/>
          </a:xfrm>
          <a:prstGeom prst="ellipse">
            <a:avLst/>
          </a:prstGeom>
          <a:noFill/>
          <a:ln w="28575" cap="flat" cmpd="sng">
            <a:solidFill>
              <a:srgbClr val="FF0000"/>
            </a:solidFill>
            <a:prstDash val="solid"/>
            <a:miter/>
            <a:headEnd type="none" w="med" len="med"/>
            <a:tailEnd type="none" w="med" len="med"/>
          </a:ln>
        </p:spPr>
        <p:txBody>
          <a:bodyPr wrap="none"/>
          <a:lstStyle/>
          <a:p>
            <a:pPr eaLnBrk="1" hangingPunct="1"/>
            <a:endParaRPr lang="zh-CN" altLang="en-US" dirty="0">
              <a:latin typeface="Tahoma" panose="020B0604030504040204" pitchFamily="34" charset="0"/>
              <a:ea typeface="微软雅黑" panose="020B0503020204020204" pitchFamily="34" charset="-122"/>
            </a:endParaRPr>
          </a:p>
        </p:txBody>
      </p:sp>
      <p:sp>
        <p:nvSpPr>
          <p:cNvPr id="20" name="矩形 19"/>
          <p:cNvSpPr/>
          <p:nvPr/>
        </p:nvSpPr>
        <p:spPr>
          <a:xfrm>
            <a:off x="281277" y="4082257"/>
            <a:ext cx="6842125" cy="461962"/>
          </a:xfrm>
          <a:prstGeom prst="rect">
            <a:avLst/>
          </a:prstGeom>
          <a:noFill/>
          <a:ln w="9525">
            <a:noFill/>
          </a:ln>
        </p:spPr>
        <p:txBody>
          <a:bodyPr>
            <a:spAutoFit/>
          </a:bodyPr>
          <a:lstStyle/>
          <a:p>
            <a:pPr eaLnBrk="1" hangingPunct="1"/>
            <a:r>
              <a:rPr lang="zh-CN" altLang="en-US" b="1" dirty="0">
                <a:latin typeface="Times New Roman" panose="02020603050405020304" pitchFamily="18" charset="0"/>
                <a:ea typeface="微软雅黑" pitchFamily="34" charset="-122"/>
              </a:rPr>
              <a:t>经调整后得到另一最优解</a:t>
            </a:r>
            <a:r>
              <a:rPr lang="zh-CN" altLang="en-US" b="1" dirty="0">
                <a:latin typeface="仿宋" pitchFamily="49" charset="-122"/>
                <a:ea typeface="仿宋" pitchFamily="49" charset="-122"/>
              </a:rPr>
              <a:t>，</a:t>
            </a:r>
            <a:r>
              <a:rPr lang="zh-CN" altLang="en-US" b="1" dirty="0">
                <a:latin typeface="Times New Roman" panose="02020603050405020304" pitchFamily="18" charset="0"/>
                <a:ea typeface="微软雅黑" pitchFamily="34" charset="-122"/>
              </a:rPr>
              <a:t>见表</a:t>
            </a:r>
            <a:r>
              <a:rPr lang="en-US" altLang="zh-CN" b="1" dirty="0">
                <a:latin typeface="Times New Roman" panose="02020603050405020304" pitchFamily="18" charset="0"/>
                <a:ea typeface="微软雅黑" pitchFamily="34" charset="-122"/>
              </a:rPr>
              <a:t>4-23</a:t>
            </a:r>
            <a:endParaRPr lang="zh-CN" altLang="en-US" dirty="0">
              <a:latin typeface="Tahoma" panose="020B0604030504040204" pitchFamily="34"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B5B08D63-14C7-4644-88D2-3DC1C62CC389}"/>
              </a:ext>
            </a:extLst>
          </p:cNvPr>
          <p:cNvSpPr>
            <a:spLocks noGrp="1"/>
          </p:cNvSpPr>
          <p:nvPr>
            <p:ph type="sldNum" sz="quarter" idx="12"/>
          </p:nvPr>
        </p:nvSpPr>
        <p:spPr/>
        <p:txBody>
          <a:bodyPr/>
          <a:lstStyle/>
          <a:p>
            <a:pPr>
              <a:defRPr/>
            </a:pPr>
            <a:fld id="{2AE1B59C-883C-4848-BC85-9A12DF2590B2}" type="slidenum">
              <a:rPr lang="en-US" altLang="zh-CN" smtClean="0"/>
              <a:t>48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dissolv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dissolv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par>
                                <p:cTn id="28" presetID="3" presetClass="entr" presetSubtype="1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dissolve">
                                      <p:cBhvr>
                                        <p:cTn id="35" dur="500"/>
                                        <p:tgtEl>
                                          <p:spTgt spid="6">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dissolve">
                                      <p:cBhvr>
                                        <p:cTn id="40" dur="500"/>
                                        <p:tgtEl>
                                          <p:spTgt spid="6">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linds(horizontal)">
                                      <p:cBhvr>
                                        <p:cTn id="45" dur="500"/>
                                        <p:tgtEl>
                                          <p:spTgt spid="10"/>
                                        </p:tgtEl>
                                      </p:cBhvr>
                                    </p:animEffect>
                                  </p:childTnLst>
                                </p:cTn>
                              </p:par>
                              <p:par>
                                <p:cTn id="46" presetID="3" presetClass="entr" presetSubtype="1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linds(horizontal)">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linds(horizontal)">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blinds(horizontal)">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linds(horizontal)">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linds(horizontal)">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linds(horizontal)">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blinds(horizontal)">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blinds(horizontal)">
                                      <p:cBhvr>
                                        <p:cTn id="86" dur="500"/>
                                        <p:tgtEl>
                                          <p:spTgt spid="4"/>
                                        </p:tgtEl>
                                      </p:cBhvr>
                                    </p:animEffect>
                                  </p:childTnLst>
                                </p:cTn>
                              </p:par>
                              <p:par>
                                <p:cTn id="87" presetID="3" presetClass="entr" presetSubtype="10" fill="hold" nodeType="withEffect">
                                  <p:stCondLst>
                                    <p:cond delay="0"/>
                                  </p:stCondLst>
                                  <p:childTnLst>
                                    <p:set>
                                      <p:cBhvr>
                                        <p:cTn id="88" dur="1" fill="hold">
                                          <p:stCondLst>
                                            <p:cond delay="0"/>
                                          </p:stCondLst>
                                        </p:cTn>
                                        <p:tgtEl>
                                          <p:spTgt spid="362502"/>
                                        </p:tgtEl>
                                        <p:attrNameLst>
                                          <p:attrName>style.visibility</p:attrName>
                                        </p:attrNameLst>
                                      </p:cBhvr>
                                      <p:to>
                                        <p:strVal val="visible"/>
                                      </p:to>
                                    </p:set>
                                    <p:animEffect transition="in" filter="blinds(horizontal)">
                                      <p:cBhvr>
                                        <p:cTn id="89" dur="500"/>
                                        <p:tgtEl>
                                          <p:spTgt spid="362502"/>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xit" presetSubtype="10" fill="hold" nodeType="clickEffect">
                                  <p:stCondLst>
                                    <p:cond delay="0"/>
                                  </p:stCondLst>
                                  <p:childTnLst>
                                    <p:animEffect transition="out" filter="blinds(horizontal)">
                                      <p:cBhvr>
                                        <p:cTn id="93" dur="500"/>
                                        <p:tgtEl>
                                          <p:spTgt spid="13"/>
                                        </p:tgtEl>
                                      </p:cBhvr>
                                    </p:animEffect>
                                    <p:set>
                                      <p:cBhvr>
                                        <p:cTn id="94" dur="1" fill="hold">
                                          <p:stCondLst>
                                            <p:cond delay="499"/>
                                          </p:stCondLst>
                                        </p:cTn>
                                        <p:tgtEl>
                                          <p:spTgt spid="13"/>
                                        </p:tgtEl>
                                        <p:attrNameLst>
                                          <p:attrName>style.visibility</p:attrName>
                                        </p:attrNameLst>
                                      </p:cBhvr>
                                      <p:to>
                                        <p:strVal val="hidden"/>
                                      </p:to>
                                    </p:set>
                                  </p:childTnLst>
                                </p:cTn>
                              </p:par>
                              <p:par>
                                <p:cTn id="95" presetID="3" presetClass="exit" presetSubtype="10" fill="hold" nodeType="withEffect">
                                  <p:stCondLst>
                                    <p:cond delay="0"/>
                                  </p:stCondLst>
                                  <p:childTnLst>
                                    <p:animEffect transition="out" filter="blinds(horizontal)">
                                      <p:cBhvr>
                                        <p:cTn id="96" dur="500"/>
                                        <p:tgtEl>
                                          <p:spTgt spid="15"/>
                                        </p:tgtEl>
                                      </p:cBhvr>
                                    </p:animEffect>
                                    <p:set>
                                      <p:cBhvr>
                                        <p:cTn id="97" dur="1" fill="hold">
                                          <p:stCondLst>
                                            <p:cond delay="499"/>
                                          </p:stCondLst>
                                        </p:cTn>
                                        <p:tgtEl>
                                          <p:spTgt spid="15"/>
                                        </p:tgtEl>
                                        <p:attrNameLst>
                                          <p:attrName>style.visibility</p:attrName>
                                        </p:attrNameLst>
                                      </p:cBhvr>
                                      <p:to>
                                        <p:strVal val="hidden"/>
                                      </p:to>
                                    </p:set>
                                  </p:childTnLst>
                                </p:cTn>
                              </p:par>
                              <p:par>
                                <p:cTn id="98" presetID="3" presetClass="exit" presetSubtype="10" fill="hold" nodeType="withEffect">
                                  <p:stCondLst>
                                    <p:cond delay="0"/>
                                  </p:stCondLst>
                                  <p:childTnLst>
                                    <p:animEffect transition="out" filter="blinds(horizontal)">
                                      <p:cBhvr>
                                        <p:cTn id="99" dur="500"/>
                                        <p:tgtEl>
                                          <p:spTgt spid="17"/>
                                        </p:tgtEl>
                                      </p:cBhvr>
                                    </p:animEffect>
                                    <p:set>
                                      <p:cBhvr>
                                        <p:cTn id="100" dur="1" fill="hold">
                                          <p:stCondLst>
                                            <p:cond delay="499"/>
                                          </p:stCondLst>
                                        </p:cTn>
                                        <p:tgtEl>
                                          <p:spTgt spid="17"/>
                                        </p:tgtEl>
                                        <p:attrNameLst>
                                          <p:attrName>style.visibility</p:attrName>
                                        </p:attrNameLst>
                                      </p:cBhvr>
                                      <p:to>
                                        <p:strVal val="hidden"/>
                                      </p:to>
                                    </p:set>
                                  </p:childTnLst>
                                </p:cTn>
                              </p:par>
                              <p:par>
                                <p:cTn id="101" presetID="3" presetClass="exit" presetSubtype="10" fill="hold" nodeType="withEffect">
                                  <p:stCondLst>
                                    <p:cond delay="0"/>
                                  </p:stCondLst>
                                  <p:childTnLst>
                                    <p:animEffect transition="out" filter="blinds(horizontal)">
                                      <p:cBhvr>
                                        <p:cTn id="102" dur="500"/>
                                        <p:tgtEl>
                                          <p:spTgt spid="19"/>
                                        </p:tgtEl>
                                      </p:cBhvr>
                                    </p:animEffect>
                                    <p:set>
                                      <p:cBhvr>
                                        <p:cTn id="103"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bldLvl="0" animBg="1"/>
      <p:bldP spid="5" grpId="0" animBg="1"/>
      <p:bldP spid="4" grpId="0" animBg="1"/>
      <p:bldP spid="16" grpId="0" animBg="1"/>
      <p:bldP spid="18" grpId="0" animBg="1"/>
      <p:bldP spid="2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p:nvPr/>
        </p:nvSpPr>
        <p:spPr>
          <a:xfrm>
            <a:off x="6151563" y="6492875"/>
            <a:ext cx="1079500" cy="396875"/>
          </a:xfrm>
          <a:prstGeom prst="rect">
            <a:avLst/>
          </a:prstGeom>
          <a:solidFill>
            <a:srgbClr val="FFCCFF"/>
          </a:solidFill>
          <a:ln w="9525">
            <a:noFill/>
          </a:ln>
        </p:spPr>
        <p:txBody>
          <a:bodyPr>
            <a:spAutoFit/>
          </a:bodyPr>
          <a:lstStyle/>
          <a:p>
            <a:pPr eaLnBrk="1" hangingPunct="1"/>
            <a:r>
              <a:rPr lang="zh-CN" altLang="en-US" sz="2000" dirty="0">
                <a:latin typeface="微软雅黑" pitchFamily="34" charset="-122"/>
                <a:ea typeface="微软雅黑" pitchFamily="34" charset="-122"/>
              </a:rPr>
              <a:t>表</a:t>
            </a:r>
            <a:r>
              <a:rPr lang="en-US" altLang="zh-CN" sz="2000" dirty="0">
                <a:latin typeface="Times New Roman" panose="02020603050405020304" pitchFamily="18" charset="0"/>
                <a:ea typeface="微软雅黑" pitchFamily="34" charset="-122"/>
                <a:cs typeface="Times New Roman" panose="02020603050405020304" pitchFamily="18" charset="0"/>
              </a:rPr>
              <a:t>4-25</a:t>
            </a:r>
            <a:endParaRPr lang="zh-CN" altLang="en-US" sz="2000" dirty="0">
              <a:latin typeface="Times New Roman" panose="02020603050405020304" pitchFamily="18" charset="0"/>
              <a:ea typeface="微软雅黑" pitchFamily="34" charset="-122"/>
              <a:cs typeface="Times New Roman" panose="02020603050405020304" pitchFamily="18" charset="0"/>
            </a:endParaRPr>
          </a:p>
        </p:txBody>
      </p:sp>
      <p:pic>
        <p:nvPicPr>
          <p:cNvPr id="30730" name="Picture 10"/>
          <p:cNvPicPr>
            <a:picLocks noChangeAspect="1"/>
          </p:cNvPicPr>
          <p:nvPr/>
        </p:nvPicPr>
        <p:blipFill>
          <a:blip r:embed="rId2"/>
          <a:stretch>
            <a:fillRect/>
          </a:stretch>
        </p:blipFill>
        <p:spPr>
          <a:xfrm>
            <a:off x="4533900" y="4665663"/>
            <a:ext cx="4610100" cy="1885950"/>
          </a:xfrm>
          <a:prstGeom prst="rect">
            <a:avLst/>
          </a:prstGeom>
          <a:noFill/>
          <a:ln w="9525">
            <a:noFill/>
          </a:ln>
        </p:spPr>
      </p:pic>
      <p:sp>
        <p:nvSpPr>
          <p:cNvPr id="4" name="矩形 3"/>
          <p:cNvSpPr/>
          <p:nvPr/>
        </p:nvSpPr>
        <p:spPr>
          <a:xfrm>
            <a:off x="1763713" y="6532563"/>
            <a:ext cx="1152525" cy="396875"/>
          </a:xfrm>
          <a:prstGeom prst="rect">
            <a:avLst/>
          </a:prstGeom>
          <a:solidFill>
            <a:srgbClr val="CCFF99"/>
          </a:solidFill>
          <a:ln w="9525">
            <a:noFill/>
          </a:ln>
        </p:spPr>
        <p:txBody>
          <a:bodyPr>
            <a:spAutoFit/>
          </a:bodyPr>
          <a:lstStyle/>
          <a:p>
            <a:pPr eaLnBrk="1" hangingPunct="1"/>
            <a:r>
              <a:rPr lang="zh-CN" altLang="en-US" sz="2000" dirty="0">
                <a:latin typeface="微软雅黑" pitchFamily="34" charset="-122"/>
                <a:ea typeface="微软雅黑" pitchFamily="34" charset="-122"/>
              </a:rPr>
              <a:t>表</a:t>
            </a:r>
            <a:r>
              <a:rPr lang="en-US" altLang="zh-CN" sz="2000" dirty="0">
                <a:latin typeface="Times New Roman" panose="02020603050405020304" pitchFamily="18" charset="0"/>
                <a:ea typeface="微软雅黑" pitchFamily="34" charset="-122"/>
                <a:cs typeface="Times New Roman" panose="02020603050405020304" pitchFamily="18" charset="0"/>
              </a:rPr>
              <a:t>4-24</a:t>
            </a:r>
            <a:endParaRPr lang="zh-CN" altLang="en-US" sz="2000" dirty="0">
              <a:latin typeface="Times New Roman" panose="02020603050405020304" pitchFamily="18" charset="0"/>
              <a:ea typeface="微软雅黑" pitchFamily="34" charset="-122"/>
              <a:cs typeface="Times New Roman" panose="02020603050405020304" pitchFamily="18" charset="0"/>
            </a:endParaRPr>
          </a:p>
        </p:txBody>
      </p:sp>
      <p:sp>
        <p:nvSpPr>
          <p:cNvPr id="2" name="Rectangle 2"/>
          <p:cNvSpPr txBox="1"/>
          <p:nvPr/>
        </p:nvSpPr>
        <p:spPr>
          <a:xfrm>
            <a:off x="0" y="476250"/>
            <a:ext cx="9144000" cy="649288"/>
          </a:xfrm>
          <a:prstGeom prst="rect">
            <a:avLst/>
          </a:prstGeom>
          <a:solidFill>
            <a:srgbClr val="FFFF99"/>
          </a:solidFill>
          <a:ln w="9525">
            <a:noFill/>
          </a:ln>
        </p:spPr>
        <p:txBody>
          <a:bodyPr/>
          <a:lstStyle/>
          <a:p>
            <a:r>
              <a:rPr lang="zh-CN" altLang="en-US" sz="2000" b="1" dirty="0">
                <a:latin typeface="微软雅黑" pitchFamily="34" charset="-122"/>
                <a:ea typeface="微软雅黑" pitchFamily="34" charset="-122"/>
              </a:rPr>
              <a:t>用表上作业法求解运输问题当出现退化时</a:t>
            </a:r>
            <a:r>
              <a:rPr lang="zh-CN" altLang="en-US" sz="2000" b="1" dirty="0">
                <a:latin typeface="仿宋" pitchFamily="49" charset="-122"/>
                <a:ea typeface="仿宋" pitchFamily="49" charset="-122"/>
              </a:rPr>
              <a:t>，</a:t>
            </a:r>
            <a:r>
              <a:rPr lang="zh-CN" altLang="en-US" sz="2000" b="1" dirty="0">
                <a:latin typeface="微软雅黑" pitchFamily="34" charset="-122"/>
                <a:ea typeface="微软雅黑" pitchFamily="34" charset="-122"/>
              </a:rPr>
              <a:t>在相应的格中一定要填一个</a:t>
            </a:r>
            <a:r>
              <a:rPr lang="en-US" altLang="zh-CN" sz="2000" b="1" dirty="0">
                <a:latin typeface="微软雅黑" pitchFamily="34" charset="-122"/>
                <a:ea typeface="微软雅黑" pitchFamily="34" charset="-122"/>
              </a:rPr>
              <a:t>0</a:t>
            </a:r>
            <a:r>
              <a:rPr lang="zh-CN" altLang="en-US" sz="2000" b="1" dirty="0">
                <a:latin typeface="仿宋" pitchFamily="49" charset="-122"/>
                <a:ea typeface="仿宋" pitchFamily="49" charset="-122"/>
              </a:rPr>
              <a:t>，</a:t>
            </a:r>
            <a:r>
              <a:rPr lang="zh-CN" altLang="en-US" sz="2000" b="1" dirty="0">
                <a:latin typeface="微软雅黑" pitchFamily="34" charset="-122"/>
                <a:ea typeface="微软雅黑" pitchFamily="34" charset="-122"/>
              </a:rPr>
              <a:t>以表示此格为数字格</a:t>
            </a:r>
            <a:endParaRPr lang="zh-CN" altLang="en-US" sz="2000" b="1" dirty="0">
              <a:solidFill>
                <a:schemeClr val="tx2"/>
              </a:solidFill>
              <a:latin typeface="微软雅黑" pitchFamily="34" charset="-122"/>
              <a:ea typeface="微软雅黑" pitchFamily="34" charset="-122"/>
            </a:endParaRPr>
          </a:p>
        </p:txBody>
      </p:sp>
      <p:sp>
        <p:nvSpPr>
          <p:cNvPr id="39942" name="矩形 3"/>
          <p:cNvSpPr/>
          <p:nvPr/>
        </p:nvSpPr>
        <p:spPr>
          <a:xfrm>
            <a:off x="0" y="0"/>
            <a:ext cx="9144000" cy="519113"/>
          </a:xfrm>
          <a:prstGeom prst="rect">
            <a:avLst/>
          </a:prstGeom>
          <a:solidFill>
            <a:srgbClr val="B3F1F7"/>
          </a:solidFill>
          <a:ln w="9525">
            <a:noFill/>
          </a:ln>
        </p:spPr>
        <p:txBody>
          <a:bodyPr>
            <a:spAutoFit/>
          </a:bodyPr>
          <a:lstStyle/>
          <a:p>
            <a:pPr eaLnBrk="1" hangingPunct="1"/>
            <a:r>
              <a:rPr lang="en-US" altLang="zh-CN" sz="2800" b="1" dirty="0">
                <a:solidFill>
                  <a:schemeClr val="hlink"/>
                </a:solidFill>
                <a:latin typeface="微软雅黑" pitchFamily="34" charset="-122"/>
                <a:ea typeface="微软雅黑" pitchFamily="34" charset="-122"/>
              </a:rPr>
              <a:t>II. </a:t>
            </a:r>
            <a:r>
              <a:rPr lang="zh-CN" altLang="en-US" sz="2800" b="1" dirty="0">
                <a:solidFill>
                  <a:schemeClr val="hlink"/>
                </a:solidFill>
                <a:latin typeface="微软雅黑" pitchFamily="34" charset="-122"/>
                <a:ea typeface="微软雅黑" pitchFamily="34" charset="-122"/>
              </a:rPr>
              <a:t>退化</a:t>
            </a:r>
          </a:p>
        </p:txBody>
      </p:sp>
      <p:sp>
        <p:nvSpPr>
          <p:cNvPr id="6" name="Rectangle 3"/>
          <p:cNvSpPr txBox="1">
            <a:spLocks noChangeArrowheads="1"/>
          </p:cNvSpPr>
          <p:nvPr/>
        </p:nvSpPr>
        <p:spPr bwMode="auto">
          <a:xfrm>
            <a:off x="0" y="1125538"/>
            <a:ext cx="9144000" cy="3455988"/>
          </a:xfrm>
          <a:prstGeom prst="rect">
            <a:avLst/>
          </a:prstGeom>
          <a:noFill/>
          <a:ln w="9525">
            <a:noFill/>
            <a:miter lim="800000"/>
          </a:ln>
        </p:spPr>
        <p:txBody>
          <a:bodyPr/>
          <a:lstStyle/>
          <a:p>
            <a:pPr marR="0"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当确定初始解的各供需关系时</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若在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i</a:t>
            </a:r>
            <a:r>
              <a:rPr kumimoji="0" lang="en-US" altLang="zh-CN" b="1" kern="1200" cap="none" spc="0" normalizeH="0" baseline="0" noProof="0" dirty="0" err="1">
                <a:latin typeface="仿宋" pitchFamily="49" charset="-122"/>
                <a:ea typeface="仿宋" pitchFamily="49" charset="-122"/>
                <a:cs typeface="Times New Roman" panose="02020603050405020304" pitchFamily="18" charset="0"/>
              </a:rPr>
              <a:t>,</a:t>
            </a:r>
            <a:r>
              <a:rPr kumimoji="0" lang="en-US" altLang="zh-CN" b="1" i="1" kern="1200" cap="none" spc="0" normalizeH="0" baseline="0" noProof="0" dirty="0" err="1">
                <a:latin typeface="Times New Roman" panose="02020603050405020304" pitchFamily="18" charset="0"/>
                <a:ea typeface="仿宋" pitchFamily="49" charset="-122"/>
                <a:cs typeface="Times New Roman" panose="02020603050405020304" pitchFamily="18" charset="0"/>
              </a:rPr>
              <a:t>j</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格填入某数字后</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出现</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i="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i</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处的余量等于</a:t>
            </a:r>
            <a:r>
              <a:rPr kumimoji="0" lang="en-US" altLang="zh-CN" b="1" i="1" kern="1200" cap="none" spc="0" normalizeH="0" baseline="0" noProof="0" dirty="0" err="1">
                <a:latin typeface="Times New Roman" panose="02020603050405020304" pitchFamily="18" charset="0"/>
                <a:ea typeface="微软雅黑" pitchFamily="34" charset="-122"/>
                <a:cs typeface="Times New Roman" panose="02020603050405020304" pitchFamily="18" charset="0"/>
              </a:rPr>
              <a:t>B</a:t>
            </a:r>
            <a:r>
              <a:rPr kumimoji="0" lang="en-US" altLang="zh-CN" b="1" i="1" kern="1200" cap="none" spc="0" normalizeH="0" baseline="-25000" noProof="0" dirty="0" err="1">
                <a:latin typeface="Times New Roman" panose="02020603050405020304" pitchFamily="18" charset="0"/>
                <a:ea typeface="微软雅黑" pitchFamily="34" charset="-122"/>
                <a:cs typeface="Times New Roman" panose="02020603050405020304" pitchFamily="18" charset="0"/>
              </a:rPr>
              <a:t>j</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处的需量。这时在产销平衡表上填一个数</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而在单位运价表上相应地要划去一行和一列</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R="0"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为了使产销平衡表上有</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m</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n</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-1)</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个数字格。这时需要添一个</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0</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。它的位置可在对应同时划去的那行或那列的任一空格处</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R="0" defTabSz="914400">
              <a:lnSpc>
                <a:spcPct val="90000"/>
              </a:lnSpc>
              <a:spcBef>
                <a:spcPts val="600"/>
              </a:spcBef>
              <a:buClr>
                <a:schemeClr val="accent1"/>
              </a:buClr>
              <a:buSzPct val="70000"/>
              <a:buFont typeface="Wingdings" panose="05000000000000000000" pitchFamily="2" charset="2"/>
              <a:buNone/>
              <a:defRPr/>
            </a:pP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如表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4-24</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4-25</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所示。因第一次划去第一列</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剩下最小元素为</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其对应的销地</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B</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需要量为</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6</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而对应的产地</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未分配量也是</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6</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。这时在产销表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交叉格中填入</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6</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这时在单位运价表</a:t>
            </a:r>
            <a:r>
              <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4-25</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中需同时划去</a:t>
            </a:r>
            <a:r>
              <a:rPr kumimoji="0" lang="en-US" altLang="zh-CN" b="1"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B</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2</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列和</a:t>
            </a:r>
            <a:r>
              <a:rPr kumimoji="0" lang="en-US" altLang="zh-CN" i="1" kern="1200" cap="none" spc="0" normalizeH="0" baseline="0" noProof="0" dirty="0">
                <a:latin typeface="Times New Roman" panose="02020603050405020304" pitchFamily="18" charset="0"/>
                <a:ea typeface="微软雅黑" pitchFamily="34" charset="-122"/>
                <a:cs typeface="Times New Roman" panose="02020603050405020304" pitchFamily="18" charset="0"/>
              </a:rPr>
              <a:t>A</a:t>
            </a:r>
            <a:r>
              <a:rPr kumimoji="0" lang="en-US" altLang="zh-CN" b="1" kern="1200" cap="none" spc="0" normalizeH="0" baseline="-25000" noProof="0" dirty="0">
                <a:latin typeface="Times New Roman" panose="02020603050405020304" pitchFamily="18" charset="0"/>
                <a:ea typeface="微软雅黑" pitchFamily="34" charset="-122"/>
                <a:cs typeface="Times New Roman" panose="02020603050405020304" pitchFamily="18" charset="0"/>
              </a:rPr>
              <a:t>3</a:t>
            </a:r>
            <a:r>
              <a:rPr kumimoji="0" lang="zh-CN" altLang="en-US" b="1" kern="1200" cap="none" spc="0" normalizeH="0" baseline="0" noProof="0" dirty="0">
                <a:latin typeface="Times New Roman" panose="02020603050405020304" pitchFamily="18" charset="0"/>
                <a:ea typeface="微软雅黑" pitchFamily="34" charset="-122"/>
                <a:cs typeface="Times New Roman" panose="02020603050405020304" pitchFamily="18" charset="0"/>
              </a:rPr>
              <a:t>行</a:t>
            </a:r>
            <a:endParaRPr kumimoji="0" lang="en-US" altLang="zh-CN" b="1" kern="1200" cap="none" spc="0" normalizeH="0" baseline="0" noProof="0" dirty="0">
              <a:latin typeface="Times New Roman" panose="02020603050405020304" pitchFamily="18" charset="0"/>
              <a:ea typeface="微软雅黑" pitchFamily="34" charset="-122"/>
              <a:cs typeface="Times New Roman" panose="02020603050405020304" pitchFamily="18" charset="0"/>
            </a:endParaRPr>
          </a:p>
          <a:p>
            <a:pPr marL="273050" marR="0" indent="-273050" defTabSz="914400">
              <a:lnSpc>
                <a:spcPct val="90000"/>
              </a:lnSpc>
              <a:spcBef>
                <a:spcPts val="600"/>
              </a:spcBef>
              <a:buClr>
                <a:schemeClr val="accent1"/>
              </a:buClr>
              <a:buSzPct val="70000"/>
              <a:buFont typeface="Wingdings" panose="05000000000000000000" pitchFamily="2" charset="2"/>
              <a:buNone/>
              <a:defRPr/>
            </a:pPr>
            <a:r>
              <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在表</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4-24</a:t>
            </a:r>
            <a:r>
              <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的空格</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2)</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(3</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3)</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(3</a:t>
            </a:r>
            <a:r>
              <a:rPr kumimoji="0" lang="zh-CN" altLang="en-US" sz="2000" b="1" kern="1200" cap="none" spc="0" normalizeH="0" baseline="0" noProof="0" dirty="0">
                <a:solidFill>
                  <a:srgbClr val="FF0000"/>
                </a:solidFill>
                <a:latin typeface="仿宋" pitchFamily="49" charset="-122"/>
                <a:ea typeface="仿宋" pitchFamily="49" charset="-122"/>
                <a:cs typeface="Times New Roman" panose="02020603050405020304" pitchFamily="18" charset="0"/>
              </a:rPr>
              <a:t>，</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4)</a:t>
            </a:r>
            <a:r>
              <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中任选一格添加一个</a:t>
            </a:r>
            <a:r>
              <a:rPr kumimoji="0" lang="en-US" altLang="zh-CN"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rPr>
              <a:t>0</a:t>
            </a:r>
            <a:endParaRPr kumimoji="0" lang="zh-CN" altLang="en-US" sz="2000" b="1" kern="1200" cap="none" spc="0" normalizeH="0" baseline="0" noProof="0"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65573" name="Picture 5"/>
          <p:cNvPicPr>
            <a:picLocks noChangeAspect="1"/>
          </p:cNvPicPr>
          <p:nvPr/>
        </p:nvPicPr>
        <p:blipFill>
          <a:blip r:embed="rId3"/>
          <a:stretch>
            <a:fillRect/>
          </a:stretch>
        </p:blipFill>
        <p:spPr>
          <a:xfrm>
            <a:off x="0" y="4652963"/>
            <a:ext cx="4572000" cy="1909762"/>
          </a:xfrm>
          <a:prstGeom prst="rect">
            <a:avLst/>
          </a:prstGeom>
          <a:noFill/>
          <a:ln w="9525">
            <a:noFill/>
          </a:ln>
        </p:spPr>
      </p:pic>
      <p:cxnSp>
        <p:nvCxnSpPr>
          <p:cNvPr id="10" name="直接连接符 9"/>
          <p:cNvCxnSpPr/>
          <p:nvPr/>
        </p:nvCxnSpPr>
        <p:spPr>
          <a:xfrm>
            <a:off x="7380288" y="4724400"/>
            <a:ext cx="0" cy="2017713"/>
          </a:xfrm>
          <a:prstGeom prst="line">
            <a:avLst/>
          </a:prstGeom>
          <a:ln w="38100" cap="flat" cmpd="sng">
            <a:solidFill>
              <a:srgbClr val="FF0000"/>
            </a:solidFill>
            <a:prstDash val="solid"/>
            <a:miter/>
            <a:headEnd type="none" w="med" len="med"/>
            <a:tailEnd type="none" w="med" len="med"/>
          </a:ln>
        </p:spPr>
      </p:cxnSp>
      <p:sp>
        <p:nvSpPr>
          <p:cNvPr id="5" name="灯片编号占位符 4">
            <a:extLst>
              <a:ext uri="{FF2B5EF4-FFF2-40B4-BE49-F238E27FC236}">
                <a16:creationId xmlns:a16="http://schemas.microsoft.com/office/drawing/2014/main" id="{DDF28787-125D-4544-B39A-31D37404193E}"/>
              </a:ext>
            </a:extLst>
          </p:cNvPr>
          <p:cNvSpPr>
            <a:spLocks noGrp="1"/>
          </p:cNvSpPr>
          <p:nvPr>
            <p:ph type="sldNum" sz="quarter" idx="12"/>
          </p:nvPr>
        </p:nvSpPr>
        <p:spPr/>
        <p:txBody>
          <a:bodyPr/>
          <a:lstStyle/>
          <a:p>
            <a:pPr>
              <a:defRPr/>
            </a:pPr>
            <a:fld id="{2AE1B59C-883C-4848-BC85-9A12DF2590B2}" type="slidenum">
              <a:rPr lang="en-US" altLang="zh-CN" smtClean="0"/>
              <a:t>49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dissolv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dissolv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dissolv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65573"/>
                                        </p:tgtEl>
                                        <p:attrNameLst>
                                          <p:attrName>style.visibility</p:attrName>
                                        </p:attrNameLst>
                                      </p:cBhvr>
                                      <p:to>
                                        <p:strVal val="visible"/>
                                      </p:to>
                                    </p:set>
                                    <p:animEffect transition="in" filter="blinds(horizontal)">
                                      <p:cBhvr>
                                        <p:cTn id="27" dur="500"/>
                                        <p:tgtEl>
                                          <p:spTgt spid="365573"/>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0730"/>
                                        </p:tgtEl>
                                        <p:attrNameLst>
                                          <p:attrName>style.visibility</p:attrName>
                                        </p:attrNameLst>
                                      </p:cBhvr>
                                      <p:to>
                                        <p:strVal val="visible"/>
                                      </p:to>
                                    </p:set>
                                    <p:animEffect transition="in" filter="blinds(horizontal)">
                                      <p:cBhvr>
                                        <p:cTn id="35" dur="500"/>
                                        <p:tgtEl>
                                          <p:spTgt spid="30730"/>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blinds(horizontal)">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linds(horizontal)">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Effect transition="in" filter="dissolve">
                                      <p:cBhvr>
                                        <p:cTn id="48"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animBg="1"/>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Text Box 2"/>
          <p:cNvSpPr txBox="1">
            <a:spLocks noChangeArrowheads="1"/>
          </p:cNvSpPr>
          <p:nvPr/>
        </p:nvSpPr>
        <p:spPr bwMode="auto">
          <a:xfrm>
            <a:off x="0" y="0"/>
            <a:ext cx="9144000" cy="83026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例</a:t>
            </a:r>
            <a:r>
              <a:rPr kumimoji="1" lang="en-US" altLang="zh-CN"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 </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某石油公司设有四个炼油厂</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它们生产普通汽油</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并为七个销售区服务</a:t>
            </a:r>
            <a:r>
              <a:rPr kumimoji="0" lang="zh-CN" altLang="en-US"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生产和需求情况如下：</a:t>
            </a:r>
          </a:p>
        </p:txBody>
      </p:sp>
      <p:pic>
        <p:nvPicPr>
          <p:cNvPr id="40963" name="Picture 3"/>
          <p:cNvPicPr>
            <a:picLocks noChangeAspect="1"/>
          </p:cNvPicPr>
          <p:nvPr/>
        </p:nvPicPr>
        <p:blipFill>
          <a:blip r:embed="rId2"/>
          <a:stretch>
            <a:fillRect/>
          </a:stretch>
        </p:blipFill>
        <p:spPr>
          <a:xfrm>
            <a:off x="2266950" y="765175"/>
            <a:ext cx="4392613" cy="869950"/>
          </a:xfrm>
          <a:prstGeom prst="rect">
            <a:avLst/>
          </a:prstGeom>
          <a:noFill/>
          <a:ln w="9525">
            <a:noFill/>
          </a:ln>
        </p:spPr>
      </p:pic>
      <p:pic>
        <p:nvPicPr>
          <p:cNvPr id="40964" name="Picture 4"/>
          <p:cNvPicPr>
            <a:picLocks noChangeAspect="1"/>
          </p:cNvPicPr>
          <p:nvPr/>
        </p:nvPicPr>
        <p:blipFill>
          <a:blip r:embed="rId3"/>
          <a:stretch>
            <a:fillRect/>
          </a:stretch>
        </p:blipFill>
        <p:spPr>
          <a:xfrm>
            <a:off x="2268538" y="1628775"/>
            <a:ext cx="4311650" cy="1220788"/>
          </a:xfrm>
          <a:prstGeom prst="rect">
            <a:avLst/>
          </a:prstGeom>
          <a:noFill/>
          <a:ln w="9525">
            <a:noFill/>
          </a:ln>
        </p:spPr>
      </p:pic>
      <p:sp>
        <p:nvSpPr>
          <p:cNvPr id="456709" name="Text Box 5"/>
          <p:cNvSpPr txBox="1">
            <a:spLocks noChangeArrowheads="1"/>
          </p:cNvSpPr>
          <p:nvPr/>
        </p:nvSpPr>
        <p:spPr bwMode="auto">
          <a:xfrm>
            <a:off x="0" y="2822575"/>
            <a:ext cx="9144000" cy="830263"/>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从炼油厂运往第 </a:t>
            </a:r>
            <a:r>
              <a:rPr kumimoji="1" lang="en-US" altLang="zh-CN" b="1" i="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Times New Roman" panose="02020603050405020304" pitchFamily="18" charset="0"/>
              </a:rPr>
              <a:t>j </a:t>
            </a:r>
            <a:r>
              <a:rPr kumimoji="1" lang="zh-CN" altLang="zh-CN"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个销售区每公升汽油平均运费（单位：角/公升）</a:t>
            </a:r>
            <a:r>
              <a:rPr kumimoji="1" lang="zh-CN" altLang="en-US"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如下表</a:t>
            </a:r>
            <a:r>
              <a:rPr kumimoji="0" lang="zh-CN" altLang="zh-CN"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zh-CN"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应如何调运</a:t>
            </a:r>
            <a:r>
              <a:rPr kumimoji="0" lang="zh-CN" altLang="zh-CN" b="1" kern="1200" cap="none" spc="0" normalizeH="0" baseline="0" noProof="0" dirty="0">
                <a:latin typeface="仿宋" pitchFamily="49" charset="-122"/>
                <a:ea typeface="仿宋" pitchFamily="49" charset="-122"/>
                <a:cs typeface="Times New Roman" panose="02020603050405020304" pitchFamily="18" charset="0"/>
              </a:rPr>
              <a:t>，</a:t>
            </a:r>
            <a:r>
              <a:rPr kumimoji="1" lang="zh-CN" altLang="zh-CN" b="1" kern="1200" cap="none" spc="0" normalizeH="0" baseline="0" noProof="0" dirty="0">
                <a:effectLst>
                  <a:outerShdw blurRad="38100" dist="38100" dir="2700000" algn="tl">
                    <a:srgbClr val="FFFFFF"/>
                  </a:outerShdw>
                </a:effectLst>
                <a:latin typeface="微软雅黑" pitchFamily="34" charset="-122"/>
                <a:ea typeface="微软雅黑" pitchFamily="34" charset="-122"/>
                <a:cs typeface="+mn-cs"/>
              </a:rPr>
              <a:t>使运费最省</a:t>
            </a:r>
            <a:endParaRPr kumimoji="1" lang="zh-CN" altLang="en-US" b="1" kern="1200" cap="none" spc="0" normalizeH="0" baseline="0" noProof="0" dirty="0">
              <a:latin typeface="微软雅黑" pitchFamily="34" charset="-122"/>
              <a:ea typeface="微软雅黑" pitchFamily="34" charset="-122"/>
              <a:cs typeface="+mn-cs"/>
            </a:endParaRPr>
          </a:p>
        </p:txBody>
      </p:sp>
      <p:pic>
        <p:nvPicPr>
          <p:cNvPr id="456710" name="Picture 6"/>
          <p:cNvPicPr>
            <a:picLocks noChangeAspect="1"/>
          </p:cNvPicPr>
          <p:nvPr/>
        </p:nvPicPr>
        <p:blipFill>
          <a:blip r:embed="rId4"/>
          <a:stretch>
            <a:fillRect/>
          </a:stretch>
        </p:blipFill>
        <p:spPr>
          <a:xfrm>
            <a:off x="652463" y="3651250"/>
            <a:ext cx="7664450" cy="3206750"/>
          </a:xfrm>
          <a:prstGeom prst="rect">
            <a:avLst/>
          </a:prstGeom>
          <a:noFill/>
          <a:ln w="9525">
            <a:noFill/>
          </a:ln>
        </p:spPr>
      </p:pic>
      <p:sp>
        <p:nvSpPr>
          <p:cNvPr id="2" name="灯片编号占位符 1">
            <a:extLst>
              <a:ext uri="{FF2B5EF4-FFF2-40B4-BE49-F238E27FC236}">
                <a16:creationId xmlns:a16="http://schemas.microsoft.com/office/drawing/2014/main" id="{96FCEEE7-D80C-4546-9CBC-2B1467940689}"/>
              </a:ext>
            </a:extLst>
          </p:cNvPr>
          <p:cNvSpPr>
            <a:spLocks noGrp="1"/>
          </p:cNvSpPr>
          <p:nvPr>
            <p:ph type="sldNum" sz="quarter" idx="12"/>
          </p:nvPr>
        </p:nvSpPr>
        <p:spPr/>
        <p:txBody>
          <a:bodyPr/>
          <a:lstStyle/>
          <a:p>
            <a:pPr>
              <a:defRPr/>
            </a:pPr>
            <a:fld id="{2AE1B59C-883C-4848-BC85-9A12DF2590B2}" type="slidenum">
              <a:rPr lang="en-US" altLang="zh-CN" smtClean="0"/>
              <a:t>50</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6709"/>
                                        </p:tgtEl>
                                        <p:attrNameLst>
                                          <p:attrName>style.visibility</p:attrName>
                                        </p:attrNameLst>
                                      </p:cBhvr>
                                      <p:to>
                                        <p:strVal val="visible"/>
                                      </p:to>
                                    </p:set>
                                    <p:animEffect transition="in" filter="blinds(horizontal)">
                                      <p:cBhvr>
                                        <p:cTn id="7" dur="500"/>
                                        <p:tgtEl>
                                          <p:spTgt spid="45670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6710"/>
                                        </p:tgtEl>
                                        <p:attrNameLst>
                                          <p:attrName>style.visibility</p:attrName>
                                        </p:attrNameLst>
                                      </p:cBhvr>
                                      <p:to>
                                        <p:strVal val="visible"/>
                                      </p:to>
                                    </p:set>
                                    <p:animEffect transition="in" filter="blinds(horizontal)">
                                      <p:cBhvr>
                                        <p:cTn id="12" dur="500"/>
                                        <p:tgtEl>
                                          <p:spTgt spid="456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Text Box 2"/>
          <p:cNvSpPr txBox="1">
            <a:spLocks noChangeArrowheads="1"/>
          </p:cNvSpPr>
          <p:nvPr/>
        </p:nvSpPr>
        <p:spPr bwMode="auto">
          <a:xfrm>
            <a:off x="0" y="0"/>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微软雅黑" pitchFamily="34" charset="-122"/>
                <a:cs typeface="+mn-cs"/>
              </a:rPr>
              <a:t>解：</a:t>
            </a:r>
            <a:r>
              <a:rPr kumimoji="1" lang="zh-CN" altLang="en-US" b="1" kern="1200" cap="none" spc="0" normalizeH="0" baseline="0" noProof="0" dirty="0">
                <a:effectLst>
                  <a:outerShdw blurRad="38100" dist="38100" dir="2700000" algn="tl">
                    <a:srgbClr val="C0C0C0"/>
                  </a:outerShdw>
                </a:effectLst>
                <a:latin typeface="Times New Roman" panose="02020603050405020304" pitchFamily="18" charset="0"/>
                <a:ea typeface="微软雅黑" pitchFamily="34" charset="-122"/>
                <a:cs typeface="+mn-cs"/>
              </a:rPr>
              <a:t>平衡问题</a:t>
            </a:r>
            <a:r>
              <a:rPr kumimoji="1" lang="zh-CN" altLang="en-US" b="1" kern="1200" cap="none" spc="0" normalizeH="0" baseline="0" noProof="0" dirty="0">
                <a:effectLst>
                  <a:outerShdw blurRad="38100" dist="38100" dir="2700000" algn="tl">
                    <a:srgbClr val="C0C0C0"/>
                  </a:outerShdw>
                </a:effectLst>
                <a:latin typeface="仿宋" panose="02010609060101010101" pitchFamily="49" charset="-122"/>
                <a:ea typeface="仿宋" panose="02010609060101010101" pitchFamily="49" charset="-122"/>
              </a:rPr>
              <a:t>，</a:t>
            </a:r>
            <a:r>
              <a:rPr kumimoji="1" lang="zh-CN" altLang="en-US" b="1" kern="1200" cap="none" spc="0" normalizeH="0" baseline="0" noProof="0" dirty="0">
                <a:effectLst>
                  <a:outerShdw blurRad="38100" dist="38100" dir="2700000" algn="tl">
                    <a:srgbClr val="C0C0C0"/>
                  </a:outerShdw>
                </a:effectLst>
                <a:latin typeface="Times New Roman" panose="02020603050405020304" pitchFamily="18" charset="0"/>
                <a:ea typeface="微软雅黑" pitchFamily="34" charset="-122"/>
                <a:cs typeface="+mn-cs"/>
              </a:rPr>
              <a:t>用最小元素法求初始方案为：</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457731" name="Picture 3"/>
          <p:cNvPicPr>
            <a:picLocks noChangeAspect="1"/>
          </p:cNvPicPr>
          <p:nvPr/>
        </p:nvPicPr>
        <p:blipFill>
          <a:blip r:embed="rId2"/>
          <a:stretch>
            <a:fillRect/>
          </a:stretch>
        </p:blipFill>
        <p:spPr>
          <a:xfrm>
            <a:off x="1403350" y="476250"/>
            <a:ext cx="6048375" cy="3206750"/>
          </a:xfrm>
          <a:prstGeom prst="rect">
            <a:avLst/>
          </a:prstGeom>
          <a:noFill/>
          <a:ln w="9525">
            <a:noFill/>
          </a:ln>
        </p:spPr>
      </p:pic>
      <p:pic>
        <p:nvPicPr>
          <p:cNvPr id="457732" name="Picture 4"/>
          <p:cNvPicPr>
            <a:picLocks noChangeAspect="1"/>
          </p:cNvPicPr>
          <p:nvPr/>
        </p:nvPicPr>
        <p:blipFill>
          <a:blip r:embed="rId3"/>
          <a:stretch>
            <a:fillRect/>
          </a:stretch>
        </p:blipFill>
        <p:spPr>
          <a:xfrm>
            <a:off x="1403350" y="3667125"/>
            <a:ext cx="6048375" cy="3190875"/>
          </a:xfrm>
          <a:prstGeom prst="rect">
            <a:avLst/>
          </a:prstGeom>
          <a:noFill/>
          <a:ln w="9525">
            <a:noFill/>
          </a:ln>
        </p:spPr>
      </p:pic>
      <p:sp>
        <p:nvSpPr>
          <p:cNvPr id="2" name="灯片编号占位符 1">
            <a:extLst>
              <a:ext uri="{FF2B5EF4-FFF2-40B4-BE49-F238E27FC236}">
                <a16:creationId xmlns:a16="http://schemas.microsoft.com/office/drawing/2014/main" id="{3E3AFB34-AF33-4A09-9559-325D474BEC55}"/>
              </a:ext>
            </a:extLst>
          </p:cNvPr>
          <p:cNvSpPr>
            <a:spLocks noGrp="1"/>
          </p:cNvSpPr>
          <p:nvPr>
            <p:ph type="sldNum" sz="quarter" idx="12"/>
          </p:nvPr>
        </p:nvSpPr>
        <p:spPr/>
        <p:txBody>
          <a:bodyPr/>
          <a:lstStyle/>
          <a:p>
            <a:pPr>
              <a:defRPr/>
            </a:pPr>
            <a:fld id="{2AE1B59C-883C-4848-BC85-9A12DF2590B2}" type="slidenum">
              <a:rPr lang="en-US" altLang="zh-CN" smtClean="0"/>
              <a:t>51</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7731"/>
                                        </p:tgtEl>
                                        <p:attrNameLst>
                                          <p:attrName>style.visibility</p:attrName>
                                        </p:attrNameLst>
                                      </p:cBhvr>
                                      <p:to>
                                        <p:strVal val="visible"/>
                                      </p:to>
                                    </p:set>
                                    <p:animEffect transition="in" filter="blinds(horizontal)">
                                      <p:cBhvr>
                                        <p:cTn id="7" dur="500"/>
                                        <p:tgtEl>
                                          <p:spTgt spid="4577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7732"/>
                                        </p:tgtEl>
                                        <p:attrNameLst>
                                          <p:attrName>style.visibility</p:attrName>
                                        </p:attrNameLst>
                                      </p:cBhvr>
                                      <p:to>
                                        <p:strVal val="visible"/>
                                      </p:to>
                                    </p:set>
                                    <p:animEffect transition="in" filter="blinds(horizontal)">
                                      <p:cBhvr>
                                        <p:cTn id="12" dur="500"/>
                                        <p:tgtEl>
                                          <p:spTgt spid="457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p:cNvPicPr>
          <p:nvPr/>
        </p:nvPicPr>
        <p:blipFill>
          <a:blip r:embed="rId2"/>
          <a:stretch>
            <a:fillRect/>
          </a:stretch>
        </p:blipFill>
        <p:spPr>
          <a:xfrm>
            <a:off x="1116013" y="0"/>
            <a:ext cx="6624637" cy="3438525"/>
          </a:xfrm>
          <a:prstGeom prst="rect">
            <a:avLst/>
          </a:prstGeom>
          <a:noFill/>
          <a:ln w="9525">
            <a:noFill/>
          </a:ln>
        </p:spPr>
      </p:pic>
      <p:pic>
        <p:nvPicPr>
          <p:cNvPr id="458755" name="Picture 3"/>
          <p:cNvPicPr>
            <a:picLocks noChangeAspect="1"/>
          </p:cNvPicPr>
          <p:nvPr/>
        </p:nvPicPr>
        <p:blipFill>
          <a:blip r:embed="rId3"/>
          <a:stretch>
            <a:fillRect/>
          </a:stretch>
        </p:blipFill>
        <p:spPr>
          <a:xfrm>
            <a:off x="1187450" y="3481388"/>
            <a:ext cx="6553200" cy="3376612"/>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8755"/>
                                        </p:tgtEl>
                                        <p:attrNameLst>
                                          <p:attrName>style.visibility</p:attrName>
                                        </p:attrNameLst>
                                      </p:cBhvr>
                                      <p:to>
                                        <p:strVal val="visible"/>
                                      </p:to>
                                    </p:set>
                                    <p:animEffect transition="in" filter="blinds(horizontal)">
                                      <p:cBhvr>
                                        <p:cTn id="7" dur="500"/>
                                        <p:tgtEl>
                                          <p:spTgt spid="458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p:cNvPicPr>
          <p:nvPr/>
        </p:nvPicPr>
        <p:blipFill>
          <a:blip r:embed="rId2"/>
          <a:stretch>
            <a:fillRect/>
          </a:stretch>
        </p:blipFill>
        <p:spPr>
          <a:xfrm>
            <a:off x="1258888" y="0"/>
            <a:ext cx="6626225" cy="3375025"/>
          </a:xfrm>
          <a:prstGeom prst="rect">
            <a:avLst/>
          </a:prstGeom>
          <a:noFill/>
          <a:ln w="9525">
            <a:noFill/>
          </a:ln>
        </p:spPr>
      </p:pic>
      <p:pic>
        <p:nvPicPr>
          <p:cNvPr id="459779" name="Picture 3"/>
          <p:cNvPicPr>
            <a:picLocks noChangeAspect="1"/>
          </p:cNvPicPr>
          <p:nvPr/>
        </p:nvPicPr>
        <p:blipFill>
          <a:blip r:embed="rId3"/>
          <a:stretch>
            <a:fillRect/>
          </a:stretch>
        </p:blipFill>
        <p:spPr>
          <a:xfrm>
            <a:off x="1258888" y="3409950"/>
            <a:ext cx="6696075" cy="34480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9779"/>
                                        </p:tgtEl>
                                        <p:attrNameLst>
                                          <p:attrName>style.visibility</p:attrName>
                                        </p:attrNameLst>
                                      </p:cBhvr>
                                      <p:to>
                                        <p:strVal val="visible"/>
                                      </p:to>
                                    </p:set>
                                    <p:animEffect transition="in" filter="blinds(horizontal)">
                                      <p:cBhvr>
                                        <p:cTn id="7" dur="500"/>
                                        <p:tgtEl>
                                          <p:spTgt spid="459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p:cNvPicPr>
          <p:nvPr/>
        </p:nvPicPr>
        <p:blipFill>
          <a:blip r:embed="rId2"/>
          <a:stretch>
            <a:fillRect/>
          </a:stretch>
        </p:blipFill>
        <p:spPr>
          <a:xfrm>
            <a:off x="1042988" y="0"/>
            <a:ext cx="6624637" cy="3387725"/>
          </a:xfrm>
          <a:prstGeom prst="rect">
            <a:avLst/>
          </a:prstGeom>
          <a:noFill/>
          <a:ln w="9525">
            <a:noFill/>
          </a:ln>
        </p:spPr>
      </p:pic>
      <p:pic>
        <p:nvPicPr>
          <p:cNvPr id="460803" name="Picture 3"/>
          <p:cNvPicPr>
            <a:picLocks noChangeAspect="1"/>
          </p:cNvPicPr>
          <p:nvPr/>
        </p:nvPicPr>
        <p:blipFill>
          <a:blip r:embed="rId3"/>
          <a:stretch>
            <a:fillRect/>
          </a:stretch>
        </p:blipFill>
        <p:spPr>
          <a:xfrm>
            <a:off x="1042988" y="3471863"/>
            <a:ext cx="6624637" cy="3386137"/>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03"/>
                                        </p:tgtEl>
                                        <p:attrNameLst>
                                          <p:attrName>style.visibility</p:attrName>
                                        </p:attrNameLst>
                                      </p:cBhvr>
                                      <p:to>
                                        <p:strVal val="visible"/>
                                      </p:to>
                                    </p:set>
                                    <p:animEffect transition="in" filter="blinds(horizontal)">
                                      <p:cBhvr>
                                        <p:cTn id="7" dur="500"/>
                                        <p:tgtEl>
                                          <p:spTgt spid="460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p:cNvPicPr>
          <p:nvPr/>
        </p:nvPicPr>
        <p:blipFill>
          <a:blip r:embed="rId2"/>
          <a:stretch>
            <a:fillRect/>
          </a:stretch>
        </p:blipFill>
        <p:spPr>
          <a:xfrm>
            <a:off x="1258888" y="0"/>
            <a:ext cx="6626225" cy="3363913"/>
          </a:xfrm>
          <a:prstGeom prst="rect">
            <a:avLst/>
          </a:prstGeom>
          <a:noFill/>
          <a:ln w="9525">
            <a:noFill/>
          </a:ln>
        </p:spPr>
      </p:pic>
      <p:pic>
        <p:nvPicPr>
          <p:cNvPr id="461827" name="Picture 3"/>
          <p:cNvPicPr>
            <a:picLocks noChangeAspect="1"/>
          </p:cNvPicPr>
          <p:nvPr/>
        </p:nvPicPr>
        <p:blipFill>
          <a:blip r:embed="rId3"/>
          <a:stretch>
            <a:fillRect/>
          </a:stretch>
        </p:blipFill>
        <p:spPr>
          <a:xfrm>
            <a:off x="1258888" y="3525838"/>
            <a:ext cx="6551612" cy="3332162"/>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1827"/>
                                        </p:tgtEl>
                                        <p:attrNameLst>
                                          <p:attrName>style.visibility</p:attrName>
                                        </p:attrNameLst>
                                      </p:cBhvr>
                                      <p:to>
                                        <p:strVal val="visible"/>
                                      </p:to>
                                    </p:set>
                                    <p:animEffect transition="in" filter="blinds(horizontal)">
                                      <p:cBhvr>
                                        <p:cTn id="7" dur="500"/>
                                        <p:tgtEl>
                                          <p:spTgt spid="461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p:cNvPicPr>
          <p:nvPr/>
        </p:nvPicPr>
        <p:blipFill>
          <a:blip r:embed="rId3"/>
          <a:stretch>
            <a:fillRect/>
          </a:stretch>
        </p:blipFill>
        <p:spPr>
          <a:xfrm>
            <a:off x="1547813" y="476250"/>
            <a:ext cx="5688012" cy="2860675"/>
          </a:xfrm>
          <a:prstGeom prst="rect">
            <a:avLst/>
          </a:prstGeom>
          <a:noFill/>
          <a:ln w="9525">
            <a:noFill/>
          </a:ln>
        </p:spPr>
      </p:pic>
      <p:sp>
        <p:nvSpPr>
          <p:cNvPr id="462851" name="Text Box 3"/>
          <p:cNvSpPr txBox="1">
            <a:spLocks noChangeArrowheads="1"/>
          </p:cNvSpPr>
          <p:nvPr/>
        </p:nvSpPr>
        <p:spPr bwMode="auto">
          <a:xfrm>
            <a:off x="0" y="0"/>
            <a:ext cx="9144000" cy="457200"/>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用最小元素法得初始基可行解为：</a:t>
            </a:r>
          </a:p>
        </p:txBody>
      </p:sp>
      <p:sp>
        <p:nvSpPr>
          <p:cNvPr id="462852" name="Text Box 4"/>
          <p:cNvSpPr txBox="1">
            <a:spLocks noChangeArrowheads="1"/>
          </p:cNvSpPr>
          <p:nvPr/>
        </p:nvSpPr>
        <p:spPr bwMode="auto">
          <a:xfrm>
            <a:off x="0" y="3357563"/>
            <a:ext cx="9144000" cy="457200"/>
          </a:xfrm>
          <a:prstGeom prst="rect">
            <a:avLst/>
          </a:prstGeom>
          <a:solidFill>
            <a:srgbClr val="FFFF99"/>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用位势法计算检验数</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462853" name="Picture 5"/>
          <p:cNvPicPr>
            <a:picLocks noChangeAspect="1"/>
          </p:cNvPicPr>
          <p:nvPr/>
        </p:nvPicPr>
        <p:blipFill>
          <a:blip r:embed="rId4"/>
          <a:stretch>
            <a:fillRect/>
          </a:stretch>
        </p:blipFill>
        <p:spPr>
          <a:xfrm>
            <a:off x="1547813" y="3825875"/>
            <a:ext cx="5832475" cy="3032125"/>
          </a:xfrm>
          <a:prstGeom prst="rect">
            <a:avLst/>
          </a:prstGeom>
          <a:noFill/>
          <a:ln w="9525">
            <a:noFill/>
          </a:ln>
        </p:spPr>
      </p:pic>
      <p:sp>
        <p:nvSpPr>
          <p:cNvPr id="462854" name="Rectangle 6"/>
          <p:cNvSpPr/>
          <p:nvPr/>
        </p:nvSpPr>
        <p:spPr>
          <a:xfrm>
            <a:off x="4860925" y="6308725"/>
            <a:ext cx="431800" cy="431800"/>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5" name="Rectangle 7"/>
          <p:cNvSpPr/>
          <p:nvPr/>
        </p:nvSpPr>
        <p:spPr>
          <a:xfrm>
            <a:off x="2268538" y="6308725"/>
            <a:ext cx="431800" cy="431800"/>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6" name="Rectangle 8"/>
          <p:cNvSpPr/>
          <p:nvPr/>
        </p:nvSpPr>
        <p:spPr>
          <a:xfrm>
            <a:off x="6732588" y="4438650"/>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7" name="Rectangle 9"/>
          <p:cNvSpPr/>
          <p:nvPr/>
        </p:nvSpPr>
        <p:spPr>
          <a:xfrm>
            <a:off x="6732588" y="4868863"/>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8" name="Rectangle 10"/>
          <p:cNvSpPr/>
          <p:nvPr/>
        </p:nvSpPr>
        <p:spPr>
          <a:xfrm>
            <a:off x="6732588" y="5300663"/>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59" name="Rectangle 11"/>
          <p:cNvSpPr/>
          <p:nvPr/>
        </p:nvSpPr>
        <p:spPr>
          <a:xfrm>
            <a:off x="6732588" y="5805488"/>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0" name="Rectangle 12"/>
          <p:cNvSpPr/>
          <p:nvPr/>
        </p:nvSpPr>
        <p:spPr>
          <a:xfrm>
            <a:off x="6156325" y="6308725"/>
            <a:ext cx="360363"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1" name="Rectangle 13"/>
          <p:cNvSpPr/>
          <p:nvPr/>
        </p:nvSpPr>
        <p:spPr>
          <a:xfrm>
            <a:off x="5508625" y="6308725"/>
            <a:ext cx="360363"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2" name="Rectangle 14"/>
          <p:cNvSpPr/>
          <p:nvPr/>
        </p:nvSpPr>
        <p:spPr>
          <a:xfrm>
            <a:off x="4211638" y="6308725"/>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3" name="Rectangle 15"/>
          <p:cNvSpPr/>
          <p:nvPr/>
        </p:nvSpPr>
        <p:spPr>
          <a:xfrm>
            <a:off x="3563938" y="6308725"/>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462864" name="Rectangle 16"/>
          <p:cNvSpPr/>
          <p:nvPr/>
        </p:nvSpPr>
        <p:spPr>
          <a:xfrm>
            <a:off x="2916238" y="6308725"/>
            <a:ext cx="360362" cy="358775"/>
          </a:xfrm>
          <a:prstGeom prst="rect">
            <a:avLst/>
          </a:prstGeom>
          <a:solidFill>
            <a:schemeClr val="bg1"/>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2852"/>
                                        </p:tgtEl>
                                        <p:attrNameLst>
                                          <p:attrName>style.visibility</p:attrName>
                                        </p:attrNameLst>
                                      </p:cBhvr>
                                      <p:to>
                                        <p:strVal val="visible"/>
                                      </p:to>
                                    </p:set>
                                    <p:animEffect transition="in" filter="blinds(horizontal)">
                                      <p:cBhvr>
                                        <p:cTn id="7" dur="500"/>
                                        <p:tgtEl>
                                          <p:spTgt spid="462852"/>
                                        </p:tgtEl>
                                      </p:cBhvr>
                                    </p:animEffect>
                                  </p:childTnLst>
                                </p:cTn>
                              </p:par>
                              <p:par>
                                <p:cTn id="8" presetID="3" presetClass="entr" presetSubtype="10" fill="hold" nodeType="withEffect">
                                  <p:stCondLst>
                                    <p:cond delay="0"/>
                                  </p:stCondLst>
                                  <p:childTnLst>
                                    <p:set>
                                      <p:cBhvr>
                                        <p:cTn id="9" dur="1" fill="hold">
                                          <p:stCondLst>
                                            <p:cond delay="0"/>
                                          </p:stCondLst>
                                        </p:cTn>
                                        <p:tgtEl>
                                          <p:spTgt spid="462853"/>
                                        </p:tgtEl>
                                        <p:attrNameLst>
                                          <p:attrName>style.visibility</p:attrName>
                                        </p:attrNameLst>
                                      </p:cBhvr>
                                      <p:to>
                                        <p:strVal val="visible"/>
                                      </p:to>
                                    </p:set>
                                    <p:animEffect transition="in" filter="blinds(horizontal)">
                                      <p:cBhvr>
                                        <p:cTn id="10" dur="500"/>
                                        <p:tgtEl>
                                          <p:spTgt spid="46285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462856"/>
                                        </p:tgtEl>
                                      </p:cBhvr>
                                    </p:animEffect>
                                    <p:set>
                                      <p:cBhvr>
                                        <p:cTn id="15" dur="1" fill="hold">
                                          <p:stCondLst>
                                            <p:cond delay="499"/>
                                          </p:stCondLst>
                                        </p:cTn>
                                        <p:tgtEl>
                                          <p:spTgt spid="46285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0" nodeType="clickEffect">
                                  <p:stCondLst>
                                    <p:cond delay="0"/>
                                  </p:stCondLst>
                                  <p:childTnLst>
                                    <p:animEffect transition="out" filter="blinds(horizontal)">
                                      <p:cBhvr>
                                        <p:cTn id="19" dur="500"/>
                                        <p:tgtEl>
                                          <p:spTgt spid="462863"/>
                                        </p:tgtEl>
                                      </p:cBhvr>
                                    </p:animEffect>
                                    <p:set>
                                      <p:cBhvr>
                                        <p:cTn id="20" dur="1" fill="hold">
                                          <p:stCondLst>
                                            <p:cond delay="499"/>
                                          </p:stCondLst>
                                        </p:cTn>
                                        <p:tgtEl>
                                          <p:spTgt spid="46286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0" nodeType="clickEffect">
                                  <p:stCondLst>
                                    <p:cond delay="0"/>
                                  </p:stCondLst>
                                  <p:childTnLst>
                                    <p:animEffect transition="out" filter="blinds(horizontal)">
                                      <p:cBhvr>
                                        <p:cTn id="24" dur="500"/>
                                        <p:tgtEl>
                                          <p:spTgt spid="462862"/>
                                        </p:tgtEl>
                                      </p:cBhvr>
                                    </p:animEffect>
                                    <p:set>
                                      <p:cBhvr>
                                        <p:cTn id="25" dur="1" fill="hold">
                                          <p:stCondLst>
                                            <p:cond delay="499"/>
                                          </p:stCondLst>
                                        </p:cTn>
                                        <p:tgtEl>
                                          <p:spTgt spid="46286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462854"/>
                                        </p:tgtEl>
                                      </p:cBhvr>
                                    </p:animEffect>
                                    <p:set>
                                      <p:cBhvr>
                                        <p:cTn id="30" dur="1" fill="hold">
                                          <p:stCondLst>
                                            <p:cond delay="499"/>
                                          </p:stCondLst>
                                        </p:cTn>
                                        <p:tgtEl>
                                          <p:spTgt spid="46285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0" nodeType="clickEffect">
                                  <p:stCondLst>
                                    <p:cond delay="0"/>
                                  </p:stCondLst>
                                  <p:childTnLst>
                                    <p:animEffect transition="out" filter="blinds(horizontal)">
                                      <p:cBhvr>
                                        <p:cTn id="34" dur="500"/>
                                        <p:tgtEl>
                                          <p:spTgt spid="462859"/>
                                        </p:tgtEl>
                                      </p:cBhvr>
                                    </p:animEffect>
                                    <p:set>
                                      <p:cBhvr>
                                        <p:cTn id="35" dur="1" fill="hold">
                                          <p:stCondLst>
                                            <p:cond delay="499"/>
                                          </p:stCondLst>
                                        </p:cTn>
                                        <p:tgtEl>
                                          <p:spTgt spid="46285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0" nodeType="clickEffect">
                                  <p:stCondLst>
                                    <p:cond delay="0"/>
                                  </p:stCondLst>
                                  <p:childTnLst>
                                    <p:animEffect transition="out" filter="blinds(horizontal)">
                                      <p:cBhvr>
                                        <p:cTn id="39" dur="500"/>
                                        <p:tgtEl>
                                          <p:spTgt spid="462858"/>
                                        </p:tgtEl>
                                      </p:cBhvr>
                                    </p:animEffect>
                                    <p:set>
                                      <p:cBhvr>
                                        <p:cTn id="40" dur="1" fill="hold">
                                          <p:stCondLst>
                                            <p:cond delay="499"/>
                                          </p:stCondLst>
                                        </p:cTn>
                                        <p:tgtEl>
                                          <p:spTgt spid="46285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grpId="0" nodeType="clickEffect">
                                  <p:stCondLst>
                                    <p:cond delay="0"/>
                                  </p:stCondLst>
                                  <p:childTnLst>
                                    <p:animEffect transition="out" filter="blinds(horizontal)">
                                      <p:cBhvr>
                                        <p:cTn id="44" dur="500"/>
                                        <p:tgtEl>
                                          <p:spTgt spid="462855"/>
                                        </p:tgtEl>
                                      </p:cBhvr>
                                    </p:animEffect>
                                    <p:set>
                                      <p:cBhvr>
                                        <p:cTn id="45" dur="1" fill="hold">
                                          <p:stCondLst>
                                            <p:cond delay="499"/>
                                          </p:stCondLst>
                                        </p:cTn>
                                        <p:tgtEl>
                                          <p:spTgt spid="462855"/>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0" nodeType="clickEffect">
                                  <p:stCondLst>
                                    <p:cond delay="0"/>
                                  </p:stCondLst>
                                  <p:childTnLst>
                                    <p:animEffect transition="out" filter="blinds(horizontal)">
                                      <p:cBhvr>
                                        <p:cTn id="49" dur="500"/>
                                        <p:tgtEl>
                                          <p:spTgt spid="462857"/>
                                        </p:tgtEl>
                                      </p:cBhvr>
                                    </p:animEffect>
                                    <p:set>
                                      <p:cBhvr>
                                        <p:cTn id="50" dur="1" fill="hold">
                                          <p:stCondLst>
                                            <p:cond delay="499"/>
                                          </p:stCondLst>
                                        </p:cTn>
                                        <p:tgtEl>
                                          <p:spTgt spid="46285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xit" presetSubtype="10" fill="hold" grpId="0" nodeType="clickEffect">
                                  <p:stCondLst>
                                    <p:cond delay="0"/>
                                  </p:stCondLst>
                                  <p:childTnLst>
                                    <p:animEffect transition="out" filter="blinds(horizontal)">
                                      <p:cBhvr>
                                        <p:cTn id="54" dur="500"/>
                                        <p:tgtEl>
                                          <p:spTgt spid="462864"/>
                                        </p:tgtEl>
                                      </p:cBhvr>
                                    </p:animEffect>
                                    <p:set>
                                      <p:cBhvr>
                                        <p:cTn id="55" dur="1" fill="hold">
                                          <p:stCondLst>
                                            <p:cond delay="499"/>
                                          </p:stCondLst>
                                        </p:cTn>
                                        <p:tgtEl>
                                          <p:spTgt spid="46286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grpId="0" nodeType="clickEffect">
                                  <p:stCondLst>
                                    <p:cond delay="0"/>
                                  </p:stCondLst>
                                  <p:childTnLst>
                                    <p:animEffect transition="out" filter="blinds(horizontal)">
                                      <p:cBhvr>
                                        <p:cTn id="59" dur="500"/>
                                        <p:tgtEl>
                                          <p:spTgt spid="462861"/>
                                        </p:tgtEl>
                                      </p:cBhvr>
                                    </p:animEffect>
                                    <p:set>
                                      <p:cBhvr>
                                        <p:cTn id="60" dur="1" fill="hold">
                                          <p:stCondLst>
                                            <p:cond delay="499"/>
                                          </p:stCondLst>
                                        </p:cTn>
                                        <p:tgtEl>
                                          <p:spTgt spid="46286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grpId="0" nodeType="clickEffect">
                                  <p:stCondLst>
                                    <p:cond delay="0"/>
                                  </p:stCondLst>
                                  <p:childTnLst>
                                    <p:animEffect transition="out" filter="blinds(horizontal)">
                                      <p:cBhvr>
                                        <p:cTn id="64" dur="500"/>
                                        <p:tgtEl>
                                          <p:spTgt spid="462860"/>
                                        </p:tgtEl>
                                      </p:cBhvr>
                                    </p:animEffect>
                                    <p:set>
                                      <p:cBhvr>
                                        <p:cTn id="65" dur="1" fill="hold">
                                          <p:stCondLst>
                                            <p:cond delay="499"/>
                                          </p:stCondLst>
                                        </p:cTn>
                                        <p:tgtEl>
                                          <p:spTgt spid="4628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2" grpId="0" animBg="1"/>
      <p:bldP spid="462854" grpId="0" animBg="1"/>
      <p:bldP spid="462855" grpId="0" animBg="1"/>
      <p:bldP spid="462856" grpId="0" animBg="1"/>
      <p:bldP spid="462857" grpId="0" animBg="1"/>
      <p:bldP spid="462858" grpId="0" animBg="1"/>
      <p:bldP spid="462859" grpId="0" animBg="1"/>
      <p:bldP spid="462860" grpId="0" animBg="1"/>
      <p:bldP spid="462861" grpId="0" animBg="1"/>
      <p:bldP spid="462862" grpId="0" animBg="1"/>
      <p:bldP spid="462863" grpId="0" animBg="1"/>
      <p:bldP spid="46286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ext Box 2"/>
          <p:cNvSpPr txBox="1">
            <a:spLocks noChangeArrowheads="1"/>
          </p:cNvSpPr>
          <p:nvPr/>
        </p:nvSpPr>
        <p:spPr bwMode="auto">
          <a:xfrm>
            <a:off x="0" y="0"/>
            <a:ext cx="9144000" cy="457200"/>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检验数为：</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48131" name="Picture 3"/>
          <p:cNvPicPr>
            <a:picLocks noChangeAspect="1"/>
          </p:cNvPicPr>
          <p:nvPr/>
        </p:nvPicPr>
        <p:blipFill>
          <a:blip r:embed="rId4"/>
          <a:stretch>
            <a:fillRect/>
          </a:stretch>
        </p:blipFill>
        <p:spPr>
          <a:xfrm>
            <a:off x="468313" y="476250"/>
            <a:ext cx="5545137" cy="2882900"/>
          </a:xfrm>
          <a:prstGeom prst="rect">
            <a:avLst/>
          </a:prstGeom>
          <a:noFill/>
          <a:ln w="9525">
            <a:noFill/>
          </a:ln>
        </p:spPr>
      </p:pic>
      <p:sp>
        <p:nvSpPr>
          <p:cNvPr id="463876" name="Text Box 4"/>
          <p:cNvSpPr txBox="1">
            <a:spLocks noChangeArrowheads="1"/>
          </p:cNvSpPr>
          <p:nvPr/>
        </p:nvSpPr>
        <p:spPr bwMode="auto">
          <a:xfrm>
            <a:off x="0" y="3357563"/>
            <a:ext cx="9144000" cy="457200"/>
          </a:xfrm>
          <a:prstGeom prst="rect">
            <a:avLst/>
          </a:prstGeom>
          <a:solidFill>
            <a:srgbClr val="FFCCFF"/>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闭回路调节</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sp>
        <p:nvSpPr>
          <p:cNvPr id="463877" name="Text Box 5"/>
          <p:cNvSpPr txBox="1">
            <a:spLocks noChangeArrowheads="1"/>
          </p:cNvSpPr>
          <p:nvPr/>
        </p:nvSpPr>
        <p:spPr bwMode="auto">
          <a:xfrm>
            <a:off x="6181725" y="1052513"/>
            <a:ext cx="2711450" cy="83026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检验数         </a:t>
            </a:r>
            <a:r>
              <a:rPr kumimoji="1" lang="zh-CN" altLang="en-US" b="1" kern="1200" cap="none" spc="0" normalizeH="0" baseline="0" noProof="0" dirty="0">
                <a:effectLst>
                  <a:outerShdw blurRad="38100" dist="38100" dir="2700000" algn="tl">
                    <a:srgbClr val="C0C0C0"/>
                  </a:outerShdw>
                </a:effectLst>
                <a:latin typeface="仿宋" pitchFamily="49" charset="-122"/>
                <a:ea typeface="仿宋" pitchFamily="49" charset="-122"/>
                <a:cs typeface="+mn-cs"/>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故</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不是最优解</a:t>
            </a:r>
            <a:endParaRPr kumimoji="1" lang="zh-CN" altLang="en-US" kern="1200" cap="none" spc="0" normalizeH="0" baseline="0" noProof="0" dirty="0">
              <a:solidFill>
                <a:srgbClr val="FF0000"/>
              </a:solidFill>
              <a:latin typeface="微软雅黑" pitchFamily="34" charset="-122"/>
              <a:ea typeface="微软雅黑" pitchFamily="34" charset="-122"/>
              <a:cs typeface="+mn-cs"/>
            </a:endParaRPr>
          </a:p>
        </p:txBody>
      </p:sp>
      <p:graphicFrame>
        <p:nvGraphicFramePr>
          <p:cNvPr id="463878" name="Object 6"/>
          <p:cNvGraphicFramePr>
            <a:graphicFrameLocks noGrp="1" noChangeAspect="1"/>
          </p:cNvGraphicFramePr>
          <p:nvPr>
            <p:ph/>
          </p:nvPr>
        </p:nvGraphicFramePr>
        <p:xfrm>
          <a:off x="7164388" y="1052513"/>
          <a:ext cx="863600" cy="431800"/>
        </p:xfrm>
        <a:graphic>
          <a:graphicData uri="http://schemas.openxmlformats.org/presentationml/2006/ole">
            <mc:AlternateContent xmlns:mc="http://schemas.openxmlformats.org/markup-compatibility/2006">
              <mc:Choice xmlns:v="urn:schemas-microsoft-com:vml" Requires="v">
                <p:oleObj spid="_x0000_s19480" r:id="rId5" imgW="457200" imgH="228600" progId="Equation.DSMT4">
                  <p:embed/>
                </p:oleObj>
              </mc:Choice>
              <mc:Fallback>
                <p:oleObj r:id="rId5" imgW="457200" imgH="228600" progId="Equation.DSMT4">
                  <p:embed/>
                  <p:pic>
                    <p:nvPicPr>
                      <p:cNvPr id="463878" name="Object 6"/>
                      <p:cNvPicPr/>
                      <p:nvPr/>
                    </p:nvPicPr>
                    <p:blipFill>
                      <a:blip r:embed="rId6"/>
                      <a:stretch>
                        <a:fillRect/>
                      </a:stretch>
                    </p:blipFill>
                    <p:spPr>
                      <a:xfrm>
                        <a:off x="7164388" y="1052513"/>
                        <a:ext cx="863600" cy="431800"/>
                      </a:xfrm>
                      <a:prstGeom prst="rect">
                        <a:avLst/>
                      </a:prstGeom>
                      <a:noFill/>
                      <a:ln w="38100">
                        <a:noFill/>
                        <a:miter/>
                      </a:ln>
                    </p:spPr>
                  </p:pic>
                </p:oleObj>
              </mc:Fallback>
            </mc:AlternateContent>
          </a:graphicData>
        </a:graphic>
      </p:graphicFrame>
      <p:pic>
        <p:nvPicPr>
          <p:cNvPr id="463879" name="Picture 7"/>
          <p:cNvPicPr>
            <a:picLocks noChangeAspect="1"/>
          </p:cNvPicPr>
          <p:nvPr/>
        </p:nvPicPr>
        <p:blipFill>
          <a:blip r:embed="rId7"/>
          <a:stretch>
            <a:fillRect/>
          </a:stretch>
        </p:blipFill>
        <p:spPr>
          <a:xfrm>
            <a:off x="2124075" y="3395663"/>
            <a:ext cx="6192838" cy="3462337"/>
          </a:xfrm>
          <a:prstGeom prst="rect">
            <a:avLst/>
          </a:prstGeom>
          <a:noFill/>
          <a:ln w="9525">
            <a:noFill/>
          </a:ln>
        </p:spPr>
      </p:pic>
      <p:sp>
        <p:nvSpPr>
          <p:cNvPr id="8" name="Oval 23"/>
          <p:cNvSpPr/>
          <p:nvPr/>
        </p:nvSpPr>
        <p:spPr>
          <a:xfrm>
            <a:off x="1331913" y="981075"/>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9" name="Oval 23"/>
          <p:cNvSpPr/>
          <p:nvPr/>
        </p:nvSpPr>
        <p:spPr>
          <a:xfrm>
            <a:off x="1331913" y="2349500"/>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0" name="Oval 23"/>
          <p:cNvSpPr/>
          <p:nvPr/>
        </p:nvSpPr>
        <p:spPr>
          <a:xfrm>
            <a:off x="1908175" y="981075"/>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1" name="Oval 23"/>
          <p:cNvSpPr/>
          <p:nvPr/>
        </p:nvSpPr>
        <p:spPr>
          <a:xfrm>
            <a:off x="1908175" y="1484313"/>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2" name="Oval 23"/>
          <p:cNvSpPr/>
          <p:nvPr/>
        </p:nvSpPr>
        <p:spPr>
          <a:xfrm>
            <a:off x="1908175" y="1844675"/>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3" name="Oval 23"/>
          <p:cNvSpPr/>
          <p:nvPr/>
        </p:nvSpPr>
        <p:spPr>
          <a:xfrm>
            <a:off x="2555875" y="1412875"/>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4" name="Oval 23"/>
          <p:cNvSpPr/>
          <p:nvPr/>
        </p:nvSpPr>
        <p:spPr>
          <a:xfrm>
            <a:off x="2555875" y="1844675"/>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5" name="Oval 23"/>
          <p:cNvSpPr/>
          <p:nvPr/>
        </p:nvSpPr>
        <p:spPr>
          <a:xfrm>
            <a:off x="2555875" y="2349500"/>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6" name="Oval 23"/>
          <p:cNvSpPr/>
          <p:nvPr/>
        </p:nvSpPr>
        <p:spPr>
          <a:xfrm>
            <a:off x="3132138" y="1484313"/>
            <a:ext cx="358775"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7" name="Oval 23"/>
          <p:cNvSpPr/>
          <p:nvPr/>
        </p:nvSpPr>
        <p:spPr>
          <a:xfrm>
            <a:off x="3779838" y="1484313"/>
            <a:ext cx="360362"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8" name="Oval 23"/>
          <p:cNvSpPr/>
          <p:nvPr/>
        </p:nvSpPr>
        <p:spPr>
          <a:xfrm>
            <a:off x="4356100" y="981075"/>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19" name="Oval 23"/>
          <p:cNvSpPr/>
          <p:nvPr/>
        </p:nvSpPr>
        <p:spPr>
          <a:xfrm>
            <a:off x="4356100" y="1484313"/>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0" name="Oval 23"/>
          <p:cNvSpPr/>
          <p:nvPr/>
        </p:nvSpPr>
        <p:spPr>
          <a:xfrm>
            <a:off x="4284663" y="1916113"/>
            <a:ext cx="358775"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1" name="Oval 23"/>
          <p:cNvSpPr/>
          <p:nvPr/>
        </p:nvSpPr>
        <p:spPr>
          <a:xfrm>
            <a:off x="4932363" y="981075"/>
            <a:ext cx="431800" cy="360363"/>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2" name="Oval 23"/>
          <p:cNvSpPr/>
          <p:nvPr/>
        </p:nvSpPr>
        <p:spPr>
          <a:xfrm>
            <a:off x="5003800" y="1916113"/>
            <a:ext cx="360363"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3" name="Oval 23"/>
          <p:cNvSpPr/>
          <p:nvPr/>
        </p:nvSpPr>
        <p:spPr>
          <a:xfrm>
            <a:off x="5003800" y="2349500"/>
            <a:ext cx="360363"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4" name="Oval 23"/>
          <p:cNvSpPr/>
          <p:nvPr/>
        </p:nvSpPr>
        <p:spPr>
          <a:xfrm>
            <a:off x="3708400" y="1916113"/>
            <a:ext cx="358775" cy="288925"/>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5" name="Oval 23"/>
          <p:cNvSpPr/>
          <p:nvPr/>
        </p:nvSpPr>
        <p:spPr>
          <a:xfrm>
            <a:off x="3708400" y="2349500"/>
            <a:ext cx="358775" cy="287338"/>
          </a:xfrm>
          <a:prstGeom prst="ellipse">
            <a:avLst/>
          </a:prstGeom>
          <a:noFill/>
          <a:ln w="38100" cap="flat" cmpd="sng">
            <a:solidFill>
              <a:srgbClr val="0070C0"/>
            </a:solidFill>
            <a:prstDash val="solid"/>
            <a:headEnd type="none" w="med" len="med"/>
            <a:tailEnd type="none" w="med" len="med"/>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 name="灯片编号占位符 1">
            <a:extLst>
              <a:ext uri="{FF2B5EF4-FFF2-40B4-BE49-F238E27FC236}">
                <a16:creationId xmlns:a16="http://schemas.microsoft.com/office/drawing/2014/main" id="{C6A4F1F7-DDA9-4685-9012-7897310F6759}"/>
              </a:ext>
            </a:extLst>
          </p:cNvPr>
          <p:cNvSpPr>
            <a:spLocks noGrp="1"/>
          </p:cNvSpPr>
          <p:nvPr>
            <p:ph type="sldNum" sz="quarter" idx="12"/>
          </p:nvPr>
        </p:nvSpPr>
        <p:spPr/>
        <p:txBody>
          <a:bodyPr/>
          <a:lstStyle/>
          <a:p>
            <a:pPr>
              <a:defRPr/>
            </a:pPr>
            <a:fld id="{255BBE8C-8366-4707-9844-2354E1D6E5E0}" type="slidenum">
              <a:rPr lang="en-US" altLang="zh-CN" smtClean="0"/>
              <a:t>57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linds(horizontal)">
                                      <p:cBhvr>
                                        <p:cTn id="13" dur="500"/>
                                        <p:tgtEl>
                                          <p:spTgt spid="2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linds(horizontal)">
                                      <p:cBhvr>
                                        <p:cTn id="16" dur="500"/>
                                        <p:tgtEl>
                                          <p:spTgt spid="1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linds(horizontal)">
                                      <p:cBhvr>
                                        <p:cTn id="19" dur="500"/>
                                        <p:tgtEl>
                                          <p:spTgt spid="1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blinds(horizontal)">
                                      <p:cBhvr>
                                        <p:cTn id="25" dur="500"/>
                                        <p:tgtEl>
                                          <p:spTgt spid="2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linds(horizontal)">
                                      <p:cBhvr>
                                        <p:cTn id="31" dur="500"/>
                                        <p:tgtEl>
                                          <p:spTgt spid="2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linds(horizontal)">
                                      <p:cBhvr>
                                        <p:cTn id="34" dur="500"/>
                                        <p:tgtEl>
                                          <p:spTgt spid="1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linds(horizontal)">
                                      <p:cBhvr>
                                        <p:cTn id="46" dur="500"/>
                                        <p:tgtEl>
                                          <p:spTgt spid="12"/>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linds(horizontal)">
                                      <p:cBhvr>
                                        <p:cTn id="49" dur="500"/>
                                        <p:tgtEl>
                                          <p:spTgt spid="1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blinds(horizontal)">
                                      <p:cBhvr>
                                        <p:cTn id="55" dur="500"/>
                                        <p:tgtEl>
                                          <p:spTgt spid="8"/>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blinds(horizontal)">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63878"/>
                                        </p:tgtEl>
                                        <p:attrNameLst>
                                          <p:attrName>style.visibility</p:attrName>
                                        </p:attrNameLst>
                                      </p:cBhvr>
                                      <p:to>
                                        <p:strVal val="visible"/>
                                      </p:to>
                                    </p:set>
                                    <p:animEffect transition="in" filter="blinds(horizontal)">
                                      <p:cBhvr>
                                        <p:cTn id="63" dur="500"/>
                                        <p:tgtEl>
                                          <p:spTgt spid="46387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63877"/>
                                        </p:tgtEl>
                                        <p:attrNameLst>
                                          <p:attrName>style.visibility</p:attrName>
                                        </p:attrNameLst>
                                      </p:cBhvr>
                                      <p:to>
                                        <p:strVal val="visible"/>
                                      </p:to>
                                    </p:set>
                                    <p:animEffect transition="in" filter="blinds(horizontal)">
                                      <p:cBhvr>
                                        <p:cTn id="66" dur="500"/>
                                        <p:tgtEl>
                                          <p:spTgt spid="463877"/>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63876"/>
                                        </p:tgtEl>
                                        <p:attrNameLst>
                                          <p:attrName>style.visibility</p:attrName>
                                        </p:attrNameLst>
                                      </p:cBhvr>
                                      <p:to>
                                        <p:strVal val="visible"/>
                                      </p:to>
                                    </p:set>
                                    <p:animEffect transition="in" filter="blinds(horizontal)">
                                      <p:cBhvr>
                                        <p:cTn id="71" dur="500"/>
                                        <p:tgtEl>
                                          <p:spTgt spid="463876"/>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463879"/>
                                        </p:tgtEl>
                                        <p:attrNameLst>
                                          <p:attrName>style.visibility</p:attrName>
                                        </p:attrNameLst>
                                      </p:cBhvr>
                                      <p:to>
                                        <p:strVal val="visible"/>
                                      </p:to>
                                    </p:set>
                                    <p:animEffect transition="in" filter="blinds(horizontal)">
                                      <p:cBhvr>
                                        <p:cTn id="76" dur="500"/>
                                        <p:tgtEl>
                                          <p:spTgt spid="463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6" grpId="0" animBg="1"/>
      <p:bldP spid="46387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2"/>
          <p:cNvSpPr txBox="1">
            <a:spLocks noChangeArrowheads="1"/>
          </p:cNvSpPr>
          <p:nvPr/>
        </p:nvSpPr>
        <p:spPr bwMode="auto">
          <a:xfrm>
            <a:off x="0" y="2924175"/>
            <a:ext cx="9144000" cy="457200"/>
          </a:xfrm>
          <a:prstGeom prst="rect">
            <a:avLst/>
          </a:prstGeom>
          <a:solidFill>
            <a:srgbClr val="B3F1F7"/>
          </a:solid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微软雅黑" pitchFamily="34" charset="-122"/>
                <a:cs typeface="+mn-cs"/>
              </a:rPr>
              <a:t>闭回路调节为：</a:t>
            </a:r>
            <a:endParaRPr kumimoji="1" lang="zh-CN" altLang="en-US" kern="1200" cap="none" spc="0" normalizeH="0" baseline="0" noProof="0" dirty="0">
              <a:latin typeface="Times New Roman" panose="02020603050405020304" pitchFamily="18" charset="0"/>
              <a:ea typeface="微软雅黑" pitchFamily="34" charset="-122"/>
              <a:cs typeface="+mn-cs"/>
            </a:endParaRPr>
          </a:p>
        </p:txBody>
      </p:sp>
      <p:pic>
        <p:nvPicPr>
          <p:cNvPr id="49155" name="Picture 3"/>
          <p:cNvPicPr>
            <a:picLocks noChangeAspect="1"/>
          </p:cNvPicPr>
          <p:nvPr/>
        </p:nvPicPr>
        <p:blipFill>
          <a:blip r:embed="rId2"/>
          <a:stretch>
            <a:fillRect/>
          </a:stretch>
        </p:blipFill>
        <p:spPr>
          <a:xfrm>
            <a:off x="1619250" y="0"/>
            <a:ext cx="5184775" cy="2898775"/>
          </a:xfrm>
          <a:prstGeom prst="rect">
            <a:avLst/>
          </a:prstGeom>
          <a:noFill/>
          <a:ln w="9525">
            <a:noFill/>
          </a:ln>
        </p:spPr>
      </p:pic>
      <p:pic>
        <p:nvPicPr>
          <p:cNvPr id="464900" name="Picture 4"/>
          <p:cNvPicPr>
            <a:picLocks noChangeAspect="1"/>
          </p:cNvPicPr>
          <p:nvPr/>
        </p:nvPicPr>
        <p:blipFill>
          <a:blip r:embed="rId3"/>
          <a:stretch>
            <a:fillRect/>
          </a:stretch>
        </p:blipFill>
        <p:spPr>
          <a:xfrm>
            <a:off x="1403350" y="3500438"/>
            <a:ext cx="6480175" cy="3248025"/>
          </a:xfrm>
          <a:prstGeom prst="rect">
            <a:avLst/>
          </a:prstGeom>
          <a:noFill/>
          <a:ln w="9525">
            <a:noFill/>
          </a:ln>
        </p:spPr>
      </p:pic>
      <p:sp>
        <p:nvSpPr>
          <p:cNvPr id="464901" name="Rectangle 5"/>
          <p:cNvSpPr/>
          <p:nvPr/>
        </p:nvSpPr>
        <p:spPr>
          <a:xfrm>
            <a:off x="2268538" y="1628775"/>
            <a:ext cx="431800" cy="360363"/>
          </a:xfrm>
          <a:prstGeom prst="rect">
            <a:avLst/>
          </a:prstGeom>
          <a:solidFill>
            <a:srgbClr val="FFFF99"/>
          </a:solidFill>
          <a:ln w="9525">
            <a:noFill/>
          </a:ln>
        </p:spPr>
        <p:txBody>
          <a:bodyPr wrap="none" anchor="ctr" anchorCtr="0"/>
          <a:lstStyle/>
          <a:p>
            <a:pPr eaLnBrk="1" hangingPunct="1"/>
            <a:endParaRPr lang="zh-CN" altLang="en-US" dirty="0">
              <a:latin typeface="Tahoma" panose="020B0604030504040204" pitchFamily="34" charset="0"/>
              <a:ea typeface="微软雅黑" pitchFamily="34" charset="-122"/>
            </a:endParaRPr>
          </a:p>
        </p:txBody>
      </p:sp>
      <p:sp>
        <p:nvSpPr>
          <p:cNvPr id="2" name="灯片编号占位符 1">
            <a:extLst>
              <a:ext uri="{FF2B5EF4-FFF2-40B4-BE49-F238E27FC236}">
                <a16:creationId xmlns:a16="http://schemas.microsoft.com/office/drawing/2014/main" id="{6E5E6106-1740-4735-8823-668CE65C56AB}"/>
              </a:ext>
            </a:extLst>
          </p:cNvPr>
          <p:cNvSpPr>
            <a:spLocks noGrp="1"/>
          </p:cNvSpPr>
          <p:nvPr>
            <p:ph type="sldNum" sz="quarter" idx="12"/>
          </p:nvPr>
        </p:nvSpPr>
        <p:spPr/>
        <p:txBody>
          <a:bodyPr/>
          <a:lstStyle/>
          <a:p>
            <a:pPr>
              <a:defRPr/>
            </a:pPr>
            <a:fld id="{2AE1B59C-883C-4848-BC85-9A12DF2590B2}" type="slidenum">
              <a:rPr lang="en-US" altLang="zh-CN" smtClean="0"/>
              <a:t>58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4901"/>
                                        </p:tgtEl>
                                        <p:attrNameLst>
                                          <p:attrName>style.visibility</p:attrName>
                                        </p:attrNameLst>
                                      </p:cBhvr>
                                      <p:to>
                                        <p:strVal val="visible"/>
                                      </p:to>
                                    </p:set>
                                    <p:animEffect transition="in" filter="blinds(horizontal)">
                                      <p:cBhvr>
                                        <p:cTn id="7" dur="500"/>
                                        <p:tgtEl>
                                          <p:spTgt spid="4649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4900"/>
                                        </p:tgtEl>
                                        <p:attrNameLst>
                                          <p:attrName>style.visibility</p:attrName>
                                        </p:attrNameLst>
                                      </p:cBhvr>
                                      <p:to>
                                        <p:strVal val="visible"/>
                                      </p:to>
                                    </p:set>
                                    <p:animEffect transition="in" filter="blinds(horizontal)">
                                      <p:cBhvr>
                                        <p:cTn id="12" dur="500"/>
                                        <p:tgtEl>
                                          <p:spTgt spid="464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Text Box 2"/>
          <p:cNvSpPr txBox="1">
            <a:spLocks noChangeArrowheads="1"/>
          </p:cNvSpPr>
          <p:nvPr/>
        </p:nvSpPr>
        <p:spPr bwMode="auto">
          <a:xfrm>
            <a:off x="0" y="2924175"/>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C0C0C0"/>
                  </a:outerShdw>
                </a:effectLst>
                <a:latin typeface="Times New Roman" panose="02020603050405020304" pitchFamily="18" charset="0"/>
                <a:ea typeface="微软雅黑" pitchFamily="34" charset="-122"/>
                <a:cs typeface="+mn-cs"/>
              </a:rPr>
              <a:t>再用位势法计算检验数</a:t>
            </a:r>
            <a:endParaRPr kumimoji="1" lang="zh-CN" altLang="en-US" b="1" kern="1200" cap="none" spc="0" normalizeH="0" baseline="0" noProof="0" dirty="0">
              <a:latin typeface="Times New Roman" panose="02020603050405020304" pitchFamily="18" charset="0"/>
              <a:ea typeface="微软雅黑" pitchFamily="34" charset="-122"/>
              <a:cs typeface="+mn-cs"/>
            </a:endParaRPr>
          </a:p>
        </p:txBody>
      </p:sp>
      <p:pic>
        <p:nvPicPr>
          <p:cNvPr id="50179" name="Picture 3"/>
          <p:cNvPicPr>
            <a:picLocks noChangeAspect="1"/>
          </p:cNvPicPr>
          <p:nvPr/>
        </p:nvPicPr>
        <p:blipFill>
          <a:blip r:embed="rId2"/>
          <a:stretch>
            <a:fillRect/>
          </a:stretch>
        </p:blipFill>
        <p:spPr>
          <a:xfrm>
            <a:off x="1547813" y="0"/>
            <a:ext cx="5832475" cy="2924175"/>
          </a:xfrm>
          <a:prstGeom prst="rect">
            <a:avLst/>
          </a:prstGeom>
          <a:noFill/>
          <a:ln w="9525">
            <a:noFill/>
          </a:ln>
        </p:spPr>
      </p:pic>
      <p:pic>
        <p:nvPicPr>
          <p:cNvPr id="50180" name="Picture 4"/>
          <p:cNvPicPr>
            <a:picLocks noChangeAspect="1"/>
          </p:cNvPicPr>
          <p:nvPr/>
        </p:nvPicPr>
        <p:blipFill>
          <a:blip r:embed="rId3"/>
          <a:stretch>
            <a:fillRect/>
          </a:stretch>
        </p:blipFill>
        <p:spPr>
          <a:xfrm>
            <a:off x="323850" y="3429000"/>
            <a:ext cx="6538913" cy="3417888"/>
          </a:xfrm>
          <a:prstGeom prst="rect">
            <a:avLst/>
          </a:prstGeom>
          <a:noFill/>
          <a:ln w="9525">
            <a:noFill/>
          </a:ln>
        </p:spPr>
      </p:pic>
      <p:sp>
        <p:nvSpPr>
          <p:cNvPr id="465925" name="Text Box 5"/>
          <p:cNvSpPr txBox="1">
            <a:spLocks noChangeArrowheads="1"/>
          </p:cNvSpPr>
          <p:nvPr/>
        </p:nvSpPr>
        <p:spPr bwMode="auto">
          <a:xfrm>
            <a:off x="6877050" y="4365625"/>
            <a:ext cx="2051050" cy="120015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所有检验数大于或等于零</a:t>
            </a:r>
            <a:r>
              <a:rPr kumimoji="1" lang="zh-CN" altLang="en-US" b="1" kern="1200" cap="none" spc="0" normalizeH="0" baseline="0" noProof="0" dirty="0">
                <a:effectLst>
                  <a:outerShdw blurRad="38100" dist="38100" dir="2700000" algn="tl">
                    <a:srgbClr val="C0C0C0"/>
                  </a:outerShdw>
                </a:effectLst>
                <a:latin typeface="仿宋" panose="02010609060101010101" pitchFamily="49" charset="-122"/>
                <a:ea typeface="仿宋" panose="02010609060101010101" pitchFamily="49" charset="-122"/>
              </a:rPr>
              <a:t>，</a:t>
            </a:r>
            <a:r>
              <a:rPr kumimoji="1" lang="zh-CN" altLang="en-US" b="1" kern="1200" cap="none" spc="0" normalizeH="0" baseline="0" noProof="0" dirty="0">
                <a:effectLst>
                  <a:outerShdw blurRad="38100" dist="38100" dir="2700000" algn="tl">
                    <a:srgbClr val="C0C0C0"/>
                  </a:outerShdw>
                </a:effectLst>
                <a:latin typeface="微软雅黑" pitchFamily="34" charset="-122"/>
                <a:ea typeface="微软雅黑" pitchFamily="34" charset="-122"/>
                <a:cs typeface="+mn-cs"/>
              </a:rPr>
              <a:t>故</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是最优解</a:t>
            </a:r>
            <a:endParaRPr kumimoji="1" lang="zh-CN" altLang="en-US" kern="1200" cap="none" spc="0" normalizeH="0" baseline="0" noProof="0" dirty="0">
              <a:solidFill>
                <a:srgbClr val="FF0000"/>
              </a:solidFill>
              <a:latin typeface="微软雅黑" pitchFamily="34" charset="-122"/>
              <a:ea typeface="微软雅黑" pitchFamily="34" charset="-122"/>
              <a:cs typeface="+mn-cs"/>
            </a:endParaRPr>
          </a:p>
        </p:txBody>
      </p:sp>
      <p:sp>
        <p:nvSpPr>
          <p:cNvPr id="2" name="灯片编号占位符 1">
            <a:extLst>
              <a:ext uri="{FF2B5EF4-FFF2-40B4-BE49-F238E27FC236}">
                <a16:creationId xmlns:a16="http://schemas.microsoft.com/office/drawing/2014/main" id="{5E794CB0-C39A-4FBA-B669-D5E5B466E560}"/>
              </a:ext>
            </a:extLst>
          </p:cNvPr>
          <p:cNvSpPr>
            <a:spLocks noGrp="1"/>
          </p:cNvSpPr>
          <p:nvPr>
            <p:ph type="sldNum" sz="quarter" idx="12"/>
          </p:nvPr>
        </p:nvSpPr>
        <p:spPr/>
        <p:txBody>
          <a:bodyPr/>
          <a:lstStyle/>
          <a:p>
            <a:pPr>
              <a:defRPr/>
            </a:pPr>
            <a:fld id="{2AE1B59C-883C-4848-BC85-9A12DF2590B2}" type="slidenum">
              <a:rPr lang="en-US" altLang="zh-CN" smtClean="0"/>
              <a:t>59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5925"/>
                                        </p:tgtEl>
                                        <p:attrNameLst>
                                          <p:attrName>style.visibility</p:attrName>
                                        </p:attrNameLst>
                                      </p:cBhvr>
                                      <p:to>
                                        <p:strVal val="visible"/>
                                      </p:to>
                                    </p:set>
                                    <p:animEffect transition="in" filter="blinds(horizontal)">
                                      <p:cBhvr>
                                        <p:cTn id="7" dur="500"/>
                                        <p:tgtEl>
                                          <p:spTgt spid="465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1066800" y="5334000"/>
            <a:ext cx="3200400" cy="457200"/>
          </a:xfrm>
          <a:prstGeom prst="rect">
            <a:avLst/>
          </a:prstGeom>
          <a:noFill/>
          <a:ln w="9525">
            <a:noFill/>
          </a:ln>
        </p:spPr>
        <p:txBody>
          <a:bodyPr>
            <a:spAutoFit/>
          </a:bodyPr>
          <a:lstStyle/>
          <a:p>
            <a:pPr eaLnBrk="1" hangingPunct="1">
              <a:spcBef>
                <a:spcPct val="50000"/>
              </a:spcBef>
            </a:pPr>
            <a:endParaRPr lang="zh-CN" altLang="en-US" dirty="0">
              <a:latin typeface="Times New Roman" panose="02020603050405020304" pitchFamily="18" charset="0"/>
              <a:ea typeface="微软雅黑" pitchFamily="34" charset="-122"/>
            </a:endParaRPr>
          </a:p>
        </p:txBody>
      </p:sp>
      <p:sp>
        <p:nvSpPr>
          <p:cNvPr id="466947" name="Text Box 3"/>
          <p:cNvSpPr txBox="1">
            <a:spLocks noChangeArrowheads="1"/>
          </p:cNvSpPr>
          <p:nvPr/>
        </p:nvSpPr>
        <p:spPr bwMode="auto">
          <a:xfrm>
            <a:off x="0" y="0"/>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最优方案如下</a:t>
            </a:r>
            <a:r>
              <a:rPr kumimoji="1" lang="zh-CN" altLang="en-US" b="1" kern="1200" cap="none" spc="0" normalizeH="0" baseline="0" noProof="0" dirty="0">
                <a:solidFill>
                  <a:srgbClr val="FF0000"/>
                </a:solidFill>
                <a:effectLst>
                  <a:outerShdw blurRad="38100" dist="38100" dir="2700000" algn="tl">
                    <a:srgbClr val="C0C0C0"/>
                  </a:outerShdw>
                </a:effectLst>
                <a:latin typeface="仿宋" panose="02010609060101010101" pitchFamily="49" charset="-122"/>
                <a:ea typeface="仿宋" panose="02010609060101010101" pitchFamily="49" charset="-122"/>
              </a:rPr>
              <a:t>，</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（最小运费</a:t>
            </a:r>
            <a:r>
              <a:rPr kumimoji="1" lang="en-US" altLang="zh-CN"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=480000</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元）</a:t>
            </a:r>
            <a:endParaRPr kumimoji="1" lang="zh-CN" altLang="en-US" kern="1200" cap="none" spc="0" normalizeH="0" baseline="0" noProof="0" dirty="0">
              <a:solidFill>
                <a:srgbClr val="FF0000"/>
              </a:solidFill>
              <a:latin typeface="微软雅黑" pitchFamily="34" charset="-122"/>
              <a:ea typeface="微软雅黑" pitchFamily="34" charset="-122"/>
              <a:cs typeface="+mn-cs"/>
            </a:endParaRPr>
          </a:p>
        </p:txBody>
      </p:sp>
      <p:pic>
        <p:nvPicPr>
          <p:cNvPr id="51204" name="Picture 4"/>
          <p:cNvPicPr>
            <a:picLocks noChangeAspect="1"/>
          </p:cNvPicPr>
          <p:nvPr/>
        </p:nvPicPr>
        <p:blipFill>
          <a:blip r:embed="rId2"/>
          <a:stretch>
            <a:fillRect/>
          </a:stretch>
        </p:blipFill>
        <p:spPr>
          <a:xfrm>
            <a:off x="900113" y="981075"/>
            <a:ext cx="7272337" cy="4627563"/>
          </a:xfrm>
          <a:prstGeom prst="rect">
            <a:avLst/>
          </a:prstGeom>
          <a:noFill/>
          <a:ln w="9525">
            <a:noFill/>
          </a:ln>
        </p:spPr>
      </p:pic>
      <p:sp>
        <p:nvSpPr>
          <p:cNvPr id="2" name="灯片编号占位符 1">
            <a:extLst>
              <a:ext uri="{FF2B5EF4-FFF2-40B4-BE49-F238E27FC236}">
                <a16:creationId xmlns:a16="http://schemas.microsoft.com/office/drawing/2014/main" id="{D016F68C-15D0-488D-99D3-EA49A15C1AE8}"/>
              </a:ext>
            </a:extLst>
          </p:cNvPr>
          <p:cNvSpPr>
            <a:spLocks noGrp="1"/>
          </p:cNvSpPr>
          <p:nvPr>
            <p:ph type="sldNum" sz="quarter" idx="12"/>
          </p:nvPr>
        </p:nvSpPr>
        <p:spPr/>
        <p:txBody>
          <a:bodyPr/>
          <a:lstStyle/>
          <a:p>
            <a:pPr>
              <a:defRPr/>
            </a:pPr>
            <a:fld id="{2AE1B59C-883C-4848-BC85-9A12DF2590B2}" type="slidenum">
              <a:rPr lang="en-US" altLang="zh-CN" smtClean="0"/>
              <a:t>60</a:t>
            </a:fld>
            <a:endParaRPr lang="en-US" altLang="zh-CN"/>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Text Box 2"/>
          <p:cNvSpPr txBox="1">
            <a:spLocks noChangeArrowheads="1"/>
          </p:cNvSpPr>
          <p:nvPr/>
        </p:nvSpPr>
        <p:spPr bwMode="auto">
          <a:xfrm>
            <a:off x="0" y="404813"/>
            <a:ext cx="9144000" cy="45720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有非基变量的检验数</a:t>
            </a:r>
            <a:r>
              <a:rPr kumimoji="1" lang="en-US" altLang="zh-CN"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=0</a:t>
            </a:r>
            <a:r>
              <a:rPr kumimoji="1" lang="zh-CN" altLang="en-US" b="1" kern="1200" cap="none" spc="0" normalizeH="0" baseline="0" noProof="0" dirty="0">
                <a:solidFill>
                  <a:srgbClr val="FF0000"/>
                </a:solidFill>
                <a:effectLst>
                  <a:outerShdw blurRad="38100" dist="38100" dir="2700000" algn="tl">
                    <a:srgbClr val="C0C0C0"/>
                  </a:outerShdw>
                </a:effectLst>
                <a:latin typeface="仿宋" panose="02010609060101010101" pitchFamily="49" charset="-122"/>
                <a:ea typeface="仿宋" panose="02010609060101010101" pitchFamily="49" charset="-122"/>
              </a:rPr>
              <a:t>，</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有无穷多组解</a:t>
            </a:r>
            <a:r>
              <a:rPr kumimoji="1" lang="zh-CN" altLang="en-US" b="1" kern="1200" cap="none" spc="0" normalizeH="0" baseline="0" noProof="0" dirty="0">
                <a:solidFill>
                  <a:srgbClr val="FF0000"/>
                </a:solidFill>
                <a:effectLst>
                  <a:outerShdw blurRad="38100" dist="38100" dir="2700000" algn="tl">
                    <a:srgbClr val="C0C0C0"/>
                  </a:outerShdw>
                </a:effectLst>
                <a:latin typeface="仿宋" panose="02010609060101010101" pitchFamily="49" charset="-122"/>
                <a:ea typeface="仿宋" panose="02010609060101010101" pitchFamily="49" charset="-122"/>
              </a:rPr>
              <a:t>，</a:t>
            </a:r>
            <a:r>
              <a:rPr kumimoji="1" lang="zh-CN" altLang="en-US" b="1" kern="1200" cap="none" spc="0" normalizeH="0" baseline="0" noProof="0" dirty="0">
                <a:solidFill>
                  <a:srgbClr val="FF0000"/>
                </a:solidFill>
                <a:effectLst>
                  <a:outerShdw blurRad="38100" dist="38100" dir="2700000" algn="tl">
                    <a:srgbClr val="C0C0C0"/>
                  </a:outerShdw>
                </a:effectLst>
                <a:latin typeface="微软雅黑" pitchFamily="34" charset="-122"/>
                <a:ea typeface="微软雅黑" pitchFamily="34" charset="-122"/>
                <a:cs typeface="+mn-cs"/>
              </a:rPr>
              <a:t>另外一个解如下：</a:t>
            </a:r>
          </a:p>
        </p:txBody>
      </p:sp>
      <p:pic>
        <p:nvPicPr>
          <p:cNvPr id="52227" name="Picture 3"/>
          <p:cNvPicPr>
            <a:picLocks noChangeAspect="1"/>
          </p:cNvPicPr>
          <p:nvPr/>
        </p:nvPicPr>
        <p:blipFill>
          <a:blip r:embed="rId2"/>
          <a:stretch>
            <a:fillRect/>
          </a:stretch>
        </p:blipFill>
        <p:spPr>
          <a:xfrm>
            <a:off x="179388" y="1200150"/>
            <a:ext cx="8856662" cy="5657850"/>
          </a:xfrm>
          <a:prstGeom prst="rect">
            <a:avLst/>
          </a:prstGeom>
          <a:noFill/>
          <a:ln w="9525">
            <a:noFill/>
          </a:ln>
        </p:spPr>
      </p:pic>
      <p:sp>
        <p:nvSpPr>
          <p:cNvPr id="2" name="灯片编号占位符 1">
            <a:extLst>
              <a:ext uri="{FF2B5EF4-FFF2-40B4-BE49-F238E27FC236}">
                <a16:creationId xmlns:a16="http://schemas.microsoft.com/office/drawing/2014/main" id="{ECEB38FA-B92C-45C8-B1E2-399380B900AE}"/>
              </a:ext>
            </a:extLst>
          </p:cNvPr>
          <p:cNvSpPr>
            <a:spLocks noGrp="1"/>
          </p:cNvSpPr>
          <p:nvPr>
            <p:ph type="sldNum" sz="quarter" idx="12"/>
          </p:nvPr>
        </p:nvSpPr>
        <p:spPr/>
        <p:txBody>
          <a:bodyPr/>
          <a:lstStyle/>
          <a:p>
            <a:pPr>
              <a:defRPr/>
            </a:pPr>
            <a:fld id="{2AE1B59C-883C-4848-BC85-9A12DF2590B2}" type="slidenum">
              <a:rPr lang="en-US" altLang="zh-CN" smtClean="0"/>
              <a:t>61</a:t>
            </a:fld>
            <a:endParaRPr lang="en-US" altLang="zh-CN"/>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4</a:t>
            </a:r>
            <a:r>
              <a:rPr kumimoji="0" lang="zh-CN" altLang="en-US" sz="3200" b="1">
                <a:solidFill>
                  <a:srgbClr val="FF0000"/>
                </a:solidFill>
                <a:latin typeface="微软雅黑" panose="020B0503020204020204" pitchFamily="34" charset="-122"/>
                <a:ea typeface="微软雅黑" panose="020B0503020204020204" pitchFamily="34" charset="-122"/>
              </a:rPr>
              <a:t>章  运输问题</a:t>
            </a:r>
          </a:p>
        </p:txBody>
      </p:sp>
      <p:sp>
        <p:nvSpPr>
          <p:cNvPr id="5125" name="Rectangle 3"/>
          <p:cNvSpPr txBox="1">
            <a:spLocks noChangeArrowheads="1"/>
          </p:cNvSpPr>
          <p:nvPr/>
        </p:nvSpPr>
        <p:spPr bwMode="auto">
          <a:xfrm>
            <a:off x="971600" y="2105026"/>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1</a:t>
            </a:r>
            <a:r>
              <a:rPr lang="zh-CN" altLang="en-US" sz="2800" b="1" dirty="0">
                <a:solidFill>
                  <a:schemeClr val="folHlink"/>
                </a:solidFill>
                <a:latin typeface="微软雅黑" panose="020B0503020204020204" pitchFamily="34" charset="-122"/>
                <a:ea typeface="微软雅黑" panose="020B0503020204020204" pitchFamily="34" charset="-122"/>
              </a:rPr>
              <a:t>节   运输问题的数学模型</a:t>
            </a: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2</a:t>
            </a:r>
            <a:r>
              <a:rPr lang="zh-CN" altLang="en-US" sz="2800" b="1" dirty="0">
                <a:solidFill>
                  <a:schemeClr val="folHlink"/>
                </a:solidFill>
                <a:latin typeface="微软雅黑" panose="020B0503020204020204" pitchFamily="34" charset="-122"/>
                <a:ea typeface="微软雅黑" panose="020B0503020204020204" pitchFamily="34" charset="-122"/>
              </a:rPr>
              <a:t>节   表上作业法</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rgbClr val="FF0000"/>
                </a:solidFill>
                <a:latin typeface="微软雅黑" panose="020B0503020204020204" pitchFamily="34" charset="-122"/>
                <a:ea typeface="微软雅黑" panose="020B0503020204020204" pitchFamily="34" charset="-122"/>
              </a:rPr>
              <a:t>第</a:t>
            </a:r>
            <a:r>
              <a:rPr lang="en-US" altLang="zh-CN" sz="2800" b="1" dirty="0">
                <a:solidFill>
                  <a:srgbClr val="FF0000"/>
                </a:solidFill>
                <a:latin typeface="微软雅黑" panose="020B0503020204020204" pitchFamily="34" charset="-122"/>
                <a:ea typeface="微软雅黑" panose="020B0503020204020204" pitchFamily="34" charset="-122"/>
              </a:rPr>
              <a:t>3</a:t>
            </a:r>
            <a:r>
              <a:rPr lang="zh-CN" altLang="en-US" sz="2800" b="1" dirty="0">
                <a:solidFill>
                  <a:srgbClr val="FF0000"/>
                </a:solidFill>
                <a:latin typeface="微软雅黑" panose="020B0503020204020204" pitchFamily="34" charset="-122"/>
                <a:ea typeface="微软雅黑" panose="020B0503020204020204" pitchFamily="34" charset="-122"/>
              </a:rPr>
              <a:t>节   产销不平衡的运输问题</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4</a:t>
            </a:r>
            <a:r>
              <a:rPr lang="zh-CN" altLang="en-US" sz="2800" b="1" dirty="0">
                <a:solidFill>
                  <a:schemeClr val="folHlink"/>
                </a:solidFill>
                <a:latin typeface="微软雅黑" panose="020B0503020204020204" pitchFamily="34" charset="-122"/>
                <a:ea typeface="微软雅黑" panose="020B0503020204020204" pitchFamily="34" charset="-122"/>
              </a:rPr>
              <a:t>节   转运问题</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5</a:t>
            </a:r>
            <a:r>
              <a:rPr lang="zh-CN" altLang="en-US" sz="2800" b="1" dirty="0">
                <a:solidFill>
                  <a:schemeClr val="folHlink"/>
                </a:solidFill>
                <a:latin typeface="微软雅黑" panose="020B0503020204020204" pitchFamily="34" charset="-122"/>
                <a:ea typeface="微软雅黑" panose="020B0503020204020204" pitchFamily="34" charset="-122"/>
              </a:rPr>
              <a:t>节   应用举例及计算机解法</a:t>
            </a:r>
            <a:endParaRPr lang="en-US" altLang="zh-CN" sz="2800" b="1" dirty="0">
              <a:solidFill>
                <a:schemeClr val="folHlink"/>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F50BD227-598E-4475-A452-5F25213CD5A1}"/>
              </a:ext>
            </a:extLst>
          </p:cNvPr>
          <p:cNvSpPr>
            <a:spLocks noGrp="1"/>
          </p:cNvSpPr>
          <p:nvPr>
            <p:ph type="sldNum" sz="quarter" idx="12"/>
          </p:nvPr>
        </p:nvSpPr>
        <p:spPr/>
        <p:txBody>
          <a:bodyPr/>
          <a:lstStyle/>
          <a:p>
            <a:pPr>
              <a:defRPr/>
            </a:pPr>
            <a:fld id="{2AE1B59C-883C-4848-BC85-9A12DF2590B2}" type="slidenum">
              <a:rPr lang="en-US" altLang="zh-CN" smtClean="0"/>
              <a:t>62</a:t>
            </a:fld>
            <a:endParaRPr lang="en-US" altLang="zh-CN"/>
          </a:p>
        </p:txBody>
      </p:sp>
    </p:spTree>
    <p:extLst>
      <p:ext uri="{BB962C8B-B14F-4D97-AF65-F5344CB8AC3E}">
        <p14:creationId xmlns:p14="http://schemas.microsoft.com/office/powerpoint/2010/main" val="1760000078"/>
      </p:ext>
    </p:extLst>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48419"/>
            <a:ext cx="91440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spcBef>
                <a:spcPts val="600"/>
              </a:spcBef>
              <a:buClr>
                <a:schemeClr val="accent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前面所讲表上作业法</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都是以产销平衡为前提条件的</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即</a:t>
            </a:r>
          </a:p>
          <a:p>
            <a:pPr algn="just">
              <a:spcBef>
                <a:spcPts val="600"/>
              </a:spcBef>
              <a:buClr>
                <a:schemeClr val="accent1"/>
              </a:buClr>
              <a:buSzPct val="70000"/>
              <a:buFont typeface="Wingdings" panose="05000000000000000000" pitchFamily="2" charset="2"/>
              <a:buChar char=""/>
            </a:pPr>
            <a:endParaRPr lang="en-US" altLang="zh-CN" b="1" dirty="0">
              <a:latin typeface="微软雅黑" panose="020B0503020204020204" pitchFamily="34" charset="-122"/>
              <a:ea typeface="微软雅黑" panose="020B0503020204020204" pitchFamily="34" charset="-122"/>
            </a:endParaRPr>
          </a:p>
          <a:p>
            <a:pPr algn="just">
              <a:spcBef>
                <a:spcPts val="600"/>
              </a:spcBef>
              <a:buClr>
                <a:schemeClr val="accent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但是实际问题中产销往往是不平衡的</a:t>
            </a:r>
            <a:endParaRPr lang="en-US" altLang="zh-CN" b="1" dirty="0">
              <a:latin typeface="微软雅黑" panose="020B0503020204020204" pitchFamily="34" charset="-122"/>
              <a:ea typeface="微软雅黑" panose="020B0503020204020204" pitchFamily="34" charset="-122"/>
            </a:endParaRPr>
          </a:p>
          <a:p>
            <a:pPr algn="just">
              <a:spcBef>
                <a:spcPts val="600"/>
              </a:spcBef>
              <a:buClr>
                <a:schemeClr val="accent1"/>
              </a:buClr>
              <a:buSzPct val="70000"/>
              <a:buFont typeface="Wingdings" panose="05000000000000000000" pitchFamily="2" charset="2"/>
              <a:buChar char=""/>
            </a:pPr>
            <a:r>
              <a:rPr lang="zh-CN" altLang="en-US" b="1" dirty="0">
                <a:latin typeface="微软雅黑" panose="020B0503020204020204" pitchFamily="34" charset="-122"/>
                <a:ea typeface="微软雅黑" panose="020B0503020204020204" pitchFamily="34" charset="-122"/>
              </a:rPr>
              <a:t>就需要把</a:t>
            </a:r>
            <a:r>
              <a:rPr lang="zh-CN" altLang="en-US" b="1" dirty="0">
                <a:solidFill>
                  <a:srgbClr val="0070C0"/>
                </a:solidFill>
                <a:latin typeface="微软雅黑" panose="020B0503020204020204" pitchFamily="34" charset="-122"/>
                <a:ea typeface="微软雅黑" panose="020B0503020204020204" pitchFamily="34" charset="-122"/>
              </a:rPr>
              <a:t>产销不平衡</a:t>
            </a:r>
            <a:r>
              <a:rPr lang="zh-CN" altLang="en-US" b="1" dirty="0">
                <a:latin typeface="微软雅黑" panose="020B0503020204020204" pitchFamily="34" charset="-122"/>
                <a:ea typeface="微软雅黑" panose="020B0503020204020204" pitchFamily="34" charset="-122"/>
              </a:rPr>
              <a:t>的问题化成</a:t>
            </a:r>
            <a:r>
              <a:rPr lang="zh-CN" altLang="en-US" b="1" dirty="0">
                <a:solidFill>
                  <a:srgbClr val="0070C0"/>
                </a:solidFill>
                <a:latin typeface="微软雅黑" panose="020B0503020204020204" pitchFamily="34" charset="-122"/>
                <a:ea typeface="微软雅黑" panose="020B0503020204020204" pitchFamily="34" charset="-122"/>
              </a:rPr>
              <a:t>产销平衡</a:t>
            </a:r>
            <a:r>
              <a:rPr lang="zh-CN" altLang="en-US" b="1" dirty="0">
                <a:latin typeface="微软雅黑" panose="020B0503020204020204" pitchFamily="34" charset="-122"/>
                <a:ea typeface="微软雅黑" panose="020B0503020204020204" pitchFamily="34" charset="-122"/>
              </a:rPr>
              <a:t>的问题</a:t>
            </a:r>
          </a:p>
          <a:p>
            <a:pPr algn="just">
              <a:spcBef>
                <a:spcPts val="600"/>
              </a:spcBef>
              <a:buClr>
                <a:schemeClr val="accent1"/>
              </a:buClr>
              <a:buSzPct val="70000"/>
              <a:buFont typeface="Wingdings" panose="05000000000000000000" pitchFamily="2" charset="2"/>
              <a:buNone/>
            </a:pPr>
            <a:r>
              <a:rPr lang="zh-CN" altLang="en-US" b="1" dirty="0">
                <a:solidFill>
                  <a:schemeClr val="hlink"/>
                </a:solidFill>
                <a:latin typeface="微软雅黑" panose="020B0503020204020204" pitchFamily="34" charset="-122"/>
                <a:ea typeface="微软雅黑" panose="020B0503020204020204" pitchFamily="34" charset="-122"/>
              </a:rPr>
              <a:t>（</a:t>
            </a:r>
            <a:r>
              <a:rPr lang="en-US" altLang="zh-CN" b="1" dirty="0">
                <a:solidFill>
                  <a:schemeClr val="hlink"/>
                </a:solidFill>
                <a:latin typeface="微软雅黑" panose="020B0503020204020204" pitchFamily="34" charset="-122"/>
                <a:ea typeface="微软雅黑" panose="020B0503020204020204" pitchFamily="34" charset="-122"/>
              </a:rPr>
              <a:t>1</a:t>
            </a:r>
            <a:r>
              <a:rPr lang="zh-CN" altLang="en-US" b="1" dirty="0">
                <a:solidFill>
                  <a:schemeClr val="hlink"/>
                </a:solidFill>
                <a:latin typeface="微软雅黑" panose="020B0503020204020204" pitchFamily="34" charset="-122"/>
                <a:ea typeface="微软雅黑" panose="020B0503020204020204" pitchFamily="34" charset="-122"/>
              </a:rPr>
              <a:t>）当产大于销</a:t>
            </a:r>
            <a:endParaRPr lang="en-US" altLang="zh-CN" b="1" dirty="0">
              <a:solidFill>
                <a:schemeClr val="hlink"/>
              </a:solidFill>
              <a:latin typeface="微软雅黑" panose="020B0503020204020204" pitchFamily="34" charset="-122"/>
              <a:ea typeface="微软雅黑" panose="020B0503020204020204" pitchFamily="34" charset="-122"/>
            </a:endParaRPr>
          </a:p>
        </p:txBody>
      </p:sp>
      <p:graphicFrame>
        <p:nvGraphicFramePr>
          <p:cNvPr id="19461" name="Object 5"/>
          <p:cNvGraphicFramePr>
            <a:graphicFrameLocks noChangeAspect="1"/>
          </p:cNvGraphicFramePr>
          <p:nvPr/>
        </p:nvGraphicFramePr>
        <p:xfrm>
          <a:off x="3526036" y="419056"/>
          <a:ext cx="1152525" cy="628650"/>
        </p:xfrm>
        <a:graphic>
          <a:graphicData uri="http://schemas.openxmlformats.org/presentationml/2006/ole">
            <mc:AlternateContent xmlns:mc="http://schemas.openxmlformats.org/markup-compatibility/2006">
              <mc:Choice xmlns:v="urn:schemas-microsoft-com:vml" Requires="v">
                <p:oleObj spid="_x0000_s28698" r:id="rId3" imgW="812520" imgH="444240" progId="Equation.3">
                  <p:embed/>
                </p:oleObj>
              </mc:Choice>
              <mc:Fallback>
                <p:oleObj r:id="rId3" imgW="812520" imgH="444240" progId="Equation.3">
                  <p:embed/>
                  <p:pic>
                    <p:nvPicPr>
                      <p:cNvPr id="1946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6036" y="419056"/>
                        <a:ext cx="115252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Rectangle 2"/>
          <p:cNvSpPr txBox="1">
            <a:spLocks noChangeArrowheads="1"/>
          </p:cNvSpPr>
          <p:nvPr/>
        </p:nvSpPr>
        <p:spPr bwMode="auto">
          <a:xfrm>
            <a:off x="0" y="2708275"/>
            <a:ext cx="9144000" cy="433388"/>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微软雅黑" panose="020B0503020204020204" pitchFamily="34" charset="-122"/>
                <a:ea typeface="微软雅黑" panose="020B0503020204020204" pitchFamily="34" charset="-122"/>
              </a:rPr>
              <a:t>运输问题的数学模型可写成</a:t>
            </a:r>
            <a:br>
              <a:rPr lang="zh-CN" altLang="en-US" b="1">
                <a:latin typeface="微软雅黑" panose="020B0503020204020204" pitchFamily="34" charset="-122"/>
                <a:ea typeface="微软雅黑" panose="020B0503020204020204" pitchFamily="34" charset="-122"/>
              </a:rPr>
            </a:br>
            <a:endParaRPr lang="zh-CN" altLang="en-US" b="1">
              <a:latin typeface="微软雅黑" panose="020B0503020204020204" pitchFamily="34" charset="-122"/>
              <a:ea typeface="微软雅黑" panose="020B0503020204020204" pitchFamily="34" charset="-122"/>
            </a:endParaRPr>
          </a:p>
        </p:txBody>
      </p:sp>
      <p:sp>
        <p:nvSpPr>
          <p:cNvPr id="3" name="Rectangle 3"/>
          <p:cNvSpPr txBox="1">
            <a:spLocks noChangeArrowheads="1"/>
          </p:cNvSpPr>
          <p:nvPr/>
        </p:nvSpPr>
        <p:spPr bwMode="auto">
          <a:xfrm>
            <a:off x="0" y="3141663"/>
            <a:ext cx="9144000"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buFont typeface="Wingdings" panose="05000000000000000000" pitchFamily="2" charset="2"/>
              <a:buChar char=""/>
            </a:pPr>
            <a:r>
              <a:rPr lang="zh-CN" altLang="en-US" b="1">
                <a:latin typeface="微软雅黑" panose="020B0503020204020204" pitchFamily="34" charset="-122"/>
                <a:ea typeface="微软雅黑" panose="020B0503020204020204" pitchFamily="34" charset="-122"/>
              </a:rPr>
              <a:t>目标函数：</a:t>
            </a:r>
          </a:p>
          <a:p>
            <a:pPr>
              <a:spcBef>
                <a:spcPts val="600"/>
              </a:spcBef>
              <a:buClr>
                <a:schemeClr val="accent1"/>
              </a:buClr>
              <a:buSzPct val="70000"/>
              <a:buFont typeface="Wingdings" panose="05000000000000000000" pitchFamily="2" charset="2"/>
              <a:buChar char=""/>
            </a:pPr>
            <a:endParaRPr lang="zh-CN" altLang="en-US" b="1">
              <a:latin typeface="微软雅黑" panose="020B0503020204020204" pitchFamily="34" charset="-122"/>
              <a:ea typeface="微软雅黑" panose="020B0503020204020204" pitchFamily="34" charset="-122"/>
            </a:endParaRPr>
          </a:p>
          <a:p>
            <a:pPr>
              <a:spcBef>
                <a:spcPts val="600"/>
              </a:spcBef>
              <a:buClr>
                <a:schemeClr val="accent1"/>
              </a:buClr>
              <a:buSzPct val="70000"/>
              <a:buFont typeface="Wingdings" panose="05000000000000000000" pitchFamily="2" charset="2"/>
              <a:buChar char=""/>
            </a:pPr>
            <a:r>
              <a:rPr lang="zh-CN" altLang="en-US" b="1">
                <a:latin typeface="微软雅黑" panose="020B0503020204020204" pitchFamily="34" charset="-122"/>
                <a:ea typeface="微软雅黑" panose="020B0503020204020204" pitchFamily="34" charset="-122"/>
              </a:rPr>
              <a:t>满足：</a:t>
            </a:r>
          </a:p>
        </p:txBody>
      </p:sp>
      <p:graphicFrame>
        <p:nvGraphicFramePr>
          <p:cNvPr id="7" name="Object 2"/>
          <p:cNvGraphicFramePr>
            <a:graphicFrameLocks noChangeAspect="1"/>
          </p:cNvGraphicFramePr>
          <p:nvPr/>
        </p:nvGraphicFramePr>
        <p:xfrm>
          <a:off x="2274887" y="3167397"/>
          <a:ext cx="2297113" cy="865187"/>
        </p:xfrm>
        <a:graphic>
          <a:graphicData uri="http://schemas.openxmlformats.org/presentationml/2006/ole">
            <mc:AlternateContent xmlns:mc="http://schemas.openxmlformats.org/markup-compatibility/2006">
              <mc:Choice xmlns:v="urn:schemas-microsoft-com:vml" Requires="v">
                <p:oleObj spid="_x0000_s28699" r:id="rId5" imgW="1180800" imgH="444240" progId="Equation.3">
                  <p:embed/>
                </p:oleObj>
              </mc:Choice>
              <mc:Fallback>
                <p:oleObj r:id="rId5" imgW="1180800" imgH="444240" progId="Equation.3">
                  <p:embed/>
                  <p:pic>
                    <p:nvPicPr>
                      <p:cNvPr id="7"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4887" y="3167397"/>
                        <a:ext cx="2297113" cy="865187"/>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3"/>
          <p:cNvGraphicFramePr>
            <a:graphicFrameLocks noChangeAspect="1"/>
          </p:cNvGraphicFramePr>
          <p:nvPr/>
        </p:nvGraphicFramePr>
        <p:xfrm>
          <a:off x="1187450" y="4152900"/>
          <a:ext cx="3368675" cy="2695575"/>
        </p:xfrm>
        <a:graphic>
          <a:graphicData uri="http://schemas.openxmlformats.org/presentationml/2006/ole">
            <mc:AlternateContent xmlns:mc="http://schemas.openxmlformats.org/markup-compatibility/2006">
              <mc:Choice xmlns:v="urn:schemas-microsoft-com:vml" Requires="v">
                <p:oleObj spid="_x0000_s28700" r:id="rId7" imgW="1714500" imgH="1371600" progId="Equation.DSMT4">
                  <p:embed/>
                </p:oleObj>
              </mc:Choice>
              <mc:Fallback>
                <p:oleObj r:id="rId7" imgW="1714500" imgH="1371600" progId="Equation.DSMT4">
                  <p:embed/>
                  <p:pic>
                    <p:nvPicPr>
                      <p:cNvPr id="8"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4152900"/>
                        <a:ext cx="3368675" cy="269557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2"/>
          <p:cNvSpPr txBox="1">
            <a:spLocks noChangeArrowheads="1"/>
          </p:cNvSpPr>
          <p:nvPr/>
        </p:nvSpPr>
        <p:spPr bwMode="auto">
          <a:xfrm>
            <a:off x="4645025" y="2322513"/>
            <a:ext cx="4408488" cy="1157287"/>
          </a:xfrm>
          <a:prstGeom prst="rect">
            <a:avLst/>
          </a:prstGeom>
          <a:solidFill>
            <a:srgbClr val="B3F1F7"/>
          </a:solidFill>
          <a:ln>
            <a:noFill/>
          </a:ln>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rPr>
              <a:t>由于总的产量大于销量</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就要考虑多余的物资在哪一个产地就地储存的问题</a:t>
            </a:r>
            <a:r>
              <a:rPr lang="en-US" altLang="zh-CN" b="1" dirty="0">
                <a:latin typeface="微软雅黑" panose="020B0503020204020204" pitchFamily="34" charset="-122"/>
                <a:ea typeface="微软雅黑" panose="020B0503020204020204" pitchFamily="34" charset="-122"/>
              </a:rPr>
              <a:t> </a:t>
            </a:r>
          </a:p>
          <a:p>
            <a:r>
              <a:rPr lang="zh-CN" altLang="en-US" b="1" dirty="0">
                <a:latin typeface="微软雅黑" panose="020B0503020204020204" pitchFamily="34" charset="-122"/>
                <a:ea typeface="微软雅黑" panose="020B0503020204020204" pitchFamily="34" charset="-122"/>
              </a:rPr>
              <a:t>设</a:t>
            </a:r>
            <a:r>
              <a:rPr lang="en-US" altLang="zh-CN" b="1" i="1" dirty="0">
                <a:latin typeface="Times New Roman" panose="02020603050405020304" pitchFamily="18" charset="0"/>
                <a:ea typeface="微软雅黑" panose="020B0503020204020204" pitchFamily="34" charset="-122"/>
              </a:rPr>
              <a:t>x</a:t>
            </a:r>
            <a:r>
              <a:rPr lang="en-US" altLang="zh-CN" b="1" i="1" baseline="-30000" dirty="0">
                <a:latin typeface="Times New Roman" panose="02020603050405020304" pitchFamily="18" charset="0"/>
                <a:ea typeface="微软雅黑" panose="020B0503020204020204" pitchFamily="34" charset="-122"/>
              </a:rPr>
              <a:t>i</a:t>
            </a:r>
            <a:r>
              <a:rPr lang="en-US" altLang="zh-CN" b="1" baseline="-25000" dirty="0">
                <a:latin typeface="Times New Roman" panose="02020603050405020304" pitchFamily="18" charset="0"/>
                <a:ea typeface="微软雅黑" panose="020B0503020204020204" pitchFamily="34" charset="-122"/>
              </a:rPr>
              <a:t>,</a:t>
            </a:r>
            <a:r>
              <a:rPr lang="en-US" altLang="zh-CN" b="1" i="1" baseline="-30000" dirty="0">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是产地</a:t>
            </a:r>
            <a:r>
              <a:rPr lang="en-US" altLang="zh-CN" b="1" i="1" dirty="0">
                <a:latin typeface="Times New Roman" panose="02020603050405020304" pitchFamily="18" charset="0"/>
                <a:ea typeface="微软雅黑" panose="020B0503020204020204" pitchFamily="34" charset="-122"/>
              </a:rPr>
              <a:t>A</a:t>
            </a:r>
            <a:r>
              <a:rPr lang="en-US" altLang="zh-CN" b="1" i="1" baseline="-30000" dirty="0">
                <a:latin typeface="Times New Roman" panose="02020603050405020304" pitchFamily="18" charset="0"/>
                <a:ea typeface="微软雅黑" panose="020B0503020204020204" pitchFamily="34" charset="-122"/>
              </a:rPr>
              <a:t>i</a:t>
            </a:r>
            <a:r>
              <a:rPr lang="zh-CN" altLang="en-US" b="1" dirty="0">
                <a:latin typeface="微软雅黑" panose="020B0503020204020204" pitchFamily="34" charset="-122"/>
                <a:ea typeface="微软雅黑" panose="020B0503020204020204" pitchFamily="34" charset="-122"/>
              </a:rPr>
              <a:t>的储存量</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于是</a:t>
            </a:r>
            <a:r>
              <a:rPr lang="zh-CN" altLang="en-US" sz="3600" dirty="0">
                <a:latin typeface="Times New Roman" panose="02020603050405020304" pitchFamily="18" charset="0"/>
                <a:ea typeface="微软雅黑" panose="020B0503020204020204" pitchFamily="34" charset="-122"/>
              </a:rPr>
              <a:t> </a:t>
            </a:r>
          </a:p>
        </p:txBody>
      </p:sp>
      <p:graphicFrame>
        <p:nvGraphicFramePr>
          <p:cNvPr id="10" name="Object 11"/>
          <p:cNvGraphicFramePr>
            <a:graphicFrameLocks noChangeAspect="1"/>
          </p:cNvGraphicFramePr>
          <p:nvPr/>
        </p:nvGraphicFramePr>
        <p:xfrm>
          <a:off x="4716463" y="4437063"/>
          <a:ext cx="3992562" cy="661987"/>
        </p:xfrm>
        <a:graphic>
          <a:graphicData uri="http://schemas.openxmlformats.org/presentationml/2006/ole">
            <mc:AlternateContent xmlns:mc="http://schemas.openxmlformats.org/markup-compatibility/2006">
              <mc:Choice xmlns:v="urn:schemas-microsoft-com:vml" Requires="v">
                <p:oleObj spid="_x0000_s28701" r:id="rId9" imgW="2679700" imgH="444500" progId="Equation.DSMT4">
                  <p:embed/>
                </p:oleObj>
              </mc:Choice>
              <mc:Fallback>
                <p:oleObj r:id="rId9" imgW="2679700" imgH="444500" progId="Equation.DSMT4">
                  <p:embed/>
                  <p:pic>
                    <p:nvPicPr>
                      <p:cNvPr id="1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4437063"/>
                        <a:ext cx="3992562" cy="661987"/>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12"/>
          <p:cNvGraphicFramePr>
            <a:graphicFrameLocks noChangeAspect="1"/>
          </p:cNvGraphicFramePr>
          <p:nvPr/>
        </p:nvGraphicFramePr>
        <p:xfrm>
          <a:off x="4716463" y="5183188"/>
          <a:ext cx="2778125" cy="720725"/>
        </p:xfrm>
        <a:graphic>
          <a:graphicData uri="http://schemas.openxmlformats.org/presentationml/2006/ole">
            <mc:AlternateContent xmlns:mc="http://schemas.openxmlformats.org/markup-compatibility/2006">
              <mc:Choice xmlns:v="urn:schemas-microsoft-com:vml" Requires="v">
                <p:oleObj spid="_x0000_s28702" r:id="rId11" imgW="1663700" imgH="431800" progId="Equation.DSMT4">
                  <p:embed/>
                </p:oleObj>
              </mc:Choice>
              <mc:Fallback>
                <p:oleObj r:id="rId11" imgW="1663700" imgH="431800" progId="Equation.DSMT4">
                  <p:embed/>
                  <p:pic>
                    <p:nvPicPr>
                      <p:cNvPr id="11"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16463" y="5183188"/>
                        <a:ext cx="2778125" cy="720725"/>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3"/>
          <p:cNvGraphicFramePr>
            <a:graphicFrameLocks noChangeAspect="1"/>
          </p:cNvGraphicFramePr>
          <p:nvPr/>
        </p:nvGraphicFramePr>
        <p:xfrm>
          <a:off x="4716463" y="5973763"/>
          <a:ext cx="3455987" cy="839787"/>
        </p:xfrm>
        <a:graphic>
          <a:graphicData uri="http://schemas.openxmlformats.org/presentationml/2006/ole">
            <mc:AlternateContent xmlns:mc="http://schemas.openxmlformats.org/markup-compatibility/2006">
              <mc:Choice xmlns:v="urn:schemas-microsoft-com:vml" Requires="v">
                <p:oleObj spid="_x0000_s28703" r:id="rId13" imgW="2247900" imgH="546100" progId="Equation.DSMT4">
                  <p:embed/>
                </p:oleObj>
              </mc:Choice>
              <mc:Fallback>
                <p:oleObj r:id="rId13" imgW="2247900" imgH="546100" progId="Equation.DSMT4">
                  <p:embed/>
                  <p:pic>
                    <p:nvPicPr>
                      <p:cNvPr id="12"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6463" y="5973763"/>
                        <a:ext cx="3455987" cy="839787"/>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nvGraphicFramePr>
        <p:xfrm>
          <a:off x="2609851" y="1772589"/>
          <a:ext cx="1223962" cy="669925"/>
        </p:xfrm>
        <a:graphic>
          <a:graphicData uri="http://schemas.openxmlformats.org/presentationml/2006/ole">
            <mc:AlternateContent xmlns:mc="http://schemas.openxmlformats.org/markup-compatibility/2006">
              <mc:Choice xmlns:v="urn:schemas-microsoft-com:vml" Requires="v">
                <p:oleObj spid="_x0000_s28704" r:id="rId15" imgW="812520" imgH="444240" progId="Equation.3">
                  <p:embed/>
                </p:oleObj>
              </mc:Choice>
              <mc:Fallback>
                <p:oleObj r:id="rId15" imgW="812520" imgH="444240" progId="Equation.3">
                  <p:embed/>
                  <p:pic>
                    <p:nvPicPr>
                      <p:cNvPr id="6"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09851" y="1772589"/>
                        <a:ext cx="122396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34" name="对象 16">
            <a:hlinkClick r:id="" action="ppaction://ole?verb=1"/>
          </p:cNvPr>
          <p:cNvGraphicFramePr>
            <a:graphicFrameLocks noChangeAspect="1"/>
          </p:cNvGraphicFramePr>
          <p:nvPr/>
        </p:nvGraphicFramePr>
        <p:xfrm>
          <a:off x="7667625" y="1738313"/>
          <a:ext cx="914400" cy="215900"/>
        </p:xfrm>
        <a:graphic>
          <a:graphicData uri="http://schemas.openxmlformats.org/presentationml/2006/ole">
            <mc:AlternateContent xmlns:mc="http://schemas.openxmlformats.org/markup-compatibility/2006">
              <mc:Choice xmlns:v="urn:schemas-microsoft-com:vml" Requires="v">
                <p:oleObj spid="_x0000_s28705" r:id="rId17" imgW="914400" imgH="215640" progId="Equation.KSEE3">
                  <p:embed/>
                </p:oleObj>
              </mc:Choice>
              <mc:Fallback>
                <p:oleObj r:id="rId17" imgW="914400" imgH="215640" progId="Equation.KSEE3">
                  <p:embed/>
                  <p:pic>
                    <p:nvPicPr>
                      <p:cNvPr id="5134" name="对象 16">
                        <a:hlinkClick r:id="" action="ppaction://ole?verb=1"/>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67625" y="1738313"/>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灯片编号占位符 3">
            <a:extLst>
              <a:ext uri="{FF2B5EF4-FFF2-40B4-BE49-F238E27FC236}">
                <a16:creationId xmlns:a16="http://schemas.microsoft.com/office/drawing/2014/main" id="{3E9120CD-8C78-41B7-8863-A0F0C2B88192}"/>
              </a:ext>
            </a:extLst>
          </p:cNvPr>
          <p:cNvSpPr>
            <a:spLocks noGrp="1"/>
          </p:cNvSpPr>
          <p:nvPr>
            <p:ph type="sldNum" sz="quarter" idx="12"/>
          </p:nvPr>
        </p:nvSpPr>
        <p:spPr/>
        <p:txBody>
          <a:bodyPr/>
          <a:lstStyle/>
          <a:p>
            <a:pPr>
              <a:defRPr/>
            </a:pPr>
            <a:fld id="{2AE1B59C-883C-4848-BC85-9A12DF2590B2}" type="slidenum">
              <a:rPr lang="en-US" altLang="zh-CN" smtClean="0"/>
              <a:t>63</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fade">
                                      <p:cBhvr>
                                        <p:cTn id="12" dur="1000"/>
                                        <p:tgtEl>
                                          <p:spTgt spid="19461"/>
                                        </p:tgtEl>
                                      </p:cBhvr>
                                    </p:animEffect>
                                    <p:anim calcmode="lin" valueType="num">
                                      <p:cBhvr>
                                        <p:cTn id="13" dur="1000" fill="hold"/>
                                        <p:tgtEl>
                                          <p:spTgt spid="19461"/>
                                        </p:tgtEl>
                                        <p:attrNameLst>
                                          <p:attrName>ppt_x</p:attrName>
                                        </p:attrNameLst>
                                      </p:cBhvr>
                                      <p:tavLst>
                                        <p:tav tm="0">
                                          <p:val>
                                            <p:strVal val="#ppt_x"/>
                                          </p:val>
                                        </p:tav>
                                        <p:tav tm="100000">
                                          <p:val>
                                            <p:strVal val="#ppt_x"/>
                                          </p:val>
                                        </p:tav>
                                      </p:tavLst>
                                    </p:anim>
                                    <p:anim calcmode="lin" valueType="num">
                                      <p:cBhvr>
                                        <p:cTn id="14" dur="1000" fill="hold"/>
                                        <p:tgtEl>
                                          <p:spTgt spid="19461"/>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dissolve">
                                      <p:cBhvr>
                                        <p:cTn id="19" dur="500"/>
                                        <p:tgtEl>
                                          <p:spTgt spid="5">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dissolve">
                                      <p:cBhvr>
                                        <p:cTn id="24" dur="500"/>
                                        <p:tgtEl>
                                          <p:spTgt spid="5">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Effect transition="in" filter="dissolve">
                                      <p:cBhvr>
                                        <p:cTn id="29" dur="500"/>
                                        <p:tgtEl>
                                          <p:spTgt spid="5">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dissolve">
                                      <p:cBhvr>
                                        <p:cTn id="41" dur="5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3">
                                            <p:txEl>
                                              <p:pRg st="0" end="0"/>
                                            </p:txEl>
                                          </p:spTgt>
                                        </p:tgtEl>
                                        <p:attrNameLst>
                                          <p:attrName>style.visibility</p:attrName>
                                        </p:attrNameLst>
                                      </p:cBhvr>
                                      <p:to>
                                        <p:strVal val="visible"/>
                                      </p:to>
                                    </p:set>
                                    <p:animEffect transition="in" filter="dissolve">
                                      <p:cBhvr>
                                        <p:cTn id="46" dur="500"/>
                                        <p:tgtEl>
                                          <p:spTgt spid="3">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2" presetClass="entr" presetSubtype="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1000"/>
                                        <p:tgtEl>
                                          <p:spTgt spid="7"/>
                                        </p:tgtEl>
                                      </p:cBhvr>
                                    </p:animEffect>
                                    <p:anim calcmode="lin" valueType="num">
                                      <p:cBhvr>
                                        <p:cTn id="52" dur="1000" fill="hold"/>
                                        <p:tgtEl>
                                          <p:spTgt spid="7"/>
                                        </p:tgtEl>
                                        <p:attrNameLst>
                                          <p:attrName>ppt_x</p:attrName>
                                        </p:attrNameLst>
                                      </p:cBhvr>
                                      <p:tavLst>
                                        <p:tav tm="0">
                                          <p:val>
                                            <p:strVal val="#ppt_x"/>
                                          </p:val>
                                        </p:tav>
                                        <p:tav tm="100000">
                                          <p:val>
                                            <p:strVal val="#ppt_x"/>
                                          </p:val>
                                        </p:tav>
                                      </p:tavLst>
                                    </p:anim>
                                    <p:anim calcmode="lin" valueType="num">
                                      <p:cBhvr>
                                        <p:cTn id="5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3">
                                            <p:txEl>
                                              <p:pRg st="2" end="2"/>
                                            </p:txEl>
                                          </p:spTgt>
                                        </p:tgtEl>
                                        <p:attrNameLst>
                                          <p:attrName>style.visibility</p:attrName>
                                        </p:attrNameLst>
                                      </p:cBhvr>
                                      <p:to>
                                        <p:strVal val="visible"/>
                                      </p:to>
                                    </p:set>
                                    <p:animEffect transition="in" filter="dissolve">
                                      <p:cBhvr>
                                        <p:cTn id="58" dur="500"/>
                                        <p:tgtEl>
                                          <p:spTgt spid="3">
                                            <p:txEl>
                                              <p:pRg st="2" end="2"/>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2"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1000"/>
                                        <p:tgtEl>
                                          <p:spTgt spid="8"/>
                                        </p:tgtEl>
                                      </p:cBhvr>
                                    </p:animEffect>
                                    <p:anim calcmode="lin" valueType="num">
                                      <p:cBhvr>
                                        <p:cTn id="64" dur="1000" fill="hold"/>
                                        <p:tgtEl>
                                          <p:spTgt spid="8"/>
                                        </p:tgtEl>
                                        <p:attrNameLst>
                                          <p:attrName>ppt_x</p:attrName>
                                        </p:attrNameLst>
                                      </p:cBhvr>
                                      <p:tavLst>
                                        <p:tav tm="0">
                                          <p:val>
                                            <p:strVal val="#ppt_x"/>
                                          </p:val>
                                        </p:tav>
                                        <p:tav tm="100000">
                                          <p:val>
                                            <p:strVal val="#ppt_x"/>
                                          </p:val>
                                        </p:tav>
                                      </p:tavLst>
                                    </p:anim>
                                    <p:anim calcmode="lin" valueType="num">
                                      <p:cBhvr>
                                        <p:cTn id="6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1000"/>
                                        <p:tgtEl>
                                          <p:spTgt spid="10"/>
                                        </p:tgtEl>
                                      </p:cBhvr>
                                    </p:animEffect>
                                    <p:anim calcmode="lin" valueType="num">
                                      <p:cBhvr>
                                        <p:cTn id="75" dur="1000" fill="hold"/>
                                        <p:tgtEl>
                                          <p:spTgt spid="10"/>
                                        </p:tgtEl>
                                        <p:attrNameLst>
                                          <p:attrName>ppt_x</p:attrName>
                                        </p:attrNameLst>
                                      </p:cBhvr>
                                      <p:tavLst>
                                        <p:tav tm="0">
                                          <p:val>
                                            <p:strVal val="#ppt_x"/>
                                          </p:val>
                                        </p:tav>
                                        <p:tav tm="100000">
                                          <p:val>
                                            <p:strVal val="#ppt_x"/>
                                          </p:val>
                                        </p:tav>
                                      </p:tavLst>
                                    </p:anim>
                                    <p:anim calcmode="lin" valueType="num">
                                      <p:cBhvr>
                                        <p:cTn id="7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42" presetClass="entr" presetSubtype="0" fill="hold" nodeType="click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fade">
                                      <p:cBhvr>
                                        <p:cTn id="81" dur="1000"/>
                                        <p:tgtEl>
                                          <p:spTgt spid="11"/>
                                        </p:tgtEl>
                                      </p:cBhvr>
                                    </p:animEffect>
                                    <p:anim calcmode="lin" valueType="num">
                                      <p:cBhvr>
                                        <p:cTn id="82" dur="1000" fill="hold"/>
                                        <p:tgtEl>
                                          <p:spTgt spid="11"/>
                                        </p:tgtEl>
                                        <p:attrNameLst>
                                          <p:attrName>ppt_x</p:attrName>
                                        </p:attrNameLst>
                                      </p:cBhvr>
                                      <p:tavLst>
                                        <p:tav tm="0">
                                          <p:val>
                                            <p:strVal val="#ppt_x"/>
                                          </p:val>
                                        </p:tav>
                                        <p:tav tm="100000">
                                          <p:val>
                                            <p:strVal val="#ppt_x"/>
                                          </p:val>
                                        </p:tav>
                                      </p:tavLst>
                                    </p:anim>
                                    <p:anim calcmode="lin" valueType="num">
                                      <p:cBhvr>
                                        <p:cTn id="8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42" presetClass="entr" presetSubtype="0" fill="hold" nodeType="clickEffect">
                                  <p:stCondLst>
                                    <p:cond delay="0"/>
                                  </p:stCondLst>
                                  <p:childTnLst>
                                    <p:set>
                                      <p:cBhvr>
                                        <p:cTn id="87" dur="1" fill="hold">
                                          <p:stCondLst>
                                            <p:cond delay="0"/>
                                          </p:stCondLst>
                                        </p:cTn>
                                        <p:tgtEl>
                                          <p:spTgt spid="12"/>
                                        </p:tgtEl>
                                        <p:attrNameLst>
                                          <p:attrName>style.visibility</p:attrName>
                                        </p:attrNameLst>
                                      </p:cBhvr>
                                      <p:to>
                                        <p:strVal val="visible"/>
                                      </p:to>
                                    </p:set>
                                    <p:animEffect transition="in" filter="fade">
                                      <p:cBhvr>
                                        <p:cTn id="88" dur="1000"/>
                                        <p:tgtEl>
                                          <p:spTgt spid="12"/>
                                        </p:tgtEl>
                                      </p:cBhvr>
                                    </p:animEffect>
                                    <p:anim calcmode="lin" valueType="num">
                                      <p:cBhvr>
                                        <p:cTn id="89" dur="1000" fill="hold"/>
                                        <p:tgtEl>
                                          <p:spTgt spid="12"/>
                                        </p:tgtEl>
                                        <p:attrNameLst>
                                          <p:attrName>ppt_x</p:attrName>
                                        </p:attrNameLst>
                                      </p:cBhvr>
                                      <p:tavLst>
                                        <p:tav tm="0">
                                          <p:val>
                                            <p:strVal val="#ppt_x"/>
                                          </p:val>
                                        </p:tav>
                                        <p:tav tm="100000">
                                          <p:val>
                                            <p:strVal val="#ppt_x"/>
                                          </p:val>
                                        </p:tav>
                                      </p:tavLst>
                                    </p:anim>
                                    <p:anim calcmode="lin" valueType="num">
                                      <p:cBhvr>
                                        <p:cTn id="9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txBox="1">
            <a:spLocks noChangeArrowheads="1"/>
          </p:cNvSpPr>
          <p:nvPr/>
        </p:nvSpPr>
        <p:spPr bwMode="auto">
          <a:xfrm>
            <a:off x="0" y="0"/>
            <a:ext cx="9144000" cy="9810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rPr>
              <a:t>由于总的产量大于销量</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就要考虑多余的物资在哪一个产地就地储存的问题。</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设</a:t>
            </a:r>
            <a:r>
              <a:rPr lang="en-US" altLang="zh-CN" b="1" i="1" dirty="0">
                <a:latin typeface="Times New Roman" panose="02020603050405020304" pitchFamily="18" charset="0"/>
                <a:ea typeface="微软雅黑" panose="020B0503020204020204" pitchFamily="34" charset="-122"/>
              </a:rPr>
              <a:t>x</a:t>
            </a:r>
            <a:r>
              <a:rPr lang="en-US" altLang="zh-CN" b="1" i="1" baseline="-30000" dirty="0">
                <a:latin typeface="Times New Roman" panose="02020603050405020304" pitchFamily="18" charset="0"/>
                <a:ea typeface="微软雅黑" panose="020B0503020204020204" pitchFamily="34" charset="-122"/>
              </a:rPr>
              <a:t>i</a:t>
            </a:r>
            <a:r>
              <a:rPr lang="en-US" altLang="zh-CN" sz="2000" b="1" baseline="-25000" dirty="0">
                <a:latin typeface="Times New Roman" panose="02020603050405020304" pitchFamily="18" charset="0"/>
                <a:ea typeface="微软雅黑" panose="020B0503020204020204" pitchFamily="34" charset="-122"/>
              </a:rPr>
              <a:t>, </a:t>
            </a:r>
            <a:r>
              <a:rPr lang="en-US" altLang="zh-CN" b="1" i="1" baseline="-30000" dirty="0">
                <a:latin typeface="Times New Roman" panose="02020603050405020304" pitchFamily="18" charset="0"/>
                <a:ea typeface="微软雅黑" panose="020B0503020204020204" pitchFamily="34" charset="-122"/>
              </a:rPr>
              <a:t>n+</a:t>
            </a:r>
            <a:r>
              <a:rPr lang="en-US" altLang="zh-CN" b="1" baseline="-30000" dirty="0">
                <a:latin typeface="Times New Roman" panose="02020603050405020304" pitchFamily="18" charset="0"/>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是产地</a:t>
            </a:r>
            <a:r>
              <a:rPr lang="en-US" altLang="zh-CN" b="1" i="1" dirty="0">
                <a:latin typeface="Times New Roman" panose="02020603050405020304" pitchFamily="18" charset="0"/>
                <a:ea typeface="微软雅黑" panose="020B0503020204020204" pitchFamily="34" charset="-122"/>
              </a:rPr>
              <a:t>A</a:t>
            </a:r>
            <a:r>
              <a:rPr lang="en-US" altLang="zh-CN" b="1" i="1" baseline="-30000" dirty="0">
                <a:latin typeface="Times New Roman" panose="02020603050405020304" pitchFamily="18" charset="0"/>
                <a:ea typeface="微软雅黑" panose="020B0503020204020204" pitchFamily="34" charset="-122"/>
              </a:rPr>
              <a:t>i </a:t>
            </a:r>
            <a:r>
              <a:rPr lang="zh-CN" altLang="en-US" b="1" dirty="0">
                <a:latin typeface="微软雅黑" panose="020B0503020204020204" pitchFamily="34" charset="-122"/>
                <a:ea typeface="微软雅黑" panose="020B0503020204020204" pitchFamily="34" charset="-122"/>
              </a:rPr>
              <a:t>的储存量</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于是有</a:t>
            </a:r>
            <a:endParaRPr lang="zh-CN" altLang="en-US" sz="3600" dirty="0">
              <a:latin typeface="Times New Roman" panose="02020603050405020304" pitchFamily="18" charset="0"/>
              <a:ea typeface="微软雅黑" panose="020B0503020204020204" pitchFamily="34" charset="-122"/>
            </a:endParaRPr>
          </a:p>
        </p:txBody>
      </p:sp>
      <p:graphicFrame>
        <p:nvGraphicFramePr>
          <p:cNvPr id="6147" name="Object 2"/>
          <p:cNvGraphicFramePr>
            <a:graphicFrameLocks noChangeAspect="1"/>
          </p:cNvGraphicFramePr>
          <p:nvPr/>
        </p:nvGraphicFramePr>
        <p:xfrm>
          <a:off x="2341563" y="1035050"/>
          <a:ext cx="3992562" cy="661988"/>
        </p:xfrm>
        <a:graphic>
          <a:graphicData uri="http://schemas.openxmlformats.org/presentationml/2006/ole">
            <mc:AlternateContent xmlns:mc="http://schemas.openxmlformats.org/markup-compatibility/2006">
              <mc:Choice xmlns:v="urn:schemas-microsoft-com:vml" Requires="v">
                <p:oleObj spid="_x0000_s29722" r:id="rId3" imgW="2679700" imgH="444500" progId="Equation.DSMT4">
                  <p:embed/>
                </p:oleObj>
              </mc:Choice>
              <mc:Fallback>
                <p:oleObj r:id="rId3" imgW="2679700" imgH="444500" progId="Equation.DSMT4">
                  <p:embed/>
                  <p:pic>
                    <p:nvPicPr>
                      <p:cNvPr id="614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1563" y="1035050"/>
                        <a:ext cx="3992562" cy="661988"/>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8" name="Object 3"/>
          <p:cNvGraphicFramePr>
            <a:graphicFrameLocks noChangeAspect="1"/>
          </p:cNvGraphicFramePr>
          <p:nvPr/>
        </p:nvGraphicFramePr>
        <p:xfrm>
          <a:off x="1201738" y="1846263"/>
          <a:ext cx="2778125" cy="722312"/>
        </p:xfrm>
        <a:graphic>
          <a:graphicData uri="http://schemas.openxmlformats.org/presentationml/2006/ole">
            <mc:AlternateContent xmlns:mc="http://schemas.openxmlformats.org/markup-compatibility/2006">
              <mc:Choice xmlns:v="urn:schemas-microsoft-com:vml" Requires="v">
                <p:oleObj spid="_x0000_s29723" r:id="rId5" imgW="1663700" imgH="431800" progId="Equation.DSMT4">
                  <p:embed/>
                </p:oleObj>
              </mc:Choice>
              <mc:Fallback>
                <p:oleObj r:id="rId5" imgW="1663700" imgH="431800" progId="Equation.DSMT4">
                  <p:embed/>
                  <p:pic>
                    <p:nvPicPr>
                      <p:cNvPr id="6148"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1738" y="1846263"/>
                        <a:ext cx="2778125" cy="722312"/>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9" name="Object 4"/>
          <p:cNvGraphicFramePr>
            <a:graphicFrameLocks noChangeAspect="1"/>
          </p:cNvGraphicFramePr>
          <p:nvPr/>
        </p:nvGraphicFramePr>
        <p:xfrm>
          <a:off x="4211638" y="1773238"/>
          <a:ext cx="3455987" cy="839787"/>
        </p:xfrm>
        <a:graphic>
          <a:graphicData uri="http://schemas.openxmlformats.org/presentationml/2006/ole">
            <mc:AlternateContent xmlns:mc="http://schemas.openxmlformats.org/markup-compatibility/2006">
              <mc:Choice xmlns:v="urn:schemas-microsoft-com:vml" Requires="v">
                <p:oleObj spid="_x0000_s29724" r:id="rId7" imgW="2247900" imgH="546100" progId="Equation.3">
                  <p:embed/>
                </p:oleObj>
              </mc:Choice>
              <mc:Fallback>
                <p:oleObj r:id="rId7" imgW="2247900" imgH="546100" progId="Equation.3">
                  <p:embed/>
                  <p:pic>
                    <p:nvPicPr>
                      <p:cNvPr id="6149"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1773238"/>
                        <a:ext cx="3455987" cy="839787"/>
                      </a:xfrm>
                      <a:prstGeom prst="rect">
                        <a:avLst/>
                      </a:prstGeom>
                      <a:solidFill>
                        <a:srgbClr val="B3F1F7"/>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Rectangle 2"/>
          <p:cNvSpPr txBox="1">
            <a:spLocks noChangeArrowheads="1"/>
          </p:cNvSpPr>
          <p:nvPr/>
        </p:nvSpPr>
        <p:spPr bwMode="auto">
          <a:xfrm>
            <a:off x="0" y="2636838"/>
            <a:ext cx="9144000" cy="11525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Times New Roman" panose="02020603050405020304" pitchFamily="18" charset="0"/>
                <a:ea typeface="微软雅黑" panose="020B0503020204020204" pitchFamily="34" charset="-122"/>
              </a:rPr>
              <a:t>令：</a:t>
            </a:r>
          </a:p>
          <a:p>
            <a:endParaRPr lang="zh-CN" altLang="en-US" b="1">
              <a:latin typeface="Times New Roman" panose="02020603050405020304" pitchFamily="18" charset="0"/>
              <a:ea typeface="微软雅黑" panose="020B0503020204020204" pitchFamily="34" charset="-122"/>
            </a:endParaRPr>
          </a:p>
          <a:p>
            <a:endParaRPr lang="zh-CN" altLang="en-US" b="1">
              <a:latin typeface="Times New Roman" panose="02020603050405020304" pitchFamily="18" charset="0"/>
              <a:ea typeface="微软雅黑" panose="020B0503020204020204" pitchFamily="34" charset="-122"/>
            </a:endParaRPr>
          </a:p>
        </p:txBody>
      </p:sp>
      <p:graphicFrame>
        <p:nvGraphicFramePr>
          <p:cNvPr id="10" name="Object 11"/>
          <p:cNvGraphicFramePr>
            <a:graphicFrameLocks noChangeAspect="1"/>
          </p:cNvGraphicFramePr>
          <p:nvPr/>
        </p:nvGraphicFramePr>
        <p:xfrm>
          <a:off x="1116013" y="3341688"/>
          <a:ext cx="936625" cy="446087"/>
        </p:xfrm>
        <a:graphic>
          <a:graphicData uri="http://schemas.openxmlformats.org/presentationml/2006/ole">
            <mc:AlternateContent xmlns:mc="http://schemas.openxmlformats.org/markup-compatibility/2006">
              <mc:Choice xmlns:v="urn:schemas-microsoft-com:vml" Requires="v">
                <p:oleObj spid="_x0000_s29725" r:id="rId9" imgW="508000" imgH="241300" progId="Equation.DSMT4">
                  <p:embed/>
                </p:oleObj>
              </mc:Choice>
              <mc:Fallback>
                <p:oleObj r:id="rId9" imgW="508000" imgH="241300" progId="Equation.DSMT4">
                  <p:embed/>
                  <p:pic>
                    <p:nvPicPr>
                      <p:cNvPr id="1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3341688"/>
                        <a:ext cx="93662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2339975" y="2636838"/>
            <a:ext cx="6804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ea typeface="微软雅黑" panose="020B0503020204020204" pitchFamily="34" charset="-122"/>
              </a:rPr>
              <a:t>  </a:t>
            </a:r>
            <a:r>
              <a:rPr lang="zh-CN" altLang="en-US" b="1">
                <a:latin typeface="Times New Roman" panose="02020603050405020304" pitchFamily="18" charset="0"/>
                <a:ea typeface="微软雅黑" panose="020B0503020204020204" pitchFamily="34" charset="-122"/>
              </a:rPr>
              <a:t>当 </a:t>
            </a:r>
            <a:r>
              <a:rPr lang="en-US" altLang="zh-CN" i="1">
                <a:latin typeface="Times New Roman" panose="02020603050405020304" pitchFamily="18" charset="0"/>
                <a:ea typeface="微软雅黑" panose="020B0503020204020204" pitchFamily="34" charset="-122"/>
              </a:rPr>
              <a:t>i=</a:t>
            </a:r>
            <a:r>
              <a:rPr lang="en-US" altLang="zh-CN">
                <a:latin typeface="Times New Roman" panose="02020603050405020304" pitchFamily="18" charset="0"/>
                <a:ea typeface="微软雅黑" panose="020B0503020204020204" pitchFamily="34" charset="-122"/>
              </a:rPr>
              <a:t>1</a:t>
            </a:r>
            <a:r>
              <a:rPr lang="zh-CN" altLang="en-US">
                <a:latin typeface="仿宋" panose="02010609060101010101" pitchFamily="49" charset="-122"/>
                <a:ea typeface="仿宋" panose="02010609060101010101" pitchFamily="49" charset="-122"/>
              </a:rPr>
              <a:t>，</a:t>
            </a:r>
            <a:r>
              <a:rPr lang="en-US" altLang="zh-CN">
                <a:latin typeface="Times New Roman" panose="02020603050405020304" pitchFamily="18" charset="0"/>
                <a:ea typeface="微软雅黑" panose="020B0503020204020204" pitchFamily="34" charset="-122"/>
              </a:rPr>
              <a:t>2</a:t>
            </a:r>
            <a:r>
              <a:rPr lang="zh-CN" altLang="en-US">
                <a:latin typeface="仿宋" panose="02010609060101010101" pitchFamily="49" charset="-122"/>
                <a:ea typeface="仿宋" panose="02010609060101010101" pitchFamily="49" charset="-122"/>
              </a:rPr>
              <a:t>，</a:t>
            </a:r>
            <a:r>
              <a:rPr lang="zh-CN" altLang="en-US" i="1">
                <a:latin typeface="Times New Roman" panose="02020603050405020304" pitchFamily="18" charset="0"/>
                <a:ea typeface="微软雅黑" panose="020B0503020204020204" pitchFamily="34" charset="-122"/>
              </a:rPr>
              <a:t> </a:t>
            </a:r>
            <a:r>
              <a:rPr lang="en-US" altLang="zh-CN" i="1">
                <a:latin typeface="Times New Roman" panose="02020603050405020304" pitchFamily="18" charset="0"/>
                <a:ea typeface="微软雅黑" panose="020B0503020204020204" pitchFamily="34" charset="-122"/>
              </a:rPr>
              <a:t>…</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m</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j=</a:t>
            </a:r>
            <a:r>
              <a:rPr lang="en-US" altLang="zh-CN">
                <a:latin typeface="Times New Roman" panose="02020603050405020304" pitchFamily="18" charset="0"/>
                <a:ea typeface="微软雅黑" panose="020B0503020204020204" pitchFamily="34" charset="-122"/>
              </a:rPr>
              <a:t>1</a:t>
            </a:r>
            <a:r>
              <a:rPr lang="zh-CN" altLang="en-US">
                <a:latin typeface="仿宋" panose="02010609060101010101" pitchFamily="49" charset="-122"/>
                <a:ea typeface="仿宋" panose="02010609060101010101" pitchFamily="49" charset="-122"/>
              </a:rPr>
              <a:t>，</a:t>
            </a:r>
            <a:r>
              <a:rPr lang="en-US" altLang="zh-CN">
                <a:latin typeface="Times New Roman" panose="02020603050405020304" pitchFamily="18" charset="0"/>
                <a:ea typeface="微软雅黑" panose="020B0503020204020204" pitchFamily="34" charset="-122"/>
              </a:rPr>
              <a:t>2</a:t>
            </a:r>
            <a:r>
              <a:rPr lang="zh-CN" altLang="en-US">
                <a:latin typeface="仿宋" panose="02010609060101010101" pitchFamily="49" charset="-122"/>
                <a:ea typeface="仿宋" panose="02010609060101010101" pitchFamily="49" charset="-122"/>
              </a:rPr>
              <a:t>，</a:t>
            </a:r>
            <a:r>
              <a:rPr lang="zh-CN" altLang="en-US" i="1">
                <a:latin typeface="Times New Roman" panose="02020603050405020304" pitchFamily="18" charset="0"/>
                <a:ea typeface="微软雅黑" panose="020B0503020204020204" pitchFamily="34" charset="-122"/>
              </a:rPr>
              <a:t> </a:t>
            </a:r>
            <a:r>
              <a:rPr lang="en-US" altLang="zh-CN" i="1">
                <a:latin typeface="Times New Roman" panose="02020603050405020304" pitchFamily="18" charset="0"/>
                <a:ea typeface="微软雅黑" panose="020B0503020204020204" pitchFamily="34" charset="-122"/>
              </a:rPr>
              <a:t>…</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n </a:t>
            </a:r>
            <a:r>
              <a:rPr lang="zh-CN" altLang="en-US" b="1">
                <a:latin typeface="Times New Roman" panose="02020603050405020304" pitchFamily="18" charset="0"/>
                <a:ea typeface="微软雅黑" panose="020B0503020204020204" pitchFamily="34" charset="-122"/>
              </a:rPr>
              <a:t>时</a:t>
            </a:r>
            <a:r>
              <a:rPr lang="zh-CN" altLang="en-US">
                <a:latin typeface="Times New Roman" panose="02020603050405020304" pitchFamily="18" charset="0"/>
                <a:ea typeface="微软雅黑" panose="020B0503020204020204" pitchFamily="34" charset="-122"/>
              </a:rPr>
              <a:t> </a:t>
            </a:r>
          </a:p>
        </p:txBody>
      </p:sp>
      <p:sp>
        <p:nvSpPr>
          <p:cNvPr id="8" name="Rectangle 8"/>
          <p:cNvSpPr>
            <a:spLocks noChangeArrowheads="1"/>
          </p:cNvSpPr>
          <p:nvPr/>
        </p:nvSpPr>
        <p:spPr bwMode="auto">
          <a:xfrm>
            <a:off x="2568575" y="3332163"/>
            <a:ext cx="6575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latin typeface="Times New Roman" panose="02020603050405020304" pitchFamily="18" charset="0"/>
                <a:ea typeface="微软雅黑" panose="020B0503020204020204" pitchFamily="34" charset="-122"/>
              </a:rPr>
              <a:t>当 </a:t>
            </a:r>
            <a:r>
              <a:rPr lang="en-US" altLang="zh-CN" i="1">
                <a:latin typeface="Times New Roman" panose="02020603050405020304" pitchFamily="18" charset="0"/>
                <a:ea typeface="微软雅黑" panose="020B0503020204020204" pitchFamily="34" charset="-122"/>
              </a:rPr>
              <a:t>i=</a:t>
            </a:r>
            <a:r>
              <a:rPr lang="en-US" altLang="zh-CN">
                <a:latin typeface="Times New Roman" panose="02020603050405020304" pitchFamily="18" charset="0"/>
                <a:ea typeface="微软雅黑" panose="020B0503020204020204" pitchFamily="34" charset="-122"/>
              </a:rPr>
              <a:t>1</a:t>
            </a:r>
            <a:r>
              <a:rPr lang="zh-CN" altLang="en-US">
                <a:latin typeface="仿宋" panose="02010609060101010101" pitchFamily="49" charset="-122"/>
                <a:ea typeface="仿宋" panose="02010609060101010101" pitchFamily="49" charset="-122"/>
              </a:rPr>
              <a:t>，</a:t>
            </a:r>
            <a:r>
              <a:rPr lang="en-US" altLang="zh-CN">
                <a:latin typeface="Times New Roman" panose="02020603050405020304" pitchFamily="18" charset="0"/>
                <a:ea typeface="微软雅黑" panose="020B0503020204020204" pitchFamily="34" charset="-122"/>
              </a:rPr>
              <a:t>2</a:t>
            </a:r>
            <a:r>
              <a:rPr lang="zh-CN" altLang="en-US">
                <a:latin typeface="仿宋" panose="02010609060101010101" pitchFamily="49" charset="-122"/>
                <a:ea typeface="仿宋" panose="02010609060101010101" pitchFamily="49" charset="-122"/>
              </a:rPr>
              <a:t>，</a:t>
            </a:r>
            <a:r>
              <a:rPr lang="zh-CN" altLang="en-US" i="1">
                <a:latin typeface="Times New Roman" panose="02020603050405020304" pitchFamily="18" charset="0"/>
                <a:ea typeface="微软雅黑" panose="020B0503020204020204" pitchFamily="34" charset="-122"/>
              </a:rPr>
              <a:t> </a:t>
            </a:r>
            <a:r>
              <a:rPr lang="en-US" altLang="zh-CN" i="1">
                <a:latin typeface="Times New Roman" panose="02020603050405020304" pitchFamily="18" charset="0"/>
                <a:ea typeface="微软雅黑" panose="020B0503020204020204" pitchFamily="34" charset="-122"/>
              </a:rPr>
              <a:t>…</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m</a:t>
            </a:r>
            <a:r>
              <a:rPr lang="zh-CN" altLang="en-US">
                <a:latin typeface="仿宋" panose="02010609060101010101" pitchFamily="49" charset="-122"/>
                <a:ea typeface="仿宋" panose="02010609060101010101" pitchFamily="49" charset="-122"/>
              </a:rPr>
              <a:t>，</a:t>
            </a:r>
            <a:r>
              <a:rPr lang="en-US" altLang="zh-CN" i="1">
                <a:latin typeface="Times New Roman" panose="02020603050405020304" pitchFamily="18" charset="0"/>
                <a:ea typeface="微软雅黑" panose="020B0503020204020204" pitchFamily="34" charset="-122"/>
              </a:rPr>
              <a:t>j=n+</a:t>
            </a:r>
            <a:r>
              <a:rPr lang="en-US" altLang="zh-CN">
                <a:latin typeface="Times New Roman" panose="02020603050405020304" pitchFamily="18" charset="0"/>
                <a:ea typeface="微软雅黑" panose="020B0503020204020204" pitchFamily="34" charset="-122"/>
              </a:rPr>
              <a:t>1</a:t>
            </a:r>
            <a:r>
              <a:rPr lang="zh-CN" altLang="en-US" b="1">
                <a:latin typeface="Times New Roman" panose="02020603050405020304" pitchFamily="18" charset="0"/>
                <a:ea typeface="微软雅黑" panose="020B0503020204020204" pitchFamily="34" charset="-122"/>
              </a:rPr>
              <a:t>时</a:t>
            </a:r>
          </a:p>
        </p:txBody>
      </p:sp>
      <p:sp>
        <p:nvSpPr>
          <p:cNvPr id="11" name="Rectangle 9"/>
          <p:cNvSpPr>
            <a:spLocks noChangeArrowheads="1"/>
          </p:cNvSpPr>
          <p:nvPr/>
        </p:nvSpPr>
        <p:spPr bwMode="auto">
          <a:xfrm>
            <a:off x="0" y="3789363"/>
            <a:ext cx="9144000" cy="830262"/>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latin typeface="微软雅黑" panose="020B0503020204020204" pitchFamily="34" charset="-122"/>
                <a:ea typeface="微软雅黑" panose="020B0503020204020204" pitchFamily="34" charset="-122"/>
              </a:rPr>
              <a:t>从而得到</a:t>
            </a:r>
          </a:p>
          <a:p>
            <a:pPr algn="just" eaLnBrk="1" hangingPunct="1"/>
            <a:endParaRPr lang="zh-CN" altLang="en-US" b="1">
              <a:latin typeface="微软雅黑" panose="020B0503020204020204" pitchFamily="34" charset="-122"/>
              <a:ea typeface="微软雅黑" panose="020B0503020204020204" pitchFamily="34" charset="-122"/>
            </a:endParaRPr>
          </a:p>
        </p:txBody>
      </p:sp>
      <p:sp>
        <p:nvSpPr>
          <p:cNvPr id="12" name="Rectangle 2"/>
          <p:cNvSpPr txBox="1">
            <a:spLocks noChangeArrowheads="1"/>
          </p:cNvSpPr>
          <p:nvPr/>
        </p:nvSpPr>
        <p:spPr bwMode="auto">
          <a:xfrm>
            <a:off x="0" y="4581525"/>
            <a:ext cx="9144000" cy="2276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a:latin typeface="Century Schoolbook" panose="02040604050505020304" pitchFamily="18" charset="0"/>
                <a:ea typeface="微软雅黑" panose="020B0503020204020204" pitchFamily="34" charset="-122"/>
              </a:rPr>
              <a:t>满足：</a:t>
            </a: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a:p>
            <a:endParaRPr lang="zh-CN" altLang="en-US" b="1">
              <a:latin typeface="Century Schoolbook" panose="02040604050505020304" pitchFamily="18" charset="0"/>
              <a:ea typeface="微软雅黑" panose="020B0503020204020204" pitchFamily="34" charset="-122"/>
            </a:endParaRPr>
          </a:p>
        </p:txBody>
      </p:sp>
      <p:graphicFrame>
        <p:nvGraphicFramePr>
          <p:cNvPr id="13" name="Object 19"/>
          <p:cNvGraphicFramePr>
            <a:graphicFrameLocks noChangeAspect="1"/>
          </p:cNvGraphicFramePr>
          <p:nvPr/>
        </p:nvGraphicFramePr>
        <p:xfrm>
          <a:off x="0" y="4941888"/>
          <a:ext cx="3932238" cy="2224087"/>
        </p:xfrm>
        <a:graphic>
          <a:graphicData uri="http://schemas.openxmlformats.org/presentationml/2006/ole">
            <mc:AlternateContent xmlns:mc="http://schemas.openxmlformats.org/markup-compatibility/2006">
              <mc:Choice xmlns:v="urn:schemas-microsoft-com:vml" Requires="v">
                <p:oleObj spid="_x0000_s29726" r:id="rId11" imgW="1905000" imgH="1371600" progId="Equation.DSMT4">
                  <p:embed/>
                </p:oleObj>
              </mc:Choice>
              <mc:Fallback>
                <p:oleObj r:id="rId11" imgW="1905000" imgH="1371600" progId="Equation.DSMT4">
                  <p:embed/>
                  <p:pic>
                    <p:nvPicPr>
                      <p:cNvPr id="13"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4941888"/>
                        <a:ext cx="3932238"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Rectangle 6"/>
          <p:cNvSpPr>
            <a:spLocks noChangeArrowheads="1"/>
          </p:cNvSpPr>
          <p:nvPr/>
        </p:nvSpPr>
        <p:spPr bwMode="auto">
          <a:xfrm>
            <a:off x="4043363" y="4581525"/>
            <a:ext cx="4992687" cy="230822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b="1">
                <a:solidFill>
                  <a:schemeClr val="hlink"/>
                </a:solidFill>
                <a:latin typeface="微软雅黑" panose="020B0503020204020204" pitchFamily="34" charset="-122"/>
                <a:ea typeface="微软雅黑" panose="020B0503020204020204" pitchFamily="34" charset="-122"/>
              </a:rPr>
              <a:t>由于这个模型中</a:t>
            </a:r>
          </a:p>
          <a:p>
            <a:pPr algn="just" eaLnBrk="1" hangingPunct="1"/>
            <a:endParaRPr lang="zh-CN" altLang="en-US" b="1">
              <a:solidFill>
                <a:schemeClr val="hlink"/>
              </a:solidFill>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a:p>
            <a:pPr algn="just" eaLnBrk="1" hangingPunct="1"/>
            <a:endParaRPr lang="zh-CN" altLang="en-US" b="1">
              <a:latin typeface="微软雅黑" panose="020B0503020204020204" pitchFamily="34" charset="-122"/>
              <a:ea typeface="微软雅黑" panose="020B0503020204020204" pitchFamily="34" charset="-122"/>
            </a:endParaRPr>
          </a:p>
        </p:txBody>
      </p:sp>
      <p:graphicFrame>
        <p:nvGraphicFramePr>
          <p:cNvPr id="15" name="Object 20"/>
          <p:cNvGraphicFramePr>
            <a:graphicFrameLocks noChangeAspect="1"/>
          </p:cNvGraphicFramePr>
          <p:nvPr/>
        </p:nvGraphicFramePr>
        <p:xfrm>
          <a:off x="4572000" y="5229225"/>
          <a:ext cx="3362325" cy="984250"/>
        </p:xfrm>
        <a:graphic>
          <a:graphicData uri="http://schemas.openxmlformats.org/presentationml/2006/ole">
            <mc:AlternateContent xmlns:mc="http://schemas.openxmlformats.org/markup-compatibility/2006">
              <mc:Choice xmlns:v="urn:schemas-microsoft-com:vml" Requires="v">
                <p:oleObj spid="_x0000_s29727" r:id="rId13" imgW="1866090" imgH="545863" progId="Equation.3">
                  <p:embed/>
                </p:oleObj>
              </mc:Choice>
              <mc:Fallback>
                <p:oleObj r:id="rId13" imgW="1866090" imgH="545863" progId="Equation.3">
                  <p:embed/>
                  <p:pic>
                    <p:nvPicPr>
                      <p:cNvPr id="15"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0" y="5229225"/>
                        <a:ext cx="3362325"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Rectangle 7"/>
          <p:cNvSpPr>
            <a:spLocks noChangeArrowheads="1"/>
          </p:cNvSpPr>
          <p:nvPr/>
        </p:nvSpPr>
        <p:spPr bwMode="auto">
          <a:xfrm>
            <a:off x="3949700" y="6384925"/>
            <a:ext cx="51943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solidFill>
                  <a:schemeClr val="hlink"/>
                </a:solidFill>
                <a:latin typeface="微软雅黑" panose="020B0503020204020204" pitchFamily="34" charset="-122"/>
                <a:ea typeface="微软雅黑" panose="020B0503020204020204" pitchFamily="34" charset="-122"/>
              </a:rPr>
              <a:t>所以这是一个产销平衡的运输问题</a:t>
            </a:r>
            <a:r>
              <a:rPr lang="zh-CN" altLang="en-US" sz="2500">
                <a:latin typeface="微软雅黑" panose="020B0503020204020204" pitchFamily="34" charset="-122"/>
                <a:ea typeface="微软雅黑" panose="020B0503020204020204" pitchFamily="34" charset="-122"/>
              </a:rPr>
              <a:t> </a:t>
            </a:r>
            <a:endParaRPr lang="zh-CN" altLang="en-US" sz="4800">
              <a:latin typeface="微软雅黑" panose="020B0503020204020204" pitchFamily="34" charset="-122"/>
              <a:ea typeface="微软雅黑" panose="020B0503020204020204" pitchFamily="34" charset="-122"/>
            </a:endParaRPr>
          </a:p>
        </p:txBody>
      </p:sp>
      <p:graphicFrame>
        <p:nvGraphicFramePr>
          <p:cNvPr id="16" name="Object 16"/>
          <p:cNvGraphicFramePr>
            <a:graphicFrameLocks noChangeAspect="1"/>
          </p:cNvGraphicFramePr>
          <p:nvPr/>
        </p:nvGraphicFramePr>
        <p:xfrm>
          <a:off x="1279525" y="3857625"/>
          <a:ext cx="6870700" cy="795338"/>
        </p:xfrm>
        <a:graphic>
          <a:graphicData uri="http://schemas.openxmlformats.org/presentationml/2006/ole">
            <mc:AlternateContent xmlns:mc="http://schemas.openxmlformats.org/markup-compatibility/2006">
              <mc:Choice xmlns:v="urn:schemas-microsoft-com:vml" Requires="v">
                <p:oleObj spid="_x0000_s29728" r:id="rId15" imgW="3835400" imgH="444500" progId="Equation.DSMT4">
                  <p:embed/>
                </p:oleObj>
              </mc:Choice>
              <mc:Fallback>
                <p:oleObj r:id="rId15" imgW="3835400" imgH="444500" progId="Equation.DSMT4">
                  <p:embed/>
                  <p:pic>
                    <p:nvPicPr>
                      <p:cNvPr id="16"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9525" y="3857625"/>
                        <a:ext cx="6870700"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11"/>
          <p:cNvGraphicFramePr>
            <a:graphicFrameLocks noChangeAspect="1"/>
          </p:cNvGraphicFramePr>
          <p:nvPr/>
        </p:nvGraphicFramePr>
        <p:xfrm>
          <a:off x="984250" y="2708275"/>
          <a:ext cx="1054100" cy="446088"/>
        </p:xfrm>
        <a:graphic>
          <a:graphicData uri="http://schemas.openxmlformats.org/presentationml/2006/ole">
            <mc:AlternateContent xmlns:mc="http://schemas.openxmlformats.org/markup-compatibility/2006">
              <mc:Choice xmlns:v="urn:schemas-microsoft-com:vml" Requires="v">
                <p:oleObj spid="_x0000_s29729" r:id="rId17" imgW="571252" imgH="241195" progId="Equation.DSMT4">
                  <p:embed/>
                </p:oleObj>
              </mc:Choice>
              <mc:Fallback>
                <p:oleObj r:id="rId17" imgW="571252" imgH="241195" progId="Equation.DSMT4">
                  <p:embed/>
                  <p:pic>
                    <p:nvPicPr>
                      <p:cNvPr id="2"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4250" y="2708275"/>
                        <a:ext cx="10541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灯片编号占位符 2">
            <a:extLst>
              <a:ext uri="{FF2B5EF4-FFF2-40B4-BE49-F238E27FC236}">
                <a16:creationId xmlns:a16="http://schemas.microsoft.com/office/drawing/2014/main" id="{84314470-95D0-4E7E-B8F7-BD23FE12CF40}"/>
              </a:ext>
            </a:extLst>
          </p:cNvPr>
          <p:cNvSpPr>
            <a:spLocks noGrp="1"/>
          </p:cNvSpPr>
          <p:nvPr>
            <p:ph type="sldNum" sz="quarter" idx="12"/>
          </p:nvPr>
        </p:nvSpPr>
        <p:spPr/>
        <p:txBody>
          <a:bodyPr/>
          <a:lstStyle/>
          <a:p>
            <a:pPr>
              <a:defRPr/>
            </a:pPr>
            <a:fld id="{2AE1B59C-883C-4848-BC85-9A12DF2590B2}" type="slidenum">
              <a:rPr lang="en-US" altLang="zh-CN" smtClean="0"/>
              <a:t>64</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dissolve">
                                      <p:cBhvr>
                                        <p:cTn id="40" dur="500"/>
                                        <p:tgtEl>
                                          <p:spTgt spid="1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2"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2"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ppt_x</p:attrName>
                                        </p:attrNameLst>
                                      </p:cBhvr>
                                      <p:tavLst>
                                        <p:tav tm="0">
                                          <p:val>
                                            <p:strVal val="#ppt_x"/>
                                          </p:val>
                                        </p:tav>
                                        <p:tav tm="100000">
                                          <p:val>
                                            <p:strVal val="#ppt_x"/>
                                          </p:val>
                                        </p:tav>
                                      </p:tavLst>
                                    </p:anim>
                                    <p:anim calcmode="lin" valueType="num">
                                      <p:cBhvr>
                                        <p:cTn id="5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dissolve">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P spid="8" grpId="0"/>
      <p:bldP spid="11" grpId="0" animBg="1"/>
      <p:bldP spid="12" grpId="0" animBg="1"/>
      <p:bldP spid="14" grpId="0" animBg="1"/>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6"/>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7171" name="Line 7"/>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7172" name="Line 8"/>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7173" name="Line 9"/>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7174" name="Text Box 10"/>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7175" name="Text Box 11"/>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7176" name="Text Box 12"/>
          <p:cNvSpPr txBox="1">
            <a:spLocks noChangeArrowheads="1"/>
          </p:cNvSpPr>
          <p:nvPr/>
        </p:nvSpPr>
        <p:spPr bwMode="auto">
          <a:xfrm>
            <a:off x="1354138" y="2416175"/>
            <a:ext cx="55403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ea typeface="微软雅黑" panose="020B0503020204020204" pitchFamily="34" charset="-122"/>
              </a:rPr>
              <a:t>1 </a:t>
            </a:r>
          </a:p>
          <a:p>
            <a:pPr eaLnBrk="1" hangingPunct="1">
              <a:spcBef>
                <a:spcPct val="50000"/>
              </a:spcBef>
            </a:pPr>
            <a:endParaRPr lang="en-US" altLang="zh-CN" sz="1200">
              <a:latin typeface="Times New Roman" panose="02020603050405020304" pitchFamily="18" charset="0"/>
              <a:ea typeface="微软雅黑" panose="020B0503020204020204" pitchFamily="34" charset="-122"/>
            </a:endParaRPr>
          </a:p>
          <a:p>
            <a:pPr eaLnBrk="1" hangingPunct="1">
              <a:spcBef>
                <a:spcPct val="50000"/>
              </a:spcBef>
            </a:pPr>
            <a:r>
              <a:rPr lang="en-US" altLang="zh-CN" sz="1200">
                <a:latin typeface="Times New Roman" panose="02020603050405020304" pitchFamily="18" charset="0"/>
                <a:ea typeface="微软雅黑" panose="020B0503020204020204" pitchFamily="34" charset="-122"/>
              </a:rPr>
              <a:t>          </a:t>
            </a:r>
            <a:r>
              <a:rPr lang="en-US" altLang="zh-CN">
                <a:latin typeface="Times New Roman" panose="02020603050405020304" pitchFamily="18" charset="0"/>
                <a:ea typeface="微软雅黑" panose="020B0503020204020204" pitchFamily="34" charset="-122"/>
              </a:rPr>
              <a:t>2      </a:t>
            </a:r>
          </a:p>
          <a:p>
            <a:pPr eaLnBrk="1" hangingPunct="1">
              <a:spcBef>
                <a:spcPct val="50000"/>
              </a:spcBef>
            </a:pPr>
            <a:r>
              <a:rPr lang="en-US" altLang="zh-CN">
                <a:latin typeface="Times New Roman" panose="02020603050405020304" pitchFamily="18" charset="0"/>
                <a:ea typeface="微软雅黑" panose="020B0503020204020204" pitchFamily="34" charset="-122"/>
              </a:rPr>
              <a:t>…                            </a:t>
            </a:r>
          </a:p>
        </p:txBody>
      </p:sp>
      <p:sp>
        <p:nvSpPr>
          <p:cNvPr id="7177" name="Text Box 13"/>
          <p:cNvSpPr txBox="1">
            <a:spLocks noChangeArrowheads="1"/>
          </p:cNvSpPr>
          <p:nvPr/>
        </p:nvSpPr>
        <p:spPr bwMode="auto">
          <a:xfrm>
            <a:off x="1273175" y="4868863"/>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7178" name="Line 14"/>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7179" name="Line 15"/>
          <p:cNvSpPr>
            <a:spLocks noChangeShapeType="1"/>
          </p:cNvSpPr>
          <p:nvPr/>
        </p:nvSpPr>
        <p:spPr bwMode="auto">
          <a:xfrm>
            <a:off x="7391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7180" name="Text Box 16"/>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7181" name="Text Box 17"/>
          <p:cNvSpPr txBox="1">
            <a:spLocks noChangeArrowheads="1"/>
          </p:cNvSpPr>
          <p:nvPr/>
        </p:nvSpPr>
        <p:spPr bwMode="auto">
          <a:xfrm>
            <a:off x="7467600"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7182" name="Text Box 18"/>
          <p:cNvSpPr txBox="1">
            <a:spLocks noChangeArrowheads="1"/>
          </p:cNvSpPr>
          <p:nvPr/>
        </p:nvSpPr>
        <p:spPr bwMode="auto">
          <a:xfrm>
            <a:off x="7467600" y="22860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
        <p:nvSpPr>
          <p:cNvPr id="7183" name="Text Box 19"/>
          <p:cNvSpPr txBox="1">
            <a:spLocks noChangeArrowheads="1"/>
          </p:cNvSpPr>
          <p:nvPr/>
        </p:nvSpPr>
        <p:spPr bwMode="auto">
          <a:xfrm>
            <a:off x="7537450" y="32131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7184" name="Text Box 21"/>
          <p:cNvSpPr txBox="1">
            <a:spLocks noChangeArrowheads="1"/>
          </p:cNvSpPr>
          <p:nvPr/>
        </p:nvSpPr>
        <p:spPr bwMode="auto">
          <a:xfrm>
            <a:off x="7566025" y="35814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7185" name="Text Box 22"/>
          <p:cNvSpPr txBox="1">
            <a:spLocks noChangeArrowheads="1"/>
          </p:cNvSpPr>
          <p:nvPr/>
        </p:nvSpPr>
        <p:spPr bwMode="auto">
          <a:xfrm>
            <a:off x="2124075" y="32766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p>
        </p:txBody>
      </p:sp>
      <p:sp>
        <p:nvSpPr>
          <p:cNvPr id="7186" name="Text Box 23"/>
          <p:cNvSpPr txBox="1">
            <a:spLocks noChangeArrowheads="1"/>
          </p:cNvSpPr>
          <p:nvPr/>
        </p:nvSpPr>
        <p:spPr bwMode="auto">
          <a:xfrm>
            <a:off x="2195513" y="4876800"/>
            <a:ext cx="441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mn</a:t>
            </a:r>
          </a:p>
        </p:txBody>
      </p:sp>
      <p:sp>
        <p:nvSpPr>
          <p:cNvPr id="7187" name="Text Box 24"/>
          <p:cNvSpPr txBox="1">
            <a:spLocks noChangeArrowheads="1"/>
          </p:cNvSpPr>
          <p:nvPr/>
        </p:nvSpPr>
        <p:spPr bwMode="auto">
          <a:xfrm>
            <a:off x="2268538" y="2286000"/>
            <a:ext cx="426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p>
        </p:txBody>
      </p:sp>
      <p:sp>
        <p:nvSpPr>
          <p:cNvPr id="7188" name="Text Box 25"/>
          <p:cNvSpPr txBox="1">
            <a:spLocks noChangeArrowheads="1"/>
          </p:cNvSpPr>
          <p:nvPr/>
        </p:nvSpPr>
        <p:spPr bwMode="auto">
          <a:xfrm>
            <a:off x="3727450" y="38100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7189" name="Text Box 27"/>
          <p:cNvSpPr txBox="1">
            <a:spLocks noChangeArrowheads="1"/>
          </p:cNvSpPr>
          <p:nvPr/>
        </p:nvSpPr>
        <p:spPr bwMode="auto">
          <a:xfrm>
            <a:off x="2209800" y="1295400"/>
            <a:ext cx="4162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endParaRPr lang="en-US" altLang="zh-CN" sz="3200" b="1" i="1">
              <a:solidFill>
                <a:srgbClr val="FF0000"/>
              </a:solidFill>
              <a:latin typeface="Times New Roman" panose="02020603050405020304" pitchFamily="18" charset="0"/>
              <a:ea typeface="微软雅黑" panose="020B0503020204020204" pitchFamily="34" charset="-122"/>
            </a:endParaRPr>
          </a:p>
        </p:txBody>
      </p:sp>
      <p:sp>
        <p:nvSpPr>
          <p:cNvPr id="21527" name="Text Box 28"/>
          <p:cNvSpPr txBox="1">
            <a:spLocks noChangeArrowheads="1"/>
          </p:cNvSpPr>
          <p:nvPr/>
        </p:nvSpPr>
        <p:spPr bwMode="auto">
          <a:xfrm>
            <a:off x="6705600" y="2276475"/>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a:solidFill>
                  <a:srgbClr val="FF0000"/>
                </a:solidFill>
                <a:ea typeface="微软雅黑" panose="020B0503020204020204" pitchFamily="34" charset="-122"/>
              </a:rPr>
              <a:t>0</a:t>
            </a:r>
          </a:p>
        </p:txBody>
      </p:sp>
      <p:sp>
        <p:nvSpPr>
          <p:cNvPr id="21528" name="Text Box 29"/>
          <p:cNvSpPr txBox="1">
            <a:spLocks noChangeArrowheads="1"/>
          </p:cNvSpPr>
          <p:nvPr/>
        </p:nvSpPr>
        <p:spPr bwMode="auto">
          <a:xfrm>
            <a:off x="6732588" y="487521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a:solidFill>
                  <a:srgbClr val="FF0000"/>
                </a:solidFill>
                <a:ea typeface="微软雅黑" panose="020B0503020204020204" pitchFamily="34" charset="-122"/>
              </a:rPr>
              <a:t>0</a:t>
            </a:r>
          </a:p>
        </p:txBody>
      </p:sp>
      <p:sp>
        <p:nvSpPr>
          <p:cNvPr id="21529" name="Text Box 30"/>
          <p:cNvSpPr txBox="1">
            <a:spLocks noChangeArrowheads="1"/>
          </p:cNvSpPr>
          <p:nvPr/>
        </p:nvSpPr>
        <p:spPr bwMode="auto">
          <a:xfrm>
            <a:off x="6781800" y="32845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a:solidFill>
                  <a:srgbClr val="FF0000"/>
                </a:solidFill>
                <a:ea typeface="微软雅黑" panose="020B0503020204020204" pitchFamily="34" charset="-122"/>
              </a:rPr>
              <a:t>0</a:t>
            </a:r>
          </a:p>
        </p:txBody>
      </p:sp>
      <p:sp>
        <p:nvSpPr>
          <p:cNvPr id="7193" name="Text Box 31"/>
          <p:cNvSpPr txBox="1">
            <a:spLocks noChangeArrowheads="1"/>
          </p:cNvSpPr>
          <p:nvPr/>
        </p:nvSpPr>
        <p:spPr bwMode="auto">
          <a:xfrm>
            <a:off x="2195513" y="5638800"/>
            <a:ext cx="44640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r>
              <a:rPr lang="en-US" altLang="zh-CN" sz="1200">
                <a:latin typeface="Times New Roman" panose="02020603050405020304" pitchFamily="18" charset="0"/>
                <a:ea typeface="微软雅黑" panose="020B0503020204020204" pitchFamily="34" charset="-122"/>
              </a:rPr>
              <a:t> </a:t>
            </a:r>
            <a:endParaRPr lang="en-US" altLang="zh-CN" sz="1200" b="1">
              <a:solidFill>
                <a:srgbClr val="FF0000"/>
              </a:solidFill>
              <a:latin typeface="Times New Roman" panose="02020603050405020304" pitchFamily="18" charset="0"/>
              <a:ea typeface="微软雅黑" panose="020B0503020204020204" pitchFamily="34" charset="-122"/>
            </a:endParaRPr>
          </a:p>
          <a:p>
            <a:pPr eaLnBrk="1" hangingPunct="1">
              <a:spcBef>
                <a:spcPct val="50000"/>
              </a:spcBef>
            </a:pPr>
            <a:r>
              <a:rPr lang="en-US" altLang="zh-CN" sz="1200">
                <a:ea typeface="微软雅黑" panose="020B0503020204020204" pitchFamily="34" charset="-122"/>
              </a:rPr>
              <a:t> </a:t>
            </a:r>
          </a:p>
        </p:txBody>
      </p:sp>
      <p:sp>
        <p:nvSpPr>
          <p:cNvPr id="7194" name="Text Box 32"/>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301089" name="Text Box 33"/>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产大于销</a:t>
            </a:r>
          </a:p>
        </p:txBody>
      </p:sp>
      <p:sp>
        <p:nvSpPr>
          <p:cNvPr id="29" name="Text Box 27"/>
          <p:cNvSpPr txBox="1">
            <a:spLocks noChangeArrowheads="1"/>
          </p:cNvSpPr>
          <p:nvPr/>
        </p:nvSpPr>
        <p:spPr bwMode="auto">
          <a:xfrm>
            <a:off x="6588125" y="1336675"/>
            <a:ext cx="1944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n</a:t>
            </a:r>
            <a:r>
              <a:rPr lang="en-US" altLang="zh-CN" sz="3200" b="1">
                <a:solidFill>
                  <a:srgbClr val="FF0000"/>
                </a:solidFill>
                <a:latin typeface="Times New Roman" panose="02020603050405020304" pitchFamily="18" charset="0"/>
                <a:ea typeface="微软雅黑" panose="020B0503020204020204" pitchFamily="34" charset="-122"/>
              </a:rPr>
              <a:t>+1</a:t>
            </a:r>
          </a:p>
        </p:txBody>
      </p:sp>
      <p:sp>
        <p:nvSpPr>
          <p:cNvPr id="30" name="Text Box 31"/>
          <p:cNvSpPr txBox="1">
            <a:spLocks noChangeArrowheads="1"/>
          </p:cNvSpPr>
          <p:nvPr/>
        </p:nvSpPr>
        <p:spPr bwMode="auto">
          <a:xfrm>
            <a:off x="6740525" y="5661025"/>
            <a:ext cx="10001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b</a:t>
            </a:r>
            <a:r>
              <a:rPr lang="en-US" altLang="zh-CN" sz="1200" b="1" i="1">
                <a:solidFill>
                  <a:srgbClr val="FF0000"/>
                </a:solidFill>
                <a:latin typeface="Times New Roman" panose="02020603050405020304" pitchFamily="18" charset="0"/>
                <a:ea typeface="微软雅黑" panose="020B0503020204020204" pitchFamily="34" charset="-122"/>
              </a:rPr>
              <a:t>n</a:t>
            </a:r>
            <a:r>
              <a:rPr lang="en-US" altLang="zh-CN" sz="1200" b="1">
                <a:solidFill>
                  <a:srgbClr val="FF0000"/>
                </a:solidFill>
                <a:latin typeface="Times New Roman" panose="02020603050405020304" pitchFamily="18" charset="0"/>
                <a:ea typeface="微软雅黑" panose="020B0503020204020204" pitchFamily="34" charset="-122"/>
              </a:rPr>
              <a:t>+1</a:t>
            </a:r>
          </a:p>
          <a:p>
            <a:pPr eaLnBrk="1" hangingPunct="1">
              <a:spcBef>
                <a:spcPct val="50000"/>
              </a:spcBef>
            </a:pPr>
            <a:r>
              <a:rPr lang="en-US" altLang="zh-CN" sz="1200">
                <a:ea typeface="微软雅黑" panose="020B0503020204020204" pitchFamily="34" charset="-122"/>
              </a:rPr>
              <a:t> </a:t>
            </a:r>
          </a:p>
        </p:txBody>
      </p:sp>
      <p:sp>
        <p:nvSpPr>
          <p:cNvPr id="7198" name="Text Box 19"/>
          <p:cNvSpPr txBox="1">
            <a:spLocks noChangeArrowheads="1"/>
          </p:cNvSpPr>
          <p:nvPr/>
        </p:nvSpPr>
        <p:spPr bwMode="auto">
          <a:xfrm>
            <a:off x="7451725" y="486886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i="1">
                <a:latin typeface="Times New Roman" panose="02020603050405020304" pitchFamily="18" charset="0"/>
                <a:ea typeface="微软雅黑" panose="020B0503020204020204" pitchFamily="34" charset="-122"/>
              </a:rPr>
              <a:t>m</a:t>
            </a:r>
            <a:endParaRPr lang="en-US" altLang="zh-CN" sz="3600" i="1">
              <a:latin typeface="Times New Roman" panose="02020603050405020304" pitchFamily="18"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32A1EFE2-79FC-432B-9D2B-936D0E36FB94}"/>
              </a:ext>
            </a:extLst>
          </p:cNvPr>
          <p:cNvSpPr>
            <a:spLocks noGrp="1"/>
          </p:cNvSpPr>
          <p:nvPr>
            <p:ph type="sldNum" sz="quarter" idx="12"/>
          </p:nvPr>
        </p:nvSpPr>
        <p:spPr/>
        <p:txBody>
          <a:bodyPr/>
          <a:lstStyle/>
          <a:p>
            <a:pPr>
              <a:defRPr/>
            </a:pPr>
            <a:fld id="{2AE1B59C-883C-4848-BC85-9A12DF2590B2}" type="slidenum">
              <a:rPr lang="en-US" altLang="zh-CN" smtClean="0"/>
              <a:t>65</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528"/>
                                        </p:tgtEl>
                                        <p:attrNameLst>
                                          <p:attrName>style.visibility</p:attrName>
                                        </p:attrNameLst>
                                      </p:cBhvr>
                                      <p:to>
                                        <p:strVal val="visible"/>
                                      </p:to>
                                    </p:set>
                                    <p:animEffect transition="in" filter="blinds(horizontal)">
                                      <p:cBhvr>
                                        <p:cTn id="10" dur="500"/>
                                        <p:tgtEl>
                                          <p:spTgt spid="2152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1529"/>
                                        </p:tgtEl>
                                        <p:attrNameLst>
                                          <p:attrName>style.visibility</p:attrName>
                                        </p:attrNameLst>
                                      </p:cBhvr>
                                      <p:to>
                                        <p:strVal val="visible"/>
                                      </p:to>
                                    </p:set>
                                    <p:animEffect transition="in" filter="blinds(horizontal)">
                                      <p:cBhvr>
                                        <p:cTn id="13" dur="500"/>
                                        <p:tgtEl>
                                          <p:spTgt spid="2152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1527"/>
                                        </p:tgtEl>
                                        <p:attrNameLst>
                                          <p:attrName>style.visibility</p:attrName>
                                        </p:attrNameLst>
                                      </p:cBhvr>
                                      <p:to>
                                        <p:strVal val="visible"/>
                                      </p:to>
                                    </p:set>
                                    <p:animEffect transition="in" filter="blinds(horizontal)">
                                      <p:cBhvr>
                                        <p:cTn id="16" dur="500"/>
                                        <p:tgtEl>
                                          <p:spTgt spid="2152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linds(horizontal)">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7" grpId="0"/>
      <p:bldP spid="21528" grpId="0"/>
      <p:bldP spid="21529" grpId="0"/>
      <p:bldP spid="29" grpId="0"/>
      <p:bldP spid="3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6"/>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8195" name="Line 7"/>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8196" name="Line 8"/>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8197" name="Line 9"/>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8198" name="Text Box 10"/>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8199" name="Text Box 11"/>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8200" name="Text Box 12"/>
          <p:cNvSpPr txBox="1">
            <a:spLocks noChangeArrowheads="1"/>
          </p:cNvSpPr>
          <p:nvPr/>
        </p:nvSpPr>
        <p:spPr bwMode="auto">
          <a:xfrm>
            <a:off x="1425575" y="2420938"/>
            <a:ext cx="5540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a:latin typeface="Times New Roman" panose="02020603050405020304" pitchFamily="18" charset="0"/>
                <a:ea typeface="微软雅黑" panose="020B0503020204020204" pitchFamily="34" charset="-122"/>
              </a:rPr>
              <a:t>1 </a:t>
            </a:r>
          </a:p>
          <a:p>
            <a:pPr eaLnBrk="1" hangingPunct="1">
              <a:spcBef>
                <a:spcPct val="50000"/>
              </a:spcBef>
            </a:pPr>
            <a:r>
              <a:rPr lang="en-US" altLang="zh-CN">
                <a:latin typeface="Times New Roman" panose="02020603050405020304" pitchFamily="18" charset="0"/>
                <a:ea typeface="微软雅黑" panose="020B0503020204020204" pitchFamily="34" charset="-122"/>
              </a:rPr>
              <a:t>          2      …                            </a:t>
            </a:r>
          </a:p>
        </p:txBody>
      </p:sp>
      <p:sp>
        <p:nvSpPr>
          <p:cNvPr id="8201" name="Text Box 13"/>
          <p:cNvSpPr txBox="1">
            <a:spLocks noChangeArrowheads="1"/>
          </p:cNvSpPr>
          <p:nvPr/>
        </p:nvSpPr>
        <p:spPr bwMode="auto">
          <a:xfrm>
            <a:off x="1273175" y="4868863"/>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8202" name="Line 14"/>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8203" name="Line 15"/>
          <p:cNvSpPr>
            <a:spLocks noChangeShapeType="1"/>
          </p:cNvSpPr>
          <p:nvPr/>
        </p:nvSpPr>
        <p:spPr bwMode="auto">
          <a:xfrm>
            <a:off x="7391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8204" name="Text Box 16"/>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8205" name="Text Box 17"/>
          <p:cNvSpPr txBox="1">
            <a:spLocks noChangeArrowheads="1"/>
          </p:cNvSpPr>
          <p:nvPr/>
        </p:nvSpPr>
        <p:spPr bwMode="auto">
          <a:xfrm>
            <a:off x="7467600"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8206" name="Text Box 18"/>
          <p:cNvSpPr txBox="1">
            <a:spLocks noChangeArrowheads="1"/>
          </p:cNvSpPr>
          <p:nvPr/>
        </p:nvSpPr>
        <p:spPr bwMode="auto">
          <a:xfrm>
            <a:off x="7467600" y="22860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
        <p:nvSpPr>
          <p:cNvPr id="8207" name="Text Box 19"/>
          <p:cNvSpPr txBox="1">
            <a:spLocks noChangeArrowheads="1"/>
          </p:cNvSpPr>
          <p:nvPr/>
        </p:nvSpPr>
        <p:spPr bwMode="auto">
          <a:xfrm>
            <a:off x="7537450" y="3292475"/>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8208" name="Text Box 21"/>
          <p:cNvSpPr txBox="1">
            <a:spLocks noChangeArrowheads="1"/>
          </p:cNvSpPr>
          <p:nvPr/>
        </p:nvSpPr>
        <p:spPr bwMode="auto">
          <a:xfrm>
            <a:off x="7566025" y="35814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8209" name="Text Box 22"/>
          <p:cNvSpPr txBox="1">
            <a:spLocks noChangeArrowheads="1"/>
          </p:cNvSpPr>
          <p:nvPr/>
        </p:nvSpPr>
        <p:spPr bwMode="auto">
          <a:xfrm>
            <a:off x="2124075" y="3276600"/>
            <a:ext cx="52562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r>
              <a:rPr lang="en-US" altLang="zh-CN" sz="3200">
                <a:latin typeface="Times New Roman" panose="02020603050405020304" pitchFamily="18" charset="0"/>
                <a:ea typeface="微软雅黑" panose="020B0503020204020204" pitchFamily="34" charset="-122"/>
              </a:rPr>
              <a:t> </a:t>
            </a:r>
            <a:r>
              <a:rPr lang="en-US" altLang="zh-CN" sz="1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a:solidFill>
                  <a:srgbClr val="FF0000"/>
                </a:solidFill>
                <a:latin typeface="Times New Roman" panose="02020603050405020304" pitchFamily="18" charset="0"/>
                <a:ea typeface="微软雅黑" panose="020B0503020204020204" pitchFamily="34" charset="-122"/>
              </a:rPr>
              <a:t>2,</a:t>
            </a:r>
            <a:r>
              <a:rPr lang="en-US" altLang="zh-CN" sz="1200" b="1" i="1">
                <a:solidFill>
                  <a:srgbClr val="FF0000"/>
                </a:solidFill>
                <a:latin typeface="Times New Roman" panose="02020603050405020304" pitchFamily="18" charset="0"/>
                <a:ea typeface="微软雅黑" panose="020B0503020204020204" pitchFamily="34" charset="-122"/>
              </a:rPr>
              <a:t>n</a:t>
            </a:r>
            <a:r>
              <a:rPr lang="en-US" altLang="zh-CN" sz="1200" b="1">
                <a:solidFill>
                  <a:srgbClr val="FF0000"/>
                </a:solidFill>
                <a:latin typeface="Times New Roman" panose="02020603050405020304" pitchFamily="18" charset="0"/>
                <a:ea typeface="微软雅黑" panose="020B0503020204020204" pitchFamily="34" charset="-122"/>
              </a:rPr>
              <a:t>+1</a:t>
            </a:r>
          </a:p>
        </p:txBody>
      </p:sp>
      <p:sp>
        <p:nvSpPr>
          <p:cNvPr id="8210" name="Text Box 23"/>
          <p:cNvSpPr txBox="1">
            <a:spLocks noChangeArrowheads="1"/>
          </p:cNvSpPr>
          <p:nvPr/>
        </p:nvSpPr>
        <p:spPr bwMode="auto">
          <a:xfrm>
            <a:off x="2195513" y="4876800"/>
            <a:ext cx="5256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 x</a:t>
            </a:r>
            <a:r>
              <a:rPr lang="en-US" altLang="zh-CN" sz="1200" i="1">
                <a:latin typeface="Times New Roman" panose="02020603050405020304" pitchFamily="18" charset="0"/>
                <a:ea typeface="微软雅黑" panose="020B0503020204020204" pitchFamily="34" charset="-122"/>
              </a:rPr>
              <a:t>mn</a:t>
            </a:r>
            <a:r>
              <a:rPr lang="en-US" altLang="zh-CN" sz="3200" i="1">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m,n</a:t>
            </a:r>
            <a:r>
              <a:rPr lang="en-US" altLang="zh-CN" sz="1200" b="1">
                <a:solidFill>
                  <a:srgbClr val="FF0000"/>
                </a:solidFill>
                <a:latin typeface="Times New Roman" panose="02020603050405020304" pitchFamily="18" charset="0"/>
                <a:ea typeface="微软雅黑" panose="020B0503020204020204" pitchFamily="34" charset="-122"/>
              </a:rPr>
              <a:t>+1</a:t>
            </a:r>
            <a:endParaRPr lang="en-US" altLang="zh-CN" sz="1200" b="1">
              <a:latin typeface="Times New Roman" panose="02020603050405020304" pitchFamily="18" charset="0"/>
              <a:ea typeface="微软雅黑" panose="020B0503020204020204" pitchFamily="34" charset="-122"/>
            </a:endParaRPr>
          </a:p>
        </p:txBody>
      </p:sp>
      <p:sp>
        <p:nvSpPr>
          <p:cNvPr id="8211" name="Text Box 24"/>
          <p:cNvSpPr txBox="1">
            <a:spLocks noChangeArrowheads="1"/>
          </p:cNvSpPr>
          <p:nvPr/>
        </p:nvSpPr>
        <p:spPr bwMode="auto">
          <a:xfrm>
            <a:off x="2268538" y="2286000"/>
            <a:ext cx="5040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r>
              <a:rPr lang="en-US" altLang="zh-CN" sz="1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a:solidFill>
                  <a:srgbClr val="FF0000"/>
                </a:solidFill>
                <a:latin typeface="Times New Roman" panose="02020603050405020304" pitchFamily="18" charset="0"/>
                <a:ea typeface="微软雅黑" panose="020B0503020204020204" pitchFamily="34" charset="-122"/>
              </a:rPr>
              <a:t>1,</a:t>
            </a:r>
            <a:r>
              <a:rPr lang="en-US" altLang="zh-CN" sz="1200" b="1" i="1">
                <a:solidFill>
                  <a:srgbClr val="FF0000"/>
                </a:solidFill>
                <a:latin typeface="Times New Roman" panose="02020603050405020304" pitchFamily="18" charset="0"/>
                <a:ea typeface="微软雅黑" panose="020B0503020204020204" pitchFamily="34" charset="-122"/>
              </a:rPr>
              <a:t>n</a:t>
            </a:r>
            <a:r>
              <a:rPr lang="en-US" altLang="zh-CN" sz="1200" b="1">
                <a:solidFill>
                  <a:srgbClr val="FF0000"/>
                </a:solidFill>
                <a:latin typeface="Times New Roman" panose="02020603050405020304" pitchFamily="18" charset="0"/>
                <a:ea typeface="微软雅黑" panose="020B0503020204020204" pitchFamily="34" charset="-122"/>
              </a:rPr>
              <a:t>+1</a:t>
            </a:r>
          </a:p>
        </p:txBody>
      </p:sp>
      <p:sp>
        <p:nvSpPr>
          <p:cNvPr id="8212" name="Text Box 25"/>
          <p:cNvSpPr txBox="1">
            <a:spLocks noChangeArrowheads="1"/>
          </p:cNvSpPr>
          <p:nvPr/>
        </p:nvSpPr>
        <p:spPr bwMode="auto">
          <a:xfrm>
            <a:off x="3727450" y="38100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21526" name="Text Box 27"/>
          <p:cNvSpPr txBox="1">
            <a:spLocks noChangeArrowheads="1"/>
          </p:cNvSpPr>
          <p:nvPr/>
        </p:nvSpPr>
        <p:spPr bwMode="auto">
          <a:xfrm>
            <a:off x="2209800" y="12954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r>
              <a:rPr lang="en-US" altLang="zh-CN" sz="3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n</a:t>
            </a:r>
            <a:r>
              <a:rPr lang="en-US" altLang="zh-CN" sz="3200" b="1">
                <a:solidFill>
                  <a:srgbClr val="FF0000"/>
                </a:solidFill>
                <a:latin typeface="Times New Roman" panose="02020603050405020304" pitchFamily="18" charset="0"/>
                <a:ea typeface="微软雅黑" panose="020B0503020204020204" pitchFamily="34" charset="-122"/>
              </a:rPr>
              <a:t>+1</a:t>
            </a:r>
          </a:p>
        </p:txBody>
      </p:sp>
      <p:sp>
        <p:nvSpPr>
          <p:cNvPr id="8214" name="Text Box 31"/>
          <p:cNvSpPr txBox="1">
            <a:spLocks noChangeArrowheads="1"/>
          </p:cNvSpPr>
          <p:nvPr/>
        </p:nvSpPr>
        <p:spPr bwMode="auto">
          <a:xfrm>
            <a:off x="2195513" y="5638800"/>
            <a:ext cx="6248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r>
              <a:rPr lang="en-US" altLang="zh-CN" sz="1200">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b</a:t>
            </a:r>
            <a:r>
              <a:rPr lang="en-US" altLang="zh-CN" sz="1200" i="1">
                <a:solidFill>
                  <a:srgbClr val="800000"/>
                </a:solidFill>
                <a:latin typeface="Times New Roman" panose="02020603050405020304" pitchFamily="18" charset="0"/>
                <a:ea typeface="微软雅黑" panose="020B0503020204020204" pitchFamily="34" charset="-122"/>
              </a:rPr>
              <a:t>n</a:t>
            </a:r>
            <a:r>
              <a:rPr lang="en-US" altLang="zh-CN" sz="1200">
                <a:solidFill>
                  <a:srgbClr val="800000"/>
                </a:solidFill>
                <a:latin typeface="Times New Roman" panose="02020603050405020304" pitchFamily="18" charset="0"/>
                <a:ea typeface="微软雅黑" panose="020B0503020204020204" pitchFamily="34" charset="-122"/>
              </a:rPr>
              <a:t>+1</a:t>
            </a:r>
          </a:p>
          <a:p>
            <a:pPr eaLnBrk="1" hangingPunct="1">
              <a:spcBef>
                <a:spcPct val="50000"/>
              </a:spcBef>
            </a:pPr>
            <a:r>
              <a:rPr lang="en-US" altLang="zh-CN" sz="1200">
                <a:ea typeface="微软雅黑" panose="020B0503020204020204" pitchFamily="34" charset="-122"/>
              </a:rPr>
              <a:t> </a:t>
            </a:r>
          </a:p>
        </p:txBody>
      </p:sp>
      <p:sp>
        <p:nvSpPr>
          <p:cNvPr id="8215" name="Text Box 32"/>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301089" name="Text Box 33"/>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产大于销</a:t>
            </a:r>
          </a:p>
        </p:txBody>
      </p:sp>
      <p:sp>
        <p:nvSpPr>
          <p:cNvPr id="8217" name="Text Box 19"/>
          <p:cNvSpPr txBox="1">
            <a:spLocks noChangeArrowheads="1"/>
          </p:cNvSpPr>
          <p:nvPr/>
        </p:nvSpPr>
        <p:spPr bwMode="auto">
          <a:xfrm>
            <a:off x="7537450" y="486886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m</a:t>
            </a:r>
            <a:endParaRPr lang="en-US" altLang="zh-CN" sz="3600">
              <a:latin typeface="Times New Roman" panose="02020603050405020304" pitchFamily="18"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2137A675-6C05-42A8-9093-5B4EEB349F87}"/>
              </a:ext>
            </a:extLst>
          </p:cNvPr>
          <p:cNvSpPr>
            <a:spLocks noGrp="1"/>
          </p:cNvSpPr>
          <p:nvPr>
            <p:ph type="sldNum" sz="quarter" idx="12"/>
          </p:nvPr>
        </p:nvSpPr>
        <p:spPr/>
        <p:txBody>
          <a:bodyPr/>
          <a:lstStyle/>
          <a:p>
            <a:pPr>
              <a:defRPr/>
            </a:pPr>
            <a:fld id="{2AE1B59C-883C-4848-BC85-9A12DF2590B2}" type="slidenum">
              <a:rPr lang="en-US" altLang="zh-CN" smtClean="0"/>
              <a:t>66</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26">
                                            <p:txEl>
                                              <p:pRg st="0" end="0"/>
                                            </p:txEl>
                                          </p:spTgt>
                                        </p:tgtEl>
                                        <p:attrNameLst>
                                          <p:attrName>style.visibility</p:attrName>
                                        </p:attrNameLst>
                                      </p:cBhvr>
                                      <p:to>
                                        <p:strVal val="visible"/>
                                      </p:to>
                                    </p:set>
                                    <p:animEffect transition="in" filter="blinds(horizontal)">
                                      <p:cBhvr>
                                        <p:cTn id="7" dur="500"/>
                                        <p:tgtEl>
                                          <p:spTgt spid="215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txBox="1">
            <a:spLocks noChangeArrowheads="1"/>
          </p:cNvSpPr>
          <p:nvPr/>
        </p:nvSpPr>
        <p:spPr bwMode="auto">
          <a:xfrm>
            <a:off x="0" y="1196975"/>
            <a:ext cx="9144000" cy="792163"/>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200000"/>
              </a:lnSpc>
            </a:pPr>
            <a:r>
              <a:rPr lang="zh-CN" altLang="en-US" b="1" dirty="0">
                <a:solidFill>
                  <a:schemeClr val="hlink"/>
                </a:solidFill>
                <a:latin typeface="微软雅黑" panose="020B0503020204020204" pitchFamily="34" charset="-122"/>
                <a:ea typeface="微软雅黑" panose="020B0503020204020204" pitchFamily="34" charset="-122"/>
              </a:rPr>
              <a:t>（</a:t>
            </a:r>
            <a:r>
              <a:rPr lang="en-US" altLang="zh-CN" b="1" dirty="0">
                <a:solidFill>
                  <a:schemeClr val="hlink"/>
                </a:solidFill>
                <a:latin typeface="微软雅黑" panose="020B0503020204020204" pitchFamily="34" charset="-122"/>
                <a:ea typeface="微软雅黑" panose="020B0503020204020204" pitchFamily="34" charset="-122"/>
              </a:rPr>
              <a:t>2</a:t>
            </a:r>
            <a:r>
              <a:rPr lang="zh-CN" altLang="en-US" b="1" dirty="0">
                <a:solidFill>
                  <a:schemeClr val="hlink"/>
                </a:solidFill>
                <a:latin typeface="微软雅黑" panose="020B0503020204020204" pitchFamily="34" charset="-122"/>
                <a:ea typeface="微软雅黑" panose="020B0503020204020204" pitchFamily="34" charset="-122"/>
              </a:rPr>
              <a:t>）当销大于产时</a:t>
            </a:r>
            <a:br>
              <a:rPr lang="zh-CN" altLang="en-US" b="1" dirty="0">
                <a:latin typeface="Times New Roman" panose="02020603050405020304" pitchFamily="18" charset="0"/>
                <a:ea typeface="微软雅黑" panose="020B0503020204020204" pitchFamily="34" charset="-122"/>
              </a:rPr>
            </a:br>
            <a:r>
              <a:rPr lang="zh-CN" altLang="en-US" b="1" dirty="0">
                <a:latin typeface="Times New Roman" panose="02020603050405020304" pitchFamily="18" charset="0"/>
                <a:ea typeface="微软雅黑" panose="020B0503020204020204" pitchFamily="34" charset="-122"/>
              </a:rPr>
              <a:t>可以在产销平衡表中增加一个假想的产地</a:t>
            </a:r>
            <a:r>
              <a:rPr lang="en-US" altLang="zh-CN" b="1" i="1" dirty="0">
                <a:latin typeface="Times New Roman" panose="02020603050405020304" pitchFamily="18" charset="0"/>
                <a:ea typeface="微软雅黑" panose="020B0503020204020204" pitchFamily="34" charset="-122"/>
              </a:rPr>
              <a:t>m+</a:t>
            </a:r>
            <a:r>
              <a:rPr lang="en-US" altLang="zh-CN" b="1" dirty="0">
                <a:latin typeface="Times New Roman" panose="02020603050405020304" pitchFamily="18" charset="0"/>
                <a:ea typeface="微软雅黑" panose="020B0503020204020204" pitchFamily="34" charset="-122"/>
              </a:rPr>
              <a:t>1</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该地产量为</a:t>
            </a:r>
          </a:p>
        </p:txBody>
      </p:sp>
      <p:graphicFrame>
        <p:nvGraphicFramePr>
          <p:cNvPr id="6" name="Object 8"/>
          <p:cNvGraphicFramePr>
            <a:graphicFrameLocks noChangeAspect="1"/>
          </p:cNvGraphicFramePr>
          <p:nvPr/>
        </p:nvGraphicFramePr>
        <p:xfrm>
          <a:off x="3276600" y="2997200"/>
          <a:ext cx="1762125" cy="995363"/>
        </p:xfrm>
        <a:graphic>
          <a:graphicData uri="http://schemas.openxmlformats.org/presentationml/2006/ole">
            <mc:AlternateContent xmlns:mc="http://schemas.openxmlformats.org/markup-compatibility/2006">
              <mc:Choice xmlns:v="urn:schemas-microsoft-com:vml" Requires="v">
                <p:oleObj spid="_x0000_s30731" r:id="rId3" imgW="787058" imgH="444307" progId="Equation.DSMT4">
                  <p:embed/>
                </p:oleObj>
              </mc:Choice>
              <mc:Fallback>
                <p:oleObj r:id="rId3" imgW="787058" imgH="444307" progId="Equation.DSMT4">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997200"/>
                        <a:ext cx="1762125"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0" y="4149725"/>
            <a:ext cx="914400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lnSpc>
                <a:spcPct val="200000"/>
              </a:lnSpc>
            </a:pPr>
            <a:r>
              <a:rPr lang="zh-CN" altLang="en-US" b="1" dirty="0">
                <a:latin typeface="微软雅黑" panose="020B0503020204020204" pitchFamily="34" charset="-122"/>
                <a:ea typeface="微软雅黑" panose="020B0503020204020204" pitchFamily="34" charset="-122"/>
              </a:rPr>
              <a:t>在单位运价表上令从该假想产地到各销地的运价为            </a:t>
            </a:r>
            <a:endParaRPr lang="en-US" altLang="zh-CN" b="1" dirty="0">
              <a:latin typeface="微软雅黑" panose="020B0503020204020204" pitchFamily="34" charset="-122"/>
              <a:ea typeface="微软雅黑" panose="020B0503020204020204" pitchFamily="34" charset="-122"/>
            </a:endParaRPr>
          </a:p>
          <a:p>
            <a:pPr eaLnBrk="1" hangingPunct="1">
              <a:lnSpc>
                <a:spcPct val="200000"/>
              </a:lnSpc>
            </a:pPr>
            <a:r>
              <a:rPr lang="zh-CN" altLang="en-US" b="1" dirty="0">
                <a:latin typeface="微软雅黑" panose="020B0503020204020204" pitchFamily="34" charset="-122"/>
                <a:ea typeface="微软雅黑" panose="020B0503020204020204" pitchFamily="34" charset="-122"/>
              </a:rPr>
              <a:t>同样可以转化为一个产销平衡的运输问题</a:t>
            </a:r>
            <a:endParaRPr lang="zh-CN" altLang="en-US" sz="3200" dirty="0">
              <a:latin typeface="Times New Roman" panose="02020603050405020304" pitchFamily="18" charset="0"/>
              <a:ea typeface="微软雅黑" panose="020B0503020204020204" pitchFamily="34" charset="-122"/>
            </a:endParaRPr>
          </a:p>
        </p:txBody>
      </p:sp>
      <p:graphicFrame>
        <p:nvGraphicFramePr>
          <p:cNvPr id="9221" name="Object 4"/>
          <p:cNvGraphicFramePr>
            <a:graphicFrameLocks noChangeAspect="1"/>
          </p:cNvGraphicFramePr>
          <p:nvPr/>
        </p:nvGraphicFramePr>
        <p:xfrm>
          <a:off x="2987675" y="1196975"/>
          <a:ext cx="1431925" cy="795338"/>
        </p:xfrm>
        <a:graphic>
          <a:graphicData uri="http://schemas.openxmlformats.org/presentationml/2006/ole">
            <mc:AlternateContent xmlns:mc="http://schemas.openxmlformats.org/markup-compatibility/2006">
              <mc:Choice xmlns:v="urn:schemas-microsoft-com:vml" Requires="v">
                <p:oleObj spid="_x0000_s30732" r:id="rId5" imgW="799753" imgH="444307" progId="Equation.DSMT4">
                  <p:embed/>
                </p:oleObj>
              </mc:Choice>
              <mc:Fallback>
                <p:oleObj r:id="rId5" imgW="799753" imgH="444307" progId="Equation.DSMT4">
                  <p:embed/>
                  <p:pic>
                    <p:nvPicPr>
                      <p:cNvPr id="922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1196975"/>
                        <a:ext cx="14319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1"/>
          <p:cNvGraphicFramePr>
            <a:graphicFrameLocks noChangeAspect="1"/>
          </p:cNvGraphicFramePr>
          <p:nvPr/>
        </p:nvGraphicFramePr>
        <p:xfrm>
          <a:off x="6983413" y="4437063"/>
          <a:ext cx="1217612" cy="446087"/>
        </p:xfrm>
        <a:graphic>
          <a:graphicData uri="http://schemas.openxmlformats.org/presentationml/2006/ole">
            <mc:AlternateContent xmlns:mc="http://schemas.openxmlformats.org/markup-compatibility/2006">
              <mc:Choice xmlns:v="urn:schemas-microsoft-com:vml" Requires="v">
                <p:oleObj spid="_x0000_s30733" r:id="rId7" imgW="660113" imgH="241195" progId="Equation.DSMT4">
                  <p:embed/>
                </p:oleObj>
              </mc:Choice>
              <mc:Fallback>
                <p:oleObj r:id="rId7" imgW="660113" imgH="241195" progId="Equation.DSMT4">
                  <p:embed/>
                  <p:pic>
                    <p:nvPicPr>
                      <p:cNvPr id="1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3413" y="4437063"/>
                        <a:ext cx="121761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77162E58-6803-4CE0-B30E-6E35FA7FB028}"/>
              </a:ext>
            </a:extLst>
          </p:cNvPr>
          <p:cNvSpPr>
            <a:spLocks noGrp="1"/>
          </p:cNvSpPr>
          <p:nvPr>
            <p:ph type="sldNum" sz="quarter" idx="12"/>
          </p:nvPr>
        </p:nvSpPr>
        <p:spPr/>
        <p:txBody>
          <a:bodyPr/>
          <a:lstStyle/>
          <a:p>
            <a:pPr>
              <a:defRPr/>
            </a:pPr>
            <a:fld id="{2AE1B59C-883C-4848-BC85-9A12DF2590B2}" type="slidenum">
              <a:rPr lang="en-US" altLang="zh-CN" smtClean="0"/>
              <a:t>67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par>
                                <p:cTn id="15" presetID="3" presetClass="entr" presetSubtype="1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2"/>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产小于销</a:t>
            </a:r>
          </a:p>
        </p:txBody>
      </p:sp>
      <p:sp>
        <p:nvSpPr>
          <p:cNvPr id="10243" name="Line 3"/>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0244" name="Line 4"/>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0245" name="Line 5"/>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0246" name="Line 6"/>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0247" name="Text Box 7"/>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10248" name="Text Box 8"/>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10249" name="Text Box 9"/>
          <p:cNvSpPr txBox="1">
            <a:spLocks noChangeArrowheads="1"/>
          </p:cNvSpPr>
          <p:nvPr/>
        </p:nvSpPr>
        <p:spPr bwMode="auto">
          <a:xfrm>
            <a:off x="1236663" y="2159000"/>
            <a:ext cx="671512"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微软雅黑" panose="020B0503020204020204" pitchFamily="34" charset="-122"/>
              </a:rPr>
              <a:t>1 </a:t>
            </a:r>
          </a:p>
          <a:p>
            <a:pPr eaLnBrk="1" hangingPunct="1"/>
            <a:r>
              <a:rPr lang="en-US" altLang="zh-CN" sz="2800">
                <a:latin typeface="Times New Roman" panose="02020603050405020304" pitchFamily="18" charset="0"/>
                <a:ea typeface="微软雅黑" panose="020B0503020204020204" pitchFamily="34" charset="-122"/>
              </a:rPr>
              <a:t> </a:t>
            </a:r>
            <a:r>
              <a:rPr lang="en-US" altLang="zh-CN" sz="1100">
                <a:latin typeface="Times New Roman" panose="02020603050405020304" pitchFamily="18" charset="0"/>
                <a:ea typeface="微软雅黑" panose="020B0503020204020204" pitchFamily="34" charset="-122"/>
              </a:rPr>
              <a:t>  </a:t>
            </a:r>
            <a:r>
              <a:rPr lang="en-US" altLang="zh-CN" sz="2800">
                <a:latin typeface="Times New Roman" panose="02020603050405020304" pitchFamily="18" charset="0"/>
                <a:ea typeface="微软雅黑" panose="020B0503020204020204" pitchFamily="34" charset="-122"/>
              </a:rPr>
              <a:t>2  </a:t>
            </a:r>
            <a:r>
              <a:rPr lang="en-US" altLang="zh-CN" sz="3200">
                <a:latin typeface="Times New Roman" panose="02020603050405020304" pitchFamily="18" charset="0"/>
                <a:ea typeface="微软雅黑" panose="020B0503020204020204" pitchFamily="34" charset="-122"/>
              </a:rPr>
              <a:t>…</a:t>
            </a:r>
            <a:r>
              <a:rPr lang="en-US" altLang="zh-CN">
                <a:latin typeface="Times New Roman" panose="02020603050405020304" pitchFamily="18" charset="0"/>
                <a:ea typeface="微软雅黑" panose="020B0503020204020204" pitchFamily="34" charset="-122"/>
              </a:rPr>
              <a:t>                            </a:t>
            </a:r>
          </a:p>
        </p:txBody>
      </p:sp>
      <p:sp>
        <p:nvSpPr>
          <p:cNvPr id="10250" name="Text Box 10"/>
          <p:cNvSpPr txBox="1">
            <a:spLocks noChangeArrowheads="1"/>
          </p:cNvSpPr>
          <p:nvPr/>
        </p:nvSpPr>
        <p:spPr bwMode="auto">
          <a:xfrm>
            <a:off x="1066800" y="4038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10251" name="Line 11"/>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0252" name="Line 12"/>
          <p:cNvSpPr>
            <a:spLocks noChangeShapeType="1"/>
          </p:cNvSpPr>
          <p:nvPr/>
        </p:nvSpPr>
        <p:spPr bwMode="auto">
          <a:xfrm>
            <a:off x="7010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0253" name="Text Box 13"/>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10254" name="Text Box 14"/>
          <p:cNvSpPr txBox="1">
            <a:spLocks noChangeArrowheads="1"/>
          </p:cNvSpPr>
          <p:nvPr/>
        </p:nvSpPr>
        <p:spPr bwMode="auto">
          <a:xfrm>
            <a:off x="7164388"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10255" name="Text Box 18"/>
          <p:cNvSpPr txBox="1">
            <a:spLocks noChangeArrowheads="1"/>
          </p:cNvSpPr>
          <p:nvPr/>
        </p:nvSpPr>
        <p:spPr bwMode="auto">
          <a:xfrm>
            <a:off x="7350125" y="2997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0256" name="Text Box 19"/>
          <p:cNvSpPr txBox="1">
            <a:spLocks noChangeArrowheads="1"/>
          </p:cNvSpPr>
          <p:nvPr/>
        </p:nvSpPr>
        <p:spPr bwMode="auto">
          <a:xfrm>
            <a:off x="2051050" y="2895600"/>
            <a:ext cx="489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p>
        </p:txBody>
      </p:sp>
      <p:sp>
        <p:nvSpPr>
          <p:cNvPr id="10257" name="Text Box 20"/>
          <p:cNvSpPr txBox="1">
            <a:spLocks noChangeArrowheads="1"/>
          </p:cNvSpPr>
          <p:nvPr/>
        </p:nvSpPr>
        <p:spPr bwMode="auto">
          <a:xfrm>
            <a:off x="2195513" y="4038600"/>
            <a:ext cx="4752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i="1">
                <a:latin typeface="Times New Roman" panose="02020603050405020304" pitchFamily="18" charset="0"/>
                <a:ea typeface="微软雅黑" panose="020B0503020204020204" pitchFamily="34" charset="-122"/>
              </a:rPr>
              <a:t>mn</a:t>
            </a:r>
          </a:p>
        </p:txBody>
      </p:sp>
      <p:sp>
        <p:nvSpPr>
          <p:cNvPr id="10258" name="Text Box 21"/>
          <p:cNvSpPr txBox="1">
            <a:spLocks noChangeArrowheads="1"/>
          </p:cNvSpPr>
          <p:nvPr/>
        </p:nvSpPr>
        <p:spPr bwMode="auto">
          <a:xfrm>
            <a:off x="2195513" y="2057400"/>
            <a:ext cx="4679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c</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p>
        </p:txBody>
      </p:sp>
      <p:sp>
        <p:nvSpPr>
          <p:cNvPr id="10259" name="Text Box 22"/>
          <p:cNvSpPr txBox="1">
            <a:spLocks noChangeArrowheads="1"/>
          </p:cNvSpPr>
          <p:nvPr/>
        </p:nvSpPr>
        <p:spPr bwMode="auto">
          <a:xfrm>
            <a:off x="3727450" y="3124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0260" name="Text Box 23"/>
          <p:cNvSpPr txBox="1">
            <a:spLocks noChangeArrowheads="1"/>
          </p:cNvSpPr>
          <p:nvPr/>
        </p:nvSpPr>
        <p:spPr bwMode="auto">
          <a:xfrm>
            <a:off x="2209800" y="12954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endParaRPr lang="en-US" altLang="zh-CN" sz="3200" i="1">
              <a:solidFill>
                <a:srgbClr val="800000"/>
              </a:solidFill>
              <a:latin typeface="Times New Roman" panose="02020603050405020304" pitchFamily="18" charset="0"/>
              <a:ea typeface="微软雅黑" panose="020B0503020204020204" pitchFamily="34" charset="-122"/>
            </a:endParaRPr>
          </a:p>
        </p:txBody>
      </p:sp>
      <p:sp>
        <p:nvSpPr>
          <p:cNvPr id="10261" name="Text Box 27"/>
          <p:cNvSpPr txBox="1">
            <a:spLocks noChangeArrowheads="1"/>
          </p:cNvSpPr>
          <p:nvPr/>
        </p:nvSpPr>
        <p:spPr bwMode="auto">
          <a:xfrm>
            <a:off x="2209800" y="56388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p>
        </p:txBody>
      </p:sp>
      <p:sp>
        <p:nvSpPr>
          <p:cNvPr id="10262" name="Text Box 28"/>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22554" name="Text Box 29"/>
          <p:cNvSpPr txBox="1">
            <a:spLocks noChangeArrowheads="1"/>
          </p:cNvSpPr>
          <p:nvPr/>
        </p:nvSpPr>
        <p:spPr bwMode="auto">
          <a:xfrm>
            <a:off x="966788" y="4953000"/>
            <a:ext cx="1301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m+</a:t>
            </a:r>
            <a:r>
              <a:rPr lang="en-US" altLang="zh-CN" sz="3200" b="1">
                <a:solidFill>
                  <a:srgbClr val="FF0000"/>
                </a:solidFill>
                <a:ea typeface="微软雅黑" panose="020B0503020204020204" pitchFamily="34" charset="-122"/>
              </a:rPr>
              <a:t>1</a:t>
            </a:r>
          </a:p>
        </p:txBody>
      </p:sp>
      <p:sp>
        <p:nvSpPr>
          <p:cNvPr id="22555" name="Text Box 30"/>
          <p:cNvSpPr txBox="1">
            <a:spLocks noChangeArrowheads="1"/>
          </p:cNvSpPr>
          <p:nvPr/>
        </p:nvSpPr>
        <p:spPr bwMode="auto">
          <a:xfrm>
            <a:off x="2195513" y="4937125"/>
            <a:ext cx="487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a:solidFill>
                  <a:srgbClr val="FF0000"/>
                </a:solidFill>
                <a:latin typeface="Times New Roman" panose="02020603050405020304" pitchFamily="18" charset="0"/>
                <a:ea typeface="微软雅黑" panose="020B0503020204020204" pitchFamily="34" charset="-122"/>
              </a:rPr>
              <a:t>0           0      …              0</a:t>
            </a:r>
            <a:endParaRPr lang="en-US" altLang="zh-CN" sz="1200" b="1">
              <a:solidFill>
                <a:srgbClr val="FF0000"/>
              </a:solidFill>
              <a:latin typeface="Times New Roman" panose="02020603050405020304" pitchFamily="18" charset="0"/>
              <a:ea typeface="微软雅黑" panose="020B0503020204020204" pitchFamily="34" charset="-122"/>
            </a:endParaRPr>
          </a:p>
        </p:txBody>
      </p:sp>
      <p:sp>
        <p:nvSpPr>
          <p:cNvPr id="22556" name="Text Box 31"/>
          <p:cNvSpPr txBox="1">
            <a:spLocks noChangeArrowheads="1"/>
          </p:cNvSpPr>
          <p:nvPr/>
        </p:nvSpPr>
        <p:spPr bwMode="auto">
          <a:xfrm>
            <a:off x="7164388" y="48768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i="1">
                <a:solidFill>
                  <a:srgbClr val="FF0000"/>
                </a:solidFill>
                <a:latin typeface="Times New Roman" panose="02020603050405020304" pitchFamily="18" charset="0"/>
                <a:ea typeface="微软雅黑" panose="020B0503020204020204" pitchFamily="34" charset="-122"/>
              </a:rPr>
              <a:t>a</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a:t>
            </a:r>
            <a:endParaRPr lang="en-US" altLang="zh-CN" sz="3600" b="1">
              <a:solidFill>
                <a:srgbClr val="FF0000"/>
              </a:solidFill>
              <a:latin typeface="Times New Roman" panose="02020603050405020304" pitchFamily="18" charset="0"/>
              <a:ea typeface="微软雅黑" panose="020B0503020204020204" pitchFamily="34" charset="-122"/>
            </a:endParaRPr>
          </a:p>
        </p:txBody>
      </p:sp>
      <p:sp>
        <p:nvSpPr>
          <p:cNvPr id="10266" name="Text Box 19"/>
          <p:cNvSpPr txBox="1">
            <a:spLocks noChangeArrowheads="1"/>
          </p:cNvSpPr>
          <p:nvPr/>
        </p:nvSpPr>
        <p:spPr bwMode="auto">
          <a:xfrm>
            <a:off x="7177088" y="28527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10267" name="Text Box 19"/>
          <p:cNvSpPr txBox="1">
            <a:spLocks noChangeArrowheads="1"/>
          </p:cNvSpPr>
          <p:nvPr/>
        </p:nvSpPr>
        <p:spPr bwMode="auto">
          <a:xfrm>
            <a:off x="7164388" y="401161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i="1">
                <a:latin typeface="Times New Roman" panose="02020603050405020304" pitchFamily="18" charset="0"/>
                <a:ea typeface="微软雅黑" panose="020B0503020204020204" pitchFamily="34" charset="-122"/>
              </a:rPr>
              <a:t>m</a:t>
            </a:r>
            <a:endParaRPr lang="en-US" altLang="zh-CN" sz="3600" i="1">
              <a:latin typeface="Times New Roman" panose="02020603050405020304" pitchFamily="18" charset="0"/>
              <a:ea typeface="微软雅黑" panose="020B0503020204020204" pitchFamily="34" charset="-122"/>
            </a:endParaRPr>
          </a:p>
        </p:txBody>
      </p:sp>
      <p:sp>
        <p:nvSpPr>
          <p:cNvPr id="10268" name="Text Box 19"/>
          <p:cNvSpPr txBox="1">
            <a:spLocks noChangeArrowheads="1"/>
          </p:cNvSpPr>
          <p:nvPr/>
        </p:nvSpPr>
        <p:spPr bwMode="auto">
          <a:xfrm>
            <a:off x="7164388" y="19891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E40D0D03-80F0-4E82-A16B-365DAA29B934}"/>
              </a:ext>
            </a:extLst>
          </p:cNvPr>
          <p:cNvSpPr>
            <a:spLocks noGrp="1"/>
          </p:cNvSpPr>
          <p:nvPr>
            <p:ph type="sldNum" sz="quarter" idx="12"/>
          </p:nvPr>
        </p:nvSpPr>
        <p:spPr/>
        <p:txBody>
          <a:bodyPr/>
          <a:lstStyle/>
          <a:p>
            <a:pPr>
              <a:defRPr/>
            </a:pPr>
            <a:fld id="{2AE1B59C-883C-4848-BC85-9A12DF2590B2}" type="slidenum">
              <a:rPr lang="en-US" altLang="zh-CN" smtClean="0"/>
              <a:t>68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54"/>
                                        </p:tgtEl>
                                        <p:attrNameLst>
                                          <p:attrName>style.visibility</p:attrName>
                                        </p:attrNameLst>
                                      </p:cBhvr>
                                      <p:to>
                                        <p:strVal val="visible"/>
                                      </p:to>
                                    </p:set>
                                    <p:animEffect transition="in" filter="blinds(horizontal)">
                                      <p:cBhvr>
                                        <p:cTn id="7" dur="500"/>
                                        <p:tgtEl>
                                          <p:spTgt spid="2255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55"/>
                                        </p:tgtEl>
                                        <p:attrNameLst>
                                          <p:attrName>style.visibility</p:attrName>
                                        </p:attrNameLst>
                                      </p:cBhvr>
                                      <p:to>
                                        <p:strVal val="visible"/>
                                      </p:to>
                                    </p:set>
                                    <p:animEffect transition="in" filter="blinds(horizontal)">
                                      <p:cBhvr>
                                        <p:cTn id="10" dur="500"/>
                                        <p:tgtEl>
                                          <p:spTgt spid="2255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56"/>
                                        </p:tgtEl>
                                        <p:attrNameLst>
                                          <p:attrName>style.visibility</p:attrName>
                                        </p:attrNameLst>
                                      </p:cBhvr>
                                      <p:to>
                                        <p:strVal val="visible"/>
                                      </p:to>
                                    </p:set>
                                    <p:animEffect transition="in" filter="blinds(horizontal)">
                                      <p:cBhvr>
                                        <p:cTn id="13" dur="500"/>
                                        <p:tgtEl>
                                          <p:spTgt spid="22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4" grpId="0"/>
      <p:bldP spid="22555" grpId="0"/>
      <p:bldP spid="2255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2"/>
          <p:cNvSpPr txBox="1">
            <a:spLocks noChangeArrowheads="1"/>
          </p:cNvSpPr>
          <p:nvPr/>
        </p:nvSpPr>
        <p:spPr bwMode="auto">
          <a:xfrm>
            <a:off x="304800" y="457200"/>
            <a:ext cx="4419600" cy="519113"/>
          </a:xfrm>
          <a:prstGeom prst="rect">
            <a:avLst/>
          </a:prstGeom>
          <a:noFill/>
          <a:ln w="9525">
            <a:noFill/>
            <a:miter lim="800000"/>
          </a:ln>
          <a:effectLst/>
        </p:spPr>
        <p:txBody>
          <a:bodyPr>
            <a:spAutoFit/>
          </a:bodyPr>
          <a:lstStyle/>
          <a:p>
            <a:pPr eaLnBrk="1" hangingPunct="1">
              <a:spcBef>
                <a:spcPct val="50000"/>
              </a:spcBef>
              <a:defRPr/>
            </a:pPr>
            <a:r>
              <a:rPr kumimoji="1" lang="zh-CN" altLang="en-US" sz="2800" b="1" dirty="0">
                <a:solidFill>
                  <a:srgbClr val="800000"/>
                </a:solidFill>
                <a:effectLst>
                  <a:outerShdw blurRad="38100" dist="38100" dir="2700000" algn="tl">
                    <a:srgbClr val="C0C0C0"/>
                  </a:outerShdw>
                </a:effectLst>
                <a:ea typeface="微软雅黑" panose="020B0503020204020204" pitchFamily="34" charset="-122"/>
              </a:rPr>
              <a:t>产小于销</a:t>
            </a:r>
          </a:p>
        </p:txBody>
      </p:sp>
      <p:sp>
        <p:nvSpPr>
          <p:cNvPr id="11267" name="Line 3"/>
          <p:cNvSpPr>
            <a:spLocks noChangeShapeType="1"/>
          </p:cNvSpPr>
          <p:nvPr/>
        </p:nvSpPr>
        <p:spPr bwMode="auto">
          <a:xfrm>
            <a:off x="1143000" y="1219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1268" name="Line 4"/>
          <p:cNvSpPr>
            <a:spLocks noChangeShapeType="1"/>
          </p:cNvSpPr>
          <p:nvPr/>
        </p:nvSpPr>
        <p:spPr bwMode="auto">
          <a:xfrm>
            <a:off x="1066800" y="19812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1269" name="Line 5"/>
          <p:cNvSpPr>
            <a:spLocks noChangeShapeType="1"/>
          </p:cNvSpPr>
          <p:nvPr/>
        </p:nvSpPr>
        <p:spPr bwMode="auto">
          <a:xfrm>
            <a:off x="1066800" y="6324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1270" name="Line 6"/>
          <p:cNvSpPr>
            <a:spLocks noChangeShapeType="1"/>
          </p:cNvSpPr>
          <p:nvPr/>
        </p:nvSpPr>
        <p:spPr bwMode="auto">
          <a:xfrm>
            <a:off x="990600" y="5562600"/>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1271" name="Text Box 7"/>
          <p:cNvSpPr txBox="1">
            <a:spLocks noChangeArrowheads="1"/>
          </p:cNvSpPr>
          <p:nvPr/>
        </p:nvSpPr>
        <p:spPr bwMode="auto">
          <a:xfrm>
            <a:off x="1371600" y="1219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销地</a:t>
            </a:r>
          </a:p>
        </p:txBody>
      </p:sp>
      <p:sp>
        <p:nvSpPr>
          <p:cNvPr id="11272" name="Text Box 8"/>
          <p:cNvSpPr txBox="1">
            <a:spLocks noChangeArrowheads="1"/>
          </p:cNvSpPr>
          <p:nvPr/>
        </p:nvSpPr>
        <p:spPr bwMode="auto">
          <a:xfrm>
            <a:off x="914400" y="160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产地</a:t>
            </a:r>
          </a:p>
        </p:txBody>
      </p:sp>
      <p:sp>
        <p:nvSpPr>
          <p:cNvPr id="11273" name="Text Box 9"/>
          <p:cNvSpPr txBox="1">
            <a:spLocks noChangeArrowheads="1"/>
          </p:cNvSpPr>
          <p:nvPr/>
        </p:nvSpPr>
        <p:spPr bwMode="auto">
          <a:xfrm>
            <a:off x="1258888" y="2117725"/>
            <a:ext cx="6715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微软雅黑" panose="020B0503020204020204" pitchFamily="34" charset="-122"/>
              </a:rPr>
              <a:t>1 </a:t>
            </a:r>
          </a:p>
          <a:p>
            <a:pPr eaLnBrk="1" hangingPunct="1"/>
            <a:r>
              <a:rPr lang="en-US" altLang="zh-CN" sz="2800">
                <a:latin typeface="Times New Roman" panose="02020603050405020304" pitchFamily="18" charset="0"/>
                <a:ea typeface="微软雅黑" panose="020B0503020204020204" pitchFamily="34" charset="-122"/>
              </a:rPr>
              <a:t>  </a:t>
            </a:r>
            <a:r>
              <a:rPr lang="en-US" altLang="zh-CN" sz="1400">
                <a:latin typeface="Times New Roman" panose="02020603050405020304" pitchFamily="18" charset="0"/>
                <a:ea typeface="微软雅黑" panose="020B0503020204020204" pitchFamily="34" charset="-122"/>
              </a:rPr>
              <a:t> </a:t>
            </a:r>
            <a:r>
              <a:rPr lang="en-US" altLang="zh-CN" sz="2800">
                <a:latin typeface="Times New Roman" panose="02020603050405020304" pitchFamily="18" charset="0"/>
                <a:ea typeface="微软雅黑" panose="020B0503020204020204" pitchFamily="34" charset="-122"/>
              </a:rPr>
              <a:t>2  </a:t>
            </a:r>
            <a:r>
              <a:rPr lang="en-US" altLang="zh-CN" sz="2800">
                <a:ea typeface="微软雅黑" panose="020B0503020204020204" pitchFamily="34" charset="-122"/>
              </a:rPr>
              <a:t>…                            </a:t>
            </a:r>
          </a:p>
        </p:txBody>
      </p:sp>
      <p:sp>
        <p:nvSpPr>
          <p:cNvPr id="11274" name="Text Box 10"/>
          <p:cNvSpPr txBox="1">
            <a:spLocks noChangeArrowheads="1"/>
          </p:cNvSpPr>
          <p:nvPr/>
        </p:nvSpPr>
        <p:spPr bwMode="auto">
          <a:xfrm>
            <a:off x="1066800" y="4038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m</a:t>
            </a:r>
          </a:p>
        </p:txBody>
      </p:sp>
      <p:sp>
        <p:nvSpPr>
          <p:cNvPr id="11275" name="Line 11"/>
          <p:cNvSpPr>
            <a:spLocks noChangeShapeType="1"/>
          </p:cNvSpPr>
          <p:nvPr/>
        </p:nvSpPr>
        <p:spPr bwMode="auto">
          <a:xfrm>
            <a:off x="2133600" y="12192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1276" name="Line 12"/>
          <p:cNvSpPr>
            <a:spLocks noChangeShapeType="1"/>
          </p:cNvSpPr>
          <p:nvPr/>
        </p:nvSpPr>
        <p:spPr bwMode="auto">
          <a:xfrm>
            <a:off x="7010400" y="12954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微软雅黑" panose="020B0503020204020204" pitchFamily="34" charset="-122"/>
            </a:endParaRPr>
          </a:p>
        </p:txBody>
      </p:sp>
      <p:sp>
        <p:nvSpPr>
          <p:cNvPr id="11277" name="Text Box 13"/>
          <p:cNvSpPr txBox="1">
            <a:spLocks noChangeArrowheads="1"/>
          </p:cNvSpPr>
          <p:nvPr/>
        </p:nvSpPr>
        <p:spPr bwMode="auto">
          <a:xfrm>
            <a:off x="9906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销量</a:t>
            </a:r>
          </a:p>
        </p:txBody>
      </p:sp>
      <p:sp>
        <p:nvSpPr>
          <p:cNvPr id="11278" name="Text Box 14"/>
          <p:cNvSpPr txBox="1">
            <a:spLocks noChangeArrowheads="1"/>
          </p:cNvSpPr>
          <p:nvPr/>
        </p:nvSpPr>
        <p:spPr bwMode="auto">
          <a:xfrm>
            <a:off x="7164388" y="1371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zh-CN" altLang="en-US">
                <a:ea typeface="微软雅黑" panose="020B0503020204020204" pitchFamily="34" charset="-122"/>
              </a:rPr>
              <a:t>产量</a:t>
            </a:r>
          </a:p>
        </p:txBody>
      </p:sp>
      <p:sp>
        <p:nvSpPr>
          <p:cNvPr id="11279" name="Text Box 19"/>
          <p:cNvSpPr txBox="1">
            <a:spLocks noChangeArrowheads="1"/>
          </p:cNvSpPr>
          <p:nvPr/>
        </p:nvSpPr>
        <p:spPr bwMode="auto">
          <a:xfrm>
            <a:off x="2051050" y="2895600"/>
            <a:ext cx="489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2</a:t>
            </a:r>
            <a:r>
              <a:rPr lang="en-US" altLang="zh-CN" sz="1200" i="1">
                <a:latin typeface="Times New Roman" panose="02020603050405020304" pitchFamily="18" charset="0"/>
                <a:ea typeface="微软雅黑" panose="020B0503020204020204" pitchFamily="34" charset="-122"/>
              </a:rPr>
              <a:t>n</a:t>
            </a:r>
          </a:p>
        </p:txBody>
      </p:sp>
      <p:sp>
        <p:nvSpPr>
          <p:cNvPr id="11280" name="Text Box 20"/>
          <p:cNvSpPr txBox="1">
            <a:spLocks noChangeArrowheads="1"/>
          </p:cNvSpPr>
          <p:nvPr/>
        </p:nvSpPr>
        <p:spPr bwMode="auto">
          <a:xfrm>
            <a:off x="2195513" y="4038600"/>
            <a:ext cx="4752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i="1">
                <a:latin typeface="Times New Roman" panose="02020603050405020304" pitchFamily="18" charset="0"/>
                <a:ea typeface="微软雅黑" panose="020B0503020204020204" pitchFamily="34" charset="-122"/>
              </a:rPr>
              <a:t>mn</a:t>
            </a:r>
          </a:p>
        </p:txBody>
      </p:sp>
      <p:sp>
        <p:nvSpPr>
          <p:cNvPr id="11281" name="Text Box 21"/>
          <p:cNvSpPr txBox="1">
            <a:spLocks noChangeArrowheads="1"/>
          </p:cNvSpPr>
          <p:nvPr/>
        </p:nvSpPr>
        <p:spPr bwMode="auto">
          <a:xfrm>
            <a:off x="2195513" y="2057400"/>
            <a:ext cx="4679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x</a:t>
            </a:r>
            <a:r>
              <a:rPr lang="en-US" altLang="zh-CN" sz="1200">
                <a:latin typeface="Times New Roman" panose="02020603050405020304" pitchFamily="18" charset="0"/>
                <a:ea typeface="微软雅黑" panose="020B0503020204020204" pitchFamily="34" charset="-122"/>
              </a:rPr>
              <a:t>1</a:t>
            </a:r>
            <a:r>
              <a:rPr lang="en-US" altLang="zh-CN" sz="1200" i="1">
                <a:latin typeface="Times New Roman" panose="02020603050405020304" pitchFamily="18" charset="0"/>
                <a:ea typeface="微软雅黑" panose="020B0503020204020204" pitchFamily="34" charset="-122"/>
              </a:rPr>
              <a:t>n</a:t>
            </a:r>
          </a:p>
        </p:txBody>
      </p:sp>
      <p:sp>
        <p:nvSpPr>
          <p:cNvPr id="11282" name="Text Box 22"/>
          <p:cNvSpPr txBox="1">
            <a:spLocks noChangeArrowheads="1"/>
          </p:cNvSpPr>
          <p:nvPr/>
        </p:nvSpPr>
        <p:spPr bwMode="auto">
          <a:xfrm>
            <a:off x="3727450" y="3124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1283" name="Text Box 23"/>
          <p:cNvSpPr txBox="1">
            <a:spLocks noChangeArrowheads="1"/>
          </p:cNvSpPr>
          <p:nvPr/>
        </p:nvSpPr>
        <p:spPr bwMode="auto">
          <a:xfrm>
            <a:off x="2209800" y="12954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latin typeface="Times New Roman" panose="02020603050405020304" pitchFamily="18" charset="0"/>
                <a:ea typeface="微软雅黑" panose="020B0503020204020204" pitchFamily="34" charset="-122"/>
              </a:rPr>
              <a:t>1          2       …             </a:t>
            </a:r>
            <a:r>
              <a:rPr lang="en-US" altLang="zh-CN" sz="3200" i="1">
                <a:latin typeface="Times New Roman" panose="02020603050405020304" pitchFamily="18" charset="0"/>
                <a:ea typeface="微软雅黑" panose="020B0503020204020204" pitchFamily="34" charset="-122"/>
              </a:rPr>
              <a:t>n</a:t>
            </a:r>
            <a:endParaRPr lang="en-US" altLang="zh-CN" sz="3200" i="1">
              <a:solidFill>
                <a:srgbClr val="800000"/>
              </a:solidFill>
              <a:latin typeface="Times New Roman" panose="02020603050405020304" pitchFamily="18" charset="0"/>
              <a:ea typeface="微软雅黑" panose="020B0503020204020204" pitchFamily="34" charset="-122"/>
            </a:endParaRPr>
          </a:p>
        </p:txBody>
      </p:sp>
      <p:sp>
        <p:nvSpPr>
          <p:cNvPr id="11284" name="Text Box 27"/>
          <p:cNvSpPr txBox="1">
            <a:spLocks noChangeArrowheads="1"/>
          </p:cNvSpPr>
          <p:nvPr/>
        </p:nvSpPr>
        <p:spPr bwMode="auto">
          <a:xfrm>
            <a:off x="2209800" y="5638800"/>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1</a:t>
            </a:r>
            <a:r>
              <a:rPr lang="en-US" altLang="zh-CN" sz="3200">
                <a:latin typeface="Times New Roman" panose="02020603050405020304" pitchFamily="18" charset="0"/>
                <a:ea typeface="微软雅黑" panose="020B0503020204020204" pitchFamily="34" charset="-122"/>
              </a:rPr>
              <a:t>          </a:t>
            </a:r>
            <a:r>
              <a:rPr lang="en-US" altLang="zh-CN" sz="3200" i="1">
                <a:latin typeface="Times New Roman" panose="02020603050405020304" pitchFamily="18" charset="0"/>
                <a:ea typeface="微软雅黑" panose="020B0503020204020204" pitchFamily="34" charset="-122"/>
              </a:rPr>
              <a:t>b</a:t>
            </a:r>
            <a:r>
              <a:rPr lang="en-US" altLang="zh-CN" sz="1200">
                <a:latin typeface="Times New Roman" panose="02020603050405020304" pitchFamily="18" charset="0"/>
                <a:ea typeface="微软雅黑" panose="020B0503020204020204" pitchFamily="34" charset="-122"/>
              </a:rPr>
              <a:t>2</a:t>
            </a:r>
            <a:r>
              <a:rPr lang="en-US" altLang="zh-CN" sz="3200">
                <a:latin typeface="Times New Roman" panose="02020603050405020304" pitchFamily="18" charset="0"/>
                <a:ea typeface="微软雅黑" panose="020B0503020204020204" pitchFamily="34" charset="-122"/>
              </a:rPr>
              <a:t>       …             </a:t>
            </a:r>
            <a:r>
              <a:rPr lang="en-US" altLang="zh-CN" sz="3200" i="1">
                <a:latin typeface="Times New Roman" panose="02020603050405020304" pitchFamily="18" charset="0"/>
                <a:ea typeface="微软雅黑" panose="020B0503020204020204" pitchFamily="34" charset="-122"/>
              </a:rPr>
              <a:t>b</a:t>
            </a:r>
            <a:r>
              <a:rPr lang="en-US" altLang="zh-CN" sz="1200" i="1">
                <a:latin typeface="Times New Roman" panose="02020603050405020304" pitchFamily="18" charset="0"/>
                <a:ea typeface="微软雅黑" panose="020B0503020204020204" pitchFamily="34" charset="-122"/>
              </a:rPr>
              <a:t>n</a:t>
            </a:r>
          </a:p>
        </p:txBody>
      </p:sp>
      <p:sp>
        <p:nvSpPr>
          <p:cNvPr id="11285" name="Text Box 28"/>
          <p:cNvSpPr txBox="1">
            <a:spLocks noChangeArrowheads="1"/>
          </p:cNvSpPr>
          <p:nvPr/>
        </p:nvSpPr>
        <p:spPr bwMode="auto">
          <a:xfrm>
            <a:off x="1219200" y="5867400"/>
            <a:ext cx="2971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lang="zh-CN" altLang="zh-CN">
              <a:ea typeface="微软雅黑" panose="020B0503020204020204" pitchFamily="34" charset="-122"/>
            </a:endParaRPr>
          </a:p>
        </p:txBody>
      </p:sp>
      <p:sp>
        <p:nvSpPr>
          <p:cNvPr id="22554" name="Text Box 29"/>
          <p:cNvSpPr txBox="1">
            <a:spLocks noChangeArrowheads="1"/>
          </p:cNvSpPr>
          <p:nvPr/>
        </p:nvSpPr>
        <p:spPr bwMode="auto">
          <a:xfrm>
            <a:off x="893763" y="4953000"/>
            <a:ext cx="1301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m</a:t>
            </a:r>
            <a:r>
              <a:rPr lang="en-US" altLang="zh-CN" sz="3200" b="1">
                <a:solidFill>
                  <a:srgbClr val="FF0000"/>
                </a:solidFill>
                <a:ea typeface="微软雅黑" panose="020B0503020204020204" pitchFamily="34" charset="-122"/>
              </a:rPr>
              <a:t>+1</a:t>
            </a:r>
          </a:p>
        </p:txBody>
      </p:sp>
      <p:sp>
        <p:nvSpPr>
          <p:cNvPr id="22556" name="Text Box 31"/>
          <p:cNvSpPr txBox="1">
            <a:spLocks noChangeArrowheads="1"/>
          </p:cNvSpPr>
          <p:nvPr/>
        </p:nvSpPr>
        <p:spPr bwMode="auto">
          <a:xfrm>
            <a:off x="7164388" y="48768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b="1" i="1">
                <a:solidFill>
                  <a:srgbClr val="FF0000"/>
                </a:solidFill>
                <a:latin typeface="Times New Roman" panose="02020603050405020304" pitchFamily="18" charset="0"/>
                <a:ea typeface="微软雅黑" panose="020B0503020204020204" pitchFamily="34" charset="-122"/>
              </a:rPr>
              <a:t>a</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a:t>
            </a:r>
            <a:endParaRPr lang="en-US" altLang="zh-CN" sz="3600" b="1">
              <a:solidFill>
                <a:srgbClr val="FF0000"/>
              </a:solidFill>
              <a:latin typeface="Times New Roman" panose="02020603050405020304" pitchFamily="18" charset="0"/>
              <a:ea typeface="微软雅黑" panose="020B0503020204020204" pitchFamily="34" charset="-122"/>
            </a:endParaRPr>
          </a:p>
        </p:txBody>
      </p:sp>
      <p:sp>
        <p:nvSpPr>
          <p:cNvPr id="29" name="Text Box 20"/>
          <p:cNvSpPr txBox="1">
            <a:spLocks noChangeArrowheads="1"/>
          </p:cNvSpPr>
          <p:nvPr/>
        </p:nvSpPr>
        <p:spPr bwMode="auto">
          <a:xfrm>
            <a:off x="2124075" y="4941888"/>
            <a:ext cx="5327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+1,1</a:t>
            </a:r>
            <a:r>
              <a:rPr lang="en-US" altLang="zh-CN" sz="3200" b="1">
                <a:solidFill>
                  <a:srgbClr val="FF0000"/>
                </a:solidFill>
                <a:latin typeface="Times New Roman" panose="02020603050405020304" pitchFamily="18" charset="0"/>
                <a:ea typeface="微软雅黑" panose="020B0503020204020204" pitchFamily="34" charset="-122"/>
              </a:rPr>
              <a:t>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+1,2</a:t>
            </a:r>
            <a:r>
              <a:rPr lang="en-US" altLang="zh-CN" sz="3200" b="1">
                <a:solidFill>
                  <a:srgbClr val="FF0000"/>
                </a:solidFill>
                <a:latin typeface="Times New Roman" panose="02020603050405020304" pitchFamily="18" charset="0"/>
                <a:ea typeface="微软雅黑" panose="020B0503020204020204" pitchFamily="34" charset="-122"/>
              </a:rPr>
              <a:t>      …           </a:t>
            </a:r>
            <a:r>
              <a:rPr lang="en-US" altLang="zh-CN" sz="3200" b="1" i="1">
                <a:solidFill>
                  <a:srgbClr val="FF0000"/>
                </a:solidFill>
                <a:latin typeface="Times New Roman" panose="02020603050405020304" pitchFamily="18" charset="0"/>
                <a:ea typeface="微软雅黑" panose="020B0503020204020204" pitchFamily="34" charset="-122"/>
              </a:rPr>
              <a:t>x</a:t>
            </a:r>
            <a:r>
              <a:rPr lang="en-US" altLang="zh-CN" sz="1200" b="1" i="1">
                <a:solidFill>
                  <a:srgbClr val="FF0000"/>
                </a:solidFill>
                <a:latin typeface="Times New Roman" panose="02020603050405020304" pitchFamily="18" charset="0"/>
                <a:ea typeface="微软雅黑" panose="020B0503020204020204" pitchFamily="34" charset="-122"/>
              </a:rPr>
              <a:t>m</a:t>
            </a:r>
            <a:r>
              <a:rPr lang="en-US" altLang="zh-CN" sz="1200" b="1">
                <a:solidFill>
                  <a:srgbClr val="FF0000"/>
                </a:solidFill>
                <a:latin typeface="Times New Roman" panose="02020603050405020304" pitchFamily="18" charset="0"/>
                <a:ea typeface="微软雅黑" panose="020B0503020204020204" pitchFamily="34" charset="-122"/>
              </a:rPr>
              <a:t>+1,</a:t>
            </a:r>
            <a:r>
              <a:rPr lang="en-US" altLang="zh-CN" sz="1200" b="1" i="1">
                <a:solidFill>
                  <a:srgbClr val="FF0000"/>
                </a:solidFill>
                <a:latin typeface="Times New Roman" panose="02020603050405020304" pitchFamily="18" charset="0"/>
                <a:ea typeface="微软雅黑" panose="020B0503020204020204" pitchFamily="34" charset="-122"/>
              </a:rPr>
              <a:t>n</a:t>
            </a:r>
          </a:p>
        </p:txBody>
      </p:sp>
      <p:sp>
        <p:nvSpPr>
          <p:cNvPr id="11289" name="Text Box 18"/>
          <p:cNvSpPr txBox="1">
            <a:spLocks noChangeArrowheads="1"/>
          </p:cNvSpPr>
          <p:nvPr/>
        </p:nvSpPr>
        <p:spPr bwMode="auto">
          <a:xfrm>
            <a:off x="7350125" y="2997200"/>
            <a:ext cx="6778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200">
                <a:ea typeface="微软雅黑" panose="020B0503020204020204" pitchFamily="34" charset="-122"/>
              </a:rPr>
              <a:t>     …</a:t>
            </a:r>
            <a:r>
              <a:rPr lang="en-US" altLang="zh-CN">
                <a:ea typeface="微软雅黑" panose="020B0503020204020204" pitchFamily="34" charset="-122"/>
              </a:rPr>
              <a:t>                            </a:t>
            </a:r>
          </a:p>
        </p:txBody>
      </p:sp>
      <p:sp>
        <p:nvSpPr>
          <p:cNvPr id="11290" name="Text Box 19"/>
          <p:cNvSpPr txBox="1">
            <a:spLocks noChangeArrowheads="1"/>
          </p:cNvSpPr>
          <p:nvPr/>
        </p:nvSpPr>
        <p:spPr bwMode="auto">
          <a:xfrm>
            <a:off x="7177088" y="28527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2</a:t>
            </a:r>
            <a:endParaRPr lang="en-US" altLang="zh-CN" sz="3600">
              <a:latin typeface="Times New Roman" panose="02020603050405020304" pitchFamily="18" charset="0"/>
              <a:ea typeface="微软雅黑" panose="020B0503020204020204" pitchFamily="34" charset="-122"/>
            </a:endParaRPr>
          </a:p>
        </p:txBody>
      </p:sp>
      <p:sp>
        <p:nvSpPr>
          <p:cNvPr id="11291" name="Text Box 19"/>
          <p:cNvSpPr txBox="1">
            <a:spLocks noChangeArrowheads="1"/>
          </p:cNvSpPr>
          <p:nvPr/>
        </p:nvSpPr>
        <p:spPr bwMode="auto">
          <a:xfrm>
            <a:off x="7164388" y="4005263"/>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i="1">
                <a:latin typeface="Times New Roman" panose="02020603050405020304" pitchFamily="18" charset="0"/>
                <a:ea typeface="微软雅黑" panose="020B0503020204020204" pitchFamily="34" charset="-122"/>
              </a:rPr>
              <a:t>m</a:t>
            </a:r>
            <a:endParaRPr lang="en-US" altLang="zh-CN" sz="3600" i="1">
              <a:latin typeface="Times New Roman" panose="02020603050405020304" pitchFamily="18" charset="0"/>
              <a:ea typeface="微软雅黑" panose="020B0503020204020204" pitchFamily="34" charset="-122"/>
            </a:endParaRPr>
          </a:p>
        </p:txBody>
      </p:sp>
      <p:sp>
        <p:nvSpPr>
          <p:cNvPr id="11292" name="Text Box 19"/>
          <p:cNvSpPr txBox="1">
            <a:spLocks noChangeArrowheads="1"/>
          </p:cNvSpPr>
          <p:nvPr/>
        </p:nvSpPr>
        <p:spPr bwMode="auto">
          <a:xfrm>
            <a:off x="7164388" y="1989138"/>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3600" i="1">
                <a:latin typeface="Times New Roman" panose="02020603050405020304" pitchFamily="18" charset="0"/>
                <a:ea typeface="微软雅黑" panose="020B0503020204020204" pitchFamily="34" charset="-122"/>
              </a:rPr>
              <a:t>a</a:t>
            </a:r>
            <a:r>
              <a:rPr lang="en-US" altLang="zh-CN" sz="1200">
                <a:latin typeface="Times New Roman" panose="02020603050405020304" pitchFamily="18" charset="0"/>
                <a:ea typeface="微软雅黑" panose="020B0503020204020204" pitchFamily="34" charset="-122"/>
              </a:rPr>
              <a:t>1</a:t>
            </a:r>
            <a:endParaRPr lang="en-US" altLang="zh-CN" sz="3600">
              <a:latin typeface="Times New Roman" panose="02020603050405020304" pitchFamily="18"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93FEAA18-3129-4117-A246-8B12046F8091}"/>
              </a:ext>
            </a:extLst>
          </p:cNvPr>
          <p:cNvSpPr>
            <a:spLocks noGrp="1"/>
          </p:cNvSpPr>
          <p:nvPr>
            <p:ph type="sldNum" sz="quarter" idx="12"/>
          </p:nvPr>
        </p:nvSpPr>
        <p:spPr/>
        <p:txBody>
          <a:bodyPr/>
          <a:lstStyle/>
          <a:p>
            <a:pPr>
              <a:defRPr/>
            </a:pPr>
            <a:fld id="{2AE1B59C-883C-4848-BC85-9A12DF2590B2}" type="slidenum">
              <a:rPr lang="en-US" altLang="zh-CN" smtClean="0"/>
              <a:t>69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54"/>
                                        </p:tgtEl>
                                        <p:attrNameLst>
                                          <p:attrName>style.visibility</p:attrName>
                                        </p:attrNameLst>
                                      </p:cBhvr>
                                      <p:to>
                                        <p:strVal val="visible"/>
                                      </p:to>
                                    </p:set>
                                    <p:animEffect transition="in" filter="blinds(horizontal)">
                                      <p:cBhvr>
                                        <p:cTn id="10" dur="500"/>
                                        <p:tgtEl>
                                          <p:spTgt spid="2255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56"/>
                                        </p:tgtEl>
                                        <p:attrNameLst>
                                          <p:attrName>style.visibility</p:attrName>
                                        </p:attrNameLst>
                                      </p:cBhvr>
                                      <p:to>
                                        <p:strVal val="visible"/>
                                      </p:to>
                                    </p:set>
                                    <p:animEffect transition="in" filter="blinds(horizontal)">
                                      <p:cBhvr>
                                        <p:cTn id="13" dur="500"/>
                                        <p:tgtEl>
                                          <p:spTgt spid="22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4" grpId="0"/>
      <p:bldP spid="22556" grpId="0"/>
      <p:bldP spid="2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1700213"/>
            <a:ext cx="9037637"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2"/>
          <p:cNvSpPr txBox="1">
            <a:spLocks noChangeArrowheads="1"/>
          </p:cNvSpPr>
          <p:nvPr/>
        </p:nvSpPr>
        <p:spPr bwMode="auto">
          <a:xfrm>
            <a:off x="71438" y="44450"/>
            <a:ext cx="9037637" cy="15573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solidFill>
                  <a:schemeClr val="hlink"/>
                </a:solidFill>
                <a:latin typeface="Times New Roman" panose="02020603050405020304" pitchFamily="18" charset="0"/>
                <a:ea typeface="微软雅黑" panose="020B0503020204020204" pitchFamily="34" charset="-122"/>
              </a:rPr>
              <a:t>例</a:t>
            </a:r>
            <a:r>
              <a:rPr lang="en-US" altLang="zh-CN" b="1" dirty="0">
                <a:solidFill>
                  <a:schemeClr val="hlink"/>
                </a:solidFill>
                <a:latin typeface="Times New Roman" panose="02020603050405020304" pitchFamily="18" charset="0"/>
                <a:ea typeface="微软雅黑" panose="020B0503020204020204" pitchFamily="34" charset="-122"/>
              </a:rPr>
              <a:t>4-2</a:t>
            </a:r>
            <a:r>
              <a:rPr lang="en-US" altLang="zh-CN" b="1" dirty="0">
                <a:latin typeface="Times New Roman" panose="02020603050405020304" pitchFamily="18" charset="0"/>
                <a:ea typeface="微软雅黑" panose="020B0503020204020204" pitchFamily="34" charset="-122"/>
              </a:rPr>
              <a:t>  </a:t>
            </a:r>
            <a:r>
              <a:rPr lang="zh-CN" altLang="en-US" b="1" dirty="0">
                <a:latin typeface="Times New Roman" panose="02020603050405020304" pitchFamily="18" charset="0"/>
                <a:ea typeface="微软雅黑" panose="020B0503020204020204" pitchFamily="34" charset="-122"/>
              </a:rPr>
              <a:t>设有三个化肥厂</a:t>
            </a:r>
            <a:r>
              <a:rPr lang="en-US" altLang="zh-CN" b="1" dirty="0">
                <a:latin typeface="Times New Roman" panose="02020603050405020304" pitchFamily="18" charset="0"/>
                <a:ea typeface="微软雅黑" panose="020B0503020204020204" pitchFamily="34" charset="-122"/>
              </a:rPr>
              <a:t>(A</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B</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C)</a:t>
            </a:r>
            <a:r>
              <a:rPr lang="zh-CN" altLang="en-US" b="1" dirty="0">
                <a:latin typeface="Times New Roman" panose="02020603050405020304" pitchFamily="18" charset="0"/>
                <a:ea typeface="微软雅黑" panose="020B0503020204020204" pitchFamily="34" charset="-122"/>
              </a:rPr>
              <a:t>供应四个地区</a:t>
            </a:r>
            <a:r>
              <a:rPr lang="en-US" altLang="zh-CN" b="1" dirty="0">
                <a:latin typeface="Times New Roman" panose="02020603050405020304" pitchFamily="18" charset="0"/>
                <a:ea typeface="微软雅黑" panose="020B0503020204020204" pitchFamily="34" charset="-122"/>
              </a:rPr>
              <a:t>(Ⅰ</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Ⅱ</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Ⅲ</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的农用化肥。假定等量的化肥在这些地区使用效果相同。各化肥厂年产量</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各地区年需要量及从各化肥厂到各地区运送单位化肥的运价如表</a:t>
            </a:r>
            <a:r>
              <a:rPr lang="en-US" altLang="zh-CN" b="1" dirty="0">
                <a:latin typeface="Times New Roman" panose="02020603050405020304" pitchFamily="18" charset="0"/>
                <a:ea typeface="微软雅黑" panose="020B0503020204020204" pitchFamily="34" charset="-122"/>
              </a:rPr>
              <a:t>4-26</a:t>
            </a:r>
            <a:r>
              <a:rPr lang="zh-CN" altLang="en-US" b="1" dirty="0">
                <a:latin typeface="Times New Roman" panose="02020603050405020304" pitchFamily="18" charset="0"/>
                <a:ea typeface="微软雅黑" panose="020B0503020204020204" pitchFamily="34" charset="-122"/>
              </a:rPr>
              <a:t>所示。试求出总的运费最节省的化肥调拨方案。</a:t>
            </a:r>
            <a:endParaRPr lang="en-US" altLang="zh-CN" b="1" dirty="0">
              <a:solidFill>
                <a:schemeClr val="tx2"/>
              </a:solidFill>
              <a:latin typeface="Times New Roman" panose="02020603050405020304" pitchFamily="18" charset="0"/>
              <a:ea typeface="微软雅黑" panose="020B0503020204020204" pitchFamily="34" charset="-122"/>
            </a:endParaRPr>
          </a:p>
        </p:txBody>
      </p:sp>
      <p:sp>
        <p:nvSpPr>
          <p:cNvPr id="4" name="矩形 3"/>
          <p:cNvSpPr>
            <a:spLocks noChangeArrowheads="1"/>
          </p:cNvSpPr>
          <p:nvPr/>
        </p:nvSpPr>
        <p:spPr bwMode="auto">
          <a:xfrm>
            <a:off x="3492500" y="4437063"/>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4-26</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3"/>
          <p:cNvSpPr txBox="1">
            <a:spLocks noChangeArrowheads="1"/>
          </p:cNvSpPr>
          <p:nvPr/>
        </p:nvSpPr>
        <p:spPr bwMode="auto">
          <a:xfrm>
            <a:off x="0" y="4824413"/>
            <a:ext cx="9144000" cy="2033587"/>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dirty="0">
                <a:solidFill>
                  <a:schemeClr val="hlink"/>
                </a:solidFill>
                <a:latin typeface="Times New Roman" panose="02020603050405020304" pitchFamily="18" charset="0"/>
                <a:ea typeface="微软雅黑" panose="020B0503020204020204" pitchFamily="34" charset="-122"/>
              </a:rPr>
              <a:t>解 </a:t>
            </a:r>
            <a:r>
              <a:rPr lang="zh-CN" altLang="en-US" b="1" dirty="0">
                <a:latin typeface="Times New Roman" panose="02020603050405020304" pitchFamily="18" charset="0"/>
                <a:ea typeface="微软雅黑" panose="020B0503020204020204" pitchFamily="34" charset="-122"/>
              </a:rPr>
              <a:t> 总产量为</a:t>
            </a:r>
            <a:r>
              <a:rPr lang="en-US" altLang="zh-CN" b="1" dirty="0">
                <a:latin typeface="Times New Roman" panose="02020603050405020304" pitchFamily="18" charset="0"/>
                <a:ea typeface="微软雅黑" panose="020B0503020204020204" pitchFamily="34" charset="-122"/>
              </a:rPr>
              <a:t>160</a:t>
            </a:r>
            <a:r>
              <a:rPr lang="zh-CN" altLang="en-US" b="1" dirty="0">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四个地区的最低需求为</a:t>
            </a:r>
            <a:r>
              <a:rPr lang="en-US" altLang="zh-CN" b="1" dirty="0">
                <a:latin typeface="Times New Roman" panose="02020603050405020304" pitchFamily="18" charset="0"/>
                <a:ea typeface="微软雅黑" panose="020B0503020204020204" pitchFamily="34" charset="-122"/>
              </a:rPr>
              <a:t>110</a:t>
            </a:r>
            <a:r>
              <a:rPr lang="zh-CN" altLang="en-US" b="1" dirty="0">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最高需求为无限。这是一个产销不平衡的运输问题</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根据现有产量</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第</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个地区每年最多能分配到</a:t>
            </a:r>
            <a:r>
              <a:rPr lang="en-US" altLang="zh-CN" b="1" dirty="0">
                <a:latin typeface="Times New Roman" panose="02020603050405020304" pitchFamily="18" charset="0"/>
                <a:ea typeface="微软雅黑" panose="020B0503020204020204" pitchFamily="34" charset="-122"/>
              </a:rPr>
              <a:t>60</a:t>
            </a:r>
            <a:r>
              <a:rPr lang="zh-CN" altLang="en-US" b="1" dirty="0">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这样</a:t>
            </a:r>
            <a:r>
              <a:rPr lang="zh-CN" altLang="en-US" b="1" dirty="0">
                <a:solidFill>
                  <a:schemeClr val="hlink"/>
                </a:solidFill>
                <a:latin typeface="Times New Roman" panose="02020603050405020304" pitchFamily="18" charset="0"/>
                <a:ea typeface="微软雅黑" panose="020B0503020204020204" pitchFamily="34" charset="-122"/>
              </a:rPr>
              <a:t>最高需求为</a:t>
            </a:r>
            <a:r>
              <a:rPr lang="en-US" altLang="zh-CN" b="1" dirty="0">
                <a:solidFill>
                  <a:schemeClr val="hlink"/>
                </a:solidFill>
                <a:latin typeface="Times New Roman" panose="02020603050405020304" pitchFamily="18" charset="0"/>
                <a:ea typeface="微软雅黑" panose="020B0503020204020204" pitchFamily="34" charset="-122"/>
              </a:rPr>
              <a:t>210</a:t>
            </a:r>
            <a:r>
              <a:rPr lang="zh-CN" altLang="en-US" b="1" dirty="0">
                <a:solidFill>
                  <a:schemeClr val="hlink"/>
                </a:solidFill>
                <a:latin typeface="Times New Roman" panose="02020603050405020304" pitchFamily="18" charset="0"/>
                <a:ea typeface="微软雅黑" panose="020B0503020204020204" pitchFamily="34" charset="-122"/>
              </a:rPr>
              <a:t>万吨</a:t>
            </a:r>
            <a:r>
              <a:rPr lang="zh-CN" altLang="en-US" b="1" dirty="0">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anose="020B0503020204020204" pitchFamily="34" charset="-122"/>
              </a:rPr>
              <a:t>大于产量</a:t>
            </a:r>
            <a:r>
              <a:rPr lang="zh-CN" altLang="en-US" b="1" dirty="0">
                <a:latin typeface="Times New Roman" panose="02020603050405020304" pitchFamily="18" charset="0"/>
                <a:ea typeface="微软雅黑" panose="020B0503020204020204" pitchFamily="34" charset="-122"/>
              </a:rPr>
              <a:t>。为了求得平衡</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在产销平衡表中增加一个假想的化肥厂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其年产量为</a:t>
            </a:r>
            <a:r>
              <a:rPr lang="en-US" altLang="zh-CN" b="1" dirty="0">
                <a:latin typeface="Times New Roman" panose="02020603050405020304" pitchFamily="18" charset="0"/>
                <a:ea typeface="微软雅黑" panose="020B0503020204020204" pitchFamily="34" charset="-122"/>
              </a:rPr>
              <a:t>50</a:t>
            </a:r>
            <a:r>
              <a:rPr lang="zh-CN" altLang="en-US" b="1" dirty="0">
                <a:latin typeface="Times New Roman" panose="02020603050405020304" pitchFamily="18" charset="0"/>
                <a:ea typeface="微软雅黑" panose="020B0503020204020204" pitchFamily="34" charset="-122"/>
              </a:rPr>
              <a:t>万吨</a:t>
            </a:r>
            <a:endParaRPr lang="en-US" altLang="zh-CN" b="1" dirty="0">
              <a:latin typeface="Times New Roman" panose="02020603050405020304" pitchFamily="18" charset="0"/>
              <a:ea typeface="微软雅黑" panose="020B0503020204020204" pitchFamily="34" charset="-122"/>
            </a:endParaRPr>
          </a:p>
        </p:txBody>
      </p:sp>
      <p:graphicFrame>
        <p:nvGraphicFramePr>
          <p:cNvPr id="2" name="表格 1"/>
          <p:cNvGraphicFramePr/>
          <p:nvPr/>
        </p:nvGraphicFramePr>
        <p:xfrm>
          <a:off x="214311" y="1714646"/>
          <a:ext cx="8929689" cy="2813051"/>
        </p:xfrm>
        <a:graphic>
          <a:graphicData uri="http://schemas.openxmlformats.org/drawingml/2006/table">
            <a:tbl>
              <a:tblPr firstRow="1" bandRow="1">
                <a:tableStyleId>{5940675A-B579-460E-94D1-54222C63F5DA}</a:tableStyleId>
              </a:tblPr>
              <a:tblGrid>
                <a:gridCol w="3437999">
                  <a:extLst>
                    <a:ext uri="{9D8B030D-6E8A-4147-A177-3AD203B41FA5}">
                      <a16:colId xmlns:a16="http://schemas.microsoft.com/office/drawing/2014/main" val="20000"/>
                    </a:ext>
                  </a:extLst>
                </a:gridCol>
                <a:gridCol w="818571">
                  <a:extLst>
                    <a:ext uri="{9D8B030D-6E8A-4147-A177-3AD203B41FA5}">
                      <a16:colId xmlns:a16="http://schemas.microsoft.com/office/drawing/2014/main" val="20001"/>
                    </a:ext>
                  </a:extLst>
                </a:gridCol>
                <a:gridCol w="815931">
                  <a:extLst>
                    <a:ext uri="{9D8B030D-6E8A-4147-A177-3AD203B41FA5}">
                      <a16:colId xmlns:a16="http://schemas.microsoft.com/office/drawing/2014/main" val="20002"/>
                    </a:ext>
                  </a:extLst>
                </a:gridCol>
                <a:gridCol w="815931">
                  <a:extLst>
                    <a:ext uri="{9D8B030D-6E8A-4147-A177-3AD203B41FA5}">
                      <a16:colId xmlns:a16="http://schemas.microsoft.com/office/drawing/2014/main" val="20003"/>
                    </a:ext>
                  </a:extLst>
                </a:gridCol>
                <a:gridCol w="1024461">
                  <a:extLst>
                    <a:ext uri="{9D8B030D-6E8A-4147-A177-3AD203B41FA5}">
                      <a16:colId xmlns:a16="http://schemas.microsoft.com/office/drawing/2014/main" val="20004"/>
                    </a:ext>
                  </a:extLst>
                </a:gridCol>
                <a:gridCol w="2016796">
                  <a:extLst>
                    <a:ext uri="{9D8B030D-6E8A-4147-A177-3AD203B41FA5}">
                      <a16:colId xmlns:a16="http://schemas.microsoft.com/office/drawing/2014/main" val="20005"/>
                    </a:ext>
                  </a:extLst>
                </a:gridCol>
              </a:tblGrid>
              <a:tr h="785953">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需求地区</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化工厂</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产量（万吨</a:t>
                      </a:r>
                      <a:r>
                        <a:rPr lang="en-US" sz="2400" b="1" dirty="0">
                          <a:latin typeface="微软雅黑" panose="020B0503020204020204" pitchFamily="34" charset="-122"/>
                          <a:ea typeface="微软雅黑" panose="020B0503020204020204" pitchFamily="34" charset="-122"/>
                          <a:cs typeface="宋体" panose="02010600030101010101" pitchFamily="2" charset="-122"/>
                        </a:rPr>
                        <a:t>）</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79564">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16</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7534">
                <a:tc>
                  <a:txBody>
                    <a:bodyPr/>
                    <a:lstStyle/>
                    <a:p>
                      <a:pPr indent="0">
                        <a:buNone/>
                      </a:pP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最低需求</a:t>
                      </a:r>
                      <a:r>
                        <a:rPr 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万吨</a:t>
                      </a:r>
                      <a:r>
                        <a:rPr lang="en-US" sz="2400" b="1" dirty="0">
                          <a:latin typeface="微软雅黑" panose="020B0503020204020204" pitchFamily="34" charset="-122"/>
                          <a:ea typeface="微软雅黑" panose="020B0503020204020204" pitchFamily="34" charset="-122"/>
                          <a:cs typeface="Times New Roman" panose="02020603050405020304" pitchFamily="18" charset="0"/>
                        </a:rPr>
                        <a:t>)</a:t>
                      </a:r>
                    </a:p>
                    <a:p>
                      <a:pPr indent="0">
                        <a:buNone/>
                      </a:pP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最高需求</a:t>
                      </a:r>
                      <a:r>
                        <a:rPr 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万吨</a:t>
                      </a:r>
                      <a:r>
                        <a:rPr lang="en-US" sz="2400" b="1"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不限</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2324" name="直接连接符 5"/>
          <p:cNvCxnSpPr>
            <a:cxnSpLocks noChangeShapeType="1"/>
          </p:cNvCxnSpPr>
          <p:nvPr/>
        </p:nvCxnSpPr>
        <p:spPr bwMode="auto">
          <a:xfrm>
            <a:off x="214311" y="1714646"/>
            <a:ext cx="3421064" cy="777729"/>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3" name="灯片编号占位符 2">
            <a:extLst>
              <a:ext uri="{FF2B5EF4-FFF2-40B4-BE49-F238E27FC236}">
                <a16:creationId xmlns:a16="http://schemas.microsoft.com/office/drawing/2014/main" id="{B5210B80-A4D8-4133-BCF7-7888F230880C}"/>
              </a:ext>
            </a:extLst>
          </p:cNvPr>
          <p:cNvSpPr>
            <a:spLocks noGrp="1"/>
          </p:cNvSpPr>
          <p:nvPr>
            <p:ph type="sldNum" sz="quarter" idx="12"/>
          </p:nvPr>
        </p:nvSpPr>
        <p:spPr/>
        <p:txBody>
          <a:bodyPr/>
          <a:lstStyle/>
          <a:p>
            <a:pPr>
              <a:defRPr/>
            </a:pPr>
            <a:fld id="{2AE1B59C-883C-4848-BC85-9A12DF2590B2}" type="slidenum">
              <a:rPr lang="en-US" altLang="zh-CN" smtClean="0"/>
              <a:t>70</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4049713"/>
            <a:ext cx="8669338"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3"/>
          <p:cNvSpPr txBox="1">
            <a:spLocks noChangeArrowheads="1"/>
          </p:cNvSpPr>
          <p:nvPr/>
        </p:nvSpPr>
        <p:spPr bwMode="auto">
          <a:xfrm>
            <a:off x="0" y="0"/>
            <a:ext cx="9144000"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a:solidFill>
                  <a:schemeClr val="hlink"/>
                </a:solidFill>
                <a:latin typeface="Times New Roman" panose="02020603050405020304" pitchFamily="18" charset="0"/>
                <a:ea typeface="微软雅黑" panose="020B0503020204020204" pitchFamily="34" charset="-122"/>
              </a:rPr>
              <a:t>解 </a:t>
            </a:r>
            <a:r>
              <a:rPr lang="zh-CN" altLang="en-US" b="1">
                <a:latin typeface="Times New Roman" panose="02020603050405020304" pitchFamily="18" charset="0"/>
                <a:ea typeface="微软雅黑" panose="020B0503020204020204" pitchFamily="34" charset="-122"/>
              </a:rPr>
              <a:t> 总产量为</a:t>
            </a:r>
            <a:r>
              <a:rPr lang="en-US" altLang="zh-CN" b="1">
                <a:latin typeface="Times New Roman" panose="02020603050405020304" pitchFamily="18" charset="0"/>
                <a:ea typeface="微软雅黑" panose="020B0503020204020204" pitchFamily="34" charset="-122"/>
              </a:rPr>
              <a:t>160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四个地区的最低需求为</a:t>
            </a:r>
            <a:r>
              <a:rPr lang="en-US" altLang="zh-CN" b="1">
                <a:latin typeface="Times New Roman" panose="02020603050405020304" pitchFamily="18" charset="0"/>
                <a:ea typeface="微软雅黑" panose="020B0503020204020204" pitchFamily="34" charset="-122"/>
              </a:rPr>
              <a:t>110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最高需求为无限。这是一个产销不平衡的运输问题</a:t>
            </a:r>
            <a:endParaRPr lang="en-US" altLang="zh-CN" b="1">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a:latin typeface="Times New Roman" panose="02020603050405020304" pitchFamily="18" charset="0"/>
                <a:ea typeface="微软雅黑" panose="020B0503020204020204" pitchFamily="34" charset="-122"/>
              </a:rPr>
              <a:t>根据现有产量</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第</a:t>
            </a:r>
            <a:r>
              <a:rPr lang="en-US" altLang="zh-CN" b="1">
                <a:latin typeface="Times New Roman" panose="02020603050405020304" pitchFamily="18" charset="0"/>
                <a:ea typeface="微软雅黑" panose="020B0503020204020204" pitchFamily="34" charset="-122"/>
              </a:rPr>
              <a:t>Ⅳ</a:t>
            </a:r>
            <a:r>
              <a:rPr lang="zh-CN" altLang="en-US" b="1">
                <a:latin typeface="Times New Roman" panose="02020603050405020304" pitchFamily="18" charset="0"/>
                <a:ea typeface="微软雅黑" panose="020B0503020204020204" pitchFamily="34" charset="-122"/>
              </a:rPr>
              <a:t>个地区每年最多能分配到</a:t>
            </a:r>
            <a:r>
              <a:rPr lang="en-US" altLang="zh-CN" b="1">
                <a:latin typeface="Times New Roman" panose="02020603050405020304" pitchFamily="18" charset="0"/>
                <a:ea typeface="微软雅黑" panose="020B0503020204020204" pitchFamily="34" charset="-122"/>
              </a:rPr>
              <a:t>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这样最高需求为</a:t>
            </a:r>
            <a:r>
              <a:rPr lang="en-US" altLang="zh-CN" b="1">
                <a:latin typeface="Times New Roman" panose="02020603050405020304" pitchFamily="18" charset="0"/>
                <a:ea typeface="微软雅黑" panose="020B0503020204020204" pitchFamily="34" charset="-122"/>
              </a:rPr>
              <a:t>210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大于产量。为了求得平衡</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在产销平衡表中增加一个假想的化肥厂</a:t>
            </a:r>
            <a:r>
              <a:rPr lang="en-US" altLang="zh-CN" b="1">
                <a:latin typeface="Times New Roman" panose="02020603050405020304" pitchFamily="18" charset="0"/>
                <a:ea typeface="微软雅黑" panose="020B0503020204020204" pitchFamily="34" charset="-122"/>
              </a:rPr>
              <a:t>D</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其年产量为</a:t>
            </a:r>
            <a:r>
              <a:rPr lang="en-US" altLang="zh-CN" b="1">
                <a:latin typeface="Times New Roman" panose="02020603050405020304" pitchFamily="18" charset="0"/>
                <a:ea typeface="微软雅黑" panose="020B0503020204020204" pitchFamily="34" charset="-122"/>
              </a:rPr>
              <a:t>50</a:t>
            </a:r>
            <a:r>
              <a:rPr lang="zh-CN" altLang="en-US" b="1">
                <a:latin typeface="Times New Roman" panose="02020603050405020304" pitchFamily="18" charset="0"/>
                <a:ea typeface="微软雅黑" panose="020B0503020204020204" pitchFamily="34" charset="-122"/>
              </a:rPr>
              <a:t>万吨</a:t>
            </a:r>
            <a:endParaRPr lang="en-US" altLang="zh-CN" b="1">
              <a:latin typeface="Times New Roman" panose="02020603050405020304" pitchFamily="18" charset="0"/>
              <a:ea typeface="微软雅黑" panose="020B0503020204020204" pitchFamily="34" charset="-122"/>
            </a:endParaRPr>
          </a:p>
        </p:txBody>
      </p:sp>
      <p:sp>
        <p:nvSpPr>
          <p:cNvPr id="7" name="TextBox 6"/>
          <p:cNvSpPr txBox="1">
            <a:spLocks noChangeArrowheads="1"/>
          </p:cNvSpPr>
          <p:nvPr/>
        </p:nvSpPr>
        <p:spPr bwMode="auto">
          <a:xfrm>
            <a:off x="1298649" y="5960070"/>
            <a:ext cx="7089775" cy="3492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8" name="矩形 7"/>
          <p:cNvSpPr>
            <a:spLocks noChangeArrowheads="1"/>
          </p:cNvSpPr>
          <p:nvPr/>
        </p:nvSpPr>
        <p:spPr bwMode="auto">
          <a:xfrm>
            <a:off x="144463" y="1773238"/>
            <a:ext cx="8748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对凡是需求分两种情况的地区</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实际上可按照两个地区看待</a:t>
            </a:r>
            <a:endParaRPr lang="zh-CN" altLang="en-US">
              <a:ea typeface="微软雅黑" panose="020B0503020204020204" pitchFamily="34" charset="-122"/>
            </a:endParaRPr>
          </a:p>
        </p:txBody>
      </p:sp>
      <p:graphicFrame>
        <p:nvGraphicFramePr>
          <p:cNvPr id="2" name="表格 1"/>
          <p:cNvGraphicFramePr/>
          <p:nvPr/>
        </p:nvGraphicFramePr>
        <p:xfrm>
          <a:off x="395288" y="4076700"/>
          <a:ext cx="3130550" cy="2560638"/>
        </p:xfrm>
        <a:graphic>
          <a:graphicData uri="http://schemas.openxmlformats.org/drawingml/2006/table">
            <a:tbl>
              <a:tblPr firstRow="1" bandRow="1">
                <a:tableStyleId>{5940675A-B579-460E-94D1-54222C63F5DA}</a:tableStyleId>
              </a:tblPr>
              <a:tblGrid>
                <a:gridCol w="2270125">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tblGrid>
              <a:tr h="731611">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需求地区</a:t>
                      </a:r>
                      <a:r>
                        <a:rPr lang="en-US" sz="2400" b="1" dirty="0">
                          <a:latin typeface="微软雅黑" panose="020B0503020204020204" pitchFamily="34" charset="-122"/>
                          <a:ea typeface="微软雅黑" panose="020B0503020204020204" pitchFamily="34" charset="-122"/>
                          <a:cs typeface="Times New Roman" panose="02020603050405020304" pitchFamily="18" charset="0"/>
                        </a:rPr>
                        <a:t> </a:t>
                      </a:r>
                    </a:p>
                    <a:p>
                      <a:pPr indent="0">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  </a:t>
                      </a:r>
                      <a:r>
                        <a:rPr lang="en-US" sz="2400" b="1" dirty="0" err="1">
                          <a:latin typeface="微软雅黑" panose="020B0503020204020204" pitchFamily="34" charset="-122"/>
                          <a:ea typeface="微软雅黑" panose="020B0503020204020204" pitchFamily="34" charset="-122"/>
                          <a:cs typeface="Times New Roman" panose="02020603050405020304" pitchFamily="18" charset="0"/>
                        </a:rPr>
                        <a:t>化工厂</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222">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05">
                <a:tc>
                  <a:txBody>
                    <a:bodyPr/>
                    <a:lstStyle/>
                    <a:p>
                      <a:pPr indent="0">
                        <a:buNone/>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销量（万吨）</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3332" name="直接连接符 9"/>
          <p:cNvCxnSpPr>
            <a:cxnSpLocks noChangeShapeType="1"/>
          </p:cNvCxnSpPr>
          <p:nvPr/>
        </p:nvCxnSpPr>
        <p:spPr bwMode="auto">
          <a:xfrm>
            <a:off x="406400" y="4098925"/>
            <a:ext cx="2293938" cy="6985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aphicFrame>
        <p:nvGraphicFramePr>
          <p:cNvPr id="11" name="表格 10"/>
          <p:cNvGraphicFramePr/>
          <p:nvPr/>
        </p:nvGraphicFramePr>
        <p:xfrm>
          <a:off x="3924300" y="4098925"/>
          <a:ext cx="2768600" cy="2562225"/>
        </p:xfrm>
        <a:graphic>
          <a:graphicData uri="http://schemas.openxmlformats.org/drawingml/2006/table">
            <a:tbl>
              <a:tblPr firstRow="1" bandRow="1">
                <a:tableStyleId>{5940675A-B579-460E-94D1-54222C63F5DA}</a:tableStyleId>
              </a:tblPr>
              <a:tblGrid>
                <a:gridCol w="819150">
                  <a:extLst>
                    <a:ext uri="{9D8B030D-6E8A-4147-A177-3AD203B41FA5}">
                      <a16:colId xmlns:a16="http://schemas.microsoft.com/office/drawing/2014/main" val="20000"/>
                    </a:ext>
                  </a:extLst>
                </a:gridCol>
                <a:gridCol w="819785">
                  <a:extLst>
                    <a:ext uri="{9D8B030D-6E8A-4147-A177-3AD203B41FA5}">
                      <a16:colId xmlns:a16="http://schemas.microsoft.com/office/drawing/2014/main" val="20001"/>
                    </a:ext>
                  </a:extLst>
                </a:gridCol>
                <a:gridCol w="1129665">
                  <a:extLst>
                    <a:ext uri="{9D8B030D-6E8A-4147-A177-3AD203B41FA5}">
                      <a16:colId xmlns:a16="http://schemas.microsoft.com/office/drawing/2014/main" val="20002"/>
                    </a:ext>
                  </a:extLst>
                </a:gridCol>
              </a:tblGrid>
              <a:tr h="713563">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80453">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209">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70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3" name="表格 12"/>
          <p:cNvGraphicFramePr/>
          <p:nvPr/>
        </p:nvGraphicFramePr>
        <p:xfrm>
          <a:off x="7091362" y="4098925"/>
          <a:ext cx="2052637" cy="2586139"/>
        </p:xfrm>
        <a:graphic>
          <a:graphicData uri="http://schemas.openxmlformats.org/drawingml/2006/table">
            <a:tbl>
              <a:tblPr firstRow="1" bandRow="1">
                <a:tableStyleId>{5940675A-B579-460E-94D1-54222C63F5DA}</a:tableStyleId>
              </a:tblPr>
              <a:tblGrid>
                <a:gridCol w="2052637">
                  <a:extLst>
                    <a:ext uri="{9D8B030D-6E8A-4147-A177-3AD203B41FA5}">
                      <a16:colId xmlns:a16="http://schemas.microsoft.com/office/drawing/2014/main" val="20000"/>
                    </a:ext>
                  </a:extLst>
                </a:gridCol>
              </a:tblGrid>
              <a:tr h="747886">
                <a:tc>
                  <a:txBody>
                    <a:bodyPr/>
                    <a:lstStyle/>
                    <a:p>
                      <a:pPr indent="0" algn="ctr">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产量（万吨</a:t>
                      </a:r>
                      <a:r>
                        <a:rPr lang="en-US" sz="2400" b="1" dirty="0">
                          <a:latin typeface="微软雅黑" panose="020B0503020204020204" pitchFamily="34" charset="-122"/>
                          <a:ea typeface="微软雅黑" panose="020B0503020204020204" pitchFamily="34" charset="-122"/>
                          <a:cs typeface="宋体" panose="02010600030101010101" pitchFamily="2" charset="-122"/>
                        </a:rPr>
                        <a:t>）</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2939">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5213">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13361"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2205038"/>
            <a:ext cx="5151438"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46A10869-49A6-4E41-AB06-4B86D2147D2B}"/>
              </a:ext>
            </a:extLst>
          </p:cNvPr>
          <p:cNvSpPr>
            <a:spLocks noGrp="1"/>
          </p:cNvSpPr>
          <p:nvPr>
            <p:ph type="sldNum" sz="quarter" idx="12"/>
          </p:nvPr>
        </p:nvSpPr>
        <p:spPr/>
        <p:txBody>
          <a:bodyPr/>
          <a:lstStyle/>
          <a:p>
            <a:pPr>
              <a:defRPr/>
            </a:pPr>
            <a:fld id="{2AE1B59C-883C-4848-BC85-9A12DF2590B2}" type="slidenum">
              <a:rPr lang="en-US" altLang="zh-CN" smtClean="0"/>
              <a:t>71</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2708275"/>
            <a:ext cx="8650288" cy="29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3"/>
          <p:cNvSpPr txBox="1">
            <a:spLocks noChangeArrowheads="1"/>
          </p:cNvSpPr>
          <p:nvPr/>
        </p:nvSpPr>
        <p:spPr bwMode="auto">
          <a:xfrm>
            <a:off x="0" y="0"/>
            <a:ext cx="9144000"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a:solidFill>
                  <a:schemeClr val="hlink"/>
                </a:solidFill>
                <a:latin typeface="Times New Roman" panose="02020603050405020304" pitchFamily="18" charset="0"/>
                <a:ea typeface="微软雅黑" panose="020B0503020204020204" pitchFamily="34" charset="-122"/>
              </a:rPr>
              <a:t>解 </a:t>
            </a:r>
            <a:r>
              <a:rPr lang="zh-CN" altLang="en-US" b="1">
                <a:latin typeface="Times New Roman" panose="02020603050405020304" pitchFamily="18" charset="0"/>
                <a:ea typeface="微软雅黑" panose="020B0503020204020204" pitchFamily="34" charset="-122"/>
              </a:rPr>
              <a:t> 总产量为</a:t>
            </a:r>
            <a:r>
              <a:rPr lang="en-US" altLang="zh-CN" b="1">
                <a:latin typeface="Times New Roman" panose="02020603050405020304" pitchFamily="18" charset="0"/>
                <a:ea typeface="微软雅黑" panose="020B0503020204020204" pitchFamily="34" charset="-122"/>
              </a:rPr>
              <a:t>160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四个地区的最低需求为</a:t>
            </a:r>
            <a:r>
              <a:rPr lang="en-US" altLang="zh-CN" b="1">
                <a:latin typeface="Times New Roman" panose="02020603050405020304" pitchFamily="18" charset="0"/>
                <a:ea typeface="微软雅黑" panose="020B0503020204020204" pitchFamily="34" charset="-122"/>
              </a:rPr>
              <a:t>110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最高需求为无限。这是一个产销不平衡的运输问题</a:t>
            </a:r>
            <a:endParaRPr lang="en-US" altLang="zh-CN" b="1">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a:latin typeface="Times New Roman" panose="02020603050405020304" pitchFamily="18" charset="0"/>
                <a:ea typeface="微软雅黑" panose="020B0503020204020204" pitchFamily="34" charset="-122"/>
              </a:rPr>
              <a:t>根据现有产量</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第</a:t>
            </a:r>
            <a:r>
              <a:rPr lang="en-US" altLang="zh-CN" b="1">
                <a:latin typeface="Times New Roman" panose="02020603050405020304" pitchFamily="18" charset="0"/>
                <a:ea typeface="微软雅黑" panose="020B0503020204020204" pitchFamily="34" charset="-122"/>
              </a:rPr>
              <a:t>Ⅳ</a:t>
            </a:r>
            <a:r>
              <a:rPr lang="zh-CN" altLang="en-US" b="1">
                <a:latin typeface="Times New Roman" panose="02020603050405020304" pitchFamily="18" charset="0"/>
                <a:ea typeface="微软雅黑" panose="020B0503020204020204" pitchFamily="34" charset="-122"/>
              </a:rPr>
              <a:t>个地区每年最多能分配到</a:t>
            </a:r>
            <a:r>
              <a:rPr lang="en-US" altLang="zh-CN" b="1">
                <a:latin typeface="Times New Roman" panose="02020603050405020304" pitchFamily="18" charset="0"/>
                <a:ea typeface="微软雅黑" panose="020B0503020204020204" pitchFamily="34" charset="-122"/>
              </a:rPr>
              <a:t>60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这样最高需求为</a:t>
            </a:r>
            <a:r>
              <a:rPr lang="en-US" altLang="zh-CN" b="1">
                <a:latin typeface="Times New Roman" panose="02020603050405020304" pitchFamily="18" charset="0"/>
                <a:ea typeface="微软雅黑" panose="020B0503020204020204" pitchFamily="34" charset="-122"/>
              </a:rPr>
              <a:t>210</a:t>
            </a:r>
            <a:r>
              <a:rPr lang="zh-CN" altLang="en-US" b="1">
                <a:latin typeface="Times New Roman" panose="02020603050405020304" pitchFamily="18" charset="0"/>
                <a:ea typeface="微软雅黑" panose="020B0503020204020204" pitchFamily="34" charset="-122"/>
              </a:rPr>
              <a:t>万吨</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大于产量。为了求得平衡</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在产销平衡表中增加一个假想的化肥厂</a:t>
            </a:r>
            <a:r>
              <a:rPr lang="en-US" altLang="zh-CN" b="1">
                <a:latin typeface="Times New Roman" panose="02020603050405020304" pitchFamily="18" charset="0"/>
                <a:ea typeface="微软雅黑" panose="020B0503020204020204" pitchFamily="34" charset="-122"/>
              </a:rPr>
              <a:t>D</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其年产量为</a:t>
            </a:r>
            <a:r>
              <a:rPr lang="en-US" altLang="zh-CN" b="1">
                <a:latin typeface="Times New Roman" panose="02020603050405020304" pitchFamily="18" charset="0"/>
                <a:ea typeface="微软雅黑" panose="020B0503020204020204" pitchFamily="34" charset="-122"/>
              </a:rPr>
              <a:t>50</a:t>
            </a:r>
            <a:r>
              <a:rPr lang="zh-CN" altLang="en-US" b="1">
                <a:latin typeface="Times New Roman" panose="02020603050405020304" pitchFamily="18" charset="0"/>
                <a:ea typeface="微软雅黑" panose="020B0503020204020204" pitchFamily="34" charset="-122"/>
              </a:rPr>
              <a:t>万吨</a:t>
            </a:r>
            <a:endParaRPr lang="en-US" altLang="zh-CN" b="1">
              <a:latin typeface="Times New Roman" panose="02020603050405020304" pitchFamily="18" charset="0"/>
              <a:ea typeface="微软雅黑" panose="020B0503020204020204" pitchFamily="34" charset="-122"/>
            </a:endParaRPr>
          </a:p>
        </p:txBody>
      </p:sp>
      <p:sp>
        <p:nvSpPr>
          <p:cNvPr id="14340" name="矩形 7"/>
          <p:cNvSpPr>
            <a:spLocks noChangeArrowheads="1"/>
          </p:cNvSpPr>
          <p:nvPr/>
        </p:nvSpPr>
        <p:spPr bwMode="auto">
          <a:xfrm>
            <a:off x="144463" y="1916113"/>
            <a:ext cx="8748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a:latin typeface="Times New Roman" panose="02020603050405020304" pitchFamily="18" charset="0"/>
                <a:ea typeface="微软雅黑" panose="020B0503020204020204" pitchFamily="34" charset="-122"/>
              </a:rPr>
              <a:t>对凡是需求分两种情况的地区</a:t>
            </a:r>
            <a:r>
              <a:rPr lang="zh-CN" altLang="en-US" b="1">
                <a:latin typeface="仿宋" panose="02010609060101010101" pitchFamily="49" charset="-122"/>
                <a:ea typeface="仿宋" panose="02010609060101010101" pitchFamily="49" charset="-122"/>
              </a:rPr>
              <a:t>，</a:t>
            </a:r>
            <a:r>
              <a:rPr lang="zh-CN" altLang="en-US" b="1">
                <a:latin typeface="Times New Roman" panose="02020603050405020304" pitchFamily="18" charset="0"/>
                <a:ea typeface="微软雅黑" panose="020B0503020204020204" pitchFamily="34" charset="-122"/>
              </a:rPr>
              <a:t>实际上可按照两个地区看待</a:t>
            </a:r>
            <a:endParaRPr lang="zh-CN" altLang="en-US">
              <a:ea typeface="微软雅黑" panose="020B0503020204020204" pitchFamily="34" charset="-122"/>
            </a:endParaRPr>
          </a:p>
        </p:txBody>
      </p:sp>
      <p:graphicFrame>
        <p:nvGraphicFramePr>
          <p:cNvPr id="2" name="表格 1"/>
          <p:cNvGraphicFramePr/>
          <p:nvPr>
            <p:custDataLst>
              <p:tags r:id="rId1"/>
            </p:custDataLst>
          </p:nvPr>
        </p:nvGraphicFramePr>
        <p:xfrm>
          <a:off x="252413" y="2708275"/>
          <a:ext cx="8650288" cy="2930525"/>
        </p:xfrm>
        <a:graphic>
          <a:graphicData uri="http://schemas.openxmlformats.org/drawingml/2006/table">
            <a:tbl>
              <a:tblPr firstRow="1" bandRow="1">
                <a:tableStyleId>{5940675A-B579-460E-94D1-54222C63F5DA}</a:tableStyleId>
              </a:tblPr>
              <a:tblGrid>
                <a:gridCol w="2735045">
                  <a:extLst>
                    <a:ext uri="{9D8B030D-6E8A-4147-A177-3AD203B41FA5}">
                      <a16:colId xmlns:a16="http://schemas.microsoft.com/office/drawing/2014/main" val="20000"/>
                    </a:ext>
                  </a:extLst>
                </a:gridCol>
                <a:gridCol w="651534">
                  <a:extLst>
                    <a:ext uri="{9D8B030D-6E8A-4147-A177-3AD203B41FA5}">
                      <a16:colId xmlns:a16="http://schemas.microsoft.com/office/drawing/2014/main" val="20001"/>
                    </a:ext>
                  </a:extLst>
                </a:gridCol>
                <a:gridCol w="650264">
                  <a:extLst>
                    <a:ext uri="{9D8B030D-6E8A-4147-A177-3AD203B41FA5}">
                      <a16:colId xmlns:a16="http://schemas.microsoft.com/office/drawing/2014/main" val="20002"/>
                    </a:ext>
                  </a:extLst>
                </a:gridCol>
                <a:gridCol w="649629">
                  <a:extLst>
                    <a:ext uri="{9D8B030D-6E8A-4147-A177-3AD203B41FA5}">
                      <a16:colId xmlns:a16="http://schemas.microsoft.com/office/drawing/2014/main" val="20003"/>
                    </a:ext>
                  </a:extLst>
                </a:gridCol>
                <a:gridCol w="648994">
                  <a:extLst>
                    <a:ext uri="{9D8B030D-6E8A-4147-A177-3AD203B41FA5}">
                      <a16:colId xmlns:a16="http://schemas.microsoft.com/office/drawing/2014/main" val="20004"/>
                    </a:ext>
                  </a:extLst>
                </a:gridCol>
                <a:gridCol w="895383">
                  <a:extLst>
                    <a:ext uri="{9D8B030D-6E8A-4147-A177-3AD203B41FA5}">
                      <a16:colId xmlns:a16="http://schemas.microsoft.com/office/drawing/2014/main" val="20005"/>
                    </a:ext>
                  </a:extLst>
                </a:gridCol>
                <a:gridCol w="896018">
                  <a:extLst>
                    <a:ext uri="{9D8B030D-6E8A-4147-A177-3AD203B41FA5}">
                      <a16:colId xmlns:a16="http://schemas.microsoft.com/office/drawing/2014/main" val="20006"/>
                    </a:ext>
                  </a:extLst>
                </a:gridCol>
                <a:gridCol w="1523421">
                  <a:extLst>
                    <a:ext uri="{9D8B030D-6E8A-4147-A177-3AD203B41FA5}">
                      <a16:colId xmlns:a16="http://schemas.microsoft.com/office/drawing/2014/main" val="20007"/>
                    </a:ext>
                  </a:extLst>
                </a:gridCol>
              </a:tblGrid>
              <a:tr h="732790">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需求地区</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化工厂</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dirty="0" err="1">
                          <a:latin typeface="Times New Roman" panose="02020603050405020304" pitchFamily="18" charset="0"/>
                          <a:ea typeface="微软雅黑" panose="020B0503020204020204" pitchFamily="34" charset="-122"/>
                          <a:cs typeface="宋体" panose="02010600030101010101" pitchFamily="2" charset="-122"/>
                        </a:rPr>
                        <a:t>产量（万吨</a:t>
                      </a:r>
                      <a:r>
                        <a:rPr lang="en-US" sz="2400" b="0" dirty="0">
                          <a:latin typeface="Times New Roman" panose="02020603050405020304" pitchFamily="18" charset="0"/>
                          <a:ea typeface="微软雅黑" panose="020B0503020204020204" pitchFamily="34" charset="-122"/>
                          <a:cs typeface="宋体" panose="02010600030101010101" pitchFamily="2" charset="-122"/>
                        </a:rPr>
                        <a:t>）</a:t>
                      </a:r>
                      <a:endParaRPr lang="en-US" altLang="en-US" sz="2400" b="0" dirty="0">
                        <a:latin typeface="Times New Roman" panose="02020603050405020304" pitchFamily="18" charset="0"/>
                        <a:ea typeface="微软雅黑" panose="020B0503020204020204" pitchFamily="34" charset="-122"/>
                        <a:cs typeface="宋体" panose="02010600030101010101" pitchFamily="2"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6215">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1520">
                <a:tc>
                  <a:txBody>
                    <a:bodyPr/>
                    <a:lstStyle/>
                    <a:p>
                      <a:pPr indent="0">
                        <a:buNone/>
                      </a:pP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最低需求</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万吨</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4379" name="直接连接符 2"/>
          <p:cNvCxnSpPr>
            <a:cxnSpLocks noChangeShapeType="1"/>
          </p:cNvCxnSpPr>
          <p:nvPr/>
        </p:nvCxnSpPr>
        <p:spPr bwMode="auto">
          <a:xfrm>
            <a:off x="234950" y="2716213"/>
            <a:ext cx="2752725" cy="712787"/>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3" name="灯片编号占位符 2">
            <a:extLst>
              <a:ext uri="{FF2B5EF4-FFF2-40B4-BE49-F238E27FC236}">
                <a16:creationId xmlns:a16="http://schemas.microsoft.com/office/drawing/2014/main" id="{953AB968-7772-4B2D-839B-9C363BC18B40}"/>
              </a:ext>
            </a:extLst>
          </p:cNvPr>
          <p:cNvSpPr>
            <a:spLocks noGrp="1"/>
          </p:cNvSpPr>
          <p:nvPr>
            <p:ph type="sldNum" sz="quarter" idx="12"/>
          </p:nvPr>
        </p:nvSpPr>
        <p:spPr/>
        <p:txBody>
          <a:bodyPr/>
          <a:lstStyle/>
          <a:p>
            <a:pPr>
              <a:defRPr/>
            </a:pPr>
            <a:fld id="{2AE1B59C-883C-4848-BC85-9A12DF2590B2}" type="slidenum">
              <a:rPr lang="en-US" altLang="zh-CN" smtClean="0"/>
              <a:t>72</a:t>
            </a:fld>
            <a:endParaRPr lang="en-US" altLang="zh-CN"/>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3429000"/>
            <a:ext cx="8658225"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3"/>
          <p:cNvSpPr txBox="1">
            <a:spLocks noChangeArrowheads="1"/>
          </p:cNvSpPr>
          <p:nvPr/>
        </p:nvSpPr>
        <p:spPr bwMode="auto">
          <a:xfrm>
            <a:off x="0" y="0"/>
            <a:ext cx="9144000" cy="400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dirty="0">
                <a:solidFill>
                  <a:schemeClr val="hlink"/>
                </a:solidFill>
                <a:latin typeface="Times New Roman" panose="02020603050405020304" pitchFamily="18" charset="0"/>
                <a:ea typeface="微软雅黑" panose="020B0503020204020204" pitchFamily="34" charset="-122"/>
              </a:rPr>
              <a:t>解 </a:t>
            </a:r>
            <a:r>
              <a:rPr lang="zh-CN" altLang="en-US" b="1" dirty="0">
                <a:latin typeface="Times New Roman" panose="02020603050405020304" pitchFamily="18" charset="0"/>
                <a:ea typeface="微软雅黑" panose="020B0503020204020204" pitchFamily="34" charset="-122"/>
              </a:rPr>
              <a:t> 总产量为</a:t>
            </a:r>
            <a:r>
              <a:rPr lang="en-US" altLang="zh-CN" b="1" dirty="0">
                <a:latin typeface="Times New Roman" panose="02020603050405020304" pitchFamily="18" charset="0"/>
                <a:ea typeface="微软雅黑" panose="020B0503020204020204" pitchFamily="34" charset="-122"/>
              </a:rPr>
              <a:t>160</a:t>
            </a:r>
            <a:r>
              <a:rPr lang="zh-CN" altLang="en-US" b="1" dirty="0">
                <a:latin typeface="Times New Roman" panose="02020603050405020304" pitchFamily="18" charset="0"/>
                <a:ea typeface="微软雅黑" panose="020B0503020204020204" pitchFamily="34" charset="-122"/>
              </a:rPr>
              <a:t>万吨</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四个地区的最低需求为</a:t>
            </a:r>
            <a:r>
              <a:rPr lang="en-US" altLang="zh-CN" b="1" dirty="0">
                <a:latin typeface="Times New Roman" panose="02020603050405020304" pitchFamily="18" charset="0"/>
                <a:ea typeface="微软雅黑" panose="020B0503020204020204" pitchFamily="34" charset="-122"/>
              </a:rPr>
              <a:t>110</a:t>
            </a:r>
            <a:r>
              <a:rPr lang="zh-CN" altLang="en-US" b="1" dirty="0">
                <a:latin typeface="Times New Roman" panose="02020603050405020304" pitchFamily="18" charset="0"/>
                <a:ea typeface="微软雅黑" panose="020B0503020204020204" pitchFamily="34" charset="-122"/>
              </a:rPr>
              <a:t>万吨</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最高需求为无限。这是一个产销不平衡的运输问题</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根据现有产量</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第</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个地区每年最多能分配到</a:t>
            </a:r>
            <a:r>
              <a:rPr lang="en-US" altLang="zh-CN" b="1" dirty="0">
                <a:latin typeface="Times New Roman" panose="02020603050405020304" pitchFamily="18" charset="0"/>
                <a:ea typeface="微软雅黑" panose="020B0503020204020204" pitchFamily="34" charset="-122"/>
              </a:rPr>
              <a:t>60</a:t>
            </a:r>
            <a:r>
              <a:rPr lang="zh-CN" altLang="en-US" b="1" dirty="0">
                <a:latin typeface="Times New Roman" panose="02020603050405020304" pitchFamily="18" charset="0"/>
                <a:ea typeface="微软雅黑" panose="020B0503020204020204" pitchFamily="34" charset="-122"/>
              </a:rPr>
              <a:t>万吨</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这样最高需求为</a:t>
            </a:r>
            <a:r>
              <a:rPr lang="en-US" altLang="zh-CN" b="1" dirty="0">
                <a:latin typeface="Times New Roman" panose="02020603050405020304" pitchFamily="18" charset="0"/>
                <a:ea typeface="微软雅黑" panose="020B0503020204020204" pitchFamily="34" charset="-122"/>
              </a:rPr>
              <a:t>210</a:t>
            </a:r>
            <a:r>
              <a:rPr lang="zh-CN" altLang="en-US" b="1" dirty="0">
                <a:latin typeface="Times New Roman" panose="02020603050405020304" pitchFamily="18" charset="0"/>
                <a:ea typeface="微软雅黑" panose="020B0503020204020204" pitchFamily="34" charset="-122"/>
              </a:rPr>
              <a:t>万吨</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大于产量。为了求得平衡</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在产销平衡表中增加一个假想的化肥厂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其年产量为</a:t>
            </a:r>
            <a:r>
              <a:rPr lang="en-US" altLang="zh-CN" b="1" dirty="0">
                <a:latin typeface="Times New Roman" panose="02020603050405020304" pitchFamily="18" charset="0"/>
                <a:ea typeface="微软雅黑" panose="020B0503020204020204" pitchFamily="34" charset="-122"/>
              </a:rPr>
              <a:t>50</a:t>
            </a:r>
            <a:r>
              <a:rPr lang="zh-CN" altLang="en-US" b="1" dirty="0">
                <a:latin typeface="Times New Roman" panose="02020603050405020304" pitchFamily="18" charset="0"/>
                <a:ea typeface="微软雅黑" panose="020B0503020204020204" pitchFamily="34" charset="-122"/>
              </a:rPr>
              <a:t>万吨</a:t>
            </a:r>
            <a:endParaRPr lang="en-US" altLang="zh-CN" b="1" dirty="0">
              <a:latin typeface="Times New Roman" panose="02020603050405020304" pitchFamily="18" charset="0"/>
              <a:ea typeface="微软雅黑" panose="020B0503020204020204" pitchFamily="34" charset="-122"/>
            </a:endParaRPr>
          </a:p>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由于各地区的需要量包含两部分</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如地区</a:t>
            </a:r>
            <a:r>
              <a:rPr lang="en-US" altLang="zh-CN" b="1" dirty="0">
                <a:latin typeface="Times New Roman" panose="02020603050405020304" pitchFamily="18" charset="0"/>
                <a:ea typeface="微软雅黑" panose="020B0503020204020204" pitchFamily="34" charset="-122"/>
              </a:rPr>
              <a:t>Ⅰ</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其中</a:t>
            </a:r>
            <a:r>
              <a:rPr lang="en-US" altLang="zh-CN" b="1" dirty="0">
                <a:latin typeface="Times New Roman" panose="02020603050405020304" pitchFamily="18" charset="0"/>
                <a:ea typeface="微软雅黑" panose="020B0503020204020204" pitchFamily="34" charset="-122"/>
              </a:rPr>
              <a:t>30</a:t>
            </a:r>
            <a:r>
              <a:rPr lang="zh-CN" altLang="en-US" b="1" dirty="0">
                <a:latin typeface="Times New Roman" panose="02020603050405020304" pitchFamily="18" charset="0"/>
                <a:ea typeface="微软雅黑" panose="020B0503020204020204" pitchFamily="34" charset="-122"/>
              </a:rPr>
              <a:t>万吨是最低需求</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故不能由假想化肥厂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供给</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令相应运价为</a:t>
            </a:r>
            <a:r>
              <a:rPr lang="en-US" altLang="zh-CN" b="1" i="1" dirty="0">
                <a:latin typeface="Times New Roman" panose="02020603050405020304" pitchFamily="18" charset="0"/>
                <a:ea typeface="微软雅黑" panose="020B0503020204020204" pitchFamily="34" charset="-122"/>
              </a:rPr>
              <a:t>M</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任意大正数</a:t>
            </a:r>
            <a:r>
              <a:rPr lang="en-US" altLang="zh-CN" b="1" dirty="0">
                <a:latin typeface="Times New Roman" panose="02020603050405020304" pitchFamily="18" charset="0"/>
                <a:ea typeface="微软雅黑" panose="020B0503020204020204" pitchFamily="34" charset="-122"/>
              </a:rPr>
              <a:t>)</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而另一部分</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万吨满足或不满足均可以</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因此可以由假想化肥厂</a:t>
            </a:r>
            <a:r>
              <a:rPr lang="en-US" altLang="zh-CN" b="1" dirty="0">
                <a:latin typeface="Times New Roman" panose="02020603050405020304" pitchFamily="18" charset="0"/>
                <a:ea typeface="微软雅黑" panose="020B0503020204020204" pitchFamily="34" charset="-122"/>
              </a:rPr>
              <a:t>D</a:t>
            </a:r>
            <a:r>
              <a:rPr lang="zh-CN" altLang="en-US" b="1" dirty="0">
                <a:latin typeface="Times New Roman" panose="02020603050405020304" pitchFamily="18" charset="0"/>
                <a:ea typeface="微软雅黑" panose="020B0503020204020204" pitchFamily="34" charset="-122"/>
              </a:rPr>
              <a:t>供给</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按前面讲的</a:t>
            </a:r>
            <a:r>
              <a:rPr lang="zh-CN" altLang="en-US" b="1" dirty="0">
                <a:latin typeface="宋体" panose="02010600030101010101" pitchFamily="2" charset="-122"/>
              </a:rPr>
              <a:t>，</a:t>
            </a:r>
            <a:r>
              <a:rPr lang="zh-CN" altLang="en-US" b="1" dirty="0">
                <a:latin typeface="Times New Roman" panose="02020603050405020304" pitchFamily="18" charset="0"/>
                <a:ea typeface="微软雅黑" panose="020B0503020204020204" pitchFamily="34" charset="-122"/>
              </a:rPr>
              <a:t>令相应运价为</a:t>
            </a:r>
            <a:r>
              <a:rPr lang="en-US" altLang="zh-CN" b="1" dirty="0">
                <a:latin typeface="Times New Roman" panose="02020603050405020304" pitchFamily="18" charset="0"/>
                <a:ea typeface="微软雅黑" panose="020B0503020204020204" pitchFamily="34" charset="-122"/>
              </a:rPr>
              <a:t>0</a:t>
            </a:r>
          </a:p>
        </p:txBody>
      </p:sp>
      <p:graphicFrame>
        <p:nvGraphicFramePr>
          <p:cNvPr id="2" name="表格 1"/>
          <p:cNvGraphicFramePr/>
          <p:nvPr>
            <p:custDataLst>
              <p:tags r:id="rId1"/>
            </p:custDataLst>
          </p:nvPr>
        </p:nvGraphicFramePr>
        <p:xfrm>
          <a:off x="179705" y="3429000"/>
          <a:ext cx="8649970" cy="2930525"/>
        </p:xfrm>
        <a:graphic>
          <a:graphicData uri="http://schemas.openxmlformats.org/drawingml/2006/table">
            <a:tbl>
              <a:tblPr firstRow="1" bandRow="1">
                <a:tableStyleId>{5940675A-B579-460E-94D1-54222C63F5DA}</a:tableStyleId>
              </a:tblPr>
              <a:tblGrid>
                <a:gridCol w="2734945">
                  <a:extLst>
                    <a:ext uri="{9D8B030D-6E8A-4147-A177-3AD203B41FA5}">
                      <a16:colId xmlns:a16="http://schemas.microsoft.com/office/drawing/2014/main" val="20000"/>
                    </a:ext>
                  </a:extLst>
                </a:gridCol>
                <a:gridCol w="651510">
                  <a:extLst>
                    <a:ext uri="{9D8B030D-6E8A-4147-A177-3AD203B41FA5}">
                      <a16:colId xmlns:a16="http://schemas.microsoft.com/office/drawing/2014/main" val="20001"/>
                    </a:ext>
                  </a:extLst>
                </a:gridCol>
                <a:gridCol w="650240">
                  <a:extLst>
                    <a:ext uri="{9D8B030D-6E8A-4147-A177-3AD203B41FA5}">
                      <a16:colId xmlns:a16="http://schemas.microsoft.com/office/drawing/2014/main" val="20002"/>
                    </a:ext>
                  </a:extLst>
                </a:gridCol>
                <a:gridCol w="649605">
                  <a:extLst>
                    <a:ext uri="{9D8B030D-6E8A-4147-A177-3AD203B41FA5}">
                      <a16:colId xmlns:a16="http://schemas.microsoft.com/office/drawing/2014/main" val="20003"/>
                    </a:ext>
                  </a:extLst>
                </a:gridCol>
                <a:gridCol w="648970">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5985">
                  <a:extLst>
                    <a:ext uri="{9D8B030D-6E8A-4147-A177-3AD203B41FA5}">
                      <a16:colId xmlns:a16="http://schemas.microsoft.com/office/drawing/2014/main" val="20006"/>
                    </a:ext>
                  </a:extLst>
                </a:gridCol>
                <a:gridCol w="1523365">
                  <a:extLst>
                    <a:ext uri="{9D8B030D-6E8A-4147-A177-3AD203B41FA5}">
                      <a16:colId xmlns:a16="http://schemas.microsoft.com/office/drawing/2014/main" val="20007"/>
                    </a:ext>
                  </a:extLst>
                </a:gridCol>
              </a:tblGrid>
              <a:tr h="732790">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需求地区</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化工厂</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400" b="0" dirty="0" err="1">
                          <a:latin typeface="Times New Roman" panose="02020603050405020304" pitchFamily="18" charset="0"/>
                          <a:ea typeface="微软雅黑" panose="020B0503020204020204" pitchFamily="34" charset="-122"/>
                          <a:cs typeface="宋体" panose="02010600030101010101" pitchFamily="2" charset="-122"/>
                        </a:rPr>
                        <a:t>产量（万吨</a:t>
                      </a:r>
                      <a:r>
                        <a:rPr lang="en-US" sz="2400" b="0" dirty="0">
                          <a:latin typeface="Times New Roman" panose="02020603050405020304" pitchFamily="18" charset="0"/>
                          <a:ea typeface="微软雅黑" panose="020B0503020204020204" pitchFamily="34" charset="-122"/>
                          <a:cs typeface="宋体" panose="02010600030101010101" pitchFamily="2" charset="-122"/>
                        </a:rPr>
                        <a:t>）</a:t>
                      </a:r>
                      <a:endParaRPr lang="en-US" altLang="en-US" sz="2400" b="0" dirty="0">
                        <a:latin typeface="Times New Roman" panose="02020603050405020304" pitchFamily="18" charset="0"/>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6215">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16</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altLang="en-US" sz="24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16</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r>
                        <a:rPr lang="en-US" altLang="en-US" sz="24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22</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23</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altLang="en-US" sz="24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p>
                      <a:pPr indent="0" algn="ctr">
                        <a:buNone/>
                      </a:pPr>
                      <a:r>
                        <a:rPr lang="en-US" altLang="en-US" sz="24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altLang="en-US" sz="24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p>
                      <a:pPr indent="0" algn="ctr">
                        <a:buNone/>
                      </a:pPr>
                      <a:r>
                        <a:rPr lang="en-US" altLang="en-US" sz="24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1520">
                <a:tc>
                  <a:txBody>
                    <a:bodyPr/>
                    <a:lstStyle/>
                    <a:p>
                      <a:pPr indent="0">
                        <a:buNone/>
                      </a:pP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最低需求</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0" dirty="0" err="1">
                          <a:latin typeface="Times New Roman" panose="02020603050405020304" pitchFamily="18" charset="0"/>
                          <a:ea typeface="微软雅黑" panose="020B0503020204020204" pitchFamily="34" charset="-122"/>
                          <a:cs typeface="Times New Roman" panose="02020603050405020304" pitchFamily="18" charset="0"/>
                        </a:rPr>
                        <a:t>万吨</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TextBox 5"/>
          <p:cNvSpPr txBox="1">
            <a:spLocks noChangeArrowheads="1"/>
          </p:cNvSpPr>
          <p:nvPr/>
        </p:nvSpPr>
        <p:spPr bwMode="auto">
          <a:xfrm>
            <a:off x="2916262" y="4166746"/>
            <a:ext cx="4392042" cy="1134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en-US" altLang="zh-CN" sz="2000">
              <a:ea typeface="微软雅黑" panose="020B0503020204020204" pitchFamily="34" charset="-122"/>
            </a:endParaRPr>
          </a:p>
          <a:p>
            <a:pPr eaLnBrk="1" hangingPunct="1"/>
            <a:endParaRPr lang="en-US" altLang="zh-CN" sz="2000">
              <a:ea typeface="微软雅黑" panose="020B0503020204020204" pitchFamily="34" charset="-122"/>
            </a:endParaRPr>
          </a:p>
          <a:p>
            <a:pPr eaLnBrk="1" hangingPunct="1"/>
            <a:r>
              <a:rPr lang="en-US" altLang="zh-CN" sz="2000">
                <a:ea typeface="微软雅黑" panose="020B0503020204020204" pitchFamily="34" charset="-122"/>
              </a:rPr>
              <a:t>  </a:t>
            </a:r>
            <a:endParaRPr lang="zh-CN" altLang="en-US" sz="2000">
              <a:ea typeface="微软雅黑" panose="020B0503020204020204" pitchFamily="34" charset="-122"/>
            </a:endParaRPr>
          </a:p>
        </p:txBody>
      </p:sp>
      <p:sp>
        <p:nvSpPr>
          <p:cNvPr id="4" name="TextBox 6"/>
          <p:cNvSpPr txBox="1">
            <a:spLocks noChangeArrowheads="1"/>
          </p:cNvSpPr>
          <p:nvPr/>
        </p:nvSpPr>
        <p:spPr bwMode="auto">
          <a:xfrm>
            <a:off x="4211960" y="5229200"/>
            <a:ext cx="3096344"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sz="2000">
              <a:ea typeface="微软雅黑" panose="020B0503020204020204" pitchFamily="34" charset="-122"/>
            </a:endParaRPr>
          </a:p>
        </p:txBody>
      </p:sp>
      <p:sp>
        <p:nvSpPr>
          <p:cNvPr id="5" name="圆角矩形 4"/>
          <p:cNvSpPr>
            <a:spLocks noChangeArrowheads="1"/>
          </p:cNvSpPr>
          <p:nvPr/>
        </p:nvSpPr>
        <p:spPr bwMode="auto">
          <a:xfrm>
            <a:off x="5508625" y="4838700"/>
            <a:ext cx="1584325" cy="390525"/>
          </a:xfrm>
          <a:prstGeom prst="roundRect">
            <a:avLst>
              <a:gd name="adj" fmla="val 16667"/>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6" name="图片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743" y="404664"/>
            <a:ext cx="8429625"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6">
            <a:extLst>
              <a:ext uri="{FF2B5EF4-FFF2-40B4-BE49-F238E27FC236}">
                <a16:creationId xmlns:a16="http://schemas.microsoft.com/office/drawing/2014/main" id="{F651D350-5DFD-4A04-AB8B-784FF808AB50}"/>
              </a:ext>
            </a:extLst>
          </p:cNvPr>
          <p:cNvSpPr>
            <a:spLocks noGrp="1"/>
          </p:cNvSpPr>
          <p:nvPr>
            <p:ph type="sldNum" sz="quarter" idx="12"/>
          </p:nvPr>
        </p:nvSpPr>
        <p:spPr/>
        <p:txBody>
          <a:bodyPr/>
          <a:lstStyle/>
          <a:p>
            <a:pPr>
              <a:defRPr/>
            </a:pPr>
            <a:fld id="{2AE1B59C-883C-4848-BC85-9A12DF2590B2}" type="slidenum">
              <a:rPr lang="en-US" altLang="zh-CN" smtClean="0"/>
              <a:t>73</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xit" presetSubtype="10" fill="hold" grpId="0" nodeType="clickEffect">
                                  <p:stCondLst>
                                    <p:cond delay="0"/>
                                  </p:stCondLst>
                                  <p:childTnLst>
                                    <p:animEffect transition="out" filter="blinds(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25" y="579438"/>
            <a:ext cx="8666163"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25" y="4195217"/>
            <a:ext cx="8702675"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bwMode="auto">
          <a:xfrm>
            <a:off x="2555875" y="6153150"/>
            <a:ext cx="3382963" cy="46166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单位运价表</a:t>
            </a:r>
            <a:r>
              <a:rPr lang="en-US" altLang="zh-CN" dirty="0"/>
              <a:t>(</a:t>
            </a:r>
            <a:r>
              <a:rPr lang="zh-CN" altLang="en-US" dirty="0"/>
              <a:t>表</a:t>
            </a:r>
            <a:r>
              <a:rPr lang="en-US" altLang="zh-CN" dirty="0">
                <a:latin typeface="Times New Roman" panose="02020603050405020304" pitchFamily="18" charset="0"/>
                <a:cs typeface="Times New Roman" panose="02020603050405020304" pitchFamily="18" charset="0"/>
              </a:rPr>
              <a:t>4-28</a:t>
            </a:r>
            <a:r>
              <a:rPr lang="en-US" altLang="zh-CN" dirty="0"/>
              <a:t>)</a:t>
            </a:r>
          </a:p>
        </p:txBody>
      </p:sp>
      <p:sp>
        <p:nvSpPr>
          <p:cNvPr id="16389" name="Rectangle 3"/>
          <p:cNvSpPr txBox="1">
            <a:spLocks noChangeArrowheads="1"/>
          </p:cNvSpPr>
          <p:nvPr/>
        </p:nvSpPr>
        <p:spPr bwMode="auto">
          <a:xfrm>
            <a:off x="0" y="188913"/>
            <a:ext cx="914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90000"/>
              </a:lnSpc>
              <a:spcBef>
                <a:spcPts val="600"/>
              </a:spcBef>
              <a:buClr>
                <a:schemeClr val="accent1"/>
              </a:buClr>
              <a:buSzPct val="70000"/>
              <a:buFont typeface="Wingdings" panose="05000000000000000000" pitchFamily="2" charset="2"/>
              <a:buNone/>
            </a:pPr>
            <a:r>
              <a:rPr lang="zh-CN" altLang="en-US" b="1" dirty="0">
                <a:latin typeface="Times New Roman" panose="02020603050405020304" pitchFamily="18" charset="0"/>
                <a:ea typeface="微软雅黑" panose="020B0503020204020204" pitchFamily="34" charset="-122"/>
              </a:rPr>
              <a:t>这样可以写出这个问题的产销平衡表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rPr>
              <a:t>4-27)</a:t>
            </a:r>
            <a:r>
              <a:rPr lang="zh-CN" altLang="en-US" b="1" dirty="0">
                <a:latin typeface="Times New Roman" panose="02020603050405020304" pitchFamily="18" charset="0"/>
                <a:ea typeface="微软雅黑" panose="020B0503020204020204" pitchFamily="34" charset="-122"/>
              </a:rPr>
              <a:t>和单位运价表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rPr>
              <a:t>4-28)</a:t>
            </a:r>
          </a:p>
        </p:txBody>
      </p:sp>
      <p:sp>
        <p:nvSpPr>
          <p:cNvPr id="5" name="TextBox 4"/>
          <p:cNvSpPr txBox="1">
            <a:spLocks noChangeArrowheads="1"/>
          </p:cNvSpPr>
          <p:nvPr/>
        </p:nvSpPr>
        <p:spPr bwMode="auto">
          <a:xfrm>
            <a:off x="2608263" y="3068638"/>
            <a:ext cx="3276600" cy="457200"/>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产销平衡表</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4-27</a:t>
            </a:r>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387350" y="4196169"/>
          <a:ext cx="8616315" cy="1969135"/>
        </p:xfrm>
        <a:graphic>
          <a:graphicData uri="http://schemas.openxmlformats.org/drawingml/2006/table">
            <a:tbl>
              <a:tblPr firstRow="1" bandRow="1">
                <a:tableStyleId>{5940675A-B579-460E-94D1-54222C63F5DA}</a:tableStyleId>
              </a:tblPr>
              <a:tblGrid>
                <a:gridCol w="2724150">
                  <a:extLst>
                    <a:ext uri="{9D8B030D-6E8A-4147-A177-3AD203B41FA5}">
                      <a16:colId xmlns:a16="http://schemas.microsoft.com/office/drawing/2014/main" val="20000"/>
                    </a:ext>
                  </a:extLst>
                </a:gridCol>
                <a:gridCol w="649605">
                  <a:extLst>
                    <a:ext uri="{9D8B030D-6E8A-4147-A177-3AD203B41FA5}">
                      <a16:colId xmlns:a16="http://schemas.microsoft.com/office/drawing/2014/main" val="20001"/>
                    </a:ext>
                  </a:extLst>
                </a:gridCol>
                <a:gridCol w="647065">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645160">
                  <a:extLst>
                    <a:ext uri="{9D8B030D-6E8A-4147-A177-3AD203B41FA5}">
                      <a16:colId xmlns:a16="http://schemas.microsoft.com/office/drawing/2014/main" val="20004"/>
                    </a:ext>
                  </a:extLst>
                </a:gridCol>
                <a:gridCol w="891540">
                  <a:extLst>
                    <a:ext uri="{9D8B030D-6E8A-4147-A177-3AD203B41FA5}">
                      <a16:colId xmlns:a16="http://schemas.microsoft.com/office/drawing/2014/main" val="20005"/>
                    </a:ext>
                  </a:extLst>
                </a:gridCol>
                <a:gridCol w="894080">
                  <a:extLst>
                    <a:ext uri="{9D8B030D-6E8A-4147-A177-3AD203B41FA5}">
                      <a16:colId xmlns:a16="http://schemas.microsoft.com/office/drawing/2014/main" val="20006"/>
                    </a:ext>
                  </a:extLst>
                </a:gridCol>
                <a:gridCol w="1517015">
                  <a:extLst>
                    <a:ext uri="{9D8B030D-6E8A-4147-A177-3AD203B41FA5}">
                      <a16:colId xmlns:a16="http://schemas.microsoft.com/office/drawing/2014/main" val="20007"/>
                    </a:ext>
                  </a:extLst>
                </a:gridCol>
              </a:tblGrid>
              <a:tr h="707390">
                <a:tc>
                  <a:txBody>
                    <a:bodyPr/>
                    <a:lstStyle/>
                    <a:p>
                      <a:pPr indent="0">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b="1" dirty="0" err="1">
                          <a:latin typeface="微软雅黑" panose="020B0503020204020204" pitchFamily="34" charset="-122"/>
                          <a:ea typeface="微软雅黑" panose="020B0503020204020204" pitchFamily="34" charset="-122"/>
                          <a:cs typeface="Times New Roman" panose="02020603050405020304" pitchFamily="18" charset="0"/>
                        </a:rPr>
                        <a:t>需求地区</a:t>
                      </a:r>
                      <a:r>
                        <a:rPr lang="en-US" sz="1800" b="1" dirty="0">
                          <a:latin typeface="微软雅黑" panose="020B0503020204020204" pitchFamily="34" charset="-122"/>
                          <a:ea typeface="微软雅黑" panose="020B0503020204020204" pitchFamily="34" charset="-122"/>
                          <a:cs typeface="Times New Roman" panose="02020603050405020304" pitchFamily="18" charset="0"/>
                        </a:rPr>
                        <a:t> </a:t>
                      </a:r>
                    </a:p>
                    <a:p>
                      <a:pPr indent="0">
                        <a:buNone/>
                      </a:pPr>
                      <a:r>
                        <a:rPr lang="en-US" sz="1800" b="1" dirty="0">
                          <a:latin typeface="微软雅黑" panose="020B0503020204020204" pitchFamily="34" charset="-122"/>
                          <a:ea typeface="微软雅黑" panose="020B0503020204020204" pitchFamily="34" charset="-122"/>
                          <a:cs typeface="Times New Roman" panose="02020603050405020304" pitchFamily="18" charset="0"/>
                        </a:rPr>
                        <a:t>   </a:t>
                      </a:r>
                      <a:r>
                        <a:rPr lang="en-US" sz="1800" b="1" dirty="0" err="1">
                          <a:latin typeface="微软雅黑" panose="020B0503020204020204" pitchFamily="34" charset="-122"/>
                          <a:ea typeface="微软雅黑" panose="020B0503020204020204" pitchFamily="34" charset="-122"/>
                          <a:cs typeface="Times New Roman" panose="02020603050405020304" pitchFamily="18" charset="0"/>
                        </a:rPr>
                        <a:t>化工厂</a:t>
                      </a:r>
                      <a:endParaRPr lang="en-US" altLang="en-US" sz="18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5"/>
                    </a:blip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5"/>
                    </a:blipFill>
                  </a:tcPr>
                </a:tc>
                <a:tc>
                  <a:txBody>
                    <a:bodyPr/>
                    <a:lstStyle/>
                    <a:p>
                      <a:pPr indent="0" algn="ctr">
                        <a:buNone/>
                      </a:pPr>
                      <a:r>
                        <a:rPr lang="en-US" sz="1800" b="1" dirty="0" err="1">
                          <a:latin typeface="微软雅黑" panose="020B0503020204020204" pitchFamily="34" charset="-122"/>
                          <a:ea typeface="微软雅黑" panose="020B0503020204020204" pitchFamily="34" charset="-122"/>
                          <a:cs typeface="宋体" panose="02010600030101010101" pitchFamily="2" charset="-122"/>
                        </a:rPr>
                        <a:t>产量（万吨</a:t>
                      </a:r>
                      <a:r>
                        <a:rPr lang="en-US" sz="1800" b="1" dirty="0">
                          <a:latin typeface="微软雅黑" panose="020B0503020204020204" pitchFamily="34" charset="-122"/>
                          <a:ea typeface="微软雅黑" panose="020B0503020204020204" pitchFamily="34" charset="-122"/>
                          <a:cs typeface="宋体" panose="02010600030101010101" pitchFamily="2" charset="-122"/>
                        </a:rPr>
                        <a:t>）</a:t>
                      </a:r>
                      <a:endParaRPr lang="en-US" altLang="en-US" sz="18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61745">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16</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altLang="en-US" sz="18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16</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r>
                        <a:rPr lang="en-US" altLang="en-US" sz="18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22</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23</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altLang="en-US" sz="18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p>
                      <a:pPr indent="0" algn="ctr">
                        <a:buNone/>
                      </a:pPr>
                      <a:r>
                        <a:rPr lang="en-US" altLang="en-US" sz="18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altLang="en-US" sz="1800" b="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M</a:t>
                      </a:r>
                    </a:p>
                    <a:p>
                      <a:pPr indent="0" algn="ctr">
                        <a:buNone/>
                      </a:pPr>
                      <a:r>
                        <a:rPr lang="en-US" altLang="en-US" sz="1800" b="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表格 3"/>
          <p:cNvGraphicFramePr/>
          <p:nvPr>
            <p:custDataLst>
              <p:tags r:id="rId2"/>
            </p:custDataLst>
          </p:nvPr>
        </p:nvGraphicFramePr>
        <p:xfrm>
          <a:off x="323850" y="620713"/>
          <a:ext cx="8650289" cy="2425733"/>
        </p:xfrm>
        <a:graphic>
          <a:graphicData uri="http://schemas.openxmlformats.org/drawingml/2006/table">
            <a:tbl>
              <a:tblPr firstRow="1" bandRow="1">
                <a:tableStyleId>{5940675A-B579-460E-94D1-54222C63F5DA}</a:tableStyleId>
              </a:tblPr>
              <a:tblGrid>
                <a:gridCol w="2735046">
                  <a:extLst>
                    <a:ext uri="{9D8B030D-6E8A-4147-A177-3AD203B41FA5}">
                      <a16:colId xmlns:a16="http://schemas.microsoft.com/office/drawing/2014/main" val="20000"/>
                    </a:ext>
                  </a:extLst>
                </a:gridCol>
                <a:gridCol w="651534">
                  <a:extLst>
                    <a:ext uri="{9D8B030D-6E8A-4147-A177-3AD203B41FA5}">
                      <a16:colId xmlns:a16="http://schemas.microsoft.com/office/drawing/2014/main" val="20001"/>
                    </a:ext>
                  </a:extLst>
                </a:gridCol>
                <a:gridCol w="650264">
                  <a:extLst>
                    <a:ext uri="{9D8B030D-6E8A-4147-A177-3AD203B41FA5}">
                      <a16:colId xmlns:a16="http://schemas.microsoft.com/office/drawing/2014/main" val="20002"/>
                    </a:ext>
                  </a:extLst>
                </a:gridCol>
                <a:gridCol w="649629">
                  <a:extLst>
                    <a:ext uri="{9D8B030D-6E8A-4147-A177-3AD203B41FA5}">
                      <a16:colId xmlns:a16="http://schemas.microsoft.com/office/drawing/2014/main" val="20003"/>
                    </a:ext>
                  </a:extLst>
                </a:gridCol>
                <a:gridCol w="648994">
                  <a:extLst>
                    <a:ext uri="{9D8B030D-6E8A-4147-A177-3AD203B41FA5}">
                      <a16:colId xmlns:a16="http://schemas.microsoft.com/office/drawing/2014/main" val="20004"/>
                    </a:ext>
                  </a:extLst>
                </a:gridCol>
                <a:gridCol w="895383">
                  <a:extLst>
                    <a:ext uri="{9D8B030D-6E8A-4147-A177-3AD203B41FA5}">
                      <a16:colId xmlns:a16="http://schemas.microsoft.com/office/drawing/2014/main" val="20005"/>
                    </a:ext>
                  </a:extLst>
                </a:gridCol>
                <a:gridCol w="896018">
                  <a:extLst>
                    <a:ext uri="{9D8B030D-6E8A-4147-A177-3AD203B41FA5}">
                      <a16:colId xmlns:a16="http://schemas.microsoft.com/office/drawing/2014/main" val="20006"/>
                    </a:ext>
                  </a:extLst>
                </a:gridCol>
                <a:gridCol w="1523421">
                  <a:extLst>
                    <a:ext uri="{9D8B030D-6E8A-4147-A177-3AD203B41FA5}">
                      <a16:colId xmlns:a16="http://schemas.microsoft.com/office/drawing/2014/main" val="20007"/>
                    </a:ext>
                  </a:extLst>
                </a:gridCol>
              </a:tblGrid>
              <a:tr h="732555">
                <a:tc>
                  <a:txBody>
                    <a:bodyPr/>
                    <a:lstStyle/>
                    <a:p>
                      <a:pPr indent="0">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b="1" dirty="0" err="1">
                          <a:latin typeface="微软雅黑" panose="020B0503020204020204" pitchFamily="34" charset="-122"/>
                          <a:ea typeface="微软雅黑" panose="020B0503020204020204" pitchFamily="34" charset="-122"/>
                          <a:cs typeface="Times New Roman" panose="02020603050405020304" pitchFamily="18" charset="0"/>
                        </a:rPr>
                        <a:t>需求地区</a:t>
                      </a:r>
                      <a:r>
                        <a:rPr lang="en-US" sz="1800" b="1" dirty="0">
                          <a:latin typeface="微软雅黑" panose="020B0503020204020204" pitchFamily="34" charset="-122"/>
                          <a:ea typeface="微软雅黑" panose="020B0503020204020204" pitchFamily="34" charset="-122"/>
                          <a:cs typeface="Times New Roman" panose="02020603050405020304" pitchFamily="18" charset="0"/>
                        </a:rPr>
                        <a:t> </a:t>
                      </a:r>
                    </a:p>
                    <a:p>
                      <a:pPr indent="0">
                        <a:buNone/>
                      </a:pPr>
                      <a:r>
                        <a:rPr lang="en-US" sz="1800" b="1" dirty="0">
                          <a:latin typeface="微软雅黑" panose="020B0503020204020204" pitchFamily="34" charset="-122"/>
                          <a:ea typeface="微软雅黑" panose="020B0503020204020204" pitchFamily="34" charset="-122"/>
                          <a:cs typeface="Times New Roman" panose="02020603050405020304" pitchFamily="18" charset="0"/>
                        </a:rPr>
                        <a:t>  </a:t>
                      </a:r>
                      <a:r>
                        <a:rPr lang="en-US" sz="1800" b="1" dirty="0" err="1">
                          <a:latin typeface="微软雅黑" panose="020B0503020204020204" pitchFamily="34" charset="-122"/>
                          <a:ea typeface="微软雅黑" panose="020B0503020204020204" pitchFamily="34" charset="-122"/>
                          <a:cs typeface="Times New Roman" panose="02020603050405020304" pitchFamily="18" charset="0"/>
                        </a:rPr>
                        <a:t>化工厂</a:t>
                      </a:r>
                      <a:endParaRPr lang="en-US" altLang="en-US" sz="18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sz="1800" dirty="0">
                        <a:ea typeface="微软雅黑" panose="020B0503020204020204" pitchFamily="34"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6"/>
                    </a:blip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sz="1800" dirty="0">
                        <a:ea typeface="微软雅黑" panose="020B0503020204020204" pitchFamily="34"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6"/>
                    </a:blipFill>
                  </a:tcPr>
                </a:tc>
                <a:tc>
                  <a:txBody>
                    <a:bodyPr/>
                    <a:lstStyle/>
                    <a:p>
                      <a:pPr indent="0" algn="ctr">
                        <a:buNone/>
                      </a:pPr>
                      <a:r>
                        <a:rPr lang="en-US" sz="1800" b="1" dirty="0" err="1">
                          <a:latin typeface="微软雅黑" panose="020B0503020204020204" pitchFamily="34" charset="-122"/>
                          <a:ea typeface="微软雅黑" panose="020B0503020204020204" pitchFamily="34" charset="-122"/>
                          <a:cs typeface="宋体" panose="02010600030101010101" pitchFamily="2" charset="-122"/>
                        </a:rPr>
                        <a:t>产量（万吨</a:t>
                      </a:r>
                      <a:r>
                        <a:rPr lang="en-US" sz="1800" b="1" dirty="0">
                          <a:latin typeface="微软雅黑" panose="020B0503020204020204" pitchFamily="34" charset="-122"/>
                          <a:ea typeface="微软雅黑" panose="020B0503020204020204" pitchFamily="34" charset="-122"/>
                          <a:cs typeface="宋体" panose="02010600030101010101" pitchFamily="2" charset="-122"/>
                        </a:rPr>
                        <a:t>）</a:t>
                      </a:r>
                      <a:endParaRPr lang="en-US" altLang="en-US" sz="1800" b="1" dirty="0">
                        <a:latin typeface="微软雅黑" panose="020B0503020204020204" pitchFamily="34" charset="-122"/>
                        <a:ea typeface="微软雅黑" panose="020B0503020204020204" pitchFamily="34" charset="-122"/>
                        <a:cs typeface="宋体" panose="02010600030101010101" pitchFamily="2" charset="-122"/>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44538">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a:buNone/>
                      </a:pPr>
                      <a:r>
                        <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608">
                <a:tc>
                  <a:txBody>
                    <a:bodyPr/>
                    <a:lstStyle/>
                    <a:p>
                      <a:pPr indent="0" algn="ctr">
                        <a:buNone/>
                      </a:pP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销量</a:t>
                      </a:r>
                      <a:r>
                        <a:rPr lang="en-US" sz="1800" b="1" dirty="0">
                          <a:latin typeface="微软雅黑" panose="020B0503020204020204" pitchFamily="34" charset="-122"/>
                          <a:ea typeface="微软雅黑" panose="020B0503020204020204" pitchFamily="34" charset="-122"/>
                          <a:cs typeface="Times New Roman" panose="02020603050405020304" pitchFamily="18" charset="0"/>
                        </a:rPr>
                        <a:t>(</a:t>
                      </a:r>
                      <a:r>
                        <a:rPr lang="en-US" sz="1800" b="1" dirty="0" err="1">
                          <a:latin typeface="微软雅黑" panose="020B0503020204020204" pitchFamily="34" charset="-122"/>
                          <a:ea typeface="微软雅黑" panose="020B0503020204020204" pitchFamily="34" charset="-122"/>
                          <a:cs typeface="Times New Roman" panose="02020603050405020304" pitchFamily="18" charset="0"/>
                        </a:rPr>
                        <a:t>万吨</a:t>
                      </a:r>
                      <a:r>
                        <a:rPr lang="en-US" sz="1800" b="1" dirty="0">
                          <a:latin typeface="微软雅黑" panose="020B0503020204020204" pitchFamily="34" charset="-122"/>
                          <a:ea typeface="微软雅黑" panose="020B0503020204020204" pitchFamily="34" charset="-122"/>
                          <a:cs typeface="Times New Roman" panose="02020603050405020304" pitchFamily="18" charset="0"/>
                        </a:rPr>
                        <a:t>)</a:t>
                      </a:r>
                    </a:p>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70</a:t>
                      </a:r>
                    </a:p>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8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3" marR="68583"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6392" name="直接连接符 7"/>
          <p:cNvCxnSpPr>
            <a:cxnSpLocks noChangeShapeType="1"/>
          </p:cNvCxnSpPr>
          <p:nvPr/>
        </p:nvCxnSpPr>
        <p:spPr bwMode="auto">
          <a:xfrm>
            <a:off x="322263" y="615950"/>
            <a:ext cx="2738437" cy="7239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6393" name="直接连接符 8"/>
          <p:cNvCxnSpPr>
            <a:cxnSpLocks noChangeShapeType="1"/>
          </p:cNvCxnSpPr>
          <p:nvPr/>
        </p:nvCxnSpPr>
        <p:spPr bwMode="auto">
          <a:xfrm>
            <a:off x="388319" y="4196739"/>
            <a:ext cx="2741613" cy="72072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7" name="灯片编号占位符 6">
            <a:extLst>
              <a:ext uri="{FF2B5EF4-FFF2-40B4-BE49-F238E27FC236}">
                <a16:creationId xmlns:a16="http://schemas.microsoft.com/office/drawing/2014/main" id="{C1C78086-6A18-4DE6-9197-43C4958138D0}"/>
              </a:ext>
            </a:extLst>
          </p:cNvPr>
          <p:cNvSpPr>
            <a:spLocks noGrp="1"/>
          </p:cNvSpPr>
          <p:nvPr>
            <p:ph type="sldNum" sz="quarter" idx="12"/>
          </p:nvPr>
        </p:nvSpPr>
        <p:spPr/>
        <p:txBody>
          <a:bodyPr/>
          <a:lstStyle/>
          <a:p>
            <a:pPr>
              <a:defRPr/>
            </a:pPr>
            <a:fld id="{2AE1B59C-883C-4848-BC85-9A12DF2590B2}" type="slidenum">
              <a:rPr lang="en-US" altLang="zh-CN" smtClean="0"/>
              <a:t>74</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639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5"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409575" y="1773238"/>
            <a:ext cx="8648700" cy="3514725"/>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17411" name="Rectangle 2"/>
          <p:cNvSpPr txBox="1">
            <a:spLocks noChangeArrowheads="1"/>
          </p:cNvSpPr>
          <p:nvPr/>
        </p:nvSpPr>
        <p:spPr bwMode="auto">
          <a:xfrm>
            <a:off x="0" y="1052513"/>
            <a:ext cx="9144000" cy="5032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solidFill>
                  <a:schemeClr val="folHlink"/>
                </a:solidFill>
                <a:latin typeface="微软雅黑" panose="020B0503020204020204" pitchFamily="34" charset="-122"/>
                <a:ea typeface="微软雅黑" panose="020B0503020204020204" pitchFamily="34" charset="-122"/>
              </a:rPr>
              <a:t>根据表上作业法计算</a:t>
            </a:r>
            <a:r>
              <a:rPr lang="zh-CN" altLang="en-US" b="1" dirty="0">
                <a:solidFill>
                  <a:schemeClr val="folHlink"/>
                </a:solidFill>
                <a:latin typeface="仿宋" panose="02010609060101010101" pitchFamily="49" charset="-122"/>
                <a:ea typeface="仿宋" panose="02010609060101010101" pitchFamily="49" charset="-122"/>
              </a:rPr>
              <a:t>，</a:t>
            </a:r>
            <a:r>
              <a:rPr lang="zh-CN" altLang="en-US" b="1" dirty="0">
                <a:solidFill>
                  <a:schemeClr val="folHlink"/>
                </a:solidFill>
                <a:latin typeface="微软雅黑" panose="020B0503020204020204" pitchFamily="34" charset="-122"/>
                <a:ea typeface="微软雅黑" panose="020B0503020204020204" pitchFamily="34" charset="-122"/>
              </a:rPr>
              <a:t>可以求得这个问题的最优方案如表</a:t>
            </a:r>
            <a:r>
              <a:rPr lang="en-US" altLang="zh-CN" b="1" dirty="0">
                <a:solidFill>
                  <a:schemeClr val="folHlink"/>
                </a:solidFill>
                <a:latin typeface="Times New Roman" panose="02020603050405020304" pitchFamily="18" charset="0"/>
                <a:ea typeface="微软雅黑" panose="020B0503020204020204" pitchFamily="34" charset="-122"/>
                <a:cs typeface="Times New Roman" panose="02020603050405020304" pitchFamily="18" charset="0"/>
              </a:rPr>
              <a:t>4-29</a:t>
            </a:r>
            <a:r>
              <a:rPr lang="zh-CN" altLang="en-US" b="1" dirty="0">
                <a:solidFill>
                  <a:schemeClr val="folHlink"/>
                </a:solidFill>
                <a:latin typeface="微软雅黑" panose="020B0503020204020204" pitchFamily="34" charset="-122"/>
                <a:ea typeface="微软雅黑" panose="020B0503020204020204" pitchFamily="34" charset="-122"/>
              </a:rPr>
              <a:t>所示</a:t>
            </a:r>
            <a:r>
              <a:rPr lang="zh-CN" altLang="en-US" sz="2800" dirty="0">
                <a:solidFill>
                  <a:schemeClr val="hlink"/>
                </a:solidFill>
                <a:latin typeface="Century Schoolbook" panose="02040604050505020304" pitchFamily="18" charset="0"/>
                <a:ea typeface="微软雅黑" panose="020B0503020204020204" pitchFamily="34" charset="-122"/>
              </a:rPr>
              <a:t> </a:t>
            </a:r>
          </a:p>
        </p:txBody>
      </p:sp>
      <p:sp>
        <p:nvSpPr>
          <p:cNvPr id="17412" name="矩形 3"/>
          <p:cNvSpPr>
            <a:spLocks noChangeArrowheads="1"/>
          </p:cNvSpPr>
          <p:nvPr/>
        </p:nvSpPr>
        <p:spPr bwMode="auto">
          <a:xfrm>
            <a:off x="4139952" y="5511801"/>
            <a:ext cx="2116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dirty="0">
                <a:latin typeface="微软雅黑" panose="020B0503020204020204" pitchFamily="34" charset="-122"/>
                <a:ea typeface="微软雅黑" panose="020B0503020204020204" pitchFamily="34" charset="-122"/>
              </a:rPr>
              <a:t>表</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4-29</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 name="表格 3"/>
          <p:cNvGraphicFramePr/>
          <p:nvPr>
            <p:custDataLst>
              <p:tags r:id="rId1"/>
            </p:custDataLst>
          </p:nvPr>
        </p:nvGraphicFramePr>
        <p:xfrm>
          <a:off x="412171" y="1779588"/>
          <a:ext cx="8648700" cy="3536950"/>
        </p:xfrm>
        <a:graphic>
          <a:graphicData uri="http://schemas.openxmlformats.org/drawingml/2006/table">
            <a:tbl>
              <a:tblPr firstRow="1" bandRow="1">
                <a:tableStyleId>{5940675A-B579-460E-94D1-54222C63F5DA}</a:tableStyleId>
              </a:tblPr>
              <a:tblGrid>
                <a:gridCol w="2734543">
                  <a:extLst>
                    <a:ext uri="{9D8B030D-6E8A-4147-A177-3AD203B41FA5}">
                      <a16:colId xmlns:a16="http://schemas.microsoft.com/office/drawing/2014/main" val="20000"/>
                    </a:ext>
                  </a:extLst>
                </a:gridCol>
                <a:gridCol w="651414">
                  <a:extLst>
                    <a:ext uri="{9D8B030D-6E8A-4147-A177-3AD203B41FA5}">
                      <a16:colId xmlns:a16="http://schemas.microsoft.com/office/drawing/2014/main" val="20001"/>
                    </a:ext>
                  </a:extLst>
                </a:gridCol>
                <a:gridCol w="650145">
                  <a:extLst>
                    <a:ext uri="{9D8B030D-6E8A-4147-A177-3AD203B41FA5}">
                      <a16:colId xmlns:a16="http://schemas.microsoft.com/office/drawing/2014/main" val="20002"/>
                    </a:ext>
                  </a:extLst>
                </a:gridCol>
                <a:gridCol w="649510">
                  <a:extLst>
                    <a:ext uri="{9D8B030D-6E8A-4147-A177-3AD203B41FA5}">
                      <a16:colId xmlns:a16="http://schemas.microsoft.com/office/drawing/2014/main" val="20003"/>
                    </a:ext>
                  </a:extLst>
                </a:gridCol>
                <a:gridCol w="648875">
                  <a:extLst>
                    <a:ext uri="{9D8B030D-6E8A-4147-A177-3AD203B41FA5}">
                      <a16:colId xmlns:a16="http://schemas.microsoft.com/office/drawing/2014/main" val="20004"/>
                    </a:ext>
                  </a:extLst>
                </a:gridCol>
                <a:gridCol w="895219">
                  <a:extLst>
                    <a:ext uri="{9D8B030D-6E8A-4147-A177-3AD203B41FA5}">
                      <a16:colId xmlns:a16="http://schemas.microsoft.com/office/drawing/2014/main" val="20005"/>
                    </a:ext>
                  </a:extLst>
                </a:gridCol>
                <a:gridCol w="895853">
                  <a:extLst>
                    <a:ext uri="{9D8B030D-6E8A-4147-A177-3AD203B41FA5}">
                      <a16:colId xmlns:a16="http://schemas.microsoft.com/office/drawing/2014/main" val="20006"/>
                    </a:ext>
                  </a:extLst>
                </a:gridCol>
                <a:gridCol w="1523141">
                  <a:extLst>
                    <a:ext uri="{9D8B030D-6E8A-4147-A177-3AD203B41FA5}">
                      <a16:colId xmlns:a16="http://schemas.microsoft.com/office/drawing/2014/main" val="20007"/>
                    </a:ext>
                  </a:extLst>
                </a:gridCol>
              </a:tblGrid>
              <a:tr h="793750">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err="1">
                          <a:latin typeface="微软雅黑" panose="020B0503020204020204" pitchFamily="34" charset="-122"/>
                          <a:ea typeface="微软雅黑" panose="020B0503020204020204" pitchFamily="34" charset="-122"/>
                          <a:cs typeface="Times New Roman" panose="02020603050405020304" pitchFamily="18" charset="0"/>
                        </a:rPr>
                        <a:t>需求地区</a:t>
                      </a: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err="1">
                          <a:latin typeface="微软雅黑" panose="020B0503020204020204" pitchFamily="34" charset="-122"/>
                          <a:ea typeface="微软雅黑" panose="020B0503020204020204" pitchFamily="34" charset="-122"/>
                          <a:cs typeface="Times New Roman" panose="02020603050405020304" pitchFamily="18" charset="0"/>
                        </a:rPr>
                        <a:t>化工厂</a:t>
                      </a:r>
                      <a:endParaRPr lang="en-US" altLang="en-US" sz="20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endParaRPr lang="zh-CN" dirty="0">
                        <a:ea typeface="微软雅黑" panose="020B0503020204020204" pitchFamily="34" charset="-122"/>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blipFill>
                      <a:blip r:embed="rId4"/>
                    </a:blipFill>
                  </a:tcPr>
                </a:tc>
                <a:tc>
                  <a:txBody>
                    <a:bodyPr/>
                    <a:lstStyle/>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产量</a:t>
                      </a:r>
                      <a:r>
                        <a:rPr lang="en-US" sz="2000" b="0" dirty="0">
                          <a:latin typeface="Times New Roman" panose="02020603050405020304" pitchFamily="18" charset="0"/>
                          <a:ea typeface="微软雅黑" panose="020B0503020204020204" pitchFamily="34" charset="-122"/>
                          <a:cs typeface="宋体" panose="02010600030101010101" pitchFamily="2" charset="-122"/>
                        </a:rPr>
                        <a:t>(</a:t>
                      </a:r>
                      <a:r>
                        <a:rPr lang="en-US" sz="2000" b="1" dirty="0" err="1">
                          <a:latin typeface="微软雅黑" panose="020B0503020204020204" pitchFamily="34" charset="-122"/>
                          <a:ea typeface="微软雅黑" panose="020B0503020204020204" pitchFamily="34" charset="-122"/>
                          <a:cs typeface="宋体" panose="02010600030101010101" pitchFamily="2" charset="-122"/>
                        </a:rPr>
                        <a:t>万吨</a:t>
                      </a:r>
                      <a:r>
                        <a:rPr lang="en-US" sz="2000" b="0" dirty="0">
                          <a:latin typeface="Times New Roman" panose="02020603050405020304" pitchFamily="18" charset="0"/>
                          <a:ea typeface="微软雅黑" panose="020B0503020204020204" pitchFamily="34" charset="-122"/>
                          <a:cs typeface="宋体" panose="02010600030101010101" pitchFamily="2" charset="-122"/>
                        </a:rPr>
                        <a:t>)</a:t>
                      </a:r>
                      <a:endParaRPr lang="en-US" altLang="en-US" sz="2000" b="0" dirty="0">
                        <a:latin typeface="Times New Roman" panose="02020603050405020304" pitchFamily="18" charset="0"/>
                        <a:ea typeface="微软雅黑" panose="020B0503020204020204" pitchFamily="34" charset="-122"/>
                        <a:cs typeface="宋体" panose="02010600030101010101" pitchFamily="2" charset="-122"/>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54430">
                <a:tc>
                  <a:txBody>
                    <a:bodyPr/>
                    <a:lstStyle/>
                    <a:p>
                      <a:pPr indent="0" algn="ctr" fontAlgn="auto">
                        <a:lnSpc>
                          <a:spcPct val="15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fontAlgn="auto">
                        <a:lnSpc>
                          <a:spcPct val="15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fontAlgn="auto">
                        <a:lnSpc>
                          <a:spcPct val="15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fontAlgn="auto">
                        <a:lnSpc>
                          <a:spcPct val="15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5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fontAlgn="auto">
                        <a:lnSpc>
                          <a:spcPct val="15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60</a:t>
                      </a:r>
                    </a:p>
                    <a:p>
                      <a:pPr indent="0" algn="ctr" fontAlgn="auto">
                        <a:lnSpc>
                          <a:spcPct val="15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50</a:t>
                      </a:r>
                    </a:p>
                    <a:p>
                      <a:pPr indent="0" algn="ctr" fontAlgn="auto">
                        <a:lnSpc>
                          <a:spcPct val="15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indent="0" algn="ctr">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销量</a:t>
                      </a: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sz="2000" b="1" dirty="0" err="1">
                          <a:latin typeface="微软雅黑" panose="020B0503020204020204" pitchFamily="34" charset="-122"/>
                          <a:ea typeface="微软雅黑" panose="020B0503020204020204" pitchFamily="34" charset="-122"/>
                          <a:cs typeface="Times New Roman" panose="02020603050405020304" pitchFamily="18" charset="0"/>
                        </a:rPr>
                        <a:t>万吨</a:t>
                      </a: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50</a:t>
                      </a: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0" marR="6857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17413" name="直接连接符 1"/>
          <p:cNvCxnSpPr>
            <a:cxnSpLocks noChangeShapeType="1"/>
          </p:cNvCxnSpPr>
          <p:nvPr/>
        </p:nvCxnSpPr>
        <p:spPr bwMode="auto">
          <a:xfrm>
            <a:off x="409575" y="1779588"/>
            <a:ext cx="2722563" cy="78581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2" name="灯片编号占位符 1">
            <a:extLst>
              <a:ext uri="{FF2B5EF4-FFF2-40B4-BE49-F238E27FC236}">
                <a16:creationId xmlns:a16="http://schemas.microsoft.com/office/drawing/2014/main" id="{1C1D1F2E-3038-4E8C-8605-83C3EB21CBA7}"/>
              </a:ext>
            </a:extLst>
          </p:cNvPr>
          <p:cNvSpPr>
            <a:spLocks noGrp="1"/>
          </p:cNvSpPr>
          <p:nvPr>
            <p:ph type="sldNum" sz="quarter" idx="12"/>
          </p:nvPr>
        </p:nvSpPr>
        <p:spPr/>
        <p:txBody>
          <a:bodyPr/>
          <a:lstStyle/>
          <a:p>
            <a:pPr>
              <a:defRPr/>
            </a:pPr>
            <a:fld id="{2AE1B59C-883C-4848-BC85-9A12DF2590B2}" type="slidenum">
              <a:rPr lang="en-US" altLang="zh-CN" smtClean="0"/>
              <a:t>75</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3"/>
                                        </p:tgtEl>
                                        <p:attrNameLst>
                                          <p:attrName>style.visibility</p:attrName>
                                        </p:attrNameLst>
                                      </p:cBhvr>
                                      <p:to>
                                        <p:strVal val="visible"/>
                                      </p:to>
                                    </p:set>
                                  </p:childTnLst>
                                </p:cTn>
                              </p:par>
                              <p:par>
                                <p:cTn id="9" presetID="3" presetClass="entr" presetSubtype="1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1260475" y="4365625"/>
            <a:ext cx="7097713" cy="201295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3" name="Rectangle 3"/>
          <p:cNvSpPr txBox="1">
            <a:spLocks noChangeArrowheads="1"/>
          </p:cNvSpPr>
          <p:nvPr/>
        </p:nvSpPr>
        <p:spPr bwMode="auto">
          <a:xfrm>
            <a:off x="0" y="0"/>
            <a:ext cx="91440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50000"/>
              </a:lnSpc>
              <a:spcBef>
                <a:spcPts val="600"/>
              </a:spcBef>
              <a:buClr>
                <a:schemeClr val="accent1"/>
              </a:buClr>
              <a:buSzPct val="70000"/>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rPr>
              <a:t>由于在变量个数相等的情况下</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表上作业法的计算远比单纯形法简单得多。所以在解决实际问题时</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人们常常尽可能把某些线性规划的问题化为运输问题的数学模型</a:t>
            </a:r>
            <a:endParaRPr lang="en-US" altLang="zh-CN" b="1" dirty="0">
              <a:latin typeface="微软雅黑" panose="020B0503020204020204" pitchFamily="34" charset="-122"/>
              <a:ea typeface="微软雅黑" panose="020B0503020204020204" pitchFamily="34" charset="-122"/>
            </a:endParaRPr>
          </a:p>
          <a:p>
            <a:pPr>
              <a:lnSpc>
                <a:spcPct val="150000"/>
              </a:lnSpc>
              <a:spcBef>
                <a:spcPts val="600"/>
              </a:spcBef>
              <a:buClr>
                <a:schemeClr val="accent1"/>
              </a:buClr>
              <a:buSzPct val="70000"/>
              <a:buFont typeface="Wingdings" panose="05000000000000000000" pitchFamily="2" charset="2"/>
              <a:buNone/>
            </a:pPr>
            <a:endParaRPr lang="en-US" altLang="zh-CN" b="1" dirty="0">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auto">
          <a:xfrm>
            <a:off x="0" y="1657350"/>
            <a:ext cx="9144000" cy="26352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20000"/>
              </a:lnSpc>
              <a:spcBef>
                <a:spcPts val="600"/>
              </a:spcBef>
              <a:buClr>
                <a:schemeClr val="accent1"/>
              </a:buClr>
              <a:buSzPct val="70000"/>
              <a:buFont typeface="Wingdings" panose="05000000000000000000" pitchFamily="2" charset="2"/>
              <a:buNone/>
            </a:pPr>
            <a:r>
              <a:rPr lang="zh-CN" altLang="en-US" b="1" dirty="0">
                <a:solidFill>
                  <a:srgbClr val="FF0000"/>
                </a:solidFill>
                <a:latin typeface="Times New Roman" panose="02020603050405020304" pitchFamily="18" charset="0"/>
                <a:ea typeface="微软雅黑" panose="020B0503020204020204" pitchFamily="34" charset="-122"/>
              </a:rPr>
              <a:t>例</a:t>
            </a:r>
            <a:r>
              <a:rPr lang="en-US" altLang="zh-CN" b="1" dirty="0">
                <a:solidFill>
                  <a:srgbClr val="FF0000"/>
                </a:solidFill>
                <a:latin typeface="Times New Roman" panose="02020603050405020304" pitchFamily="18" charset="0"/>
                <a:ea typeface="微软雅黑" panose="020B0503020204020204" pitchFamily="34" charset="-122"/>
              </a:rPr>
              <a:t>4-3  </a:t>
            </a:r>
            <a:r>
              <a:rPr lang="zh-CN" altLang="en-US" b="1" dirty="0">
                <a:latin typeface="Times New Roman" panose="02020603050405020304" pitchFamily="18" charset="0"/>
                <a:ea typeface="微软雅黑" panose="020B0503020204020204" pitchFamily="34" charset="-122"/>
              </a:rPr>
              <a:t>某厂按合同规定须于当年每个季度末分别提供</a:t>
            </a:r>
            <a:r>
              <a:rPr lang="en-US" altLang="zh-CN" b="1" dirty="0">
                <a:latin typeface="Times New Roman" panose="02020603050405020304" pitchFamily="18" charset="0"/>
                <a:ea typeface="微软雅黑" panose="020B0503020204020204" pitchFamily="34" charset="-122"/>
              </a:rPr>
              <a:t>10</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台同一规格的柴油机。已知该厂各季度的生产能力及生产每台柴油机的成本如表</a:t>
            </a:r>
            <a:r>
              <a:rPr lang="en-US" altLang="zh-CN" b="1" dirty="0">
                <a:latin typeface="Times New Roman" panose="02020603050405020304" pitchFamily="18" charset="0"/>
                <a:ea typeface="微软雅黑" panose="020B0503020204020204" pitchFamily="34" charset="-122"/>
              </a:rPr>
              <a:t>4-30</a:t>
            </a:r>
            <a:r>
              <a:rPr lang="zh-CN" altLang="en-US" b="1" dirty="0">
                <a:latin typeface="Times New Roman" panose="02020603050405020304" pitchFamily="18" charset="0"/>
                <a:ea typeface="微软雅黑" panose="020B0503020204020204" pitchFamily="34" charset="-122"/>
              </a:rPr>
              <a:t>所示。又如果生产出来的柴油机当季不交货的</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每台每积压一个季度需储存、维护等费用</a:t>
            </a:r>
            <a:r>
              <a:rPr lang="en-US" altLang="zh-CN" b="1" dirty="0">
                <a:latin typeface="Times New Roman" panose="02020603050405020304" pitchFamily="18" charset="0"/>
                <a:ea typeface="微软雅黑" panose="020B0503020204020204" pitchFamily="34" charset="-122"/>
              </a:rPr>
              <a:t>0.15</a:t>
            </a:r>
            <a:r>
              <a:rPr lang="zh-CN" altLang="en-US" b="1" dirty="0">
                <a:latin typeface="Times New Roman" panose="02020603050405020304" pitchFamily="18" charset="0"/>
                <a:ea typeface="微软雅黑" panose="020B0503020204020204" pitchFamily="34" charset="-122"/>
              </a:rPr>
              <a:t>万元。要求在完成合同的情况下</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作出使该厂全年生产</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包括储存、维护</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费用最小的决策 </a:t>
            </a:r>
          </a:p>
        </p:txBody>
      </p:sp>
      <p:graphicFrame>
        <p:nvGraphicFramePr>
          <p:cNvPr id="7" name="表格 6"/>
          <p:cNvGraphicFramePr/>
          <p:nvPr>
            <p:custDataLst>
              <p:tags r:id="rId1"/>
            </p:custDataLst>
          </p:nvPr>
        </p:nvGraphicFramePr>
        <p:xfrm>
          <a:off x="1260475" y="4365625"/>
          <a:ext cx="7097713" cy="2033598"/>
        </p:xfrm>
        <a:graphic>
          <a:graphicData uri="http://schemas.openxmlformats.org/drawingml/2006/table">
            <a:tbl>
              <a:tblPr firstRow="1" bandRow="1">
                <a:tableStyleId>{5940675A-B579-460E-94D1-54222C63F5DA}</a:tableStyleId>
              </a:tblPr>
              <a:tblGrid>
                <a:gridCol w="2101756">
                  <a:extLst>
                    <a:ext uri="{9D8B030D-6E8A-4147-A177-3AD203B41FA5}">
                      <a16:colId xmlns:a16="http://schemas.microsoft.com/office/drawing/2014/main" val="20000"/>
                    </a:ext>
                  </a:extLst>
                </a:gridCol>
                <a:gridCol w="2099851">
                  <a:extLst>
                    <a:ext uri="{9D8B030D-6E8A-4147-A177-3AD203B41FA5}">
                      <a16:colId xmlns:a16="http://schemas.microsoft.com/office/drawing/2014/main" val="20001"/>
                    </a:ext>
                  </a:extLst>
                </a:gridCol>
                <a:gridCol w="2896106">
                  <a:extLst>
                    <a:ext uri="{9D8B030D-6E8A-4147-A177-3AD203B41FA5}">
                      <a16:colId xmlns:a16="http://schemas.microsoft.com/office/drawing/2014/main" val="20002"/>
                    </a:ext>
                  </a:extLst>
                </a:gridCol>
              </a:tblGrid>
              <a:tr h="365750">
                <a:tc>
                  <a:txBody>
                    <a:bodyPr/>
                    <a:lstStyle/>
                    <a:p>
                      <a:pPr indent="0" algn="ctr">
                        <a:buNone/>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季度</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生产能力（台）</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单位成本（万元）</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67838">
                <a:tc>
                  <a:txBody>
                    <a:bodyPr/>
                    <a:lstStyle/>
                    <a:p>
                      <a:pPr indent="0" algn="ctr">
                        <a:buNone/>
                      </a:pPr>
                      <a:r>
                        <a:rPr 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Ⅰ</a:t>
                      </a:r>
                    </a:p>
                    <a:p>
                      <a:pPr indent="0" algn="ctr">
                        <a:buNone/>
                      </a:pPr>
                      <a:r>
                        <a:rPr 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Ⅱ</a:t>
                      </a:r>
                    </a:p>
                    <a:p>
                      <a:pPr indent="0" algn="ctr">
                        <a:buNone/>
                      </a:pPr>
                      <a:r>
                        <a:rPr 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Ⅲ</a:t>
                      </a:r>
                    </a:p>
                    <a:p>
                      <a:pPr indent="0" algn="ctr">
                        <a:buNone/>
                      </a:pPr>
                      <a:r>
                        <a:rPr 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Ⅳ</a:t>
                      </a:r>
                      <a:endParaRPr lang="en-US" altLang="en-US" sz="2400" b="0" dirty="0">
                        <a:latin typeface="微软雅黑" panose="020B0503020204020204" pitchFamily="34" charset="-122"/>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25</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35</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10.8</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11.1</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11.0</a:t>
                      </a:r>
                    </a:p>
                    <a:p>
                      <a:pPr indent="0" algn="ctr">
                        <a:buNone/>
                      </a:pPr>
                      <a:r>
                        <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rPr>
                        <a:t>11.3</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p:cNvSpPr>
            <a:spLocks noChangeArrowheads="1"/>
          </p:cNvSpPr>
          <p:nvPr/>
        </p:nvSpPr>
        <p:spPr bwMode="auto">
          <a:xfrm>
            <a:off x="3563888" y="6399223"/>
            <a:ext cx="1724025" cy="45720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4-30</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502C040-C0D6-4567-B802-4391B6475CF4}"/>
              </a:ext>
            </a:extLst>
          </p:cNvPr>
          <p:cNvSpPr>
            <a:spLocks noGrp="1"/>
          </p:cNvSpPr>
          <p:nvPr>
            <p:ph type="sldNum" sz="quarter" idx="12"/>
          </p:nvPr>
        </p:nvSpPr>
        <p:spPr/>
        <p:txBody>
          <a:bodyPr/>
          <a:lstStyle/>
          <a:p>
            <a:pPr>
              <a:defRPr/>
            </a:pPr>
            <a:fld id="{2AE1B59C-883C-4848-BC85-9A12DF2590B2}" type="slidenum">
              <a:rPr lang="en-US" altLang="zh-CN" smtClean="0"/>
              <a:t>76</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3" presetClass="entr" presetSubtype="1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linds(horizontal)">
                                      <p:cBhvr>
                                        <p:cTn id="14" dur="500"/>
                                        <p:tgtEl>
                                          <p:spTgt spid="8"/>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8"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txBox="1">
            <a:spLocks noChangeArrowheads="1"/>
          </p:cNvSpPr>
          <p:nvPr/>
        </p:nvSpPr>
        <p:spPr bwMode="auto">
          <a:xfrm>
            <a:off x="0" y="3654425"/>
            <a:ext cx="9324975" cy="11430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solidFill>
                  <a:srgbClr val="FF0000"/>
                </a:solidFill>
                <a:latin typeface="Times New Roman" panose="02020603050405020304" pitchFamily="18" charset="0"/>
                <a:ea typeface="微软雅黑" panose="020B0503020204020204" pitchFamily="34" charset="-122"/>
              </a:rPr>
              <a:t>解：</a:t>
            </a:r>
            <a:r>
              <a:rPr lang="zh-CN" altLang="en-US" b="1" dirty="0">
                <a:latin typeface="Times New Roman" panose="02020603050405020304" pitchFamily="18" charset="0"/>
                <a:ea typeface="微软雅黑" panose="020B0503020204020204" pitchFamily="34" charset="-122"/>
              </a:rPr>
              <a:t>由于每个季度生产出来的柴油机不一定当季交货</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所以设</a:t>
            </a:r>
            <a:r>
              <a:rPr lang="en-US" altLang="zh-CN" b="1" i="1" dirty="0" err="1">
                <a:solidFill>
                  <a:srgbClr val="FF0000"/>
                </a:solidFill>
                <a:latin typeface="Times New Roman" panose="02020603050405020304" pitchFamily="18" charset="0"/>
                <a:ea typeface="微软雅黑" panose="020B0503020204020204" pitchFamily="34" charset="-122"/>
              </a:rPr>
              <a:t>x</a:t>
            </a:r>
            <a:r>
              <a:rPr lang="en-US" altLang="zh-CN" b="1" i="1" baseline="-30000" dirty="0" err="1">
                <a:solidFill>
                  <a:srgbClr val="FF0000"/>
                </a:solidFill>
                <a:latin typeface="Times New Roman" panose="02020603050405020304" pitchFamily="18" charset="0"/>
                <a:ea typeface="微软雅黑" panose="020B0503020204020204" pitchFamily="34" charset="-122"/>
              </a:rPr>
              <a:t>ij</a:t>
            </a:r>
            <a:r>
              <a:rPr lang="zh-CN" altLang="en-US" b="1" dirty="0">
                <a:latin typeface="Times New Roman" panose="02020603050405020304" pitchFamily="18" charset="0"/>
                <a:ea typeface="微软雅黑" panose="020B0503020204020204" pitchFamily="34" charset="-122"/>
              </a:rPr>
              <a:t>为第</a:t>
            </a:r>
            <a:r>
              <a:rPr lang="en-US" altLang="zh-CN" b="1" i="1" dirty="0" err="1">
                <a:solidFill>
                  <a:srgbClr val="FF0000"/>
                </a:solidFill>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季度生产的用于第</a:t>
            </a:r>
            <a:r>
              <a:rPr lang="en-US" altLang="zh-CN" b="1" i="1" dirty="0">
                <a:solidFill>
                  <a:srgbClr val="FF0000"/>
                </a:solidFill>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季度交货的柴油机数。根据合同要求</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必须满足</a:t>
            </a:r>
            <a:r>
              <a:rPr lang="zh-CN" altLang="en-US" sz="2800" dirty="0">
                <a:latin typeface="Century Schoolbook" panose="02040604050505020304" pitchFamily="18" charset="0"/>
                <a:ea typeface="微软雅黑" panose="020B0503020204020204" pitchFamily="34" charset="-122"/>
              </a:rPr>
              <a:t> </a:t>
            </a:r>
            <a:endParaRPr lang="zh-CN" altLang="en-US" sz="2800" dirty="0">
              <a:solidFill>
                <a:schemeClr val="tx2"/>
              </a:solidFill>
              <a:latin typeface="微软雅黑" panose="020B0503020204020204" pitchFamily="34" charset="-122"/>
              <a:ea typeface="微软雅黑" panose="020B0503020204020204" pitchFamily="34" charset="-122"/>
            </a:endParaRPr>
          </a:p>
        </p:txBody>
      </p:sp>
      <p:graphicFrame>
        <p:nvGraphicFramePr>
          <p:cNvPr id="3" name="Object 2"/>
          <p:cNvGraphicFramePr>
            <a:graphicFrameLocks noChangeAspect="1"/>
          </p:cNvGraphicFramePr>
          <p:nvPr/>
        </p:nvGraphicFramePr>
        <p:xfrm>
          <a:off x="2268538" y="4541838"/>
          <a:ext cx="4032250" cy="2316162"/>
        </p:xfrm>
        <a:graphic>
          <a:graphicData uri="http://schemas.openxmlformats.org/presentationml/2006/ole">
            <mc:AlternateContent xmlns:mc="http://schemas.openxmlformats.org/markup-compatibility/2006">
              <mc:Choice xmlns:v="urn:schemas-microsoft-com:vml" Requires="v">
                <p:oleObj spid="_x0000_s31749" r:id="rId3" imgW="1879600" imgH="1079500" progId="Equation.3">
                  <p:embed/>
                </p:oleObj>
              </mc:Choice>
              <mc:Fallback>
                <p:oleObj r:id="rId3" imgW="1879600" imgH="1079500" progId="Equation.3">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4541838"/>
                        <a:ext cx="4032250" cy="2316162"/>
                      </a:xfrm>
                      <a:prstGeom prst="rect">
                        <a:avLst/>
                      </a:prstGeom>
                      <a:solidFill>
                        <a:srgbClr val="FFC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08" name="Rectangle 3"/>
          <p:cNvSpPr txBox="1">
            <a:spLocks noChangeArrowheads="1"/>
          </p:cNvSpPr>
          <p:nvPr/>
        </p:nvSpPr>
        <p:spPr bwMode="auto">
          <a:xfrm>
            <a:off x="0" y="-26988"/>
            <a:ext cx="9144000" cy="223202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buFont typeface="Wingdings" panose="05000000000000000000" pitchFamily="2" charset="2"/>
              <a:buNone/>
            </a:pPr>
            <a:r>
              <a:rPr lang="zh-CN" altLang="en-US" b="1" dirty="0">
                <a:solidFill>
                  <a:srgbClr val="FF0000"/>
                </a:solidFill>
                <a:latin typeface="Times New Roman" panose="02020603050405020304" pitchFamily="18" charset="0"/>
                <a:ea typeface="微软雅黑" panose="020B0503020204020204" pitchFamily="34" charset="-122"/>
              </a:rPr>
              <a:t>例</a:t>
            </a:r>
            <a:r>
              <a:rPr lang="en-US" altLang="zh-CN" b="1" dirty="0">
                <a:solidFill>
                  <a:srgbClr val="FF0000"/>
                </a:solidFill>
                <a:latin typeface="Times New Roman" panose="02020603050405020304" pitchFamily="18" charset="0"/>
                <a:ea typeface="微软雅黑" panose="020B0503020204020204" pitchFamily="34" charset="-122"/>
              </a:rPr>
              <a:t>4-3  </a:t>
            </a:r>
            <a:r>
              <a:rPr lang="zh-CN" altLang="en-US" b="1" dirty="0">
                <a:latin typeface="Times New Roman" panose="02020603050405020304" pitchFamily="18" charset="0"/>
                <a:ea typeface="微软雅黑" panose="020B0503020204020204" pitchFamily="34" charset="-122"/>
              </a:rPr>
              <a:t>某厂按合同规定须于当年每个季度末分别提供</a:t>
            </a:r>
            <a:r>
              <a:rPr lang="en-US" altLang="zh-CN" b="1" dirty="0">
                <a:latin typeface="Times New Roman" panose="02020603050405020304" pitchFamily="18" charset="0"/>
                <a:ea typeface="微软雅黑" panose="020B0503020204020204" pitchFamily="34" charset="-122"/>
              </a:rPr>
              <a:t>10</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25</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台同一规格的柴油机。已知该厂各季度的生产能力及生产每台柴油机的成本如表</a:t>
            </a:r>
            <a:r>
              <a:rPr lang="en-US" altLang="zh-CN" b="1" dirty="0">
                <a:latin typeface="Times New Roman" panose="02020603050405020304" pitchFamily="18" charset="0"/>
                <a:ea typeface="微软雅黑" panose="020B0503020204020204" pitchFamily="34" charset="-122"/>
              </a:rPr>
              <a:t>4-30</a:t>
            </a:r>
            <a:r>
              <a:rPr lang="zh-CN" altLang="en-US" b="1" dirty="0">
                <a:latin typeface="Times New Roman" panose="02020603050405020304" pitchFamily="18" charset="0"/>
                <a:ea typeface="微软雅黑" panose="020B0503020204020204" pitchFamily="34" charset="-122"/>
              </a:rPr>
              <a:t>所示。又如果生产出来的柴油机当季不交货的</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每台每积压一个季度需储存、维护等费用</a:t>
            </a:r>
            <a:r>
              <a:rPr lang="en-US" altLang="zh-CN" b="1" dirty="0">
                <a:latin typeface="Times New Roman" panose="02020603050405020304" pitchFamily="18" charset="0"/>
                <a:ea typeface="微软雅黑" panose="020B0503020204020204" pitchFamily="34" charset="-122"/>
              </a:rPr>
              <a:t>0.15</a:t>
            </a:r>
            <a:r>
              <a:rPr lang="zh-CN" altLang="en-US" b="1" dirty="0">
                <a:latin typeface="Times New Roman" panose="02020603050405020304" pitchFamily="18" charset="0"/>
                <a:ea typeface="微软雅黑" panose="020B0503020204020204" pitchFamily="34" charset="-122"/>
              </a:rPr>
              <a:t>万元。要求在完成合同的情况下</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作出使该厂全年生产</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包括储存、维护</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费用最小的决策</a:t>
            </a:r>
          </a:p>
        </p:txBody>
      </p:sp>
      <p:pic>
        <p:nvPicPr>
          <p:cNvPr id="2150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1971675"/>
            <a:ext cx="5040312" cy="168275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A4ABDC8E-2B59-4731-A2A5-94CEA75727D0}"/>
              </a:ext>
            </a:extLst>
          </p:cNvPr>
          <p:cNvSpPr>
            <a:spLocks noGrp="1"/>
          </p:cNvSpPr>
          <p:nvPr>
            <p:ph type="sldNum" sz="quarter" idx="12"/>
          </p:nvPr>
        </p:nvSpPr>
        <p:spPr/>
        <p:txBody>
          <a:bodyPr/>
          <a:lstStyle/>
          <a:p>
            <a:pPr>
              <a:defRPr/>
            </a:pPr>
            <a:fld id="{2AE1B59C-883C-4848-BC85-9A12DF2590B2}" type="slidenum">
              <a:rPr lang="en-US" altLang="zh-CN" smtClean="0"/>
              <a:t>77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924050" y="4149725"/>
            <a:ext cx="5753100" cy="213360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5" name="矩形 4"/>
          <p:cNvSpPr>
            <a:spLocks noChangeArrowheads="1"/>
          </p:cNvSpPr>
          <p:nvPr/>
        </p:nvSpPr>
        <p:spPr bwMode="auto">
          <a:xfrm>
            <a:off x="4356100" y="6237312"/>
            <a:ext cx="1056700" cy="461665"/>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4-31</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532" name="Rectangle 2"/>
          <p:cNvSpPr txBox="1">
            <a:spLocks noChangeArrowheads="1"/>
          </p:cNvSpPr>
          <p:nvPr/>
        </p:nvSpPr>
        <p:spPr bwMode="auto">
          <a:xfrm>
            <a:off x="0" y="0"/>
            <a:ext cx="91440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微软雅黑" panose="020B0503020204020204" pitchFamily="34" charset="-122"/>
                <a:ea typeface="微软雅黑" panose="020B0503020204020204" pitchFamily="34" charset="-122"/>
              </a:rPr>
              <a:t>又每季度生产的用于当季和以后各季交货的柴油机数不可能超过该季度的生产能力</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故又有：</a:t>
            </a:r>
            <a:endParaRPr lang="zh-CN" altLang="en-US" sz="3200" dirty="0">
              <a:latin typeface="Century Schoolbook" panose="02040604050505020304" pitchFamily="18" charset="0"/>
              <a:ea typeface="微软雅黑" panose="020B0503020204020204" pitchFamily="34" charset="-122"/>
            </a:endParaRPr>
          </a:p>
        </p:txBody>
      </p:sp>
      <p:graphicFrame>
        <p:nvGraphicFramePr>
          <p:cNvPr id="3" name="Object 2"/>
          <p:cNvGraphicFramePr>
            <a:graphicFrameLocks noChangeAspect="1"/>
          </p:cNvGraphicFramePr>
          <p:nvPr/>
        </p:nvGraphicFramePr>
        <p:xfrm>
          <a:off x="468313" y="765175"/>
          <a:ext cx="3519487" cy="2082800"/>
        </p:xfrm>
        <a:graphic>
          <a:graphicData uri="http://schemas.openxmlformats.org/presentationml/2006/ole">
            <mc:AlternateContent xmlns:mc="http://schemas.openxmlformats.org/markup-compatibility/2006">
              <mc:Choice xmlns:v="urn:schemas-microsoft-com:vml" Requires="v">
                <p:oleObj spid="_x0000_s32773" r:id="rId4" imgW="1587500" imgH="939800" progId="Equation.DSMT4">
                  <p:embed/>
                </p:oleObj>
              </mc:Choice>
              <mc:Fallback>
                <p:oleObj r:id="rId4" imgW="1587500" imgH="93980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765175"/>
                        <a:ext cx="3519487"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Rectangle 2"/>
          <p:cNvSpPr txBox="1">
            <a:spLocks noChangeArrowheads="1"/>
          </p:cNvSpPr>
          <p:nvPr/>
        </p:nvSpPr>
        <p:spPr bwMode="auto">
          <a:xfrm>
            <a:off x="0" y="2924175"/>
            <a:ext cx="9144000" cy="936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20000"/>
              </a:lnSpc>
            </a:pPr>
            <a:r>
              <a:rPr lang="zh-CN" altLang="en-US" b="1" dirty="0">
                <a:latin typeface="Times New Roman" panose="02020603050405020304" pitchFamily="18" charset="0"/>
                <a:ea typeface="微软雅黑" panose="020B0503020204020204" pitchFamily="34" charset="-122"/>
              </a:rPr>
              <a:t>第</a:t>
            </a:r>
            <a:r>
              <a:rPr lang="en-US" altLang="zh-CN" b="1" i="1" dirty="0" err="1">
                <a:solidFill>
                  <a:srgbClr val="FF0000"/>
                </a:solidFill>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季度生产的用于</a:t>
            </a:r>
            <a:r>
              <a:rPr lang="en-US" altLang="zh-CN" b="1" i="1" dirty="0">
                <a:solidFill>
                  <a:srgbClr val="FF0000"/>
                </a:solidFill>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季度交货的每台柴油机的实际成本</a:t>
            </a:r>
            <a:r>
              <a:rPr lang="en-US" altLang="zh-CN" b="1" i="1" dirty="0" err="1">
                <a:solidFill>
                  <a:srgbClr val="FF0000"/>
                </a:solidFill>
                <a:latin typeface="Times New Roman" panose="02020603050405020304" pitchFamily="18" charset="0"/>
                <a:ea typeface="微软雅黑" panose="020B0503020204020204" pitchFamily="34" charset="-122"/>
              </a:rPr>
              <a:t>c</a:t>
            </a:r>
            <a:r>
              <a:rPr lang="en-US" altLang="zh-CN" b="1" i="1" baseline="-30000" dirty="0" err="1">
                <a:solidFill>
                  <a:srgbClr val="FF0000"/>
                </a:solidFill>
                <a:latin typeface="Times New Roman" panose="02020603050405020304" pitchFamily="18" charset="0"/>
                <a:ea typeface="微软雅黑" panose="020B0503020204020204" pitchFamily="34" charset="-122"/>
              </a:rPr>
              <a:t>ij</a:t>
            </a:r>
            <a:r>
              <a:rPr lang="zh-CN" altLang="en-US" b="1" dirty="0">
                <a:latin typeface="Times New Roman" panose="02020603050405020304" pitchFamily="18" charset="0"/>
                <a:ea typeface="微软雅黑" panose="020B0503020204020204" pitchFamily="34" charset="-122"/>
              </a:rPr>
              <a:t>应该是该季度单位成本加上储存、维护等费用。</a:t>
            </a:r>
            <a:r>
              <a:rPr lang="en-US" altLang="zh-CN" b="1" i="1" dirty="0" err="1">
                <a:solidFill>
                  <a:srgbClr val="FF0000"/>
                </a:solidFill>
                <a:latin typeface="Times New Roman" panose="02020603050405020304" pitchFamily="18" charset="0"/>
                <a:ea typeface="微软雅黑" panose="020B0503020204020204" pitchFamily="34" charset="-122"/>
              </a:rPr>
              <a:t>c</a:t>
            </a:r>
            <a:r>
              <a:rPr lang="en-US" altLang="zh-CN" b="1" i="1" baseline="-30000" dirty="0" err="1">
                <a:solidFill>
                  <a:srgbClr val="FF0000"/>
                </a:solidFill>
                <a:latin typeface="Times New Roman" panose="02020603050405020304" pitchFamily="18" charset="0"/>
                <a:ea typeface="微软雅黑" panose="020B0503020204020204" pitchFamily="34" charset="-122"/>
              </a:rPr>
              <a:t>ij</a:t>
            </a:r>
            <a:r>
              <a:rPr lang="zh-CN" altLang="en-US" b="1" dirty="0">
                <a:latin typeface="Times New Roman" panose="02020603050405020304" pitchFamily="18" charset="0"/>
                <a:ea typeface="微软雅黑" panose="020B0503020204020204" pitchFamily="34" charset="-122"/>
              </a:rPr>
              <a:t>的具体数值见表</a:t>
            </a:r>
            <a:r>
              <a:rPr lang="en-US" altLang="zh-CN" b="1" dirty="0">
                <a:latin typeface="Times New Roman" panose="02020603050405020304" pitchFamily="18" charset="0"/>
                <a:ea typeface="微软雅黑" panose="020B0503020204020204" pitchFamily="34" charset="-122"/>
              </a:rPr>
              <a:t>4-31</a:t>
            </a:r>
          </a:p>
        </p:txBody>
      </p:sp>
      <p:pic>
        <p:nvPicPr>
          <p:cNvPr id="22535"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3688" y="549275"/>
            <a:ext cx="5040312" cy="168275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矩形 7"/>
          <p:cNvSpPr>
            <a:spLocks noChangeArrowheads="1"/>
          </p:cNvSpPr>
          <p:nvPr/>
        </p:nvSpPr>
        <p:spPr bwMode="auto">
          <a:xfrm>
            <a:off x="4140200" y="2205038"/>
            <a:ext cx="5003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solidFill>
                  <a:srgbClr val="FF0000"/>
                </a:solidFill>
                <a:latin typeface="Times New Roman" panose="02020603050405020304" pitchFamily="18" charset="0"/>
                <a:ea typeface="微软雅黑" panose="020B0503020204020204" pitchFamily="34" charset="-122"/>
              </a:rPr>
              <a:t>每台每积压一个季度需储存、维护等费用</a:t>
            </a:r>
            <a:r>
              <a:rPr lang="en-US" altLang="zh-CN" sz="2000" b="1">
                <a:solidFill>
                  <a:srgbClr val="FF0000"/>
                </a:solidFill>
                <a:latin typeface="Times New Roman" panose="02020603050405020304" pitchFamily="18" charset="0"/>
                <a:ea typeface="微软雅黑" panose="020B0503020204020204" pitchFamily="34" charset="-122"/>
              </a:rPr>
              <a:t>0.15</a:t>
            </a:r>
            <a:r>
              <a:rPr lang="zh-CN" altLang="en-US" sz="2000" b="1">
                <a:solidFill>
                  <a:srgbClr val="FF0000"/>
                </a:solidFill>
                <a:latin typeface="Times New Roman" panose="02020603050405020304" pitchFamily="18" charset="0"/>
                <a:ea typeface="微软雅黑" panose="020B0503020204020204" pitchFamily="34" charset="-122"/>
              </a:rPr>
              <a:t>万元</a:t>
            </a:r>
            <a:endParaRPr lang="zh-CN" altLang="en-US" sz="2000">
              <a:solidFill>
                <a:srgbClr val="FF0000"/>
              </a:solidFill>
              <a:ea typeface="微软雅黑" panose="020B0503020204020204" pitchFamily="34" charset="-122"/>
            </a:endParaRPr>
          </a:p>
        </p:txBody>
      </p:sp>
      <p:graphicFrame>
        <p:nvGraphicFramePr>
          <p:cNvPr id="2" name="表格 1"/>
          <p:cNvGraphicFramePr/>
          <p:nvPr>
            <p:custDataLst>
              <p:tags r:id="rId2"/>
            </p:custDataLst>
          </p:nvPr>
        </p:nvGraphicFramePr>
        <p:xfrm>
          <a:off x="1924050" y="4149725"/>
          <a:ext cx="5751514" cy="2133600"/>
        </p:xfrm>
        <a:graphic>
          <a:graphicData uri="http://schemas.openxmlformats.org/drawingml/2006/table">
            <a:tbl>
              <a:tblPr firstRow="1" bandRow="1">
                <a:tableStyleId>{5940675A-B579-460E-94D1-54222C63F5DA}</a:tableStyleId>
              </a:tblPr>
              <a:tblGrid>
                <a:gridCol w="1826794">
                  <a:extLst>
                    <a:ext uri="{9D8B030D-6E8A-4147-A177-3AD203B41FA5}">
                      <a16:colId xmlns:a16="http://schemas.microsoft.com/office/drawing/2014/main" val="20000"/>
                    </a:ext>
                  </a:extLst>
                </a:gridCol>
                <a:gridCol w="897841">
                  <a:extLst>
                    <a:ext uri="{9D8B030D-6E8A-4147-A177-3AD203B41FA5}">
                      <a16:colId xmlns:a16="http://schemas.microsoft.com/office/drawing/2014/main" val="20001"/>
                    </a:ext>
                  </a:extLst>
                </a:gridCol>
                <a:gridCol w="895301">
                  <a:extLst>
                    <a:ext uri="{9D8B030D-6E8A-4147-A177-3AD203B41FA5}">
                      <a16:colId xmlns:a16="http://schemas.microsoft.com/office/drawing/2014/main" val="20002"/>
                    </a:ext>
                  </a:extLst>
                </a:gridCol>
                <a:gridCol w="895301">
                  <a:extLst>
                    <a:ext uri="{9D8B030D-6E8A-4147-A177-3AD203B41FA5}">
                      <a16:colId xmlns:a16="http://schemas.microsoft.com/office/drawing/2014/main" val="20003"/>
                    </a:ext>
                  </a:extLst>
                </a:gridCol>
                <a:gridCol w="1236277">
                  <a:extLst>
                    <a:ext uri="{9D8B030D-6E8A-4147-A177-3AD203B41FA5}">
                      <a16:colId xmlns:a16="http://schemas.microsoft.com/office/drawing/2014/main" val="20004"/>
                    </a:ext>
                  </a:extLst>
                </a:gridCol>
              </a:tblGrid>
              <a:tr h="609600">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sz="2000" b="0" i="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000" b="0" i="1" dirty="0">
                          <a:latin typeface="Times New Roman" panose="02020603050405020304" pitchFamily="18" charset="0"/>
                          <a:ea typeface="微软雅黑" panose="020B0503020204020204" pitchFamily="34" charset="-122"/>
                          <a:cs typeface="Times New Roman" panose="02020603050405020304" pitchFamily="18" charset="0"/>
                        </a:rPr>
                        <a:t>     j</a:t>
                      </a:r>
                      <a:endPar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5580">
                <a:tc>
                  <a:txBody>
                    <a:bodyPr/>
                    <a:lstStyle/>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Ⅰ</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Ⅱ</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Ⅲ</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10.8</a:t>
                      </a: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10.95</a:t>
                      </a:r>
                    </a:p>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11.10</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11.10</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11.25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11.00</a:t>
                      </a: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11.25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11.40</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11.15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11.30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6" marR="68576"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7" name="直接连接符 6"/>
          <p:cNvCxnSpPr>
            <a:cxnSpLocks noChangeShapeType="1"/>
          </p:cNvCxnSpPr>
          <p:nvPr/>
        </p:nvCxnSpPr>
        <p:spPr bwMode="auto">
          <a:xfrm>
            <a:off x="1946275" y="4149725"/>
            <a:ext cx="1762125" cy="5746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9" name="灯片编号占位符 8">
            <a:extLst>
              <a:ext uri="{FF2B5EF4-FFF2-40B4-BE49-F238E27FC236}">
                <a16:creationId xmlns:a16="http://schemas.microsoft.com/office/drawing/2014/main" id="{A99580C6-1CB3-4245-B4A0-96ECF4627365}"/>
              </a:ext>
            </a:extLst>
          </p:cNvPr>
          <p:cNvSpPr>
            <a:spLocks noGrp="1"/>
          </p:cNvSpPr>
          <p:nvPr>
            <p:ph type="sldNum" sz="quarter" idx="12"/>
          </p:nvPr>
        </p:nvSpPr>
        <p:spPr/>
        <p:txBody>
          <a:bodyPr/>
          <a:lstStyle/>
          <a:p>
            <a:pPr>
              <a:defRPr/>
            </a:pPr>
            <a:fld id="{2AE1B59C-883C-4848-BC85-9A12DF2590B2}" type="slidenum">
              <a:rPr lang="en-US" altLang="zh-CN" smtClean="0"/>
              <a:t>78</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par>
                                <p:cTn id="22" presetID="3" presetClass="entr" presetSubtype="1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linds(horizontal)">
                                      <p:cBhvr>
                                        <p:cTn id="24" dur="500"/>
                                        <p:tgtEl>
                                          <p:spTgt spid="6"/>
                                        </p:tgtEl>
                                      </p:cBhvr>
                                    </p:animEffec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3" presetClass="entr" presetSubtype="1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5" grpId="0" bldLvl="0" animBg="1"/>
      <p:bldP spid="4" grpId="0" bldLvl="0" animBg="1"/>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txBox="1">
            <a:spLocks noChangeArrowheads="1"/>
          </p:cNvSpPr>
          <p:nvPr/>
        </p:nvSpPr>
        <p:spPr bwMode="auto">
          <a:xfrm>
            <a:off x="0" y="0"/>
            <a:ext cx="91440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r>
              <a:rPr lang="zh-CN" altLang="en-US" b="1" dirty="0">
                <a:latin typeface="Times New Roman" panose="02020603050405020304" pitchFamily="18" charset="0"/>
                <a:ea typeface="微软雅黑" panose="020B0503020204020204" pitchFamily="34" charset="-122"/>
              </a:rPr>
              <a:t>用</a:t>
            </a:r>
            <a:r>
              <a:rPr lang="en-US" altLang="zh-CN" b="1" i="1" dirty="0">
                <a:solidFill>
                  <a:srgbClr val="FF0000"/>
                </a:solidFill>
                <a:latin typeface="Times New Roman" panose="02020603050405020304" pitchFamily="18" charset="0"/>
                <a:ea typeface="微软雅黑" panose="020B0503020204020204" pitchFamily="34" charset="-122"/>
              </a:rPr>
              <a:t>a</a:t>
            </a:r>
            <a:r>
              <a:rPr lang="en-US" altLang="zh-CN" b="1" i="1" baseline="-30000" dirty="0">
                <a:solidFill>
                  <a:srgbClr val="FF0000"/>
                </a:solidFill>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表示该厂第</a:t>
            </a:r>
            <a:r>
              <a:rPr lang="en-US" altLang="zh-CN" b="1" i="1" dirty="0" err="1">
                <a:solidFill>
                  <a:srgbClr val="FF0000"/>
                </a:solidFill>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季度的生产能力</a:t>
            </a:r>
            <a:r>
              <a:rPr lang="zh-CN" altLang="en-US" b="1" dirty="0">
                <a:latin typeface="仿宋" panose="02010609060101010101" pitchFamily="49" charset="-122"/>
                <a:ea typeface="仿宋" panose="02010609060101010101" pitchFamily="49" charset="-122"/>
              </a:rPr>
              <a:t>，</a:t>
            </a:r>
            <a:r>
              <a:rPr lang="en-US" altLang="zh-CN" b="1" i="1" dirty="0" err="1">
                <a:solidFill>
                  <a:srgbClr val="FF0000"/>
                </a:solidFill>
                <a:latin typeface="Times New Roman" panose="02020603050405020304" pitchFamily="18" charset="0"/>
                <a:ea typeface="微软雅黑" panose="020B0503020204020204" pitchFamily="34" charset="-122"/>
              </a:rPr>
              <a:t>b</a:t>
            </a:r>
            <a:r>
              <a:rPr lang="en-US" altLang="zh-CN" b="1" i="1" baseline="-30000" dirty="0" err="1">
                <a:solidFill>
                  <a:srgbClr val="FF0000"/>
                </a:solidFill>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表示第</a:t>
            </a:r>
            <a:r>
              <a:rPr lang="en-US" altLang="zh-CN" b="1" i="1" dirty="0" err="1">
                <a:solidFill>
                  <a:srgbClr val="FF0000"/>
                </a:solidFill>
                <a:latin typeface="Times New Roman" panose="02020603050405020304" pitchFamily="18" charset="0"/>
                <a:ea typeface="微软雅黑" panose="020B0503020204020204" pitchFamily="34" charset="-122"/>
              </a:rPr>
              <a:t>i</a:t>
            </a:r>
            <a:r>
              <a:rPr lang="zh-CN" altLang="en-US" b="1" dirty="0">
                <a:latin typeface="Times New Roman" panose="02020603050405020304" pitchFamily="18" charset="0"/>
                <a:ea typeface="微软雅黑" panose="020B0503020204020204" pitchFamily="34" charset="-122"/>
              </a:rPr>
              <a:t>季度的合同供应量</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则问题可写成：</a:t>
            </a:r>
          </a:p>
        </p:txBody>
      </p:sp>
      <p:sp>
        <p:nvSpPr>
          <p:cNvPr id="3" name="Rectangle 3"/>
          <p:cNvSpPr txBox="1">
            <a:spLocks noChangeArrowheads="1"/>
          </p:cNvSpPr>
          <p:nvPr/>
        </p:nvSpPr>
        <p:spPr bwMode="auto">
          <a:xfrm>
            <a:off x="755650" y="836613"/>
            <a:ext cx="7848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600"/>
              </a:spcBef>
              <a:buClr>
                <a:schemeClr val="accent1"/>
              </a:buClr>
              <a:buSzPct val="70000"/>
              <a:buFont typeface="Wingdings" panose="05000000000000000000" pitchFamily="2" charset="2"/>
              <a:buChar char=""/>
            </a:pPr>
            <a:r>
              <a:rPr lang="zh-CN" altLang="en-US" b="1">
                <a:latin typeface="Times New Roman" panose="02020603050405020304" pitchFamily="18" charset="0"/>
                <a:ea typeface="微软雅黑" panose="020B0503020204020204" pitchFamily="34" charset="-122"/>
              </a:rPr>
              <a:t>目标函数：</a:t>
            </a:r>
          </a:p>
          <a:p>
            <a:pPr>
              <a:spcBef>
                <a:spcPts val="600"/>
              </a:spcBef>
              <a:buClr>
                <a:schemeClr val="accent1"/>
              </a:buClr>
              <a:buSzPct val="70000"/>
              <a:buFont typeface="Wingdings" panose="05000000000000000000" pitchFamily="2" charset="2"/>
              <a:buChar char=""/>
            </a:pPr>
            <a:endParaRPr lang="zh-CN" altLang="en-US" b="1">
              <a:latin typeface="Times New Roman" panose="02020603050405020304" pitchFamily="18" charset="0"/>
              <a:ea typeface="微软雅黑" panose="020B0503020204020204" pitchFamily="34" charset="-122"/>
            </a:endParaRPr>
          </a:p>
          <a:p>
            <a:pPr>
              <a:spcBef>
                <a:spcPts val="600"/>
              </a:spcBef>
              <a:buClr>
                <a:schemeClr val="accent1"/>
              </a:buClr>
              <a:buSzPct val="70000"/>
              <a:buFont typeface="Wingdings" panose="05000000000000000000" pitchFamily="2" charset="2"/>
              <a:buChar char=""/>
            </a:pPr>
            <a:r>
              <a:rPr lang="zh-CN" altLang="en-US" b="1">
                <a:latin typeface="Times New Roman" panose="02020603050405020304" pitchFamily="18" charset="0"/>
                <a:ea typeface="微软雅黑" panose="020B0503020204020204" pitchFamily="34" charset="-122"/>
              </a:rPr>
              <a:t>满足</a:t>
            </a:r>
          </a:p>
        </p:txBody>
      </p:sp>
      <p:graphicFrame>
        <p:nvGraphicFramePr>
          <p:cNvPr id="4" name="Object 2"/>
          <p:cNvGraphicFramePr>
            <a:graphicFrameLocks noChangeAspect="1"/>
          </p:cNvGraphicFramePr>
          <p:nvPr/>
        </p:nvGraphicFramePr>
        <p:xfrm>
          <a:off x="2627313" y="549275"/>
          <a:ext cx="2667000" cy="1090613"/>
        </p:xfrm>
        <a:graphic>
          <a:graphicData uri="http://schemas.openxmlformats.org/presentationml/2006/ole">
            <mc:AlternateContent xmlns:mc="http://schemas.openxmlformats.org/markup-compatibility/2006">
              <mc:Choice xmlns:v="urn:schemas-microsoft-com:vml" Requires="v">
                <p:oleObj spid="_x0000_s33806" r:id="rId3" imgW="1333500" imgH="546100" progId="Equation.3">
                  <p:embed/>
                </p:oleObj>
              </mc:Choice>
              <mc:Fallback>
                <p:oleObj r:id="rId3" imgW="1333500" imgH="546100" progId="Equation.3">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549275"/>
                        <a:ext cx="2667000"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nvGraphicFramePr>
        <p:xfrm>
          <a:off x="2644461" y="1528229"/>
          <a:ext cx="1445254" cy="2736329"/>
        </p:xfrm>
        <a:graphic>
          <a:graphicData uri="http://schemas.openxmlformats.org/presentationml/2006/ole">
            <mc:AlternateContent xmlns:mc="http://schemas.openxmlformats.org/markup-compatibility/2006">
              <mc:Choice xmlns:v="urn:schemas-microsoft-com:vml" Requires="v">
                <p:oleObj spid="_x0000_s33807" name="Equation" r:id="rId5" imgW="723600" imgH="1371600" progId="Equation.DSMT4">
                  <p:embed/>
                </p:oleObj>
              </mc:Choice>
              <mc:Fallback>
                <p:oleObj name="Equation" r:id="rId5" imgW="723600" imgH="1371600" progId="Equation.DSMT4">
                  <p:embed/>
                  <p:pic>
                    <p:nvPicPr>
                      <p:cNvPr id="5" name="Object 3"/>
                      <p:cNvPicPr>
                        <a:picLocks noChangeAspect="1" noChangeArrowheads="1"/>
                      </p:cNvPicPr>
                      <p:nvPr/>
                    </p:nvPicPr>
                    <p:blipFill>
                      <a:blip r:embed="rId6"/>
                      <a:srcRect/>
                      <a:stretch>
                        <a:fillRect/>
                      </a:stretch>
                    </p:blipFill>
                    <p:spPr bwMode="auto">
                      <a:xfrm>
                        <a:off x="2644461" y="1528229"/>
                        <a:ext cx="1445254" cy="2736329"/>
                      </a:xfrm>
                      <a:prstGeom prst="rect">
                        <a:avLst/>
                      </a:prstGeom>
                      <a:noFill/>
                      <a:ln>
                        <a:noFill/>
                      </a:ln>
                    </p:spPr>
                  </p:pic>
                </p:oleObj>
              </mc:Fallback>
            </mc:AlternateContent>
          </a:graphicData>
        </a:graphic>
      </p:graphicFrame>
      <p:graphicFrame>
        <p:nvGraphicFramePr>
          <p:cNvPr id="23558" name="Object 6"/>
          <p:cNvGraphicFramePr>
            <a:graphicFrameLocks noChangeAspect="1"/>
          </p:cNvGraphicFramePr>
          <p:nvPr/>
        </p:nvGraphicFramePr>
        <p:xfrm>
          <a:off x="1249842" y="4881562"/>
          <a:ext cx="2789237" cy="1651000"/>
        </p:xfrm>
        <a:graphic>
          <a:graphicData uri="http://schemas.openxmlformats.org/presentationml/2006/ole">
            <mc:AlternateContent xmlns:mc="http://schemas.openxmlformats.org/markup-compatibility/2006">
              <mc:Choice xmlns:v="urn:schemas-microsoft-com:vml" Requires="v">
                <p:oleObj spid="_x0000_s33808" name="Equation" r:id="rId7" imgW="1587240" imgH="939600" progId="Equation.DSMT4">
                  <p:embed/>
                </p:oleObj>
              </mc:Choice>
              <mc:Fallback>
                <p:oleObj name="Equation" r:id="rId7" imgW="1587240" imgH="939600" progId="Equation.DSMT4">
                  <p:embed/>
                  <p:pic>
                    <p:nvPicPr>
                      <p:cNvPr id="23558" name="Object 6"/>
                      <p:cNvPicPr>
                        <a:picLocks noChangeAspect="1" noChangeArrowheads="1"/>
                      </p:cNvPicPr>
                      <p:nvPr/>
                    </p:nvPicPr>
                    <p:blipFill>
                      <a:blip r:embed="rId8"/>
                      <a:srcRect/>
                      <a:stretch>
                        <a:fillRect/>
                      </a:stretch>
                    </p:blipFill>
                    <p:spPr bwMode="auto">
                      <a:xfrm>
                        <a:off x="1249842" y="4881562"/>
                        <a:ext cx="2789237" cy="1651000"/>
                      </a:xfrm>
                      <a:prstGeom prst="rect">
                        <a:avLst/>
                      </a:prstGeom>
                      <a:solidFill>
                        <a:srgbClr val="FFCCFF"/>
                      </a:solidFill>
                      <a:ln>
                        <a:noFill/>
                      </a:ln>
                    </p:spPr>
                  </p:pic>
                </p:oleObj>
              </mc:Fallback>
            </mc:AlternateContent>
          </a:graphicData>
        </a:graphic>
      </p:graphicFrame>
      <p:graphicFrame>
        <p:nvGraphicFramePr>
          <p:cNvPr id="23559" name="Object 7"/>
          <p:cNvGraphicFramePr>
            <a:graphicFrameLocks noChangeAspect="1"/>
          </p:cNvGraphicFramePr>
          <p:nvPr/>
        </p:nvGraphicFramePr>
        <p:xfrm>
          <a:off x="5632450" y="4892675"/>
          <a:ext cx="2686050" cy="1628775"/>
        </p:xfrm>
        <a:graphic>
          <a:graphicData uri="http://schemas.openxmlformats.org/presentationml/2006/ole">
            <mc:AlternateContent xmlns:mc="http://schemas.openxmlformats.org/markup-compatibility/2006">
              <mc:Choice xmlns:v="urn:schemas-microsoft-com:vml" Requires="v">
                <p:oleObj spid="_x0000_s33809" r:id="rId9" imgW="1549080" imgH="939600" progId="Equation.3">
                  <p:embed/>
                </p:oleObj>
              </mc:Choice>
              <mc:Fallback>
                <p:oleObj r:id="rId9" imgW="1549080" imgH="939600" progId="Equation.3">
                  <p:embed/>
                  <p:pic>
                    <p:nvPicPr>
                      <p:cNvPr id="23559"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2450" y="4892675"/>
                        <a:ext cx="2686050" cy="1628775"/>
                      </a:xfrm>
                      <a:prstGeom prst="rect">
                        <a:avLst/>
                      </a:prstGeom>
                      <a:solidFill>
                        <a:srgbClr val="FFCC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60" name="TextBox 8"/>
          <p:cNvSpPr txBox="1">
            <a:spLocks noChangeArrowheads="1"/>
          </p:cNvSpPr>
          <p:nvPr/>
        </p:nvSpPr>
        <p:spPr bwMode="auto">
          <a:xfrm>
            <a:off x="6146800" y="4498543"/>
            <a:ext cx="1657350" cy="4000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ea typeface="微软雅黑" panose="020B0503020204020204" pitchFamily="34" charset="-122"/>
              </a:rPr>
              <a:t>合同要求</a:t>
            </a:r>
          </a:p>
        </p:txBody>
      </p:sp>
      <p:sp>
        <p:nvSpPr>
          <p:cNvPr id="23561" name="TextBox 9"/>
          <p:cNvSpPr txBox="1">
            <a:spLocks noChangeArrowheads="1"/>
          </p:cNvSpPr>
          <p:nvPr/>
        </p:nvSpPr>
        <p:spPr bwMode="auto">
          <a:xfrm>
            <a:off x="1711325" y="4498543"/>
            <a:ext cx="1655763" cy="4000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sz="2000" b="1">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生产能力</a:t>
            </a:r>
          </a:p>
        </p:txBody>
      </p:sp>
      <p:sp>
        <p:nvSpPr>
          <p:cNvPr id="2" name="灯片编号占位符 1">
            <a:extLst>
              <a:ext uri="{FF2B5EF4-FFF2-40B4-BE49-F238E27FC236}">
                <a16:creationId xmlns:a16="http://schemas.microsoft.com/office/drawing/2014/main" id="{91A99CBA-44D5-4B58-8F46-F4731CD597DF}"/>
              </a:ext>
            </a:extLst>
          </p:cNvPr>
          <p:cNvSpPr>
            <a:spLocks noGrp="1"/>
          </p:cNvSpPr>
          <p:nvPr>
            <p:ph type="sldNum" sz="quarter" idx="12"/>
          </p:nvPr>
        </p:nvSpPr>
        <p:spPr/>
        <p:txBody>
          <a:bodyPr/>
          <a:lstStyle/>
          <a:p>
            <a:pPr>
              <a:defRPr/>
            </a:pPr>
            <a:fld id="{2AE1B59C-883C-4848-BC85-9A12DF2590B2}" type="slidenum">
              <a:rPr lang="en-US" altLang="zh-CN" smtClean="0"/>
              <a:t>79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dissolv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a:spLocks noChangeArrowheads="1"/>
          </p:cNvSpPr>
          <p:nvPr/>
        </p:nvSpPr>
        <p:spPr bwMode="auto">
          <a:xfrm>
            <a:off x="568325" y="4083050"/>
            <a:ext cx="7883525" cy="2425700"/>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latin typeface="微软雅黑" panose="020B0503020204020204" pitchFamily="34" charset="-122"/>
              <a:ea typeface="微软雅黑" panose="020B0503020204020204" pitchFamily="34" charset="-122"/>
            </a:endParaRPr>
          </a:p>
        </p:txBody>
      </p:sp>
      <p:sp>
        <p:nvSpPr>
          <p:cNvPr id="30722" name="Rectangle 2"/>
          <p:cNvSpPr txBox="1">
            <a:spLocks noChangeArrowheads="1"/>
          </p:cNvSpPr>
          <p:nvPr/>
        </p:nvSpPr>
        <p:spPr bwMode="auto">
          <a:xfrm>
            <a:off x="0" y="2303463"/>
            <a:ext cx="914400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120000"/>
              </a:lnSpc>
            </a:pPr>
            <a:r>
              <a:rPr lang="zh-CN" altLang="en-US" b="1" dirty="0">
                <a:latin typeface="Times New Roman" panose="02020603050405020304" pitchFamily="18" charset="0"/>
                <a:ea typeface="微软雅黑" panose="020B0503020204020204" pitchFamily="34" charset="-122"/>
              </a:rPr>
              <a:t>显然</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这是一个产大于销的运输问题模型</a:t>
            </a:r>
            <a:endParaRPr lang="en-US" altLang="zh-CN" b="1" dirty="0">
              <a:latin typeface="Times New Roman" panose="02020603050405020304" pitchFamily="18" charset="0"/>
              <a:ea typeface="微软雅黑" panose="020B0503020204020204" pitchFamily="34" charset="-122"/>
            </a:endParaRPr>
          </a:p>
          <a:p>
            <a:pPr>
              <a:lnSpc>
                <a:spcPct val="120000"/>
              </a:lnSpc>
            </a:pPr>
            <a:r>
              <a:rPr lang="zh-CN" altLang="en-US" b="1" dirty="0">
                <a:latin typeface="Times New Roman" panose="02020603050405020304" pitchFamily="18" charset="0"/>
                <a:ea typeface="微软雅黑" panose="020B0503020204020204" pitchFamily="34" charset="-122"/>
              </a:rPr>
              <a:t>注意到这个问题中当</a:t>
            </a:r>
            <a:r>
              <a:rPr lang="en-US" altLang="zh-CN" b="1" i="1" dirty="0" err="1">
                <a:solidFill>
                  <a:srgbClr val="FF0000"/>
                </a:solidFill>
                <a:latin typeface="Times New Roman" panose="02020603050405020304" pitchFamily="18" charset="0"/>
                <a:ea typeface="微软雅黑" panose="020B0503020204020204" pitchFamily="34" charset="-122"/>
              </a:rPr>
              <a:t>i</a:t>
            </a:r>
            <a:r>
              <a:rPr lang="zh-CN" altLang="en-US" b="1" i="1" dirty="0">
                <a:solidFill>
                  <a:srgbClr val="FF0000"/>
                </a:solidFill>
                <a:latin typeface="Times New Roman" panose="02020603050405020304" pitchFamily="18" charset="0"/>
                <a:ea typeface="微软雅黑" panose="020B0503020204020204" pitchFamily="34" charset="-122"/>
              </a:rPr>
              <a:t>＞</a:t>
            </a:r>
            <a:r>
              <a:rPr lang="en-US" altLang="zh-CN" b="1" i="1" dirty="0">
                <a:solidFill>
                  <a:srgbClr val="FF0000"/>
                </a:solidFill>
                <a:latin typeface="Times New Roman" panose="02020603050405020304" pitchFamily="18" charset="0"/>
                <a:ea typeface="微软雅黑" panose="020B0503020204020204" pitchFamily="34" charset="-122"/>
              </a:rPr>
              <a:t>j</a:t>
            </a:r>
            <a:r>
              <a:rPr lang="zh-CN" altLang="en-US" b="1" dirty="0">
                <a:latin typeface="Times New Roman" panose="02020603050405020304" pitchFamily="18" charset="0"/>
                <a:ea typeface="微软雅黑" panose="020B0503020204020204" pitchFamily="34" charset="-122"/>
              </a:rPr>
              <a:t>时</a:t>
            </a:r>
            <a:r>
              <a:rPr lang="zh-CN" altLang="en-US" b="1" dirty="0">
                <a:latin typeface="仿宋" panose="02010609060101010101" pitchFamily="49" charset="-122"/>
                <a:ea typeface="仿宋" panose="02010609060101010101" pitchFamily="49" charset="-122"/>
              </a:rPr>
              <a:t>，</a:t>
            </a:r>
            <a:r>
              <a:rPr lang="en-US" altLang="zh-CN" b="1" i="1" dirty="0" err="1">
                <a:solidFill>
                  <a:srgbClr val="FF0000"/>
                </a:solidFill>
                <a:latin typeface="Times New Roman" panose="02020603050405020304" pitchFamily="18" charset="0"/>
                <a:ea typeface="微软雅黑" panose="020B0503020204020204" pitchFamily="34" charset="-122"/>
              </a:rPr>
              <a:t>x</a:t>
            </a:r>
            <a:r>
              <a:rPr lang="en-US" altLang="zh-CN" b="1" i="1" baseline="-30000" dirty="0" err="1">
                <a:solidFill>
                  <a:srgbClr val="FF0000"/>
                </a:solidFill>
                <a:latin typeface="Times New Roman" panose="02020603050405020304" pitchFamily="18" charset="0"/>
                <a:ea typeface="微软雅黑" panose="020B0503020204020204" pitchFamily="34" charset="-122"/>
              </a:rPr>
              <a:t>ij</a:t>
            </a:r>
            <a:r>
              <a:rPr lang="en-US" altLang="zh-CN" b="1" dirty="0">
                <a:solidFill>
                  <a:srgbClr val="FF0000"/>
                </a:solidFill>
                <a:latin typeface="Times New Roman" panose="02020603050405020304" pitchFamily="18" charset="0"/>
                <a:ea typeface="微软雅黑" panose="020B0503020204020204" pitchFamily="34" charset="-122"/>
              </a:rPr>
              <a:t>=0</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所以应令对应的</a:t>
            </a:r>
            <a:r>
              <a:rPr lang="en-US" altLang="zh-CN" b="1" i="1" dirty="0" err="1">
                <a:solidFill>
                  <a:srgbClr val="FF0000"/>
                </a:solidFill>
                <a:latin typeface="Times New Roman" panose="02020603050405020304" pitchFamily="18" charset="0"/>
                <a:ea typeface="微软雅黑" panose="020B0503020204020204" pitchFamily="34" charset="-122"/>
              </a:rPr>
              <a:t>c</a:t>
            </a:r>
            <a:r>
              <a:rPr lang="en-US" altLang="zh-CN" b="1" i="1" baseline="-30000" dirty="0" err="1">
                <a:solidFill>
                  <a:srgbClr val="FF0000"/>
                </a:solidFill>
                <a:latin typeface="Times New Roman" panose="02020603050405020304" pitchFamily="18" charset="0"/>
                <a:ea typeface="微软雅黑" panose="020B0503020204020204" pitchFamily="34" charset="-122"/>
              </a:rPr>
              <a:t>ij</a:t>
            </a:r>
            <a:r>
              <a:rPr lang="en-US" altLang="zh-CN" b="1" dirty="0">
                <a:solidFill>
                  <a:srgbClr val="FF0000"/>
                </a:solidFill>
                <a:latin typeface="Times New Roman" panose="02020603050405020304" pitchFamily="18" charset="0"/>
                <a:ea typeface="微软雅黑" panose="020B0503020204020204" pitchFamily="34" charset="-122"/>
              </a:rPr>
              <a:t>=</a:t>
            </a:r>
            <a:r>
              <a:rPr lang="en-US" altLang="zh-CN" b="1" i="1" dirty="0">
                <a:solidFill>
                  <a:srgbClr val="FF0000"/>
                </a:solidFill>
                <a:latin typeface="Times New Roman" panose="02020603050405020304" pitchFamily="18" charset="0"/>
                <a:ea typeface="微软雅黑" panose="020B0503020204020204" pitchFamily="34" charset="-122"/>
              </a:rPr>
              <a:t>M</a:t>
            </a:r>
            <a:endParaRPr lang="en-US" altLang="zh-CN" b="1" dirty="0">
              <a:solidFill>
                <a:srgbClr val="FF0000"/>
              </a:solidFill>
              <a:latin typeface="Times New Roman" panose="02020603050405020304" pitchFamily="18" charset="0"/>
              <a:ea typeface="微软雅黑" panose="020B0503020204020204" pitchFamily="34" charset="-122"/>
            </a:endParaRPr>
          </a:p>
          <a:p>
            <a:pPr>
              <a:lnSpc>
                <a:spcPct val="120000"/>
              </a:lnSpc>
            </a:pPr>
            <a:r>
              <a:rPr lang="zh-CN" altLang="en-US" b="1" dirty="0">
                <a:latin typeface="Times New Roman" panose="02020603050405020304" pitchFamily="18" charset="0"/>
                <a:ea typeface="微软雅黑" panose="020B0503020204020204" pitchFamily="34" charset="-122"/>
              </a:rPr>
              <a:t>再加上一个假想的需求</a:t>
            </a:r>
            <a:r>
              <a:rPr lang="en-US" altLang="zh-CN" b="1" i="1" dirty="0">
                <a:latin typeface="Times New Roman" panose="02020603050405020304" pitchFamily="18" charset="0"/>
                <a:ea typeface="微软雅黑" panose="020B0503020204020204" pitchFamily="34" charset="-122"/>
              </a:rPr>
              <a:t>D</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就可以把这个问题变成产销平衡的运输模型</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并写出产销平衡表和单位运价表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合在一起</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见表</a:t>
            </a:r>
            <a:r>
              <a:rPr lang="en-US" altLang="zh-CN" b="1" dirty="0">
                <a:latin typeface="Times New Roman" panose="02020603050405020304" pitchFamily="18" charset="0"/>
                <a:ea typeface="微软雅黑" panose="020B0503020204020204" pitchFamily="34" charset="-122"/>
              </a:rPr>
              <a:t>4-32)</a:t>
            </a:r>
            <a:endParaRPr lang="zh-CN" altLang="en-US" b="1" dirty="0">
              <a:latin typeface="Times New Roman" panose="02020603050405020304" pitchFamily="18" charset="0"/>
              <a:ea typeface="微软雅黑" panose="020B0503020204020204" pitchFamily="34" charset="-122"/>
            </a:endParaRPr>
          </a:p>
        </p:txBody>
      </p:sp>
      <p:sp>
        <p:nvSpPr>
          <p:cNvPr id="30723" name="矩形 3"/>
          <p:cNvSpPr>
            <a:spLocks noChangeArrowheads="1"/>
          </p:cNvSpPr>
          <p:nvPr/>
        </p:nvSpPr>
        <p:spPr bwMode="auto">
          <a:xfrm>
            <a:off x="3916363" y="6525344"/>
            <a:ext cx="1176337" cy="309562"/>
          </a:xfrm>
          <a:prstGeom prst="rect">
            <a:avLst/>
          </a:prstGeom>
          <a:solidFill>
            <a:srgbClr val="B3F1F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1800" b="1" dirty="0">
                <a:latin typeface="微软雅黑" panose="020B0503020204020204" pitchFamily="34" charset="-122"/>
                <a:ea typeface="微软雅黑" panose="020B0503020204020204" pitchFamily="34" charset="-122"/>
              </a:rPr>
              <a:t>表</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4-32</a:t>
            </a:r>
            <a:endParaRPr lang="zh-CN"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4581" name="Object 6"/>
          <p:cNvGraphicFramePr>
            <a:graphicFrameLocks noChangeAspect="1"/>
          </p:cNvGraphicFramePr>
          <p:nvPr/>
        </p:nvGraphicFramePr>
        <p:xfrm>
          <a:off x="5148064" y="461094"/>
          <a:ext cx="3049389" cy="1804988"/>
        </p:xfrm>
        <a:graphic>
          <a:graphicData uri="http://schemas.openxmlformats.org/presentationml/2006/ole">
            <mc:AlternateContent xmlns:mc="http://schemas.openxmlformats.org/markup-compatibility/2006">
              <mc:Choice xmlns:v="urn:schemas-microsoft-com:vml" Requires="v">
                <p:oleObj spid="_x0000_s34824" r:id="rId4" imgW="1587500" imgH="939800" progId="Equation.DSMT4">
                  <p:embed/>
                </p:oleObj>
              </mc:Choice>
              <mc:Fallback>
                <p:oleObj r:id="rId4" imgW="1587500" imgH="939800" progId="Equation.DSMT4">
                  <p:embed/>
                  <p:pic>
                    <p:nvPicPr>
                      <p:cNvPr id="24581"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064" y="461094"/>
                        <a:ext cx="3049389" cy="1804988"/>
                      </a:xfrm>
                      <a:prstGeom prst="rect">
                        <a:avLst/>
                      </a:prstGeom>
                      <a:solidFill>
                        <a:srgbClr val="FFCCFF"/>
                      </a:solidFill>
                      <a:ln>
                        <a:noFill/>
                      </a:ln>
                    </p:spPr>
                  </p:pic>
                </p:oleObj>
              </mc:Fallback>
            </mc:AlternateContent>
          </a:graphicData>
        </a:graphic>
      </p:graphicFrame>
      <p:graphicFrame>
        <p:nvGraphicFramePr>
          <p:cNvPr id="24582" name="Object 7"/>
          <p:cNvGraphicFramePr>
            <a:graphicFrameLocks noChangeAspect="1"/>
          </p:cNvGraphicFramePr>
          <p:nvPr/>
        </p:nvGraphicFramePr>
        <p:xfrm>
          <a:off x="1295177" y="450850"/>
          <a:ext cx="3169096" cy="1819296"/>
        </p:xfrm>
        <a:graphic>
          <a:graphicData uri="http://schemas.openxmlformats.org/presentationml/2006/ole">
            <mc:AlternateContent xmlns:mc="http://schemas.openxmlformats.org/markup-compatibility/2006">
              <mc:Choice xmlns:v="urn:schemas-microsoft-com:vml" Requires="v">
                <p:oleObj spid="_x0000_s34825" r:id="rId6" imgW="1879600" imgH="1079500" progId="Equation.3">
                  <p:embed/>
                </p:oleObj>
              </mc:Choice>
              <mc:Fallback>
                <p:oleObj r:id="rId6" imgW="1879600" imgH="1079500" progId="Equation.3">
                  <p:embed/>
                  <p:pic>
                    <p:nvPicPr>
                      <p:cNvPr id="24582"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177" y="450850"/>
                        <a:ext cx="3169096" cy="1819296"/>
                      </a:xfrm>
                      <a:prstGeom prst="rect">
                        <a:avLst/>
                      </a:prstGeom>
                      <a:solidFill>
                        <a:srgbClr val="FFCCFF"/>
                      </a:solidFill>
                      <a:ln>
                        <a:noFill/>
                      </a:ln>
                    </p:spPr>
                  </p:pic>
                </p:oleObj>
              </mc:Fallback>
            </mc:AlternateContent>
          </a:graphicData>
        </a:graphic>
      </p:graphicFrame>
      <p:sp>
        <p:nvSpPr>
          <p:cNvPr id="24583" name="TextBox 8"/>
          <p:cNvSpPr txBox="1">
            <a:spLocks noChangeArrowheads="1"/>
          </p:cNvSpPr>
          <p:nvPr/>
        </p:nvSpPr>
        <p:spPr bwMode="auto">
          <a:xfrm>
            <a:off x="2051050" y="61044"/>
            <a:ext cx="1657350" cy="4000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ea typeface="微软雅黑" panose="020B0503020204020204" pitchFamily="34" charset="-122"/>
              </a:rPr>
              <a:t>合同要求</a:t>
            </a:r>
          </a:p>
        </p:txBody>
      </p:sp>
      <p:sp>
        <p:nvSpPr>
          <p:cNvPr id="24584" name="TextBox 9"/>
          <p:cNvSpPr txBox="1">
            <a:spLocks noChangeArrowheads="1"/>
          </p:cNvSpPr>
          <p:nvPr/>
        </p:nvSpPr>
        <p:spPr bwMode="auto">
          <a:xfrm>
            <a:off x="5844877" y="89349"/>
            <a:ext cx="1655762" cy="4000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sz="2000" b="1">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生产能力</a:t>
            </a:r>
          </a:p>
        </p:txBody>
      </p:sp>
      <p:graphicFrame>
        <p:nvGraphicFramePr>
          <p:cNvPr id="2" name="表格 1"/>
          <p:cNvGraphicFramePr/>
          <p:nvPr>
            <p:custDataLst>
              <p:tags r:id="rId2"/>
            </p:custDataLst>
          </p:nvPr>
        </p:nvGraphicFramePr>
        <p:xfrm>
          <a:off x="573088" y="4070350"/>
          <a:ext cx="7878760" cy="2438400"/>
        </p:xfrm>
        <a:graphic>
          <a:graphicData uri="http://schemas.openxmlformats.org/drawingml/2006/table">
            <a:tbl>
              <a:tblPr firstRow="1" bandRow="1">
                <a:tableStyleId>{5940675A-B579-460E-94D1-54222C63F5DA}</a:tableStyleId>
              </a:tblPr>
              <a:tblGrid>
                <a:gridCol w="1748719">
                  <a:extLst>
                    <a:ext uri="{9D8B030D-6E8A-4147-A177-3AD203B41FA5}">
                      <a16:colId xmlns:a16="http://schemas.microsoft.com/office/drawing/2014/main" val="20000"/>
                    </a:ext>
                  </a:extLst>
                </a:gridCol>
                <a:gridCol w="861660">
                  <a:extLst>
                    <a:ext uri="{9D8B030D-6E8A-4147-A177-3AD203B41FA5}">
                      <a16:colId xmlns:a16="http://schemas.microsoft.com/office/drawing/2014/main" val="20001"/>
                    </a:ext>
                  </a:extLst>
                </a:gridCol>
                <a:gridCol w="857850">
                  <a:extLst>
                    <a:ext uri="{9D8B030D-6E8A-4147-A177-3AD203B41FA5}">
                      <a16:colId xmlns:a16="http://schemas.microsoft.com/office/drawing/2014/main" val="20002"/>
                    </a:ext>
                  </a:extLst>
                </a:gridCol>
                <a:gridCol w="857215">
                  <a:extLst>
                    <a:ext uri="{9D8B030D-6E8A-4147-A177-3AD203B41FA5}">
                      <a16:colId xmlns:a16="http://schemas.microsoft.com/office/drawing/2014/main" val="20003"/>
                    </a:ext>
                  </a:extLst>
                </a:gridCol>
                <a:gridCol w="1184227">
                  <a:extLst>
                    <a:ext uri="{9D8B030D-6E8A-4147-A177-3AD203B41FA5}">
                      <a16:colId xmlns:a16="http://schemas.microsoft.com/office/drawing/2014/main" val="20004"/>
                    </a:ext>
                  </a:extLst>
                </a:gridCol>
                <a:gridCol w="1184862">
                  <a:extLst>
                    <a:ext uri="{9D8B030D-6E8A-4147-A177-3AD203B41FA5}">
                      <a16:colId xmlns:a16="http://schemas.microsoft.com/office/drawing/2014/main" val="20005"/>
                    </a:ext>
                  </a:extLst>
                </a:gridCol>
                <a:gridCol w="1184227">
                  <a:extLst>
                    <a:ext uri="{9D8B030D-6E8A-4147-A177-3AD203B41FA5}">
                      <a16:colId xmlns:a16="http://schemas.microsoft.com/office/drawing/2014/main" val="20006"/>
                    </a:ext>
                  </a:extLst>
                </a:gridCol>
              </a:tblGrid>
              <a:tr h="609600">
                <a:tc>
                  <a:txBody>
                    <a:bodyPr/>
                    <a:lstStyle/>
                    <a:p>
                      <a:pPr indent="0">
                        <a:buNone/>
                      </a:pPr>
                      <a:r>
                        <a:rPr lang="en-US" sz="20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销地</a:t>
                      </a:r>
                      <a:endParaRPr lang="en-US" sz="2000" b="1" dirty="0">
                        <a:latin typeface="微软雅黑" panose="020B0503020204020204" pitchFamily="34" charset="-122"/>
                        <a:ea typeface="微软雅黑" panose="020B0503020204020204" pitchFamily="34" charset="-122"/>
                        <a:cs typeface="Times New Roman" panose="02020603050405020304" pitchFamily="18" charset="0"/>
                      </a:endParaRPr>
                    </a:p>
                    <a:p>
                      <a:pPr indent="0">
                        <a:buNone/>
                      </a:pPr>
                      <a:r>
                        <a:rPr lang="en-US" sz="20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产地</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产量</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24000">
                <a:tc>
                  <a:txBody>
                    <a:bodyPr/>
                    <a:lstStyle/>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Ⅰ</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Ⅱ</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Ⅲ</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10.8</a:t>
                      </a:r>
                    </a:p>
                    <a:p>
                      <a:pPr indent="0" algn="ctr" fontAlgn="auto">
                        <a:lnSpc>
                          <a:spcPct val="100000"/>
                        </a:lnSpc>
                        <a:buNone/>
                      </a:pPr>
                      <a:r>
                        <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rPr>
                        <a:t>M</a:t>
                      </a:r>
                    </a:p>
                    <a:p>
                      <a:pPr indent="0" algn="ctr" fontAlgn="auto">
                        <a:lnSpc>
                          <a:spcPct val="100000"/>
                        </a:lnSpc>
                        <a:buNone/>
                      </a:pPr>
                      <a:r>
                        <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rPr>
                        <a:t>M</a:t>
                      </a:r>
                    </a:p>
                    <a:p>
                      <a:pPr indent="0" algn="ctr" fontAlgn="auto">
                        <a:lnSpc>
                          <a:spcPct val="100000"/>
                        </a:lnSpc>
                        <a:buNone/>
                      </a:pPr>
                      <a:r>
                        <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rPr>
                        <a:t>M</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10.95</a:t>
                      </a:r>
                    </a:p>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11.10</a:t>
                      </a:r>
                    </a:p>
                    <a:p>
                      <a:pPr indent="0" algn="ctr" fontAlgn="auto">
                        <a:lnSpc>
                          <a:spcPct val="100000"/>
                        </a:lnSpc>
                        <a:buNone/>
                      </a:pPr>
                      <a:r>
                        <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rPr>
                        <a:t>M</a:t>
                      </a:r>
                    </a:p>
                    <a:p>
                      <a:pPr indent="0" algn="ctr" fontAlgn="auto">
                        <a:lnSpc>
                          <a:spcPct val="100000"/>
                        </a:lnSpc>
                        <a:buNone/>
                      </a:pPr>
                      <a:r>
                        <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rPr>
                        <a:t>M</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11.10</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11.25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11.00</a:t>
                      </a:r>
                    </a:p>
                    <a:p>
                      <a:pPr indent="0" algn="ctr" fontAlgn="auto">
                        <a:lnSpc>
                          <a:spcPct val="100000"/>
                        </a:lnSpc>
                        <a:buNone/>
                      </a:pPr>
                      <a:r>
                        <a:rPr lang="en-US" altLang="en-US" sz="2000" b="0" i="1" dirty="0">
                          <a:latin typeface="Times New Roman" panose="02020603050405020304" pitchFamily="18" charset="0"/>
                          <a:ea typeface="微软雅黑" panose="020B0503020204020204" pitchFamily="34" charset="-122"/>
                          <a:cs typeface="Times New Roman" panose="02020603050405020304" pitchFamily="18" charset="0"/>
                        </a:rPr>
                        <a:t>M</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11.25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11.40</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11.15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11.30</a:t>
                      </a: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25</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35</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ctr" fontAlgn="auto">
                        <a:lnSpc>
                          <a:spcPct val="100000"/>
                        </a:lnSpc>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mn-ea"/>
                        </a:rPr>
                        <a:t>销量</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15</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25</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100</a:t>
                      </a:r>
                    </a:p>
                  </a:txBody>
                  <a:tcPr marL="68577" marR="68577"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24618" name="直接连接符 3"/>
          <p:cNvCxnSpPr>
            <a:cxnSpLocks noChangeShapeType="1"/>
          </p:cNvCxnSpPr>
          <p:nvPr/>
        </p:nvCxnSpPr>
        <p:spPr bwMode="auto">
          <a:xfrm>
            <a:off x="547688" y="4087813"/>
            <a:ext cx="1720850" cy="5651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4" name="灯片编号占位符 3">
            <a:extLst>
              <a:ext uri="{FF2B5EF4-FFF2-40B4-BE49-F238E27FC236}">
                <a16:creationId xmlns:a16="http://schemas.microsoft.com/office/drawing/2014/main" id="{BD4415F5-7BC8-427B-B248-2AD0FDACCC82}"/>
              </a:ext>
            </a:extLst>
          </p:cNvPr>
          <p:cNvSpPr>
            <a:spLocks noGrp="1"/>
          </p:cNvSpPr>
          <p:nvPr>
            <p:ph type="sldNum" sz="quarter" idx="12"/>
          </p:nvPr>
        </p:nvSpPr>
        <p:spPr/>
        <p:txBody>
          <a:bodyPr/>
          <a:lstStyle/>
          <a:p>
            <a:pPr>
              <a:defRPr/>
            </a:pPr>
            <a:fld id="{2AE1B59C-883C-4848-BC85-9A12DF2590B2}" type="slidenum">
              <a:rPr lang="en-US" altLang="zh-CN" smtClean="0"/>
              <a:t>80</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2">
                                            <p:txEl>
                                              <p:pRg st="1" end="1"/>
                                            </p:txEl>
                                          </p:spTgt>
                                        </p:tgtEl>
                                        <p:attrNameLst>
                                          <p:attrName>style.visibility</p:attrName>
                                        </p:attrNameLst>
                                      </p:cBhvr>
                                      <p:to>
                                        <p:strVal val="visible"/>
                                      </p:to>
                                    </p:set>
                                    <p:animEffect transition="in" filter="blinds(horizontal)">
                                      <p:cBhvr>
                                        <p:cTn id="7" dur="500"/>
                                        <p:tgtEl>
                                          <p:spTgt spid="3072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2">
                                            <p:txEl>
                                              <p:pRg st="2" end="2"/>
                                            </p:txEl>
                                          </p:spTgt>
                                        </p:tgtEl>
                                        <p:attrNameLst>
                                          <p:attrName>style.visibility</p:attrName>
                                        </p:attrNameLst>
                                      </p:cBhvr>
                                      <p:to>
                                        <p:strVal val="visible"/>
                                      </p:to>
                                    </p:set>
                                    <p:animEffect transition="in" filter="blinds(horizontal)">
                                      <p:cBhvr>
                                        <p:cTn id="12" dur="500"/>
                                        <p:tgtEl>
                                          <p:spTgt spid="3072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618"/>
                                        </p:tgtEl>
                                        <p:attrNameLst>
                                          <p:attrName>style.visibility</p:attrName>
                                        </p:attrNameLst>
                                      </p:cBhvr>
                                      <p:to>
                                        <p:strVal val="visible"/>
                                      </p:to>
                                    </p:set>
                                  </p:childTnLst>
                                </p:cTn>
                              </p:par>
                              <p:par>
                                <p:cTn id="21" presetID="3" presetClass="entr" presetSubtype="10" fill="hold" grpId="0" nodeType="withEffect">
                                  <p:stCondLst>
                                    <p:cond delay="0"/>
                                  </p:stCondLst>
                                  <p:childTnLst>
                                    <p:set>
                                      <p:cBhvr>
                                        <p:cTn id="22" dur="1" fill="hold">
                                          <p:stCondLst>
                                            <p:cond delay="0"/>
                                          </p:stCondLst>
                                        </p:cTn>
                                        <p:tgtEl>
                                          <p:spTgt spid="30723"/>
                                        </p:tgtEl>
                                        <p:attrNameLst>
                                          <p:attrName>style.visibility</p:attrName>
                                        </p:attrNameLst>
                                      </p:cBhvr>
                                      <p:to>
                                        <p:strVal val="visible"/>
                                      </p:to>
                                    </p:set>
                                    <p:animEffect transition="in" filter="blinds(horizontal)">
                                      <p:cBhvr>
                                        <p:cTn id="23"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0723"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p:cNvSpPr txBox="1">
            <a:spLocks noChangeArrowheads="1"/>
          </p:cNvSpPr>
          <p:nvPr/>
        </p:nvSpPr>
        <p:spPr bwMode="auto">
          <a:xfrm>
            <a:off x="468313" y="3933825"/>
            <a:ext cx="8239125" cy="24320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2" name="Rectangle 3"/>
          <p:cNvSpPr txBox="1">
            <a:spLocks noChangeArrowheads="1"/>
          </p:cNvSpPr>
          <p:nvPr/>
        </p:nvSpPr>
        <p:spPr bwMode="auto">
          <a:xfrm>
            <a:off x="0" y="0"/>
            <a:ext cx="91440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3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经用表上作业法求解</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可得多个最优方案</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rPr>
              <a:t>4-33</a:t>
            </a:r>
            <a:r>
              <a:rPr lang="zh-CN" altLang="en-US" b="1" dirty="0">
                <a:latin typeface="Times New Roman" panose="02020603050405020304" pitchFamily="18" charset="0"/>
                <a:ea typeface="微软雅黑" panose="020B0503020204020204" pitchFamily="34" charset="-122"/>
              </a:rPr>
              <a:t>中列出最优方案之一</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即第</a:t>
            </a:r>
            <a:r>
              <a:rPr lang="en-US" altLang="zh-CN" b="1" dirty="0">
                <a:latin typeface="Times New Roman" panose="02020603050405020304" pitchFamily="18" charset="0"/>
                <a:ea typeface="微软雅黑" panose="020B0503020204020204" pitchFamily="34" charset="-122"/>
              </a:rPr>
              <a:t>Ⅰ</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25</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10</a:t>
            </a:r>
            <a:r>
              <a:rPr lang="zh-CN" altLang="en-US" b="1" dirty="0">
                <a:latin typeface="Times New Roman" panose="02020603050405020304" pitchFamily="18" charset="0"/>
                <a:ea typeface="微软雅黑" panose="020B0503020204020204" pitchFamily="34" charset="-122"/>
              </a:rPr>
              <a:t>台当季交货</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15</a:t>
            </a:r>
            <a:r>
              <a:rPr lang="zh-CN" altLang="en-US" b="1" dirty="0">
                <a:latin typeface="Times New Roman" panose="02020603050405020304" pitchFamily="18" charset="0"/>
                <a:ea typeface="微软雅黑" panose="020B0503020204020204" pitchFamily="34" charset="-122"/>
              </a:rPr>
              <a:t>台</a:t>
            </a:r>
            <a:r>
              <a:rPr lang="en-US" altLang="zh-CN" b="1" dirty="0">
                <a:latin typeface="Times New Roman" panose="02020603050405020304" pitchFamily="18" charset="0"/>
                <a:ea typeface="微软雅黑" panose="020B0503020204020204" pitchFamily="34" charset="-122"/>
              </a:rPr>
              <a:t>Ⅱ</a:t>
            </a:r>
            <a:r>
              <a:rPr lang="zh-CN" altLang="en-US" b="1" dirty="0">
                <a:latin typeface="Times New Roman" panose="02020603050405020304" pitchFamily="18" charset="0"/>
                <a:ea typeface="微软雅黑" panose="020B0503020204020204" pitchFamily="34" charset="-122"/>
              </a:rPr>
              <a:t>季度交货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pPr>
            <a:r>
              <a:rPr lang="en-US" altLang="zh-CN" b="1" dirty="0">
                <a:latin typeface="Times New Roman" panose="02020603050405020304" pitchFamily="18" charset="0"/>
                <a:ea typeface="微软雅黑" panose="020B0503020204020204" pitchFamily="34" charset="-122"/>
              </a:rPr>
              <a:t>            Ⅱ</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5</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用于</a:t>
            </a:r>
            <a:r>
              <a:rPr lang="en-US" altLang="zh-CN" b="1" dirty="0">
                <a:latin typeface="Times New Roman" panose="02020603050405020304" pitchFamily="18" charset="0"/>
                <a:ea typeface="微软雅黑" panose="020B0503020204020204" pitchFamily="34" charset="-122"/>
              </a:rPr>
              <a:t>Ⅲ</a:t>
            </a:r>
            <a:r>
              <a:rPr lang="zh-CN" altLang="en-US" b="1" dirty="0">
                <a:latin typeface="Times New Roman" panose="02020603050405020304" pitchFamily="18" charset="0"/>
                <a:ea typeface="微软雅黑" panose="020B0503020204020204" pitchFamily="34" charset="-122"/>
              </a:rPr>
              <a:t>季度交货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pPr>
            <a:r>
              <a:rPr lang="en-US" altLang="zh-CN" b="1" dirty="0">
                <a:latin typeface="Times New Roman" panose="02020603050405020304" pitchFamily="18" charset="0"/>
                <a:ea typeface="微软雅黑" panose="020B0503020204020204" pitchFamily="34" charset="-122"/>
              </a:rPr>
              <a:t>           Ⅲ</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30</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其中</a:t>
            </a:r>
            <a:r>
              <a:rPr lang="en-US" altLang="zh-CN" b="1" dirty="0">
                <a:latin typeface="Times New Roman" panose="02020603050405020304" pitchFamily="18" charset="0"/>
                <a:ea typeface="微软雅黑" panose="020B0503020204020204" pitchFamily="34" charset="-122"/>
              </a:rPr>
              <a:t>20</a:t>
            </a:r>
            <a:r>
              <a:rPr lang="zh-CN" altLang="en-US" b="1" dirty="0">
                <a:latin typeface="Times New Roman" panose="02020603050405020304" pitchFamily="18" charset="0"/>
                <a:ea typeface="微软雅黑" panose="020B0503020204020204" pitchFamily="34" charset="-122"/>
              </a:rPr>
              <a:t>台于当季交货</a:t>
            </a:r>
            <a:r>
              <a:rPr lang="zh-CN" altLang="en-US" b="1" dirty="0">
                <a:latin typeface="仿宋" panose="02010609060101010101" pitchFamily="49" charset="-122"/>
                <a:ea typeface="仿宋" panose="02010609060101010101" pitchFamily="49" charset="-122"/>
              </a:rPr>
              <a:t>，</a:t>
            </a:r>
            <a:r>
              <a:rPr lang="en-US" altLang="zh-CN" b="1" dirty="0">
                <a:latin typeface="Times New Roman" panose="02020603050405020304" pitchFamily="18" charset="0"/>
                <a:ea typeface="微软雅黑" panose="020B0503020204020204" pitchFamily="34" charset="-122"/>
              </a:rPr>
              <a:t>10</a:t>
            </a:r>
            <a:r>
              <a:rPr lang="zh-CN" altLang="en-US" b="1" dirty="0">
                <a:latin typeface="Times New Roman" panose="02020603050405020304" pitchFamily="18" charset="0"/>
                <a:ea typeface="微软雅黑" panose="020B0503020204020204" pitchFamily="34" charset="-122"/>
              </a:rPr>
              <a:t>台于</a:t>
            </a:r>
            <a:r>
              <a:rPr lang="en-US" altLang="zh-CN" b="1" dirty="0">
                <a:latin typeface="Times New Roman" panose="02020603050405020304" pitchFamily="18" charset="0"/>
                <a:ea typeface="微软雅黑" panose="020B0503020204020204" pitchFamily="34" charset="-122"/>
              </a:rPr>
              <a:t>Ⅳ</a:t>
            </a:r>
            <a:r>
              <a:rPr lang="zh-CN" altLang="en-US" b="1" dirty="0">
                <a:latin typeface="Times New Roman" panose="02020603050405020304" pitchFamily="18" charset="0"/>
                <a:ea typeface="微软雅黑" panose="020B0503020204020204" pitchFamily="34" charset="-122"/>
              </a:rPr>
              <a:t>季度交货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pPr>
            <a:r>
              <a:rPr lang="en-US" altLang="zh-CN" b="1" dirty="0">
                <a:latin typeface="Times New Roman" panose="02020603050405020304" pitchFamily="18" charset="0"/>
                <a:ea typeface="微软雅黑" panose="020B0503020204020204" pitchFamily="34" charset="-122"/>
              </a:rPr>
              <a:t>           Ⅳ</a:t>
            </a:r>
            <a:r>
              <a:rPr lang="zh-CN" altLang="en-US" b="1" dirty="0">
                <a:latin typeface="Times New Roman" panose="02020603050405020304" pitchFamily="18" charset="0"/>
                <a:ea typeface="微软雅黑" panose="020B0503020204020204" pitchFamily="34" charset="-122"/>
              </a:rPr>
              <a:t>季度生产</a:t>
            </a:r>
            <a:r>
              <a:rPr lang="en-US" altLang="zh-CN" b="1" dirty="0">
                <a:latin typeface="Times New Roman" panose="02020603050405020304" pitchFamily="18" charset="0"/>
                <a:ea typeface="微软雅黑" panose="020B0503020204020204" pitchFamily="34" charset="-122"/>
              </a:rPr>
              <a:t>10</a:t>
            </a:r>
            <a:r>
              <a:rPr lang="zh-CN" altLang="en-US" b="1" dirty="0">
                <a:latin typeface="Times New Roman" panose="02020603050405020304" pitchFamily="18" charset="0"/>
                <a:ea typeface="微软雅黑" panose="020B0503020204020204" pitchFamily="34" charset="-122"/>
              </a:rPr>
              <a:t>台</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于当季交货</a:t>
            </a:r>
            <a:endParaRPr lang="en-US" altLang="zh-CN" b="1" dirty="0">
              <a:latin typeface="Times New Roman" panose="02020603050405020304" pitchFamily="18" charset="0"/>
              <a:ea typeface="微软雅黑" panose="020B0503020204020204" pitchFamily="34" charset="-122"/>
            </a:endParaRPr>
          </a:p>
          <a:p>
            <a:pPr algn="just">
              <a:lnSpc>
                <a:spcPct val="130000"/>
              </a:lnSpc>
              <a:spcBef>
                <a:spcPts val="600"/>
              </a:spcBef>
              <a:buClr>
                <a:schemeClr val="accent1"/>
              </a:buClr>
              <a:buSzPct val="70000"/>
              <a:buFont typeface="Wingdings" panose="05000000000000000000" pitchFamily="2" charset="2"/>
              <a:buChar char=""/>
            </a:pPr>
            <a:r>
              <a:rPr lang="zh-CN" altLang="en-US" b="1" dirty="0">
                <a:latin typeface="Times New Roman" panose="02020603050405020304" pitchFamily="18" charset="0"/>
                <a:ea typeface="微软雅黑" panose="020B0503020204020204" pitchFamily="34" charset="-122"/>
              </a:rPr>
              <a:t>按此方案生产</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该厂总的生产</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包括储存</a:t>
            </a:r>
            <a:r>
              <a:rPr lang="zh-CN" altLang="en-US" b="1" dirty="0">
                <a:latin typeface="仿宋" panose="02010609060101010101" pitchFamily="49" charset="-122"/>
                <a:ea typeface="仿宋" panose="02010609060101010101" pitchFamily="49" charset="-122"/>
              </a:rPr>
              <a:t>、</a:t>
            </a:r>
            <a:r>
              <a:rPr lang="zh-CN" altLang="en-US" b="1" dirty="0">
                <a:latin typeface="Times New Roman" panose="02020603050405020304" pitchFamily="18" charset="0"/>
                <a:ea typeface="微软雅黑" panose="020B0503020204020204" pitchFamily="34" charset="-122"/>
              </a:rPr>
              <a:t>维护</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的费用为</a:t>
            </a:r>
            <a:r>
              <a:rPr lang="en-US" altLang="zh-CN" b="1" dirty="0">
                <a:latin typeface="Times New Roman" panose="02020603050405020304" pitchFamily="18" charset="0"/>
                <a:ea typeface="微软雅黑" panose="020B0503020204020204" pitchFamily="34" charset="-122"/>
              </a:rPr>
              <a:t>773</a:t>
            </a:r>
            <a:r>
              <a:rPr lang="zh-CN" altLang="en-US" b="1" dirty="0">
                <a:latin typeface="Times New Roman" panose="02020603050405020304" pitchFamily="18" charset="0"/>
                <a:ea typeface="微软雅黑" panose="020B0503020204020204" pitchFamily="34" charset="-122"/>
              </a:rPr>
              <a:t>万元</a:t>
            </a:r>
          </a:p>
        </p:txBody>
      </p:sp>
      <p:sp>
        <p:nvSpPr>
          <p:cNvPr id="3" name="TextBox 2"/>
          <p:cNvSpPr txBox="1">
            <a:spLocks noChangeArrowheads="1"/>
          </p:cNvSpPr>
          <p:nvPr/>
        </p:nvSpPr>
        <p:spPr bwMode="auto">
          <a:xfrm>
            <a:off x="3695700" y="6381328"/>
            <a:ext cx="175260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4-33</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 name="表格 3"/>
          <p:cNvGraphicFramePr/>
          <p:nvPr>
            <p:custDataLst>
              <p:tags r:id="rId1"/>
            </p:custDataLst>
          </p:nvPr>
        </p:nvGraphicFramePr>
        <p:xfrm>
          <a:off x="446088" y="3933825"/>
          <a:ext cx="8251826" cy="2438400"/>
        </p:xfrm>
        <a:graphic>
          <a:graphicData uri="http://schemas.openxmlformats.org/drawingml/2006/table">
            <a:tbl>
              <a:tblPr firstRow="1" bandRow="1">
                <a:tableStyleId>{5940675A-B579-460E-94D1-54222C63F5DA}</a:tableStyleId>
              </a:tblPr>
              <a:tblGrid>
                <a:gridCol w="2122007">
                  <a:extLst>
                    <a:ext uri="{9D8B030D-6E8A-4147-A177-3AD203B41FA5}">
                      <a16:colId xmlns:a16="http://schemas.microsoft.com/office/drawing/2014/main" val="20000"/>
                    </a:ext>
                  </a:extLst>
                </a:gridCol>
                <a:gridCol w="861629">
                  <a:extLst>
                    <a:ext uri="{9D8B030D-6E8A-4147-A177-3AD203B41FA5}">
                      <a16:colId xmlns:a16="http://schemas.microsoft.com/office/drawing/2014/main" val="20001"/>
                    </a:ext>
                  </a:extLst>
                </a:gridCol>
                <a:gridCol w="857819">
                  <a:extLst>
                    <a:ext uri="{9D8B030D-6E8A-4147-A177-3AD203B41FA5}">
                      <a16:colId xmlns:a16="http://schemas.microsoft.com/office/drawing/2014/main" val="20002"/>
                    </a:ext>
                  </a:extLst>
                </a:gridCol>
                <a:gridCol w="857184">
                  <a:extLst>
                    <a:ext uri="{9D8B030D-6E8A-4147-A177-3AD203B41FA5}">
                      <a16:colId xmlns:a16="http://schemas.microsoft.com/office/drawing/2014/main" val="20003"/>
                    </a:ext>
                  </a:extLst>
                </a:gridCol>
                <a:gridCol w="1184184">
                  <a:extLst>
                    <a:ext uri="{9D8B030D-6E8A-4147-A177-3AD203B41FA5}">
                      <a16:colId xmlns:a16="http://schemas.microsoft.com/office/drawing/2014/main" val="20004"/>
                    </a:ext>
                  </a:extLst>
                </a:gridCol>
                <a:gridCol w="1184819">
                  <a:extLst>
                    <a:ext uri="{9D8B030D-6E8A-4147-A177-3AD203B41FA5}">
                      <a16:colId xmlns:a16="http://schemas.microsoft.com/office/drawing/2014/main" val="20005"/>
                    </a:ext>
                  </a:extLst>
                </a:gridCol>
                <a:gridCol w="1184184">
                  <a:extLst>
                    <a:ext uri="{9D8B030D-6E8A-4147-A177-3AD203B41FA5}">
                      <a16:colId xmlns:a16="http://schemas.microsoft.com/office/drawing/2014/main" val="20006"/>
                    </a:ext>
                  </a:extLst>
                </a:gridCol>
              </a:tblGrid>
              <a:tr h="609600">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销售季度</a:t>
                      </a:r>
                      <a:endParaRPr lang="en-US" sz="2000" b="1" dirty="0">
                        <a:latin typeface="微软雅黑" panose="020B0503020204020204" pitchFamily="34" charset="-122"/>
                        <a:ea typeface="微软雅黑" panose="020B0503020204020204" pitchFamily="34" charset="-122"/>
                        <a:cs typeface="Times New Roman" panose="02020603050405020304" pitchFamily="18" charset="0"/>
                      </a:endParaRPr>
                    </a:p>
                    <a:p>
                      <a:pPr indent="0">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生产季度</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Ⅰ</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Ⅱ</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Ⅲ</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产量</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24000">
                <a:tc>
                  <a:txBody>
                    <a:bodyPr/>
                    <a:lstStyle/>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Ⅰ</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Ⅱ</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Ⅲ</a:t>
                      </a:r>
                    </a:p>
                    <a:p>
                      <a:pPr indent="0" algn="ctr" fontAlgn="auto">
                        <a:lnSpc>
                          <a:spcPct val="100000"/>
                        </a:lnSpc>
                        <a:buNone/>
                      </a:pPr>
                      <a:r>
                        <a:rPr 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Ⅳ</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fontAlgn="auto">
                        <a:lnSpc>
                          <a:spcPct val="100000"/>
                        </a:lnSpc>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15</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25</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35</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ctr" fontAlgn="auto">
                        <a:lnSpc>
                          <a:spcPct val="100000"/>
                        </a:lnSpc>
                        <a:buNone/>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mn-ea"/>
                        </a:rPr>
                        <a:t>销量</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15</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fontAlgn="auto">
                        <a:lnSpc>
                          <a:spcPct val="100000"/>
                        </a:lnSpc>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25</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30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rPr>
                        <a:t>100</a:t>
                      </a:r>
                    </a:p>
                  </a:txBody>
                  <a:tcPr marL="68575" marR="68575"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6" name="直接连接符 5"/>
          <p:cNvCxnSpPr>
            <a:cxnSpLocks noChangeShapeType="1"/>
          </p:cNvCxnSpPr>
          <p:nvPr/>
        </p:nvCxnSpPr>
        <p:spPr bwMode="auto">
          <a:xfrm>
            <a:off x="452438" y="3967163"/>
            <a:ext cx="2103437" cy="61436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7" name="灯片编号占位符 6">
            <a:extLst>
              <a:ext uri="{FF2B5EF4-FFF2-40B4-BE49-F238E27FC236}">
                <a16:creationId xmlns:a16="http://schemas.microsoft.com/office/drawing/2014/main" id="{A97FA7F3-A561-48F1-80DC-A267526C117F}"/>
              </a:ext>
            </a:extLst>
          </p:cNvPr>
          <p:cNvSpPr>
            <a:spLocks noGrp="1"/>
          </p:cNvSpPr>
          <p:nvPr>
            <p:ph type="sldNum" sz="quarter" idx="12"/>
          </p:nvPr>
        </p:nvSpPr>
        <p:spPr/>
        <p:txBody>
          <a:bodyPr/>
          <a:lstStyle/>
          <a:p>
            <a:pPr>
              <a:defRPr/>
            </a:pPr>
            <a:fld id="{2AE1B59C-883C-4848-BC85-9A12DF2590B2}" type="slidenum">
              <a:rPr lang="en-US" altLang="zh-CN" smtClean="0"/>
              <a:t>81</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dissolve">
                                      <p:cBhvr>
                                        <p:cTn id="20" dur="500"/>
                                        <p:tgtEl>
                                          <p:spTgt spid="2">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dissolve">
                                      <p:cBhvr>
                                        <p:cTn id="25" dur="500"/>
                                        <p:tgtEl>
                                          <p:spTgt spid="2">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dissolve">
                                      <p:cBhvr>
                                        <p:cTn id="30" dur="500"/>
                                        <p:tgtEl>
                                          <p:spTgt spid="2">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dissolve">
                                      <p:cBhvr>
                                        <p:cTn id="35" dur="500"/>
                                        <p:tgtEl>
                                          <p:spTgt spid="2">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Effect transition="in" filter="dissolve">
                                      <p:cBhvr>
                                        <p:cTn id="4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3"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5123"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4</a:t>
            </a:r>
            <a:r>
              <a:rPr kumimoji="0" lang="zh-CN" altLang="en-US" sz="3200" b="1">
                <a:solidFill>
                  <a:srgbClr val="FF0000"/>
                </a:solidFill>
                <a:latin typeface="微软雅黑" panose="020B0503020204020204" pitchFamily="34" charset="-122"/>
                <a:ea typeface="微软雅黑" panose="020B0503020204020204" pitchFamily="34" charset="-122"/>
              </a:rPr>
              <a:t>章  运输问题</a:t>
            </a:r>
          </a:p>
        </p:txBody>
      </p:sp>
      <p:sp>
        <p:nvSpPr>
          <p:cNvPr id="5125" name="Rectangle 3"/>
          <p:cNvSpPr txBox="1">
            <a:spLocks noChangeArrowheads="1"/>
          </p:cNvSpPr>
          <p:nvPr/>
        </p:nvSpPr>
        <p:spPr bwMode="auto">
          <a:xfrm>
            <a:off x="971600" y="2105026"/>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1</a:t>
            </a:r>
            <a:r>
              <a:rPr lang="zh-CN" altLang="en-US" sz="2800" b="1" dirty="0">
                <a:solidFill>
                  <a:schemeClr val="folHlink"/>
                </a:solidFill>
                <a:latin typeface="微软雅黑" panose="020B0503020204020204" pitchFamily="34" charset="-122"/>
                <a:ea typeface="微软雅黑" panose="020B0503020204020204" pitchFamily="34" charset="-122"/>
              </a:rPr>
              <a:t>节   运输问题的数学模型</a:t>
            </a: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2</a:t>
            </a:r>
            <a:r>
              <a:rPr lang="zh-CN" altLang="en-US" sz="2800" b="1" dirty="0">
                <a:solidFill>
                  <a:schemeClr val="folHlink"/>
                </a:solidFill>
                <a:latin typeface="微软雅黑" panose="020B0503020204020204" pitchFamily="34" charset="-122"/>
                <a:ea typeface="微软雅黑" panose="020B0503020204020204" pitchFamily="34" charset="-122"/>
              </a:rPr>
              <a:t>节   表上作业法</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3</a:t>
            </a:r>
            <a:r>
              <a:rPr lang="zh-CN" altLang="en-US" sz="2800" b="1" dirty="0">
                <a:solidFill>
                  <a:schemeClr val="folHlink"/>
                </a:solidFill>
                <a:latin typeface="微软雅黑" panose="020B0503020204020204" pitchFamily="34" charset="-122"/>
                <a:ea typeface="微软雅黑" panose="020B0503020204020204" pitchFamily="34" charset="-122"/>
              </a:rPr>
              <a:t>节   产销不平衡的运输问题</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rgbClr val="FF0000"/>
                </a:solidFill>
                <a:latin typeface="微软雅黑" panose="020B0503020204020204" pitchFamily="34" charset="-122"/>
                <a:ea typeface="微软雅黑" panose="020B0503020204020204" pitchFamily="34" charset="-122"/>
              </a:rPr>
              <a:t>第</a:t>
            </a:r>
            <a:r>
              <a:rPr lang="en-US" altLang="zh-CN" sz="2800" b="1" dirty="0">
                <a:solidFill>
                  <a:srgbClr val="FF0000"/>
                </a:solidFill>
                <a:latin typeface="微软雅黑" panose="020B0503020204020204" pitchFamily="34" charset="-122"/>
                <a:ea typeface="微软雅黑" panose="020B0503020204020204" pitchFamily="34" charset="-122"/>
              </a:rPr>
              <a:t>4</a:t>
            </a:r>
            <a:r>
              <a:rPr lang="zh-CN" altLang="en-US" sz="2800" b="1" dirty="0">
                <a:solidFill>
                  <a:srgbClr val="FF0000"/>
                </a:solidFill>
                <a:latin typeface="微软雅黑" panose="020B0503020204020204" pitchFamily="34" charset="-122"/>
                <a:ea typeface="微软雅黑" panose="020B0503020204020204" pitchFamily="34" charset="-122"/>
              </a:rPr>
              <a:t>节   转运问题</a:t>
            </a:r>
            <a:endParaRPr lang="en-US" altLang="zh-CN" sz="2800" b="1" dirty="0">
              <a:solidFill>
                <a:srgbClr val="FF0000"/>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5</a:t>
            </a:r>
            <a:r>
              <a:rPr lang="zh-CN" altLang="en-US" sz="2800" b="1" dirty="0">
                <a:solidFill>
                  <a:schemeClr val="folHlink"/>
                </a:solidFill>
                <a:latin typeface="微软雅黑" panose="020B0503020204020204" pitchFamily="34" charset="-122"/>
                <a:ea typeface="微软雅黑" panose="020B0503020204020204" pitchFamily="34" charset="-122"/>
              </a:rPr>
              <a:t>节   应用举例及计算机解法</a:t>
            </a:r>
            <a:endParaRPr lang="en-US" altLang="zh-CN" sz="2800" b="1" dirty="0">
              <a:solidFill>
                <a:schemeClr val="folHlink"/>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F7B0DC65-456F-41B2-B7C2-90F170704BDD}"/>
              </a:ext>
            </a:extLst>
          </p:cNvPr>
          <p:cNvSpPr>
            <a:spLocks noGrp="1"/>
          </p:cNvSpPr>
          <p:nvPr>
            <p:ph type="sldNum" sz="quarter" idx="12"/>
          </p:nvPr>
        </p:nvSpPr>
        <p:spPr/>
        <p:txBody>
          <a:bodyPr/>
          <a:lstStyle/>
          <a:p>
            <a:pPr>
              <a:defRPr/>
            </a:pPr>
            <a:fld id="{2AE1B59C-883C-4848-BC85-9A12DF2590B2}" type="slidenum">
              <a:rPr lang="en-US" altLang="zh-CN" smtClean="0"/>
              <a:t>82</a:t>
            </a:fld>
            <a:endParaRPr lang="en-US" altLang="zh-CN"/>
          </a:p>
        </p:txBody>
      </p:sp>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rrowheads="1"/>
          </p:cNvSpPr>
          <p:nvPr/>
        </p:nvSpPr>
        <p:spPr bwMode="auto">
          <a:xfrm>
            <a:off x="0" y="2134948"/>
            <a:ext cx="9144000" cy="2751522"/>
          </a:xfrm>
          <a:prstGeom prst="rect">
            <a:avLst/>
          </a:prstGeom>
          <a:solidFill>
            <a:schemeClr val="accent2">
              <a:lumMod val="40000"/>
              <a:lumOff val="60000"/>
            </a:schemeClr>
          </a:solidFill>
          <a:ln>
            <a:noFill/>
          </a:ln>
        </p:spPr>
        <p:txBody>
          <a:bodyPr wrap="squar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354013" lvl="1" indent="-265113" algn="just">
              <a:lnSpc>
                <a:spcPct val="120000"/>
              </a:lnSpc>
            </a:pPr>
            <a:r>
              <a:rPr kumimoji="0" lang="zh-CN" altLang="en-US" b="1" dirty="0">
                <a:solidFill>
                  <a:srgbClr val="FF0000"/>
                </a:solidFill>
                <a:latin typeface="微软雅黑" panose="020B0503020204020204" pitchFamily="34" charset="-122"/>
                <a:ea typeface="微软雅黑" panose="020B0503020204020204" pitchFamily="34" charset="-122"/>
              </a:rPr>
              <a:t>例 </a:t>
            </a:r>
            <a:r>
              <a:rPr kumimoji="0" lang="en-US" altLang="zh-CN" b="1" dirty="0">
                <a:solidFill>
                  <a:srgbClr val="FF0000"/>
                </a:solidFill>
                <a:latin typeface="微软雅黑" panose="020B0503020204020204" pitchFamily="34" charset="-122"/>
                <a:ea typeface="微软雅黑" panose="020B0503020204020204" pitchFamily="34" charset="-122"/>
              </a:rPr>
              <a:t>4-4</a:t>
            </a:r>
            <a:r>
              <a:rPr kumimoji="0" lang="zh-CN" altLang="en-US" b="1" dirty="0">
                <a:solidFill>
                  <a:srgbClr val="FF0000"/>
                </a:solidFill>
                <a:latin typeface="微软雅黑" panose="020B0503020204020204" pitchFamily="34" charset="-122"/>
                <a:ea typeface="微软雅黑" panose="020B0503020204020204" pitchFamily="34" charset="-122"/>
              </a:rPr>
              <a:t>：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在本章的例</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4-1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中</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如果假定：</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marL="176213" lvl="1" indent="-87313" algn="just">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①每个工厂生产的产品不一定直接发运到销售点</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可以将其中几个产地集中一起运</a:t>
            </a:r>
          </a:p>
          <a:p>
            <a:pPr marL="176213" lvl="1" indent="-87313" algn="just">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②运往各销地的产品可先运给其中几个销地</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再转运其他销地</a:t>
            </a:r>
          </a:p>
          <a:p>
            <a:pPr marL="176213" lvl="1" indent="-87313" algn="just">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③除产、销地之外</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中间还可以有几个转运站</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在产地之间、销地之间或产地与销地间转运</a:t>
            </a:r>
          </a:p>
        </p:txBody>
      </p:sp>
      <p:sp>
        <p:nvSpPr>
          <p:cNvPr id="2" name="文本框 1"/>
          <p:cNvSpPr txBox="1"/>
          <p:nvPr/>
        </p:nvSpPr>
        <p:spPr>
          <a:xfrm>
            <a:off x="-8880" y="188640"/>
            <a:ext cx="9143999" cy="1421928"/>
          </a:xfrm>
          <a:prstGeom prst="rect">
            <a:avLst/>
          </a:prstGeom>
          <a:solidFill>
            <a:schemeClr val="accent1">
              <a:lumMod val="20000"/>
              <a:lumOff val="80000"/>
            </a:schemeClr>
          </a:solidFill>
        </p:spPr>
        <p:txBody>
          <a:bodyPr wrap="square" rtlCol="0">
            <a:spAutoFit/>
          </a:bodyPr>
          <a:lstStyle/>
          <a:p>
            <a:pPr>
              <a:lnSpc>
                <a:spcPct val="120000"/>
              </a:lnSpc>
            </a:pPr>
            <a:r>
              <a:rPr lang="zh-CN" altLang="en-US" b="1" dirty="0">
                <a:latin typeface="微软雅黑" panose="020B0503020204020204" pitchFamily="34" charset="-122"/>
                <a:ea typeface="微软雅黑" panose="020B0503020204020204" pitchFamily="34" charset="-122"/>
              </a:rPr>
              <a:t>在实际工作中</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有一类问题是需要先将物品由产地运到某个中间转运地</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这个转运地可以是产地、销地或中间转运仓库</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然后再运到销售目的地</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这类问题称为</a:t>
            </a:r>
            <a:r>
              <a:rPr lang="zh-CN" altLang="en-US" b="1" dirty="0">
                <a:solidFill>
                  <a:srgbClr val="FF0000"/>
                </a:solidFill>
                <a:latin typeface="微软雅黑" panose="020B0503020204020204" pitchFamily="34" charset="-122"/>
                <a:ea typeface="微软雅黑" panose="020B0503020204020204" pitchFamily="34" charset="-122"/>
              </a:rPr>
              <a:t>转运问题</a:t>
            </a:r>
          </a:p>
        </p:txBody>
      </p:sp>
      <p:pic>
        <p:nvPicPr>
          <p:cNvPr id="5" name="Picture 5">
            <a:extLst>
              <a:ext uri="{FF2B5EF4-FFF2-40B4-BE49-F238E27FC236}">
                <a16:creationId xmlns:a16="http://schemas.microsoft.com/office/drawing/2014/main" id="{7C4643EF-6253-4A1A-B4F1-CB67546B587C}"/>
              </a:ext>
            </a:extLst>
          </p:cNvPr>
          <p:cNvPicPr>
            <a:picLocks noChangeAspect="1"/>
          </p:cNvPicPr>
          <p:nvPr/>
        </p:nvPicPr>
        <p:blipFill>
          <a:blip r:embed="rId2"/>
          <a:stretch>
            <a:fillRect/>
          </a:stretch>
        </p:blipFill>
        <p:spPr>
          <a:xfrm>
            <a:off x="2051720" y="5016500"/>
            <a:ext cx="4392613" cy="1841500"/>
          </a:xfrm>
          <a:prstGeom prst="rect">
            <a:avLst/>
          </a:prstGeom>
          <a:noFill/>
          <a:ln w="9525">
            <a:noFill/>
          </a:ln>
        </p:spPr>
      </p:pic>
      <p:sp>
        <p:nvSpPr>
          <p:cNvPr id="6" name="矩形 5">
            <a:extLst>
              <a:ext uri="{FF2B5EF4-FFF2-40B4-BE49-F238E27FC236}">
                <a16:creationId xmlns:a16="http://schemas.microsoft.com/office/drawing/2014/main" id="{52ACEC8E-EE6E-4358-B41E-6F67E1AABC88}"/>
              </a:ext>
            </a:extLst>
          </p:cNvPr>
          <p:cNvSpPr/>
          <p:nvPr/>
        </p:nvSpPr>
        <p:spPr>
          <a:xfrm>
            <a:off x="6444333" y="5776128"/>
            <a:ext cx="902811" cy="461665"/>
          </a:xfrm>
          <a:prstGeom prst="rect">
            <a:avLst/>
          </a:prstGeom>
          <a:solidFill>
            <a:srgbClr val="FFFF99"/>
          </a:solidFill>
          <a:ln w="9525">
            <a:noFill/>
          </a:ln>
        </p:spPr>
        <p:txBody>
          <a:bodyPr wrap="none">
            <a:spAutoFit/>
          </a:bodyPr>
          <a:lstStyle/>
          <a:p>
            <a:pPr eaLnBrk="1" hangingPunct="1"/>
            <a:r>
              <a:rPr lang="zh-CN" altLang="en-US" b="1"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8" name="矩形 7"/>
          <p:cNvSpPr>
            <a:spLocks noChangeArrowheads="1"/>
          </p:cNvSpPr>
          <p:nvPr/>
        </p:nvSpPr>
        <p:spPr bwMode="auto">
          <a:xfrm>
            <a:off x="-36513" y="5013151"/>
            <a:ext cx="9217024" cy="1827552"/>
          </a:xfrm>
          <a:prstGeom prst="rect">
            <a:avLst/>
          </a:prstGeom>
          <a:solidFill>
            <a:schemeClr val="accent1">
              <a:lumMod val="20000"/>
              <a:lumOff val="80000"/>
            </a:schemeClr>
          </a:solidFill>
          <a:ln>
            <a:noFill/>
          </a:ln>
        </p:spPr>
        <p:txBody>
          <a:bodyPr wrap="squar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lvl="1" indent="0" algn="just">
              <a:lnSpc>
                <a:spcPct val="120000"/>
              </a:lnSpc>
            </a:pPr>
            <a:r>
              <a:rPr lang="zh-CN" altLang="en-US" b="1" dirty="0">
                <a:latin typeface="微软雅黑" panose="020B0503020204020204" pitchFamily="34" charset="-122"/>
                <a:ea typeface="微软雅黑" panose="020B0503020204020204" pitchFamily="34" charset="-122"/>
              </a:rPr>
              <a:t>已知各产地、销地、中间转运站及相互之间每吨产品的运价如表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4-34</a:t>
            </a:r>
            <a:r>
              <a:rPr lang="zh-CN" altLang="en-US" b="1" dirty="0">
                <a:latin typeface="微软雅黑" panose="020B0503020204020204" pitchFamily="34" charset="-122"/>
                <a:ea typeface="微软雅黑" panose="020B0503020204020204" pitchFamily="34" charset="-122"/>
              </a:rPr>
              <a:t>所示</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问在考虑到产销地之间直接运输和非直接运输的各种可能方案的情况下</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如何将三个厂每天生产的产品运往销售地</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使总的运费最少</a:t>
            </a:r>
          </a:p>
        </p:txBody>
      </p:sp>
      <p:sp>
        <p:nvSpPr>
          <p:cNvPr id="3" name="灯片编号占位符 2">
            <a:extLst>
              <a:ext uri="{FF2B5EF4-FFF2-40B4-BE49-F238E27FC236}">
                <a16:creationId xmlns:a16="http://schemas.microsoft.com/office/drawing/2014/main" id="{AF120DC3-1DE0-4C3B-95C3-00E59C7715FE}"/>
              </a:ext>
            </a:extLst>
          </p:cNvPr>
          <p:cNvSpPr>
            <a:spLocks noGrp="1"/>
          </p:cNvSpPr>
          <p:nvPr>
            <p:ph type="sldNum" sz="quarter" idx="12"/>
          </p:nvPr>
        </p:nvSpPr>
        <p:spPr/>
        <p:txBody>
          <a:bodyPr/>
          <a:lstStyle/>
          <a:p>
            <a:pPr>
              <a:defRPr/>
            </a:pPr>
            <a:fld id="{2AE1B59C-883C-4848-BC85-9A12DF2590B2}" type="slidenum">
              <a:rPr lang="en-US" altLang="zh-CN" smtClean="0"/>
              <a:t>83</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7496884" y="4203898"/>
            <a:ext cx="1584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rgbClr val="0033CC"/>
                </a:solidFill>
                <a:latin typeface="微软雅黑" panose="020B0503020204020204" pitchFamily="34" charset="-122"/>
                <a:ea typeface="微软雅黑" panose="020B0503020204020204" pitchFamily="34" charset="-122"/>
              </a:rPr>
              <a:t>表</a:t>
            </a:r>
            <a:r>
              <a:rPr kumimoji="0" lang="en-US" altLang="zh-CN" b="1" dirty="0">
                <a:solidFill>
                  <a:srgbClr val="0033CC"/>
                </a:solidFill>
                <a:latin typeface="Times New Roman" panose="02020603050405020304" pitchFamily="18" charset="0"/>
                <a:ea typeface="微软雅黑" panose="020B0503020204020204" pitchFamily="34" charset="-122"/>
                <a:cs typeface="Times New Roman" panose="02020603050405020304" pitchFamily="18" charset="0"/>
              </a:rPr>
              <a:t>4-34</a:t>
            </a:r>
            <a:endParaRPr kumimoji="0" lang="zh-CN" altLang="en-US" b="1" dirty="0">
              <a:solidFill>
                <a:srgbClr val="00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 name="表格 1"/>
          <p:cNvGraphicFramePr/>
          <p:nvPr>
            <p:custDataLst>
              <p:tags r:id="rId1"/>
            </p:custDataLst>
          </p:nvPr>
        </p:nvGraphicFramePr>
        <p:xfrm>
          <a:off x="972158" y="2132856"/>
          <a:ext cx="6524625" cy="4603750"/>
        </p:xfrm>
        <a:graphic>
          <a:graphicData uri="http://schemas.openxmlformats.org/drawingml/2006/table">
            <a:tbl>
              <a:tblPr firstRow="1" bandRow="1">
                <a:tableStyleId>{5940675A-B579-460E-94D1-54222C63F5DA}</a:tableStyleId>
              </a:tblPr>
              <a:tblGrid>
                <a:gridCol w="551180">
                  <a:extLst>
                    <a:ext uri="{9D8B030D-6E8A-4147-A177-3AD203B41FA5}">
                      <a16:colId xmlns:a16="http://schemas.microsoft.com/office/drawing/2014/main" val="20000"/>
                    </a:ext>
                  </a:extLst>
                </a:gridCol>
                <a:gridCol w="497840">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7205">
                  <a:extLst>
                    <a:ext uri="{9D8B030D-6E8A-4147-A177-3AD203B41FA5}">
                      <a16:colId xmlns:a16="http://schemas.microsoft.com/office/drawing/2014/main" val="20003"/>
                    </a:ext>
                  </a:extLst>
                </a:gridCol>
                <a:gridCol w="499745">
                  <a:extLst>
                    <a:ext uri="{9D8B030D-6E8A-4147-A177-3AD203B41FA5}">
                      <a16:colId xmlns:a16="http://schemas.microsoft.com/office/drawing/2014/main" val="20004"/>
                    </a:ext>
                  </a:extLst>
                </a:gridCol>
                <a:gridCol w="497840">
                  <a:extLst>
                    <a:ext uri="{9D8B030D-6E8A-4147-A177-3AD203B41FA5}">
                      <a16:colId xmlns:a16="http://schemas.microsoft.com/office/drawing/2014/main" val="20005"/>
                    </a:ext>
                  </a:extLst>
                </a:gridCol>
                <a:gridCol w="49720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497205">
                  <a:extLst>
                    <a:ext uri="{9D8B030D-6E8A-4147-A177-3AD203B41FA5}">
                      <a16:colId xmlns:a16="http://schemas.microsoft.com/office/drawing/2014/main" val="20008"/>
                    </a:ext>
                  </a:extLst>
                </a:gridCol>
                <a:gridCol w="499110">
                  <a:extLst>
                    <a:ext uri="{9D8B030D-6E8A-4147-A177-3AD203B41FA5}">
                      <a16:colId xmlns:a16="http://schemas.microsoft.com/office/drawing/2014/main" val="20009"/>
                    </a:ext>
                  </a:extLst>
                </a:gridCol>
                <a:gridCol w="498475">
                  <a:extLst>
                    <a:ext uri="{9D8B030D-6E8A-4147-A177-3AD203B41FA5}">
                      <a16:colId xmlns:a16="http://schemas.microsoft.com/office/drawing/2014/main" val="20010"/>
                    </a:ext>
                  </a:extLst>
                </a:gridCol>
                <a:gridCol w="497205">
                  <a:extLst>
                    <a:ext uri="{9D8B030D-6E8A-4147-A177-3AD203B41FA5}">
                      <a16:colId xmlns:a16="http://schemas.microsoft.com/office/drawing/2014/main" val="20011"/>
                    </a:ext>
                  </a:extLst>
                </a:gridCol>
                <a:gridCol w="497840">
                  <a:extLst>
                    <a:ext uri="{9D8B030D-6E8A-4147-A177-3AD203B41FA5}">
                      <a16:colId xmlns:a16="http://schemas.microsoft.com/office/drawing/2014/main" val="20012"/>
                    </a:ext>
                  </a:extLst>
                </a:gridCol>
              </a:tblGrid>
              <a:tr h="304800">
                <a:tc rowSpan="2" gridSpan="2">
                  <a:txBody>
                    <a:bodyPr/>
                    <a:lstStyle/>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项 目</a:t>
                      </a:r>
                      <a:endParaRPr lang="en-US"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tc gridSpan="3">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产 地</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中 间 转 运 站</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销 地</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36550">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A1</a:t>
                      </a:r>
                      <a:endParaRPr lang="en-US"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A2</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T1</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T2</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T3</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B1</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B2</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B3</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75360">
                <a:tc>
                  <a:txBody>
                    <a:bodyPr/>
                    <a:lstStyle/>
                    <a:p>
                      <a:pPr indent="0">
                        <a:buNone/>
                      </a:pPr>
                      <a:endParaRPr lang="en-US" sz="2000" b="1">
                        <a:latin typeface="Times New Roman" panose="02020603050405020304" pitchFamily="18" charset="0"/>
                        <a:ea typeface="微软雅黑" panose="020B0503020204020204" pitchFamily="34" charset="-122"/>
                        <a:cs typeface="微软雅黑" panose="020B0503020204020204" pitchFamily="34" charset="-122"/>
                      </a:endParaRPr>
                    </a:p>
                    <a:p>
                      <a:pPr indent="0">
                        <a:buNone/>
                      </a:pPr>
                      <a:r>
                        <a:rPr lang="en-US" sz="2000" b="1">
                          <a:latin typeface="Times New Roman" panose="02020603050405020304" pitchFamily="18" charset="0"/>
                          <a:ea typeface="微软雅黑" panose="020B0503020204020204" pitchFamily="34" charset="-122"/>
                          <a:cs typeface="微软雅黑" panose="020B0503020204020204" pitchFamily="34" charset="-122"/>
                        </a:rPr>
                        <a:t>产地</a:t>
                      </a:r>
                      <a:endParaRPr lang="en-US" altLang="en-US" sz="20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A1A2A3</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endParaRPr lang="en-US" sz="2000" b="1">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119</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108</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7595">
                <a:tc>
                  <a:txBody>
                    <a:bodyPr/>
                    <a:lstStyle/>
                    <a:p>
                      <a:pPr indent="0">
                        <a:buNone/>
                      </a:pPr>
                      <a:r>
                        <a:rPr lang="en-US" sz="2000" b="1">
                          <a:latin typeface="Times New Roman" panose="02020603050405020304" pitchFamily="18" charset="0"/>
                          <a:ea typeface="微软雅黑" panose="020B0503020204020204" pitchFamily="34" charset="-122"/>
                          <a:cs typeface="微软雅黑" panose="020B0503020204020204" pitchFamily="34" charset="-122"/>
                        </a:rPr>
                        <a:t>中间转运站</a:t>
                      </a:r>
                      <a:endParaRPr lang="en-US" altLang="en-US" sz="20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T1T2T3T4</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 </a:t>
                      </a:r>
                    </a:p>
                    <a:p>
                      <a:pPr indent="0">
                        <a:buNone/>
                      </a:pPr>
                      <a:endPar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 </a:t>
                      </a:r>
                    </a:p>
                    <a:p>
                      <a:pPr indent="0">
                        <a:buNone/>
                      </a:pPr>
                      <a:endPar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6</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7</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78230">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销地</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B1B2B3B4</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113</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9</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105</a:t>
                      </a:r>
                      <a:endParaRPr lang="en-US"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000"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endParaRPr lang="en-US" sz="20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2 </a:t>
                      </a:r>
                    </a:p>
                    <a:p>
                      <a:pPr indent="0">
                        <a:buNone/>
                      </a:pPr>
                      <a:endParaRPr lang="en-US" sz="2000" b="1">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20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20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4" name="Picture 5">
            <a:extLst>
              <a:ext uri="{FF2B5EF4-FFF2-40B4-BE49-F238E27FC236}">
                <a16:creationId xmlns:a16="http://schemas.microsoft.com/office/drawing/2014/main" id="{2BA4745A-757E-4E80-B4E6-228538967847}"/>
              </a:ext>
            </a:extLst>
          </p:cNvPr>
          <p:cNvPicPr>
            <a:picLocks noChangeAspect="1"/>
          </p:cNvPicPr>
          <p:nvPr/>
        </p:nvPicPr>
        <p:blipFill>
          <a:blip r:embed="rId3"/>
          <a:stretch>
            <a:fillRect/>
          </a:stretch>
        </p:blipFill>
        <p:spPr>
          <a:xfrm>
            <a:off x="1691555" y="121394"/>
            <a:ext cx="4392613" cy="1841500"/>
          </a:xfrm>
          <a:prstGeom prst="rect">
            <a:avLst/>
          </a:prstGeom>
          <a:noFill/>
          <a:ln w="9525">
            <a:noFill/>
          </a:ln>
        </p:spPr>
      </p:pic>
      <p:sp>
        <p:nvSpPr>
          <p:cNvPr id="5" name="矩形 4">
            <a:extLst>
              <a:ext uri="{FF2B5EF4-FFF2-40B4-BE49-F238E27FC236}">
                <a16:creationId xmlns:a16="http://schemas.microsoft.com/office/drawing/2014/main" id="{2E1C1860-F6C9-4414-BF79-A0905DAF3D2C}"/>
              </a:ext>
            </a:extLst>
          </p:cNvPr>
          <p:cNvSpPr/>
          <p:nvPr/>
        </p:nvSpPr>
        <p:spPr>
          <a:xfrm>
            <a:off x="6084168" y="881022"/>
            <a:ext cx="902811" cy="461665"/>
          </a:xfrm>
          <a:prstGeom prst="rect">
            <a:avLst/>
          </a:prstGeom>
          <a:solidFill>
            <a:srgbClr val="FFFF99"/>
          </a:solidFill>
          <a:ln w="9525">
            <a:noFill/>
          </a:ln>
        </p:spPr>
        <p:txBody>
          <a:bodyPr wrap="none">
            <a:spAutoFit/>
          </a:bodyPr>
          <a:lstStyle/>
          <a:p>
            <a:pPr eaLnBrk="1" hangingPunct="1"/>
            <a:r>
              <a:rPr lang="zh-CN" altLang="en-US" b="1" dirty="0">
                <a:latin typeface="微软雅黑" pitchFamily="34" charset="-122"/>
                <a:ea typeface="微软雅黑" pitchFamily="34" charset="-122"/>
              </a:rPr>
              <a:t>表</a:t>
            </a:r>
            <a:r>
              <a:rPr lang="en-US" altLang="zh-CN" dirty="0">
                <a:latin typeface="Times New Roman" panose="02020603050405020304" pitchFamily="18" charset="0"/>
                <a:ea typeface="微软雅黑" pitchFamily="34" charset="-122"/>
                <a:cs typeface="Times New Roman" panose="02020603050405020304" pitchFamily="18" charset="0"/>
              </a:rPr>
              <a:t>4-4</a:t>
            </a:r>
            <a:endParaRPr lang="zh-CN" altLang="en-US" dirty="0">
              <a:latin typeface="Times New Roman" panose="02020603050405020304" pitchFamily="18" charset="0"/>
              <a:ea typeface="微软雅黑" pitchFamily="34"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0F84D2F9-FA23-47D4-A61B-80419C1416D7}"/>
              </a:ext>
            </a:extLst>
          </p:cNvPr>
          <p:cNvSpPr>
            <a:spLocks noGrp="1"/>
          </p:cNvSpPr>
          <p:nvPr>
            <p:ph type="sldNum" sz="quarter" idx="12"/>
          </p:nvPr>
        </p:nvSpPr>
        <p:spPr/>
        <p:txBody>
          <a:bodyPr/>
          <a:lstStyle/>
          <a:p>
            <a:pPr>
              <a:defRPr/>
            </a:pPr>
            <a:fld id="{2AE1B59C-883C-4848-BC85-9A12DF2590B2}" type="slidenum">
              <a:rPr lang="en-US" altLang="zh-CN" smtClean="0"/>
              <a:t>84</a:t>
            </a:fld>
            <a:endParaRPr lang="en-US" altLang="zh-CN"/>
          </a:p>
        </p:txBody>
      </p:sp>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25425" y="2853055"/>
          <a:ext cx="8811260" cy="3947160"/>
        </p:xfrm>
        <a:graphic>
          <a:graphicData uri="http://schemas.openxmlformats.org/drawingml/2006/table">
            <a:tbl>
              <a:tblPr firstRow="1" bandRow="1">
                <a:tableStyleId>{5940675A-B579-460E-94D1-54222C63F5DA}</a:tableStyleId>
              </a:tblPr>
              <a:tblGrid>
                <a:gridCol w="621665">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605790">
                  <a:extLst>
                    <a:ext uri="{9D8B030D-6E8A-4147-A177-3AD203B41FA5}">
                      <a16:colId xmlns:a16="http://schemas.microsoft.com/office/drawing/2014/main" val="20002"/>
                    </a:ext>
                  </a:extLst>
                </a:gridCol>
                <a:gridCol w="708025">
                  <a:extLst>
                    <a:ext uri="{9D8B030D-6E8A-4147-A177-3AD203B41FA5}">
                      <a16:colId xmlns:a16="http://schemas.microsoft.com/office/drawing/2014/main" val="20003"/>
                    </a:ext>
                  </a:extLst>
                </a:gridCol>
                <a:gridCol w="711835">
                  <a:extLst>
                    <a:ext uri="{9D8B030D-6E8A-4147-A177-3AD203B41FA5}">
                      <a16:colId xmlns:a16="http://schemas.microsoft.com/office/drawing/2014/main" val="20004"/>
                    </a:ext>
                  </a:extLst>
                </a:gridCol>
                <a:gridCol w="708660">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708660">
                  <a:extLst>
                    <a:ext uri="{9D8B030D-6E8A-4147-A177-3AD203B41FA5}">
                      <a16:colId xmlns:a16="http://schemas.microsoft.com/office/drawing/2014/main" val="20007"/>
                    </a:ext>
                  </a:extLst>
                </a:gridCol>
                <a:gridCol w="708660">
                  <a:extLst>
                    <a:ext uri="{9D8B030D-6E8A-4147-A177-3AD203B41FA5}">
                      <a16:colId xmlns:a16="http://schemas.microsoft.com/office/drawing/2014/main" val="20008"/>
                    </a:ext>
                  </a:extLst>
                </a:gridCol>
                <a:gridCol w="710565">
                  <a:extLst>
                    <a:ext uri="{9D8B030D-6E8A-4147-A177-3AD203B41FA5}">
                      <a16:colId xmlns:a16="http://schemas.microsoft.com/office/drawing/2014/main" val="20009"/>
                    </a:ext>
                  </a:extLst>
                </a:gridCol>
                <a:gridCol w="709295">
                  <a:extLst>
                    <a:ext uri="{9D8B030D-6E8A-4147-A177-3AD203B41FA5}">
                      <a16:colId xmlns:a16="http://schemas.microsoft.com/office/drawing/2014/main" val="20010"/>
                    </a:ext>
                  </a:extLst>
                </a:gridCol>
                <a:gridCol w="708025">
                  <a:extLst>
                    <a:ext uri="{9D8B030D-6E8A-4147-A177-3AD203B41FA5}">
                      <a16:colId xmlns:a16="http://schemas.microsoft.com/office/drawing/2014/main" val="20011"/>
                    </a:ext>
                  </a:extLst>
                </a:gridCol>
                <a:gridCol w="719455">
                  <a:extLst>
                    <a:ext uri="{9D8B030D-6E8A-4147-A177-3AD203B41FA5}">
                      <a16:colId xmlns:a16="http://schemas.microsoft.com/office/drawing/2014/main" val="20012"/>
                    </a:ext>
                  </a:extLst>
                </a:gridCol>
              </a:tblGrid>
              <a:tr h="350520">
                <a:tc rowSpan="2" gridSpan="2">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项 目</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tc gridSpan="3">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产 地</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中 间 转 运 站</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销 地</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81000">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9140">
                <a:tc>
                  <a:txBody>
                    <a:bodyPr/>
                    <a:lstStyle/>
                    <a:p>
                      <a:pPr indent="0">
                        <a:buNone/>
                      </a:pPr>
                      <a:endParaRPr lang="en-US" sz="1600" b="1">
                        <a:latin typeface="Times New Roman" panose="02020603050405020304" pitchFamily="18" charset="0"/>
                        <a:ea typeface="微软雅黑" panose="020B0503020204020204" pitchFamily="34" charset="-122"/>
                        <a:cs typeface="微软雅黑" panose="020B0503020204020204" pitchFamily="34" charset="-122"/>
                      </a:endParaRPr>
                    </a:p>
                    <a:p>
                      <a:pPr indent="0">
                        <a:buNone/>
                      </a:pPr>
                      <a:r>
                        <a:rPr lang="en-US" sz="1600" b="1">
                          <a:latin typeface="Times New Roman" panose="02020603050405020304" pitchFamily="18" charset="0"/>
                          <a:ea typeface="微软雅黑" panose="020B0503020204020204" pitchFamily="34" charset="-122"/>
                          <a:cs typeface="微软雅黑" panose="020B0503020204020204" pitchFamily="34" charset="-122"/>
                        </a:rPr>
                        <a:t>产地</a:t>
                      </a:r>
                      <a:endParaRPr lang="en-US" altLang="en-US" sz="16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a:latin typeface="Times New Roman" panose="02020603050405020304" pitchFamily="18" charset="0"/>
                          <a:ea typeface="微软雅黑" panose="020B0503020204020204" pitchFamily="34" charset="-122"/>
                          <a:cs typeface="Times New Roman" panose="02020603050405020304" pitchFamily="18" charset="0"/>
                        </a:rPr>
                        <a:t>A1A2A3</a:t>
                      </a:r>
                      <a:endParaRPr lang="en-US" altLang="en-US" sz="18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endParaRPr lang="en-US" sz="1600" b="1">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9</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51560">
                <a:tc>
                  <a:txBody>
                    <a:bodyPr/>
                    <a:lstStyle/>
                    <a:p>
                      <a:pPr indent="0">
                        <a:buNone/>
                      </a:pPr>
                      <a:r>
                        <a:rPr lang="en-US" sz="1600" b="1">
                          <a:latin typeface="Times New Roman" panose="02020603050405020304" pitchFamily="18" charset="0"/>
                          <a:ea typeface="微软雅黑" panose="020B0503020204020204" pitchFamily="34" charset="-122"/>
                          <a:cs typeface="微软雅黑" panose="020B0503020204020204" pitchFamily="34" charset="-122"/>
                        </a:rPr>
                        <a:t>中间转运站</a:t>
                      </a:r>
                      <a:endParaRPr lang="en-US" altLang="en-US" sz="16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a:latin typeface="Times New Roman" panose="02020603050405020304" pitchFamily="18" charset="0"/>
                          <a:ea typeface="微软雅黑" panose="020B0503020204020204" pitchFamily="34" charset="-122"/>
                          <a:cs typeface="Times New Roman" panose="02020603050405020304" pitchFamily="18" charset="0"/>
                        </a:rPr>
                        <a:t>T1T2T3T4</a:t>
                      </a:r>
                      <a:endParaRPr lang="en-US" altLang="en-US" sz="18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 </a:t>
                      </a:r>
                    </a:p>
                    <a:p>
                      <a:pPr indent="0" algn="ctr">
                        <a:buNone/>
                      </a:pPr>
                      <a:endParaRPr lang="en-US" sz="1600" b="1">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 </a:t>
                      </a:r>
                    </a:p>
                    <a:p>
                      <a:pPr indent="0" algn="ctr">
                        <a:buNone/>
                      </a:pPr>
                      <a:endParaRPr lang="en-US" sz="1600" b="1">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43000">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销地</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a:latin typeface="Times New Roman" panose="02020603050405020304" pitchFamily="18" charset="0"/>
                          <a:ea typeface="微软雅黑" panose="020B0503020204020204" pitchFamily="34" charset="-122"/>
                          <a:cs typeface="Times New Roman" panose="02020603050405020304" pitchFamily="18" charset="0"/>
                        </a:rPr>
                        <a:t>B1B2B3B4</a:t>
                      </a:r>
                      <a:endParaRPr lang="en-US" altLang="en-US" sz="18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11</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9</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114000"/>
                        </a:lnSpc>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114000"/>
                        </a:lnSpc>
                        <a:buNone/>
                      </a:pPr>
                      <a:endParaRPr lang="en-US"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 </a:t>
                      </a:r>
                    </a:p>
                    <a:p>
                      <a:pPr indent="0" algn="ctr">
                        <a:lnSpc>
                          <a:spcPct val="114000"/>
                        </a:lnSpc>
                        <a:buNone/>
                      </a:pPr>
                      <a:endParaRPr lang="en-US"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114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196" name="文本框 7"/>
          <p:cNvSpPr txBox="1">
            <a:spLocks noChangeArrowheads="1"/>
          </p:cNvSpPr>
          <p:nvPr/>
        </p:nvSpPr>
        <p:spPr bwMode="auto">
          <a:xfrm>
            <a:off x="0" y="-10109"/>
            <a:ext cx="9144000" cy="2713948"/>
          </a:xfrm>
          <a:prstGeom prst="rect">
            <a:avLst/>
          </a:prstGeom>
          <a:solidFill>
            <a:schemeClr val="accent1">
              <a:lumMod val="20000"/>
              <a:lumOff val="80000"/>
            </a:schemeClr>
          </a:solidFill>
          <a:ln>
            <a:noFill/>
          </a:ln>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解：从表</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4-34</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中看出</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从</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到</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B2</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每吨产品的直接运费为</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元</a:t>
            </a:r>
            <a:endParaRPr kumimoji="0" lang="en-US" altLang="zh-CN" b="1" dirty="0">
              <a:latin typeface="仿宋" panose="02010609060101010101" pitchFamily="49" charset="-122"/>
              <a:ea typeface="仿宋" panose="02010609060101010101" pitchFamily="49" charset="-122"/>
              <a:cs typeface="Times New Roman" panose="02020603050405020304" pitchFamily="18" charset="0"/>
            </a:endParaRPr>
          </a:p>
          <a:p>
            <a:pPr>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如从</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经</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A3</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运往</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B2</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每吨运价为</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3+4=7</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元</a:t>
            </a:r>
            <a:endParaRPr kumimoji="0" lang="en-US" altLang="zh-CN" b="1" dirty="0">
              <a:latin typeface="仿宋" panose="02010609060101010101" pitchFamily="49" charset="-122"/>
              <a:ea typeface="仿宋" panose="02010609060101010101" pitchFamily="49" charset="-122"/>
              <a:cs typeface="Times New Roman" panose="02020603050405020304" pitchFamily="18" charset="0"/>
            </a:endParaRPr>
          </a:p>
          <a:p>
            <a:pPr>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   从</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经</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T2</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运往</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B2</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只需</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1+5=6</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元</a:t>
            </a:r>
            <a:endParaRPr kumimoji="0" lang="en-US" altLang="zh-CN" b="1" dirty="0">
              <a:latin typeface="仿宋" panose="02010609060101010101" pitchFamily="49" charset="-122"/>
              <a:ea typeface="仿宋" panose="02010609060101010101" pitchFamily="49" charset="-122"/>
              <a:cs typeface="Times New Roman" panose="02020603050405020304" pitchFamily="18" charset="0"/>
            </a:endParaRPr>
          </a:p>
          <a:p>
            <a:pPr>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   而从</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到</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B2</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运费最少的路径是从</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经</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A2</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B1</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到</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B2</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每吨产品的运费只需</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1+1+1=3</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元</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可见这个问题中从每个产地到各销地之间的运输方案是很多的</a:t>
            </a:r>
          </a:p>
        </p:txBody>
      </p:sp>
      <p:cxnSp>
        <p:nvCxnSpPr>
          <p:cNvPr id="3" name="直接箭头连接符 2"/>
          <p:cNvCxnSpPr>
            <a:cxnSpLocks/>
          </p:cNvCxnSpPr>
          <p:nvPr/>
        </p:nvCxnSpPr>
        <p:spPr bwMode="auto">
          <a:xfrm>
            <a:off x="1187490" y="3789293"/>
            <a:ext cx="5976798" cy="0"/>
          </a:xfrm>
          <a:prstGeom prst="straightConnector1">
            <a:avLst/>
          </a:prstGeom>
          <a:solidFill>
            <a:schemeClr val="accent1"/>
          </a:solidFill>
          <a:ln w="28575" cap="flat" cmpd="sng" algn="ctr">
            <a:solidFill>
              <a:srgbClr val="FF0000"/>
            </a:solidFill>
            <a:prstDash val="solid"/>
            <a:miter lim="800000"/>
            <a:headEnd type="none" w="med" len="med"/>
            <a:tailEnd type="triangle"/>
          </a:ln>
          <a:effectLst/>
        </p:spPr>
      </p:cxnSp>
      <p:cxnSp>
        <p:nvCxnSpPr>
          <p:cNvPr id="12" name="直接箭头连接符 11"/>
          <p:cNvCxnSpPr>
            <a:cxnSpLocks/>
          </p:cNvCxnSpPr>
          <p:nvPr/>
        </p:nvCxnSpPr>
        <p:spPr bwMode="auto">
          <a:xfrm>
            <a:off x="1259880" y="3717032"/>
            <a:ext cx="1727944" cy="0"/>
          </a:xfrm>
          <a:prstGeom prst="straightConnector1">
            <a:avLst/>
          </a:prstGeom>
          <a:solidFill>
            <a:schemeClr val="accent1"/>
          </a:solidFill>
          <a:ln w="28575" cap="flat" cmpd="sng" algn="ctr">
            <a:solidFill>
              <a:srgbClr val="0000FF"/>
            </a:solidFill>
            <a:prstDash val="solid"/>
            <a:miter lim="800000"/>
            <a:headEnd type="none" w="med" len="med"/>
            <a:tailEnd type="triangle"/>
          </a:ln>
          <a:effectLst/>
        </p:spPr>
      </p:cxnSp>
      <p:cxnSp>
        <p:nvCxnSpPr>
          <p:cNvPr id="15" name="直接箭头连接符 14"/>
          <p:cNvCxnSpPr>
            <a:cxnSpLocks/>
          </p:cNvCxnSpPr>
          <p:nvPr/>
        </p:nvCxnSpPr>
        <p:spPr bwMode="auto">
          <a:xfrm flipV="1">
            <a:off x="1259880" y="4204394"/>
            <a:ext cx="5904408" cy="16059"/>
          </a:xfrm>
          <a:prstGeom prst="straightConnector1">
            <a:avLst/>
          </a:prstGeom>
          <a:solidFill>
            <a:schemeClr val="accent1"/>
          </a:solidFill>
          <a:ln w="28575" cap="flat" cmpd="sng" algn="ctr">
            <a:solidFill>
              <a:srgbClr val="0000FF"/>
            </a:solidFill>
            <a:prstDash val="solid"/>
            <a:miter lim="800000"/>
            <a:headEnd type="none" w="med" len="med"/>
            <a:tailEnd type="triangle"/>
          </a:ln>
          <a:effectLst/>
        </p:spPr>
      </p:cxnSp>
      <p:cxnSp>
        <p:nvCxnSpPr>
          <p:cNvPr id="17" name="直接箭头连接符 16"/>
          <p:cNvCxnSpPr>
            <a:cxnSpLocks/>
          </p:cNvCxnSpPr>
          <p:nvPr/>
        </p:nvCxnSpPr>
        <p:spPr bwMode="auto">
          <a:xfrm flipV="1">
            <a:off x="1331506" y="3645401"/>
            <a:ext cx="3024470" cy="1"/>
          </a:xfrm>
          <a:prstGeom prst="straightConnector1">
            <a:avLst/>
          </a:prstGeom>
          <a:solidFill>
            <a:schemeClr val="accent1"/>
          </a:solidFill>
          <a:ln w="28575" cap="flat" cmpd="sng" algn="ctr">
            <a:solidFill>
              <a:srgbClr val="CC0099"/>
            </a:solidFill>
            <a:prstDash val="solid"/>
            <a:miter lim="800000"/>
            <a:headEnd type="none" w="med" len="med"/>
            <a:tailEnd type="triangle"/>
          </a:ln>
          <a:effectLst/>
        </p:spPr>
      </p:cxnSp>
      <p:cxnSp>
        <p:nvCxnSpPr>
          <p:cNvPr id="19" name="直接箭头连接符 18"/>
          <p:cNvCxnSpPr>
            <a:cxnSpLocks/>
          </p:cNvCxnSpPr>
          <p:nvPr/>
        </p:nvCxnSpPr>
        <p:spPr bwMode="auto">
          <a:xfrm>
            <a:off x="1331635" y="4941168"/>
            <a:ext cx="5832653" cy="0"/>
          </a:xfrm>
          <a:prstGeom prst="straightConnector1">
            <a:avLst/>
          </a:prstGeom>
          <a:solidFill>
            <a:schemeClr val="accent1"/>
          </a:solidFill>
          <a:ln w="28575" cap="flat" cmpd="sng" algn="ctr">
            <a:solidFill>
              <a:srgbClr val="CC0099"/>
            </a:solidFill>
            <a:prstDash val="solid"/>
            <a:miter lim="800000"/>
            <a:headEnd type="none" w="med" len="med"/>
            <a:tailEnd type="triangle"/>
          </a:ln>
          <a:effectLst/>
        </p:spPr>
      </p:cxnSp>
      <p:cxnSp>
        <p:nvCxnSpPr>
          <p:cNvPr id="10" name="直接箭头连接符 9"/>
          <p:cNvCxnSpPr/>
          <p:nvPr/>
        </p:nvCxnSpPr>
        <p:spPr bwMode="auto">
          <a:xfrm flipV="1">
            <a:off x="1331505" y="3860317"/>
            <a:ext cx="936239" cy="415"/>
          </a:xfrm>
          <a:prstGeom prst="straightConnector1">
            <a:avLst/>
          </a:prstGeom>
          <a:solidFill>
            <a:schemeClr val="accent1"/>
          </a:solidFill>
          <a:ln w="28575" cap="flat" cmpd="sng" algn="ctr">
            <a:solidFill>
              <a:srgbClr val="02E0FE"/>
            </a:solidFill>
            <a:prstDash val="solid"/>
            <a:miter lim="800000"/>
            <a:headEnd type="none" w="med" len="med"/>
            <a:tailEnd type="triangle"/>
          </a:ln>
          <a:effectLst/>
        </p:spPr>
      </p:cxnSp>
      <p:cxnSp>
        <p:nvCxnSpPr>
          <p:cNvPr id="14" name="直接箭头连接符 13"/>
          <p:cNvCxnSpPr>
            <a:cxnSpLocks/>
          </p:cNvCxnSpPr>
          <p:nvPr/>
        </p:nvCxnSpPr>
        <p:spPr bwMode="auto">
          <a:xfrm>
            <a:off x="1331505" y="3968948"/>
            <a:ext cx="5184711" cy="16694"/>
          </a:xfrm>
          <a:prstGeom prst="straightConnector1">
            <a:avLst/>
          </a:prstGeom>
          <a:solidFill>
            <a:schemeClr val="accent1"/>
          </a:solidFill>
          <a:ln w="28575" cap="flat" cmpd="sng" algn="ctr">
            <a:solidFill>
              <a:srgbClr val="02E0FE"/>
            </a:solidFill>
            <a:prstDash val="solid"/>
            <a:miter lim="800000"/>
            <a:headEnd type="none" w="med" len="med"/>
            <a:tailEnd type="triangle"/>
          </a:ln>
          <a:effectLst/>
        </p:spPr>
      </p:cxnSp>
      <p:cxnSp>
        <p:nvCxnSpPr>
          <p:cNvPr id="16" name="直接箭头连接符 15"/>
          <p:cNvCxnSpPr/>
          <p:nvPr/>
        </p:nvCxnSpPr>
        <p:spPr bwMode="auto">
          <a:xfrm>
            <a:off x="1331504" y="5805264"/>
            <a:ext cx="5904792" cy="0"/>
          </a:xfrm>
          <a:prstGeom prst="straightConnector1">
            <a:avLst/>
          </a:prstGeom>
          <a:solidFill>
            <a:schemeClr val="accent1"/>
          </a:solidFill>
          <a:ln w="28575" cap="flat" cmpd="sng" algn="ctr">
            <a:solidFill>
              <a:srgbClr val="02E0FE"/>
            </a:solidFill>
            <a:prstDash val="solid"/>
            <a:miter lim="800000"/>
            <a:headEnd type="none" w="med" len="med"/>
            <a:tailEnd type="triangle"/>
          </a:ln>
          <a:effectLst/>
        </p:spPr>
      </p:cxnSp>
      <p:sp>
        <p:nvSpPr>
          <p:cNvPr id="4" name="灯片编号占位符 3">
            <a:extLst>
              <a:ext uri="{FF2B5EF4-FFF2-40B4-BE49-F238E27FC236}">
                <a16:creationId xmlns:a16="http://schemas.microsoft.com/office/drawing/2014/main" id="{96F0171B-209C-40D5-B4C1-9B289791FD51}"/>
              </a:ext>
            </a:extLst>
          </p:cNvPr>
          <p:cNvSpPr>
            <a:spLocks noGrp="1"/>
          </p:cNvSpPr>
          <p:nvPr>
            <p:ph type="sldNum" sz="quarter" idx="12"/>
          </p:nvPr>
        </p:nvSpPr>
        <p:spPr/>
        <p:txBody>
          <a:bodyPr/>
          <a:lstStyle/>
          <a:p>
            <a:pPr>
              <a:defRPr/>
            </a:pPr>
            <a:fld id="{2AE1B59C-883C-4848-BC85-9A12DF2590B2}" type="slidenum">
              <a:rPr lang="en-US" altLang="zh-CN" smtClean="0"/>
              <a:t>85</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750"/>
                                        <p:tgtEl>
                                          <p:spTgt spid="12"/>
                                        </p:tgtEl>
                                      </p:cBhvr>
                                    </p:animEffect>
                                    <p:anim calcmode="lin" valueType="num">
                                      <p:cBhvr>
                                        <p:cTn id="19" dur="750" fill="hold"/>
                                        <p:tgtEl>
                                          <p:spTgt spid="12"/>
                                        </p:tgtEl>
                                        <p:attrNameLst>
                                          <p:attrName>ppt_x</p:attrName>
                                        </p:attrNameLst>
                                      </p:cBhvr>
                                      <p:tavLst>
                                        <p:tav tm="0">
                                          <p:val>
                                            <p:strVal val="#ppt_x"/>
                                          </p:val>
                                        </p:tav>
                                        <p:tav tm="100000">
                                          <p:val>
                                            <p:strVal val="#ppt_x"/>
                                          </p:val>
                                        </p:tav>
                                      </p:tavLst>
                                    </p:anim>
                                    <p:anim calcmode="lin" valueType="num">
                                      <p:cBhvr>
                                        <p:cTn id="20" dur="750" fill="hold"/>
                                        <p:tgtEl>
                                          <p:spTgt spid="12"/>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750"/>
                                        <p:tgtEl>
                                          <p:spTgt spid="15"/>
                                        </p:tgtEl>
                                      </p:cBhvr>
                                    </p:animEffect>
                                    <p:anim calcmode="lin" valueType="num">
                                      <p:cBhvr>
                                        <p:cTn id="24" dur="750" fill="hold"/>
                                        <p:tgtEl>
                                          <p:spTgt spid="15"/>
                                        </p:tgtEl>
                                        <p:attrNameLst>
                                          <p:attrName>ppt_x</p:attrName>
                                        </p:attrNameLst>
                                      </p:cBhvr>
                                      <p:tavLst>
                                        <p:tav tm="0">
                                          <p:val>
                                            <p:strVal val="#ppt_x"/>
                                          </p:val>
                                        </p:tav>
                                        <p:tav tm="100000">
                                          <p:val>
                                            <p:strVal val="#ppt_x"/>
                                          </p:val>
                                        </p:tav>
                                      </p:tavLst>
                                    </p:anim>
                                    <p:anim calcmode="lin" valueType="num">
                                      <p:cBhvr>
                                        <p:cTn id="25" dur="75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750"/>
                                        <p:tgtEl>
                                          <p:spTgt spid="17"/>
                                        </p:tgtEl>
                                      </p:cBhvr>
                                    </p:animEffect>
                                    <p:anim calcmode="lin" valueType="num">
                                      <p:cBhvr>
                                        <p:cTn id="35" dur="750" fill="hold"/>
                                        <p:tgtEl>
                                          <p:spTgt spid="17"/>
                                        </p:tgtEl>
                                        <p:attrNameLst>
                                          <p:attrName>ppt_x</p:attrName>
                                        </p:attrNameLst>
                                      </p:cBhvr>
                                      <p:tavLst>
                                        <p:tav tm="0">
                                          <p:val>
                                            <p:strVal val="#ppt_x"/>
                                          </p:val>
                                        </p:tav>
                                        <p:tav tm="100000">
                                          <p:val>
                                            <p:strVal val="#ppt_x"/>
                                          </p:val>
                                        </p:tav>
                                      </p:tavLst>
                                    </p:anim>
                                    <p:anim calcmode="lin" valueType="num">
                                      <p:cBhvr>
                                        <p:cTn id="36" dur="750" fill="hold"/>
                                        <p:tgtEl>
                                          <p:spTgt spid="17"/>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750"/>
                                        <p:tgtEl>
                                          <p:spTgt spid="19"/>
                                        </p:tgtEl>
                                      </p:cBhvr>
                                    </p:animEffect>
                                    <p:anim calcmode="lin" valueType="num">
                                      <p:cBhvr>
                                        <p:cTn id="40" dur="750" fill="hold"/>
                                        <p:tgtEl>
                                          <p:spTgt spid="19"/>
                                        </p:tgtEl>
                                        <p:attrNameLst>
                                          <p:attrName>ppt_x</p:attrName>
                                        </p:attrNameLst>
                                      </p:cBhvr>
                                      <p:tavLst>
                                        <p:tav tm="0">
                                          <p:val>
                                            <p:strVal val="#ppt_x"/>
                                          </p:val>
                                        </p:tav>
                                        <p:tav tm="100000">
                                          <p:val>
                                            <p:strVal val="#ppt_x"/>
                                          </p:val>
                                        </p:tav>
                                      </p:tavLst>
                                    </p:anim>
                                    <p:anim calcmode="lin" valueType="num">
                                      <p:cBhvr>
                                        <p:cTn id="41" dur="75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750"/>
                                        <p:tgtEl>
                                          <p:spTgt spid="10"/>
                                        </p:tgtEl>
                                      </p:cBhvr>
                                    </p:animEffect>
                                    <p:anim calcmode="lin" valueType="num">
                                      <p:cBhvr>
                                        <p:cTn id="51" dur="750" fill="hold"/>
                                        <p:tgtEl>
                                          <p:spTgt spid="10"/>
                                        </p:tgtEl>
                                        <p:attrNameLst>
                                          <p:attrName>ppt_x</p:attrName>
                                        </p:attrNameLst>
                                      </p:cBhvr>
                                      <p:tavLst>
                                        <p:tav tm="0">
                                          <p:val>
                                            <p:strVal val="#ppt_x"/>
                                          </p:val>
                                        </p:tav>
                                        <p:tav tm="100000">
                                          <p:val>
                                            <p:strVal val="#ppt_x"/>
                                          </p:val>
                                        </p:tav>
                                      </p:tavLst>
                                    </p:anim>
                                    <p:anim calcmode="lin" valueType="num">
                                      <p:cBhvr>
                                        <p:cTn id="52" dur="750" fill="hold"/>
                                        <p:tgtEl>
                                          <p:spTgt spid="10"/>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750"/>
                                        <p:tgtEl>
                                          <p:spTgt spid="14"/>
                                        </p:tgtEl>
                                      </p:cBhvr>
                                    </p:animEffect>
                                    <p:anim calcmode="lin" valueType="num">
                                      <p:cBhvr>
                                        <p:cTn id="56" dur="750" fill="hold"/>
                                        <p:tgtEl>
                                          <p:spTgt spid="14"/>
                                        </p:tgtEl>
                                        <p:attrNameLst>
                                          <p:attrName>ppt_x</p:attrName>
                                        </p:attrNameLst>
                                      </p:cBhvr>
                                      <p:tavLst>
                                        <p:tav tm="0">
                                          <p:val>
                                            <p:strVal val="#ppt_x"/>
                                          </p:val>
                                        </p:tav>
                                        <p:tav tm="100000">
                                          <p:val>
                                            <p:strVal val="#ppt_x"/>
                                          </p:val>
                                        </p:tav>
                                      </p:tavLst>
                                    </p:anim>
                                    <p:anim calcmode="lin" valueType="num">
                                      <p:cBhvr>
                                        <p:cTn id="57" dur="75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750"/>
                                        <p:tgtEl>
                                          <p:spTgt spid="16"/>
                                        </p:tgtEl>
                                      </p:cBhvr>
                                    </p:animEffect>
                                    <p:anim calcmode="lin" valueType="num">
                                      <p:cBhvr>
                                        <p:cTn id="61" dur="750" fill="hold"/>
                                        <p:tgtEl>
                                          <p:spTgt spid="16"/>
                                        </p:tgtEl>
                                        <p:attrNameLst>
                                          <p:attrName>ppt_x</p:attrName>
                                        </p:attrNameLst>
                                      </p:cBhvr>
                                      <p:tavLst>
                                        <p:tav tm="0">
                                          <p:val>
                                            <p:strVal val="#ppt_x"/>
                                          </p:val>
                                        </p:tav>
                                        <p:tav tm="100000">
                                          <p:val>
                                            <p:strVal val="#ppt_x"/>
                                          </p:val>
                                        </p:tav>
                                      </p:tavLst>
                                    </p:anim>
                                    <p:anim calcmode="lin" valueType="num">
                                      <p:cBhvr>
                                        <p:cTn id="62" dur="7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0" y="1556792"/>
            <a:ext cx="9144001" cy="830997"/>
          </a:xfrm>
          <a:prstGeom prst="rect">
            <a:avLst/>
          </a:prstGeom>
          <a:solidFill>
            <a:schemeClr val="accent1">
              <a:lumMod val="20000"/>
              <a:lumOff val="80000"/>
            </a:schemeClr>
          </a:solidFill>
        </p:spPr>
        <p:txBody>
          <a:bodyPr wrap="square">
            <a:spAutoFit/>
          </a:bodyPr>
          <a:lstStyle/>
          <a:p>
            <a:pPr marL="442913" lvl="1" indent="-442913" algn="just">
              <a:defRPr/>
            </a:pP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对扩大的运输问题建立单位运价表。将表</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4-34</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中不可能的运输方案的运价</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用任意大的正数</a:t>
            </a:r>
            <a:r>
              <a:rPr kumimoji="0"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代替</a:t>
            </a:r>
          </a:p>
        </p:txBody>
      </p:sp>
      <p:sp>
        <p:nvSpPr>
          <p:cNvPr id="7" name="文本框 8"/>
          <p:cNvSpPr txBox="1">
            <a:spLocks noChangeArrowheads="1"/>
          </p:cNvSpPr>
          <p:nvPr/>
        </p:nvSpPr>
        <p:spPr bwMode="auto">
          <a:xfrm>
            <a:off x="-32722" y="0"/>
            <a:ext cx="9176722" cy="1569660"/>
          </a:xfrm>
          <a:prstGeom prst="rect">
            <a:avLst/>
          </a:prstGeom>
          <a:solidFill>
            <a:schemeClr val="accent2">
              <a:lumMod val="40000"/>
              <a:lumOff val="60000"/>
            </a:schemeClr>
          </a:solidFill>
          <a:ln>
            <a:noFill/>
          </a:ln>
        </p:spPr>
        <p:txBody>
          <a:bodyPr wrap="squar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algn="just"/>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为了把这个问题仍当作一般的运输问题处理</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可以这样做：</a:t>
            </a:r>
            <a:endPar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lvl="1" indent="-368300" algn="just"/>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(1)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由于问题中所有产地、中间转运站、销地都可以看作产地</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又可看作销地。因此把整个问题当作有</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11</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个产地</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和</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11</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个销地</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的扩大的运输问题</a:t>
            </a:r>
          </a:p>
        </p:txBody>
      </p:sp>
      <p:sp>
        <p:nvSpPr>
          <p:cNvPr id="10" name="文本框 9"/>
          <p:cNvSpPr txBox="1"/>
          <p:nvPr/>
        </p:nvSpPr>
        <p:spPr>
          <a:xfrm>
            <a:off x="-32721" y="2420888"/>
            <a:ext cx="9176722" cy="1200329"/>
          </a:xfrm>
          <a:prstGeom prst="rect">
            <a:avLst/>
          </a:prstGeom>
          <a:solidFill>
            <a:srgbClr val="FFCCFF"/>
          </a:solidFill>
        </p:spPr>
        <p:txBody>
          <a:bodyPr wrap="square">
            <a:spAutoFit/>
          </a:bodyPr>
          <a:lstStyle/>
          <a:p>
            <a:pPr lvl="1" indent="-457200" algn="just">
              <a:defRPr/>
            </a:pP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(3)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所有中间转运站的产量等于销量。由于运费最少时</a:t>
            </a:r>
            <a:r>
              <a:rPr kumimoji="0" lang="zh-CN" altLang="en-US" b="1"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不可能出现一批物资来回</a:t>
            </a:r>
            <a:r>
              <a:rPr kumimoji="0" lang="zh-CN" altLang="en-US" b="1" dirty="0">
                <a:solidFill>
                  <a:srgbClr val="FF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倒运</a:t>
            </a:r>
            <a:r>
              <a:rPr kumimoji="0" lang="zh-CN" altLang="en-US" b="1"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的现象</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所以每个转运站的转运数</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不超过</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吨</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。可以规定</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T1</a:t>
            </a:r>
            <a:r>
              <a:rPr kumimoji="0" lang="zh-CN" altLang="en-US" b="1" dirty="0">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T2</a:t>
            </a:r>
            <a:r>
              <a:rPr kumimoji="0" lang="zh-CN" altLang="en-US" b="1" dirty="0">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T3</a:t>
            </a:r>
            <a:r>
              <a:rPr kumimoji="0" lang="zh-CN" altLang="en-US" b="1" dirty="0">
                <a:latin typeface="Times New Roman" panose="02020603050405020304" pitchFamily="18" charset="0"/>
                <a:ea typeface="仿宋" panose="02010609060101010101" pitchFamily="49" charset="-122"/>
                <a:cs typeface="Times New Roman" panose="02020603050405020304" pitchFamily="18" charset="0"/>
              </a:rPr>
              <a:t>，</a:t>
            </a: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T4</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的产量和销量</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均为</a:t>
            </a:r>
            <a:r>
              <a:rPr kumimoji="0"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吨</a:t>
            </a:r>
            <a:endPar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170039B-E031-433A-83F8-5681C8237DA7}"/>
              </a:ext>
            </a:extLst>
          </p:cNvPr>
          <p:cNvSpPr>
            <a:spLocks noGrp="1"/>
          </p:cNvSpPr>
          <p:nvPr>
            <p:ph type="sldNum" sz="quarter" idx="12"/>
          </p:nvPr>
        </p:nvSpPr>
        <p:spPr/>
        <p:txBody>
          <a:bodyPr/>
          <a:lstStyle/>
          <a:p>
            <a:pPr>
              <a:defRPr/>
            </a:pPr>
            <a:fld id="{2AE1B59C-883C-4848-BC85-9A12DF2590B2}" type="slidenum">
              <a:rPr lang="en-US" altLang="zh-CN" smtClean="0"/>
              <a:t>86</a:t>
            </a:fld>
            <a:endParaRPr lang="en-US" altLang="zh-CN"/>
          </a:p>
        </p:txBody>
      </p:sp>
      <p:graphicFrame>
        <p:nvGraphicFramePr>
          <p:cNvPr id="5" name="表格 4">
            <a:extLst>
              <a:ext uri="{FF2B5EF4-FFF2-40B4-BE49-F238E27FC236}">
                <a16:creationId xmlns:a16="http://schemas.microsoft.com/office/drawing/2014/main" id="{22B8C6C3-3778-46B7-9D48-BAA251AA924A}"/>
              </a:ext>
            </a:extLst>
          </p:cNvPr>
          <p:cNvGraphicFramePr/>
          <p:nvPr>
            <p:custDataLst>
              <p:tags r:id="rId1"/>
            </p:custDataLst>
          </p:nvPr>
        </p:nvGraphicFramePr>
        <p:xfrm>
          <a:off x="133648" y="3631756"/>
          <a:ext cx="8811260" cy="3203448"/>
        </p:xfrm>
        <a:graphic>
          <a:graphicData uri="http://schemas.openxmlformats.org/drawingml/2006/table">
            <a:tbl>
              <a:tblPr firstRow="1" bandRow="1">
                <a:tableStyleId>{5940675A-B579-460E-94D1-54222C63F5DA}</a:tableStyleId>
              </a:tblPr>
              <a:tblGrid>
                <a:gridCol w="621665">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605790">
                  <a:extLst>
                    <a:ext uri="{9D8B030D-6E8A-4147-A177-3AD203B41FA5}">
                      <a16:colId xmlns:a16="http://schemas.microsoft.com/office/drawing/2014/main" val="20002"/>
                    </a:ext>
                  </a:extLst>
                </a:gridCol>
                <a:gridCol w="708025">
                  <a:extLst>
                    <a:ext uri="{9D8B030D-6E8A-4147-A177-3AD203B41FA5}">
                      <a16:colId xmlns:a16="http://schemas.microsoft.com/office/drawing/2014/main" val="20003"/>
                    </a:ext>
                  </a:extLst>
                </a:gridCol>
                <a:gridCol w="711835">
                  <a:extLst>
                    <a:ext uri="{9D8B030D-6E8A-4147-A177-3AD203B41FA5}">
                      <a16:colId xmlns:a16="http://schemas.microsoft.com/office/drawing/2014/main" val="20004"/>
                    </a:ext>
                  </a:extLst>
                </a:gridCol>
                <a:gridCol w="708660">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708660">
                  <a:extLst>
                    <a:ext uri="{9D8B030D-6E8A-4147-A177-3AD203B41FA5}">
                      <a16:colId xmlns:a16="http://schemas.microsoft.com/office/drawing/2014/main" val="20007"/>
                    </a:ext>
                  </a:extLst>
                </a:gridCol>
                <a:gridCol w="708660">
                  <a:extLst>
                    <a:ext uri="{9D8B030D-6E8A-4147-A177-3AD203B41FA5}">
                      <a16:colId xmlns:a16="http://schemas.microsoft.com/office/drawing/2014/main" val="20008"/>
                    </a:ext>
                  </a:extLst>
                </a:gridCol>
                <a:gridCol w="710565">
                  <a:extLst>
                    <a:ext uri="{9D8B030D-6E8A-4147-A177-3AD203B41FA5}">
                      <a16:colId xmlns:a16="http://schemas.microsoft.com/office/drawing/2014/main" val="20009"/>
                    </a:ext>
                  </a:extLst>
                </a:gridCol>
                <a:gridCol w="709295">
                  <a:extLst>
                    <a:ext uri="{9D8B030D-6E8A-4147-A177-3AD203B41FA5}">
                      <a16:colId xmlns:a16="http://schemas.microsoft.com/office/drawing/2014/main" val="20010"/>
                    </a:ext>
                  </a:extLst>
                </a:gridCol>
                <a:gridCol w="708025">
                  <a:extLst>
                    <a:ext uri="{9D8B030D-6E8A-4147-A177-3AD203B41FA5}">
                      <a16:colId xmlns:a16="http://schemas.microsoft.com/office/drawing/2014/main" val="20011"/>
                    </a:ext>
                  </a:extLst>
                </a:gridCol>
                <a:gridCol w="719455">
                  <a:extLst>
                    <a:ext uri="{9D8B030D-6E8A-4147-A177-3AD203B41FA5}">
                      <a16:colId xmlns:a16="http://schemas.microsoft.com/office/drawing/2014/main" val="20012"/>
                    </a:ext>
                  </a:extLst>
                </a:gridCol>
              </a:tblGrid>
              <a:tr h="211150">
                <a:tc rowSpan="2" gridSpan="2">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项 目</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rowSpan="2"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tc gridSpan="3">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产 地</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中 间 转 运 站</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销 地</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13425">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B1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B2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B3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1"/>
                  </a:ext>
                </a:extLst>
              </a:tr>
              <a:tr h="535961">
                <a:tc>
                  <a:txBody>
                    <a:bodyPr/>
                    <a:lstStyle/>
                    <a:p>
                      <a:pPr indent="0">
                        <a:buNone/>
                      </a:pPr>
                      <a:endParaRPr lang="en-US" sz="1600" b="1">
                        <a:latin typeface="Times New Roman" panose="02020603050405020304" pitchFamily="18" charset="0"/>
                        <a:ea typeface="微软雅黑" panose="020B0503020204020204" pitchFamily="34" charset="-122"/>
                        <a:cs typeface="微软雅黑" panose="020B0503020204020204" pitchFamily="34" charset="-122"/>
                      </a:endParaRPr>
                    </a:p>
                    <a:p>
                      <a:pPr indent="0">
                        <a:buNone/>
                      </a:pPr>
                      <a:r>
                        <a:rPr lang="en-US" sz="1600" b="1">
                          <a:latin typeface="Times New Roman" panose="02020603050405020304" pitchFamily="18" charset="0"/>
                          <a:ea typeface="微软雅黑" panose="020B0503020204020204" pitchFamily="34" charset="-122"/>
                          <a:cs typeface="微软雅黑" panose="020B0503020204020204" pitchFamily="34" charset="-122"/>
                        </a:rPr>
                        <a:t>产地</a:t>
                      </a:r>
                      <a:endParaRPr lang="en-US" altLang="en-US" sz="16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nSpc>
                          <a:spcPct val="90000"/>
                        </a:lnSpc>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A1A2A3</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endParaRPr lang="en-US"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9</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2"/>
                  </a:ext>
                </a:extLst>
              </a:tr>
              <a:tr h="851983">
                <a:tc>
                  <a:txBody>
                    <a:bodyPr/>
                    <a:lstStyle/>
                    <a:p>
                      <a:pPr indent="0">
                        <a:buNone/>
                      </a:pPr>
                      <a:r>
                        <a:rPr lang="en-US" sz="1600" b="1">
                          <a:latin typeface="Times New Roman" panose="02020603050405020304" pitchFamily="18" charset="0"/>
                          <a:ea typeface="微软雅黑" panose="020B0503020204020204" pitchFamily="34" charset="-122"/>
                          <a:cs typeface="微软雅黑" panose="020B0503020204020204" pitchFamily="34" charset="-122"/>
                        </a:rPr>
                        <a:t>中间转运站</a:t>
                      </a:r>
                      <a:endParaRPr lang="en-US" altLang="en-US" sz="16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nSpc>
                          <a:spcPct val="90000"/>
                        </a:lnSpc>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T1T2T3T4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 </a:t>
                      </a:r>
                    </a:p>
                    <a:p>
                      <a:pPr indent="0" algn="ctr">
                        <a:buNone/>
                      </a:pPr>
                      <a:endParaRPr lang="en-US" sz="1600" b="1">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 </a:t>
                      </a:r>
                    </a:p>
                    <a:p>
                      <a:pPr indent="0" algn="ctr">
                        <a:buNone/>
                      </a:pPr>
                      <a:endParaRPr lang="en-US"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6</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3"/>
                  </a:ext>
                </a:extLst>
              </a:tr>
              <a:tr h="950176">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销地</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nSpc>
                          <a:spcPct val="90000"/>
                        </a:lnSpc>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B1B2B3B4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11</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9</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90000"/>
                        </a:lnSpc>
                        <a:buNone/>
                      </a:pPr>
                      <a:endParaRPr lang="en-US"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 </a:t>
                      </a:r>
                    </a:p>
                    <a:p>
                      <a:pPr indent="0" algn="ctr">
                        <a:lnSpc>
                          <a:spcPct val="90000"/>
                        </a:lnSpc>
                        <a:buNone/>
                      </a:pPr>
                      <a:endParaRPr lang="en-US"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tc>
                  <a:txBody>
                    <a:bodyPr/>
                    <a:lstStyle/>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lnSpc>
                          <a:spcPct val="90000"/>
                        </a:lnSpc>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4"/>
                  </a:ext>
                </a:extLst>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Vertical)">
                                      <p:cBhvr>
                                        <p:cTn id="7" dur="500"/>
                                        <p:tgtEl>
                                          <p:spTgt spid="7">
                                            <p:txEl>
                                              <p:pRg st="1" end="1"/>
                                            </p:txEl>
                                          </p:spTgt>
                                        </p:tgtEl>
                                      </p:cBhvr>
                                    </p:animEffec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文本框 7"/>
          <p:cNvSpPr txBox="1">
            <a:spLocks noChangeArrowheads="1"/>
          </p:cNvSpPr>
          <p:nvPr/>
        </p:nvSpPr>
        <p:spPr bwMode="auto">
          <a:xfrm>
            <a:off x="0" y="3754344"/>
            <a:ext cx="9144000" cy="2862322"/>
          </a:xfrm>
          <a:prstGeom prst="rect">
            <a:avLst/>
          </a:prstGeom>
          <a:solidFill>
            <a:srgbClr val="FFCCFF"/>
          </a:solidFill>
          <a:ln>
            <a:noFill/>
          </a:ln>
        </p:spPr>
        <p:txBody>
          <a:bodyPr wrap="squar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indent="-280988">
              <a:lnSpc>
                <a:spcPct val="150000"/>
              </a:lnSpc>
            </a:pPr>
            <a:r>
              <a:rPr kumimoji="0" lang="en-US" altLang="zh-CN" b="1" dirty="0">
                <a:latin typeface="Times New Roman" panose="02020603050405020304" pitchFamily="18" charset="0"/>
                <a:ea typeface="微软雅黑" panose="020B0503020204020204" pitchFamily="34" charset="-122"/>
                <a:cs typeface="Times New Roman" panose="02020603050405020304" pitchFamily="18" charset="0"/>
              </a:rPr>
              <a:t>(4) </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扩大的运输问题中</a:t>
            </a:r>
            <a:r>
              <a:rPr kumimoji="0" lang="zh-CN" altLang="en-US" b="1" dirty="0">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原来的产地与销地因为也有转运站的作用</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所以同样在原来产量与销量的数字上加</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吨</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即三个厂每天糖果产量改成</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27</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24</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29</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吨</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销量均为</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吨</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四个销售点的每天销量改为</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23</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26</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25</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26</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吨</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产量均为</a:t>
            </a:r>
            <a:r>
              <a:rPr kumimoji="0" lang="en-US" altLang="zh-CN" b="1" dirty="0">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吨</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同时引进</a:t>
            </a:r>
            <a:r>
              <a:rPr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i="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ii</a:t>
            </a: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作为松弛变量</a:t>
            </a:r>
          </a:p>
        </p:txBody>
      </p:sp>
      <p:graphicFrame>
        <p:nvGraphicFramePr>
          <p:cNvPr id="5" name="对象 1"/>
          <p:cNvGraphicFramePr>
            <a:graphicFrameLocks noChangeAspect="1"/>
          </p:cNvGraphicFramePr>
          <p:nvPr/>
        </p:nvGraphicFramePr>
        <p:xfrm>
          <a:off x="4139952" y="749324"/>
          <a:ext cx="2936875" cy="1079500"/>
        </p:xfrm>
        <a:graphic>
          <a:graphicData uri="http://schemas.openxmlformats.org/presentationml/2006/ole">
            <mc:AlternateContent xmlns:mc="http://schemas.openxmlformats.org/markup-compatibility/2006">
              <mc:Choice xmlns:v="urn:schemas-microsoft-com:vml" Requires="v">
                <p:oleObj spid="_x0000_s35845" name="Equation" r:id="rId3" imgW="2514600" imgH="925195" progId="Equation.DSMT4">
                  <p:embed/>
                </p:oleObj>
              </mc:Choice>
              <mc:Fallback>
                <p:oleObj name="Equation" r:id="rId3" imgW="2514600" imgH="925195" progId="Equation.DSMT4">
                  <p:embed/>
                  <p:pic>
                    <p:nvPicPr>
                      <p:cNvPr id="5"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749324"/>
                        <a:ext cx="29368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文本框 9"/>
          <p:cNvSpPr txBox="1">
            <a:spLocks noChangeArrowheads="1"/>
          </p:cNvSpPr>
          <p:nvPr/>
        </p:nvSpPr>
        <p:spPr bwMode="auto">
          <a:xfrm>
            <a:off x="0" y="1916832"/>
            <a:ext cx="9144000" cy="1685077"/>
          </a:xfrm>
          <a:prstGeom prst="rect">
            <a:avLst/>
          </a:prstGeom>
          <a:solidFill>
            <a:schemeClr val="accent2">
              <a:lumMod val="40000"/>
              <a:lumOff val="60000"/>
            </a:schemeClr>
          </a:solidFill>
          <a:ln>
            <a:noFill/>
          </a:ln>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150000"/>
              </a:lnSpc>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可以在每个约束条件中增加一个松弛变量</a:t>
            </a:r>
            <a:r>
              <a:rPr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i="1"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ii</a:t>
            </a:r>
            <a:r>
              <a:rPr kumimoji="0" lang="zh-CN" altLang="en-US" b="1" dirty="0">
                <a:latin typeface="仿宋" panose="02010609060101010101" pitchFamily="49" charset="-122"/>
                <a:ea typeface="仿宋" panose="02010609060101010101" pitchFamily="49" charset="-122"/>
                <a:cs typeface="Times New Roman" panose="02020603050405020304" pitchFamily="18" charset="0"/>
              </a:rPr>
              <a:t>，</a:t>
            </a:r>
            <a:r>
              <a:rPr lang="en-US" altLang="zh-CN" i="1" dirty="0">
                <a:solidFill>
                  <a:srgbClr val="FF0000"/>
                </a:solidFill>
                <a:latin typeface="Times New Roman" panose="02020603050405020304" pitchFamily="18" charset="0"/>
                <a:ea typeface="微软雅黑" panose="020B0503020204020204" pitchFamily="34" charset="-122"/>
              </a:rPr>
              <a:t>x</a:t>
            </a:r>
            <a:r>
              <a:rPr lang="en-US" altLang="zh-CN" i="1" baseline="-30000" dirty="0">
                <a:solidFill>
                  <a:srgbClr val="FF0000"/>
                </a:solidFill>
                <a:latin typeface="Times New Roman" panose="02020603050405020304" pitchFamily="18" charset="0"/>
                <a:ea typeface="微软雅黑" panose="020B0503020204020204" pitchFamily="34" charset="-122"/>
              </a:rPr>
              <a:t>ii</a:t>
            </a:r>
            <a:r>
              <a:rPr kumimoji="0" lang="zh-CN" altLang="en-US" b="1" dirty="0">
                <a:latin typeface="微软雅黑" panose="020B0503020204020204" pitchFamily="34" charset="-122"/>
                <a:ea typeface="微软雅黑" panose="020B0503020204020204" pitchFamily="34" charset="-122"/>
              </a:rPr>
              <a:t>相当于一个虚构的转运站</a:t>
            </a:r>
            <a:r>
              <a:rPr kumimoji="0" lang="zh-CN" altLang="en-US" b="1" dirty="0">
                <a:latin typeface="仿宋" panose="02010609060101010101" pitchFamily="49" charset="-122"/>
                <a:ea typeface="仿宋" panose="02010609060101010101" pitchFamily="49" charset="-122"/>
              </a:rPr>
              <a:t>，</a:t>
            </a:r>
            <a:r>
              <a:rPr kumimoji="0" lang="zh-CN" altLang="en-US" b="1" dirty="0">
                <a:latin typeface="微软雅黑" panose="020B0503020204020204" pitchFamily="34" charset="-122"/>
                <a:ea typeface="微软雅黑" panose="020B0503020204020204" pitchFamily="34" charset="-122"/>
              </a:rPr>
              <a:t>意义就是自己运给自己。</a:t>
            </a:r>
            <a:r>
              <a:rPr lang="en-US" altLang="zh-CN" dirty="0">
                <a:latin typeface="Times New Roman" panose="02020603050405020304" pitchFamily="18" charset="0"/>
                <a:ea typeface="微软雅黑" panose="020B0503020204020204" pitchFamily="34" charset="-122"/>
              </a:rPr>
              <a:t>(20−</a:t>
            </a:r>
            <a:r>
              <a:rPr lang="en-US" altLang="zh-CN" i="1" dirty="0">
                <a:latin typeface="Times New Roman" panose="02020603050405020304" pitchFamily="18" charset="0"/>
                <a:ea typeface="微软雅黑" panose="020B0503020204020204" pitchFamily="34" charset="-122"/>
              </a:rPr>
              <a:t>x</a:t>
            </a:r>
            <a:r>
              <a:rPr lang="en-US" altLang="zh-CN" i="1" baseline="-30000" dirty="0">
                <a:latin typeface="Times New Roman" panose="02020603050405020304" pitchFamily="18" charset="0"/>
                <a:ea typeface="微软雅黑" panose="020B0503020204020204" pitchFamily="34" charset="-122"/>
              </a:rPr>
              <a:t>ii</a:t>
            </a:r>
            <a:r>
              <a:rPr lang="en-US" altLang="zh-CN" dirty="0">
                <a:latin typeface="Times New Roman" panose="02020603050405020304" pitchFamily="18" charset="0"/>
                <a:ea typeface="微软雅黑" panose="020B0503020204020204" pitchFamily="34" charset="-122"/>
              </a:rPr>
              <a:t>)</a:t>
            </a:r>
            <a:r>
              <a:rPr kumimoji="0" lang="zh-CN" altLang="en-US" b="1" dirty="0">
                <a:latin typeface="微软雅黑" panose="020B0503020204020204" pitchFamily="34" charset="-122"/>
                <a:ea typeface="微软雅黑" panose="020B0503020204020204" pitchFamily="34" charset="-122"/>
              </a:rPr>
              <a:t>就是每个转运站的实际转运量</a:t>
            </a:r>
            <a:r>
              <a:rPr kumimoji="0" lang="zh-CN" altLang="en-US" b="1" dirty="0">
                <a:latin typeface="仿宋" panose="02010609060101010101" pitchFamily="49" charset="-122"/>
                <a:ea typeface="仿宋" panose="02010609060101010101" pitchFamily="49" charset="-122"/>
              </a:rPr>
              <a:t>，</a:t>
            </a:r>
            <a:r>
              <a:rPr lang="en-US" altLang="zh-CN" i="1" dirty="0">
                <a:solidFill>
                  <a:srgbClr val="FF0000"/>
                </a:solidFill>
                <a:latin typeface="Times New Roman" panose="02020603050405020304" pitchFamily="18" charset="0"/>
                <a:ea typeface="微软雅黑" panose="020B0503020204020204" pitchFamily="34" charset="-122"/>
              </a:rPr>
              <a:t>x</a:t>
            </a:r>
            <a:r>
              <a:rPr lang="en-US" altLang="zh-CN" i="1" baseline="-30000" dirty="0">
                <a:solidFill>
                  <a:srgbClr val="FF0000"/>
                </a:solidFill>
                <a:latin typeface="Times New Roman" panose="02020603050405020304" pitchFamily="18" charset="0"/>
                <a:ea typeface="微软雅黑" panose="020B0503020204020204" pitchFamily="34" charset="-122"/>
              </a:rPr>
              <a:t>ii</a:t>
            </a:r>
            <a:r>
              <a:rPr kumimoji="0" lang="zh-CN" altLang="en-US" b="1" dirty="0">
                <a:latin typeface="微软雅黑" panose="020B0503020204020204" pitchFamily="34" charset="-122"/>
                <a:ea typeface="微软雅黑" panose="020B0503020204020204" pitchFamily="34" charset="-122"/>
              </a:rPr>
              <a:t>的对应运价</a:t>
            </a:r>
            <a:r>
              <a:rPr lang="en-US" altLang="zh-CN" i="1" dirty="0">
                <a:latin typeface="Times New Roman" panose="02020603050405020304" pitchFamily="18" charset="0"/>
                <a:ea typeface="微软雅黑" panose="020B0503020204020204" pitchFamily="34" charset="-122"/>
              </a:rPr>
              <a:t>c</a:t>
            </a:r>
            <a:r>
              <a:rPr lang="en-US" altLang="zh-CN" i="1" baseline="-30000" dirty="0">
                <a:latin typeface="Times New Roman" panose="02020603050405020304" pitchFamily="18" charset="0"/>
                <a:ea typeface="微软雅黑" panose="020B0503020204020204" pitchFamily="34" charset="-122"/>
              </a:rPr>
              <a:t>ii</a:t>
            </a:r>
            <a:r>
              <a:rPr lang="en-US" altLang="zh-CN" dirty="0">
                <a:latin typeface="Times New Roman" panose="02020603050405020304" pitchFamily="18" charset="0"/>
                <a:ea typeface="微软雅黑" panose="020B0503020204020204" pitchFamily="34" charset="-122"/>
              </a:rPr>
              <a:t>=0</a:t>
            </a:r>
            <a:endParaRPr lang="zh-CN" altLang="en-US" dirty="0">
              <a:latin typeface="Times New Roman" panose="02020603050405020304" pitchFamily="18" charset="0"/>
              <a:ea typeface="微软雅黑" panose="020B0503020204020204" pitchFamily="34" charset="-122"/>
            </a:endParaRPr>
          </a:p>
        </p:txBody>
      </p:sp>
      <p:sp>
        <p:nvSpPr>
          <p:cNvPr id="2" name="矩形 1"/>
          <p:cNvSpPr/>
          <p:nvPr/>
        </p:nvSpPr>
        <p:spPr>
          <a:xfrm>
            <a:off x="611560" y="949446"/>
            <a:ext cx="3108543" cy="646331"/>
          </a:xfrm>
          <a:prstGeom prst="rect">
            <a:avLst/>
          </a:prstGeom>
          <a:noFill/>
        </p:spPr>
        <p:txBody>
          <a:bodyPr wrap="square">
            <a:spAutoFit/>
          </a:bodyPr>
          <a:lstStyle/>
          <a:p>
            <a:pPr lvl="1" algn="just">
              <a:lnSpc>
                <a:spcPct val="150000"/>
              </a:lnSpc>
              <a:defRPr/>
            </a:pPr>
            <a:r>
              <a:rPr kumimoji="0" lang="zh-CN" altLang="en-US" b="1" dirty="0">
                <a:latin typeface="微软雅黑" panose="020B0503020204020204" pitchFamily="34" charset="-122"/>
                <a:ea typeface="微软雅黑" panose="020B0503020204020204" pitchFamily="34" charset="-122"/>
                <a:cs typeface="Times New Roman" panose="02020603050405020304" pitchFamily="18" charset="0"/>
              </a:rPr>
              <a:t>由于实际的转运量</a:t>
            </a:r>
          </a:p>
        </p:txBody>
      </p:sp>
      <p:sp>
        <p:nvSpPr>
          <p:cNvPr id="3" name="灯片编号占位符 2">
            <a:extLst>
              <a:ext uri="{FF2B5EF4-FFF2-40B4-BE49-F238E27FC236}">
                <a16:creationId xmlns:a16="http://schemas.microsoft.com/office/drawing/2014/main" id="{1C5EE721-34D1-40CB-B8A2-6C99E96D89F9}"/>
              </a:ext>
            </a:extLst>
          </p:cNvPr>
          <p:cNvSpPr>
            <a:spLocks noGrp="1"/>
          </p:cNvSpPr>
          <p:nvPr>
            <p:ph type="sldNum" sz="quarter" idx="12"/>
          </p:nvPr>
        </p:nvSpPr>
        <p:spPr/>
        <p:txBody>
          <a:bodyPr/>
          <a:lstStyle/>
          <a:p>
            <a:pPr>
              <a:defRPr/>
            </a:pPr>
            <a:fld id="{2AE1B59C-883C-4848-BC85-9A12DF2590B2}" type="slidenum">
              <a:rPr lang="en-US" altLang="zh-CN" smtClean="0"/>
              <a:t>87</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barn(inVertical)">
                                      <p:cBhvr>
                                        <p:cTn id="7"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文本框 6"/>
          <p:cNvSpPr txBox="1">
            <a:spLocks noChangeArrowheads="1"/>
          </p:cNvSpPr>
          <p:nvPr/>
        </p:nvSpPr>
        <p:spPr bwMode="auto">
          <a:xfrm>
            <a:off x="0" y="337820"/>
            <a:ext cx="9144000" cy="1135054"/>
          </a:xfrm>
          <a:prstGeom prst="rect">
            <a:avLst/>
          </a:prstGeom>
          <a:solidFill>
            <a:schemeClr val="accent1">
              <a:lumMod val="20000"/>
              <a:lumOff val="80000"/>
            </a:schemeClr>
          </a:solidFill>
          <a:ln>
            <a:noFill/>
          </a:ln>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pPr>
            <a:r>
              <a:rPr lang="zh-CN" altLang="en-US" b="1" dirty="0">
                <a:latin typeface="微软雅黑" panose="020B0503020204020204" pitchFamily="34" charset="-122"/>
                <a:ea typeface="微软雅黑" panose="020B0503020204020204" pitchFamily="34" charset="-122"/>
              </a:rPr>
              <a:t>下面写出扩大运输问题的产销平衡表与单位运价表</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见表</a:t>
            </a:r>
            <a:r>
              <a:rPr lang="en-US" altLang="zh-CN" b="1" dirty="0">
                <a:latin typeface="微软雅黑" panose="020B0503020204020204" pitchFamily="34" charset="-122"/>
                <a:ea typeface="微软雅黑" panose="020B0503020204020204" pitchFamily="34" charset="-122"/>
              </a:rPr>
              <a:t>4-35)</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由于这是一个产销平衡的运输问题</a:t>
            </a:r>
            <a:r>
              <a:rPr lang="zh-CN" altLang="en-US" b="1" dirty="0">
                <a:latin typeface="仿宋" panose="02010609060101010101" pitchFamily="49" charset="-122"/>
                <a:ea typeface="仿宋" panose="02010609060101010101" pitchFamily="49" charset="-122"/>
              </a:rPr>
              <a:t>，</a:t>
            </a:r>
            <a:r>
              <a:rPr lang="zh-CN" altLang="en-US" b="1" dirty="0">
                <a:latin typeface="微软雅黑" panose="020B0503020204020204" pitchFamily="34" charset="-122"/>
                <a:ea typeface="微软雅黑" panose="020B0503020204020204" pitchFamily="34" charset="-122"/>
              </a:rPr>
              <a:t>所以可以用表上作业法求解</a:t>
            </a:r>
            <a:endParaRPr lang="en-US" altLang="zh-CN" sz="3200"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1789117" y="2553335"/>
            <a:ext cx="7031355" cy="3966845"/>
            <a:chOff x="1789117" y="2553335"/>
            <a:chExt cx="7031355" cy="3966845"/>
          </a:xfrm>
        </p:grpSpPr>
        <p:graphicFrame>
          <p:nvGraphicFramePr>
            <p:cNvPr id="2" name="表格 1"/>
            <p:cNvGraphicFramePr/>
            <p:nvPr>
              <p:custDataLst>
                <p:tags r:id="rId1"/>
              </p:custDataLst>
            </p:nvPr>
          </p:nvGraphicFramePr>
          <p:xfrm>
            <a:off x="1789117" y="2553335"/>
            <a:ext cx="7031355" cy="3966845"/>
          </p:xfrm>
          <a:graphic>
            <a:graphicData uri="http://schemas.openxmlformats.org/drawingml/2006/table">
              <a:tbl>
                <a:tblPr firstRow="1" bandRow="1">
                  <a:tableStyleId>{5940675A-B579-460E-94D1-54222C63F5DA}</a:tableStyleId>
                </a:tblPr>
                <a:tblGrid>
                  <a:gridCol w="993140">
                    <a:extLst>
                      <a:ext uri="{9D8B030D-6E8A-4147-A177-3AD203B41FA5}">
                        <a16:colId xmlns:a16="http://schemas.microsoft.com/office/drawing/2014/main" val="20000"/>
                      </a:ext>
                    </a:extLst>
                  </a:gridCol>
                  <a:gridCol w="494030">
                    <a:extLst>
                      <a:ext uri="{9D8B030D-6E8A-4147-A177-3AD203B41FA5}">
                        <a16:colId xmlns:a16="http://schemas.microsoft.com/office/drawing/2014/main" val="20001"/>
                      </a:ext>
                    </a:extLst>
                  </a:gridCol>
                  <a:gridCol w="494665">
                    <a:extLst>
                      <a:ext uri="{9D8B030D-6E8A-4147-A177-3AD203B41FA5}">
                        <a16:colId xmlns:a16="http://schemas.microsoft.com/office/drawing/2014/main" val="20002"/>
                      </a:ext>
                    </a:extLst>
                  </a:gridCol>
                  <a:gridCol w="494030">
                    <a:extLst>
                      <a:ext uri="{9D8B030D-6E8A-4147-A177-3AD203B41FA5}">
                        <a16:colId xmlns:a16="http://schemas.microsoft.com/office/drawing/2014/main" val="20003"/>
                      </a:ext>
                    </a:extLst>
                  </a:gridCol>
                  <a:gridCol w="495300">
                    <a:extLst>
                      <a:ext uri="{9D8B030D-6E8A-4147-A177-3AD203B41FA5}">
                        <a16:colId xmlns:a16="http://schemas.microsoft.com/office/drawing/2014/main" val="20004"/>
                      </a:ext>
                    </a:extLst>
                  </a:gridCol>
                  <a:gridCol w="494665">
                    <a:extLst>
                      <a:ext uri="{9D8B030D-6E8A-4147-A177-3AD203B41FA5}">
                        <a16:colId xmlns:a16="http://schemas.microsoft.com/office/drawing/2014/main" val="20005"/>
                      </a:ext>
                    </a:extLst>
                  </a:gridCol>
                  <a:gridCol w="494030">
                    <a:extLst>
                      <a:ext uri="{9D8B030D-6E8A-4147-A177-3AD203B41FA5}">
                        <a16:colId xmlns:a16="http://schemas.microsoft.com/office/drawing/2014/main" val="20006"/>
                      </a:ext>
                    </a:extLst>
                  </a:gridCol>
                  <a:gridCol w="494665">
                    <a:extLst>
                      <a:ext uri="{9D8B030D-6E8A-4147-A177-3AD203B41FA5}">
                        <a16:colId xmlns:a16="http://schemas.microsoft.com/office/drawing/2014/main" val="20007"/>
                      </a:ext>
                    </a:extLst>
                  </a:gridCol>
                  <a:gridCol w="494030">
                    <a:extLst>
                      <a:ext uri="{9D8B030D-6E8A-4147-A177-3AD203B41FA5}">
                        <a16:colId xmlns:a16="http://schemas.microsoft.com/office/drawing/2014/main" val="20008"/>
                      </a:ext>
                    </a:extLst>
                  </a:gridCol>
                  <a:gridCol w="494665">
                    <a:extLst>
                      <a:ext uri="{9D8B030D-6E8A-4147-A177-3AD203B41FA5}">
                        <a16:colId xmlns:a16="http://schemas.microsoft.com/office/drawing/2014/main" val="20009"/>
                      </a:ext>
                    </a:extLst>
                  </a:gridCol>
                  <a:gridCol w="494665">
                    <a:extLst>
                      <a:ext uri="{9D8B030D-6E8A-4147-A177-3AD203B41FA5}">
                        <a16:colId xmlns:a16="http://schemas.microsoft.com/office/drawing/2014/main" val="20010"/>
                      </a:ext>
                    </a:extLst>
                  </a:gridCol>
                  <a:gridCol w="494030">
                    <a:extLst>
                      <a:ext uri="{9D8B030D-6E8A-4147-A177-3AD203B41FA5}">
                        <a16:colId xmlns:a16="http://schemas.microsoft.com/office/drawing/2014/main" val="20011"/>
                      </a:ext>
                    </a:extLst>
                  </a:gridCol>
                  <a:gridCol w="599440">
                    <a:extLst>
                      <a:ext uri="{9D8B030D-6E8A-4147-A177-3AD203B41FA5}">
                        <a16:colId xmlns:a16="http://schemas.microsoft.com/office/drawing/2014/main" val="20012"/>
                      </a:ext>
                    </a:extLst>
                  </a:gridCol>
                </a:tblGrid>
                <a:tr h="553085">
                  <a:tc>
                    <a:txBody>
                      <a:bodyPr/>
                      <a:lstStyle/>
                      <a:p>
                        <a:pPr indent="0">
                          <a:buNone/>
                        </a:pPr>
                        <a:r>
                          <a:rPr lang="en-US" sz="1600" b="1" dirty="0">
                            <a:latin typeface="Times New Roman" panose="02020603050405020304" pitchFamily="18" charset="0"/>
                            <a:ea typeface="微软雅黑" panose="020B0503020204020204" pitchFamily="34" charset="-122"/>
                            <a:cs typeface="微软雅黑" panose="020B0503020204020204" pitchFamily="34" charset="-122"/>
                          </a:rPr>
                          <a:t>        </a:t>
                        </a:r>
                        <a:r>
                          <a:rPr lang="en-US" sz="1600" b="1" dirty="0" err="1">
                            <a:latin typeface="Times New Roman" panose="02020603050405020304" pitchFamily="18" charset="0"/>
                            <a:ea typeface="微软雅黑" panose="020B0503020204020204" pitchFamily="34" charset="-122"/>
                            <a:cs typeface="微软雅黑" panose="020B0503020204020204" pitchFamily="34" charset="-122"/>
                          </a:rPr>
                          <a:t>销地</a:t>
                        </a:r>
                        <a:endParaRPr lang="en-US" sz="1600" b="1" dirty="0">
                          <a:latin typeface="Times New Roman" panose="02020603050405020304" pitchFamily="18" charset="0"/>
                          <a:ea typeface="微软雅黑" panose="020B0503020204020204" pitchFamily="34" charset="-122"/>
                          <a:cs typeface="微软雅黑" panose="020B0503020204020204" pitchFamily="34" charset="-122"/>
                        </a:endParaRPr>
                      </a:p>
                      <a:p>
                        <a:pPr indent="0">
                          <a:buNone/>
                        </a:pPr>
                        <a:r>
                          <a:rPr lang="en-US" sz="1600" b="1" dirty="0" err="1">
                            <a:latin typeface="Times New Roman" panose="02020603050405020304" pitchFamily="18" charset="0"/>
                            <a:ea typeface="微软雅黑" panose="020B0503020204020204" pitchFamily="34" charset="-122"/>
                            <a:cs typeface="微软雅黑" panose="020B0503020204020204" pitchFamily="34" charset="-122"/>
                          </a:rPr>
                          <a:t>产地</a:t>
                        </a:r>
                        <a:endParaRPr lang="en-US" altLang="en-US" sz="1600" b="1" dirty="0">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微软雅黑" panose="020B0503020204020204" pitchFamily="34" charset="-122"/>
                          </a:rPr>
                          <a:t>产量</a:t>
                        </a:r>
                        <a:endParaRPr lang="en-US" altLang="en-US" sz="16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8825">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endParaRPr lang="en-US" alt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endParaRPr lang="en-US" alt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9</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27</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24</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29</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7285">
                  <a:tc>
                    <a:txBody>
                      <a:bodyPr/>
                      <a:lstStyle/>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T1</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T2</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T3</a:t>
                        </a:r>
                      </a:p>
                      <a:p>
                        <a:pPr indent="0" algn="ctr">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endParaRPr lang="en-US" alt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38555">
                  <a:tc>
                    <a:txBody>
                      <a:bodyPr/>
                      <a:lstStyle/>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B1</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B2</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B3</a:t>
                        </a:r>
                      </a:p>
                      <a:p>
                        <a:pPr indent="0" algn="ctr">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9</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10</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5</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8</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1600" b="1">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2</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1</a:t>
                        </a:r>
                      </a:p>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3</a:t>
                        </a:r>
                      </a:p>
                      <a:p>
                        <a:pPr indent="0">
                          <a:buNone/>
                        </a:pPr>
                        <a:r>
                          <a:rPr 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9095">
                  <a:tc>
                    <a:txBody>
                      <a:bodyPr/>
                      <a:lstStyle/>
                      <a:p>
                        <a:pPr indent="0" algn="ctr">
                          <a:buNone/>
                        </a:pPr>
                        <a:r>
                          <a:rPr lang="en-US" sz="1600" b="1">
                            <a:latin typeface="Times New Roman" panose="02020603050405020304" pitchFamily="18" charset="0"/>
                            <a:ea typeface="微软雅黑" panose="020B0503020204020204" pitchFamily="34" charset="-122"/>
                            <a:cs typeface="微软雅黑" panose="020B0503020204020204" pitchFamily="34" charset="-122"/>
                          </a:rPr>
                          <a:t>销量</a:t>
                        </a:r>
                        <a:endParaRPr lang="en-US" altLang="en-US" sz="1600" b="1">
                          <a:latin typeface="Times New Roman" panose="02020603050405020304" pitchFamily="18" charset="0"/>
                          <a:ea typeface="微软雅黑" panose="020B0503020204020204" pitchFamily="34" charset="-122"/>
                          <a:cs typeface="微软雅黑" panose="020B0503020204020204" pitchFamily="34"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23</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26</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25</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26</a:t>
                        </a:r>
                        <a:endParaRPr lang="en-US"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3" name="直接连接符 2"/>
            <p:cNvCxnSpPr/>
            <p:nvPr/>
          </p:nvCxnSpPr>
          <p:spPr>
            <a:xfrm>
              <a:off x="1789117" y="2574581"/>
              <a:ext cx="983615" cy="510540"/>
            </a:xfrm>
            <a:prstGeom prst="line">
              <a:avLst/>
            </a:prstGeom>
            <a:solidFill>
              <a:schemeClr val="accent1"/>
            </a:solidFill>
            <a:ln w="9525" cap="flat" cmpd="sng" algn="ctr">
              <a:solidFill>
                <a:schemeClr val="tx1"/>
              </a:solidFill>
              <a:prstDash val="solid"/>
              <a:miter lim="800000"/>
              <a:headEnd type="none" w="med" len="med"/>
              <a:tailEnd type="none" w="med" len="med"/>
            </a:ln>
          </p:spPr>
        </p:cxnSp>
      </p:grpSp>
      <p:sp>
        <p:nvSpPr>
          <p:cNvPr id="6" name="矩形 5"/>
          <p:cNvSpPr>
            <a:spLocks noChangeArrowheads="1"/>
          </p:cNvSpPr>
          <p:nvPr/>
        </p:nvSpPr>
        <p:spPr bwMode="auto">
          <a:xfrm>
            <a:off x="755576" y="2623456"/>
            <a:ext cx="1296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rgbClr val="0033CC"/>
                </a:solidFill>
                <a:latin typeface="微软雅黑" panose="020B0503020204020204" pitchFamily="34" charset="-122"/>
                <a:ea typeface="微软雅黑" panose="020B0503020204020204" pitchFamily="34" charset="-122"/>
              </a:rPr>
              <a:t>表</a:t>
            </a:r>
            <a:r>
              <a:rPr kumimoji="0" lang="en-US" altLang="zh-CN" b="1" dirty="0">
                <a:solidFill>
                  <a:srgbClr val="0033CC"/>
                </a:solidFill>
                <a:latin typeface="Times New Roman" panose="02020603050405020304" pitchFamily="18" charset="0"/>
                <a:ea typeface="微软雅黑" panose="020B0503020204020204" pitchFamily="34" charset="-122"/>
                <a:cs typeface="Times New Roman" panose="02020603050405020304" pitchFamily="18" charset="0"/>
              </a:rPr>
              <a:t>4-35</a:t>
            </a:r>
            <a:endParaRPr kumimoji="0" lang="zh-CN" altLang="en-US" b="1" dirty="0">
              <a:solidFill>
                <a:srgbClr val="00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灯片编号占位符 4">
            <a:extLst>
              <a:ext uri="{FF2B5EF4-FFF2-40B4-BE49-F238E27FC236}">
                <a16:creationId xmlns:a16="http://schemas.microsoft.com/office/drawing/2014/main" id="{928647A5-0D45-4E2F-937B-FFAECDE8C954}"/>
              </a:ext>
            </a:extLst>
          </p:cNvPr>
          <p:cNvSpPr>
            <a:spLocks noGrp="1"/>
          </p:cNvSpPr>
          <p:nvPr>
            <p:ph type="sldNum" sz="quarter" idx="12"/>
          </p:nvPr>
        </p:nvSpPr>
        <p:spPr/>
        <p:txBody>
          <a:bodyPr/>
          <a:lstStyle/>
          <a:p>
            <a:pPr>
              <a:defRPr/>
            </a:pPr>
            <a:fld id="{2AE1B59C-883C-4848-BC85-9A12DF2590B2}" type="slidenum">
              <a:rPr lang="en-US" altLang="zh-CN" smtClean="0"/>
              <a:t>88</a:t>
            </a:fld>
            <a:endParaRPr lang="en-US" altLang="zh-CN"/>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文本框 6"/>
          <p:cNvSpPr txBox="1">
            <a:spLocks noChangeArrowheads="1"/>
          </p:cNvSpPr>
          <p:nvPr/>
        </p:nvSpPr>
        <p:spPr bwMode="auto">
          <a:xfrm>
            <a:off x="0" y="0"/>
            <a:ext cx="9144000" cy="461665"/>
          </a:xfrm>
          <a:prstGeom prst="rect">
            <a:avLst/>
          </a:prstGeom>
          <a:solidFill>
            <a:schemeClr val="accent1">
              <a:lumMod val="20000"/>
              <a:lumOff val="80000"/>
            </a:schemeClr>
          </a:solidFill>
          <a:ln>
            <a:noFill/>
          </a:ln>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微软雅黑" panose="020B0503020204020204" pitchFamily="34" charset="-122"/>
                <a:ea typeface="微软雅黑" panose="020B0503020204020204" pitchFamily="34" charset="-122"/>
              </a:rPr>
              <a:t>用表上作业法解得最小运费为</a:t>
            </a:r>
            <a:r>
              <a:rPr lang="en-US" altLang="zh-CN" b="1" dirty="0">
                <a:solidFill>
                  <a:srgbClr val="FF0000"/>
                </a:solidFill>
                <a:latin typeface="微软雅黑" panose="020B0503020204020204" pitchFamily="34" charset="-122"/>
                <a:ea typeface="微软雅黑" panose="020B0503020204020204" pitchFamily="34" charset="-122"/>
              </a:rPr>
              <a:t>68</a:t>
            </a:r>
            <a:r>
              <a:rPr lang="zh-CN" altLang="zh-CN" b="1" dirty="0">
                <a:latin typeface="仿宋" panose="02010609060101010101" pitchFamily="49" charset="-122"/>
                <a:ea typeface="仿宋" panose="02010609060101010101" pitchFamily="49" charset="-122"/>
              </a:rPr>
              <a:t>，</a:t>
            </a:r>
            <a:r>
              <a:rPr lang="zh-CN" altLang="zh-CN" b="1" dirty="0">
                <a:latin typeface="微软雅黑" panose="020B0503020204020204" pitchFamily="34" charset="-122"/>
                <a:ea typeface="微软雅黑" panose="020B0503020204020204" pitchFamily="34" charset="-122"/>
              </a:rPr>
              <a:t>最优解如下：（空白处为</a:t>
            </a:r>
            <a:r>
              <a:rPr lang="en-US" altLang="zh-CN" b="1" dirty="0">
                <a:latin typeface="微软雅黑" panose="020B0503020204020204" pitchFamily="34" charset="-122"/>
                <a:ea typeface="微软雅黑" panose="020B0503020204020204" pitchFamily="34" charset="-122"/>
              </a:rPr>
              <a:t>0</a:t>
            </a:r>
            <a:r>
              <a:rPr lang="zh-CN"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611560" y="480311"/>
          <a:ext cx="7159625" cy="4569460"/>
        </p:xfrm>
        <a:graphic>
          <a:graphicData uri="http://schemas.openxmlformats.org/drawingml/2006/table">
            <a:tbl>
              <a:tblPr firstRow="1" bandRow="1">
                <a:tableStyleId>{5940675A-B579-460E-94D1-54222C63F5DA}</a:tableStyleId>
              </a:tblPr>
              <a:tblGrid>
                <a:gridCol w="1010920">
                  <a:extLst>
                    <a:ext uri="{9D8B030D-6E8A-4147-A177-3AD203B41FA5}">
                      <a16:colId xmlns:a16="http://schemas.microsoft.com/office/drawing/2014/main" val="20000"/>
                    </a:ext>
                  </a:extLst>
                </a:gridCol>
                <a:gridCol w="50419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3555">
                  <a:extLst>
                    <a:ext uri="{9D8B030D-6E8A-4147-A177-3AD203B41FA5}">
                      <a16:colId xmlns:a16="http://schemas.microsoft.com/office/drawing/2014/main" val="20003"/>
                    </a:ext>
                  </a:extLst>
                </a:gridCol>
                <a:gridCol w="503555">
                  <a:extLst>
                    <a:ext uri="{9D8B030D-6E8A-4147-A177-3AD203B41FA5}">
                      <a16:colId xmlns:a16="http://schemas.microsoft.com/office/drawing/2014/main" val="20004"/>
                    </a:ext>
                  </a:extLst>
                </a:gridCol>
                <a:gridCol w="503555">
                  <a:extLst>
                    <a:ext uri="{9D8B030D-6E8A-4147-A177-3AD203B41FA5}">
                      <a16:colId xmlns:a16="http://schemas.microsoft.com/office/drawing/2014/main" val="20005"/>
                    </a:ext>
                  </a:extLst>
                </a:gridCol>
                <a:gridCol w="504190">
                  <a:extLst>
                    <a:ext uri="{9D8B030D-6E8A-4147-A177-3AD203B41FA5}">
                      <a16:colId xmlns:a16="http://schemas.microsoft.com/office/drawing/2014/main" val="20006"/>
                    </a:ext>
                  </a:extLst>
                </a:gridCol>
                <a:gridCol w="502285">
                  <a:extLst>
                    <a:ext uri="{9D8B030D-6E8A-4147-A177-3AD203B41FA5}">
                      <a16:colId xmlns:a16="http://schemas.microsoft.com/office/drawing/2014/main" val="20007"/>
                    </a:ext>
                  </a:extLst>
                </a:gridCol>
                <a:gridCol w="503555">
                  <a:extLst>
                    <a:ext uri="{9D8B030D-6E8A-4147-A177-3AD203B41FA5}">
                      <a16:colId xmlns:a16="http://schemas.microsoft.com/office/drawing/2014/main" val="20008"/>
                    </a:ext>
                  </a:extLst>
                </a:gridCol>
                <a:gridCol w="504190">
                  <a:extLst>
                    <a:ext uri="{9D8B030D-6E8A-4147-A177-3AD203B41FA5}">
                      <a16:colId xmlns:a16="http://schemas.microsoft.com/office/drawing/2014/main" val="20009"/>
                    </a:ext>
                  </a:extLst>
                </a:gridCol>
                <a:gridCol w="503555">
                  <a:extLst>
                    <a:ext uri="{9D8B030D-6E8A-4147-A177-3AD203B41FA5}">
                      <a16:colId xmlns:a16="http://schemas.microsoft.com/office/drawing/2014/main" val="20010"/>
                    </a:ext>
                  </a:extLst>
                </a:gridCol>
                <a:gridCol w="503555">
                  <a:extLst>
                    <a:ext uri="{9D8B030D-6E8A-4147-A177-3AD203B41FA5}">
                      <a16:colId xmlns:a16="http://schemas.microsoft.com/office/drawing/2014/main" val="20011"/>
                    </a:ext>
                  </a:extLst>
                </a:gridCol>
                <a:gridCol w="609600">
                  <a:extLst>
                    <a:ext uri="{9D8B030D-6E8A-4147-A177-3AD203B41FA5}">
                      <a16:colId xmlns:a16="http://schemas.microsoft.com/office/drawing/2014/main" val="20012"/>
                    </a:ext>
                  </a:extLst>
                </a:gridCol>
              </a:tblGrid>
              <a:tr h="678815">
                <a:tc>
                  <a:txBody>
                    <a:bodyPr/>
                    <a:lstStyle/>
                    <a:p>
                      <a:pPr indent="0">
                        <a:buNone/>
                      </a:pPr>
                      <a:r>
                        <a:rPr lang="en-US" sz="1800" b="1" dirty="0">
                          <a:latin typeface="Times New Roman" panose="02020603050405020304" pitchFamily="18" charset="0"/>
                          <a:ea typeface="微软雅黑" panose="020B0503020204020204" pitchFamily="34" charset="-122"/>
                          <a:cs typeface="宋体" panose="02010600030101010101" pitchFamily="2" charset="-122"/>
                        </a:rPr>
                        <a:t>     </a:t>
                      </a:r>
                      <a:r>
                        <a:rPr lang="en-US" sz="1800" b="1" dirty="0" err="1">
                          <a:latin typeface="Times New Roman" panose="02020603050405020304" pitchFamily="18" charset="0"/>
                          <a:ea typeface="微软雅黑" panose="020B0503020204020204" pitchFamily="34" charset="-122"/>
                          <a:cs typeface="宋体" panose="02010600030101010101" pitchFamily="2" charset="-122"/>
                        </a:rPr>
                        <a:t>销地</a:t>
                      </a:r>
                      <a:endParaRPr lang="en-US" sz="1800" b="1" dirty="0">
                        <a:latin typeface="Times New Roman" panose="02020603050405020304" pitchFamily="18" charset="0"/>
                        <a:ea typeface="微软雅黑" panose="020B0503020204020204" pitchFamily="34" charset="-122"/>
                        <a:cs typeface="宋体" panose="02010600030101010101" pitchFamily="2" charset="-122"/>
                      </a:endParaRPr>
                    </a:p>
                    <a:p>
                      <a:pPr indent="0">
                        <a:buNone/>
                      </a:pPr>
                      <a:r>
                        <a:rPr lang="en-US" sz="1800" b="1" dirty="0" err="1">
                          <a:latin typeface="Times New Roman" panose="02020603050405020304" pitchFamily="18" charset="0"/>
                          <a:ea typeface="微软雅黑" panose="020B0503020204020204" pitchFamily="34" charset="-122"/>
                          <a:cs typeface="宋体" panose="02010600030101010101" pitchFamily="2" charset="-122"/>
                        </a:rPr>
                        <a:t>产地</a:t>
                      </a:r>
                      <a:endParaRPr lang="en-US" altLang="en-US" sz="1800" b="1" dirty="0">
                        <a:latin typeface="Times New Roman" panose="02020603050405020304" pitchFamily="18" charset="0"/>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A1</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A2</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T1</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T2</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T3</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B1</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B2</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B3</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err="1">
                          <a:latin typeface="Times New Roman" panose="02020603050405020304" pitchFamily="18" charset="0"/>
                          <a:ea typeface="微软雅黑" panose="020B0503020204020204" pitchFamily="34" charset="-122"/>
                          <a:cs typeface="宋体" panose="02010600030101010101" pitchFamily="2" charset="-122"/>
                        </a:rPr>
                        <a:t>产量</a:t>
                      </a:r>
                      <a:endParaRPr lang="en-US" altLang="en-US" sz="1800" b="1" dirty="0">
                        <a:latin typeface="Times New Roman" panose="02020603050405020304" pitchFamily="18" charset="0"/>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3450">
                <a:tc>
                  <a:txBody>
                    <a:bodyPr/>
                    <a:lstStyle/>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A1</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A2</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A3</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13</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9</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9</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47140">
                <a:tc>
                  <a:txBody>
                    <a:bodyPr/>
                    <a:lstStyle/>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T1</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T2</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T3</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T4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11</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9</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45235">
                <a:tc>
                  <a:txBody>
                    <a:bodyPr/>
                    <a:lstStyle/>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B1</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B2</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B3</a:t>
                      </a:r>
                    </a:p>
                    <a:p>
                      <a:pPr indent="0" algn="ctr">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B4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12</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14</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a:t>
                      </a:r>
                      <a:r>
                        <a:rPr lang="en-US" sz="1800" b="1"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p>
                      <a:pPr indent="0">
                        <a:buNone/>
                      </a:pPr>
                      <a:r>
                        <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p>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4820">
                <a:tc>
                  <a:txBody>
                    <a:bodyPr/>
                    <a:lstStyle/>
                    <a:p>
                      <a:pPr indent="0" algn="ctr">
                        <a:buNone/>
                      </a:pPr>
                      <a:r>
                        <a:rPr lang="en-US" sz="1800" b="1" dirty="0" err="1">
                          <a:latin typeface="Times New Roman" panose="02020603050405020304" pitchFamily="18" charset="0"/>
                          <a:ea typeface="微软雅黑" panose="020B0503020204020204" pitchFamily="34" charset="-122"/>
                          <a:cs typeface="宋体" panose="02010600030101010101" pitchFamily="2" charset="-122"/>
                        </a:rPr>
                        <a:t>销量</a:t>
                      </a:r>
                      <a:endParaRPr lang="en-US" altLang="en-US" sz="1800" b="1" dirty="0">
                        <a:latin typeface="Times New Roman" panose="02020603050405020304" pitchFamily="18" charset="0"/>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800" b="1" dirty="0">
                          <a:latin typeface="Times New Roman" panose="02020603050405020304" pitchFamily="18" charset="0"/>
                          <a:ea typeface="微软雅黑" panose="020B0503020204020204" pitchFamily="34" charset="-122"/>
                          <a:cs typeface="Times New Roman" panose="02020603050405020304" pitchFamily="18" charset="0"/>
                        </a:rPr>
                        <a:t>2</a:t>
                      </a:r>
                      <a:r>
                        <a:rPr 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en-US" sz="1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1800" b="1"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5" name="直接连接符 4"/>
          <p:cNvCxnSpPr/>
          <p:nvPr/>
        </p:nvCxnSpPr>
        <p:spPr>
          <a:xfrm>
            <a:off x="611560" y="451858"/>
            <a:ext cx="1027430" cy="719455"/>
          </a:xfrm>
          <a:prstGeom prst="line">
            <a:avLst/>
          </a:prstGeom>
          <a:solidFill>
            <a:schemeClr val="accent1"/>
          </a:solidFill>
          <a:ln w="9525" cap="flat" cmpd="sng" algn="ctr">
            <a:solidFill>
              <a:schemeClr val="tx1"/>
            </a:solidFill>
            <a:prstDash val="solid"/>
            <a:miter lim="800000"/>
            <a:headEnd type="none" w="med" len="med"/>
            <a:tailEnd type="none" w="med" len="med"/>
          </a:ln>
        </p:spPr>
      </p:cxnSp>
      <p:sp>
        <p:nvSpPr>
          <p:cNvPr id="6" name="矩形 5"/>
          <p:cNvSpPr>
            <a:spLocks noChangeArrowheads="1"/>
          </p:cNvSpPr>
          <p:nvPr/>
        </p:nvSpPr>
        <p:spPr bwMode="auto">
          <a:xfrm>
            <a:off x="7814243" y="2275349"/>
            <a:ext cx="1296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dirty="0">
                <a:solidFill>
                  <a:srgbClr val="0033CC"/>
                </a:solidFill>
                <a:latin typeface="微软雅黑" panose="020B0503020204020204" pitchFamily="34" charset="-122"/>
                <a:ea typeface="微软雅黑" panose="020B0503020204020204" pitchFamily="34" charset="-122"/>
              </a:rPr>
              <a:t>表</a:t>
            </a:r>
            <a:r>
              <a:rPr kumimoji="0" lang="en-US" altLang="zh-CN" b="1" dirty="0">
                <a:solidFill>
                  <a:srgbClr val="0033CC"/>
                </a:solidFill>
                <a:latin typeface="Times New Roman" panose="02020603050405020304" pitchFamily="18" charset="0"/>
                <a:ea typeface="微软雅黑" panose="020B0503020204020204" pitchFamily="34" charset="-122"/>
                <a:cs typeface="Times New Roman" panose="02020603050405020304" pitchFamily="18" charset="0"/>
              </a:rPr>
              <a:t>4-36</a:t>
            </a:r>
            <a:endParaRPr kumimoji="0" lang="zh-CN" altLang="en-US" b="1" dirty="0">
              <a:solidFill>
                <a:srgbClr val="00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Picture 7">
            <a:extLst>
              <a:ext uri="{FF2B5EF4-FFF2-40B4-BE49-F238E27FC236}">
                <a16:creationId xmlns:a16="http://schemas.microsoft.com/office/drawing/2014/main" id="{8E258DE8-38ED-4D1B-B3F1-12FC05338BF3}"/>
              </a:ext>
            </a:extLst>
          </p:cNvPr>
          <p:cNvPicPr>
            <a:picLocks noChangeAspect="1"/>
          </p:cNvPicPr>
          <p:nvPr/>
        </p:nvPicPr>
        <p:blipFill>
          <a:blip r:embed="rId3"/>
          <a:stretch>
            <a:fillRect/>
          </a:stretch>
        </p:blipFill>
        <p:spPr>
          <a:xfrm>
            <a:off x="2051720" y="5068476"/>
            <a:ext cx="4392612" cy="1838325"/>
          </a:xfrm>
          <a:prstGeom prst="rect">
            <a:avLst/>
          </a:prstGeom>
          <a:noFill/>
          <a:ln w="9525">
            <a:noFill/>
          </a:ln>
        </p:spPr>
      </p:pic>
      <p:sp>
        <p:nvSpPr>
          <p:cNvPr id="9" name="矩形 4">
            <a:extLst>
              <a:ext uri="{FF2B5EF4-FFF2-40B4-BE49-F238E27FC236}">
                <a16:creationId xmlns:a16="http://schemas.microsoft.com/office/drawing/2014/main" id="{47B891D3-7131-4C12-86DE-AD6E99B6C48A}"/>
              </a:ext>
            </a:extLst>
          </p:cNvPr>
          <p:cNvSpPr/>
          <p:nvPr/>
        </p:nvSpPr>
        <p:spPr>
          <a:xfrm>
            <a:off x="6442928" y="5756805"/>
            <a:ext cx="1168910" cy="461665"/>
          </a:xfrm>
          <a:prstGeom prst="rect">
            <a:avLst/>
          </a:prstGeom>
          <a:solidFill>
            <a:srgbClr val="B3F1F7"/>
          </a:solidFill>
          <a:ln w="9525">
            <a:noFill/>
          </a:ln>
        </p:spPr>
        <p:txBody>
          <a:bodyPr wrap="none">
            <a:spAutoFit/>
          </a:bodyPr>
          <a:lstStyle/>
          <a:p>
            <a:pPr eaLnBrk="1" hangingPunct="1"/>
            <a:r>
              <a:rPr lang="zh-CN" altLang="en-US" dirty="0">
                <a:latin typeface="微软雅黑" pitchFamily="34" charset="-122"/>
                <a:ea typeface="微软雅黑" pitchFamily="34" charset="-122"/>
              </a:rPr>
              <a:t>表</a:t>
            </a:r>
            <a:r>
              <a:rPr lang="en-US" altLang="zh-CN" dirty="0">
                <a:latin typeface="微软雅黑" pitchFamily="34" charset="-122"/>
                <a:ea typeface="微软雅黑" pitchFamily="34" charset="-122"/>
              </a:rPr>
              <a:t>4-14</a:t>
            </a:r>
            <a:endParaRPr lang="zh-CN" altLang="en-US" dirty="0">
              <a:latin typeface="微软雅黑" pitchFamily="34" charset="-122"/>
              <a:ea typeface="微软雅黑" pitchFamily="34" charset="-122"/>
            </a:endParaRPr>
          </a:p>
        </p:txBody>
      </p:sp>
      <p:sp>
        <p:nvSpPr>
          <p:cNvPr id="7" name="Text Box 10">
            <a:extLst>
              <a:ext uri="{FF2B5EF4-FFF2-40B4-BE49-F238E27FC236}">
                <a16:creationId xmlns:a16="http://schemas.microsoft.com/office/drawing/2014/main" id="{C7911821-A79E-47F0-9ABA-82454849FE31}"/>
              </a:ext>
            </a:extLst>
          </p:cNvPr>
          <p:cNvSpPr txBox="1"/>
          <p:nvPr/>
        </p:nvSpPr>
        <p:spPr>
          <a:xfrm>
            <a:off x="0" y="6322024"/>
            <a:ext cx="9144000" cy="584775"/>
          </a:xfrm>
          <a:prstGeom prst="rect">
            <a:avLst/>
          </a:prstGeom>
          <a:solidFill>
            <a:srgbClr val="FFFF99"/>
          </a:solidFill>
          <a:ln w="9525">
            <a:noFill/>
          </a:ln>
        </p:spPr>
        <p:txBody>
          <a:bodyPr>
            <a:spAutoFit/>
          </a:bodyPr>
          <a:lstStyle/>
          <a:p>
            <a:pPr algn="ctr" eaLnBrk="1" hangingPunct="1"/>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3200" b="1" dirty="0">
                <a:solidFill>
                  <a:srgbClr val="0070C0"/>
                </a:solidFill>
                <a:latin typeface="Gill Sans Ultra Bold" pitchFamily="34" charset="0"/>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4</a:t>
            </a:r>
            <a:r>
              <a:rPr lang="en-US" altLang="zh-CN" sz="2800" b="1" dirty="0">
                <a:solidFill>
                  <a:schemeClr val="hlink"/>
                </a:solidFill>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6</a:t>
            </a:r>
            <a:r>
              <a:rPr lang="en-US" altLang="zh-CN" sz="2800" b="1" dirty="0">
                <a:solidFill>
                  <a:srgbClr val="0070C0"/>
                </a:solidFill>
                <a:latin typeface="Gill Sans Ultra Bold" pitchFamily="34" charset="0"/>
                <a:ea typeface="微软雅黑" pitchFamily="34" charset="-122"/>
              </a:rPr>
              <a:t>+</a:t>
            </a:r>
            <a:r>
              <a:rPr lang="en-US" altLang="zh-CN" sz="2800" b="1" dirty="0">
                <a:solidFill>
                  <a:schemeClr val="hlink"/>
                </a:solidFill>
                <a:latin typeface="Times New Roman" panose="02020603050405020304" pitchFamily="18" charset="0"/>
                <a:ea typeface="微软雅黑" pitchFamily="34" charset="-122"/>
              </a:rPr>
              <a:t>3</a:t>
            </a:r>
            <a:r>
              <a:rPr lang="en-US" altLang="zh-CN" sz="2800" b="1" dirty="0">
                <a:solidFill>
                  <a:schemeClr val="hlink"/>
                </a:solidFill>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10</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2</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8</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5</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3=85</a:t>
            </a:r>
          </a:p>
        </p:txBody>
      </p:sp>
      <p:sp>
        <p:nvSpPr>
          <p:cNvPr id="10" name="Text Box 10">
            <a:extLst>
              <a:ext uri="{FF2B5EF4-FFF2-40B4-BE49-F238E27FC236}">
                <a16:creationId xmlns:a16="http://schemas.microsoft.com/office/drawing/2014/main" id="{E0F1214B-00B0-4D9E-AE67-AE01BA88AF01}"/>
              </a:ext>
            </a:extLst>
          </p:cNvPr>
          <p:cNvSpPr txBox="1"/>
          <p:nvPr/>
        </p:nvSpPr>
        <p:spPr>
          <a:xfrm>
            <a:off x="0" y="4950986"/>
            <a:ext cx="9144000" cy="1938992"/>
          </a:xfrm>
          <a:prstGeom prst="rect">
            <a:avLst/>
          </a:prstGeom>
          <a:solidFill>
            <a:srgbClr val="FFFF99"/>
          </a:solidFill>
          <a:ln w="9525">
            <a:noFill/>
          </a:ln>
        </p:spPr>
        <p:txBody>
          <a:bodyPr>
            <a:spAutoFit/>
          </a:bodyPr>
          <a:lstStyle/>
          <a:p>
            <a:pPr eaLnBrk="1" hangingPunct="1"/>
            <a:r>
              <a:rPr lang="zh-CN" altLang="en-US" b="1" dirty="0">
                <a:solidFill>
                  <a:schemeClr val="hlink"/>
                </a:solidFill>
                <a:latin typeface="Times New Roman" panose="02020603050405020304" pitchFamily="18" charset="0"/>
                <a:ea typeface="微软雅黑" pitchFamily="34" charset="-122"/>
              </a:rPr>
              <a:t>实际运输过程为将</a:t>
            </a:r>
            <a:r>
              <a:rPr lang="en-US" altLang="zh-CN" b="1" dirty="0">
                <a:solidFill>
                  <a:schemeClr val="hlink"/>
                </a:solidFill>
                <a:latin typeface="Times New Roman" panose="02020603050405020304" pitchFamily="18" charset="0"/>
                <a:ea typeface="微软雅黑" pitchFamily="34" charset="-122"/>
              </a:rPr>
              <a:t>A1</a:t>
            </a:r>
            <a:r>
              <a:rPr lang="zh-CN" altLang="en-US" b="1" dirty="0">
                <a:solidFill>
                  <a:schemeClr val="hlink"/>
                </a:solidFill>
                <a:latin typeface="Times New Roman" panose="02020603050405020304" pitchFamily="18" charset="0"/>
                <a:ea typeface="微软雅黑" pitchFamily="34" charset="-122"/>
              </a:rPr>
              <a:t>生产的</a:t>
            </a:r>
            <a:r>
              <a:rPr lang="en-US" altLang="zh-CN" b="1" dirty="0">
                <a:solidFill>
                  <a:schemeClr val="hlink"/>
                </a:solidFill>
                <a:latin typeface="Times New Roman" panose="02020603050405020304" pitchFamily="18" charset="0"/>
                <a:ea typeface="微软雅黑" pitchFamily="34" charset="-122"/>
              </a:rPr>
              <a:t>7</a:t>
            </a:r>
            <a:r>
              <a:rPr lang="zh-CN" altLang="en-US" b="1" dirty="0">
                <a:solidFill>
                  <a:schemeClr val="hlink"/>
                </a:solidFill>
                <a:latin typeface="Times New Roman" panose="02020603050405020304" pitchFamily="18" charset="0"/>
                <a:ea typeface="微软雅黑" pitchFamily="34" charset="-122"/>
              </a:rPr>
              <a:t>吨运往</a:t>
            </a:r>
            <a:r>
              <a:rPr lang="en-US" altLang="zh-CN" b="1" dirty="0">
                <a:solidFill>
                  <a:schemeClr val="hlink"/>
                </a:solidFill>
                <a:latin typeface="Times New Roman" panose="02020603050405020304" pitchFamily="18" charset="0"/>
                <a:ea typeface="微软雅黑" pitchFamily="34" charset="-122"/>
              </a:rPr>
              <a:t>A2</a:t>
            </a:r>
            <a:r>
              <a:rPr lang="zh-CN" altLang="en-US" b="1" dirty="0">
                <a:solidFill>
                  <a:schemeClr val="hlink"/>
                </a:solidFill>
                <a:latin typeface="仿宋" panose="02010609060101010101" pitchFamily="49" charset="-122"/>
                <a:ea typeface="仿宋" panose="02010609060101010101" pitchFamily="49" charset="-122"/>
              </a:rPr>
              <a:t>，</a:t>
            </a:r>
            <a:r>
              <a:rPr lang="en-US" altLang="zh-CN" b="1" dirty="0">
                <a:solidFill>
                  <a:schemeClr val="hlink"/>
                </a:solidFill>
                <a:latin typeface="Times New Roman" panose="02020603050405020304" pitchFamily="18" charset="0"/>
                <a:ea typeface="微软雅黑" pitchFamily="34" charset="-122"/>
              </a:rPr>
              <a:t>A2</a:t>
            </a:r>
            <a:r>
              <a:rPr lang="zh-CN" altLang="en-US" b="1" dirty="0">
                <a:solidFill>
                  <a:schemeClr val="hlink"/>
                </a:solidFill>
                <a:latin typeface="Times New Roman" panose="02020603050405020304" pitchFamily="18" charset="0"/>
                <a:ea typeface="微软雅黑" pitchFamily="34" charset="-122"/>
              </a:rPr>
              <a:t>有</a:t>
            </a:r>
            <a:r>
              <a:rPr lang="en-US" altLang="zh-CN" b="1" dirty="0">
                <a:solidFill>
                  <a:schemeClr val="hlink"/>
                </a:solidFill>
                <a:latin typeface="Times New Roman" panose="02020603050405020304" pitchFamily="18" charset="0"/>
                <a:ea typeface="微软雅黑" pitchFamily="34" charset="-122"/>
              </a:rPr>
              <a:t>7+4=11</a:t>
            </a:r>
            <a:r>
              <a:rPr lang="zh-CN" altLang="en-US" b="1" dirty="0">
                <a:solidFill>
                  <a:schemeClr val="hlink"/>
                </a:solidFill>
                <a:latin typeface="Times New Roman" panose="02020603050405020304" pitchFamily="18" charset="0"/>
                <a:ea typeface="微软雅黑" pitchFamily="34" charset="-122"/>
              </a:rPr>
              <a:t>吨</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分别运往</a:t>
            </a:r>
            <a:r>
              <a:rPr lang="en-US" altLang="zh-CN" b="1" dirty="0">
                <a:solidFill>
                  <a:schemeClr val="hlink"/>
                </a:solidFill>
                <a:latin typeface="Times New Roman" panose="02020603050405020304" pitchFamily="18" charset="0"/>
                <a:ea typeface="微软雅黑" pitchFamily="34" charset="-122"/>
              </a:rPr>
              <a:t>B1</a:t>
            </a:r>
            <a:r>
              <a:rPr lang="zh-CN" altLang="en-US" b="1" dirty="0">
                <a:solidFill>
                  <a:schemeClr val="hlink"/>
                </a:solidFill>
                <a:latin typeface="Times New Roman" panose="02020603050405020304" pitchFamily="18" charset="0"/>
                <a:ea typeface="微软雅黑" pitchFamily="34" charset="-122"/>
              </a:rPr>
              <a:t>销地</a:t>
            </a:r>
            <a:r>
              <a:rPr lang="en-US" altLang="zh-CN" b="1" dirty="0">
                <a:solidFill>
                  <a:schemeClr val="hlink"/>
                </a:solidFill>
                <a:latin typeface="Times New Roman" panose="02020603050405020304" pitchFamily="18" charset="0"/>
                <a:ea typeface="微软雅黑" pitchFamily="34" charset="-122"/>
              </a:rPr>
              <a:t>6</a:t>
            </a:r>
            <a:r>
              <a:rPr lang="zh-CN" altLang="en-US" b="1" dirty="0">
                <a:solidFill>
                  <a:schemeClr val="hlink"/>
                </a:solidFill>
                <a:latin typeface="Times New Roman" panose="02020603050405020304" pitchFamily="18" charset="0"/>
                <a:ea typeface="微软雅黑" pitchFamily="34" charset="-122"/>
              </a:rPr>
              <a:t>吨</a:t>
            </a:r>
            <a:r>
              <a:rPr lang="zh-CN" altLang="en-US" b="1" dirty="0">
                <a:solidFill>
                  <a:schemeClr val="hlink"/>
                </a:solidFill>
                <a:latin typeface="仿宋" panose="02010609060101010101" pitchFamily="49" charset="-122"/>
                <a:ea typeface="仿宋" panose="02010609060101010101" pitchFamily="49" charset="-122"/>
              </a:rPr>
              <a:t>，</a:t>
            </a:r>
            <a:r>
              <a:rPr lang="en-US" altLang="zh-CN" b="1" dirty="0">
                <a:solidFill>
                  <a:schemeClr val="hlink"/>
                </a:solidFill>
                <a:latin typeface="Times New Roman" panose="02020603050405020304" pitchFamily="18" charset="0"/>
                <a:ea typeface="微软雅黑" pitchFamily="34" charset="-122"/>
              </a:rPr>
              <a:t>B3</a:t>
            </a:r>
            <a:r>
              <a:rPr lang="zh-CN" altLang="en-US" b="1" dirty="0">
                <a:solidFill>
                  <a:schemeClr val="hlink"/>
                </a:solidFill>
                <a:latin typeface="Times New Roman" panose="02020603050405020304" pitchFamily="18" charset="0"/>
                <a:ea typeface="微软雅黑" pitchFamily="34" charset="-122"/>
              </a:rPr>
              <a:t>销地</a:t>
            </a:r>
            <a:r>
              <a:rPr lang="en-US" altLang="zh-CN" b="1" dirty="0">
                <a:solidFill>
                  <a:schemeClr val="hlink"/>
                </a:solidFill>
                <a:latin typeface="Times New Roman" panose="02020603050405020304" pitchFamily="18" charset="0"/>
                <a:ea typeface="微软雅黑" pitchFamily="34" charset="-122"/>
              </a:rPr>
              <a:t>5</a:t>
            </a:r>
            <a:r>
              <a:rPr lang="zh-CN" altLang="en-US" b="1" dirty="0">
                <a:solidFill>
                  <a:schemeClr val="hlink"/>
                </a:solidFill>
                <a:latin typeface="Times New Roman" panose="02020603050405020304" pitchFamily="18" charset="0"/>
                <a:ea typeface="微软雅黑" pitchFamily="34" charset="-122"/>
              </a:rPr>
              <a:t>吨。</a:t>
            </a:r>
            <a:r>
              <a:rPr lang="en-US" altLang="zh-CN" b="1" dirty="0">
                <a:solidFill>
                  <a:schemeClr val="hlink"/>
                </a:solidFill>
                <a:latin typeface="Times New Roman" panose="02020603050405020304" pitchFamily="18" charset="0"/>
                <a:ea typeface="微软雅黑" pitchFamily="34" charset="-122"/>
              </a:rPr>
              <a:t> A3</a:t>
            </a:r>
            <a:r>
              <a:rPr lang="zh-CN" altLang="en-US" b="1" dirty="0">
                <a:solidFill>
                  <a:schemeClr val="hlink"/>
                </a:solidFill>
                <a:latin typeface="Times New Roman" panose="02020603050405020304" pitchFamily="18" charset="0"/>
                <a:ea typeface="微软雅黑" pitchFamily="34" charset="-122"/>
              </a:rPr>
              <a:t>生产的</a:t>
            </a:r>
            <a:r>
              <a:rPr lang="en-US" altLang="zh-CN" b="1" dirty="0">
                <a:solidFill>
                  <a:schemeClr val="hlink"/>
                </a:solidFill>
                <a:latin typeface="Times New Roman" panose="02020603050405020304" pitchFamily="18" charset="0"/>
                <a:ea typeface="微软雅黑" pitchFamily="34" charset="-122"/>
              </a:rPr>
              <a:t>9</a:t>
            </a:r>
            <a:r>
              <a:rPr lang="zh-CN" altLang="en-US" b="1" dirty="0">
                <a:solidFill>
                  <a:schemeClr val="hlink"/>
                </a:solidFill>
                <a:latin typeface="Times New Roman" panose="02020603050405020304" pitchFamily="18" charset="0"/>
                <a:ea typeface="微软雅黑" pitchFamily="34" charset="-122"/>
              </a:rPr>
              <a:t>吨运往</a:t>
            </a:r>
            <a:r>
              <a:rPr lang="en-US" altLang="zh-CN" b="1" dirty="0">
                <a:solidFill>
                  <a:schemeClr val="hlink"/>
                </a:solidFill>
                <a:latin typeface="Times New Roman" panose="02020603050405020304" pitchFamily="18" charset="0"/>
                <a:ea typeface="微软雅黑" pitchFamily="34" charset="-122"/>
              </a:rPr>
              <a:t>T3</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再转运至</a:t>
            </a:r>
            <a:r>
              <a:rPr lang="en-US" altLang="zh-CN" b="1" dirty="0">
                <a:solidFill>
                  <a:schemeClr val="hlink"/>
                </a:solidFill>
                <a:latin typeface="Times New Roman" panose="02020603050405020304" pitchFamily="18" charset="0"/>
                <a:ea typeface="微软雅黑" pitchFamily="34" charset="-122"/>
              </a:rPr>
              <a:t>B1</a:t>
            </a:r>
            <a:r>
              <a:rPr lang="zh-CN" altLang="en-US" b="1" dirty="0">
                <a:solidFill>
                  <a:schemeClr val="hlink"/>
                </a:solidFill>
                <a:latin typeface="Times New Roman" panose="02020603050405020304" pitchFamily="18" charset="0"/>
                <a:ea typeface="微软雅黑" pitchFamily="34" charset="-122"/>
              </a:rPr>
              <a:t>。而</a:t>
            </a:r>
            <a:r>
              <a:rPr lang="en-US" altLang="zh-CN" b="1" dirty="0">
                <a:solidFill>
                  <a:schemeClr val="hlink"/>
                </a:solidFill>
                <a:latin typeface="Times New Roman" panose="02020603050405020304" pitchFamily="18" charset="0"/>
                <a:ea typeface="微软雅黑" pitchFamily="34" charset="-122"/>
              </a:rPr>
              <a:t>B1</a:t>
            </a:r>
            <a:r>
              <a:rPr lang="zh-CN" altLang="en-US" b="1" dirty="0">
                <a:solidFill>
                  <a:schemeClr val="hlink"/>
                </a:solidFill>
                <a:latin typeface="Times New Roman" panose="02020603050405020304" pitchFamily="18" charset="0"/>
                <a:ea typeface="微软雅黑" pitchFamily="34" charset="-122"/>
              </a:rPr>
              <a:t>处</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从</a:t>
            </a:r>
            <a:r>
              <a:rPr lang="en-US" altLang="zh-CN" b="1" dirty="0">
                <a:solidFill>
                  <a:schemeClr val="hlink"/>
                </a:solidFill>
                <a:latin typeface="Times New Roman" panose="02020603050405020304" pitchFamily="18" charset="0"/>
                <a:ea typeface="微软雅黑" pitchFamily="34" charset="-122"/>
              </a:rPr>
              <a:t>A2</a:t>
            </a:r>
            <a:r>
              <a:rPr lang="zh-CN" altLang="en-US" b="1" dirty="0">
                <a:solidFill>
                  <a:schemeClr val="hlink"/>
                </a:solidFill>
                <a:latin typeface="Times New Roman" panose="02020603050405020304" pitchFamily="18" charset="0"/>
                <a:ea typeface="微软雅黑" pitchFamily="34" charset="-122"/>
              </a:rPr>
              <a:t>运来</a:t>
            </a:r>
            <a:r>
              <a:rPr lang="en-US" altLang="zh-CN" b="1" dirty="0">
                <a:solidFill>
                  <a:schemeClr val="hlink"/>
                </a:solidFill>
                <a:latin typeface="Times New Roman" panose="02020603050405020304" pitchFamily="18" charset="0"/>
                <a:ea typeface="微软雅黑" pitchFamily="34" charset="-122"/>
              </a:rPr>
              <a:t>6</a:t>
            </a:r>
            <a:r>
              <a:rPr lang="zh-CN" altLang="en-US" b="1" dirty="0">
                <a:solidFill>
                  <a:schemeClr val="hlink"/>
                </a:solidFill>
                <a:latin typeface="Times New Roman" panose="02020603050405020304" pitchFamily="18" charset="0"/>
                <a:ea typeface="微软雅黑" pitchFamily="34" charset="-122"/>
              </a:rPr>
              <a:t>吨加上从</a:t>
            </a:r>
            <a:r>
              <a:rPr lang="en-US" altLang="zh-CN" b="1" dirty="0">
                <a:solidFill>
                  <a:schemeClr val="hlink"/>
                </a:solidFill>
                <a:latin typeface="Times New Roman" panose="02020603050405020304" pitchFamily="18" charset="0"/>
                <a:ea typeface="微软雅黑" pitchFamily="34" charset="-122"/>
              </a:rPr>
              <a:t>T3</a:t>
            </a:r>
            <a:r>
              <a:rPr lang="zh-CN" altLang="en-US" b="1" dirty="0">
                <a:solidFill>
                  <a:schemeClr val="hlink"/>
                </a:solidFill>
                <a:latin typeface="Times New Roman" panose="02020603050405020304" pitchFamily="18" charset="0"/>
                <a:ea typeface="微软雅黑" pitchFamily="34" charset="-122"/>
              </a:rPr>
              <a:t>转运来的</a:t>
            </a:r>
            <a:r>
              <a:rPr lang="en-US" altLang="zh-CN" b="1" dirty="0">
                <a:solidFill>
                  <a:schemeClr val="hlink"/>
                </a:solidFill>
                <a:latin typeface="Times New Roman" panose="02020603050405020304" pitchFamily="18" charset="0"/>
                <a:ea typeface="微软雅黑" pitchFamily="34" charset="-122"/>
              </a:rPr>
              <a:t>9</a:t>
            </a:r>
            <a:r>
              <a:rPr lang="zh-CN" altLang="en-US" b="1" dirty="0">
                <a:solidFill>
                  <a:schemeClr val="hlink"/>
                </a:solidFill>
                <a:latin typeface="Times New Roman" panose="02020603050405020304" pitchFamily="18" charset="0"/>
                <a:ea typeface="微软雅黑" pitchFamily="34" charset="-122"/>
              </a:rPr>
              <a:t>吨</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一共有</a:t>
            </a:r>
            <a:r>
              <a:rPr lang="en-US" altLang="zh-CN" b="1" dirty="0">
                <a:solidFill>
                  <a:schemeClr val="hlink"/>
                </a:solidFill>
                <a:latin typeface="Times New Roman" panose="02020603050405020304" pitchFamily="18" charset="0"/>
                <a:ea typeface="微软雅黑" pitchFamily="34" charset="-122"/>
              </a:rPr>
              <a:t>15</a:t>
            </a:r>
            <a:r>
              <a:rPr lang="zh-CN" altLang="en-US" b="1" dirty="0">
                <a:solidFill>
                  <a:schemeClr val="hlink"/>
                </a:solidFill>
                <a:latin typeface="Times New Roman" panose="02020603050405020304" pitchFamily="18" charset="0"/>
                <a:ea typeface="微软雅黑" pitchFamily="34" charset="-122"/>
              </a:rPr>
              <a:t>吨</a:t>
            </a:r>
            <a:r>
              <a:rPr lang="zh-CN" altLang="en-US" b="1" dirty="0">
                <a:solidFill>
                  <a:schemeClr val="hlink"/>
                </a:solidFill>
                <a:latin typeface="仿宋" panose="02010609060101010101" pitchFamily="49" charset="-122"/>
                <a:ea typeface="仿宋" panose="02010609060101010101" pitchFamily="49" charset="-122"/>
              </a:rPr>
              <a:t>，</a:t>
            </a:r>
            <a:r>
              <a:rPr lang="en-US" altLang="zh-CN" b="1" dirty="0">
                <a:solidFill>
                  <a:schemeClr val="hlink"/>
                </a:solidFill>
                <a:latin typeface="Times New Roman" panose="02020603050405020304" pitchFamily="18" charset="0"/>
                <a:ea typeface="微软雅黑" pitchFamily="34" charset="-122"/>
              </a:rPr>
              <a:t>3</a:t>
            </a:r>
            <a:r>
              <a:rPr lang="zh-CN" altLang="en-US" b="1" dirty="0">
                <a:solidFill>
                  <a:schemeClr val="hlink"/>
                </a:solidFill>
                <a:latin typeface="Times New Roman" panose="02020603050405020304" pitchFamily="18" charset="0"/>
                <a:ea typeface="微软雅黑" pitchFamily="34" charset="-122"/>
              </a:rPr>
              <a:t>吨在本地销售</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多的</a:t>
            </a:r>
            <a:r>
              <a:rPr lang="en-US" altLang="zh-CN" b="1" dirty="0">
                <a:solidFill>
                  <a:schemeClr val="hlink"/>
                </a:solidFill>
                <a:latin typeface="Times New Roman" panose="02020603050405020304" pitchFamily="18" charset="0"/>
                <a:ea typeface="微软雅黑" pitchFamily="34" charset="-122"/>
              </a:rPr>
              <a:t>12</a:t>
            </a:r>
            <a:r>
              <a:rPr lang="zh-CN" altLang="en-US" b="1" dirty="0">
                <a:solidFill>
                  <a:schemeClr val="hlink"/>
                </a:solidFill>
                <a:latin typeface="Times New Roman" panose="02020603050405020304" pitchFamily="18" charset="0"/>
                <a:ea typeface="微软雅黑" pitchFamily="34" charset="-122"/>
              </a:rPr>
              <a:t>吨转运到</a:t>
            </a:r>
            <a:r>
              <a:rPr lang="en-US" altLang="zh-CN" b="1" dirty="0">
                <a:solidFill>
                  <a:schemeClr val="hlink"/>
                </a:solidFill>
                <a:latin typeface="Times New Roman" panose="02020603050405020304" pitchFamily="18" charset="0"/>
                <a:ea typeface="微软雅黑" pitchFamily="34" charset="-122"/>
              </a:rPr>
              <a:t>B2</a:t>
            </a:r>
            <a:r>
              <a:rPr lang="zh-CN" altLang="en-US" b="1" dirty="0">
                <a:solidFill>
                  <a:schemeClr val="hlink"/>
                </a:solidFill>
                <a:latin typeface="Times New Roman" panose="02020603050405020304" pitchFamily="18"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B2</a:t>
            </a:r>
            <a:r>
              <a:rPr lang="zh-CN" altLang="en-US" b="1" dirty="0">
                <a:solidFill>
                  <a:schemeClr val="hlink"/>
                </a:solidFill>
                <a:latin typeface="Times New Roman" panose="02020603050405020304" pitchFamily="18" charset="0"/>
                <a:ea typeface="微软雅黑" pitchFamily="34" charset="-122"/>
              </a:rPr>
              <a:t>接收从</a:t>
            </a:r>
            <a:r>
              <a:rPr lang="en-US" altLang="zh-CN" b="1" dirty="0">
                <a:solidFill>
                  <a:schemeClr val="hlink"/>
                </a:solidFill>
                <a:latin typeface="Times New Roman" panose="02020603050405020304" pitchFamily="18" charset="0"/>
                <a:ea typeface="微软雅黑" pitchFamily="34" charset="-122"/>
              </a:rPr>
              <a:t>B1</a:t>
            </a:r>
            <a:r>
              <a:rPr lang="zh-CN" altLang="en-US" b="1" dirty="0">
                <a:solidFill>
                  <a:schemeClr val="hlink"/>
                </a:solidFill>
                <a:latin typeface="Times New Roman" panose="02020603050405020304" pitchFamily="18" charset="0"/>
                <a:ea typeface="微软雅黑" pitchFamily="34" charset="-122"/>
              </a:rPr>
              <a:t>运来的</a:t>
            </a:r>
            <a:r>
              <a:rPr lang="en-US" altLang="zh-CN" b="1" dirty="0">
                <a:solidFill>
                  <a:schemeClr val="hlink"/>
                </a:solidFill>
                <a:latin typeface="Times New Roman" panose="02020603050405020304" pitchFamily="18" charset="0"/>
                <a:ea typeface="微软雅黑" pitchFamily="34" charset="-122"/>
              </a:rPr>
              <a:t>12</a:t>
            </a:r>
            <a:r>
              <a:rPr lang="zh-CN" altLang="en-US" b="1" dirty="0">
                <a:solidFill>
                  <a:schemeClr val="hlink"/>
                </a:solidFill>
                <a:latin typeface="Times New Roman" panose="02020603050405020304" pitchFamily="18" charset="0"/>
                <a:ea typeface="微软雅黑" pitchFamily="34" charset="-122"/>
              </a:rPr>
              <a:t>吨后</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销售其中的</a:t>
            </a:r>
            <a:r>
              <a:rPr lang="en-US" altLang="zh-CN" b="1" dirty="0">
                <a:solidFill>
                  <a:schemeClr val="hlink"/>
                </a:solidFill>
                <a:latin typeface="Times New Roman" panose="02020603050405020304" pitchFamily="18" charset="0"/>
                <a:ea typeface="微软雅黑" pitchFamily="34" charset="-122"/>
              </a:rPr>
              <a:t>6</a:t>
            </a:r>
            <a:r>
              <a:rPr lang="zh-CN" altLang="en-US" b="1" dirty="0">
                <a:solidFill>
                  <a:schemeClr val="hlink"/>
                </a:solidFill>
                <a:latin typeface="Times New Roman" panose="02020603050405020304" pitchFamily="18" charset="0"/>
                <a:ea typeface="微软雅黑" pitchFamily="34" charset="-122"/>
              </a:rPr>
              <a:t>吨</a:t>
            </a:r>
            <a:r>
              <a:rPr lang="zh-CN" altLang="en-US" b="1" dirty="0">
                <a:solidFill>
                  <a:schemeClr val="hlink"/>
                </a:solidFill>
                <a:latin typeface="仿宋" panose="02010609060101010101" pitchFamily="49" charset="-122"/>
                <a:ea typeface="仿宋" panose="02010609060101010101" pitchFamily="49" charset="-122"/>
              </a:rPr>
              <a:t>，</a:t>
            </a:r>
            <a:r>
              <a:rPr lang="zh-CN" altLang="en-US" b="1" dirty="0">
                <a:solidFill>
                  <a:schemeClr val="hlink"/>
                </a:solidFill>
                <a:latin typeface="Times New Roman" panose="02020603050405020304" pitchFamily="18" charset="0"/>
                <a:ea typeface="微软雅黑" pitchFamily="34" charset="-122"/>
              </a:rPr>
              <a:t>多余的</a:t>
            </a:r>
            <a:r>
              <a:rPr lang="en-US" altLang="zh-CN" b="1" dirty="0">
                <a:solidFill>
                  <a:schemeClr val="hlink"/>
                </a:solidFill>
                <a:latin typeface="Times New Roman" panose="02020603050405020304" pitchFamily="18" charset="0"/>
                <a:ea typeface="微软雅黑" pitchFamily="34" charset="-122"/>
              </a:rPr>
              <a:t>6</a:t>
            </a:r>
            <a:r>
              <a:rPr lang="zh-CN" altLang="en-US" b="1" dirty="0">
                <a:solidFill>
                  <a:schemeClr val="hlink"/>
                </a:solidFill>
                <a:latin typeface="Times New Roman" panose="02020603050405020304" pitchFamily="18" charset="0"/>
                <a:ea typeface="微软雅黑" pitchFamily="34" charset="-122"/>
              </a:rPr>
              <a:t>吨再转运到</a:t>
            </a:r>
            <a:r>
              <a:rPr lang="en-US" altLang="zh-CN" b="1" dirty="0">
                <a:solidFill>
                  <a:schemeClr val="hlink"/>
                </a:solidFill>
                <a:latin typeface="Times New Roman" panose="02020603050405020304" pitchFamily="18" charset="0"/>
                <a:ea typeface="微软雅黑" pitchFamily="34" charset="-122"/>
              </a:rPr>
              <a:t>B4</a:t>
            </a:r>
          </a:p>
        </p:txBody>
      </p:sp>
      <p:sp>
        <p:nvSpPr>
          <p:cNvPr id="3" name="灯片编号占位符 2">
            <a:extLst>
              <a:ext uri="{FF2B5EF4-FFF2-40B4-BE49-F238E27FC236}">
                <a16:creationId xmlns:a16="http://schemas.microsoft.com/office/drawing/2014/main" id="{C468BF1D-5B2B-4F63-8866-51ACFBDECB48}"/>
              </a:ext>
            </a:extLst>
          </p:cNvPr>
          <p:cNvSpPr>
            <a:spLocks noGrp="1"/>
          </p:cNvSpPr>
          <p:nvPr>
            <p:ph type="sldNum" sz="quarter" idx="12"/>
          </p:nvPr>
        </p:nvSpPr>
        <p:spPr/>
        <p:txBody>
          <a:bodyPr/>
          <a:lstStyle/>
          <a:p>
            <a:pPr>
              <a:defRPr/>
            </a:pPr>
            <a:fld id="{2AE1B59C-883C-4848-BC85-9A12DF2590B2}" type="slidenum">
              <a:rPr lang="en-US" altLang="zh-CN" smtClean="0"/>
              <a:t>89</a:t>
            </a:fld>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P spid="1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descr="信纸"/>
          <p:cNvSpPr>
            <a:spLocks noChangeArrowheads="1"/>
          </p:cNvSpPr>
          <p:nvPr/>
        </p:nvSpPr>
        <p:spPr bwMode="auto">
          <a:xfrm>
            <a:off x="1116013" y="404813"/>
            <a:ext cx="6551612" cy="863600"/>
          </a:xfrm>
          <a:prstGeom prst="rect">
            <a:avLst/>
          </a:prstGeom>
          <a:blipFill dpi="0" rotWithShape="0">
            <a:blip r:embed="rId2"/>
            <a:srcRect/>
            <a:tile tx="0" ty="0" sx="100000" sy="100000" flip="none" algn="tl"/>
          </a:blipFill>
          <a:ln w="9525">
            <a:solidFill>
              <a:schemeClr val="tx1"/>
            </a:solidFill>
            <a:miter lim="800000"/>
          </a:ln>
        </p:spPr>
        <p:txBody>
          <a:bodyPr wrap="none" anchor="ct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pic>
        <p:nvPicPr>
          <p:cNvPr id="13315" name="Picture 10" descr="卷轴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0"/>
            <a:ext cx="828198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ext Box 11"/>
          <p:cNvSpPr txBox="1">
            <a:spLocks noChangeArrowheads="1"/>
          </p:cNvSpPr>
          <p:nvPr/>
        </p:nvSpPr>
        <p:spPr bwMode="auto">
          <a:xfrm>
            <a:off x="1116013" y="549275"/>
            <a:ext cx="66246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pPr>
            <a:r>
              <a:rPr kumimoji="0" lang="zh-CN" altLang="en-US" sz="3200" b="1">
                <a:solidFill>
                  <a:srgbClr val="FF0000"/>
                </a:solidFill>
                <a:latin typeface="微软雅黑" panose="020B0503020204020204" pitchFamily="34" charset="-122"/>
                <a:ea typeface="微软雅黑" panose="020B0503020204020204" pitchFamily="34" charset="-122"/>
              </a:rPr>
              <a:t>第</a:t>
            </a:r>
            <a:r>
              <a:rPr kumimoji="0" lang="en-US" altLang="zh-CN" sz="3200" b="1">
                <a:solidFill>
                  <a:srgbClr val="FF0000"/>
                </a:solidFill>
                <a:latin typeface="微软雅黑" panose="020B0503020204020204" pitchFamily="34" charset="-122"/>
                <a:ea typeface="微软雅黑" panose="020B0503020204020204" pitchFamily="34" charset="-122"/>
              </a:rPr>
              <a:t>4</a:t>
            </a:r>
            <a:r>
              <a:rPr kumimoji="0" lang="zh-CN" altLang="en-US" sz="3200" b="1">
                <a:solidFill>
                  <a:srgbClr val="FF0000"/>
                </a:solidFill>
                <a:latin typeface="微软雅黑" panose="020B0503020204020204" pitchFamily="34" charset="-122"/>
                <a:ea typeface="微软雅黑" panose="020B0503020204020204" pitchFamily="34" charset="-122"/>
              </a:rPr>
              <a:t>章  运输问题</a:t>
            </a:r>
          </a:p>
        </p:txBody>
      </p:sp>
      <p:sp>
        <p:nvSpPr>
          <p:cNvPr id="13317" name="Rectangle 3"/>
          <p:cNvSpPr txBox="1">
            <a:spLocks noChangeArrowheads="1"/>
          </p:cNvSpPr>
          <p:nvPr/>
        </p:nvSpPr>
        <p:spPr bwMode="auto">
          <a:xfrm>
            <a:off x="1295400" y="1557338"/>
            <a:ext cx="784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1</a:t>
            </a:r>
            <a:r>
              <a:rPr lang="zh-CN" altLang="en-US" sz="2800" b="1">
                <a:solidFill>
                  <a:schemeClr val="folHlink"/>
                </a:solidFill>
                <a:latin typeface="微软雅黑" panose="020B0503020204020204" pitchFamily="34" charset="-122"/>
                <a:ea typeface="微软雅黑" panose="020B0503020204020204" pitchFamily="34" charset="-122"/>
              </a:rPr>
              <a:t>节   运输问题的数学模型</a:t>
            </a: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2</a:t>
            </a:r>
            <a:r>
              <a:rPr lang="zh-CN" altLang="en-US" sz="2800" b="1">
                <a:solidFill>
                  <a:schemeClr val="folHlink"/>
                </a:solidFill>
                <a:latin typeface="微软雅黑" panose="020B0503020204020204" pitchFamily="34" charset="-122"/>
                <a:ea typeface="微软雅黑" panose="020B0503020204020204" pitchFamily="34" charset="-122"/>
              </a:rPr>
              <a:t>节   表上作业法</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3</a:t>
            </a:r>
            <a:r>
              <a:rPr lang="zh-CN" altLang="en-US" sz="2800" b="1">
                <a:solidFill>
                  <a:schemeClr val="folHlink"/>
                </a:solidFill>
                <a:latin typeface="微软雅黑" panose="020B0503020204020204" pitchFamily="34" charset="-122"/>
                <a:ea typeface="微软雅黑" panose="020B0503020204020204" pitchFamily="34" charset="-122"/>
              </a:rPr>
              <a:t>节   产销不平衡的运输问题</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chemeClr val="folHlink"/>
                </a:solidFill>
                <a:latin typeface="微软雅黑" panose="020B0503020204020204" pitchFamily="34" charset="-122"/>
                <a:ea typeface="微软雅黑" panose="020B0503020204020204" pitchFamily="34" charset="-122"/>
              </a:rPr>
              <a:t>第</a:t>
            </a:r>
            <a:r>
              <a:rPr lang="en-US" altLang="zh-CN" sz="2800" b="1">
                <a:solidFill>
                  <a:schemeClr val="folHlink"/>
                </a:solidFill>
                <a:latin typeface="微软雅黑" panose="020B0503020204020204" pitchFamily="34" charset="-122"/>
                <a:ea typeface="微软雅黑" panose="020B0503020204020204" pitchFamily="34" charset="-122"/>
              </a:rPr>
              <a:t>4</a:t>
            </a:r>
            <a:r>
              <a:rPr lang="zh-CN" altLang="en-US" sz="2800" b="1">
                <a:solidFill>
                  <a:schemeClr val="folHlink"/>
                </a:solidFill>
                <a:latin typeface="微软雅黑" panose="020B0503020204020204" pitchFamily="34" charset="-122"/>
                <a:ea typeface="微软雅黑" panose="020B0503020204020204" pitchFamily="34" charset="-122"/>
              </a:rPr>
              <a:t>节   转运问题</a:t>
            </a:r>
            <a:endParaRPr lang="en-US" altLang="zh-CN" sz="2800" b="1">
              <a:solidFill>
                <a:schemeClr val="folHlink"/>
              </a:solidFill>
              <a:latin typeface="微软雅黑" panose="020B0503020204020204" pitchFamily="34" charset="-122"/>
              <a:ea typeface="微软雅黑" panose="020B0503020204020204" pitchFamily="34" charset="-122"/>
            </a:endParaRPr>
          </a:p>
          <a:p>
            <a:pPr>
              <a:lnSpc>
                <a:spcPct val="130000"/>
              </a:lnSpc>
              <a:spcBef>
                <a:spcPts val="600"/>
              </a:spcBef>
              <a:buClr>
                <a:schemeClr val="accent1"/>
              </a:buClr>
              <a:buSzPct val="70000"/>
              <a:buFont typeface="Wingdings" panose="05000000000000000000" pitchFamily="2" charset="2"/>
              <a:buNone/>
            </a:pPr>
            <a:r>
              <a:rPr lang="zh-CN" altLang="en-US" sz="2800" b="1">
                <a:solidFill>
                  <a:srgbClr val="FF0000"/>
                </a:solidFill>
                <a:latin typeface="微软雅黑" panose="020B0503020204020204" pitchFamily="34" charset="-122"/>
                <a:ea typeface="微软雅黑" panose="020B0503020204020204" pitchFamily="34" charset="-122"/>
              </a:rPr>
              <a:t>第</a:t>
            </a:r>
            <a:r>
              <a:rPr lang="en-US" altLang="zh-CN" sz="2800" b="1">
                <a:solidFill>
                  <a:srgbClr val="FF0000"/>
                </a:solidFill>
                <a:latin typeface="微软雅黑" panose="020B0503020204020204" pitchFamily="34" charset="-122"/>
                <a:ea typeface="微软雅黑" panose="020B0503020204020204" pitchFamily="34" charset="-122"/>
              </a:rPr>
              <a:t>5</a:t>
            </a:r>
            <a:r>
              <a:rPr lang="zh-CN" altLang="en-US" sz="2800" b="1">
                <a:solidFill>
                  <a:srgbClr val="FF0000"/>
                </a:solidFill>
                <a:latin typeface="微软雅黑" panose="020B0503020204020204" pitchFamily="34" charset="-122"/>
                <a:ea typeface="微软雅黑" panose="020B0503020204020204" pitchFamily="34" charset="-122"/>
              </a:rPr>
              <a:t>节   应用举例及计算机解法</a:t>
            </a:r>
            <a:endParaRPr lang="en-US" altLang="zh-CN" sz="2800" b="1">
              <a:solidFill>
                <a:srgbClr val="FF0000"/>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0E839179-7D21-49FF-81F4-166A826563BE}"/>
              </a:ext>
            </a:extLst>
          </p:cNvPr>
          <p:cNvSpPr>
            <a:spLocks noGrp="1"/>
          </p:cNvSpPr>
          <p:nvPr>
            <p:ph type="sldNum" sz="quarter" idx="12"/>
          </p:nvPr>
        </p:nvSpPr>
        <p:spPr/>
        <p:txBody>
          <a:bodyPr/>
          <a:lstStyle/>
          <a:p>
            <a:pPr>
              <a:defRPr/>
            </a:pPr>
            <a:fld id="{2AE1B59C-883C-4848-BC85-9A12DF2590B2}" type="slidenum">
              <a:rPr lang="en-US" altLang="zh-CN" smtClean="0"/>
              <a:t>90</a:t>
            </a:fld>
            <a:endParaRPr lang="en-US" altLang="zh-CN"/>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476672"/>
            <a:ext cx="9144000" cy="1152525"/>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kumimoji="0" lang="en-US" altLang="zh-CN" b="1" i="0" kern="1200" cap="small" spc="0" normalizeH="0" baseline="0" noProof="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4-5  </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某航运公司承担六个港口城市</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的四条固定航线的物资运输任务。已知各条航线的起点、终点城市及每天航班数见表</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4-37</a:t>
            </a:r>
            <a:endPar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5478453" y="2231950"/>
            <a:ext cx="1056700"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4-37</a:t>
            </a:r>
            <a:endParaRPr kumimoji="0"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2"/>
          <p:cNvSpPr txBox="1">
            <a:spLocks noChangeArrowheads="1"/>
          </p:cNvSpPr>
          <p:nvPr/>
        </p:nvSpPr>
        <p:spPr>
          <a:xfrm>
            <a:off x="0" y="3573463"/>
            <a:ext cx="9144000" cy="503237"/>
          </a:xfrm>
          <a:prstGeom prst="rect">
            <a:avLst/>
          </a:prstGeom>
          <a:solidFill>
            <a:srgbClr val="FFFF99"/>
          </a:solidFill>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000000"/>
                </a:solidFill>
                <a:latin typeface="微软雅黑" panose="020B0503020204020204" pitchFamily="34" charset="-122"/>
                <a:ea typeface="微软雅黑" panose="020B0503020204020204" pitchFamily="34" charset="-122"/>
                <a:cs typeface="+mn-cs"/>
              </a:rPr>
              <a:t>假定各条航线使用相同型号船只</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mn-cs"/>
              </a:rPr>
              <a:t>，</a:t>
            </a:r>
            <a:r>
              <a:rPr kumimoji="0" lang="zh-CN" altLang="en-US" b="1" i="0" kern="1200" cap="small" spc="0" normalizeH="0" baseline="0" noProof="0" dirty="0">
                <a:solidFill>
                  <a:srgbClr val="000000"/>
                </a:solidFill>
                <a:latin typeface="微软雅黑" panose="020B0503020204020204" pitchFamily="34" charset="-122"/>
                <a:ea typeface="微软雅黑" panose="020B0503020204020204" pitchFamily="34" charset="-122"/>
                <a:cs typeface="+mn-cs"/>
              </a:rPr>
              <a:t>又各城市间的航程天数见表</a:t>
            </a:r>
            <a:r>
              <a:rPr kumimoji="0" lang="en-US" altLang="zh-CN" b="1" i="0" kern="1200" cap="small" spc="0" normalizeH="0" baseline="0" noProof="0" dirty="0">
                <a:solidFill>
                  <a:srgbClr val="000000"/>
                </a:solidFill>
                <a:latin typeface="微软雅黑" panose="020B0503020204020204" pitchFamily="34" charset="-122"/>
                <a:ea typeface="微软雅黑" panose="020B0503020204020204" pitchFamily="34" charset="-122"/>
                <a:cs typeface="+mn-cs"/>
              </a:rPr>
              <a:t>4-38</a:t>
            </a:r>
            <a:br>
              <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br>
              <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7" name="矩形 6"/>
          <p:cNvSpPr/>
          <p:nvPr/>
        </p:nvSpPr>
        <p:spPr>
          <a:xfrm>
            <a:off x="5478453" y="4262735"/>
            <a:ext cx="2667000" cy="46166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small"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4-38</a:t>
            </a:r>
            <a:endParaRPr kumimoji="0"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2"/>
          <p:cNvSpPr txBox="1">
            <a:spLocks noChangeArrowheads="1"/>
          </p:cNvSpPr>
          <p:nvPr/>
        </p:nvSpPr>
        <p:spPr>
          <a:xfrm>
            <a:off x="5567363" y="4724400"/>
            <a:ext cx="3541712" cy="1989138"/>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又知每条船只每次装卸货的时间各需</a:t>
            </a:r>
            <a:r>
              <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1</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天</a:t>
            </a:r>
            <a:r>
              <a:rPr kumimoji="0" lang="zh-CN" altLang="en-US" b="1" i="0" kern="1200" cap="small" spc="0" normalizeH="0" baseline="0" noProof="0" dirty="0">
                <a:solidFill>
                  <a:srgbClr val="FF0000"/>
                </a:solidFill>
                <a:latin typeface="仿宋" panose="02010609060101010101" pitchFamily="49" charset="-122"/>
                <a:ea typeface="仿宋" panose="02010609060101010101" pitchFamily="49" charset="-122"/>
                <a:cs typeface="+mn-cs"/>
              </a:rPr>
              <a:t>，</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则该航运公司至少应配备多少条船</a:t>
            </a:r>
            <a:r>
              <a:rPr kumimoji="0" lang="zh-CN" altLang="en-US" b="1" i="0" kern="1200" cap="small" spc="0" normalizeH="0" baseline="0" noProof="0" dirty="0">
                <a:solidFill>
                  <a:srgbClr val="FF0000"/>
                </a:solidFill>
                <a:latin typeface="仿宋" panose="02010609060101010101" pitchFamily="49" charset="-122"/>
                <a:ea typeface="仿宋" panose="02010609060101010101" pitchFamily="49" charset="-122"/>
                <a:cs typeface="+mn-cs"/>
              </a:rPr>
              <a:t>，</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才能满足所有航线的运货需求</a:t>
            </a:r>
            <a:r>
              <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a:t>
            </a:r>
            <a:br>
              <a:rPr kumimoji="0" lang="en-US" altLang="zh-CN"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endParaRPr kumimoji="0" lang="en-US" altLang="zh-CN"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9" name="矩形 8"/>
          <p:cNvSpPr/>
          <p:nvPr/>
        </p:nvSpPr>
        <p:spPr>
          <a:xfrm>
            <a:off x="73025" y="8223"/>
            <a:ext cx="2600392"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cap="small"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4.5.1 </a:t>
            </a:r>
            <a:r>
              <a:rPr kumimoji="0" lang="zh-CN" altLang="en-US" sz="2800" b="1" cap="small"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应用举例</a:t>
            </a:r>
            <a:endParaRPr kumimoji="0" lang="zh-CN" altLang="en-US"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endParaRPr>
          </a:p>
        </p:txBody>
      </p:sp>
      <p:graphicFrame>
        <p:nvGraphicFramePr>
          <p:cNvPr id="10" name="表格 9"/>
          <p:cNvGraphicFramePr/>
          <p:nvPr>
            <p:custDataLst>
              <p:tags r:id="rId1"/>
            </p:custDataLst>
          </p:nvPr>
        </p:nvGraphicFramePr>
        <p:xfrm>
          <a:off x="683568" y="1628775"/>
          <a:ext cx="4815840" cy="1723281"/>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0000"/>
                    </a:ext>
                  </a:extLst>
                </a:gridCol>
                <a:gridCol w="1259205">
                  <a:extLst>
                    <a:ext uri="{9D8B030D-6E8A-4147-A177-3AD203B41FA5}">
                      <a16:colId xmlns:a16="http://schemas.microsoft.com/office/drawing/2014/main" val="20001"/>
                    </a:ext>
                  </a:extLst>
                </a:gridCol>
                <a:gridCol w="1261110">
                  <a:extLst>
                    <a:ext uri="{9D8B030D-6E8A-4147-A177-3AD203B41FA5}">
                      <a16:colId xmlns:a16="http://schemas.microsoft.com/office/drawing/2014/main" val="20002"/>
                    </a:ext>
                  </a:extLst>
                </a:gridCol>
                <a:gridCol w="1482725">
                  <a:extLst>
                    <a:ext uri="{9D8B030D-6E8A-4147-A177-3AD203B41FA5}">
                      <a16:colId xmlns:a16="http://schemas.microsoft.com/office/drawing/2014/main" val="20003"/>
                    </a:ext>
                  </a:extLst>
                </a:gridCol>
              </a:tblGrid>
              <a:tr h="504081">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航线</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起点城市</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终点城市</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每天航班数</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19200">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F</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3" name="组合 2"/>
          <p:cNvGrpSpPr/>
          <p:nvPr/>
        </p:nvGrpSpPr>
        <p:grpSpPr>
          <a:xfrm>
            <a:off x="683568" y="4221088"/>
            <a:ext cx="4794885" cy="2571115"/>
            <a:chOff x="234950" y="4291330"/>
            <a:chExt cx="4794885" cy="2571115"/>
          </a:xfrm>
        </p:grpSpPr>
        <p:graphicFrame>
          <p:nvGraphicFramePr>
            <p:cNvPr id="11" name="表格 10"/>
            <p:cNvGraphicFramePr/>
            <p:nvPr>
              <p:custDataLst>
                <p:tags r:id="rId2"/>
              </p:custDataLst>
            </p:nvPr>
          </p:nvGraphicFramePr>
          <p:xfrm>
            <a:off x="255905" y="4291330"/>
            <a:ext cx="4773930" cy="2571115"/>
          </p:xfrm>
          <a:graphic>
            <a:graphicData uri="http://schemas.openxmlformats.org/drawingml/2006/table">
              <a:tbl>
                <a:tblPr firstRow="1" bandRow="1">
                  <a:tableStyleId>{5940675A-B579-460E-94D1-54222C63F5DA}</a:tableStyleId>
                </a:tblPr>
                <a:tblGrid>
                  <a:gridCol w="988060">
                    <a:extLst>
                      <a:ext uri="{9D8B030D-6E8A-4147-A177-3AD203B41FA5}">
                        <a16:colId xmlns:a16="http://schemas.microsoft.com/office/drawing/2014/main" val="20000"/>
                      </a:ext>
                    </a:extLst>
                  </a:gridCol>
                  <a:gridCol w="631190">
                    <a:extLst>
                      <a:ext uri="{9D8B030D-6E8A-4147-A177-3AD203B41FA5}">
                        <a16:colId xmlns:a16="http://schemas.microsoft.com/office/drawing/2014/main" val="20001"/>
                      </a:ext>
                    </a:extLst>
                  </a:gridCol>
                  <a:gridCol w="631190">
                    <a:extLst>
                      <a:ext uri="{9D8B030D-6E8A-4147-A177-3AD203B41FA5}">
                        <a16:colId xmlns:a16="http://schemas.microsoft.com/office/drawing/2014/main" val="20002"/>
                      </a:ext>
                    </a:extLst>
                  </a:gridCol>
                  <a:gridCol w="630555">
                    <a:extLst>
                      <a:ext uri="{9D8B030D-6E8A-4147-A177-3AD203B41FA5}">
                        <a16:colId xmlns:a16="http://schemas.microsoft.com/office/drawing/2014/main" val="20003"/>
                      </a:ext>
                    </a:extLst>
                  </a:gridCol>
                  <a:gridCol w="631190">
                    <a:extLst>
                      <a:ext uri="{9D8B030D-6E8A-4147-A177-3AD203B41FA5}">
                        <a16:colId xmlns:a16="http://schemas.microsoft.com/office/drawing/2014/main" val="20004"/>
                      </a:ext>
                    </a:extLst>
                  </a:gridCol>
                  <a:gridCol w="630555">
                    <a:extLst>
                      <a:ext uri="{9D8B030D-6E8A-4147-A177-3AD203B41FA5}">
                        <a16:colId xmlns:a16="http://schemas.microsoft.com/office/drawing/2014/main" val="20005"/>
                      </a:ext>
                    </a:extLst>
                  </a:gridCol>
                  <a:gridCol w="631190">
                    <a:extLst>
                      <a:ext uri="{9D8B030D-6E8A-4147-A177-3AD203B41FA5}">
                        <a16:colId xmlns:a16="http://schemas.microsoft.com/office/drawing/2014/main" val="20006"/>
                      </a:ext>
                    </a:extLst>
                  </a:gridCol>
                </a:tblGrid>
                <a:tr h="609600">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a:latin typeface="微软雅黑" panose="020B0503020204020204" pitchFamily="34" charset="-122"/>
                            <a:ea typeface="微软雅黑" panose="020B0503020204020204" pitchFamily="34" charset="-122"/>
                            <a:cs typeface="Times New Roman" panose="02020603050405020304" pitchFamily="18" charset="0"/>
                          </a:rPr>
                          <a:t>到</a:t>
                        </a:r>
                      </a:p>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a:latin typeface="微软雅黑" panose="020B0503020204020204" pitchFamily="34" charset="-122"/>
                            <a:ea typeface="微软雅黑" panose="020B0503020204020204" pitchFamily="34" charset="-122"/>
                            <a:cs typeface="Times New Roman" panose="02020603050405020304" pitchFamily="18" charset="0"/>
                          </a:rPr>
                          <a:t>从</a:t>
                        </a:r>
                        <a:endParaRPr lang="en-US" altLang="en-US" sz="20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61515">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2" name="直接连接符 11"/>
            <p:cNvCxnSpPr/>
            <p:nvPr/>
          </p:nvCxnSpPr>
          <p:spPr>
            <a:xfrm>
              <a:off x="234950" y="4300220"/>
              <a:ext cx="1024890" cy="640715"/>
            </a:xfrm>
            <a:prstGeom prst="line">
              <a:avLst/>
            </a:prstGeom>
            <a:solidFill>
              <a:schemeClr val="accent1"/>
            </a:solidFill>
            <a:ln w="9525" cap="flat" cmpd="sng" algn="ctr">
              <a:solidFill>
                <a:schemeClr val="tx1"/>
              </a:solidFill>
              <a:prstDash val="solid"/>
              <a:miter lim="800000"/>
              <a:headEnd type="none" w="med" len="med"/>
              <a:tailEnd type="none" w="med" len="med"/>
            </a:ln>
          </p:spPr>
        </p:cxnSp>
      </p:grpSp>
      <p:sp>
        <p:nvSpPr>
          <p:cNvPr id="6" name="灯片编号占位符 5">
            <a:extLst>
              <a:ext uri="{FF2B5EF4-FFF2-40B4-BE49-F238E27FC236}">
                <a16:creationId xmlns:a16="http://schemas.microsoft.com/office/drawing/2014/main" id="{D6393D03-CCA0-40EB-891F-94A7D5FFCAA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91</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p:bldP spid="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txBox="1">
            <a:spLocks noChangeArrowheads="1"/>
          </p:cNvSpPr>
          <p:nvPr/>
        </p:nvSpPr>
        <p:spPr bwMode="auto">
          <a:xfrm>
            <a:off x="0" y="0"/>
            <a:ext cx="9144000"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273050" marR="0" lvl="0" indent="-273050" algn="just" defTabSz="914400" rtl="0" eaLnBrk="0" fontAlgn="base" latinLnBrk="0" hangingPunct="0">
              <a:lnSpc>
                <a:spcPct val="100000"/>
              </a:lnSpc>
              <a:spcBef>
                <a:spcPts val="600"/>
              </a:spcBef>
              <a:spcAft>
                <a:spcPct val="0"/>
              </a:spcAft>
              <a:buClr>
                <a:srgbClr val="00E4A8"/>
              </a:buClr>
              <a:buSzPct val="70000"/>
              <a:buFont typeface="Wingdings" panose="05000000000000000000" pitchFamily="2" charset="2"/>
              <a:buChar char=""/>
              <a:defRPr/>
            </a:pP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解  该公司所需配备船只分两部分。</a:t>
            </a:r>
          </a:p>
          <a:p>
            <a:pPr marL="273050" marR="0" lvl="0" indent="-273050" algn="l" defTabSz="914400" rtl="0" eaLnBrk="0" fontAlgn="base" latinLnBrk="0" hangingPunct="0">
              <a:lnSpc>
                <a:spcPct val="100000"/>
              </a:lnSpc>
              <a:spcBef>
                <a:spcPts val="600"/>
              </a:spcBef>
              <a:spcAft>
                <a:spcPct val="0"/>
              </a:spcAft>
              <a:buClr>
                <a:srgbClr val="00E4A8"/>
              </a:buClr>
              <a:buSzPct val="70000"/>
              <a:buFont typeface="Wingdings" panose="05000000000000000000" pitchFamily="2" charset="2"/>
              <a:buChar char=""/>
              <a:defRPr/>
            </a:pP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(1) </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载货航程需要的周转船只数。例如航线</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2400" b="1" i="0" u="none" strike="noStrike" kern="120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在港口</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E</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装货</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天</a:t>
            </a:r>
            <a:r>
              <a:rPr kumimoji="0" lang="zh-CN" altLang="en-US" sz="2400" b="1" i="0" u="none" strike="noStrike" kern="120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E</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D</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航程</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17</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天</a:t>
            </a:r>
            <a:r>
              <a:rPr kumimoji="0" lang="zh-CN" altLang="en-US" sz="2400" b="1" i="0" u="none" strike="noStrike" kern="120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在</a:t>
            </a:r>
            <a:r>
              <a:rPr kumimoji="0"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D</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卸货</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天</a:t>
            </a:r>
            <a:r>
              <a:rPr kumimoji="0" lang="zh-CN" altLang="en-US" sz="2400" b="1" i="0" u="none" strike="noStrike" kern="120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总计</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19</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天。每天</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3</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航班</a:t>
            </a:r>
            <a:r>
              <a:rPr kumimoji="0" lang="zh-CN" altLang="en-US" sz="2400" b="1" i="0" u="none" strike="noStrike" kern="120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故该航线周转船只需</a:t>
            </a:r>
            <a:r>
              <a:rPr kumimoji="0"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57</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mn-cs"/>
              </a:rPr>
              <a:t>条。</a:t>
            </a:r>
          </a:p>
        </p:txBody>
      </p:sp>
      <p:sp>
        <p:nvSpPr>
          <p:cNvPr id="5" name="矩形 4"/>
          <p:cNvSpPr/>
          <p:nvPr/>
        </p:nvSpPr>
        <p:spPr>
          <a:xfrm>
            <a:off x="6102925" y="4998392"/>
            <a:ext cx="2667000" cy="46166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4-38</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nvSpPr>
        <p:spPr>
          <a:xfrm>
            <a:off x="6102925" y="2064469"/>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4-37</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 name="表格 9"/>
          <p:cNvGraphicFramePr/>
          <p:nvPr>
            <p:custDataLst>
              <p:tags r:id="rId1"/>
            </p:custDataLst>
          </p:nvPr>
        </p:nvGraphicFramePr>
        <p:xfrm>
          <a:off x="1332230" y="1628775"/>
          <a:ext cx="4815840" cy="1723281"/>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0000"/>
                    </a:ext>
                  </a:extLst>
                </a:gridCol>
                <a:gridCol w="1259205">
                  <a:extLst>
                    <a:ext uri="{9D8B030D-6E8A-4147-A177-3AD203B41FA5}">
                      <a16:colId xmlns:a16="http://schemas.microsoft.com/office/drawing/2014/main" val="20001"/>
                    </a:ext>
                  </a:extLst>
                </a:gridCol>
                <a:gridCol w="1261110">
                  <a:extLst>
                    <a:ext uri="{9D8B030D-6E8A-4147-A177-3AD203B41FA5}">
                      <a16:colId xmlns:a16="http://schemas.microsoft.com/office/drawing/2014/main" val="20002"/>
                    </a:ext>
                  </a:extLst>
                </a:gridCol>
                <a:gridCol w="1482725">
                  <a:extLst>
                    <a:ext uri="{9D8B030D-6E8A-4147-A177-3AD203B41FA5}">
                      <a16:colId xmlns:a16="http://schemas.microsoft.com/office/drawing/2014/main" val="20003"/>
                    </a:ext>
                  </a:extLst>
                </a:gridCol>
              </a:tblGrid>
              <a:tr h="504081">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航线</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起点城市</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终点城市</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每天航班数</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19200">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F</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1" name="表格 10"/>
          <p:cNvGraphicFramePr/>
          <p:nvPr>
            <p:custDataLst>
              <p:tags r:id="rId2"/>
            </p:custDataLst>
          </p:nvPr>
        </p:nvGraphicFramePr>
        <p:xfrm>
          <a:off x="1328995" y="4026237"/>
          <a:ext cx="4773930" cy="2571115"/>
        </p:xfrm>
        <a:graphic>
          <a:graphicData uri="http://schemas.openxmlformats.org/drawingml/2006/table">
            <a:tbl>
              <a:tblPr firstRow="1" bandRow="1">
                <a:tableStyleId>{5940675A-B579-460E-94D1-54222C63F5DA}</a:tableStyleId>
              </a:tblPr>
              <a:tblGrid>
                <a:gridCol w="988060">
                  <a:extLst>
                    <a:ext uri="{9D8B030D-6E8A-4147-A177-3AD203B41FA5}">
                      <a16:colId xmlns:a16="http://schemas.microsoft.com/office/drawing/2014/main" val="20000"/>
                    </a:ext>
                  </a:extLst>
                </a:gridCol>
                <a:gridCol w="631190">
                  <a:extLst>
                    <a:ext uri="{9D8B030D-6E8A-4147-A177-3AD203B41FA5}">
                      <a16:colId xmlns:a16="http://schemas.microsoft.com/office/drawing/2014/main" val="20001"/>
                    </a:ext>
                  </a:extLst>
                </a:gridCol>
                <a:gridCol w="631190">
                  <a:extLst>
                    <a:ext uri="{9D8B030D-6E8A-4147-A177-3AD203B41FA5}">
                      <a16:colId xmlns:a16="http://schemas.microsoft.com/office/drawing/2014/main" val="20002"/>
                    </a:ext>
                  </a:extLst>
                </a:gridCol>
                <a:gridCol w="630555">
                  <a:extLst>
                    <a:ext uri="{9D8B030D-6E8A-4147-A177-3AD203B41FA5}">
                      <a16:colId xmlns:a16="http://schemas.microsoft.com/office/drawing/2014/main" val="20003"/>
                    </a:ext>
                  </a:extLst>
                </a:gridCol>
                <a:gridCol w="631190">
                  <a:extLst>
                    <a:ext uri="{9D8B030D-6E8A-4147-A177-3AD203B41FA5}">
                      <a16:colId xmlns:a16="http://schemas.microsoft.com/office/drawing/2014/main" val="20004"/>
                    </a:ext>
                  </a:extLst>
                </a:gridCol>
                <a:gridCol w="630555">
                  <a:extLst>
                    <a:ext uri="{9D8B030D-6E8A-4147-A177-3AD203B41FA5}">
                      <a16:colId xmlns:a16="http://schemas.microsoft.com/office/drawing/2014/main" val="20005"/>
                    </a:ext>
                  </a:extLst>
                </a:gridCol>
                <a:gridCol w="631190">
                  <a:extLst>
                    <a:ext uri="{9D8B030D-6E8A-4147-A177-3AD203B41FA5}">
                      <a16:colId xmlns:a16="http://schemas.microsoft.com/office/drawing/2014/main" val="20006"/>
                    </a:ext>
                  </a:extLst>
                </a:gridCol>
              </a:tblGrid>
              <a:tr h="609600">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a:latin typeface="微软雅黑" panose="020B0503020204020204" pitchFamily="34" charset="-122"/>
                          <a:ea typeface="微软雅黑" panose="020B0503020204020204" pitchFamily="34" charset="-122"/>
                          <a:cs typeface="Times New Roman" panose="02020603050405020304" pitchFamily="18" charset="0"/>
                        </a:rPr>
                        <a:t>到</a:t>
                      </a:r>
                    </a:p>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000" b="1" dirty="0">
                          <a:latin typeface="微软雅黑" panose="020B0503020204020204" pitchFamily="34" charset="-122"/>
                          <a:ea typeface="微软雅黑" panose="020B0503020204020204" pitchFamily="34" charset="-122"/>
                          <a:cs typeface="Times New Roman" panose="02020603050405020304" pitchFamily="18" charset="0"/>
                        </a:rPr>
                        <a:t>从</a:t>
                      </a:r>
                      <a:endParaRPr lang="en-US" altLang="en-US" sz="20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61515">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000" b="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3" name="直接连接符 2"/>
          <p:cNvCxnSpPr/>
          <p:nvPr/>
        </p:nvCxnSpPr>
        <p:spPr>
          <a:xfrm>
            <a:off x="1335980" y="4032587"/>
            <a:ext cx="929005" cy="569595"/>
          </a:xfrm>
          <a:prstGeom prst="line">
            <a:avLst/>
          </a:prstGeom>
          <a:solidFill>
            <a:schemeClr val="accent1"/>
          </a:solidFill>
          <a:ln w="9525" cap="flat" cmpd="sng" algn="ctr">
            <a:solidFill>
              <a:schemeClr val="tx1"/>
            </a:solidFill>
            <a:prstDash val="solid"/>
            <a:miter lim="800000"/>
            <a:headEnd type="none" w="med" len="med"/>
            <a:tailEnd type="none" w="med" len="med"/>
          </a:ln>
        </p:spPr>
      </p:cxnSp>
      <p:sp>
        <p:nvSpPr>
          <p:cNvPr id="2" name="灯片编号占位符 1">
            <a:extLst>
              <a:ext uri="{FF2B5EF4-FFF2-40B4-BE49-F238E27FC236}">
                <a16:creationId xmlns:a16="http://schemas.microsoft.com/office/drawing/2014/main" id="{3B05CF53-0D4C-4BFA-80E4-FBFF1BBE89E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92</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txBox="1">
            <a:spLocks noChangeArrowheads="1"/>
          </p:cNvSpPr>
          <p:nvPr/>
        </p:nvSpPr>
        <p:spPr bwMode="auto">
          <a:xfrm>
            <a:off x="0" y="0"/>
            <a:ext cx="9144000"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273050" marR="0" lvl="0" indent="-273050" algn="just" defTabSz="914400" rtl="0" eaLnBrk="0" fontAlgn="base" latinLnBrk="0" hangingPunct="0">
              <a:lnSpc>
                <a:spcPct val="100000"/>
              </a:lnSpc>
              <a:spcBef>
                <a:spcPts val="600"/>
              </a:spcBef>
              <a:spcAft>
                <a:spcPct val="0"/>
              </a:spcAft>
              <a:buClr>
                <a:srgbClr val="00E4A8"/>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解  该公司所需配备船只分两部分</a:t>
            </a:r>
          </a:p>
          <a:p>
            <a:pPr marL="273050" marR="0" lvl="0" indent="-273050" algn="l" defTabSz="914400" rtl="0" eaLnBrk="0" fontAlgn="base" latinLnBrk="0" hangingPunct="0">
              <a:lnSpc>
                <a:spcPct val="100000"/>
              </a:lnSpc>
              <a:spcBef>
                <a:spcPts val="600"/>
              </a:spcBef>
              <a:spcAft>
                <a:spcPct val="0"/>
              </a:spcAft>
              <a:buClr>
                <a:srgbClr val="00E4A8"/>
              </a:buClr>
              <a:buSzPct val="70000"/>
              <a:buFont typeface="Wingdings" panose="05000000000000000000" pitchFamily="2" charset="2"/>
              <a:buChar char=""/>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(1)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载货航程需要的周转船只数。</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例如航线</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在港口</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E</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装货</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天</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E</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航程</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17</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天</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在</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卸货</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天</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总计</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19</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天。每天</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3</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航班</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故该航线周转船只需</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57</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条。各条航线周转所需船只数见表</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4-39</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endParaRPr>
          </a:p>
        </p:txBody>
      </p:sp>
      <p:sp>
        <p:nvSpPr>
          <p:cNvPr id="9" name="Rectangle 4"/>
          <p:cNvSpPr>
            <a:spLocks noChangeArrowheads="1"/>
          </p:cNvSpPr>
          <p:nvPr/>
        </p:nvSpPr>
        <p:spPr bwMode="auto">
          <a:xfrm>
            <a:off x="71215" y="3933056"/>
            <a:ext cx="632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以上累计共需周转船只数</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365" name="TextBox 9"/>
          <p:cNvSpPr txBox="1">
            <a:spLocks noChangeArrowheads="1"/>
          </p:cNvSpPr>
          <p:nvPr/>
        </p:nvSpPr>
        <p:spPr bwMode="auto">
          <a:xfrm>
            <a:off x="7677150" y="2709193"/>
            <a:ext cx="228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4-39</a:t>
            </a:r>
            <a:endParaRPr kumimoji="0" lang="zh-CN" altLang="en-US"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4"/>
          <p:cNvSpPr>
            <a:spLocks noChangeArrowheads="1"/>
          </p:cNvSpPr>
          <p:nvPr/>
        </p:nvSpPr>
        <p:spPr bwMode="auto">
          <a:xfrm>
            <a:off x="71215" y="4371195"/>
            <a:ext cx="6324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91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条能满足正常运营吗？</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Rectangle 4"/>
          <p:cNvSpPr>
            <a:spLocks noChangeArrowheads="1"/>
          </p:cNvSpPr>
          <p:nvPr/>
        </p:nvSpPr>
        <p:spPr bwMode="auto">
          <a:xfrm>
            <a:off x="71215" y="4784300"/>
            <a:ext cx="9001570" cy="831850"/>
          </a:xfrm>
          <a:prstGeom prst="rect">
            <a:avLst/>
          </a:prstGeom>
          <a:noFill/>
          <a:ln w="9525">
            <a:noFill/>
            <a:miter lim="800000"/>
          </a:ln>
        </p:spPr>
        <p:txBody>
          <a:bodyPr wrap="square">
            <a:spAutoFit/>
          </a:bodyPr>
          <a:lstStyle/>
          <a:p>
            <a:pPr marL="176213" marR="0" lvl="0" indent="-176213"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仅考虑航线</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每天有</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条在装</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货</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条在海上运行</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条在</a:t>
            </a:r>
            <a:r>
              <a:rPr kumimoji="0" lang="zh-CN" altLang="en-US" sz="2400" b="1" i="0" u="none" strike="noStrike" kern="1200" cap="small"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卸货。</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这</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57</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条船全部是从</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出发到</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Times New Roman" panose="02020603050405020304" pitchFamily="18" charset="0"/>
              </a:rPr>
              <a:t>，</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天怎么办？</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1"/>
          <p:cNvGraphicFramePr/>
          <p:nvPr>
            <p:custDataLst>
              <p:tags r:id="rId1"/>
            </p:custDataLst>
          </p:nvPr>
        </p:nvGraphicFramePr>
        <p:xfrm>
          <a:off x="1332230" y="1700808"/>
          <a:ext cx="6408122" cy="2255128"/>
        </p:xfrm>
        <a:graphic>
          <a:graphicData uri="http://schemas.openxmlformats.org/drawingml/2006/table">
            <a:tbl>
              <a:tblPr firstRow="1" bandRow="1">
                <a:tableStyleId>{5940675A-B579-460E-94D1-54222C63F5DA}</a:tableStyleId>
              </a:tblPr>
              <a:tblGrid>
                <a:gridCol w="693316">
                  <a:extLst>
                    <a:ext uri="{9D8B030D-6E8A-4147-A177-3AD203B41FA5}">
                      <a16:colId xmlns:a16="http://schemas.microsoft.com/office/drawing/2014/main" val="20000"/>
                    </a:ext>
                  </a:extLst>
                </a:gridCol>
                <a:gridCol w="873039">
                  <a:extLst>
                    <a:ext uri="{9D8B030D-6E8A-4147-A177-3AD203B41FA5}">
                      <a16:colId xmlns:a16="http://schemas.microsoft.com/office/drawing/2014/main" val="20001"/>
                    </a:ext>
                  </a:extLst>
                </a:gridCol>
                <a:gridCol w="872366">
                  <a:extLst>
                    <a:ext uri="{9D8B030D-6E8A-4147-A177-3AD203B41FA5}">
                      <a16:colId xmlns:a16="http://schemas.microsoft.com/office/drawing/2014/main" val="20002"/>
                    </a:ext>
                  </a:extLst>
                </a:gridCol>
                <a:gridCol w="873039">
                  <a:extLst>
                    <a:ext uri="{9D8B030D-6E8A-4147-A177-3AD203B41FA5}">
                      <a16:colId xmlns:a16="http://schemas.microsoft.com/office/drawing/2014/main" val="20003"/>
                    </a:ext>
                  </a:extLst>
                </a:gridCol>
                <a:gridCol w="872366">
                  <a:extLst>
                    <a:ext uri="{9D8B030D-6E8A-4147-A177-3AD203B41FA5}">
                      <a16:colId xmlns:a16="http://schemas.microsoft.com/office/drawing/2014/main" val="20004"/>
                    </a:ext>
                  </a:extLst>
                </a:gridCol>
                <a:gridCol w="1111325">
                  <a:extLst>
                    <a:ext uri="{9D8B030D-6E8A-4147-A177-3AD203B41FA5}">
                      <a16:colId xmlns:a16="http://schemas.microsoft.com/office/drawing/2014/main" val="20005"/>
                    </a:ext>
                  </a:extLst>
                </a:gridCol>
                <a:gridCol w="1112671">
                  <a:extLst>
                    <a:ext uri="{9D8B030D-6E8A-4147-A177-3AD203B41FA5}">
                      <a16:colId xmlns:a16="http://schemas.microsoft.com/office/drawing/2014/main" val="20006"/>
                    </a:ext>
                  </a:extLst>
                </a:gridCol>
              </a:tblGrid>
              <a:tr h="792088">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航线</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装货天数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航程天数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卸货天数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小计</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航班数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需周转船只数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36015">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19</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9</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9</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Rectangle 4">
            <a:extLst>
              <a:ext uri="{FF2B5EF4-FFF2-40B4-BE49-F238E27FC236}">
                <a16:creationId xmlns:a16="http://schemas.microsoft.com/office/drawing/2014/main" id="{63F23A70-10E5-4BFB-92FC-1AD0C7F15387}"/>
              </a:ext>
            </a:extLst>
          </p:cNvPr>
          <p:cNvSpPr>
            <a:spLocks noChangeArrowheads="1"/>
          </p:cNvSpPr>
          <p:nvPr/>
        </p:nvSpPr>
        <p:spPr bwMode="auto">
          <a:xfrm>
            <a:off x="35506" y="5517232"/>
            <a:ext cx="9001570" cy="830997"/>
          </a:xfrm>
          <a:prstGeom prst="rect">
            <a:avLst/>
          </a:prstGeom>
          <a:noFill/>
          <a:ln w="9525">
            <a:noFill/>
            <a:miter lim="800000"/>
          </a:ln>
        </p:spPr>
        <p:txBody>
          <a:bodyPr wrap="square">
            <a:spAutoFit/>
          </a:bodyPr>
          <a:lstStyle/>
          <a:p>
            <a:pPr marL="176213" lvl="0" indent="-176213" eaLnBrk="1" hangingPunct="1">
              <a:spcBef>
                <a:spcPct val="20000"/>
              </a:spcBef>
              <a:buFontTx/>
              <a:buChar char="•"/>
              <a:defRPr/>
            </a:pP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如果只经营航线</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small" spc="0" normalizeH="0" baseline="0" noProof="0" dirty="0">
                <a:ln>
                  <a:noFill/>
                </a:ln>
                <a:solidFill>
                  <a:srgbClr val="000000"/>
                </a:solidFill>
                <a:effectLst/>
                <a:uLnTx/>
                <a:uFillTx/>
                <a:latin typeface="仿宋" panose="02010609060101010101" pitchFamily="49" charset="-122"/>
                <a:ea typeface="仿宋" panose="02010609060101010101" pitchFamily="49" charset="-122"/>
              </a:rPr>
              <a:t>，</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每天需要返回</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条空船</a:t>
            </a:r>
            <a:r>
              <a:rPr kumimoji="0" lang="zh-CN" altLang="en-US" sz="2400" b="1" i="0" u="none" strike="noStrike" kern="1200" cap="small" spc="0" normalizeH="0" baseline="0" noProof="0" dirty="0">
                <a:ln>
                  <a:noFill/>
                </a:ln>
                <a:solidFill>
                  <a:srgbClr val="000000"/>
                </a:solidFill>
                <a:effectLst/>
                <a:uLnTx/>
                <a:uFillTx/>
                <a:latin typeface="仿宋" panose="02010609060101010101" pitchFamily="49" charset="-122"/>
                <a:ea typeface="仿宋" panose="02010609060101010101" pitchFamily="49" charset="-122"/>
              </a:rPr>
              <a:t>，</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天共需要</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51</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条从</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返回</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的空船</a:t>
            </a:r>
            <a:r>
              <a:rPr kumimoji="0" lang="zh-CN" altLang="en-US" sz="2400" b="1" i="0" u="none" strike="noStrike" kern="1200" cap="small" spc="0" normalizeH="0" baseline="0" noProof="0" dirty="0">
                <a:ln>
                  <a:noFill/>
                </a:ln>
                <a:solidFill>
                  <a:srgbClr val="000000"/>
                </a:solidFill>
                <a:effectLst/>
                <a:uLnTx/>
                <a:uFillTx/>
                <a:latin typeface="仿宋" panose="02010609060101010101" pitchFamily="49" charset="-122"/>
                <a:ea typeface="仿宋" panose="02010609060101010101" pitchFamily="49" charset="-122"/>
              </a:rPr>
              <a:t>，</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一共</a:t>
            </a:r>
            <a:r>
              <a:rPr kumimoji="0" lang="en-US" altLang="zh-CN"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108</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条船</a:t>
            </a:r>
            <a:r>
              <a:rPr kumimoji="0" lang="zh-CN" altLang="en-US" b="1" cap="small" dirty="0">
                <a:solidFill>
                  <a:srgbClr val="000000"/>
                </a:solidFill>
                <a:latin typeface="微软雅黑" panose="020B0503020204020204" pitchFamily="34" charset="-122"/>
                <a:ea typeface="微软雅黑" panose="020B0503020204020204" pitchFamily="34" charset="-122"/>
              </a:rPr>
              <a:t>才满足航线</a:t>
            </a:r>
            <a:r>
              <a:rPr kumimoji="0" lang="en-US" altLang="zh-CN" b="1" cap="small" dirty="0">
                <a:solidFill>
                  <a:srgbClr val="000000"/>
                </a:solidFill>
                <a:latin typeface="微软雅黑" panose="020B0503020204020204" pitchFamily="34" charset="-122"/>
                <a:ea typeface="微软雅黑" panose="020B0503020204020204" pitchFamily="34" charset="-122"/>
              </a:rPr>
              <a:t>1</a:t>
            </a:r>
            <a:r>
              <a:rPr kumimoji="0" lang="zh-CN" altLang="en-US" b="1" cap="small" dirty="0">
                <a:solidFill>
                  <a:srgbClr val="000000"/>
                </a:solidFill>
                <a:latin typeface="微软雅黑" panose="020B0503020204020204" pitchFamily="34" charset="-122"/>
                <a:ea typeface="微软雅黑" panose="020B0503020204020204" pitchFamily="34" charset="-122"/>
              </a:rPr>
              <a:t>的</a:t>
            </a:r>
            <a:r>
              <a:rPr kumimoji="0" lang="zh-CN" altLang="en-US" sz="2400"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运输需要</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Text Box 10">
            <a:extLst>
              <a:ext uri="{FF2B5EF4-FFF2-40B4-BE49-F238E27FC236}">
                <a16:creationId xmlns:a16="http://schemas.microsoft.com/office/drawing/2014/main" id="{9D05851B-9D7C-4268-9DE7-BA09F110B6FB}"/>
              </a:ext>
            </a:extLst>
          </p:cNvPr>
          <p:cNvSpPr txBox="1"/>
          <p:nvPr/>
        </p:nvSpPr>
        <p:spPr>
          <a:xfrm>
            <a:off x="-2403" y="6300225"/>
            <a:ext cx="9144000" cy="523875"/>
          </a:xfrm>
          <a:prstGeom prst="rect">
            <a:avLst/>
          </a:prstGeom>
          <a:solidFill>
            <a:srgbClr val="FFFF99"/>
          </a:solidFill>
          <a:ln w="9525">
            <a:noFill/>
          </a:ln>
        </p:spPr>
        <p:txBody>
          <a:bodyPr>
            <a:spAutoFit/>
          </a:bodyPr>
          <a:lstStyle/>
          <a:p>
            <a:pPr algn="ctr" eaLnBrk="1" hangingPunct="1"/>
            <a:r>
              <a:rPr lang="zh-CN" altLang="en-US" b="1" dirty="0">
                <a:solidFill>
                  <a:schemeClr val="hlink"/>
                </a:solidFill>
                <a:latin typeface="Times New Roman" panose="02020603050405020304" pitchFamily="18" charset="0"/>
                <a:ea typeface="微软雅黑" pitchFamily="34" charset="-122"/>
              </a:rPr>
              <a:t>空船数：</a:t>
            </a:r>
            <a:r>
              <a:rPr lang="en-US" altLang="zh-CN" b="1" dirty="0">
                <a:solidFill>
                  <a:schemeClr val="hlink"/>
                </a:solidFill>
                <a:latin typeface="Times New Roman" panose="02020603050405020304" pitchFamily="18" charset="0"/>
                <a:ea typeface="微软雅黑" pitchFamily="34" charset="-122"/>
              </a:rPr>
              <a:t>3</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17</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2</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3</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7</a:t>
            </a:r>
            <a:r>
              <a:rPr lang="en-US" altLang="zh-CN" sz="2800" b="1" dirty="0">
                <a:solidFill>
                  <a:srgbClr val="0070C0"/>
                </a:solidFill>
                <a:latin typeface="Gill Sans Ultra Bold"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a:t>
            </a:r>
            <a:r>
              <a:rPr lang="en-US" altLang="zh-CN" b="1" dirty="0">
                <a:solidFill>
                  <a:schemeClr val="hlink"/>
                </a:solidFill>
                <a:latin typeface="Tahoma" panose="020B0604030504040204" pitchFamily="34" charset="0"/>
                <a:ea typeface="微软雅黑" pitchFamily="34" charset="-122"/>
              </a:rPr>
              <a:t>×</a:t>
            </a:r>
            <a:r>
              <a:rPr lang="en-US" altLang="zh-CN" b="1" dirty="0">
                <a:solidFill>
                  <a:schemeClr val="hlink"/>
                </a:solidFill>
                <a:latin typeface="Times New Roman" panose="02020603050405020304" pitchFamily="18" charset="0"/>
                <a:ea typeface="微软雅黑" pitchFamily="34" charset="-122"/>
              </a:rPr>
              <a:t>13=77</a:t>
            </a:r>
          </a:p>
        </p:txBody>
      </p:sp>
      <p:sp>
        <p:nvSpPr>
          <p:cNvPr id="3" name="灯片编号占位符 2">
            <a:extLst>
              <a:ext uri="{FF2B5EF4-FFF2-40B4-BE49-F238E27FC236}">
                <a16:creationId xmlns:a16="http://schemas.microsoft.com/office/drawing/2014/main" id="{3632A844-BDAB-4BD6-B4D1-41875BDEB53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93</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7" grpId="0"/>
      <p:bldP spid="8" grpId="0"/>
      <p:bldP spid="1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0"/>
            <a:ext cx="9144000" cy="1752600"/>
          </a:xfrm>
          <a:prstGeom prst="rect">
            <a:avLst/>
          </a:prstGeom>
        </p:spPr>
        <p:txBody>
          <a:bodyPr/>
          <a:lstStyle/>
          <a:p>
            <a:pPr marL="0" marR="0" indent="0" defTabSz="914400" latinLnBrk="0">
              <a:lnSpc>
                <a:spcPct val="150000"/>
              </a:lnSpc>
              <a:buClrTx/>
              <a:buSzTx/>
              <a:buFontTx/>
              <a:buNone/>
              <a:defRPr/>
            </a:pPr>
            <a:r>
              <a:rPr kumimoji="0" lang="en-US" altLang="zh-CN" b="1" i="0" kern="1200" cap="small" spc="0" normalizeH="0" baseline="0" noProof="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b="1" i="0" kern="1200" cap="small" spc="0" normalizeH="0" baseline="0" noProof="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各港口间调度所需船只数。</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有些港口每天到达船数多于需要船数</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例如港口</a:t>
            </a:r>
            <a:r>
              <a:rPr kumimoji="0" lang="en-US" altLang="zh-CN" b="1" i="1"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每天到达</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条</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需求</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条</a:t>
            </a:r>
            <a:endPar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defTabSz="914400" latinLnBrk="0">
              <a:lnSpc>
                <a:spcPct val="150000"/>
              </a:lnSpc>
              <a:buClrTx/>
              <a:buSzTx/>
              <a:buFontTx/>
              <a:buNone/>
              <a:defRPr/>
            </a:pP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而有些港口到达数少于需求数</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例如港口</a:t>
            </a:r>
            <a:r>
              <a:rPr kumimoji="0" lang="en-US" altLang="zh-CN" b="1" i="1"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br>
              <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6" name="矩形 5"/>
          <p:cNvSpPr/>
          <p:nvPr/>
        </p:nvSpPr>
        <p:spPr>
          <a:xfrm>
            <a:off x="6479162" y="5063123"/>
            <a:ext cx="2667000" cy="46166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4-38</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nvSpPr>
        <p:spPr>
          <a:xfrm>
            <a:off x="7142480" y="2575991"/>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4-37</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表格 2"/>
          <p:cNvGraphicFramePr/>
          <p:nvPr>
            <p:custDataLst>
              <p:tags r:id="rId1"/>
            </p:custDataLst>
          </p:nvPr>
        </p:nvGraphicFramePr>
        <p:xfrm>
          <a:off x="1115695" y="1752600"/>
          <a:ext cx="6026785" cy="1915160"/>
        </p:xfrm>
        <a:graphic>
          <a:graphicData uri="http://schemas.openxmlformats.org/drawingml/2006/table">
            <a:tbl>
              <a:tblPr firstRow="1" bandRow="1">
                <a:tableStyleId>{5940675A-B579-460E-94D1-54222C63F5DA}</a:tableStyleId>
              </a:tblPr>
              <a:tblGrid>
                <a:gridCol w="1017905">
                  <a:extLst>
                    <a:ext uri="{9D8B030D-6E8A-4147-A177-3AD203B41FA5}">
                      <a16:colId xmlns:a16="http://schemas.microsoft.com/office/drawing/2014/main" val="20000"/>
                    </a:ext>
                  </a:extLst>
                </a:gridCol>
                <a:gridCol w="1574165">
                  <a:extLst>
                    <a:ext uri="{9D8B030D-6E8A-4147-A177-3AD203B41FA5}">
                      <a16:colId xmlns:a16="http://schemas.microsoft.com/office/drawing/2014/main" val="20001"/>
                    </a:ext>
                  </a:extLst>
                </a:gridCol>
                <a:gridCol w="1579880">
                  <a:extLst>
                    <a:ext uri="{9D8B030D-6E8A-4147-A177-3AD203B41FA5}">
                      <a16:colId xmlns:a16="http://schemas.microsoft.com/office/drawing/2014/main" val="20002"/>
                    </a:ext>
                  </a:extLst>
                </a:gridCol>
                <a:gridCol w="1854835">
                  <a:extLst>
                    <a:ext uri="{9D8B030D-6E8A-4147-A177-3AD203B41FA5}">
                      <a16:colId xmlns:a16="http://schemas.microsoft.com/office/drawing/2014/main" val="20003"/>
                    </a:ext>
                  </a:extLst>
                </a:gridCol>
              </a:tblGrid>
              <a:tr h="452120">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航线</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起点城市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终点城市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每天航班数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04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表格 3"/>
          <p:cNvGraphicFramePr/>
          <p:nvPr>
            <p:custDataLst>
              <p:tags r:id="rId2"/>
            </p:custDataLst>
          </p:nvPr>
        </p:nvGraphicFramePr>
        <p:xfrm>
          <a:off x="1113278" y="3861048"/>
          <a:ext cx="5427980" cy="2926080"/>
        </p:xfrm>
        <a:graphic>
          <a:graphicData uri="http://schemas.openxmlformats.org/drawingml/2006/table">
            <a:tbl>
              <a:tblPr firstRow="1" bandRow="1">
                <a:tableStyleId>{5940675A-B579-460E-94D1-54222C63F5DA}</a:tableStyleId>
              </a:tblPr>
              <a:tblGrid>
                <a:gridCol w="1123950">
                  <a:extLst>
                    <a:ext uri="{9D8B030D-6E8A-4147-A177-3AD203B41FA5}">
                      <a16:colId xmlns:a16="http://schemas.microsoft.com/office/drawing/2014/main" val="20000"/>
                    </a:ext>
                  </a:extLst>
                </a:gridCol>
                <a:gridCol w="716915">
                  <a:extLst>
                    <a:ext uri="{9D8B030D-6E8A-4147-A177-3AD203B41FA5}">
                      <a16:colId xmlns:a16="http://schemas.microsoft.com/office/drawing/2014/main" val="20001"/>
                    </a:ext>
                  </a:extLst>
                </a:gridCol>
                <a:gridCol w="718185">
                  <a:extLst>
                    <a:ext uri="{9D8B030D-6E8A-4147-A177-3AD203B41FA5}">
                      <a16:colId xmlns:a16="http://schemas.microsoft.com/office/drawing/2014/main" val="20002"/>
                    </a:ext>
                  </a:extLst>
                </a:gridCol>
                <a:gridCol w="716915">
                  <a:extLst>
                    <a:ext uri="{9D8B030D-6E8A-4147-A177-3AD203B41FA5}">
                      <a16:colId xmlns:a16="http://schemas.microsoft.com/office/drawing/2014/main" val="20003"/>
                    </a:ext>
                  </a:extLst>
                </a:gridCol>
                <a:gridCol w="717550">
                  <a:extLst>
                    <a:ext uri="{9D8B030D-6E8A-4147-A177-3AD203B41FA5}">
                      <a16:colId xmlns:a16="http://schemas.microsoft.com/office/drawing/2014/main" val="20004"/>
                    </a:ext>
                  </a:extLst>
                </a:gridCol>
                <a:gridCol w="716915">
                  <a:extLst>
                    <a:ext uri="{9D8B030D-6E8A-4147-A177-3AD203B41FA5}">
                      <a16:colId xmlns:a16="http://schemas.microsoft.com/office/drawing/2014/main" val="20005"/>
                    </a:ext>
                  </a:extLst>
                </a:gridCol>
                <a:gridCol w="717550">
                  <a:extLst>
                    <a:ext uri="{9D8B030D-6E8A-4147-A177-3AD203B41FA5}">
                      <a16:colId xmlns:a16="http://schemas.microsoft.com/office/drawing/2014/main" val="20006"/>
                    </a:ext>
                  </a:extLst>
                </a:gridCol>
              </a:tblGrid>
              <a:tr h="658629">
                <a:tc>
                  <a:txBody>
                    <a:bodyPr/>
                    <a:lstStyle/>
                    <a:p>
                      <a:pPr indent="0">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       到 </a:t>
                      </a:r>
                    </a:p>
                    <a:p>
                      <a:pPr indent="0">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从</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63115">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7" name="直接连接符 6">
            <a:extLst>
              <a:ext uri="{FF2B5EF4-FFF2-40B4-BE49-F238E27FC236}">
                <a16:creationId xmlns:a16="http://schemas.microsoft.com/office/drawing/2014/main" id="{6E73DFFE-3D2A-40E7-ADBA-7B9756BDD5AD}"/>
              </a:ext>
            </a:extLst>
          </p:cNvPr>
          <p:cNvCxnSpPr>
            <a:cxnSpLocks/>
          </p:cNvCxnSpPr>
          <p:nvPr/>
        </p:nvCxnSpPr>
        <p:spPr>
          <a:xfrm>
            <a:off x="1113278" y="3864705"/>
            <a:ext cx="1082458" cy="716423"/>
          </a:xfrm>
          <a:prstGeom prst="line">
            <a:avLst/>
          </a:prstGeom>
          <a:solidFill>
            <a:schemeClr val="accent1"/>
          </a:solidFill>
          <a:ln w="9525" cap="flat" cmpd="sng" algn="ctr">
            <a:solidFill>
              <a:schemeClr val="tx1"/>
            </a:solidFill>
            <a:prstDash val="solid"/>
            <a:miter lim="800000"/>
            <a:headEnd type="none" w="med" len="med"/>
            <a:tailEnd type="none" w="med" len="med"/>
          </a:ln>
        </p:spPr>
      </p:cxnSp>
      <p:sp>
        <p:nvSpPr>
          <p:cNvPr id="5" name="灯片编号占位符 4">
            <a:extLst>
              <a:ext uri="{FF2B5EF4-FFF2-40B4-BE49-F238E27FC236}">
                <a16:creationId xmlns:a16="http://schemas.microsoft.com/office/drawing/2014/main" id="{AA5EC2E5-8B76-42ED-8A0D-E0B332868CB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94</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dissolv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0"/>
            <a:ext cx="9144000" cy="1752600"/>
          </a:xfrm>
          <a:prstGeom prst="rect">
            <a:avLst/>
          </a:prstGeom>
        </p:spPr>
        <p:txBody>
          <a:bodyPr/>
          <a:lstStyle/>
          <a:p>
            <a:pPr marL="0" marR="0" indent="0" defTabSz="914400" latinLnBrk="0">
              <a:lnSpc>
                <a:spcPct val="100000"/>
              </a:lnSpc>
              <a:buClrTx/>
              <a:buSzTx/>
              <a:buFontTx/>
              <a:buNone/>
              <a:defRPr/>
            </a:pPr>
            <a:r>
              <a:rPr kumimoji="0" lang="en-US" altLang="zh-CN" b="1" i="0" kern="1200" cap="small" spc="0" normalizeH="0" baseline="0" noProof="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b="1" i="0" kern="1200" cap="small" spc="0" normalizeH="0" baseline="0" noProof="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各港口间调度所需船只数。</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有些港口每天到达船数多于需要船数</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例如港口</a:t>
            </a:r>
            <a:r>
              <a:rPr kumimoji="0" lang="en-US" altLang="zh-CN" b="1" i="1"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每天到达</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条</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需求</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条</a:t>
            </a:r>
            <a:endPar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defTabSz="914400" latinLnBrk="0">
              <a:lnSpc>
                <a:spcPct val="100000"/>
              </a:lnSpc>
              <a:buClrTx/>
              <a:buSzTx/>
              <a:buFontTx/>
              <a:buNone/>
              <a:defRPr/>
            </a:pP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而有些港口到达数少于需求数</a:t>
            </a:r>
            <a:r>
              <a:rPr kumimoji="0" lang="zh-CN" altLang="en-US" b="1" i="0" kern="1200" cap="small" spc="0" normalizeH="0" baseline="0" noProof="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例如港口</a:t>
            </a:r>
            <a:r>
              <a:rPr kumimoji="0" lang="en-US" altLang="zh-CN" b="1" i="1"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endPar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defTabSz="914400" latinLnBrk="0">
              <a:lnSpc>
                <a:spcPct val="100000"/>
              </a:lnSpc>
              <a:buClrTx/>
              <a:buSzTx/>
              <a:buFontTx/>
              <a:buNone/>
              <a:defRPr/>
            </a:pP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各港口每天余缺船只数的计算见表</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4-40</a:t>
            </a:r>
            <a:br>
              <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4" name="矩形 3"/>
          <p:cNvSpPr/>
          <p:nvPr/>
        </p:nvSpPr>
        <p:spPr>
          <a:xfrm>
            <a:off x="6718282" y="2885946"/>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4-40</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5944870" y="5435445"/>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4-37</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表格 2"/>
          <p:cNvGraphicFramePr/>
          <p:nvPr>
            <p:custDataLst>
              <p:tags r:id="rId1"/>
            </p:custDataLst>
          </p:nvPr>
        </p:nvGraphicFramePr>
        <p:xfrm>
          <a:off x="539750" y="1628775"/>
          <a:ext cx="6144895" cy="2770649"/>
        </p:xfrm>
        <a:graphic>
          <a:graphicData uri="http://schemas.openxmlformats.org/drawingml/2006/table">
            <a:tbl>
              <a:tblPr firstRow="1" bandRow="1">
                <a:tableStyleId>{5940675A-B579-460E-94D1-54222C63F5DA}</a:tableStyleId>
              </a:tblPr>
              <a:tblGrid>
                <a:gridCol w="1606550">
                  <a:extLst>
                    <a:ext uri="{9D8B030D-6E8A-4147-A177-3AD203B41FA5}">
                      <a16:colId xmlns:a16="http://schemas.microsoft.com/office/drawing/2014/main" val="20000"/>
                    </a:ext>
                  </a:extLst>
                </a:gridCol>
                <a:gridCol w="1609725">
                  <a:extLst>
                    <a:ext uri="{9D8B030D-6E8A-4147-A177-3AD203B41FA5}">
                      <a16:colId xmlns:a16="http://schemas.microsoft.com/office/drawing/2014/main" val="20001"/>
                    </a:ext>
                  </a:extLst>
                </a:gridCol>
                <a:gridCol w="1606550">
                  <a:extLst>
                    <a:ext uri="{9D8B030D-6E8A-4147-A177-3AD203B41FA5}">
                      <a16:colId xmlns:a16="http://schemas.microsoft.com/office/drawing/2014/main" val="20002"/>
                    </a:ext>
                  </a:extLst>
                </a:gridCol>
                <a:gridCol w="1322070">
                  <a:extLst>
                    <a:ext uri="{9D8B030D-6E8A-4147-A177-3AD203B41FA5}">
                      <a16:colId xmlns:a16="http://schemas.microsoft.com/office/drawing/2014/main" val="20003"/>
                    </a:ext>
                  </a:extLst>
                </a:gridCol>
              </a:tblGrid>
              <a:tr h="576089">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港口城市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每天到达</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每天需求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余缺数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2278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 name="表格 4"/>
          <p:cNvGraphicFramePr/>
          <p:nvPr>
            <p:custDataLst>
              <p:tags r:id="rId2"/>
            </p:custDataLst>
          </p:nvPr>
        </p:nvGraphicFramePr>
        <p:xfrm>
          <a:off x="539750" y="4653136"/>
          <a:ext cx="5405120" cy="2026285"/>
        </p:xfrm>
        <a:graphic>
          <a:graphicData uri="http://schemas.openxmlformats.org/drawingml/2006/table">
            <a:tbl>
              <a:tblPr firstRow="1" bandRow="1">
                <a:tableStyleId>{5940675A-B579-460E-94D1-54222C63F5DA}</a:tableStyleId>
              </a:tblPr>
              <a:tblGrid>
                <a:gridCol w="913130">
                  <a:extLst>
                    <a:ext uri="{9D8B030D-6E8A-4147-A177-3AD203B41FA5}">
                      <a16:colId xmlns:a16="http://schemas.microsoft.com/office/drawing/2014/main" val="20000"/>
                    </a:ext>
                  </a:extLst>
                </a:gridCol>
                <a:gridCol w="1412875">
                  <a:extLst>
                    <a:ext uri="{9D8B030D-6E8A-4147-A177-3AD203B41FA5}">
                      <a16:colId xmlns:a16="http://schemas.microsoft.com/office/drawing/2014/main" val="20001"/>
                    </a:ext>
                  </a:extLst>
                </a:gridCol>
                <a:gridCol w="1415415">
                  <a:extLst>
                    <a:ext uri="{9D8B030D-6E8A-4147-A177-3AD203B41FA5}">
                      <a16:colId xmlns:a16="http://schemas.microsoft.com/office/drawing/2014/main" val="20002"/>
                    </a:ext>
                  </a:extLst>
                </a:gridCol>
                <a:gridCol w="1663700">
                  <a:extLst>
                    <a:ext uri="{9D8B030D-6E8A-4147-A177-3AD203B41FA5}">
                      <a16:colId xmlns:a16="http://schemas.microsoft.com/office/drawing/2014/main" val="20003"/>
                    </a:ext>
                  </a:extLst>
                </a:gridCol>
              </a:tblGrid>
              <a:tr h="563245">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航线</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起点城市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终点城市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每天航班数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04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灯片编号占位符 6">
            <a:extLst>
              <a:ext uri="{FF2B5EF4-FFF2-40B4-BE49-F238E27FC236}">
                <a16:creationId xmlns:a16="http://schemas.microsoft.com/office/drawing/2014/main" id="{FF5B829E-04E6-40E0-86F0-E97C7AB7F42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95</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0"/>
            <a:ext cx="9144000" cy="476250"/>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各港口每天余缺船只数的计算见表</a:t>
            </a:r>
            <a:r>
              <a:rPr kumimoji="0" lang="en-US" altLang="zh-CN" b="1" i="0" kern="1200" cap="small"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4-40</a:t>
            </a:r>
            <a:br>
              <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4" name="矩形 3"/>
          <p:cNvSpPr/>
          <p:nvPr/>
        </p:nvSpPr>
        <p:spPr>
          <a:xfrm>
            <a:off x="6820809" y="1559058"/>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4-40</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Rectangle 2"/>
          <p:cNvSpPr txBox="1">
            <a:spLocks noChangeArrowheads="1"/>
          </p:cNvSpPr>
          <p:nvPr/>
        </p:nvSpPr>
        <p:spPr>
          <a:xfrm>
            <a:off x="0" y="3500438"/>
            <a:ext cx="9144000" cy="865187"/>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为使配备船只数最少</a:t>
            </a:r>
            <a:r>
              <a:rPr kumimoji="0" lang="zh-CN" altLang="en-US" b="1" i="0" kern="1200" cap="small" spc="0" normalizeH="0" baseline="0" noProof="0" dirty="0">
                <a:solidFill>
                  <a:srgbClr val="FF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应做到周转的空船数为最少</a:t>
            </a:r>
            <a:endPar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因此建立以下运输问题</a:t>
            </a:r>
            <a:r>
              <a:rPr kumimoji="0" lang="zh-CN" altLang="en-US" b="1" i="0" kern="1200" cap="small" spc="0" normalizeH="0" baseline="0" noProof="0" dirty="0">
                <a:solidFill>
                  <a:srgbClr val="FF0000"/>
                </a:solidFill>
                <a:latin typeface="仿宋" panose="02010609060101010101" pitchFamily="49" charset="-122"/>
                <a:ea typeface="仿宋" panose="02010609060101010101" pitchFamily="49" charset="-122"/>
                <a:cs typeface="Times New Roman" panose="02020603050405020304" pitchFamily="18" charset="0"/>
              </a:rPr>
              <a:t>，</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其产销平衡表见表</a:t>
            </a:r>
            <a:r>
              <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4-41</a:t>
            </a:r>
            <a:br>
              <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rPr>
            </a:b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9" name="矩形 8"/>
          <p:cNvSpPr/>
          <p:nvPr/>
        </p:nvSpPr>
        <p:spPr>
          <a:xfrm>
            <a:off x="6431350" y="5229200"/>
            <a:ext cx="1584017"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4-41</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611505" y="404495"/>
          <a:ext cx="6144895" cy="2770793"/>
        </p:xfrm>
        <a:graphic>
          <a:graphicData uri="http://schemas.openxmlformats.org/drawingml/2006/table">
            <a:tbl>
              <a:tblPr firstRow="1" bandRow="1">
                <a:tableStyleId>{5940675A-B579-460E-94D1-54222C63F5DA}</a:tableStyleId>
              </a:tblPr>
              <a:tblGrid>
                <a:gridCol w="1606550">
                  <a:extLst>
                    <a:ext uri="{9D8B030D-6E8A-4147-A177-3AD203B41FA5}">
                      <a16:colId xmlns:a16="http://schemas.microsoft.com/office/drawing/2014/main" val="20000"/>
                    </a:ext>
                  </a:extLst>
                </a:gridCol>
                <a:gridCol w="1609725">
                  <a:extLst>
                    <a:ext uri="{9D8B030D-6E8A-4147-A177-3AD203B41FA5}">
                      <a16:colId xmlns:a16="http://schemas.microsoft.com/office/drawing/2014/main" val="20001"/>
                    </a:ext>
                  </a:extLst>
                </a:gridCol>
                <a:gridCol w="1606550">
                  <a:extLst>
                    <a:ext uri="{9D8B030D-6E8A-4147-A177-3AD203B41FA5}">
                      <a16:colId xmlns:a16="http://schemas.microsoft.com/office/drawing/2014/main" val="20002"/>
                    </a:ext>
                  </a:extLst>
                </a:gridCol>
                <a:gridCol w="1322070">
                  <a:extLst>
                    <a:ext uri="{9D8B030D-6E8A-4147-A177-3AD203B41FA5}">
                      <a16:colId xmlns:a16="http://schemas.microsoft.com/office/drawing/2014/main" val="20003"/>
                    </a:ext>
                  </a:extLst>
                </a:gridCol>
              </a:tblGrid>
              <a:tr h="576233">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港口城市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每天到达</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每天需求</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余缺数</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2278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 name="表格 4"/>
          <p:cNvGraphicFramePr/>
          <p:nvPr>
            <p:custDataLst>
              <p:tags r:id="rId2"/>
            </p:custDataLst>
          </p:nvPr>
        </p:nvGraphicFramePr>
        <p:xfrm>
          <a:off x="636975" y="4383989"/>
          <a:ext cx="5794375" cy="2346960"/>
        </p:xfrm>
        <a:graphic>
          <a:graphicData uri="http://schemas.openxmlformats.org/drawingml/2006/table">
            <a:tbl>
              <a:tblPr firstRow="1" bandRow="1">
                <a:tableStyleId>{5940675A-B579-460E-94D1-54222C63F5DA}</a:tableStyleId>
              </a:tblPr>
              <a:tblGrid>
                <a:gridCol w="2037715">
                  <a:extLst>
                    <a:ext uri="{9D8B030D-6E8A-4147-A177-3AD203B41FA5}">
                      <a16:colId xmlns:a16="http://schemas.microsoft.com/office/drawing/2014/main" val="20000"/>
                    </a:ext>
                  </a:extLst>
                </a:gridCol>
                <a:gridCol w="572135">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2135">
                  <a:extLst>
                    <a:ext uri="{9D8B030D-6E8A-4147-A177-3AD203B41FA5}">
                      <a16:colId xmlns:a16="http://schemas.microsoft.com/office/drawing/2014/main" val="20003"/>
                    </a:ext>
                  </a:extLst>
                </a:gridCol>
                <a:gridCol w="2040890">
                  <a:extLst>
                    <a:ext uri="{9D8B030D-6E8A-4147-A177-3AD203B41FA5}">
                      <a16:colId xmlns:a16="http://schemas.microsoft.com/office/drawing/2014/main" val="20004"/>
                    </a:ext>
                  </a:extLst>
                </a:gridCol>
              </a:tblGrid>
              <a:tr h="624840">
                <a:tc>
                  <a:txBody>
                    <a:bodyPr/>
                    <a:lstStyle/>
                    <a:p>
                      <a:pPr indent="0" algn="ctr">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港 口</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每天多余船只</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484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4840">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每天缺少船只</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灯片编号占位符 5">
            <a:extLst>
              <a:ext uri="{FF2B5EF4-FFF2-40B4-BE49-F238E27FC236}">
                <a16:creationId xmlns:a16="http://schemas.microsoft.com/office/drawing/2014/main" id="{75DD15CE-25A3-45E6-A3CB-B76148CFC6A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96</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edge">
                                      <p:cBhvr>
                                        <p:cTn id="10" dur="2000"/>
                                        <p:tgtEl>
                                          <p:spTgt spid="9"/>
                                        </p:tgtEl>
                                      </p:cBhvr>
                                    </p:animEffec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4076700"/>
            <a:ext cx="9144000" cy="576263"/>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单位运价表应为相应各港口之间的</a:t>
            </a:r>
            <a:r>
              <a:rPr kumimoji="0" lang="zh-CN" altLang="en-US" b="1" i="0" kern="1200" cap="small" spc="0" normalizeH="0" baseline="0" noProof="0" dirty="0">
                <a:solidFill>
                  <a:srgbClr val="00B050"/>
                </a:solidFill>
                <a:latin typeface="微软雅黑" panose="020B0503020204020204" pitchFamily="34" charset="-122"/>
                <a:ea typeface="微软雅黑" panose="020B0503020204020204" pitchFamily="34" charset="-122"/>
                <a:cs typeface="+mn-cs"/>
              </a:rPr>
              <a:t>船只航程天数</a:t>
            </a:r>
            <a:r>
              <a:rPr kumimoji="0" lang="zh-CN" altLang="en-US" b="1" i="0" kern="1200" cap="small" spc="0" normalizeH="0" baseline="0" noProof="0" dirty="0">
                <a:solidFill>
                  <a:srgbClr val="FF0000"/>
                </a:solidFill>
                <a:latin typeface="仿宋" panose="02010609060101010101" pitchFamily="49" charset="-122"/>
                <a:ea typeface="仿宋" panose="02010609060101010101" pitchFamily="49" charset="-122"/>
                <a:cs typeface="+mn-cs"/>
              </a:rPr>
              <a:t>，</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见表</a:t>
            </a:r>
            <a:r>
              <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4-42</a:t>
            </a: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4" name="矩形 3"/>
          <p:cNvSpPr/>
          <p:nvPr/>
        </p:nvSpPr>
        <p:spPr>
          <a:xfrm>
            <a:off x="5292725" y="5445125"/>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4-42</a:t>
            </a:r>
            <a:endParaRPr kumimoji="0" lang="zh-CN" altLang="en-US" b="1" i="0" u="none" strike="noStrike" kern="1200" cap="none" spc="0" normalizeH="0" baseline="0" noProof="0" dirty="0">
              <a:ln>
                <a:noFill/>
              </a:ln>
              <a:solidFill>
                <a:srgbClr val="000000"/>
              </a:solidFill>
              <a:effectLst/>
              <a:uLnTx/>
              <a:uFillTx/>
              <a:latin typeface="Verdana" panose="020B0604030504040204" pitchFamily="34" charset="0"/>
              <a:ea typeface="微软雅黑" panose="020B0503020204020204" pitchFamily="34" charset="-122"/>
              <a:cs typeface="+mn-cs"/>
            </a:endParaRPr>
          </a:p>
        </p:txBody>
      </p:sp>
      <p:sp>
        <p:nvSpPr>
          <p:cNvPr id="6" name="矩形 5"/>
          <p:cNvSpPr/>
          <p:nvPr/>
        </p:nvSpPr>
        <p:spPr>
          <a:xfrm>
            <a:off x="5867718" y="1196975"/>
            <a:ext cx="2667000" cy="46166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4-38</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 name="表格 2"/>
          <p:cNvGraphicFramePr/>
          <p:nvPr>
            <p:custDataLst>
              <p:tags r:id="rId1"/>
            </p:custDataLst>
          </p:nvPr>
        </p:nvGraphicFramePr>
        <p:xfrm>
          <a:off x="532098" y="389746"/>
          <a:ext cx="5427980" cy="2926080"/>
        </p:xfrm>
        <a:graphic>
          <a:graphicData uri="http://schemas.openxmlformats.org/drawingml/2006/table">
            <a:tbl>
              <a:tblPr firstRow="1" bandRow="1">
                <a:tableStyleId>{5940675A-B579-460E-94D1-54222C63F5DA}</a:tableStyleId>
              </a:tblPr>
              <a:tblGrid>
                <a:gridCol w="1123950">
                  <a:extLst>
                    <a:ext uri="{9D8B030D-6E8A-4147-A177-3AD203B41FA5}">
                      <a16:colId xmlns:a16="http://schemas.microsoft.com/office/drawing/2014/main" val="20000"/>
                    </a:ext>
                  </a:extLst>
                </a:gridCol>
                <a:gridCol w="716915">
                  <a:extLst>
                    <a:ext uri="{9D8B030D-6E8A-4147-A177-3AD203B41FA5}">
                      <a16:colId xmlns:a16="http://schemas.microsoft.com/office/drawing/2014/main" val="20001"/>
                    </a:ext>
                  </a:extLst>
                </a:gridCol>
                <a:gridCol w="718185">
                  <a:extLst>
                    <a:ext uri="{9D8B030D-6E8A-4147-A177-3AD203B41FA5}">
                      <a16:colId xmlns:a16="http://schemas.microsoft.com/office/drawing/2014/main" val="20002"/>
                    </a:ext>
                  </a:extLst>
                </a:gridCol>
                <a:gridCol w="716915">
                  <a:extLst>
                    <a:ext uri="{9D8B030D-6E8A-4147-A177-3AD203B41FA5}">
                      <a16:colId xmlns:a16="http://schemas.microsoft.com/office/drawing/2014/main" val="20003"/>
                    </a:ext>
                  </a:extLst>
                </a:gridCol>
                <a:gridCol w="717550">
                  <a:extLst>
                    <a:ext uri="{9D8B030D-6E8A-4147-A177-3AD203B41FA5}">
                      <a16:colId xmlns:a16="http://schemas.microsoft.com/office/drawing/2014/main" val="20004"/>
                    </a:ext>
                  </a:extLst>
                </a:gridCol>
                <a:gridCol w="716915">
                  <a:extLst>
                    <a:ext uri="{9D8B030D-6E8A-4147-A177-3AD203B41FA5}">
                      <a16:colId xmlns:a16="http://schemas.microsoft.com/office/drawing/2014/main" val="20005"/>
                    </a:ext>
                  </a:extLst>
                </a:gridCol>
                <a:gridCol w="717550">
                  <a:extLst>
                    <a:ext uri="{9D8B030D-6E8A-4147-A177-3AD203B41FA5}">
                      <a16:colId xmlns:a16="http://schemas.microsoft.com/office/drawing/2014/main" val="20006"/>
                    </a:ext>
                  </a:extLst>
                </a:gridCol>
              </a:tblGrid>
              <a:tr h="515620">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b="1" dirty="0">
                          <a:latin typeface="微软雅黑" panose="020B0503020204020204" pitchFamily="34" charset="-122"/>
                          <a:ea typeface="微软雅黑" panose="020B0503020204020204" pitchFamily="34" charset="-122"/>
                          <a:cs typeface="Times New Roman" panose="02020603050405020304" pitchFamily="18" charset="0"/>
                        </a:rPr>
                        <a:t>到</a:t>
                      </a: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p>
                    <a:p>
                      <a:pPr indent="0">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从</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63115">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20</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5" name="直接连接符 4"/>
          <p:cNvCxnSpPr>
            <a:cxnSpLocks/>
          </p:cNvCxnSpPr>
          <p:nvPr/>
        </p:nvCxnSpPr>
        <p:spPr>
          <a:xfrm>
            <a:off x="532098" y="419307"/>
            <a:ext cx="1087574" cy="705437"/>
          </a:xfrm>
          <a:prstGeom prst="line">
            <a:avLst/>
          </a:prstGeom>
          <a:solidFill>
            <a:schemeClr val="accent1"/>
          </a:solidFill>
          <a:ln w="9525" cap="flat" cmpd="sng" algn="ctr">
            <a:solidFill>
              <a:schemeClr val="tx1"/>
            </a:solidFill>
            <a:prstDash val="solid"/>
            <a:miter lim="800000"/>
            <a:headEnd type="none" w="med" len="med"/>
            <a:tailEnd type="none" w="med" len="med"/>
          </a:ln>
        </p:spPr>
      </p:cxnSp>
      <p:graphicFrame>
        <p:nvGraphicFramePr>
          <p:cNvPr id="7" name="表格 6"/>
          <p:cNvGraphicFramePr/>
          <p:nvPr>
            <p:custDataLst>
              <p:tags r:id="rId2"/>
            </p:custDataLst>
          </p:nvPr>
        </p:nvGraphicFramePr>
        <p:xfrm>
          <a:off x="1763688" y="4725144"/>
          <a:ext cx="3613785" cy="1800225"/>
        </p:xfrm>
        <a:graphic>
          <a:graphicData uri="http://schemas.openxmlformats.org/drawingml/2006/table">
            <a:tbl>
              <a:tblPr firstRow="1" bandRow="1">
                <a:tableStyleId>{5940675A-B579-460E-94D1-54222C63F5DA}</a:tableStyleId>
              </a:tblPr>
              <a:tblGrid>
                <a:gridCol w="1334135">
                  <a:extLst>
                    <a:ext uri="{9D8B030D-6E8A-4147-A177-3AD203B41FA5}">
                      <a16:colId xmlns:a16="http://schemas.microsoft.com/office/drawing/2014/main" val="20000"/>
                    </a:ext>
                  </a:extLst>
                </a:gridCol>
                <a:gridCol w="760095">
                  <a:extLst>
                    <a:ext uri="{9D8B030D-6E8A-4147-A177-3AD203B41FA5}">
                      <a16:colId xmlns:a16="http://schemas.microsoft.com/office/drawing/2014/main" val="20001"/>
                    </a:ext>
                  </a:extLst>
                </a:gridCol>
                <a:gridCol w="758825">
                  <a:extLst>
                    <a:ext uri="{9D8B030D-6E8A-4147-A177-3AD203B41FA5}">
                      <a16:colId xmlns:a16="http://schemas.microsoft.com/office/drawing/2014/main" val="20002"/>
                    </a:ext>
                  </a:extLst>
                </a:gridCol>
                <a:gridCol w="760730">
                  <a:extLst>
                    <a:ext uri="{9D8B030D-6E8A-4147-A177-3AD203B41FA5}">
                      <a16:colId xmlns:a16="http://schemas.microsoft.com/office/drawing/2014/main" val="20003"/>
                    </a:ext>
                  </a:extLst>
                </a:gridCol>
              </a:tblGrid>
              <a:tr h="600075">
                <a:tc>
                  <a:txBody>
                    <a:bodyPr/>
                    <a:lstStyle/>
                    <a:p>
                      <a:pPr indent="0" algn="ctr">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港 口</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0015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灯片编号占位符 7">
            <a:extLst>
              <a:ext uri="{FF2B5EF4-FFF2-40B4-BE49-F238E27FC236}">
                <a16:creationId xmlns:a16="http://schemas.microsoft.com/office/drawing/2014/main" id="{7ADD80D1-24C5-46F5-B5B8-739B6628F90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97</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2060575"/>
            <a:ext cx="8520113" cy="452438"/>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用表上作业法求出空船的最优调度方案见表</a:t>
            </a:r>
            <a:r>
              <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4-43</a:t>
            </a:r>
            <a:endParaRPr kumimoji="0" lang="zh-CN" altLang="en-US" sz="2800"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endParaRPr>
          </a:p>
        </p:txBody>
      </p:sp>
      <p:sp>
        <p:nvSpPr>
          <p:cNvPr id="4" name="Rectangle 4"/>
          <p:cNvSpPr>
            <a:spLocks noChangeArrowheads="1"/>
          </p:cNvSpPr>
          <p:nvPr/>
        </p:nvSpPr>
        <p:spPr bwMode="auto">
          <a:xfrm>
            <a:off x="-95250" y="5259388"/>
            <a:ext cx="92392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由表</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4-43</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知最少需周转的空船数为</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2×1+13×1+5×1+17×1+3×1=40</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条</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这样不考虑维修、储备等情况</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该公司至少应配备</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40+91=131</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条船</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5400" b="0" i="0" u="none" strike="noStrike" kern="1200" cap="none" spc="0" normalizeH="0" baseline="0" noProof="0" dirty="0">
              <a:ln>
                <a:noFill/>
              </a:ln>
              <a:solidFill>
                <a:srgbClr val="000000"/>
              </a:solidFill>
              <a:effectLst/>
              <a:uLnTx/>
              <a:uFillTx/>
              <a:latin typeface="Verdana" panose="020B0604030504040204" pitchFamily="34" charset="0"/>
              <a:ea typeface="微软雅黑" panose="020B0503020204020204" pitchFamily="34" charset="-122"/>
              <a:cs typeface="+mn-cs"/>
            </a:endParaRPr>
          </a:p>
        </p:txBody>
      </p:sp>
      <p:sp>
        <p:nvSpPr>
          <p:cNvPr id="5" name="矩形 4"/>
          <p:cNvSpPr/>
          <p:nvPr/>
        </p:nvSpPr>
        <p:spPr>
          <a:xfrm>
            <a:off x="6791325" y="3610198"/>
            <a:ext cx="1194558"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4-43</a:t>
            </a:r>
            <a:endParaRPr kumimoji="0" lang="zh-CN" altLang="en-US"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 name="Rectangle 2"/>
          <p:cNvSpPr txBox="1">
            <a:spLocks noChangeArrowheads="1"/>
          </p:cNvSpPr>
          <p:nvPr/>
        </p:nvSpPr>
        <p:spPr>
          <a:xfrm>
            <a:off x="0" y="0"/>
            <a:ext cx="9144000" cy="476250"/>
          </a:xfrm>
          <a:prstGeom prst="rect">
            <a:avLst/>
          </a:prstGeom>
        </p:spPr>
        <p:txBody>
          <a:bodyPr/>
          <a:lstStyle/>
          <a:p>
            <a:pPr marL="0" marR="0" indent="0" defTabSz="914400" latinLnBrk="0">
              <a:lnSpc>
                <a:spcPct val="100000"/>
              </a:lnSpc>
              <a:buClrTx/>
              <a:buSzTx/>
              <a:buFontTx/>
              <a:buNone/>
              <a:defRPr/>
            </a:pP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单位运价表应为相应各港口之间的</a:t>
            </a:r>
            <a:r>
              <a:rPr kumimoji="0" lang="zh-CN" altLang="en-US" b="1" i="0" kern="1200" cap="small" spc="0" normalizeH="0" baseline="0" noProof="0" dirty="0">
                <a:solidFill>
                  <a:srgbClr val="00B050"/>
                </a:solidFill>
                <a:latin typeface="微软雅黑" panose="020B0503020204020204" pitchFamily="34" charset="-122"/>
                <a:ea typeface="微软雅黑" panose="020B0503020204020204" pitchFamily="34" charset="-122"/>
                <a:cs typeface="+mn-cs"/>
              </a:rPr>
              <a:t>船只航程天数</a:t>
            </a:r>
            <a:r>
              <a:rPr kumimoji="0" lang="zh-CN" altLang="en-US" b="1" i="0" kern="1200" cap="small" spc="0" normalizeH="0" baseline="0" noProof="0" dirty="0">
                <a:solidFill>
                  <a:srgbClr val="FF0000"/>
                </a:solidFill>
                <a:latin typeface="仿宋" panose="02010609060101010101" pitchFamily="49" charset="-122"/>
                <a:ea typeface="仿宋" panose="02010609060101010101" pitchFamily="49" charset="-122"/>
                <a:cs typeface="+mn-cs"/>
              </a:rPr>
              <a:t>，</a:t>
            </a:r>
            <a:r>
              <a:rPr kumimoji="0" lang="zh-CN" altLang="en-US"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见表</a:t>
            </a:r>
            <a:r>
              <a:rPr kumimoji="0" lang="en-US" altLang="zh-CN" b="1" i="0" kern="1200" cap="small" spc="0" normalizeH="0" baseline="0" noProof="0" dirty="0">
                <a:solidFill>
                  <a:srgbClr val="FF0000"/>
                </a:solidFill>
                <a:latin typeface="微软雅黑" panose="020B0503020204020204" pitchFamily="34" charset="-122"/>
                <a:ea typeface="微软雅黑" panose="020B0503020204020204" pitchFamily="34" charset="-122"/>
                <a:cs typeface="+mn-cs"/>
              </a:rPr>
              <a:t>4-42</a:t>
            </a:r>
            <a:endParaRPr kumimoji="0" lang="zh-CN" altLang="en-US" sz="2800" b="0" i="0" kern="1200" cap="small" spc="0" normalizeH="0" baseline="0" noProof="0" dirty="0">
              <a:solidFill>
                <a:srgbClr val="333399"/>
              </a:solidFill>
              <a:latin typeface="微软雅黑" panose="020B0503020204020204" pitchFamily="34" charset="-122"/>
              <a:ea typeface="微软雅黑" panose="020B0503020204020204" pitchFamily="34" charset="-122"/>
              <a:cs typeface="+mn-cs"/>
            </a:endParaRPr>
          </a:p>
        </p:txBody>
      </p:sp>
      <p:sp>
        <p:nvSpPr>
          <p:cNvPr id="8" name="矩形 7"/>
          <p:cNvSpPr/>
          <p:nvPr/>
        </p:nvSpPr>
        <p:spPr>
          <a:xfrm>
            <a:off x="5364163" y="981075"/>
            <a:ext cx="1944687" cy="46166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表</a:t>
            </a:r>
            <a:r>
              <a:rPr kumimoji="0" lang="en-US" altLang="zh-CN" b="1" i="0" u="none" strike="noStrike" kern="1200" cap="small"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4-42</a:t>
            </a:r>
            <a:endParaRPr kumimoji="0" lang="zh-CN" altLang="en-US" b="1" i="0" u="none" strike="noStrike" kern="1200" cap="none" spc="0" normalizeH="0" baseline="0" noProof="0" dirty="0">
              <a:ln>
                <a:noFill/>
              </a:ln>
              <a:solidFill>
                <a:srgbClr val="000000"/>
              </a:solidFill>
              <a:effectLst/>
              <a:uLnTx/>
              <a:uFillTx/>
              <a:latin typeface="Verdana" panose="020B0604030504040204" pitchFamily="34" charset="0"/>
              <a:ea typeface="微软雅黑" panose="020B0503020204020204" pitchFamily="34" charset="-122"/>
              <a:cs typeface="+mn-cs"/>
            </a:endParaRPr>
          </a:p>
        </p:txBody>
      </p:sp>
      <p:graphicFrame>
        <p:nvGraphicFramePr>
          <p:cNvPr id="3" name="表格 2"/>
          <p:cNvGraphicFramePr/>
          <p:nvPr>
            <p:custDataLst>
              <p:tags r:id="rId1"/>
            </p:custDataLst>
          </p:nvPr>
        </p:nvGraphicFramePr>
        <p:xfrm>
          <a:off x="1750378" y="437453"/>
          <a:ext cx="3613785" cy="1697355"/>
        </p:xfrm>
        <a:graphic>
          <a:graphicData uri="http://schemas.openxmlformats.org/drawingml/2006/table">
            <a:tbl>
              <a:tblPr firstRow="1" bandRow="1">
                <a:tableStyleId>{5940675A-B579-460E-94D1-54222C63F5DA}</a:tableStyleId>
              </a:tblPr>
              <a:tblGrid>
                <a:gridCol w="1334135">
                  <a:extLst>
                    <a:ext uri="{9D8B030D-6E8A-4147-A177-3AD203B41FA5}">
                      <a16:colId xmlns:a16="http://schemas.microsoft.com/office/drawing/2014/main" val="20000"/>
                    </a:ext>
                  </a:extLst>
                </a:gridCol>
                <a:gridCol w="760095">
                  <a:extLst>
                    <a:ext uri="{9D8B030D-6E8A-4147-A177-3AD203B41FA5}">
                      <a16:colId xmlns:a16="http://schemas.microsoft.com/office/drawing/2014/main" val="20001"/>
                    </a:ext>
                  </a:extLst>
                </a:gridCol>
                <a:gridCol w="758825">
                  <a:extLst>
                    <a:ext uri="{9D8B030D-6E8A-4147-A177-3AD203B41FA5}">
                      <a16:colId xmlns:a16="http://schemas.microsoft.com/office/drawing/2014/main" val="20002"/>
                    </a:ext>
                  </a:extLst>
                </a:gridCol>
                <a:gridCol w="760730">
                  <a:extLst>
                    <a:ext uri="{9D8B030D-6E8A-4147-A177-3AD203B41FA5}">
                      <a16:colId xmlns:a16="http://schemas.microsoft.com/office/drawing/2014/main" val="20003"/>
                    </a:ext>
                  </a:extLst>
                </a:gridCol>
              </a:tblGrid>
              <a:tr h="600075">
                <a:tc>
                  <a:txBody>
                    <a:bodyPr/>
                    <a:lstStyle/>
                    <a:p>
                      <a:pPr indent="0" algn="ctr">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港 口</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3620">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14</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13</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8</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17</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表格 8"/>
          <p:cNvGraphicFramePr/>
          <p:nvPr>
            <p:custDataLst>
              <p:tags r:id="rId2"/>
            </p:custDataLst>
          </p:nvPr>
        </p:nvGraphicFramePr>
        <p:xfrm>
          <a:off x="800100" y="2633345"/>
          <a:ext cx="5991225" cy="2520315"/>
        </p:xfrm>
        <a:graphic>
          <a:graphicData uri="http://schemas.openxmlformats.org/drawingml/2006/table">
            <a:tbl>
              <a:tblPr firstRow="1" bandRow="1">
                <a:tableStyleId>{5940675A-B579-460E-94D1-54222C63F5DA}</a:tableStyleId>
              </a:tblPr>
              <a:tblGrid>
                <a:gridCol w="2107565">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2455">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2110105">
                  <a:extLst>
                    <a:ext uri="{9D8B030D-6E8A-4147-A177-3AD203B41FA5}">
                      <a16:colId xmlns:a16="http://schemas.microsoft.com/office/drawing/2014/main" val="20004"/>
                    </a:ext>
                  </a:extLst>
                </a:gridCol>
              </a:tblGrid>
              <a:tr h="630555">
                <a:tc>
                  <a:txBody>
                    <a:bodyPr/>
                    <a:lstStyle/>
                    <a:p>
                      <a:pPr indent="0" algn="ctr">
                        <a:buNone/>
                      </a:pPr>
                      <a:r>
                        <a:rPr lang="en-US" sz="2400" b="1" dirty="0">
                          <a:latin typeface="微软雅黑" panose="020B0503020204020204" pitchFamily="34" charset="-122"/>
                          <a:ea typeface="微软雅黑" panose="020B0503020204020204" pitchFamily="34" charset="-122"/>
                          <a:cs typeface="Times New Roman" panose="02020603050405020304" pitchFamily="18" charset="0"/>
                        </a:rPr>
                        <a:t>港 口</a:t>
                      </a:r>
                      <a:endParaRPr lang="en-US"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每天多余船只</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60475">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C</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D</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 </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2</a:t>
                      </a:r>
                    </a:p>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9285">
                <a:tc>
                  <a:txBody>
                    <a:bodyPr/>
                    <a:lstStyle/>
                    <a:p>
                      <a:pPr indent="0">
                        <a:buNone/>
                      </a:pPr>
                      <a:r>
                        <a:rPr lang="en-US" sz="2400" b="1" dirty="0" err="1">
                          <a:latin typeface="微软雅黑" panose="020B0503020204020204" pitchFamily="34" charset="-122"/>
                          <a:ea typeface="微软雅黑" panose="020B0503020204020204" pitchFamily="34" charset="-122"/>
                          <a:cs typeface="宋体" panose="02010600030101010101" pitchFamily="2" charset="-122"/>
                        </a:rPr>
                        <a:t>每天缺少船只</a:t>
                      </a:r>
                      <a:endParaRPr lang="en-US" altLang="en-US" sz="24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2400" b="0"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灯片编号占位符 6">
            <a:extLst>
              <a:ext uri="{FF2B5EF4-FFF2-40B4-BE49-F238E27FC236}">
                <a16:creationId xmlns:a16="http://schemas.microsoft.com/office/drawing/2014/main" id="{CB35B9C9-9178-4CDA-8ADC-438A2A5C3F3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9CF47C1-88F1-442A-89D7-972F322E27CA}" type="slidenum">
              <a:rPr kumimoji="0" lang="en-US" altLang="zh-CN" sz="1400" b="0" i="0" u="none" strike="noStrike" kern="1200" cap="none" spc="0" normalizeH="0" baseline="0" noProof="0" smtClean="0">
                <a:ln>
                  <a:noFill/>
                </a:ln>
                <a:solidFill>
                  <a:srgbClr val="000000"/>
                </a:solidFill>
                <a:effectLst/>
                <a:uLnTx/>
                <a:uFillTx/>
                <a:latin typeface="Tahoma" panose="020B0604030504040204" pitchFamily="34" charset="0"/>
                <a:ea typeface="微软雅黑" panose="020B0503020204020204" pitchFamily="34" charset="-122"/>
                <a:cs typeface="+mn-cs"/>
              </a:rPr>
              <a:t>98</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42"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par>
                                <p:cTn id="13" presetID="2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edge">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dissolve">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dissolve">
                                      <p:cBhvr>
                                        <p:cTn id="2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692696"/>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a:solidFill>
                  <a:srgbClr val="0033CC"/>
                </a:solidFill>
                <a:latin typeface="微软雅黑" panose="020B0503020204020204" pitchFamily="34" charset="-122"/>
                <a:ea typeface="微软雅黑" panose="020B0503020204020204" pitchFamily="34" charset="-122"/>
              </a:rPr>
              <a:t>例 </a:t>
            </a:r>
            <a:r>
              <a:rPr kumimoji="0" lang="en-US" altLang="zh-CN" sz="3200" b="1">
                <a:solidFill>
                  <a:srgbClr val="0033CC"/>
                </a:solidFill>
                <a:latin typeface="微软雅黑" panose="020B0503020204020204" pitchFamily="34" charset="-122"/>
                <a:ea typeface="微软雅黑" panose="020B0503020204020204" pitchFamily="34" charset="-122"/>
              </a:rPr>
              <a:t>4-6</a:t>
            </a:r>
            <a:endParaRPr kumimoji="0" lang="zh-CN" altLang="en-US" sz="3200" b="1">
              <a:solidFill>
                <a:srgbClr val="0033CC"/>
              </a:solidFill>
              <a:latin typeface="微软雅黑" panose="020B0503020204020204" pitchFamily="34" charset="-122"/>
              <a:ea typeface="微软雅黑" panose="020B0503020204020204" pitchFamily="34" charset="-122"/>
            </a:endParaRPr>
          </a:p>
        </p:txBody>
      </p:sp>
      <p:sp>
        <p:nvSpPr>
          <p:cNvPr id="14339" name="Rectangle 2"/>
          <p:cNvSpPr txBox="1">
            <a:spLocks noChangeArrowheads="1"/>
          </p:cNvSpPr>
          <p:nvPr/>
        </p:nvSpPr>
        <p:spPr bwMode="auto">
          <a:xfrm>
            <a:off x="107504"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dirty="0">
                <a:solidFill>
                  <a:srgbClr val="FF0000"/>
                </a:solidFill>
                <a:latin typeface="微软雅黑" panose="020B0503020204020204" pitchFamily="34" charset="-122"/>
                <a:ea typeface="微软雅黑" panose="020B0503020204020204" pitchFamily="34" charset="-122"/>
              </a:rPr>
              <a:t>4.5.2 </a:t>
            </a:r>
            <a:r>
              <a:rPr kumimoji="0" lang="zh-CN" altLang="en-US" sz="3200" b="1" dirty="0">
                <a:solidFill>
                  <a:srgbClr val="FF0000"/>
                </a:solidFill>
                <a:latin typeface="微软雅黑" panose="020B0503020204020204" pitchFamily="34" charset="-122"/>
                <a:ea typeface="微软雅黑" panose="020B0503020204020204" pitchFamily="34" charset="-122"/>
              </a:rPr>
              <a:t>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4340" name="文本框 6"/>
          <p:cNvSpPr txBox="1">
            <a:spLocks noChangeArrowheads="1"/>
          </p:cNvSpPr>
          <p:nvPr/>
        </p:nvSpPr>
        <p:spPr bwMode="auto">
          <a:xfrm>
            <a:off x="0" y="1205081"/>
            <a:ext cx="9144000" cy="1130246"/>
          </a:xfrm>
          <a:prstGeom prst="rect">
            <a:avLst/>
          </a:prstGeom>
          <a:solidFill>
            <a:schemeClr val="accent1">
              <a:lumMod val="20000"/>
              <a:lumOff val="80000"/>
            </a:schemeClr>
          </a:solidFill>
          <a:ln>
            <a:noFill/>
          </a:ln>
        </p:spPr>
        <p:txBody>
          <a:bodyPr wrap="squar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LINGO</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软件计算</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个产地</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个销地的最小费用运输问题</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产销单位运价如下表</a:t>
            </a:r>
          </a:p>
        </p:txBody>
      </p:sp>
      <p:graphicFrame>
        <p:nvGraphicFramePr>
          <p:cNvPr id="7" name="表格 6"/>
          <p:cNvGraphicFramePr>
            <a:graphicFrameLocks noGrp="1"/>
          </p:cNvGraphicFramePr>
          <p:nvPr>
            <p:custDataLst>
              <p:tags r:id="rId1"/>
            </p:custDataLst>
          </p:nvPr>
        </p:nvGraphicFramePr>
        <p:xfrm>
          <a:off x="1042988" y="2442121"/>
          <a:ext cx="7417444" cy="3743953"/>
        </p:xfrm>
        <a:graphic>
          <a:graphicData uri="http://schemas.openxmlformats.org/drawingml/2006/table">
            <a:tbl>
              <a:tblPr>
                <a:tableStyleId>{5C22544A-7EE6-4342-B048-85BDC9FD1C3A}</a:tableStyleId>
              </a:tblPr>
              <a:tblGrid>
                <a:gridCol w="1586391">
                  <a:extLst>
                    <a:ext uri="{9D8B030D-6E8A-4147-A177-3AD203B41FA5}">
                      <a16:colId xmlns:a16="http://schemas.microsoft.com/office/drawing/2014/main" val="20000"/>
                    </a:ext>
                  </a:extLst>
                </a:gridCol>
                <a:gridCol w="647029">
                  <a:extLst>
                    <a:ext uri="{9D8B030D-6E8A-4147-A177-3AD203B41FA5}">
                      <a16:colId xmlns:a16="http://schemas.microsoft.com/office/drawing/2014/main" val="20001"/>
                    </a:ext>
                  </a:extLst>
                </a:gridCol>
                <a:gridCol w="648003">
                  <a:extLst>
                    <a:ext uri="{9D8B030D-6E8A-4147-A177-3AD203B41FA5}">
                      <a16:colId xmlns:a16="http://schemas.microsoft.com/office/drawing/2014/main" val="20002"/>
                    </a:ext>
                  </a:extLst>
                </a:gridCol>
                <a:gridCol w="648003">
                  <a:extLst>
                    <a:ext uri="{9D8B030D-6E8A-4147-A177-3AD203B41FA5}">
                      <a16:colId xmlns:a16="http://schemas.microsoft.com/office/drawing/2014/main" val="20003"/>
                    </a:ext>
                  </a:extLst>
                </a:gridCol>
                <a:gridCol w="648003">
                  <a:extLst>
                    <a:ext uri="{9D8B030D-6E8A-4147-A177-3AD203B41FA5}">
                      <a16:colId xmlns:a16="http://schemas.microsoft.com/office/drawing/2014/main" val="20004"/>
                    </a:ext>
                  </a:extLst>
                </a:gridCol>
                <a:gridCol w="648003">
                  <a:extLst>
                    <a:ext uri="{9D8B030D-6E8A-4147-A177-3AD203B41FA5}">
                      <a16:colId xmlns:a16="http://schemas.microsoft.com/office/drawing/2014/main" val="20005"/>
                    </a:ext>
                  </a:extLst>
                </a:gridCol>
                <a:gridCol w="648003">
                  <a:extLst>
                    <a:ext uri="{9D8B030D-6E8A-4147-A177-3AD203B41FA5}">
                      <a16:colId xmlns:a16="http://schemas.microsoft.com/office/drawing/2014/main" val="20006"/>
                    </a:ext>
                  </a:extLst>
                </a:gridCol>
                <a:gridCol w="648003">
                  <a:extLst>
                    <a:ext uri="{9D8B030D-6E8A-4147-A177-3AD203B41FA5}">
                      <a16:colId xmlns:a16="http://schemas.microsoft.com/office/drawing/2014/main" val="20007"/>
                    </a:ext>
                  </a:extLst>
                </a:gridCol>
                <a:gridCol w="648003">
                  <a:extLst>
                    <a:ext uri="{9D8B030D-6E8A-4147-A177-3AD203B41FA5}">
                      <a16:colId xmlns:a16="http://schemas.microsoft.com/office/drawing/2014/main" val="20008"/>
                    </a:ext>
                  </a:extLst>
                </a:gridCol>
                <a:gridCol w="648003">
                  <a:extLst>
                    <a:ext uri="{9D8B030D-6E8A-4147-A177-3AD203B41FA5}">
                      <a16:colId xmlns:a16="http://schemas.microsoft.com/office/drawing/2014/main" val="20009"/>
                    </a:ext>
                  </a:extLst>
                </a:gridCol>
              </a:tblGrid>
              <a:tr h="1290393">
                <a:tc>
                  <a:txBody>
                    <a:bodyPr/>
                    <a:lstStyle/>
                    <a:p>
                      <a:pPr algn="just">
                        <a:spcAft>
                          <a:spcPts val="0"/>
                        </a:spcAft>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单</a:t>
                      </a:r>
                    </a:p>
                    <a:p>
                      <a:pPr indent="133350" algn="just">
                        <a:spcAft>
                          <a:spcPts val="0"/>
                        </a:spcAft>
                      </a:pP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位</a:t>
                      </a: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销地</a:t>
                      </a:r>
                    </a:p>
                    <a:p>
                      <a:pPr indent="266700" algn="just">
                        <a:spcAft>
                          <a:spcPts val="0"/>
                        </a:spcAft>
                      </a:pP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运</a:t>
                      </a:r>
                    </a:p>
                    <a:p>
                      <a:pPr indent="417195" algn="just">
                        <a:spcAft>
                          <a:spcPts val="0"/>
                        </a:spcAft>
                      </a:pPr>
                      <a:r>
                        <a:rPr lang="en-US" alt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价</a:t>
                      </a:r>
                    </a:p>
                    <a:p>
                      <a:pPr indent="133350" algn="just">
                        <a:spcAft>
                          <a:spcPts val="0"/>
                        </a:spcAft>
                      </a:pPr>
                      <a:r>
                        <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产地</a:t>
                      </a:r>
                    </a:p>
                  </a:txBody>
                  <a:tcPr marL="54944" marR="5494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dirty="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B</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rPr>
                        <a:t>产量</a:t>
                      </a: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60</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50520">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55</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50520">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43</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9</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50504">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A</a:t>
                      </a:r>
                      <a:r>
                        <a:rPr lang="en-US" sz="1600" b="1" kern="100" baseline="-250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52</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50504">
                <a:tc>
                  <a:txBody>
                    <a:bodyPr/>
                    <a:lstStyle/>
                    <a:p>
                      <a:pPr algn="ctr">
                        <a:spcAft>
                          <a:spcPts val="0"/>
                        </a:spcAft>
                      </a:pPr>
                      <a:r>
                        <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rPr>
                        <a:t>销量</a:t>
                      </a: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35</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37</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22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41</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32</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43</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a:effectLst/>
                          <a:latin typeface="Times New Roman" panose="02020603050405020304" pitchFamily="18" charset="0"/>
                          <a:ea typeface="微软雅黑" panose="020B0503020204020204" pitchFamily="34" charset="-122"/>
                          <a:cs typeface="Times New Roman" panose="02020603050405020304" pitchFamily="18" charset="0"/>
                        </a:rPr>
                        <a:t>38</a:t>
                      </a:r>
                      <a:endParaRPr lang="zh-CN" sz="1600" b="1"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600" b="1"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1"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4944" marR="549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cxnSp>
        <p:nvCxnSpPr>
          <p:cNvPr id="14442" name="直接连接符 7"/>
          <p:cNvCxnSpPr>
            <a:cxnSpLocks noChangeShapeType="1"/>
          </p:cNvCxnSpPr>
          <p:nvPr/>
        </p:nvCxnSpPr>
        <p:spPr bwMode="auto">
          <a:xfrm>
            <a:off x="1754188" y="2442121"/>
            <a:ext cx="746125" cy="1243013"/>
          </a:xfrm>
          <a:prstGeom prst="line">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4443" name="直接连接符 8"/>
          <p:cNvCxnSpPr>
            <a:cxnSpLocks noChangeShapeType="1"/>
          </p:cNvCxnSpPr>
          <p:nvPr/>
        </p:nvCxnSpPr>
        <p:spPr bwMode="auto">
          <a:xfrm flipH="1" flipV="1">
            <a:off x="1031875" y="3062834"/>
            <a:ext cx="1468438" cy="622300"/>
          </a:xfrm>
          <a:prstGeom prst="line">
            <a:avLst/>
          </a:prstGeom>
          <a:noFill/>
          <a:ln w="9525">
            <a:solidFill>
              <a:srgbClr val="000000"/>
            </a:solidFill>
            <a:round/>
          </a:ln>
          <a:extLst>
            <a:ext uri="{909E8E84-426E-40DD-AFC4-6F175D3DCCD1}">
              <a14:hiddenFill xmlns:a14="http://schemas.microsoft.com/office/drawing/2010/main">
                <a:noFill/>
              </a14:hiddenFill>
            </a:ext>
          </a:extLst>
        </p:spPr>
      </p:cxnSp>
      <p:sp>
        <p:nvSpPr>
          <p:cNvPr id="2" name="灯片编号占位符 1">
            <a:extLst>
              <a:ext uri="{FF2B5EF4-FFF2-40B4-BE49-F238E27FC236}">
                <a16:creationId xmlns:a16="http://schemas.microsoft.com/office/drawing/2014/main" id="{AB013863-F24F-46AA-AC99-0AA07FBE782E}"/>
              </a:ext>
            </a:extLst>
          </p:cNvPr>
          <p:cNvSpPr>
            <a:spLocks noGrp="1"/>
          </p:cNvSpPr>
          <p:nvPr>
            <p:ph type="sldNum" sz="quarter" idx="12"/>
          </p:nvPr>
        </p:nvSpPr>
        <p:spPr/>
        <p:txBody>
          <a:bodyPr/>
          <a:lstStyle/>
          <a:p>
            <a:pPr>
              <a:defRPr/>
            </a:pPr>
            <a:fld id="{2AE1B59C-883C-4848-BC85-9A12DF2590B2}" type="slidenum">
              <a:rPr lang="en-US" altLang="zh-CN" smtClean="0"/>
              <a:t>99</a:t>
            </a:fld>
            <a:endParaRPr lang="en-US" altLang="zh-CN"/>
          </a:p>
        </p:txBody>
      </p:sp>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815975"/>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dirty="0">
                <a:solidFill>
                  <a:srgbClr val="0033CC"/>
                </a:solidFill>
                <a:latin typeface="微软雅黑" panose="020B0503020204020204" pitchFamily="34" charset="-122"/>
                <a:ea typeface="微软雅黑" panose="020B0503020204020204" pitchFamily="34" charset="-122"/>
              </a:rPr>
              <a:t>例 </a:t>
            </a:r>
            <a:r>
              <a:rPr kumimoji="0" lang="en-US" altLang="zh-CN" sz="3200" b="1" dirty="0">
                <a:solidFill>
                  <a:srgbClr val="0033CC"/>
                </a:solidFill>
                <a:latin typeface="微软雅黑" panose="020B0503020204020204" pitchFamily="34" charset="-122"/>
                <a:ea typeface="微软雅黑" panose="020B0503020204020204" pitchFamily="34" charset="-122"/>
              </a:rPr>
              <a:t>4-6</a:t>
            </a:r>
            <a:endParaRPr kumimoji="0" lang="zh-CN" altLang="en-US" sz="3200" b="1" dirty="0">
              <a:solidFill>
                <a:srgbClr val="0033CC"/>
              </a:solidFill>
              <a:latin typeface="微软雅黑" panose="020B0503020204020204" pitchFamily="34" charset="-122"/>
              <a:ea typeface="微软雅黑" panose="020B0503020204020204" pitchFamily="34" charset="-122"/>
            </a:endParaRPr>
          </a:p>
        </p:txBody>
      </p:sp>
      <p:sp>
        <p:nvSpPr>
          <p:cNvPr id="15363" name="Rectangle 2"/>
          <p:cNvSpPr txBox="1">
            <a:spLocks noChangeArrowheads="1"/>
          </p:cNvSpPr>
          <p:nvPr/>
        </p:nvSpPr>
        <p:spPr bwMode="auto">
          <a:xfrm>
            <a:off x="360363"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dirty="0">
                <a:solidFill>
                  <a:srgbClr val="FF0000"/>
                </a:solidFill>
                <a:latin typeface="微软雅黑" panose="020B0503020204020204" pitchFamily="34" charset="-122"/>
                <a:ea typeface="微软雅黑" panose="020B0503020204020204" pitchFamily="34" charset="-122"/>
              </a:rPr>
              <a:t>4.5.2 </a:t>
            </a:r>
            <a:r>
              <a:rPr kumimoji="0" lang="zh-CN" altLang="en-US" sz="3200" b="1" dirty="0">
                <a:solidFill>
                  <a:srgbClr val="FF0000"/>
                </a:solidFill>
                <a:latin typeface="微软雅黑" panose="020B0503020204020204" pitchFamily="34" charset="-122"/>
                <a:ea typeface="微软雅黑" panose="020B0503020204020204" pitchFamily="34" charset="-122"/>
              </a:rPr>
              <a:t>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5364" name="文本框 6"/>
          <p:cNvSpPr txBox="1">
            <a:spLocks noChangeArrowheads="1"/>
          </p:cNvSpPr>
          <p:nvPr/>
        </p:nvSpPr>
        <p:spPr bwMode="auto">
          <a:xfrm>
            <a:off x="185562" y="1399166"/>
            <a:ext cx="8289925" cy="461962"/>
          </a:xfrm>
          <a:prstGeom prst="rect">
            <a:avLst/>
          </a:prstGeom>
          <a:solidFill>
            <a:schemeClr val="accent1">
              <a:lumMod val="20000"/>
              <a:lumOff val="80000"/>
            </a:schemeClr>
          </a:solidFill>
          <a:ln>
            <a:noFill/>
          </a:ln>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LINGO</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软件，编制程序如下：</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65" name="文本框 9"/>
          <p:cNvSpPr txBox="1">
            <a:spLocks noChangeArrowheads="1"/>
          </p:cNvSpPr>
          <p:nvPr/>
        </p:nvSpPr>
        <p:spPr bwMode="auto">
          <a:xfrm>
            <a:off x="342900" y="1863725"/>
            <a:ext cx="42291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en-US" altLang="zh-CN" sz="2000" dirty="0">
                <a:ea typeface="微软雅黑" panose="020B0503020204020204" pitchFamily="34" charset="-122"/>
              </a:rPr>
              <a:t>model:</a:t>
            </a:r>
            <a:endParaRPr lang="zh-CN" altLang="zh-CN" sz="2000" dirty="0">
              <a:ea typeface="微软雅黑" panose="020B0503020204020204" pitchFamily="34" charset="-122"/>
            </a:endParaRPr>
          </a:p>
          <a:p>
            <a:r>
              <a:rPr lang="en-US" altLang="zh-CN" sz="2000" dirty="0">
                <a:ea typeface="微软雅黑" panose="020B0503020204020204" pitchFamily="34" charset="-122"/>
              </a:rPr>
              <a:t>!6</a:t>
            </a:r>
            <a:r>
              <a:rPr lang="zh-CN" altLang="zh-CN" sz="2000" dirty="0">
                <a:ea typeface="微软雅黑" panose="020B0503020204020204" pitchFamily="34" charset="-122"/>
              </a:rPr>
              <a:t>发点</a:t>
            </a:r>
            <a:r>
              <a:rPr lang="en-US" altLang="zh-CN" sz="2000" dirty="0">
                <a:ea typeface="微软雅黑" panose="020B0503020204020204" pitchFamily="34" charset="-122"/>
              </a:rPr>
              <a:t>8</a:t>
            </a:r>
            <a:r>
              <a:rPr lang="zh-CN" altLang="zh-CN" sz="2000" dirty="0">
                <a:ea typeface="微软雅黑" panose="020B0503020204020204" pitchFamily="34" charset="-122"/>
              </a:rPr>
              <a:t>收点运输问题</a:t>
            </a:r>
            <a:r>
              <a:rPr lang="en-US" altLang="zh-CN" sz="2000" dirty="0">
                <a:ea typeface="微软雅黑" panose="020B0503020204020204" pitchFamily="34" charset="-122"/>
              </a:rPr>
              <a:t>;</a:t>
            </a:r>
            <a:endParaRPr lang="zh-CN" altLang="zh-CN" sz="2000" dirty="0">
              <a:ea typeface="微软雅黑" panose="020B0503020204020204" pitchFamily="34" charset="-122"/>
            </a:endParaRPr>
          </a:p>
          <a:p>
            <a:r>
              <a:rPr lang="en-US" altLang="zh-CN" sz="2000" dirty="0">
                <a:ea typeface="微软雅黑" panose="020B0503020204020204" pitchFamily="34" charset="-122"/>
              </a:rPr>
              <a:t>sets:</a:t>
            </a:r>
            <a:endParaRPr lang="zh-CN" altLang="zh-CN" sz="2000" dirty="0">
              <a:ea typeface="微软雅黑" panose="020B0503020204020204" pitchFamily="34" charset="-122"/>
            </a:endParaRPr>
          </a:p>
          <a:p>
            <a:r>
              <a:rPr lang="en-US" altLang="zh-CN" sz="2000" dirty="0">
                <a:ea typeface="微软雅黑" panose="020B0503020204020204" pitchFamily="34" charset="-122"/>
              </a:rPr>
              <a:t>  warehouses/wh1..wh6/: capacity;</a:t>
            </a:r>
            <a:endParaRPr lang="zh-CN" altLang="zh-CN" sz="2000" dirty="0">
              <a:ea typeface="微软雅黑" panose="020B0503020204020204" pitchFamily="34" charset="-122"/>
            </a:endParaRPr>
          </a:p>
          <a:p>
            <a:r>
              <a:rPr lang="en-US" altLang="zh-CN" sz="2000" dirty="0">
                <a:ea typeface="微软雅黑" panose="020B0503020204020204" pitchFamily="34" charset="-122"/>
              </a:rPr>
              <a:t>  vendors/v1..v8/: demand;</a:t>
            </a:r>
            <a:endParaRPr lang="zh-CN" altLang="zh-CN" sz="2000" dirty="0">
              <a:ea typeface="微软雅黑" panose="020B0503020204020204" pitchFamily="34" charset="-122"/>
            </a:endParaRPr>
          </a:p>
          <a:p>
            <a:r>
              <a:rPr lang="en-US" altLang="zh-CN" sz="2000" dirty="0">
                <a:ea typeface="微软雅黑" panose="020B0503020204020204" pitchFamily="34" charset="-122"/>
              </a:rPr>
              <a:t>  links(</a:t>
            </a:r>
            <a:r>
              <a:rPr lang="en-US" altLang="zh-CN" sz="2000" dirty="0" err="1">
                <a:ea typeface="微软雅黑" panose="020B0503020204020204" pitchFamily="34" charset="-122"/>
              </a:rPr>
              <a:t>warehouses,vendors</a:t>
            </a:r>
            <a:r>
              <a:rPr lang="en-US" altLang="zh-CN" sz="2000" dirty="0">
                <a:ea typeface="微软雅黑" panose="020B0503020204020204" pitchFamily="34" charset="-122"/>
              </a:rPr>
              <a:t>): cost, volume;</a:t>
            </a:r>
            <a:endParaRPr lang="zh-CN" altLang="zh-CN" sz="2000" dirty="0">
              <a:ea typeface="微软雅黑" panose="020B0503020204020204" pitchFamily="34" charset="-122"/>
            </a:endParaRPr>
          </a:p>
          <a:p>
            <a:r>
              <a:rPr lang="en-US" altLang="zh-CN" sz="2000" dirty="0" err="1">
                <a:ea typeface="微软雅黑" panose="020B0503020204020204" pitchFamily="34" charset="-122"/>
              </a:rPr>
              <a:t>endsets</a:t>
            </a:r>
            <a:endParaRPr lang="zh-CN" altLang="zh-CN" sz="2000" dirty="0">
              <a:ea typeface="微软雅黑" panose="020B0503020204020204" pitchFamily="34" charset="-122"/>
            </a:endParaRPr>
          </a:p>
          <a:p>
            <a:r>
              <a:rPr lang="en-US" altLang="zh-CN" sz="2000" dirty="0">
                <a:ea typeface="微软雅黑" panose="020B0503020204020204" pitchFamily="34" charset="-122"/>
              </a:rPr>
              <a:t>!</a:t>
            </a:r>
            <a:r>
              <a:rPr lang="zh-CN" altLang="zh-CN" sz="2000" dirty="0">
                <a:ea typeface="微软雅黑" panose="020B0503020204020204" pitchFamily="34" charset="-122"/>
              </a:rPr>
              <a:t>目标函数</a:t>
            </a:r>
            <a:r>
              <a:rPr lang="en-US" altLang="zh-CN" sz="2000" dirty="0">
                <a:ea typeface="微软雅黑" panose="020B0503020204020204" pitchFamily="34" charset="-122"/>
              </a:rPr>
              <a:t>;</a:t>
            </a:r>
            <a:endParaRPr lang="zh-CN" altLang="zh-CN" sz="2000" dirty="0">
              <a:ea typeface="微软雅黑" panose="020B0503020204020204" pitchFamily="34" charset="-122"/>
            </a:endParaRPr>
          </a:p>
          <a:p>
            <a:r>
              <a:rPr lang="en-US" altLang="zh-CN" sz="2000" dirty="0">
                <a:ea typeface="微软雅黑" panose="020B0503020204020204" pitchFamily="34" charset="-122"/>
              </a:rPr>
              <a:t>  min=@sum(links: cost*volume);</a:t>
            </a:r>
            <a:endParaRPr lang="zh-CN" altLang="zh-CN" sz="2000" dirty="0">
              <a:ea typeface="微软雅黑" panose="020B0503020204020204" pitchFamily="34" charset="-122"/>
            </a:endParaRPr>
          </a:p>
          <a:p>
            <a:r>
              <a:rPr lang="en-US" altLang="zh-CN" sz="2000" dirty="0">
                <a:ea typeface="微软雅黑" panose="020B0503020204020204" pitchFamily="34" charset="-122"/>
              </a:rPr>
              <a:t>!</a:t>
            </a:r>
            <a:r>
              <a:rPr lang="zh-CN" altLang="zh-CN" sz="2000" dirty="0">
                <a:ea typeface="微软雅黑" panose="020B0503020204020204" pitchFamily="34" charset="-122"/>
              </a:rPr>
              <a:t>需求约束</a:t>
            </a:r>
            <a:r>
              <a:rPr lang="en-US" altLang="zh-CN" sz="2000" dirty="0">
                <a:ea typeface="微软雅黑" panose="020B0503020204020204" pitchFamily="34" charset="-122"/>
              </a:rPr>
              <a:t>;</a:t>
            </a:r>
            <a:endParaRPr lang="zh-CN" altLang="zh-CN" sz="2000" dirty="0">
              <a:ea typeface="微软雅黑" panose="020B0503020204020204" pitchFamily="34" charset="-122"/>
            </a:endParaRPr>
          </a:p>
          <a:p>
            <a:r>
              <a:rPr lang="en-US" altLang="zh-CN" sz="2000" dirty="0">
                <a:ea typeface="微软雅黑" panose="020B0503020204020204" pitchFamily="34" charset="-122"/>
              </a:rPr>
              <a:t>  @for(vendors(J):</a:t>
            </a:r>
            <a:endParaRPr lang="zh-CN" altLang="zh-CN" sz="2000" dirty="0">
              <a:ea typeface="微软雅黑" panose="020B0503020204020204" pitchFamily="34" charset="-122"/>
            </a:endParaRPr>
          </a:p>
          <a:p>
            <a:r>
              <a:rPr lang="en-US" altLang="zh-CN" sz="2000" dirty="0">
                <a:ea typeface="微软雅黑" panose="020B0503020204020204" pitchFamily="34" charset="-122"/>
              </a:rPr>
              <a:t>    @sum(warehouses(I): volume(I,J))=demand(J));</a:t>
            </a:r>
            <a:endParaRPr lang="zh-CN" altLang="en-US" sz="2000" dirty="0">
              <a:ea typeface="微软雅黑" panose="020B0503020204020204" pitchFamily="34" charset="-122"/>
            </a:endParaRPr>
          </a:p>
        </p:txBody>
      </p:sp>
      <p:sp>
        <p:nvSpPr>
          <p:cNvPr id="15366" name="文本框 10"/>
          <p:cNvSpPr txBox="1">
            <a:spLocks noChangeArrowheads="1"/>
          </p:cNvSpPr>
          <p:nvPr/>
        </p:nvSpPr>
        <p:spPr bwMode="auto">
          <a:xfrm>
            <a:off x="4862513" y="1798638"/>
            <a:ext cx="45720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sz="2000" dirty="0">
                <a:ea typeface="微软雅黑" panose="020B0503020204020204" pitchFamily="34" charset="-122"/>
              </a:rPr>
              <a:t>!产量约束;</a:t>
            </a:r>
          </a:p>
          <a:p>
            <a:r>
              <a:rPr lang="zh-CN" altLang="zh-CN" sz="2000" dirty="0">
                <a:ea typeface="微软雅黑" panose="020B0503020204020204" pitchFamily="34" charset="-122"/>
              </a:rPr>
              <a:t>  @for(warehouses(I):</a:t>
            </a:r>
          </a:p>
          <a:p>
            <a:r>
              <a:rPr lang="zh-CN" altLang="zh-CN" sz="2000" dirty="0">
                <a:ea typeface="微软雅黑" panose="020B0503020204020204" pitchFamily="34" charset="-122"/>
              </a:rPr>
              <a:t>    </a:t>
            </a:r>
            <a:r>
              <a:rPr lang="en-US" altLang="zh-CN" sz="2000" dirty="0">
                <a:ea typeface="微软雅黑" panose="020B0503020204020204" pitchFamily="34" charset="-122"/>
              </a:rPr>
              <a:t>@sum(vendors(J): volume(I,J))&lt;=capacity(I)); </a:t>
            </a:r>
            <a:endParaRPr lang="zh-CN" altLang="zh-CN" sz="2000" dirty="0">
              <a:ea typeface="微软雅黑" panose="020B0503020204020204" pitchFamily="34" charset="-122"/>
            </a:endParaRPr>
          </a:p>
          <a:p>
            <a:r>
              <a:rPr lang="en-US" altLang="zh-CN" sz="2000" dirty="0">
                <a:ea typeface="微软雅黑" panose="020B0503020204020204" pitchFamily="34" charset="-122"/>
              </a:rPr>
              <a:t>!</a:t>
            </a:r>
            <a:r>
              <a:rPr lang="zh-CN" altLang="zh-CN" sz="2000" dirty="0">
                <a:ea typeface="微软雅黑" panose="020B0503020204020204" pitchFamily="34" charset="-122"/>
              </a:rPr>
              <a:t>这里是数据</a:t>
            </a:r>
            <a:r>
              <a:rPr lang="en-US" altLang="zh-CN" sz="2000" dirty="0">
                <a:ea typeface="微软雅黑" panose="020B0503020204020204" pitchFamily="34" charset="-122"/>
              </a:rPr>
              <a:t>;</a:t>
            </a:r>
            <a:endParaRPr lang="zh-CN" altLang="zh-CN" sz="2000" dirty="0">
              <a:ea typeface="微软雅黑" panose="020B0503020204020204" pitchFamily="34" charset="-122"/>
            </a:endParaRPr>
          </a:p>
          <a:p>
            <a:r>
              <a:rPr lang="en-US" altLang="zh-CN" sz="2000" dirty="0">
                <a:ea typeface="微软雅黑" panose="020B0503020204020204" pitchFamily="34" charset="-122"/>
              </a:rPr>
              <a:t>data:</a:t>
            </a:r>
            <a:endParaRPr lang="zh-CN" altLang="zh-CN" sz="2000" dirty="0">
              <a:ea typeface="微软雅黑" panose="020B0503020204020204" pitchFamily="34" charset="-122"/>
            </a:endParaRPr>
          </a:p>
          <a:p>
            <a:r>
              <a:rPr lang="en-US" altLang="zh-CN" sz="2000" dirty="0">
                <a:ea typeface="微软雅黑" panose="020B0503020204020204" pitchFamily="34" charset="-122"/>
              </a:rPr>
              <a:t>  capacity=60 55 51 43 41 52;</a:t>
            </a:r>
            <a:endParaRPr lang="zh-CN" altLang="zh-CN" sz="2000" dirty="0">
              <a:ea typeface="微软雅黑" panose="020B0503020204020204" pitchFamily="34" charset="-122"/>
            </a:endParaRPr>
          </a:p>
          <a:p>
            <a:r>
              <a:rPr lang="en-US" altLang="zh-CN" sz="2000" dirty="0">
                <a:ea typeface="微软雅黑" panose="020B0503020204020204" pitchFamily="34" charset="-122"/>
              </a:rPr>
              <a:t>  demand=35 37 22 32 41 32 43 38;</a:t>
            </a:r>
            <a:endParaRPr lang="zh-CN" altLang="zh-CN" sz="2000" dirty="0">
              <a:ea typeface="微软雅黑" panose="020B0503020204020204" pitchFamily="34" charset="-122"/>
            </a:endParaRPr>
          </a:p>
          <a:p>
            <a:r>
              <a:rPr lang="en-US" altLang="zh-CN" sz="2000" dirty="0">
                <a:ea typeface="微软雅黑" panose="020B0503020204020204" pitchFamily="34" charset="-122"/>
              </a:rPr>
              <a:t>  cost=6 2 6 7 4 2 9 5</a:t>
            </a:r>
            <a:endParaRPr lang="zh-CN" altLang="zh-CN" sz="2000" dirty="0">
              <a:ea typeface="微软雅黑" panose="020B0503020204020204" pitchFamily="34" charset="-122"/>
            </a:endParaRPr>
          </a:p>
          <a:p>
            <a:r>
              <a:rPr lang="en-US" altLang="zh-CN" sz="2000" dirty="0">
                <a:ea typeface="微软雅黑" panose="020B0503020204020204" pitchFamily="34" charset="-122"/>
              </a:rPr>
              <a:t>       4 9 5 3 8 5 8 2</a:t>
            </a:r>
            <a:endParaRPr lang="zh-CN" altLang="zh-CN" sz="2000" dirty="0">
              <a:ea typeface="微软雅黑" panose="020B0503020204020204" pitchFamily="34" charset="-122"/>
            </a:endParaRPr>
          </a:p>
          <a:p>
            <a:r>
              <a:rPr lang="en-US" altLang="zh-CN" sz="2000" dirty="0">
                <a:ea typeface="微软雅黑" panose="020B0503020204020204" pitchFamily="34" charset="-122"/>
              </a:rPr>
              <a:t>       5 2 1 9 7 4 3 3</a:t>
            </a:r>
            <a:endParaRPr lang="zh-CN" altLang="zh-CN" sz="2000" dirty="0">
              <a:ea typeface="微软雅黑" panose="020B0503020204020204" pitchFamily="34" charset="-122"/>
            </a:endParaRPr>
          </a:p>
          <a:p>
            <a:r>
              <a:rPr lang="en-US" altLang="zh-CN" sz="2000" dirty="0">
                <a:ea typeface="微软雅黑" panose="020B0503020204020204" pitchFamily="34" charset="-122"/>
              </a:rPr>
              <a:t>       7 6 7 3 9 2 7 1</a:t>
            </a:r>
            <a:endParaRPr lang="zh-CN" altLang="zh-CN" sz="2000" dirty="0">
              <a:ea typeface="微软雅黑" panose="020B0503020204020204" pitchFamily="34" charset="-122"/>
            </a:endParaRPr>
          </a:p>
          <a:p>
            <a:r>
              <a:rPr lang="en-US" altLang="zh-CN" sz="2000" dirty="0">
                <a:ea typeface="微软雅黑" panose="020B0503020204020204" pitchFamily="34" charset="-122"/>
              </a:rPr>
              <a:t>       2 3 9 5 7 2 6 5</a:t>
            </a:r>
            <a:endParaRPr lang="zh-CN" altLang="zh-CN" sz="2000" dirty="0">
              <a:ea typeface="微软雅黑" panose="020B0503020204020204" pitchFamily="34" charset="-122"/>
            </a:endParaRPr>
          </a:p>
          <a:p>
            <a:r>
              <a:rPr lang="en-US" altLang="zh-CN" sz="2000" dirty="0">
                <a:ea typeface="微软雅黑" panose="020B0503020204020204" pitchFamily="34" charset="-122"/>
              </a:rPr>
              <a:t>       5 5 2 2 8 1 4 3;</a:t>
            </a:r>
            <a:endParaRPr lang="zh-CN" altLang="zh-CN" sz="2000" dirty="0">
              <a:ea typeface="微软雅黑" panose="020B0503020204020204" pitchFamily="34" charset="-122"/>
            </a:endParaRPr>
          </a:p>
          <a:p>
            <a:r>
              <a:rPr lang="en-US" altLang="zh-CN" sz="2000" dirty="0" err="1">
                <a:ea typeface="微软雅黑" panose="020B0503020204020204" pitchFamily="34" charset="-122"/>
              </a:rPr>
              <a:t>enddata</a:t>
            </a:r>
            <a:endParaRPr lang="zh-CN" altLang="zh-CN" sz="2000" dirty="0">
              <a:ea typeface="微软雅黑" panose="020B0503020204020204" pitchFamily="34" charset="-122"/>
            </a:endParaRPr>
          </a:p>
          <a:p>
            <a:r>
              <a:rPr lang="en-US" altLang="zh-CN" sz="2000" dirty="0">
                <a:ea typeface="微软雅黑" panose="020B0503020204020204" pitchFamily="34" charset="-122"/>
              </a:rPr>
              <a:t>end</a:t>
            </a:r>
            <a:endParaRPr lang="zh-CN" altLang="zh-CN" sz="2000" dirty="0">
              <a:ea typeface="微软雅黑" panose="020B0503020204020204" pitchFamily="34" charset="-122"/>
            </a:endParaRPr>
          </a:p>
        </p:txBody>
      </p:sp>
      <p:sp>
        <p:nvSpPr>
          <p:cNvPr id="2" name="灯片编号占位符 1">
            <a:extLst>
              <a:ext uri="{FF2B5EF4-FFF2-40B4-BE49-F238E27FC236}">
                <a16:creationId xmlns:a16="http://schemas.microsoft.com/office/drawing/2014/main" id="{B9909EDA-B0EA-481F-8F0F-290F46EB86A4}"/>
              </a:ext>
            </a:extLst>
          </p:cNvPr>
          <p:cNvSpPr>
            <a:spLocks noGrp="1"/>
          </p:cNvSpPr>
          <p:nvPr>
            <p:ph type="sldNum" sz="quarter" idx="12"/>
          </p:nvPr>
        </p:nvSpPr>
        <p:spPr/>
        <p:txBody>
          <a:bodyPr/>
          <a:lstStyle/>
          <a:p>
            <a:pPr>
              <a:defRPr/>
            </a:pPr>
            <a:fld id="{2AE1B59C-883C-4848-BC85-9A12DF2590B2}" type="slidenum">
              <a:rPr lang="en-US" altLang="zh-CN" smtClean="0"/>
              <a:t>100</a:t>
            </a:fld>
            <a:endParaRPr lang="en-US" altLang="zh-CN"/>
          </a:p>
        </p:txBody>
      </p:sp>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815975"/>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a:solidFill>
                  <a:srgbClr val="0033CC"/>
                </a:solidFill>
                <a:latin typeface="微软雅黑" panose="020B0503020204020204" pitchFamily="34" charset="-122"/>
                <a:ea typeface="微软雅黑" panose="020B0503020204020204" pitchFamily="34" charset="-122"/>
              </a:rPr>
              <a:t>例 </a:t>
            </a:r>
            <a:r>
              <a:rPr kumimoji="0" lang="en-US" altLang="zh-CN" sz="3200" b="1">
                <a:solidFill>
                  <a:srgbClr val="0033CC"/>
                </a:solidFill>
                <a:latin typeface="微软雅黑" panose="020B0503020204020204" pitchFamily="34" charset="-122"/>
                <a:ea typeface="微软雅黑" panose="020B0503020204020204" pitchFamily="34" charset="-122"/>
              </a:rPr>
              <a:t>4-6</a:t>
            </a:r>
            <a:endParaRPr kumimoji="0" lang="zh-CN" altLang="en-US" sz="3200" b="1">
              <a:solidFill>
                <a:srgbClr val="0033CC"/>
              </a:solidFill>
              <a:latin typeface="微软雅黑" panose="020B0503020204020204" pitchFamily="34" charset="-122"/>
              <a:ea typeface="微软雅黑" panose="020B0503020204020204" pitchFamily="34" charset="-122"/>
            </a:endParaRPr>
          </a:p>
        </p:txBody>
      </p:sp>
      <p:sp>
        <p:nvSpPr>
          <p:cNvPr id="16387" name="Rectangle 2"/>
          <p:cNvSpPr txBox="1">
            <a:spLocks noChangeArrowheads="1"/>
          </p:cNvSpPr>
          <p:nvPr/>
        </p:nvSpPr>
        <p:spPr bwMode="auto">
          <a:xfrm>
            <a:off x="360363"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a:solidFill>
                  <a:srgbClr val="FF0000"/>
                </a:solidFill>
                <a:latin typeface="微软雅黑" panose="020B0503020204020204" pitchFamily="34" charset="-122"/>
                <a:ea typeface="微软雅黑" panose="020B0503020204020204" pitchFamily="34" charset="-122"/>
              </a:rPr>
              <a:t>4.5 </a:t>
            </a:r>
            <a:r>
              <a:rPr kumimoji="0" lang="zh-CN" altLang="en-US" sz="3200" b="1">
                <a:solidFill>
                  <a:srgbClr val="FF0000"/>
                </a:solidFill>
                <a:latin typeface="微软雅黑" panose="020B0503020204020204" pitchFamily="34" charset="-122"/>
                <a:ea typeface="微软雅黑" panose="020B0503020204020204" pitchFamily="34" charset="-122"/>
              </a:rPr>
              <a:t>应用举例及计算机解法</a:t>
            </a:r>
            <a:endParaRPr kumimoji="0" lang="en-US" altLang="zh-CN" sz="3200" b="1">
              <a:solidFill>
                <a:srgbClr val="FF0000"/>
              </a:solidFill>
              <a:latin typeface="微软雅黑" panose="020B0503020204020204" pitchFamily="34" charset="-122"/>
              <a:ea typeface="微软雅黑" panose="020B0503020204020204" pitchFamily="34" charset="-122"/>
            </a:endParaRPr>
          </a:p>
          <a:p>
            <a:endParaRPr kumimoji="0" lang="zh-CN" altLang="en-US" sz="3200" b="1">
              <a:solidFill>
                <a:srgbClr val="FF0000"/>
              </a:solidFill>
              <a:latin typeface="微软雅黑" panose="020B0503020204020204" pitchFamily="34" charset="-122"/>
              <a:ea typeface="微软雅黑" panose="020B0503020204020204" pitchFamily="34" charset="-122"/>
            </a:endParaRPr>
          </a:p>
        </p:txBody>
      </p:sp>
      <p:sp>
        <p:nvSpPr>
          <p:cNvPr id="16388" name="文本框 6"/>
          <p:cNvSpPr txBox="1">
            <a:spLocks noChangeArrowheads="1"/>
          </p:cNvSpPr>
          <p:nvPr/>
        </p:nvSpPr>
        <p:spPr bwMode="auto">
          <a:xfrm>
            <a:off x="427038" y="1401763"/>
            <a:ext cx="8289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LINGO</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求解结果报告如下：</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389" name="图片 7"/>
          <p:cNvPicPr>
            <a:picLocks noChangeAspect="1" noChangeArrowheads="1"/>
          </p:cNvPicPr>
          <p:nvPr/>
        </p:nvPicPr>
        <p:blipFill>
          <a:blip r:embed="rId2" cstate="print">
            <a:extLst>
              <a:ext uri="{28A0092B-C50C-407E-A947-70E740481C1C}">
                <a14:useLocalDpi xmlns:a14="http://schemas.microsoft.com/office/drawing/2010/main" val="0"/>
              </a:ext>
            </a:extLst>
          </a:blip>
          <a:srcRect l="2202" t="10281" r="12827" b="7468"/>
          <a:stretch>
            <a:fillRect/>
          </a:stretch>
        </p:blipFill>
        <p:spPr bwMode="auto">
          <a:xfrm>
            <a:off x="827584" y="2005043"/>
            <a:ext cx="7661275"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F9964CE-ECE5-480F-A96E-92C6D61BD723}"/>
              </a:ext>
            </a:extLst>
          </p:cNvPr>
          <p:cNvSpPr>
            <a:spLocks noGrp="1"/>
          </p:cNvSpPr>
          <p:nvPr>
            <p:ph type="sldNum" sz="quarter" idx="12"/>
          </p:nvPr>
        </p:nvSpPr>
        <p:spPr/>
        <p:txBody>
          <a:bodyPr/>
          <a:lstStyle/>
          <a:p>
            <a:pPr>
              <a:defRPr/>
            </a:pPr>
            <a:fld id="{2AE1B59C-883C-4848-BC85-9A12DF2590B2}" type="slidenum">
              <a:rPr lang="en-US" altLang="zh-CN" smtClean="0"/>
              <a:t>101</a:t>
            </a:fld>
            <a:endParaRPr lang="en-US" altLang="zh-CN"/>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69863" y="815975"/>
            <a:ext cx="15843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dirty="0">
                <a:solidFill>
                  <a:srgbClr val="0033CC"/>
                </a:solidFill>
                <a:latin typeface="微软雅黑" panose="020B0503020204020204" pitchFamily="34" charset="-122"/>
                <a:ea typeface="微软雅黑" panose="020B0503020204020204" pitchFamily="34" charset="-122"/>
              </a:rPr>
              <a:t>例 </a:t>
            </a:r>
            <a:r>
              <a:rPr kumimoji="0" lang="en-US" altLang="zh-CN" sz="3200" b="1" dirty="0">
                <a:solidFill>
                  <a:srgbClr val="0033CC"/>
                </a:solidFill>
                <a:latin typeface="微软雅黑" panose="020B0503020204020204" pitchFamily="34" charset="-122"/>
                <a:ea typeface="微软雅黑" panose="020B0503020204020204" pitchFamily="34" charset="-122"/>
              </a:rPr>
              <a:t>4-6</a:t>
            </a:r>
            <a:endParaRPr kumimoji="0" lang="zh-CN" altLang="en-US" sz="3200" b="1" dirty="0">
              <a:solidFill>
                <a:srgbClr val="0033CC"/>
              </a:solidFill>
              <a:latin typeface="微软雅黑" panose="020B0503020204020204" pitchFamily="34" charset="-122"/>
              <a:ea typeface="微软雅黑" panose="020B0503020204020204" pitchFamily="34" charset="-122"/>
            </a:endParaRPr>
          </a:p>
        </p:txBody>
      </p:sp>
      <p:sp>
        <p:nvSpPr>
          <p:cNvPr id="17411" name="Rectangle 2"/>
          <p:cNvSpPr txBox="1">
            <a:spLocks noChangeArrowheads="1"/>
          </p:cNvSpPr>
          <p:nvPr/>
        </p:nvSpPr>
        <p:spPr bwMode="auto">
          <a:xfrm>
            <a:off x="360363" y="42863"/>
            <a:ext cx="8229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sz="3200" b="1" dirty="0">
                <a:solidFill>
                  <a:srgbClr val="FF0000"/>
                </a:solidFill>
                <a:latin typeface="微软雅黑" panose="020B0503020204020204" pitchFamily="34" charset="-122"/>
                <a:ea typeface="微软雅黑" panose="020B0503020204020204" pitchFamily="34" charset="-122"/>
              </a:rPr>
              <a:t>4.5 </a:t>
            </a:r>
            <a:r>
              <a:rPr kumimoji="0" lang="zh-CN" altLang="en-US" sz="3200" b="1" dirty="0">
                <a:solidFill>
                  <a:srgbClr val="FF0000"/>
                </a:solidFill>
                <a:latin typeface="微软雅黑" panose="020B0503020204020204" pitchFamily="34" charset="-122"/>
                <a:ea typeface="微软雅黑" panose="020B0503020204020204" pitchFamily="34" charset="-122"/>
              </a:rPr>
              <a:t>应用举例及计算机解法</a:t>
            </a:r>
            <a:endParaRPr kumimoji="0" lang="en-US" altLang="zh-CN" sz="3200" b="1" dirty="0">
              <a:solidFill>
                <a:srgbClr val="FF0000"/>
              </a:solidFill>
              <a:latin typeface="微软雅黑" panose="020B0503020204020204" pitchFamily="34" charset="-122"/>
              <a:ea typeface="微软雅黑" panose="020B0503020204020204" pitchFamily="34" charset="-122"/>
            </a:endParaRPr>
          </a:p>
          <a:p>
            <a:endParaRPr kumimoji="0"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7412" name="文本框 6"/>
          <p:cNvSpPr txBox="1">
            <a:spLocks noChangeArrowheads="1"/>
          </p:cNvSpPr>
          <p:nvPr/>
        </p:nvSpPr>
        <p:spPr bwMode="auto">
          <a:xfrm>
            <a:off x="389574" y="1439990"/>
            <a:ext cx="8289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最小运输费用为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664</a:t>
            </a:r>
            <a:r>
              <a:rPr lang="zh-CN" altLang="zh-CN" b="1" dirty="0">
                <a:latin typeface="仿宋" panose="02010609060101010101" pitchFamily="49" charset="-122"/>
                <a:ea typeface="仿宋" panose="02010609060101010101" pitchFamily="49" charset="-122"/>
                <a:cs typeface="Times New Roman" panose="02020603050405020304" pitchFamily="18" charset="0"/>
              </a:rPr>
              <a:t>，</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最优解为</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7" name="表格 6"/>
          <p:cNvGraphicFramePr>
            <a:graphicFrameLocks noGrp="1"/>
          </p:cNvGraphicFramePr>
          <p:nvPr>
            <p:custDataLst>
              <p:tags r:id="rId1"/>
            </p:custDataLst>
          </p:nvPr>
        </p:nvGraphicFramePr>
        <p:xfrm>
          <a:off x="900113" y="2205038"/>
          <a:ext cx="7156450" cy="3667124"/>
        </p:xfrm>
        <a:graphic>
          <a:graphicData uri="http://schemas.openxmlformats.org/drawingml/2006/table">
            <a:tbl>
              <a:tblPr firstRow="1" firstCol="1" bandRow="1">
                <a:tableStyleId>{5C22544A-7EE6-4342-B048-85BDC9FD1C3A}</a:tableStyleId>
              </a:tblPr>
              <a:tblGrid>
                <a:gridCol w="715224">
                  <a:extLst>
                    <a:ext uri="{9D8B030D-6E8A-4147-A177-3AD203B41FA5}">
                      <a16:colId xmlns:a16="http://schemas.microsoft.com/office/drawing/2014/main" val="20000"/>
                    </a:ext>
                  </a:extLst>
                </a:gridCol>
                <a:gridCol w="715224">
                  <a:extLst>
                    <a:ext uri="{9D8B030D-6E8A-4147-A177-3AD203B41FA5}">
                      <a16:colId xmlns:a16="http://schemas.microsoft.com/office/drawing/2014/main" val="20001"/>
                    </a:ext>
                  </a:extLst>
                </a:gridCol>
                <a:gridCol w="715224">
                  <a:extLst>
                    <a:ext uri="{9D8B030D-6E8A-4147-A177-3AD203B41FA5}">
                      <a16:colId xmlns:a16="http://schemas.microsoft.com/office/drawing/2014/main" val="20002"/>
                    </a:ext>
                  </a:extLst>
                </a:gridCol>
                <a:gridCol w="715224">
                  <a:extLst>
                    <a:ext uri="{9D8B030D-6E8A-4147-A177-3AD203B41FA5}">
                      <a16:colId xmlns:a16="http://schemas.microsoft.com/office/drawing/2014/main" val="20003"/>
                    </a:ext>
                  </a:extLst>
                </a:gridCol>
                <a:gridCol w="715224">
                  <a:extLst>
                    <a:ext uri="{9D8B030D-6E8A-4147-A177-3AD203B41FA5}">
                      <a16:colId xmlns:a16="http://schemas.microsoft.com/office/drawing/2014/main" val="20004"/>
                    </a:ext>
                  </a:extLst>
                </a:gridCol>
                <a:gridCol w="716066">
                  <a:extLst>
                    <a:ext uri="{9D8B030D-6E8A-4147-A177-3AD203B41FA5}">
                      <a16:colId xmlns:a16="http://schemas.microsoft.com/office/drawing/2014/main" val="20005"/>
                    </a:ext>
                  </a:extLst>
                </a:gridCol>
                <a:gridCol w="716066">
                  <a:extLst>
                    <a:ext uri="{9D8B030D-6E8A-4147-A177-3AD203B41FA5}">
                      <a16:colId xmlns:a16="http://schemas.microsoft.com/office/drawing/2014/main" val="20006"/>
                    </a:ext>
                  </a:extLst>
                </a:gridCol>
                <a:gridCol w="716066">
                  <a:extLst>
                    <a:ext uri="{9D8B030D-6E8A-4147-A177-3AD203B41FA5}">
                      <a16:colId xmlns:a16="http://schemas.microsoft.com/office/drawing/2014/main" val="20007"/>
                    </a:ext>
                  </a:extLst>
                </a:gridCol>
                <a:gridCol w="716066">
                  <a:extLst>
                    <a:ext uri="{9D8B030D-6E8A-4147-A177-3AD203B41FA5}">
                      <a16:colId xmlns:a16="http://schemas.microsoft.com/office/drawing/2014/main" val="20008"/>
                    </a:ext>
                  </a:extLst>
                </a:gridCol>
                <a:gridCol w="716066">
                  <a:extLst>
                    <a:ext uri="{9D8B030D-6E8A-4147-A177-3AD203B41FA5}">
                      <a16:colId xmlns:a16="http://schemas.microsoft.com/office/drawing/2014/main" val="20009"/>
                    </a:ext>
                  </a:extLst>
                </a:gridCol>
              </a:tblGrid>
              <a:tr h="488950">
                <a:tc>
                  <a:txBody>
                    <a:bodyPr/>
                    <a:lstStyle/>
                    <a:p>
                      <a:pPr algn="ctr">
                        <a:spcAft>
                          <a:spcPts val="0"/>
                        </a:spcAft>
                      </a:pPr>
                      <a:r>
                        <a:rPr lang="en-US" sz="1800" kern="100" dirty="0">
                          <a:solidFill>
                            <a:schemeClr val="tx1"/>
                          </a:solidFill>
                          <a:effectLst/>
                          <a:ea typeface="微软雅黑" panose="020B0503020204020204" pitchFamily="34" charset="-122"/>
                        </a:rPr>
                        <a:t> </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3</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4</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5</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6</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7</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B</a:t>
                      </a:r>
                      <a:r>
                        <a:rPr lang="en-US" sz="1800" kern="100" baseline="-25000" dirty="0">
                          <a:solidFill>
                            <a:schemeClr val="tx1"/>
                          </a:solidFill>
                          <a:effectLst/>
                        </a:rPr>
                        <a:t>8</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kern="100" dirty="0">
                          <a:solidFill>
                            <a:schemeClr val="tx1"/>
                          </a:solidFill>
                          <a:effectLst/>
                          <a:ea typeface="微软雅黑" panose="020B0503020204020204" pitchFamily="34" charset="-122"/>
                        </a:rPr>
                        <a:t>产量</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48204">
                <a:tc>
                  <a:txBody>
                    <a:bodyPr/>
                    <a:lstStyle/>
                    <a:p>
                      <a:pPr algn="ctr">
                        <a:spcAft>
                          <a:spcPts val="0"/>
                        </a:spcAft>
                      </a:pPr>
                      <a:r>
                        <a:rPr lang="en-US" sz="1800" kern="100" dirty="0">
                          <a:solidFill>
                            <a:schemeClr val="tx1"/>
                          </a:solidFill>
                          <a:effectLst/>
                          <a:ea typeface="微软雅黑" panose="020B0503020204020204" pitchFamily="34" charset="-122"/>
                        </a:rPr>
                        <a:t>A</a:t>
                      </a:r>
                      <a:r>
                        <a:rPr lang="en-US" sz="1800" kern="100" baseline="-25000" dirty="0">
                          <a:solidFill>
                            <a:schemeClr val="tx1"/>
                          </a:solidFill>
                          <a:effectLst/>
                        </a:rPr>
                        <a:t>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19</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41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60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48204">
                <a:tc>
                  <a:txBody>
                    <a:bodyPr/>
                    <a:lstStyle/>
                    <a:p>
                      <a:pPr algn="ctr">
                        <a:spcAft>
                          <a:spcPts val="0"/>
                        </a:spcAft>
                      </a:pPr>
                      <a:r>
                        <a:rPr lang="en-US" sz="1800" kern="100" dirty="0">
                          <a:solidFill>
                            <a:schemeClr val="tx1"/>
                          </a:solidFill>
                          <a:effectLst/>
                          <a:ea typeface="微软雅黑" panose="020B0503020204020204" pitchFamily="34" charset="-122"/>
                        </a:rPr>
                        <a:t>A</a:t>
                      </a:r>
                      <a:r>
                        <a:rPr lang="en-US" sz="1800" kern="100" baseline="-25000" dirty="0">
                          <a:solidFill>
                            <a:schemeClr val="tx1"/>
                          </a:solidFill>
                          <a:effectLst/>
                        </a:rPr>
                        <a:t>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55</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48204">
                <a:tc>
                  <a:txBody>
                    <a:bodyPr/>
                    <a:lstStyle/>
                    <a:p>
                      <a:pPr algn="ctr">
                        <a:spcAft>
                          <a:spcPts val="0"/>
                        </a:spcAft>
                      </a:pPr>
                      <a:r>
                        <a:rPr lang="en-US" sz="1800" kern="100" dirty="0">
                          <a:solidFill>
                            <a:schemeClr val="tx1"/>
                          </a:solidFill>
                          <a:effectLst/>
                          <a:ea typeface="微软雅黑" panose="020B0503020204020204" pitchFamily="34" charset="-122"/>
                        </a:rPr>
                        <a:t>A</a:t>
                      </a:r>
                      <a:r>
                        <a:rPr lang="en-US" sz="1800" kern="100" baseline="-25000" dirty="0">
                          <a:solidFill>
                            <a:schemeClr val="tx1"/>
                          </a:solidFill>
                          <a:effectLst/>
                        </a:rPr>
                        <a:t>3</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12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22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17</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51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48204">
                <a:tc>
                  <a:txBody>
                    <a:bodyPr/>
                    <a:lstStyle/>
                    <a:p>
                      <a:pPr algn="ctr">
                        <a:spcAft>
                          <a:spcPts val="0"/>
                        </a:spcAft>
                      </a:pPr>
                      <a:r>
                        <a:rPr lang="en-US" sz="1800" kern="100" dirty="0">
                          <a:solidFill>
                            <a:schemeClr val="tx1"/>
                          </a:solidFill>
                          <a:effectLst/>
                          <a:ea typeface="微软雅黑" panose="020B0503020204020204" pitchFamily="34" charset="-122"/>
                        </a:rPr>
                        <a:t>A</a:t>
                      </a:r>
                      <a:r>
                        <a:rPr lang="en-US" sz="1800" kern="100" baseline="-25000" dirty="0">
                          <a:solidFill>
                            <a:schemeClr val="tx1"/>
                          </a:solidFill>
                          <a:effectLst/>
                        </a:rPr>
                        <a:t>4</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6</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37</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43</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48204">
                <a:tc>
                  <a:txBody>
                    <a:bodyPr/>
                    <a:lstStyle/>
                    <a:p>
                      <a:pPr algn="ctr">
                        <a:spcAft>
                          <a:spcPts val="0"/>
                        </a:spcAft>
                      </a:pPr>
                      <a:r>
                        <a:rPr lang="en-US" sz="1800" kern="100" dirty="0">
                          <a:solidFill>
                            <a:schemeClr val="tx1"/>
                          </a:solidFill>
                          <a:effectLst/>
                          <a:ea typeface="微软雅黑" panose="020B0503020204020204" pitchFamily="34" charset="-122"/>
                        </a:rPr>
                        <a:t>A</a:t>
                      </a:r>
                      <a:r>
                        <a:rPr lang="en-US" sz="1800" kern="100" baseline="-25000" dirty="0">
                          <a:solidFill>
                            <a:schemeClr val="tx1"/>
                          </a:solidFill>
                          <a:effectLst/>
                        </a:rPr>
                        <a:t>5</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35</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6</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41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48204">
                <a:tc>
                  <a:txBody>
                    <a:bodyPr/>
                    <a:lstStyle/>
                    <a:p>
                      <a:pPr algn="ctr">
                        <a:spcAft>
                          <a:spcPts val="0"/>
                        </a:spcAft>
                      </a:pPr>
                      <a:r>
                        <a:rPr lang="en-US" sz="1800" kern="100" dirty="0">
                          <a:solidFill>
                            <a:schemeClr val="tx1"/>
                          </a:solidFill>
                          <a:effectLst/>
                          <a:ea typeface="微软雅黑" panose="020B0503020204020204" pitchFamily="34" charset="-122"/>
                        </a:rPr>
                        <a:t>A</a:t>
                      </a:r>
                      <a:r>
                        <a:rPr lang="en-US" sz="1800" kern="100" baseline="-25000" dirty="0">
                          <a:solidFill>
                            <a:schemeClr val="tx1"/>
                          </a:solidFill>
                          <a:effectLst/>
                        </a:rPr>
                        <a:t>6</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26</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26</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0</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52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88950">
                <a:tc>
                  <a:txBody>
                    <a:bodyPr/>
                    <a:lstStyle/>
                    <a:p>
                      <a:pPr algn="ctr">
                        <a:spcAft>
                          <a:spcPts val="0"/>
                        </a:spcAft>
                      </a:pPr>
                      <a:r>
                        <a:rPr lang="zh-CN" sz="1800" kern="100" dirty="0">
                          <a:solidFill>
                            <a:schemeClr val="tx1"/>
                          </a:solidFill>
                          <a:effectLst/>
                          <a:ea typeface="微软雅黑" panose="020B0503020204020204" pitchFamily="34" charset="-122"/>
                        </a:rPr>
                        <a:t>销量</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35</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37</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22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41</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32</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43</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38</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kern="100" dirty="0">
                          <a:solidFill>
                            <a:schemeClr val="tx1"/>
                          </a:solidFill>
                          <a:effectLst/>
                          <a:ea typeface="微软雅黑" panose="020B0503020204020204" pitchFamily="34" charset="-122"/>
                        </a:rPr>
                        <a:t> </a:t>
                      </a:r>
                      <a:endParaRPr lang="zh-CN" sz="1800" kern="100" dirty="0">
                        <a:solidFill>
                          <a:schemeClr val="tx1"/>
                        </a:solidFill>
                        <a:effectLst/>
                        <a:latin typeface="Times New Roman" panose="02020603050405020304" pitchFamily="18" charset="0"/>
                        <a:ea typeface="微软雅黑" panose="020B0503020204020204" pitchFamily="34" charset="-122"/>
                      </a:endParaRPr>
                    </a:p>
                  </a:txBody>
                  <a:tcPr marL="68573" marR="6857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2" name="灯片编号占位符 1">
            <a:extLst>
              <a:ext uri="{FF2B5EF4-FFF2-40B4-BE49-F238E27FC236}">
                <a16:creationId xmlns:a16="http://schemas.microsoft.com/office/drawing/2014/main" id="{1F31FD53-E3B1-4393-8AB9-B304E2C3C4F4}"/>
              </a:ext>
            </a:extLst>
          </p:cNvPr>
          <p:cNvSpPr>
            <a:spLocks noGrp="1"/>
          </p:cNvSpPr>
          <p:nvPr>
            <p:ph type="sldNum" sz="quarter" idx="12"/>
          </p:nvPr>
        </p:nvSpPr>
        <p:spPr/>
        <p:txBody>
          <a:bodyPr/>
          <a:lstStyle/>
          <a:p>
            <a:pPr>
              <a:defRPr/>
            </a:pPr>
            <a:fld id="{2AE1B59C-883C-4848-BC85-9A12DF2590B2}" type="slidenum">
              <a:rPr lang="en-US" altLang="zh-CN" smtClean="0"/>
              <a:t>102</a:t>
            </a:fld>
            <a:endParaRPr lang="en-US" altLang="zh-CN"/>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
          <p:cNvSpPr txBox="1"/>
          <p:nvPr/>
        </p:nvSpPr>
        <p:spPr>
          <a:xfrm>
            <a:off x="971550" y="620713"/>
            <a:ext cx="5400675" cy="5754687"/>
          </a:xfrm>
          <a:prstGeom prst="rect">
            <a:avLst/>
          </a:prstGeom>
          <a:noFill/>
          <a:ln w="9525">
            <a:noFill/>
          </a:ln>
        </p:spPr>
        <p:txBody>
          <a:bodyPr>
            <a:spAutoFit/>
          </a:bodyPr>
          <a:lstStyle/>
          <a:p>
            <a:pPr eaLnBrk="1" hangingPunct="1">
              <a:spcBef>
                <a:spcPct val="50000"/>
              </a:spcBef>
            </a:pPr>
            <a:r>
              <a:rPr lang="zh-CN" altLang="en-US" sz="3200" b="1" dirty="0">
                <a:latin typeface="Tahoma" panose="020B0604030504040204" pitchFamily="34" charset="0"/>
                <a:ea typeface="微软雅黑" pitchFamily="34" charset="-122"/>
              </a:rPr>
              <a:t>作  业</a:t>
            </a:r>
          </a:p>
          <a:p>
            <a:pPr eaLnBrk="1" hangingPunct="1">
              <a:spcBef>
                <a:spcPct val="50000"/>
              </a:spcBef>
            </a:pPr>
            <a:endParaRPr lang="zh-CN" altLang="en-US" sz="3200" b="1" dirty="0">
              <a:latin typeface="Tahoma" panose="020B0604030504040204" pitchFamily="34" charset="0"/>
              <a:ea typeface="微软雅黑" pitchFamily="34" charset="-122"/>
            </a:endParaRPr>
          </a:p>
          <a:p>
            <a:pPr eaLnBrk="1" hangingPunct="1">
              <a:spcBef>
                <a:spcPct val="50000"/>
              </a:spcBef>
            </a:pPr>
            <a:r>
              <a:rPr lang="en-US" altLang="zh-CN" sz="3200" b="1" dirty="0">
                <a:latin typeface="Times New Roman" panose="02020603050405020304" pitchFamily="18" charset="0"/>
                <a:ea typeface="微软雅黑" pitchFamily="34" charset="-122"/>
              </a:rPr>
              <a:t>P138</a:t>
            </a:r>
            <a:r>
              <a:rPr lang="zh-CN" altLang="en-US" sz="3200" b="1" dirty="0">
                <a:latin typeface="仿宋" panose="02010609060101010101" pitchFamily="49" charset="-122"/>
                <a:ea typeface="仿宋" panose="02010609060101010101" pitchFamily="49" charset="-122"/>
              </a:rPr>
              <a:t>，</a:t>
            </a:r>
            <a:endParaRPr lang="en-US" altLang="zh-CN" sz="3200" b="1" dirty="0">
              <a:latin typeface="仿宋" panose="02010609060101010101" pitchFamily="49" charset="-122"/>
              <a:ea typeface="仿宋" panose="02010609060101010101" pitchFamily="49" charset="-122"/>
            </a:endParaRPr>
          </a:p>
          <a:p>
            <a:pPr eaLnBrk="1" hangingPunct="1">
              <a:spcBef>
                <a:spcPct val="50000"/>
              </a:spcBef>
            </a:pPr>
            <a:r>
              <a:rPr lang="en-US" altLang="zh-CN" sz="3200" b="1" dirty="0">
                <a:latin typeface="Times New Roman" panose="02020603050405020304" pitchFamily="18" charset="0"/>
                <a:ea typeface="微软雅黑" pitchFamily="34" charset="-122"/>
              </a:rPr>
              <a:t>            4.1</a:t>
            </a:r>
            <a:r>
              <a:rPr lang="zh-CN" altLang="en-US" sz="3200" b="1" dirty="0">
                <a:latin typeface="仿宋" panose="02010609060101010101" pitchFamily="49" charset="-122"/>
                <a:ea typeface="仿宋" panose="02010609060101010101" pitchFamily="49" charset="-122"/>
              </a:rPr>
              <a:t>；</a:t>
            </a:r>
            <a:r>
              <a:rPr lang="zh-CN" altLang="en-US" sz="3200" b="1" dirty="0">
                <a:latin typeface="Times New Roman" panose="02020603050405020304" pitchFamily="18" charset="0"/>
                <a:ea typeface="微软雅黑" pitchFamily="34" charset="-122"/>
              </a:rPr>
              <a:t>    </a:t>
            </a:r>
          </a:p>
          <a:p>
            <a:pPr eaLnBrk="1" hangingPunct="1">
              <a:spcBef>
                <a:spcPct val="50000"/>
              </a:spcBef>
            </a:pPr>
            <a:r>
              <a:rPr lang="zh-CN" altLang="en-US" sz="3200" b="1" dirty="0">
                <a:latin typeface="Times New Roman" panose="02020603050405020304" pitchFamily="18" charset="0"/>
                <a:ea typeface="微软雅黑" pitchFamily="34" charset="-122"/>
              </a:rPr>
              <a:t>            </a:t>
            </a:r>
            <a:r>
              <a:rPr lang="en-US" altLang="zh-CN" sz="3200" b="1" dirty="0">
                <a:latin typeface="Times New Roman" panose="02020603050405020304" pitchFamily="18" charset="0"/>
                <a:ea typeface="微软雅黑" pitchFamily="34" charset="-122"/>
              </a:rPr>
              <a:t>4.2</a:t>
            </a:r>
            <a:r>
              <a:rPr lang="zh-CN" altLang="en-US" sz="3200" b="1" dirty="0">
                <a:latin typeface="仿宋" panose="02010609060101010101" pitchFamily="49" charset="-122"/>
                <a:ea typeface="仿宋" panose="02010609060101010101" pitchFamily="49" charset="-122"/>
              </a:rPr>
              <a:t>；</a:t>
            </a:r>
            <a:endParaRPr lang="en-US" altLang="zh-CN" sz="3200" b="1" dirty="0">
              <a:latin typeface="仿宋" panose="02010609060101010101" pitchFamily="49" charset="-122"/>
              <a:ea typeface="仿宋" panose="02010609060101010101" pitchFamily="49" charset="-122"/>
            </a:endParaRPr>
          </a:p>
          <a:p>
            <a:pPr eaLnBrk="1" hangingPunct="1">
              <a:spcBef>
                <a:spcPct val="50000"/>
              </a:spcBef>
            </a:pPr>
            <a:r>
              <a:rPr lang="en-US" altLang="zh-CN" sz="3200" b="1" dirty="0">
                <a:latin typeface="Times New Roman" panose="02020603050405020304" pitchFamily="18" charset="0"/>
                <a:ea typeface="微软雅黑" pitchFamily="34" charset="-122"/>
              </a:rPr>
              <a:t>            4.3  </a:t>
            </a:r>
            <a:r>
              <a:rPr lang="zh-CN" altLang="en-US" sz="3200" b="1" dirty="0">
                <a:latin typeface="Times New Roman" panose="02020603050405020304" pitchFamily="18" charset="0"/>
                <a:ea typeface="微软雅黑" pitchFamily="34" charset="-122"/>
              </a:rPr>
              <a:t>表</a:t>
            </a:r>
            <a:r>
              <a:rPr lang="en-US" altLang="zh-CN" sz="3200" b="1" dirty="0">
                <a:latin typeface="Times New Roman" panose="02020603050405020304" pitchFamily="18" charset="0"/>
                <a:ea typeface="微软雅黑" pitchFamily="34" charset="-122"/>
              </a:rPr>
              <a:t>4-48</a:t>
            </a:r>
          </a:p>
          <a:p>
            <a:pPr eaLnBrk="1" hangingPunct="1">
              <a:spcBef>
                <a:spcPct val="50000"/>
              </a:spcBef>
            </a:pPr>
            <a:endParaRPr lang="en-US" altLang="zh-CN" sz="3200" b="1" dirty="0">
              <a:latin typeface="Times New Roman" panose="02020603050405020304" pitchFamily="18" charset="0"/>
              <a:ea typeface="微软雅黑" pitchFamily="34" charset="-122"/>
            </a:endParaRPr>
          </a:p>
          <a:p>
            <a:pPr eaLnBrk="1" hangingPunct="1">
              <a:spcBef>
                <a:spcPct val="50000"/>
              </a:spcBef>
            </a:pPr>
            <a:endParaRPr lang="en-US" altLang="zh-CN" sz="3200" b="1" dirty="0">
              <a:latin typeface="Times New Roman" panose="02020603050405020304" pitchFamily="18" charset="0"/>
              <a:ea typeface="微软雅黑" pitchFamily="34" charset="-122"/>
            </a:endParaRPr>
          </a:p>
        </p:txBody>
      </p:sp>
    </p:spTree>
    <p:extLst>
      <p:ext uri="{BB962C8B-B14F-4D97-AF65-F5344CB8AC3E}">
        <p14:creationId xmlns:p14="http://schemas.microsoft.com/office/powerpoint/2010/main" val="10873704"/>
      </p:ext>
    </p:extLst>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p:cNvSpPr txBox="1">
            <a:spLocks noChangeArrowheads="1"/>
          </p:cNvSpPr>
          <p:nvPr/>
        </p:nvSpPr>
        <p:spPr bwMode="auto">
          <a:xfrm>
            <a:off x="971550" y="620713"/>
            <a:ext cx="5400675" cy="427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微软雅黑" panose="020B0503020204020204" pitchFamily="34" charset="-122"/>
                <a:cs typeface="+mn-cs"/>
              </a:rPr>
              <a:t>作  业</a:t>
            </a:r>
          </a:p>
          <a:p>
            <a:pPr marL="0" marR="0" lvl="0" indent="0" algn="l" defTabSz="914400" rtl="0" eaLnBrk="0" fontAlgn="base" latinLnBrk="0" hangingPunct="0">
              <a:lnSpc>
                <a:spcPct val="100000"/>
              </a:lnSpc>
              <a:spcBef>
                <a:spcPct val="50000"/>
              </a:spcBef>
              <a:spcAft>
                <a:spcPct val="0"/>
              </a:spcAft>
              <a:buClrTx/>
              <a:buSzTx/>
              <a:buFontTx/>
              <a:buNone/>
              <a:defRPr/>
            </a:pPr>
            <a:endParaRPr kumimoji="0" lang="zh-CN" altLang="en-US" sz="3200" b="1" i="0" u="none" strike="noStrike" kern="1200" cap="none" spc="0" normalizeH="0" baseline="0" noProof="0" dirty="0">
              <a:ln>
                <a:noFill/>
              </a:ln>
              <a:solidFill>
                <a:srgbClr val="000000"/>
              </a:solidFill>
              <a:effectLst/>
              <a:uLnTx/>
              <a:uFillTx/>
              <a:latin typeface="Tahoma" panose="020B0604030504040204" pitchFamily="34" charset="0"/>
              <a:ea typeface="微软雅黑" panose="020B0503020204020204" pitchFamily="34"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P140</a:t>
            </a:r>
          </a:p>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            4.5</a:t>
            </a:r>
          </a:p>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endParaRPr>
          </a:p>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endParaRP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0144958b-c5be-438a-8320-090e2e6210f5"/>
  <p:tag name="COMMONDATA" val="eyJoZGlkIjoiY2I5YzlkZThmYzcwMWE4ODAzY2I0ZTIyMGJmOWUxODk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7173b67f-5eec-4409-9cce-178f88fe07c7}"/>
  <p:tag name="TABLE_ENDDRAG_ORIGIN_RECT" val="681*240"/>
  <p:tag name="TABLE_ENDDRAG_RECT" val="14*229*681*240"/>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7e8a8fa2-aafc-4b02-a87c-9feea4182ec9}"/>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c3cbf4ce-a632-4df9-9c00-bfae663eada5}"/>
  <p:tag name="TABLE_ENDDRAG_ORIGIN_RECT" val="678*204"/>
  <p:tag name="TABLE_ENDDRAG_RECT" val="30*286*678*204"/>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4a0948d2-a90f-4ce0-afc7-28502e22e9f2}"/>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89d7b0b7-472b-419d-9caa-17b1e889df2e}"/>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5a6a1c32-a562-4ca8-afcf-badb30ea54b3}"/>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bc3fc5a5-de83-44ec-8881-c4caec28ef84}"/>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b789e94f-e94b-43b9-9157-7a301b482a1f}"/>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6edb7e4c-6bd5-413f-a4aa-ef320a80f56c}"/>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dfdd3a7f-50e2-4bed-a881-3bc1f4544fea}"/>
  <p:tag name="TABLE_ENDDRAG_ORIGIN_RECT" val="509*275"/>
  <p:tag name="TABLE_ENDDRAG_RECT" val="105*128*509*275"/>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dfdd3a7f-50e2-4bed-a881-3bc1f4544fea}"/>
  <p:tag name="TABLE_ENDDRAG_ORIGIN_RECT" val="693*333"/>
  <p:tag name="TABLE_ENDDRAG_RECT" val="44*184*693*333"/>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dfdd3a7f-50e2-4bed-a881-3bc1f4544fea}"/>
  <p:tag name="TABLE_ENDDRAG_ORIGIN_RECT" val="693*333"/>
  <p:tag name="TABLE_ENDDRAG_RECT" val="44*184*693*333"/>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e376f420-2127-4a66-97b1-254924cb19cd}"/>
  <p:tag name="TABLE_ENDDRAG_ORIGIN_RECT" val="509*266"/>
  <p:tag name="TABLE_ENDDRAG_RECT" val="133*247*509*266"/>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2af67147-eaf6-4f9a-9d92-01f19cec8fd2}"/>
  <p:tag name="TABLE_ENDDRAG_ORIGIN_RECT" val="563*359"/>
  <p:tag name="TABLE_ENDDRAG_RECT" val="75*139*563*359"/>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9d19ed58-1c02-4b06-85e1-983efb7fd9f6}"/>
  <p:tag name="TABLE_ENDDRAG_ORIGIN_RECT" val="379*138"/>
  <p:tag name="TABLE_ENDDRAG_RECT" val="104*128*379*138"/>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ef8ca21b-51c5-492e-ab04-cd24bad9f480}"/>
  <p:tag name="TABLE_ENDDRAG_ORIGIN_RECT" val="308*141"/>
  <p:tag name="TABLE_ENDDRAG_RECT" val="87*389*308*141"/>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61ed3a6a-7556-425a-9b5b-8fc00d7329dc}"/>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4af593b2-50e6-430f-9d88-b5098a0da72c}"/>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9966a0cd-225b-4ff5-a9ad-0185b79c2561}"/>
  <p:tag name="TABLE_ENDDRAG_ORIGIN_RECT" val="413*125"/>
  <p:tag name="TABLE_ENDDRAG_RECT" val="107*172*413*125"/>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1db98107-bd95-4174-82fb-18983b30291f}"/>
  <p:tag name="TABLE_ENDDRAG_ORIGIN_RECT" val="474*155"/>
  <p:tag name="TABLE_ENDDRAG_RECT" val="144*135*474*155"/>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d58eece5-7ead-4d9d-ac4b-60a2e1785a9c}"/>
  <p:tag name="TABLE_ENDDRAG_ORIGIN_RECT" val="375*186"/>
  <p:tag name="TABLE_ENDDRAG_RECT" val="46*320*375*186"/>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fe866365-66b9-4ed2-84cd-9ead987c4f4f}"/>
  <p:tag name="TABLE_ENDDRAG_ORIGIN_RECT" val="480*252"/>
  <p:tag name="TABLE_ENDDRAG_RECT" val="42*128*480*252"/>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898295fc-1005-466e-bc38-153bf91095ce}"/>
  <p:tag name="TABLE_ENDDRAG_ORIGIN_RECT" val="425*119"/>
  <p:tag name="TABLE_ENDDRAG_RECT" val="82*454*425*119"/>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aab70a4d-d3aa-4974-afa9-20a63d96226f}"/>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eb2825c1-0dc5-4f05-ad23-c636732cdfee}"/>
  <p:tag name="TABLE_ENDDRAG_ORIGIN_RECT" val="456*147"/>
  <p:tag name="TABLE_ENDDRAG_RECT" val="8*353*456*147"/>
</p:tagLst>
</file>

<file path=ppt/tags/tag27.xml><?xml version="1.0" encoding="utf-8"?>
<p:tagLst xmlns:a="http://schemas.openxmlformats.org/drawingml/2006/main" xmlns:r="http://schemas.openxmlformats.org/officeDocument/2006/relationships" xmlns:p="http://schemas.openxmlformats.org/presentationml/2006/main">
  <p:tag name="KSO_WM_UNIT_TABLE_BEAUTIFY" val="smartTable{086f9584-02c1-4f66-b2de-0013cde23cc2}"/>
</p:tagLst>
</file>

<file path=ppt/tags/tag28.xml><?xml version="1.0" encoding="utf-8"?>
<p:tagLst xmlns:a="http://schemas.openxmlformats.org/drawingml/2006/main" xmlns:r="http://schemas.openxmlformats.org/officeDocument/2006/relationships" xmlns:p="http://schemas.openxmlformats.org/presentationml/2006/main">
  <p:tag name="KSO_WM_UNIT_TABLE_BEAUTIFY" val="smartTable{6db1484e-a48b-4490-8bf5-b4973d62453f}"/>
  <p:tag name="TABLE_ENDDRAG_ORIGIN_RECT" val="262*117"/>
  <p:tag name="TABLE_ENDDRAG_RECT" val="64*407*262*117"/>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938e7e2e-a69b-46ee-8887-002f2aa6f3e9}"/>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239d8488-4ebf-4f24-b2bd-d21038400949}"/>
  <p:tag name="TABLE_ENDDRAG_ORIGIN_RECT" val="419*164"/>
  <p:tag name="TABLE_ENDDRAG_RECT" val="115*241*419*164"/>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91a825cf-37c9-4956-ab38-899594199e91}"/>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bb332531-a677-41ef-b895-f9cd642f6698}"/>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316</TotalTime>
  <Words>10105</Words>
  <Application>Microsoft Office PowerPoint</Application>
  <PresentationFormat>全屏显示(4:3)</PresentationFormat>
  <Paragraphs>2401</Paragraphs>
  <Slides>104</Slides>
  <Notes>4</Notes>
  <HiddenSlides>0</HiddenSlides>
  <MMClips>0</MMClips>
  <ScaleCrop>false</ScaleCrop>
  <HeadingPairs>
    <vt:vector size="10" baseType="variant">
      <vt:variant>
        <vt:lpstr>已用的字体</vt:lpstr>
      </vt:variant>
      <vt:variant>
        <vt:i4>10</vt:i4>
      </vt:variant>
      <vt:variant>
        <vt:lpstr>主题</vt:lpstr>
      </vt:variant>
      <vt:variant>
        <vt:i4>1</vt:i4>
      </vt:variant>
      <vt:variant>
        <vt:lpstr>嵌入 OLE 服务器</vt:lpstr>
      </vt:variant>
      <vt:variant>
        <vt:i4>6</vt:i4>
      </vt:variant>
      <vt:variant>
        <vt:lpstr>幻灯片标题</vt:lpstr>
      </vt:variant>
      <vt:variant>
        <vt:i4>104</vt:i4>
      </vt:variant>
      <vt:variant>
        <vt:lpstr>自定义放映</vt:lpstr>
      </vt:variant>
      <vt:variant>
        <vt:i4>1</vt:i4>
      </vt:variant>
    </vt:vector>
  </HeadingPairs>
  <TitlesOfParts>
    <vt:vector size="122" baseType="lpstr">
      <vt:lpstr>仿宋</vt:lpstr>
      <vt:lpstr>华文楷体</vt:lpstr>
      <vt:lpstr>宋体</vt:lpstr>
      <vt:lpstr>微软雅黑</vt:lpstr>
      <vt:lpstr>Century Schoolbook</vt:lpstr>
      <vt:lpstr>Gill Sans Ultra Bold</vt:lpstr>
      <vt:lpstr>Tahoma</vt:lpstr>
      <vt:lpstr>Times New Roman</vt:lpstr>
      <vt:lpstr>Verdana</vt:lpstr>
      <vt:lpstr>Wingdings</vt:lpstr>
      <vt:lpstr>Blends</vt:lpstr>
      <vt:lpstr>Equation.DSMT4</vt:lpstr>
      <vt:lpstr>Equation</vt:lpstr>
      <vt:lpstr>Equation.3</vt:lpstr>
      <vt:lpstr>Paintbrush Picture</vt:lpstr>
      <vt:lpstr>Microsoft Word 97 - 2003 Document</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反馈控制理论基础</dc:title>
  <dc:creator>jakey</dc:creator>
  <cp:lastModifiedBy>曾志刚</cp:lastModifiedBy>
  <cp:revision>1045</cp:revision>
  <cp:lastPrinted>2113-01-01T00:00:00Z</cp:lastPrinted>
  <dcterms:created xsi:type="dcterms:W3CDTF">2002-01-10T11:18:00Z</dcterms:created>
  <dcterms:modified xsi:type="dcterms:W3CDTF">2025-11-11T14:54:18Z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F933A84F42144CF8AB3301C00D7228DA</vt:lpwstr>
  </property>
  <property fmtid="{D5CDD505-2E9C-101B-9397-08002B2CF9AE}" pid="3" name="KSOProductBuildVer">
    <vt:lpwstr>2052-11.1.0.12598</vt:lpwstr>
  </property>
</Properties>
</file>