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sldIdLst>
    <p:sldId id="616" r:id="rId3"/>
    <p:sldId id="359" r:id="rId4"/>
    <p:sldId id="294" r:id="rId5"/>
    <p:sldId id="672" r:id="rId6"/>
    <p:sldId id="673" r:id="rId7"/>
    <p:sldId id="674" r:id="rId8"/>
    <p:sldId id="257" r:id="rId9"/>
    <p:sldId id="295" r:id="rId10"/>
    <p:sldId id="296" r:id="rId11"/>
    <p:sldId id="675" r:id="rId12"/>
    <p:sldId id="297" r:id="rId13"/>
    <p:sldId id="676" r:id="rId14"/>
    <p:sldId id="298" r:id="rId15"/>
    <p:sldId id="677" r:id="rId16"/>
    <p:sldId id="678" r:id="rId17"/>
    <p:sldId id="299" r:id="rId18"/>
    <p:sldId id="679" r:id="rId19"/>
    <p:sldId id="300" r:id="rId20"/>
    <p:sldId id="301" r:id="rId21"/>
    <p:sldId id="302" r:id="rId22"/>
    <p:sldId id="303" r:id="rId23"/>
    <p:sldId id="680" r:id="rId24"/>
    <p:sldId id="618" r:id="rId25"/>
    <p:sldId id="619" r:id="rId26"/>
    <p:sldId id="620" r:id="rId27"/>
    <p:sldId id="621" r:id="rId28"/>
    <p:sldId id="622" r:id="rId29"/>
    <p:sldId id="683" r:id="rId30"/>
    <p:sldId id="703" r:id="rId31"/>
    <p:sldId id="704" r:id="rId32"/>
    <p:sldId id="685" r:id="rId33"/>
    <p:sldId id="623" r:id="rId34"/>
    <p:sldId id="624" r:id="rId35"/>
    <p:sldId id="625" r:id="rId36"/>
    <p:sldId id="686" r:id="rId37"/>
    <p:sldId id="687" r:id="rId38"/>
    <p:sldId id="688" r:id="rId39"/>
    <p:sldId id="689" r:id="rId40"/>
    <p:sldId id="690" r:id="rId41"/>
    <p:sldId id="691" r:id="rId42"/>
    <p:sldId id="262" r:id="rId43"/>
    <p:sldId id="282" r:id="rId44"/>
    <p:sldId id="627" r:id="rId45"/>
    <p:sldId id="628" r:id="rId46"/>
    <p:sldId id="702" r:id="rId47"/>
    <p:sldId id="304" r:id="rId48"/>
    <p:sldId id="305" r:id="rId49"/>
    <p:sldId id="306" r:id="rId50"/>
    <p:sldId id="692" r:id="rId51"/>
    <p:sldId id="307" r:id="rId52"/>
    <p:sldId id="694" r:id="rId53"/>
    <p:sldId id="631" r:id="rId54"/>
    <p:sldId id="291" r:id="rId55"/>
    <p:sldId id="309" r:id="rId56"/>
    <p:sldId id="695" r:id="rId57"/>
    <p:sldId id="696" r:id="rId58"/>
    <p:sldId id="310" r:id="rId59"/>
    <p:sldId id="705" r:id="rId60"/>
    <p:sldId id="311" r:id="rId61"/>
    <p:sldId id="698" r:id="rId62"/>
    <p:sldId id="292" r:id="rId63"/>
    <p:sldId id="313" r:id="rId64"/>
    <p:sldId id="315" r:id="rId65"/>
    <p:sldId id="699" r:id="rId66"/>
    <p:sldId id="314" r:id="rId67"/>
    <p:sldId id="632" r:id="rId68"/>
    <p:sldId id="700" r:id="rId69"/>
    <p:sldId id="633" r:id="rId70"/>
    <p:sldId id="636" r:id="rId71"/>
    <p:sldId id="637" r:id="rId72"/>
    <p:sldId id="701" r:id="rId7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7D7"/>
    <a:srgbClr val="A8BCAF"/>
    <a:srgbClr val="000099"/>
    <a:srgbClr val="FF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9" d="100"/>
          <a:sy n="109" d="100"/>
        </p:scale>
        <p:origin x="581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79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notesMaster" Target="notesMasters/notesMaster1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23.vml.rels><?xml version="1.0" encoding="UTF-8" standalone="yes"?>
<Relationships xmlns="http://schemas.openxmlformats.org/package/2006/relationships"><Relationship Id="rId7" Type="http://schemas.openxmlformats.org/officeDocument/2006/relationships/image" Target="../media/image85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73.wmf"/><Relationship Id="rId1" Type="http://schemas.openxmlformats.org/officeDocument/2006/relationships/image" Target="../media/image80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99C236E-EE02-4FB6-B8B2-6FF08442D8B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6F0B8892-26F4-4EFB-B429-6DA07C206E2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4CF2408-090C-45DC-837C-8EE8BD53776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423DC-D3FC-47A7-A7C3-7C0938032EB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3FE264-DA42-45EA-BA4F-6F296ED1D62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340B3C-A364-41D0-A333-49A29039A5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16F569-10A2-4663-8988-D4B30ADA5E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5F25A-3103-4CF4-AEAE-B4C3292955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F3422-8460-44FF-B691-8A44855F69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5E16F2-BF48-43A5-B906-6C2E9DAF5A7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361737-FC6B-43A0-A204-1B280C60F0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03DE86-BBE2-4EE8-A76C-642C912C51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0BE181-E3C7-4F4C-AEC7-5DB948082E8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2AC8C7-1520-4B6F-AFFC-722B094F21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53EAA8-36B8-432A-8901-056D40780EB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347E0-AD84-4D2B-8966-8D07739F35F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fld id="{B2329707-5E72-482A-B21B-78F61C18ABD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1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3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7.wmf"/><Relationship Id="rId1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1.wmf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0.bin"/><Relationship Id="rId3" Type="http://schemas.openxmlformats.org/officeDocument/2006/relationships/image" Target="../media/image19.w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3.bin"/><Relationship Id="rId3" Type="http://schemas.openxmlformats.org/officeDocument/2006/relationships/image" Target="../media/image23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emf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0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7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15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31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wmf"/><Relationship Id="rId8" Type="http://schemas.openxmlformats.org/officeDocument/2006/relationships/oleObject" Target="../embeddings/oleObject28.bin"/><Relationship Id="rId7" Type="http://schemas.openxmlformats.org/officeDocument/2006/relationships/oleObject" Target="../embeddings/oleObject27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33.wmf"/><Relationship Id="rId15" Type="http://schemas.openxmlformats.org/officeDocument/2006/relationships/vmlDrawing" Target="../drawings/vmlDrawing9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40.wmf"/><Relationship Id="rId12" Type="http://schemas.openxmlformats.org/officeDocument/2006/relationships/oleObject" Target="../embeddings/oleObject30.bin"/><Relationship Id="rId11" Type="http://schemas.openxmlformats.org/officeDocument/2006/relationships/image" Target="../media/image39.wmf"/><Relationship Id="rId10" Type="http://schemas.openxmlformats.org/officeDocument/2006/relationships/oleObject" Target="../embeddings/oleObject29.bin"/><Relationship Id="rId1" Type="http://schemas.openxmlformats.org/officeDocument/2006/relationships/oleObject" Target="../embeddings/oleObject24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wmf"/><Relationship Id="rId2" Type="http://schemas.openxmlformats.org/officeDocument/2006/relationships/oleObject" Target="../embeddings/oleObject31.bin"/><Relationship Id="rId1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png"/><Relationship Id="rId3" Type="http://schemas.openxmlformats.org/officeDocument/2006/relationships/image" Target="../media/image45.wmf"/><Relationship Id="rId2" Type="http://schemas.openxmlformats.org/officeDocument/2006/relationships/oleObject" Target="../embeddings/oleObject32.bin"/><Relationship Id="rId1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wmf"/><Relationship Id="rId2" Type="http://schemas.openxmlformats.org/officeDocument/2006/relationships/oleObject" Target="../embeddings/oleObject33.bin"/><Relationship Id="rId1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46.png"/><Relationship Id="rId1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wmf"/><Relationship Id="rId1" Type="http://schemas.openxmlformats.org/officeDocument/2006/relationships/oleObject" Target="../embeddings/oleObject3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36.bin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6.png"/><Relationship Id="rId2" Type="http://schemas.openxmlformats.org/officeDocument/2006/relationships/image" Target="../media/image55.wmf"/><Relationship Id="rId1" Type="http://schemas.openxmlformats.org/officeDocument/2006/relationships/oleObject" Target="../embeddings/oleObject39.bin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8.png"/><Relationship Id="rId2" Type="http://schemas.openxmlformats.org/officeDocument/2006/relationships/image" Target="../media/image57.wmf"/><Relationship Id="rId1" Type="http://schemas.openxmlformats.org/officeDocument/2006/relationships/oleObject" Target="../embeddings/oleObject40.bin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0.wmf"/><Relationship Id="rId2" Type="http://schemas.openxmlformats.org/officeDocument/2006/relationships/oleObject" Target="../embeddings/oleObject41.bin"/><Relationship Id="rId1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7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64.wmf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42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71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61.png"/><Relationship Id="rId10" Type="http://schemas.openxmlformats.org/officeDocument/2006/relationships/vmlDrawing" Target="../drawings/vmlDrawing20.vml"/><Relationship Id="rId1" Type="http://schemas.openxmlformats.org/officeDocument/2006/relationships/image" Target="../media/image6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73.wmf"/><Relationship Id="rId13" Type="http://schemas.openxmlformats.org/officeDocument/2006/relationships/vmlDrawing" Target="../drawings/vmlDrawing21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78.png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49.bin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2.vml"/><Relationship Id="rId4" Type="http://schemas.openxmlformats.org/officeDocument/2006/relationships/slideLayout" Target="../slideLayouts/slideLayout2.xml"/><Relationship Id="rId3" Type="http://schemas.openxmlformats.org/officeDocument/2006/relationships/oleObject" Target="../embeddings/oleObject55.bin"/><Relationship Id="rId2" Type="http://schemas.openxmlformats.org/officeDocument/2006/relationships/image" Target="../media/image79.wmf"/><Relationship Id="rId1" Type="http://schemas.openxmlformats.org/officeDocument/2006/relationships/oleObject" Target="../embeddings/oleObject54.bin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wmf"/><Relationship Id="rId8" Type="http://schemas.openxmlformats.org/officeDocument/2006/relationships/oleObject" Target="../embeddings/oleObject60.bin"/><Relationship Id="rId7" Type="http://schemas.openxmlformats.org/officeDocument/2006/relationships/image" Target="../media/image81.wmf"/><Relationship Id="rId6" Type="http://schemas.openxmlformats.org/officeDocument/2006/relationships/oleObject" Target="../embeddings/oleObject59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58.bin"/><Relationship Id="rId3" Type="http://schemas.openxmlformats.org/officeDocument/2006/relationships/oleObject" Target="../embeddings/oleObject57.bin"/><Relationship Id="rId2" Type="http://schemas.openxmlformats.org/officeDocument/2006/relationships/image" Target="../media/image80.wmf"/><Relationship Id="rId18" Type="http://schemas.openxmlformats.org/officeDocument/2006/relationships/vmlDrawing" Target="../drawings/vmlDrawing23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86.png"/><Relationship Id="rId15" Type="http://schemas.openxmlformats.org/officeDocument/2006/relationships/image" Target="../media/image85.wmf"/><Relationship Id="rId14" Type="http://schemas.openxmlformats.org/officeDocument/2006/relationships/oleObject" Target="../embeddings/oleObject63.bin"/><Relationship Id="rId13" Type="http://schemas.openxmlformats.org/officeDocument/2006/relationships/image" Target="../media/image84.wmf"/><Relationship Id="rId12" Type="http://schemas.openxmlformats.org/officeDocument/2006/relationships/oleObject" Target="../embeddings/oleObject62.bin"/><Relationship Id="rId11" Type="http://schemas.openxmlformats.org/officeDocument/2006/relationships/image" Target="../media/image83.wmf"/><Relationship Id="rId10" Type="http://schemas.openxmlformats.org/officeDocument/2006/relationships/oleObject" Target="../embeddings/oleObject61.bin"/><Relationship Id="rId1" Type="http://schemas.openxmlformats.org/officeDocument/2006/relationships/oleObject" Target="../embeddings/oleObject56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8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87.wmf"/><Relationship Id="rId1" Type="http://schemas.openxmlformats.org/officeDocument/2006/relationships/oleObject" Target="../embeddings/oleObject64.bin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0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89.wmf"/><Relationship Id="rId1" Type="http://schemas.openxmlformats.org/officeDocument/2006/relationships/oleObject" Target="../embeddings/oleObject66.bin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1.wmf"/><Relationship Id="rId1" Type="http://schemas.openxmlformats.org/officeDocument/2006/relationships/oleObject" Target="../embeddings/oleObject68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3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92.wmf"/><Relationship Id="rId12" Type="http://schemas.openxmlformats.org/officeDocument/2006/relationships/vmlDrawing" Target="../drawings/vmlDrawing2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69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2.png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609600"/>
            <a:ext cx="5140325" cy="911225"/>
          </a:xfrm>
        </p:spPr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章  图与网络优化</a:t>
            </a:r>
            <a:endParaRPr lang="zh-CN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6096000" cy="38100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引言 图论的起源与发展</a:t>
            </a:r>
            <a:endParaRPr lang="en-US" altLang="zh-CN" sz="28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第</a:t>
            </a:r>
            <a:r>
              <a:rPr lang="en-US" altLang="zh-CN" sz="2800" dirty="0"/>
              <a:t>1</a:t>
            </a:r>
            <a:r>
              <a:rPr lang="zh-CN" altLang="en-US" sz="2800" dirty="0"/>
              <a:t>节 图的基本概念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第</a:t>
            </a:r>
            <a:r>
              <a:rPr lang="en-US" altLang="zh-CN" sz="2800" dirty="0"/>
              <a:t>2</a:t>
            </a:r>
            <a:r>
              <a:rPr lang="zh-CN" altLang="en-US" sz="2800" dirty="0"/>
              <a:t>节 树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第</a:t>
            </a:r>
            <a:r>
              <a:rPr lang="en-US" altLang="zh-CN" sz="2800" dirty="0"/>
              <a:t>3</a:t>
            </a:r>
            <a:r>
              <a:rPr lang="zh-CN" altLang="en-US" sz="2800" dirty="0"/>
              <a:t>节 最短路问题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第</a:t>
            </a:r>
            <a:r>
              <a:rPr lang="en-US" altLang="zh-CN" sz="2800" dirty="0"/>
              <a:t>4</a:t>
            </a:r>
            <a:r>
              <a:rPr lang="zh-CN" altLang="en-US" sz="2800" dirty="0"/>
              <a:t>节 网络最大流问题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609600"/>
            <a:ext cx="5216525" cy="911225"/>
          </a:xfrm>
        </p:spPr>
        <p:txBody>
          <a:bodyPr/>
          <a:lstStyle/>
          <a:p>
            <a:pPr eaLnBrk="1" hangingPunct="1"/>
            <a:r>
              <a:rPr lang="zh-CN" altLang="en-US"/>
              <a:t>图论（</a:t>
            </a:r>
            <a:r>
              <a:rPr lang="en-US" altLang="zh-CN"/>
              <a:t>Graph Theory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772400" cy="4572000"/>
          </a:xfrm>
        </p:spPr>
        <p:txBody>
          <a:bodyPr/>
          <a:lstStyle/>
          <a:p>
            <a:pPr marL="0" lvl="1" indent="0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/>
              <a:t> 运筹学的重要分支</a:t>
            </a:r>
            <a:endParaRPr lang="zh-CN" altLang="en-US" sz="2400" b="1"/>
          </a:p>
          <a:p>
            <a:pPr marL="0" lvl="1" indent="0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/>
              <a:t> 主要应用领域</a:t>
            </a:r>
            <a:endParaRPr lang="zh-CN" altLang="en-US" sz="2400" b="1"/>
          </a:p>
          <a:p>
            <a:pPr marL="675005" lvl="3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700"/>
              <a:t> </a:t>
            </a:r>
            <a:r>
              <a:rPr lang="zh-CN" altLang="en-US"/>
              <a:t>物理学、化学、控制论、信息论、科学管理、电子计算机等</a:t>
            </a:r>
            <a:endParaRPr lang="zh-CN" altLang="en-US"/>
          </a:p>
          <a:p>
            <a:pPr marL="0" lvl="1" indent="0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/>
              <a:t> </a:t>
            </a:r>
            <a:r>
              <a:rPr lang="zh-CN" altLang="en-US" sz="2400" b="1"/>
              <a:t>图论理论和方法应用实例</a:t>
            </a:r>
            <a:endParaRPr lang="zh-CN" altLang="en-US" sz="2400" b="1"/>
          </a:p>
          <a:p>
            <a:pPr marL="675005" lvl="3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/>
              <a:t>在</a:t>
            </a:r>
            <a:r>
              <a:rPr lang="zh-CN" altLang="en-US">
                <a:solidFill>
                  <a:srgbClr val="FF0000"/>
                </a:solidFill>
              </a:rPr>
              <a:t>组织生产</a:t>
            </a:r>
            <a:r>
              <a:rPr lang="zh-CN" altLang="en-US"/>
              <a:t>中，为完成某项生产任务，</a:t>
            </a:r>
            <a:r>
              <a:rPr lang="zh-CN" altLang="en-US">
                <a:solidFill>
                  <a:srgbClr val="FF0000"/>
                </a:solidFill>
              </a:rPr>
              <a:t>各工序之间怎样衔接</a:t>
            </a:r>
            <a:r>
              <a:rPr lang="zh-CN" altLang="en-US"/>
              <a:t>，才能使生产任务完成得既快又好。</a:t>
            </a:r>
            <a:endParaRPr lang="zh-CN" altLang="en-US"/>
          </a:p>
          <a:p>
            <a:pPr marL="675005" lvl="3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/>
              <a:t>一个</a:t>
            </a:r>
            <a:r>
              <a:rPr lang="zh-CN" altLang="en-US">
                <a:solidFill>
                  <a:srgbClr val="FF0000"/>
                </a:solidFill>
              </a:rPr>
              <a:t>邮递员送信</a:t>
            </a:r>
            <a:r>
              <a:rPr lang="zh-CN" altLang="en-US"/>
              <a:t>，要走完他负责投递的全部街道，完成任务后回到邮局，应该按照怎样的路线走，所走的路程最短。</a:t>
            </a:r>
            <a:endParaRPr lang="zh-CN" altLang="en-US"/>
          </a:p>
          <a:p>
            <a:pPr marL="675005" lvl="3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/>
              <a:t>各种</a:t>
            </a:r>
            <a:r>
              <a:rPr lang="zh-CN" altLang="en-US">
                <a:solidFill>
                  <a:srgbClr val="FF0000"/>
                </a:solidFill>
              </a:rPr>
              <a:t>通信网络</a:t>
            </a:r>
            <a:r>
              <a:rPr lang="zh-CN" altLang="en-US"/>
              <a:t>的合理架设，</a:t>
            </a:r>
            <a:r>
              <a:rPr lang="zh-CN" altLang="en-US">
                <a:solidFill>
                  <a:srgbClr val="FF0000"/>
                </a:solidFill>
              </a:rPr>
              <a:t>交通网络</a:t>
            </a:r>
            <a:r>
              <a:rPr lang="zh-CN" altLang="en-US"/>
              <a:t>的合理分布等问题，应用图论的方法求解都很简便。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99D82C9-0915-4C39-B69B-B4125AAA4D62}" type="slidenum">
              <a:rPr lang="en-US" altLang="zh-CN"/>
            </a:fld>
            <a:endParaRPr lang="en-US" altLang="zh-CN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4683125" cy="7588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4000"/>
              <a:t>图论的起源与发展</a:t>
            </a:r>
            <a:endParaRPr lang="zh-CN" altLang="en-US" sz="400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001000" cy="2209800"/>
          </a:xfrm>
        </p:spPr>
        <p:txBody>
          <a:bodyPr/>
          <a:lstStyle/>
          <a:p>
            <a:pPr marL="358775" lvl="1" indent="-358775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>
                <a:solidFill>
                  <a:srgbClr val="FF0000"/>
                </a:solidFill>
              </a:rPr>
              <a:t>七桥问题</a:t>
            </a:r>
            <a:r>
              <a:rPr lang="zh-CN" altLang="en-US" sz="2000">
                <a:solidFill>
                  <a:srgbClr val="FF0000"/>
                </a:solidFill>
              </a:rPr>
              <a:t>：</a:t>
            </a:r>
            <a:endParaRPr lang="zh-CN" altLang="en-US" sz="2000">
              <a:solidFill>
                <a:srgbClr val="FF0000"/>
              </a:solidFill>
            </a:endParaRPr>
          </a:p>
          <a:p>
            <a:pPr marL="748030" lvl="3" indent="-358775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b="1" u="sng"/>
              <a:t>哥尼斯堡</a:t>
            </a:r>
            <a:r>
              <a:rPr lang="zh-CN" altLang="en-US"/>
              <a:t>城中有一条河叫普雷格尔河，该河中有两个岛，河上有七座桥。</a:t>
            </a:r>
            <a:endParaRPr lang="en-US" altLang="zh-CN"/>
          </a:p>
          <a:p>
            <a:pPr marL="748030" lvl="3" indent="-358775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/>
              <a:t>当时那里的居民热衷于这样的问题：</a:t>
            </a:r>
            <a:r>
              <a:rPr lang="zh-CN" altLang="en-US" b="1">
                <a:solidFill>
                  <a:srgbClr val="C00000"/>
                </a:solidFill>
              </a:rPr>
              <a:t>一个散步者能否走过七座桥，且每座桥只走过一次，最后回到出发点</a:t>
            </a:r>
            <a:r>
              <a:rPr lang="zh-CN" altLang="en-US"/>
              <a:t>。</a:t>
            </a:r>
            <a:endParaRPr lang="en-US" altLang="zh-CN"/>
          </a:p>
        </p:txBody>
      </p:sp>
      <p:pic>
        <p:nvPicPr>
          <p:cNvPr id="7173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962400"/>
            <a:ext cx="4419600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文本框 10"/>
          <p:cNvSpPr txBox="1">
            <a:spLocks noChangeArrowheads="1"/>
          </p:cNvSpPr>
          <p:nvPr/>
        </p:nvSpPr>
        <p:spPr bwMode="auto">
          <a:xfrm>
            <a:off x="3200400" y="5856288"/>
            <a:ext cx="2590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图</a:t>
            </a:r>
            <a:r>
              <a:rPr lang="en-US" altLang="zh-CN"/>
              <a:t>1 </a:t>
            </a:r>
            <a:r>
              <a:rPr lang="zh-CN" altLang="en-US"/>
              <a:t>普雷格尔河示意图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6813"/>
            <a:ext cx="1981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6590B32-068E-4291-B9C6-3036DC442204}" type="slidenum">
              <a:rPr lang="en-US" altLang="zh-CN"/>
            </a:fld>
            <a:endParaRPr lang="en-US" altLang="zh-CN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4683125" cy="7588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4000"/>
              <a:t>图论的起源与发展</a:t>
            </a:r>
            <a:endParaRPr lang="zh-CN" altLang="en-US" sz="400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2590800"/>
          </a:xfrm>
        </p:spPr>
        <p:txBody>
          <a:bodyPr/>
          <a:lstStyle/>
          <a:p>
            <a:pPr marL="358775" lvl="1" indent="-358775"/>
            <a:r>
              <a:rPr lang="zh-CN" altLang="en-US" sz="2200" dirty="0"/>
              <a:t>欧拉在</a:t>
            </a:r>
            <a:r>
              <a:rPr lang="en-US" altLang="zh-CN" sz="2200" dirty="0"/>
              <a:t>1736</a:t>
            </a:r>
            <a:r>
              <a:rPr lang="zh-CN" altLang="en-US" sz="2200" dirty="0"/>
              <a:t>年发表了图论方面的第一篇论文，解决了著名的哥尼斯堡</a:t>
            </a:r>
            <a:r>
              <a:rPr lang="zh-CN" altLang="en-US" sz="2200" b="1" dirty="0">
                <a:solidFill>
                  <a:srgbClr val="FF0000"/>
                </a:solidFill>
              </a:rPr>
              <a:t>七桥问题</a:t>
            </a:r>
            <a:r>
              <a:rPr lang="zh-CN" altLang="en-US" sz="2200" dirty="0"/>
              <a:t>。</a:t>
            </a:r>
            <a:endParaRPr lang="zh-CN" altLang="en-US" sz="2200" dirty="0"/>
          </a:p>
          <a:p>
            <a:pPr marL="358775" lvl="1" indent="-358775"/>
            <a:r>
              <a:rPr lang="zh-CN" altLang="en-US" sz="2200" dirty="0"/>
              <a:t>欧拉将此问题归结为如图</a:t>
            </a:r>
            <a:r>
              <a:rPr lang="en-US" altLang="zh-CN" sz="2200" dirty="0"/>
              <a:t>1(b)</a:t>
            </a:r>
            <a:r>
              <a:rPr lang="zh-CN" altLang="en-US" sz="2200" dirty="0"/>
              <a:t>所示图形的</a:t>
            </a:r>
            <a:r>
              <a:rPr lang="zh-CN" altLang="en-US" sz="2200" dirty="0">
                <a:solidFill>
                  <a:srgbClr val="FF0000"/>
                </a:solidFill>
              </a:rPr>
              <a:t>一笔画问题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marL="358775" lvl="1" indent="-358775"/>
            <a:r>
              <a:rPr lang="zh-CN" altLang="en-US" sz="2200" dirty="0"/>
              <a:t>即能否从某一点开始，不重复地一笔画出这个图形，最后回到出发点。</a:t>
            </a:r>
            <a:endParaRPr lang="en-US" altLang="zh-CN" sz="2200" dirty="0"/>
          </a:p>
          <a:p>
            <a:pPr marL="358775" lvl="1" indent="-358775"/>
            <a:r>
              <a:rPr lang="zh-CN" altLang="en-US" sz="2200" u="sng" dirty="0"/>
              <a:t>欧拉证明了这是</a:t>
            </a:r>
            <a:r>
              <a:rPr lang="zh-CN" altLang="en-US" sz="2200" b="1" u="sng" dirty="0">
                <a:solidFill>
                  <a:srgbClr val="FF0000"/>
                </a:solidFill>
              </a:rPr>
              <a:t>不可能</a:t>
            </a:r>
            <a:r>
              <a:rPr lang="zh-CN" altLang="en-US" sz="2200" u="sng" dirty="0"/>
              <a:t>的</a:t>
            </a:r>
            <a:r>
              <a:rPr lang="zh-CN" altLang="en-US" sz="2200" dirty="0"/>
              <a:t>，因为图</a:t>
            </a:r>
            <a:r>
              <a:rPr lang="en-US" altLang="zh-CN" sz="2200" dirty="0"/>
              <a:t>1(b)</a:t>
            </a:r>
            <a:r>
              <a:rPr lang="zh-CN" altLang="en-US" sz="2200" dirty="0"/>
              <a:t>中的每个点都只与</a:t>
            </a:r>
            <a:r>
              <a:rPr lang="zh-CN" altLang="en-US" sz="2200" dirty="0">
                <a:solidFill>
                  <a:srgbClr val="FF0000"/>
                </a:solidFill>
              </a:rPr>
              <a:t>奇数</a:t>
            </a:r>
            <a:r>
              <a:rPr lang="zh-CN" altLang="en-US" sz="2200" dirty="0"/>
              <a:t>条线相关联，不可能将这个图不重复地一笔画成。</a:t>
            </a:r>
            <a:endParaRPr lang="zh-CN" altLang="en-US" sz="2200" dirty="0"/>
          </a:p>
        </p:txBody>
      </p:sp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46288" y="4411663"/>
            <a:ext cx="5345112" cy="176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</p:pic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4495800" y="6191250"/>
            <a:ext cx="5445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Arial" panose="020B0604020202020204" pitchFamily="34" charset="0"/>
              </a:rPr>
              <a:t>图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1625A6B-8B33-4E8C-90D8-23D7F47E1762}" type="slidenum">
              <a:rPr lang="en-US" altLang="zh-CN"/>
            </a:fld>
            <a:endParaRPr lang="en-US" altLang="zh-CN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4683125" cy="7588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4000"/>
              <a:t>图论的起源与发展</a:t>
            </a:r>
            <a:endParaRPr lang="zh-CN" altLang="en-US" sz="400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001000" cy="1674813"/>
          </a:xfrm>
        </p:spPr>
        <p:txBody>
          <a:bodyPr/>
          <a:lstStyle/>
          <a:p>
            <a:pPr marL="358775" lvl="1" indent="-358775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“环球旅行”问题：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748030" lvl="3" indent="-358775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宋体" panose="02010600030101010101" pitchFamily="2" charset="-122"/>
              </a:rPr>
              <a:t>英国数学家哈密尔顿发明了一种游戏，它用一个实心正</a:t>
            </a:r>
            <a:r>
              <a:rPr lang="en-US" altLang="zh-CN" sz="1800" b="1" dirty="0">
                <a:latin typeface="Times New Roman" panose="02020603050405020304" pitchFamily="18" charset="0"/>
              </a:rPr>
              <a:t>12</a:t>
            </a:r>
            <a:r>
              <a:rPr lang="zh-CN" altLang="en-US" sz="1800" dirty="0">
                <a:latin typeface="宋体" panose="02010600030101010101" pitchFamily="2" charset="-122"/>
              </a:rPr>
              <a:t>面体象征地球，正</a:t>
            </a:r>
            <a:r>
              <a:rPr lang="en-US" altLang="zh-CN" sz="1800" b="1" dirty="0">
                <a:latin typeface="Times New Roman" panose="02020603050405020304" pitchFamily="18" charset="0"/>
              </a:rPr>
              <a:t>12</a:t>
            </a:r>
            <a:r>
              <a:rPr lang="zh-CN" altLang="en-US" sz="1800" dirty="0">
                <a:latin typeface="宋体" panose="02010600030101010101" pitchFamily="2" charset="-122"/>
              </a:rPr>
              <a:t>面体的</a:t>
            </a:r>
            <a:r>
              <a:rPr lang="en-US" altLang="zh-CN" sz="1800" b="1" dirty="0">
                <a:latin typeface="Times New Roman" panose="02020603050405020304" pitchFamily="18" charset="0"/>
              </a:rPr>
              <a:t>20</a:t>
            </a:r>
            <a:r>
              <a:rPr lang="zh-CN" altLang="en-US" sz="1800" dirty="0">
                <a:latin typeface="宋体" panose="02010600030101010101" pitchFamily="2" charset="-122"/>
              </a:rPr>
              <a:t>个顶点分别表示</a:t>
            </a:r>
            <a:r>
              <a:rPr lang="en-US" altLang="zh-CN" sz="1800" b="1" dirty="0">
                <a:latin typeface="Times New Roman" panose="02020603050405020304" pitchFamily="18" charset="0"/>
              </a:rPr>
              <a:t>20</a:t>
            </a:r>
            <a:r>
              <a:rPr lang="zh-CN" altLang="en-US" sz="1800" dirty="0">
                <a:latin typeface="宋体" panose="02010600030101010101" pitchFamily="2" charset="-122"/>
              </a:rPr>
              <a:t>座城市，要求游戏者从任一城市出发，寻找一条可经由每个城市一次且仅一次再回到原出发点的路。</a:t>
            </a:r>
            <a:endParaRPr lang="en-US" altLang="zh-CN" dirty="0"/>
          </a:p>
        </p:txBody>
      </p:sp>
      <p:sp>
        <p:nvSpPr>
          <p:cNvPr id="9221" name="文本框 10"/>
          <p:cNvSpPr txBox="1">
            <a:spLocks noChangeArrowheads="1"/>
          </p:cNvSpPr>
          <p:nvPr/>
        </p:nvSpPr>
        <p:spPr bwMode="auto">
          <a:xfrm>
            <a:off x="3048000" y="5715000"/>
            <a:ext cx="2743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图</a:t>
            </a:r>
            <a:r>
              <a:rPr lang="en-US" altLang="zh-CN"/>
              <a:t>2 </a:t>
            </a:r>
            <a:r>
              <a:rPr lang="zh-CN" altLang="en-US">
                <a:latin typeface="宋体" panose="02010600030101010101" pitchFamily="2" charset="-122"/>
              </a:rPr>
              <a:t>哈密尔顿发明的游戏</a:t>
            </a:r>
            <a:endParaRPr lang="zh-CN" altLang="en-US"/>
          </a:p>
        </p:txBody>
      </p:sp>
      <p:pic>
        <p:nvPicPr>
          <p:cNvPr id="9222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505200"/>
            <a:ext cx="2143125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7A2470C-618A-4708-A507-009CAD7D30D4}" type="slidenum">
              <a:rPr lang="en-US" altLang="zh-CN"/>
            </a:fld>
            <a:endParaRPr lang="en-US" altLang="zh-CN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4683125" cy="7588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4000"/>
              <a:t>图论的起源与发展</a:t>
            </a:r>
            <a:endParaRPr lang="zh-CN" altLang="en-US" sz="400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001000" cy="1143000"/>
          </a:xfrm>
        </p:spPr>
        <p:txBody>
          <a:bodyPr/>
          <a:lstStyle/>
          <a:p>
            <a:pPr marL="358775" lvl="1" indent="-358775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>
                <a:latin typeface="宋体" panose="02010600030101010101" pitchFamily="2" charset="-122"/>
              </a:rPr>
              <a:t>还有许多诸如</a:t>
            </a: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</a:rPr>
              <a:t>迷宫问题</a:t>
            </a:r>
            <a:r>
              <a:rPr lang="zh-CN" altLang="en-US" sz="2400">
                <a:latin typeface="宋体" panose="02010600030101010101" pitchFamily="2" charset="-122"/>
              </a:rPr>
              <a:t>、</a:t>
            </a: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</a:rPr>
              <a:t>博弈问题</a:t>
            </a:r>
            <a:r>
              <a:rPr lang="zh-CN" altLang="en-US" sz="2400">
                <a:latin typeface="宋体" panose="02010600030101010101" pitchFamily="2" charset="-122"/>
              </a:rPr>
              <a:t>以及</a:t>
            </a: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</a:rPr>
              <a:t>棋盘上马的行走线路问题</a:t>
            </a:r>
            <a:r>
              <a:rPr lang="zh-CN" altLang="en-US" sz="2400">
                <a:latin typeface="宋体" panose="02010600030101010101" pitchFamily="2" charset="-122"/>
              </a:rPr>
              <a:t>之类的游戏难题，吸引了许多学者。</a:t>
            </a:r>
            <a:endParaRPr lang="en-US" altLang="zh-CN" sz="2400">
              <a:latin typeface="宋体" panose="0201060003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4675" y="2971800"/>
            <a:ext cx="8001000" cy="1447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60045" lvl="1" indent="-360045"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400" kern="0" dirty="0">
                <a:latin typeface="宋体" panose="02010600030101010101" pitchFamily="2" charset="-122"/>
              </a:rPr>
              <a:t>这些看似无足轻重的游戏引出了许多有实用意义的新问题如“</a:t>
            </a:r>
            <a:r>
              <a:rPr lang="zh-CN" altLang="en-US" sz="2400" b="1" kern="0" dirty="0">
                <a:solidFill>
                  <a:srgbClr val="C00000"/>
                </a:solidFill>
                <a:latin typeface="宋体" panose="02010600030101010101" pitchFamily="2" charset="-122"/>
              </a:rPr>
              <a:t>中国邮路问题</a:t>
            </a:r>
            <a:r>
              <a:rPr lang="zh-CN" altLang="en-US" sz="2400" kern="0" dirty="0">
                <a:latin typeface="宋体" panose="02010600030101010101" pitchFamily="2" charset="-122"/>
              </a:rPr>
              <a:t>”、“</a:t>
            </a:r>
            <a:r>
              <a:rPr lang="zh-CN" altLang="en-US" sz="2400" b="1" kern="0" dirty="0">
                <a:solidFill>
                  <a:srgbClr val="C00000"/>
                </a:solidFill>
                <a:latin typeface="宋体" panose="02010600030101010101" pitchFamily="2" charset="-122"/>
              </a:rPr>
              <a:t>货郎担问题</a:t>
            </a:r>
            <a:r>
              <a:rPr lang="zh-CN" altLang="en-US" sz="2400" kern="0" dirty="0">
                <a:latin typeface="宋体" panose="02010600030101010101" pitchFamily="2" charset="-122"/>
              </a:rPr>
              <a:t>”，开辟了新学科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——</a:t>
            </a:r>
            <a:r>
              <a:rPr lang="zh-CN" altLang="en-US" sz="2400" kern="0" dirty="0">
                <a:latin typeface="宋体" panose="02010600030101010101" pitchFamily="2" charset="-122"/>
              </a:rPr>
              <a:t>图论（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Graph Theory</a:t>
            </a:r>
            <a:r>
              <a:rPr lang="zh-CN" altLang="en-US" sz="2400" kern="0" dirty="0">
                <a:latin typeface="宋体" panose="02010600030101010101" pitchFamily="2" charset="-122"/>
              </a:rPr>
              <a:t>）。</a:t>
            </a:r>
            <a:endParaRPr lang="en-US" altLang="zh-CN" sz="2400" kern="0" dirty="0"/>
          </a:p>
        </p:txBody>
      </p:sp>
      <p:sp>
        <p:nvSpPr>
          <p:cNvPr id="2" name="对话气泡: 椭圆形 1"/>
          <p:cNvSpPr/>
          <p:nvPr/>
        </p:nvSpPr>
        <p:spPr>
          <a:xfrm>
            <a:off x="5181600" y="4568825"/>
            <a:ext cx="2895600" cy="1298575"/>
          </a:xfrm>
          <a:prstGeom prst="wedgeEllipseCallout">
            <a:avLst>
              <a:gd name="adj1" fmla="val -48460"/>
              <a:gd name="adj2" fmla="val -103811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b="1" dirty="0"/>
              <a:t>图论来自生活，服务生活。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C06934E-B785-4EA2-B365-B84C1B5809B8}" type="slidenum">
              <a:rPr lang="en-US" altLang="zh-CN"/>
            </a:fld>
            <a:endParaRPr lang="en-US" altLang="zh-CN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9588" y="1773238"/>
            <a:ext cx="4824412" cy="3865562"/>
          </a:xfrm>
        </p:spPr>
        <p:txBody>
          <a:bodyPr/>
          <a:lstStyle/>
          <a:p>
            <a:r>
              <a:rPr lang="zh-CN" altLang="en-US" sz="2400" dirty="0"/>
              <a:t>人们为反映一些对象之间关系时，常会用</a:t>
            </a:r>
            <a:r>
              <a:rPr lang="zh-CN" altLang="en-US" sz="2400" b="1" dirty="0">
                <a:solidFill>
                  <a:srgbClr val="C00000"/>
                </a:solidFill>
              </a:rPr>
              <a:t>示意图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1">
              <a:spcBef>
                <a:spcPts val="1200"/>
              </a:spcBef>
            </a:pPr>
            <a:r>
              <a:rPr lang="zh-CN" altLang="en-US" sz="2000" dirty="0"/>
              <a:t>例</a:t>
            </a:r>
            <a:r>
              <a:rPr lang="en-US" altLang="zh-CN" sz="2000" dirty="0"/>
              <a:t>1  </a:t>
            </a:r>
            <a:r>
              <a:rPr lang="zh-CN" altLang="en-US" sz="2000" dirty="0"/>
              <a:t>右图是我国北京、上海等十个城市间的铁路交通图，反映了这十个城市间的铁路分布情况。这里用点代表城市，用点和点之间的连线代表这两个城市之间的铁路线。</a:t>
            </a:r>
            <a:endParaRPr lang="zh-CN" altLang="en-US" sz="2000" dirty="0"/>
          </a:p>
          <a:p>
            <a:pPr lvl="1">
              <a:spcBef>
                <a:spcPts val="1200"/>
              </a:spcBef>
            </a:pPr>
            <a:r>
              <a:rPr lang="zh-CN" altLang="en-US" sz="2000" dirty="0"/>
              <a:t>其他示意图的例子</a:t>
            </a:r>
            <a:endParaRPr lang="zh-CN" altLang="en-US" sz="2000" dirty="0"/>
          </a:p>
          <a:p>
            <a:pPr lvl="2">
              <a:spcBef>
                <a:spcPts val="600"/>
              </a:spcBef>
            </a:pPr>
            <a:r>
              <a:rPr lang="zh-CN" altLang="en-US" sz="1800" dirty="0"/>
              <a:t>电话线分布图、煤气管道图、航空线图等。</a:t>
            </a:r>
            <a:endParaRPr lang="zh-CN" altLang="en-US" sz="1800" dirty="0"/>
          </a:p>
        </p:txBody>
      </p:sp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466975"/>
            <a:ext cx="29464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5"/>
          <p:cNvSpPr txBox="1">
            <a:spLocks noChangeArrowheads="1"/>
          </p:cNvSpPr>
          <p:nvPr/>
        </p:nvSpPr>
        <p:spPr bwMode="auto">
          <a:xfrm>
            <a:off x="5634038" y="1817688"/>
            <a:ext cx="2232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铁路交通图</a:t>
            </a:r>
            <a:endParaRPr lang="zh-CN" altLang="en-US" sz="2800" b="1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82000" y="6324600"/>
            <a:ext cx="457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2CA15B6-0E1D-453F-80A9-8137BAEA31E7}" type="slidenum">
              <a:rPr lang="en-US" altLang="zh-CN"/>
            </a:fld>
            <a:endParaRPr lang="en-US" altLang="zh-CN" dirty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501" y="1697971"/>
            <a:ext cx="8139112" cy="14687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例</a:t>
            </a:r>
            <a:r>
              <a:rPr lang="en-US" altLang="zh-CN" sz="2400" dirty="0"/>
              <a:t>2  </a:t>
            </a:r>
            <a:r>
              <a:rPr lang="zh-CN" altLang="en-US" sz="2400" dirty="0"/>
              <a:t>有甲、乙、丙、丁、戊五个球队。</a:t>
            </a:r>
            <a:endParaRPr lang="zh-CN" altLang="en-US" sz="2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已知甲队和其他各队都比赛过一次，乙队和甲、丙队比赛过，丙队和甲、乙、丁队比赛过，丁队和甲、丙、戊队比赛过，戊队和甲、丁队比赛过。</a:t>
            </a:r>
            <a:endParaRPr lang="en-US" altLang="zh-CN" sz="2000" dirty="0"/>
          </a:p>
        </p:txBody>
      </p:sp>
      <p:sp>
        <p:nvSpPr>
          <p:cNvPr id="12294" name="Text Box 5"/>
          <p:cNvSpPr txBox="1">
            <a:spLocks noChangeArrowheads="1"/>
          </p:cNvSpPr>
          <p:nvPr/>
        </p:nvSpPr>
        <p:spPr bwMode="auto">
          <a:xfrm>
            <a:off x="3733800" y="6248400"/>
            <a:ext cx="21137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比赛情况图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602288" y="4193851"/>
            <a:ext cx="2932112" cy="2190858"/>
            <a:chOff x="4535488" y="3990867"/>
            <a:chExt cx="2932112" cy="2190858"/>
          </a:xfrm>
        </p:grpSpPr>
        <p:sp>
          <p:nvSpPr>
            <p:cNvPr id="10" name="文本框 9"/>
            <p:cNvSpPr txBox="1"/>
            <p:nvPr/>
          </p:nvSpPr>
          <p:spPr>
            <a:xfrm>
              <a:off x="7010400" y="48768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丁</a:t>
              </a:r>
              <a:endParaRPr lang="zh-CN" altLang="en-US" dirty="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535488" y="3990867"/>
              <a:ext cx="2593815" cy="2190858"/>
              <a:chOff x="4535488" y="3990867"/>
              <a:chExt cx="2593815" cy="2190858"/>
            </a:xfrm>
          </p:grpSpPr>
          <p:pic>
            <p:nvPicPr>
              <p:cNvPr id="12293" name="Picture 4"/>
              <p:cNvPicPr>
                <a:picLocks noChangeAspect="1" noChangeArrowheads="1"/>
              </p:cNvPicPr>
              <p:nvPr/>
            </p:nvPicPr>
            <p:blipFill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0600" y="3990867"/>
                <a:ext cx="2328703" cy="21908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" name="组合 2"/>
              <p:cNvGrpSpPr/>
              <p:nvPr/>
            </p:nvGrpSpPr>
            <p:grpSpPr>
              <a:xfrm>
                <a:off x="4535488" y="4168013"/>
                <a:ext cx="2474912" cy="2009465"/>
                <a:chOff x="4535488" y="4168013"/>
                <a:chExt cx="2474912" cy="2009465"/>
              </a:xfrm>
            </p:grpSpPr>
            <p:sp>
              <p:nvSpPr>
                <p:cNvPr id="2" name="文本框 1"/>
                <p:cNvSpPr txBox="1"/>
                <p:nvPr/>
              </p:nvSpPr>
              <p:spPr>
                <a:xfrm>
                  <a:off x="6096000" y="4168013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戊</a:t>
                  </a:r>
                  <a:endParaRPr lang="zh-CN" altLang="en-US" dirty="0"/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4953000" y="5808146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乙</a:t>
                  </a:r>
                  <a:endParaRPr lang="zh-CN" altLang="en-US" dirty="0"/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6553200" y="5808146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丙</a:t>
                  </a:r>
                  <a:endParaRPr lang="zh-CN" altLang="en-US" dirty="0"/>
                </a:p>
              </p:txBody>
            </p:sp>
            <p:sp>
              <p:nvSpPr>
                <p:cNvPr id="11" name="文本框 10"/>
                <p:cNvSpPr txBox="1"/>
                <p:nvPr/>
              </p:nvSpPr>
              <p:spPr>
                <a:xfrm>
                  <a:off x="4535488" y="4876800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甲</a:t>
                  </a:r>
                  <a:endParaRPr lang="zh-CN" altLang="en-US" dirty="0"/>
                </a:p>
              </p:txBody>
            </p:sp>
          </p:grpSp>
        </p:grpSp>
      </p:grp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94603" y="3125789"/>
            <a:ext cx="82804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kern="0" dirty="0"/>
              <a:t>请把它们之间比赛的情况用图表示出来。</a:t>
            </a:r>
            <a:endParaRPr lang="en-US" altLang="zh-CN" sz="2400" kern="0" dirty="0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594603" y="3593446"/>
            <a:ext cx="7558797" cy="94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90000"/>
              </a:lnSpc>
            </a:pPr>
            <a:r>
              <a:rPr lang="zh-CN" altLang="en-US" sz="2000" kern="0" dirty="0"/>
              <a:t>提示：为了反映这个情况，可以用</a:t>
            </a:r>
            <a:r>
              <a:rPr lang="zh-CN" altLang="en-US" sz="2000" b="1" kern="0" dirty="0">
                <a:solidFill>
                  <a:srgbClr val="C00000"/>
                </a:solidFill>
              </a:rPr>
              <a:t>点</a:t>
            </a:r>
            <a:r>
              <a:rPr lang="zh-CN" altLang="en-US" sz="2000" kern="0" dirty="0"/>
              <a:t>分别代表这五个队，某两个队之间比赛过，就在这两个队所相应的点之间联一条</a:t>
            </a:r>
            <a:r>
              <a:rPr lang="zh-CN" altLang="en-US" sz="2000" b="1" kern="0" dirty="0">
                <a:solidFill>
                  <a:srgbClr val="C00000"/>
                </a:solidFill>
              </a:rPr>
              <a:t>线</a:t>
            </a:r>
            <a:r>
              <a:rPr lang="zh-CN" altLang="en-US" sz="2000" kern="0" dirty="0"/>
              <a:t>，这条线不过其他的点。</a:t>
            </a:r>
            <a:endParaRPr lang="zh-CN" altLang="en-US" sz="2000" kern="0" dirty="0"/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876800"/>
            <a:ext cx="4537075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A777F9-C778-49D0-BD9D-08CF88D24C7F}" type="slidenum">
              <a:rPr lang="en-US" altLang="zh-CN"/>
            </a:fld>
            <a:endParaRPr lang="en-US" altLang="zh-CN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676400"/>
            <a:ext cx="8142287" cy="2017713"/>
          </a:xfrm>
        </p:spPr>
        <p:txBody>
          <a:bodyPr/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某单位储存八种化学药品，其中某些药品是不能存放在同一个库房里的。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用点                                分别代表这八种药品，若药品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和药品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是不能存放在同一个库房的，则在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之间联一条线。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3318" name="Object 4"/>
          <p:cNvGraphicFramePr>
            <a:graphicFrameLocks noChangeAspect="1"/>
          </p:cNvGraphicFramePr>
          <p:nvPr/>
        </p:nvGraphicFramePr>
        <p:xfrm>
          <a:off x="1733550" y="2511425"/>
          <a:ext cx="230505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371600" imgH="228600" progId="Equation.DSMT4">
                  <p:embed/>
                </p:oleObj>
              </mc:Choice>
              <mc:Fallback>
                <p:oleObj name="" r:id="rId1" imgW="13716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2511425"/>
                        <a:ext cx="230505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13321" name="Picture 1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74903"/>
            <a:ext cx="2957513" cy="257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2" name="Text Box 11"/>
          <p:cNvSpPr txBox="1">
            <a:spLocks noChangeArrowheads="1"/>
          </p:cNvSpPr>
          <p:nvPr/>
        </p:nvSpPr>
        <p:spPr bwMode="auto">
          <a:xfrm>
            <a:off x="5611570" y="6179013"/>
            <a:ext cx="21097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药品存放图</a:t>
            </a: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85800" y="5044977"/>
            <a:ext cx="3505200" cy="91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60045" lvl="1" indent="-360045">
              <a:defRPr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最少需要几个库房？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lvl="1" indent="-360045">
              <a:defRPr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如何存放药品？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833718" y="4267200"/>
            <a:ext cx="1600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思考？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15DF025-C59F-4AC0-B216-818ACE96F09A}" type="slidenum">
              <a:rPr lang="en-US" altLang="zh-CN"/>
            </a:fld>
            <a:endParaRPr lang="en-US" altLang="zh-CN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19250"/>
            <a:ext cx="8218487" cy="1962150"/>
          </a:xfrm>
        </p:spPr>
        <p:txBody>
          <a:bodyPr/>
          <a:lstStyle/>
          <a:p>
            <a:pPr marL="360045" lvl="1" indent="-360045"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从这个图中可以看到，至少要有四个库房，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                    必须存放在不同的库房里。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lvl="1" indent="-360045"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事实上，四个库房就足够了。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lvl="1" indent="-360045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例如，将                                           各存放在一个库房里。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4343" name="Object 6"/>
          <p:cNvGraphicFramePr>
            <a:graphicFrameLocks noChangeAspect="1"/>
          </p:cNvGraphicFramePr>
          <p:nvPr/>
        </p:nvGraphicFramePr>
        <p:xfrm>
          <a:off x="1692275" y="2108200"/>
          <a:ext cx="122396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73100" imgH="228600" progId="Equation.DSMT4">
                  <p:embed/>
                </p:oleObj>
              </mc:Choice>
              <mc:Fallback>
                <p:oleObj name="" r:id="rId1" imgW="6731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108200"/>
                        <a:ext cx="122396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4345" name="Object 8"/>
          <p:cNvGraphicFramePr>
            <a:graphicFrameLocks noChangeAspect="1"/>
          </p:cNvGraphicFramePr>
          <p:nvPr/>
        </p:nvGraphicFramePr>
        <p:xfrm>
          <a:off x="2209800" y="2979738"/>
          <a:ext cx="30956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892300" imgH="228600" progId="Equation.DSMT4">
                  <p:embed/>
                </p:oleObj>
              </mc:Choice>
              <mc:Fallback>
                <p:oleObj name="" r:id="rId3" imgW="18923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979738"/>
                        <a:ext cx="309562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6" name="Picture 10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505200"/>
            <a:ext cx="2922588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1547813" y="5157788"/>
            <a:ext cx="2736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药品存放图</a:t>
            </a:r>
            <a:endParaRPr lang="zh-CN" altLang="en-US" sz="2800" b="1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80335B9-C622-4673-A471-BE306B33D7D9}" type="slidenum">
              <a:rPr lang="en-US" altLang="zh-CN"/>
            </a:fld>
            <a:endParaRPr lang="en-US" altLang="zh-CN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81175"/>
            <a:ext cx="7621587" cy="24860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图：</a:t>
            </a:r>
            <a:r>
              <a:rPr lang="zh-CN" altLang="en-US" sz="2400"/>
              <a:t>由</a:t>
            </a:r>
            <a:r>
              <a:rPr lang="zh-CN" altLang="en-US" sz="2400" b="1" u="sng">
                <a:solidFill>
                  <a:srgbClr val="C00000"/>
                </a:solidFill>
              </a:rPr>
              <a:t>点</a:t>
            </a:r>
            <a:r>
              <a:rPr lang="zh-CN" altLang="en-US" sz="2400"/>
              <a:t>及</a:t>
            </a:r>
            <a:r>
              <a:rPr lang="zh-CN" altLang="en-US" sz="2400" b="1" u="sng">
                <a:solidFill>
                  <a:srgbClr val="C00000"/>
                </a:solidFill>
              </a:rPr>
              <a:t>点与点的连线</a:t>
            </a:r>
            <a:r>
              <a:rPr lang="zh-CN" altLang="en-US" sz="2400"/>
              <a:t>构成，反映了实际生活中某些对象之间的某些特定关系</a:t>
            </a:r>
            <a:endParaRPr lang="zh-CN" altLang="en-US" sz="2400"/>
          </a:p>
          <a:p>
            <a:pPr lvl="1">
              <a:lnSpc>
                <a:spcPct val="150000"/>
              </a:lnSpc>
            </a:pPr>
            <a:r>
              <a:rPr lang="zh-CN" altLang="en-US" sz="2000"/>
              <a:t>点：代表研究的对象；</a:t>
            </a:r>
            <a:endParaRPr lang="zh-CN" altLang="en-US" sz="2000"/>
          </a:p>
          <a:p>
            <a:pPr lvl="1">
              <a:lnSpc>
                <a:spcPct val="150000"/>
              </a:lnSpc>
            </a:pPr>
            <a:r>
              <a:rPr lang="zh-CN" altLang="en-US" sz="2000"/>
              <a:t>连线：表示两个对象之间特定的关系。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6E07CD3-6AA6-4014-8E69-C09A0A28D172}" type="slidenum">
              <a:rPr lang="en-US" altLang="zh-CN"/>
            </a:fld>
            <a:endParaRPr lang="en-US" altLang="zh-CN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675" y="1676400"/>
            <a:ext cx="7654925" cy="225425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/>
              <a:t>图论中的</a:t>
            </a:r>
            <a:r>
              <a:rPr lang="zh-CN" altLang="en-US" sz="2400">
                <a:solidFill>
                  <a:srgbClr val="C00000"/>
                </a:solidFill>
              </a:rPr>
              <a:t>图</a:t>
            </a:r>
            <a:r>
              <a:rPr lang="zh-CN" altLang="en-US" sz="2400"/>
              <a:t>：是反映对象之间关系的一种抽象</a:t>
            </a:r>
            <a:endParaRPr lang="zh-CN" altLang="en-US" sz="2400"/>
          </a:p>
          <a:p>
            <a:pPr lvl="1">
              <a:lnSpc>
                <a:spcPct val="125000"/>
              </a:lnSpc>
            </a:pPr>
            <a:r>
              <a:rPr lang="zh-CN" altLang="en-US" sz="2000"/>
              <a:t>一般情况下，图中点的相对位置如何，点与点之间连线的长短曲直，对反映对象之间的关系并不重要。</a:t>
            </a:r>
            <a:endParaRPr lang="zh-CN" altLang="en-US" sz="2000"/>
          </a:p>
          <a:p>
            <a:pPr lvl="2">
              <a:lnSpc>
                <a:spcPct val="125000"/>
              </a:lnSpc>
            </a:pPr>
            <a:r>
              <a:rPr lang="zh-CN" altLang="en-US" sz="2000"/>
              <a:t>如例</a:t>
            </a:r>
            <a:r>
              <a:rPr lang="en-US" altLang="zh-CN" sz="2000"/>
              <a:t>2</a:t>
            </a:r>
            <a:r>
              <a:rPr lang="zh-CN" altLang="en-US" sz="2000"/>
              <a:t>，也可以用图</a:t>
            </a:r>
            <a:r>
              <a:rPr lang="en-US" altLang="zh-CN" sz="2000"/>
              <a:t>5</a:t>
            </a:r>
            <a:r>
              <a:rPr lang="zh-CN" altLang="en-US" sz="2000"/>
              <a:t>所示的图去反映五个球队的比赛情况，与图</a:t>
            </a:r>
            <a:r>
              <a:rPr lang="en-US" altLang="zh-CN" sz="2000"/>
              <a:t>3</a:t>
            </a:r>
            <a:r>
              <a:rPr lang="zh-CN" altLang="en-US" sz="2000"/>
              <a:t>没有本质区别。 </a:t>
            </a:r>
            <a:endParaRPr lang="zh-CN" altLang="en-US" sz="2000"/>
          </a:p>
        </p:txBody>
      </p:sp>
      <p:pic>
        <p:nvPicPr>
          <p:cNvPr id="1638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263" y="4389438"/>
            <a:ext cx="4537075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5"/>
          <p:cNvSpPr txBox="1">
            <a:spLocks noChangeArrowheads="1"/>
          </p:cNvSpPr>
          <p:nvPr/>
        </p:nvSpPr>
        <p:spPr bwMode="auto">
          <a:xfrm>
            <a:off x="4610100" y="5568950"/>
            <a:ext cx="22875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图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5 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比赛情况图</a:t>
            </a:r>
            <a:endParaRPr lang="zh-CN" altLang="en-US" sz="2000" b="1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pic>
        <p:nvPicPr>
          <p:cNvPr id="16391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3571875"/>
            <a:ext cx="2439987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 Box 5"/>
          <p:cNvSpPr txBox="1">
            <a:spLocks noChangeArrowheads="1"/>
          </p:cNvSpPr>
          <p:nvPr/>
        </p:nvSpPr>
        <p:spPr bwMode="auto">
          <a:xfrm>
            <a:off x="1066800" y="5867400"/>
            <a:ext cx="21304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图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3 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比赛情况图</a:t>
            </a:r>
            <a:endParaRPr lang="zh-CN" altLang="en-US" sz="2000" b="1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780171-D33A-4CF0-87FC-EC76E8F20B30}" type="slidenum">
              <a:rPr lang="en-US" altLang="zh-CN"/>
            </a:fld>
            <a:endParaRPr lang="en-US" altLang="zh-CN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7075" y="1981200"/>
            <a:ext cx="7426325" cy="29718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关系的对称性和非对称性：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几个例子中涉及到的对象之间的“关系”具有“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对称性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就是说，如果甲与乙有这种关系，那么同时乙与甲也有这种关系。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C33331B-66B6-4646-A044-A3A2ADEACF11}" type="slidenum">
              <a:rPr lang="en-US" altLang="zh-CN"/>
            </a:fld>
            <a:endParaRPr lang="en-US" altLang="zh-CN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675" y="1676400"/>
            <a:ext cx="8001000" cy="2617788"/>
          </a:xfrm>
        </p:spPr>
        <p:txBody>
          <a:bodyPr/>
          <a:lstStyle/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关系的对称性和非对称性：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实际生活中，有许多关系</a:t>
            </a: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不具有这种对称性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如例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，如果人们关心的是五个</a:t>
            </a: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球队比赛的胜负情况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，那么从图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中就看不出来了。为了反映这一类关系，可以用一条带箭头的连线表示。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例如，如果球队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胜了球队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，可以从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引一条带箭头的连线到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7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949700"/>
            <a:ext cx="23050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5562600" y="5848350"/>
            <a:ext cx="1600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比赛胜负图</a:t>
            </a:r>
            <a:endParaRPr lang="zh-CN" altLang="en-US" sz="2000" b="1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pic>
        <p:nvPicPr>
          <p:cNvPr id="18439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3862388"/>
            <a:ext cx="2130425" cy="200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0" name="Text Box 5"/>
          <p:cNvSpPr txBox="1">
            <a:spLocks noChangeArrowheads="1"/>
          </p:cNvSpPr>
          <p:nvPr/>
        </p:nvSpPr>
        <p:spPr bwMode="auto">
          <a:xfrm>
            <a:off x="1908175" y="5867400"/>
            <a:ext cx="21304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latin typeface="Arial" panose="020B0604020202020204" pitchFamily="34" charset="0"/>
                <a:ea typeface="楷体" panose="02010609060101010101" pitchFamily="49" charset="-122"/>
              </a:rPr>
              <a:t>图</a:t>
            </a:r>
            <a:r>
              <a:rPr lang="en-US" altLang="zh-CN" sz="2000" b="1">
                <a:latin typeface="Arial" panose="020B0604020202020204" pitchFamily="34" charset="0"/>
                <a:ea typeface="楷体" panose="02010609060101010101" pitchFamily="49" charset="-122"/>
              </a:rPr>
              <a:t>3 </a:t>
            </a:r>
            <a:r>
              <a:rPr lang="zh-CN" altLang="en-US" sz="2000" b="1">
                <a:latin typeface="Arial" panose="020B0604020202020204" pitchFamily="34" charset="0"/>
                <a:ea typeface="楷体" panose="02010609060101010101" pitchFamily="49" charset="-122"/>
              </a:rPr>
              <a:t>比赛情况图</a:t>
            </a:r>
            <a:endParaRPr lang="zh-CN" altLang="en-US" sz="2000" b="1"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566928-E6CA-4DD3-9A23-249119984866}" type="slidenum">
              <a:rPr lang="en-US" altLang="zh-CN"/>
            </a:fld>
            <a:endParaRPr lang="en-US" altLang="zh-CN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4835525" cy="758825"/>
          </a:xfrm>
        </p:spPr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675" y="1766888"/>
            <a:ext cx="7426325" cy="37449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关系的对称性和非对称性：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类似胜负这种非对称性的关系，在生产和生活中是常见的，如：</a:t>
            </a:r>
            <a:endParaRPr lang="en-US" altLang="zh-C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交通运输中的“</a:t>
            </a:r>
            <a:r>
              <a:rPr lang="zh-CN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单行线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部门之间的领导与被领导的关系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一项工程中各工序之间的先后关系，等。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A5F2A3-A1EC-4232-BFA3-5AF4FD29E264}" type="slidenum">
              <a:rPr lang="en-US" altLang="zh-CN"/>
            </a:fld>
            <a:endParaRPr lang="en-US" altLang="zh-CN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8800" y="1709738"/>
            <a:ext cx="8051800" cy="2786062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图的概念</a:t>
            </a:r>
            <a:endParaRPr lang="zh-CN" altLang="en-US" sz="26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是由一些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vertex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）及一些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点之间的连线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不带箭头或带箭头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组成的图形。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两点之间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不带箭头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的连线称为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边（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带箭头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的连线称为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弧（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arc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8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8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8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8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DEB16E6-F404-4065-B1E6-DC007FBBA2FE}" type="slidenum">
              <a:rPr lang="en-US" altLang="zh-CN"/>
            </a:fld>
            <a:endParaRPr lang="en-US" altLang="zh-CN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8800" y="1709738"/>
            <a:ext cx="8001000" cy="3929062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图的概念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如果一个图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所构成，则称之为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无向图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也简称为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                 ，式中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点集合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边集合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。一条连结点               的边记为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1170" lvl="1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［        ］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或［        ］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如果一个图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所构成，则称为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有向图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，式中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分别表示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点集合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弧集合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。一条方向是从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指向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的弧，记为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1510" name="Object 4"/>
          <p:cNvGraphicFramePr>
            <a:graphicFrameLocks noChangeAspect="1"/>
          </p:cNvGraphicFramePr>
          <p:nvPr/>
        </p:nvGraphicFramePr>
        <p:xfrm>
          <a:off x="4021138" y="2732088"/>
          <a:ext cx="100806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35000" imgH="203200" progId="Equation.DSMT4">
                  <p:embed/>
                </p:oleObj>
              </mc:Choice>
              <mc:Fallback>
                <p:oleObj name="" r:id="rId1" imgW="635000" imgH="20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2732088"/>
                        <a:ext cx="100806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5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1513" name="Object 8"/>
          <p:cNvGraphicFramePr>
            <a:graphicFrameLocks noChangeAspect="1"/>
          </p:cNvGraphicFramePr>
          <p:nvPr/>
        </p:nvGraphicFramePr>
        <p:xfrm>
          <a:off x="1752600" y="3648075"/>
          <a:ext cx="5540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17500" imgH="241300" progId="Equation.DSMT4">
                  <p:embed/>
                </p:oleObj>
              </mc:Choice>
              <mc:Fallback>
                <p:oleObj name="" r:id="rId3" imgW="317500" imgH="241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648075"/>
                        <a:ext cx="5540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1515" name="Object 10"/>
          <p:cNvGraphicFramePr>
            <a:graphicFrameLocks noChangeAspect="1"/>
          </p:cNvGraphicFramePr>
          <p:nvPr/>
        </p:nvGraphicFramePr>
        <p:xfrm>
          <a:off x="3429000" y="3638550"/>
          <a:ext cx="57626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17500" imgH="241300" progId="Equation.DSMT4">
                  <p:embed/>
                </p:oleObj>
              </mc:Choice>
              <mc:Fallback>
                <p:oleObj name="" r:id="rId5" imgW="317500" imgH="241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638550"/>
                        <a:ext cx="576263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1517" name="Object 12"/>
          <p:cNvGraphicFramePr>
            <a:graphicFrameLocks noChangeAspect="1"/>
          </p:cNvGraphicFramePr>
          <p:nvPr/>
        </p:nvGraphicFramePr>
        <p:xfrm>
          <a:off x="6738938" y="5105400"/>
          <a:ext cx="5762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17500" imgH="241300" progId="Equation.DSMT4">
                  <p:embed/>
                </p:oleObj>
              </mc:Choice>
              <mc:Fallback>
                <p:oleObj name="" r:id="rId7" imgW="317500" imgH="2413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938" y="5105400"/>
                        <a:ext cx="57626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16"/>
          <p:cNvGraphicFramePr>
            <a:graphicFrameLocks noGrp="1" noChangeAspect="1"/>
          </p:cNvGraphicFramePr>
          <p:nvPr>
            <p:ph sz="half" idx="2"/>
          </p:nvPr>
        </p:nvGraphicFramePr>
        <p:xfrm>
          <a:off x="5562600" y="3124200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571500" imgH="241300" progId="Equation.DSMT4">
                  <p:embed/>
                </p:oleObj>
              </mc:Choice>
              <mc:Fallback>
                <p:oleObj name="" r:id="rId9" imgW="571500" imgH="2413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124200"/>
                        <a:ext cx="99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50200" y="6245225"/>
            <a:ext cx="584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B5EA11B-D693-4714-9330-EE449FBABDC7}" type="slidenum">
              <a:rPr lang="en-US" altLang="zh-CN"/>
            </a:fld>
            <a:endParaRPr lang="en-US" altLang="zh-CN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675" y="1724025"/>
            <a:ext cx="7661275" cy="1406525"/>
          </a:xfrm>
        </p:spPr>
        <p:txBody>
          <a:bodyPr/>
          <a:lstStyle/>
          <a:p>
            <a:r>
              <a:rPr lang="zh-CN" altLang="en-US" sz="2400"/>
              <a:t>无向图的例子</a:t>
            </a:r>
            <a:endParaRPr lang="zh-CN" altLang="en-US" sz="2400"/>
          </a:p>
          <a:p>
            <a:pPr>
              <a:buFont typeface="Wingdings" panose="05000000000000000000" pitchFamily="2" charset="2"/>
              <a:buNone/>
            </a:pP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/>
              <a:t>       其中，</a:t>
            </a:r>
            <a:endParaRPr lang="zh-CN" altLang="en-US" sz="2000"/>
          </a:p>
        </p:txBody>
      </p: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429000"/>
            <a:ext cx="2343150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Rectangle 7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2535" name="Object 6"/>
          <p:cNvGraphicFramePr>
            <a:graphicFrameLocks noChangeAspect="1"/>
          </p:cNvGraphicFramePr>
          <p:nvPr/>
        </p:nvGraphicFramePr>
        <p:xfrm>
          <a:off x="1331913" y="2238375"/>
          <a:ext cx="18002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1078865" imgH="254000" progId="Equation.DSMT4">
                  <p:embed/>
                </p:oleObj>
              </mc:Choice>
              <mc:Fallback>
                <p:oleObj name="" r:id="rId2" imgW="1078865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38375"/>
                        <a:ext cx="18002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Rectangle 9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2537" name="Object 8"/>
          <p:cNvGraphicFramePr>
            <a:graphicFrameLocks noChangeAspect="1"/>
          </p:cNvGraphicFramePr>
          <p:nvPr/>
        </p:nvGraphicFramePr>
        <p:xfrm>
          <a:off x="3708400" y="2205038"/>
          <a:ext cx="30956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1574800" imgH="254000" progId="Equation.DSMT4">
                  <p:embed/>
                </p:oleObj>
              </mc:Choice>
              <mc:Fallback>
                <p:oleObj name="" r:id="rId4" imgW="1574800" imgH="254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205038"/>
                        <a:ext cx="30956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11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2539" name="Object 10"/>
          <p:cNvGraphicFramePr>
            <a:graphicFrameLocks noChangeAspect="1"/>
          </p:cNvGraphicFramePr>
          <p:nvPr/>
        </p:nvGraphicFramePr>
        <p:xfrm>
          <a:off x="1295400" y="3068638"/>
          <a:ext cx="4537075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6" imgW="3022600" imgH="698500" progId="Equation.DSMT4">
                  <p:embed/>
                </p:oleObj>
              </mc:Choice>
              <mc:Fallback>
                <p:oleObj name="" r:id="rId6" imgW="3022600" imgH="698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068638"/>
                        <a:ext cx="4537075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3395663" y="4584700"/>
            <a:ext cx="2017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图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7 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无向图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清华大学出版社</a:t>
            </a:r>
            <a:endParaRPr lang="en-US" altLang="zh-CN"/>
          </a:p>
        </p:txBody>
      </p:sp>
      <p:pic>
        <p:nvPicPr>
          <p:cNvPr id="23555" name="Picture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" t="37010" r="3702"/>
          <a:stretch>
            <a:fillRect/>
          </a:stretch>
        </p:blipFill>
        <p:spPr bwMode="auto">
          <a:xfrm>
            <a:off x="2819400" y="4343400"/>
            <a:ext cx="5472113" cy="212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00213"/>
            <a:ext cx="7661275" cy="519112"/>
          </a:xfrm>
        </p:spPr>
        <p:txBody>
          <a:bodyPr/>
          <a:lstStyle/>
          <a:p>
            <a:r>
              <a:rPr lang="zh-CN" altLang="en-US" sz="2800"/>
              <a:t>有向图的例子</a:t>
            </a:r>
            <a:endParaRPr lang="zh-CN" altLang="en-US" sz="2800"/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3559" name="Object 4"/>
          <p:cNvGraphicFramePr>
            <a:graphicFrameLocks noChangeAspect="1"/>
          </p:cNvGraphicFramePr>
          <p:nvPr/>
        </p:nvGraphicFramePr>
        <p:xfrm>
          <a:off x="1258888" y="2286000"/>
          <a:ext cx="66960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3454400" imgH="254000" progId="Equation.DSMT4">
                  <p:embed/>
                </p:oleObj>
              </mc:Choice>
              <mc:Fallback>
                <p:oleObj name="" r:id="rId2" imgW="34544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286000"/>
                        <a:ext cx="66960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6"/>
          <p:cNvSpPr>
            <a:spLocks noChangeArrowheads="1"/>
          </p:cNvSpPr>
          <p:nvPr/>
        </p:nvSpPr>
        <p:spPr bwMode="auto">
          <a:xfrm>
            <a:off x="755650" y="2933700"/>
            <a:ext cx="7661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889000" indent="-44005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294130" indent="-403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81480" indent="-38608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70100" indent="-3873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273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845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417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989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20204" pitchFamily="34" charset="0"/>
              </a:rPr>
              <a:t>     </a:t>
            </a:r>
            <a:r>
              <a:rPr lang="zh-CN" altLang="en-US" sz="2400">
                <a:latin typeface="Arial" panose="020B0604020202020204" pitchFamily="34" charset="0"/>
              </a:rPr>
              <a:t>其中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3561" name="Rectangle 8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3562" name="Object 7"/>
          <p:cNvGraphicFramePr>
            <a:graphicFrameLocks noChangeAspect="1"/>
          </p:cNvGraphicFramePr>
          <p:nvPr/>
        </p:nvGraphicFramePr>
        <p:xfrm>
          <a:off x="1981200" y="2989263"/>
          <a:ext cx="5976938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3911600" imgH="939800" progId="Equation.DSMT4">
                  <p:embed/>
                </p:oleObj>
              </mc:Choice>
              <mc:Fallback>
                <p:oleObj name="" r:id="rId4" imgW="3911600" imgH="939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989263"/>
                        <a:ext cx="5976938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Text Box 10"/>
          <p:cNvSpPr txBox="1">
            <a:spLocks noChangeArrowheads="1"/>
          </p:cNvSpPr>
          <p:nvPr/>
        </p:nvSpPr>
        <p:spPr bwMode="auto">
          <a:xfrm>
            <a:off x="914400" y="5348288"/>
            <a:ext cx="20177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图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8 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有向图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53400" y="6245225"/>
            <a:ext cx="3810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2E57C38-538C-4F35-A1E7-73A6FCF2EB3A}" type="slidenum">
              <a:rPr lang="en-US" altLang="zh-CN"/>
            </a:fld>
            <a:endParaRPr lang="en-US" altLang="zh-CN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5775"/>
            <a:ext cx="7661275" cy="2206625"/>
          </a:xfrm>
        </p:spPr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图论中几个重要记号和术语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点数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p(G)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p(D)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弧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q(G)(q(D))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，分别简记为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无向图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G=(V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常用的一些名词和记号：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［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］∈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，也称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相邻的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。称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关连边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675" y="3592513"/>
            <a:ext cx="23431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 Box 12"/>
          <p:cNvSpPr txBox="1">
            <a:spLocks noChangeArrowheads="1"/>
          </p:cNvSpPr>
          <p:nvPr/>
        </p:nvSpPr>
        <p:spPr bwMode="auto">
          <a:xfrm>
            <a:off x="6613525" y="6135688"/>
            <a:ext cx="12954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图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7 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无向图</a:t>
            </a:r>
            <a:endParaRPr lang="zh-CN" altLang="en-US" b="1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92150" y="4087813"/>
            <a:ext cx="5216525" cy="14493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defRPr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若图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中，某个边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的两个端点相同，则称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0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若两个点之间有多于一条的边，称这些边为</a:t>
            </a:r>
            <a:r>
              <a:rPr lang="zh-CN" altLang="en-US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多重边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05800" y="6245225"/>
            <a:ext cx="3810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7E0AAFB-76B0-4A00-9A50-F73DE0C79741}" type="slidenum">
              <a:rPr lang="en-US" altLang="zh-CN"/>
            </a:fld>
            <a:endParaRPr lang="en-US" altLang="zh-CN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5" y="1716088"/>
            <a:ext cx="5318125" cy="2779712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图论中几个重要记号和术语（续）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一个无环，无多重边的图称为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简单图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一个无环，但允许有多重边的图称为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多重图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为端点的边的个数称为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1732894"/>
            <a:ext cx="2343150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Text Box 12"/>
          <p:cNvSpPr txBox="1">
            <a:spLocks noChangeArrowheads="1"/>
          </p:cNvSpPr>
          <p:nvPr/>
        </p:nvSpPr>
        <p:spPr bwMode="auto">
          <a:xfrm>
            <a:off x="6934200" y="4777995"/>
            <a:ext cx="12954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图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7 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无向图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45863" y="4727300"/>
            <a:ext cx="6057900" cy="606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图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45863" y="4834732"/>
            <a:ext cx="6057900" cy="11850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图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)=4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)=3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)=3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)=4 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zh-CN" altLang="en-US" sz="2000" u="sng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</a:t>
            </a:r>
            <a:r>
              <a:rPr lang="en-US" altLang="zh-CN" sz="2000" u="sng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u="sng" kern="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000" u="sng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在计算</a:t>
            </a:r>
            <a:r>
              <a:rPr lang="en-US" altLang="zh-CN" sz="2000" u="sng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u="sng" kern="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u="sng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u="sng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时算作两次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05800" y="6245225"/>
            <a:ext cx="3810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67C1D1E-8E46-4E58-8284-C678230FF328}" type="slidenum">
              <a:rPr lang="en-US" altLang="zh-CN"/>
            </a:fld>
            <a:endParaRPr lang="en-US" altLang="zh-CN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5" y="1716088"/>
            <a:ext cx="7908925" cy="476250"/>
          </a:xfrm>
        </p:spPr>
        <p:txBody>
          <a:bodyPr/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图论中几个重要记号和术语（续）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9" name="Rectangle 3"/>
          <p:cNvSpPr txBox="1">
            <a:spLocks noChangeArrowheads="1"/>
          </p:cNvSpPr>
          <p:nvPr/>
        </p:nvSpPr>
        <p:spPr bwMode="auto">
          <a:xfrm>
            <a:off x="625475" y="2192338"/>
            <a:ext cx="7908925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次为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的点为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悬挂点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，悬挂点的关连边称为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悬挂边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次为零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的点称为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孤立点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次为奇数的点 ，称为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奇点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，否则称为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偶点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30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581400"/>
            <a:ext cx="35591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对话气泡: 椭圆形 3"/>
          <p:cNvSpPr/>
          <p:nvPr/>
        </p:nvSpPr>
        <p:spPr>
          <a:xfrm>
            <a:off x="609600" y="4113213"/>
            <a:ext cx="1143000" cy="533400"/>
          </a:xfrm>
          <a:prstGeom prst="wedgeEllipseCallout">
            <a:avLst>
              <a:gd name="adj1" fmla="val 93611"/>
              <a:gd name="adj2" fmla="val 2493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悬挂点</a:t>
            </a:r>
            <a:endParaRPr lang="zh-CN" altLang="en-US" dirty="0"/>
          </a:p>
        </p:txBody>
      </p:sp>
      <p:sp>
        <p:nvSpPr>
          <p:cNvPr id="11" name="对话气泡: 椭圆形 10"/>
          <p:cNvSpPr/>
          <p:nvPr/>
        </p:nvSpPr>
        <p:spPr>
          <a:xfrm>
            <a:off x="1524000" y="5410200"/>
            <a:ext cx="1143000" cy="533400"/>
          </a:xfrm>
          <a:prstGeom prst="wedgeEllipseCallout">
            <a:avLst>
              <a:gd name="adj1" fmla="val 66945"/>
              <a:gd name="adj2" fmla="val -248876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悬挂 边</a:t>
            </a:r>
            <a:endParaRPr lang="zh-CN" altLang="en-US" dirty="0"/>
          </a:p>
        </p:txBody>
      </p:sp>
      <p:sp>
        <p:nvSpPr>
          <p:cNvPr id="12" name="对话气泡: 椭圆形 11"/>
          <p:cNvSpPr/>
          <p:nvPr/>
        </p:nvSpPr>
        <p:spPr>
          <a:xfrm>
            <a:off x="4267200" y="5562600"/>
            <a:ext cx="1143000" cy="533400"/>
          </a:xfrm>
          <a:prstGeom prst="wedgeEllipseCallout">
            <a:avLst>
              <a:gd name="adj1" fmla="val 65278"/>
              <a:gd name="adj2" fmla="val -14411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孤立点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6096000" y="3627438"/>
            <a:ext cx="2362200" cy="14779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/>
              <a:t>在图中， </a:t>
            </a:r>
            <a:endParaRPr lang="en-US" altLang="zh-CN" dirty="0"/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dirty="0"/>
              <a:t>点 </a:t>
            </a:r>
            <a:r>
              <a:rPr lang="en-US" altLang="zh-CN" dirty="0"/>
              <a:t>v1</a:t>
            </a:r>
            <a:r>
              <a:rPr lang="zh-CN" altLang="en-US" dirty="0"/>
              <a:t>，</a:t>
            </a:r>
            <a:r>
              <a:rPr lang="en-US" altLang="zh-CN" dirty="0"/>
              <a:t>v2</a:t>
            </a:r>
            <a:r>
              <a:rPr lang="zh-CN" altLang="en-US" dirty="0"/>
              <a:t>， </a:t>
            </a:r>
            <a:r>
              <a:rPr lang="en-US" altLang="zh-CN" dirty="0"/>
              <a:t>v3</a:t>
            </a:r>
            <a:r>
              <a:rPr lang="zh-CN" altLang="en-US" dirty="0"/>
              <a:t>和 </a:t>
            </a:r>
            <a:r>
              <a:rPr lang="en-US" altLang="zh-CN" dirty="0"/>
              <a:t>v5</a:t>
            </a:r>
            <a:r>
              <a:rPr lang="zh-CN" altLang="en-US" dirty="0"/>
              <a:t>为 </a:t>
            </a:r>
            <a:r>
              <a:rPr lang="zh-CN" altLang="en-US" dirty="0">
                <a:solidFill>
                  <a:srgbClr val="C00000"/>
                </a:solidFill>
              </a:rPr>
              <a:t>奇点</a:t>
            </a:r>
            <a:r>
              <a:rPr lang="zh-CN" altLang="en-US" dirty="0"/>
              <a:t> ， </a:t>
            </a:r>
            <a:endParaRPr lang="en-US" altLang="zh-CN" dirty="0"/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dirty="0"/>
              <a:t>点 </a:t>
            </a:r>
            <a:r>
              <a:rPr lang="en-US" altLang="zh-CN" dirty="0"/>
              <a:t>v4</a:t>
            </a:r>
            <a:r>
              <a:rPr lang="zh-CN" altLang="en-US" dirty="0"/>
              <a:t>，</a:t>
            </a:r>
            <a:r>
              <a:rPr lang="en-US" altLang="zh-CN" dirty="0"/>
              <a:t>v6</a:t>
            </a:r>
            <a:r>
              <a:rPr lang="zh-CN" altLang="en-US" dirty="0"/>
              <a:t>和 </a:t>
            </a:r>
            <a:r>
              <a:rPr lang="en-US" altLang="zh-CN" dirty="0"/>
              <a:t>v7</a:t>
            </a:r>
            <a:r>
              <a:rPr lang="zh-CN" altLang="en-US" dirty="0"/>
              <a:t>为 </a:t>
            </a:r>
            <a:r>
              <a:rPr lang="zh-CN" altLang="en-US" dirty="0">
                <a:solidFill>
                  <a:srgbClr val="C00000"/>
                </a:solidFill>
              </a:rPr>
              <a:t>偶点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C6CF1F9-E576-4AAC-8E63-2CCAD517D35A}" type="slidenum">
              <a:rPr lang="en-US" altLang="zh-CN"/>
            </a:fld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7225" y="2438400"/>
            <a:ext cx="7661275" cy="1066800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中，所有点的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之和是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的两倍，即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71525"/>
            <a:ext cx="4606925" cy="749300"/>
          </a:xfrm>
        </p:spPr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7654" name="Object 4"/>
          <p:cNvGraphicFramePr>
            <a:graphicFrameLocks noChangeAspect="1"/>
          </p:cNvGraphicFramePr>
          <p:nvPr/>
        </p:nvGraphicFramePr>
        <p:xfrm>
          <a:off x="3011488" y="3662363"/>
          <a:ext cx="2205037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9812000" imgH="8839200" progId="Equation.DSMT4">
                  <p:embed/>
                </p:oleObj>
              </mc:Choice>
              <mc:Fallback>
                <p:oleObj name="Equation" r:id="rId1" imgW="19812000" imgH="8839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3662363"/>
                        <a:ext cx="2205037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609600" y="4540250"/>
            <a:ext cx="76612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889000" indent="-44005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294130" indent="-403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81480" indent="-38608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70100" indent="-3873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273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845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417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989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906145" lvl="1" indent="-457200">
              <a:buClr>
                <a:srgbClr val="0051C8"/>
              </a:buClr>
              <a:buSzPct val="65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Arial" panose="020B0604020202020204" pitchFamily="34" charset="0"/>
              </a:rPr>
              <a:t>证明</a:t>
            </a:r>
            <a:r>
              <a:rPr lang="zh-CN" altLang="en-US" sz="2800" dirty="0">
                <a:latin typeface="Arial" panose="020B0604020202020204" pitchFamily="34" charset="0"/>
              </a:rPr>
              <a:t>：显然，在计算各点的次时，每条边被它的端点各用了一次。 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142343" name="Rectangle 7"/>
          <p:cNvSpPr>
            <a:spLocks noChangeArrowheads="1"/>
          </p:cNvSpPr>
          <p:nvPr/>
        </p:nvSpPr>
        <p:spPr bwMode="auto">
          <a:xfrm>
            <a:off x="660400" y="1724025"/>
            <a:ext cx="3225800" cy="5238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marL="447675" indent="-447675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89000" indent="-440055">
              <a:buClr>
                <a:srgbClr val="0051C8"/>
              </a:buClr>
              <a:buSzPct val="65000"/>
              <a:buChar char="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94130" indent="-403225">
              <a:buClr>
                <a:srgbClr val="0066FF"/>
              </a:buClr>
              <a:buChar char="o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81480" indent="-386080">
              <a:buClr>
                <a:srgbClr val="0051C8"/>
              </a:buClr>
              <a:buSzPct val="75000"/>
              <a:buChar char="±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70100" indent="-387350">
              <a:buClr>
                <a:srgbClr val="0064F6"/>
              </a:buClr>
              <a:buChar char="t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27300" indent="-387350" fontAlgn="base">
              <a:spcBef>
                <a:spcPct val="20000"/>
              </a:spcBef>
              <a:spcAft>
                <a:spcPct val="0"/>
              </a:spcAft>
              <a:buClr>
                <a:srgbClr val="0064F6"/>
              </a:buClr>
              <a:buSzPct val="70000"/>
              <a:buFont typeface="Wingdings" panose="05000000000000000000" pitchFamily="2" charset="2"/>
              <a:buChar char="t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84500" indent="-387350" fontAlgn="base">
              <a:spcBef>
                <a:spcPct val="20000"/>
              </a:spcBef>
              <a:spcAft>
                <a:spcPct val="0"/>
              </a:spcAft>
              <a:buClr>
                <a:srgbClr val="0064F6"/>
              </a:buClr>
              <a:buSzPct val="70000"/>
              <a:buFont typeface="Wingdings" panose="05000000000000000000" pitchFamily="2" charset="2"/>
              <a:buChar char="t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41700" indent="-387350" fontAlgn="base">
              <a:spcBef>
                <a:spcPct val="20000"/>
              </a:spcBef>
              <a:spcAft>
                <a:spcPct val="0"/>
              </a:spcAft>
              <a:buClr>
                <a:srgbClr val="0064F6"/>
              </a:buClr>
              <a:buSzPct val="70000"/>
              <a:buFont typeface="Wingdings" panose="05000000000000000000" pitchFamily="2" charset="2"/>
              <a:buChar char="t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98900" indent="-387350" fontAlgn="base">
              <a:spcBef>
                <a:spcPct val="20000"/>
              </a:spcBef>
              <a:spcAft>
                <a:spcPct val="0"/>
              </a:spcAft>
              <a:buClr>
                <a:srgbClr val="0064F6"/>
              </a:buClr>
              <a:buSzPct val="70000"/>
              <a:buFont typeface="Wingdings" panose="05000000000000000000" pitchFamily="2" charset="2"/>
              <a:buChar char="t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indent="0">
              <a:buFontTx/>
              <a:buNone/>
              <a:defRPr/>
            </a:pPr>
            <a:r>
              <a:rPr lang="zh-CN" altLang="en-US" dirty="0"/>
              <a:t>有关“次”的结论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BAF4E8-39FD-4457-9284-05130E257BFE}" type="slidenum">
              <a:rPr lang="en-US" altLang="zh-CN"/>
            </a:fld>
            <a:endParaRPr lang="en-US" altLang="zh-CN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5064125" cy="1216025"/>
          </a:xfrm>
        </p:spPr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0" y="1773238"/>
            <a:ext cx="7943850" cy="519112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en-US" altLang="zh-CN" sz="2800" b="1" dirty="0"/>
              <a:t>  </a:t>
            </a:r>
            <a:r>
              <a:rPr lang="zh-CN" altLang="en-US" sz="2800" dirty="0"/>
              <a:t>任一个图中，奇点的个数为偶数。</a:t>
            </a:r>
            <a:endParaRPr lang="zh-CN" altLang="en-US" sz="2800" dirty="0"/>
          </a:p>
        </p:txBody>
      </p:sp>
      <p:sp>
        <p:nvSpPr>
          <p:cNvPr id="28678" name="Rectangle 4"/>
          <p:cNvSpPr>
            <a:spLocks noChangeArrowheads="1"/>
          </p:cNvSpPr>
          <p:nvPr/>
        </p:nvSpPr>
        <p:spPr bwMode="auto">
          <a:xfrm>
            <a:off x="457200" y="2565400"/>
            <a:ext cx="76612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889000" indent="-44005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294130" indent="-403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81480" indent="-38608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70100" indent="-3873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273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845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417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989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906145" lvl="1" indent="-457200">
              <a:buClr>
                <a:srgbClr val="0051C8"/>
              </a:buClr>
              <a:buSzPct val="65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</a:rPr>
              <a:t>证明</a:t>
            </a:r>
            <a:r>
              <a:rPr lang="en-US" altLang="zh-CN" sz="2800" dirty="0">
                <a:latin typeface="Times New Roman" panose="02020603050405020304" pitchFamily="18" charset="0"/>
              </a:rPr>
              <a:t>:</a:t>
            </a:r>
            <a:r>
              <a:rPr lang="zh-CN" altLang="en-US" sz="2800" dirty="0">
                <a:latin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分别是</a:t>
            </a:r>
            <a:r>
              <a:rPr lang="en-US" altLang="zh-CN" sz="2800" dirty="0">
                <a:latin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</a:rPr>
              <a:t>中奇点和偶点的集合，由定理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，有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8680" name="Object 5"/>
          <p:cNvGraphicFramePr>
            <a:graphicFrameLocks noChangeAspect="1"/>
          </p:cNvGraphicFramePr>
          <p:nvPr/>
        </p:nvGraphicFramePr>
        <p:xfrm>
          <a:off x="2351086" y="3644900"/>
          <a:ext cx="39719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49072800" imgH="8839200" progId="Equation.DSMT4">
                  <p:embed/>
                </p:oleObj>
              </mc:Choice>
              <mc:Fallback>
                <p:oleObj name="Equation" r:id="rId1" imgW="49072800" imgH="8839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6" y="3644900"/>
                        <a:ext cx="397192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Rectangle 7"/>
          <p:cNvSpPr>
            <a:spLocks noChangeArrowheads="1"/>
          </p:cNvSpPr>
          <p:nvPr/>
        </p:nvSpPr>
        <p:spPr bwMode="auto">
          <a:xfrm>
            <a:off x="601662" y="4797425"/>
            <a:ext cx="766127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889000" indent="-44005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294130" indent="-403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81480" indent="-38608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70100" indent="-3873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273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845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417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989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906145" lvl="1" indent="-457200">
              <a:lnSpc>
                <a:spcPct val="150000"/>
              </a:lnSpc>
              <a:spcBef>
                <a:spcPts val="0"/>
              </a:spcBef>
              <a:buClr>
                <a:srgbClr val="0051C8"/>
              </a:buClr>
              <a:buSzPct val="65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</a:rPr>
              <a:t>因          是偶数，        也是偶数，故           必定也是偶数，从而</a:t>
            </a:r>
            <a:r>
              <a:rPr lang="en-US" altLang="zh-CN" sz="2800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的点数是偶数。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868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8683" name="Object 8"/>
          <p:cNvGraphicFramePr>
            <a:graphicFrameLocks noChangeAspect="1"/>
          </p:cNvGraphicFramePr>
          <p:nvPr/>
        </p:nvGraphicFramePr>
        <p:xfrm>
          <a:off x="1979612" y="4957571"/>
          <a:ext cx="901700" cy="637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2496800" imgH="8839200" progId="Equation.DSMT4">
                  <p:embed/>
                </p:oleObj>
              </mc:Choice>
              <mc:Fallback>
                <p:oleObj name="Equation" r:id="rId3" imgW="12496800" imgH="8839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2" y="4957571"/>
                        <a:ext cx="901700" cy="637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4" name="Rectangle 11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8685" name="Object 10"/>
          <p:cNvGraphicFramePr>
            <a:graphicFrameLocks noChangeAspect="1"/>
          </p:cNvGraphicFramePr>
          <p:nvPr/>
        </p:nvGraphicFramePr>
        <p:xfrm>
          <a:off x="3995736" y="4989226"/>
          <a:ext cx="957263" cy="679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2496800" imgH="8839200" progId="Equation.DSMT4">
                  <p:embed/>
                </p:oleObj>
              </mc:Choice>
              <mc:Fallback>
                <p:oleObj name="Equation" r:id="rId5" imgW="12496800" imgH="8839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6" y="4989226"/>
                        <a:ext cx="957263" cy="679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12"/>
          <p:cNvGraphicFramePr>
            <a:graphicFrameLocks noChangeAspect="1"/>
          </p:cNvGraphicFramePr>
          <p:nvPr/>
        </p:nvGraphicFramePr>
        <p:xfrm>
          <a:off x="7162800" y="4957571"/>
          <a:ext cx="900113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2192000" imgH="8839200" progId="Equation.DSMT4">
                  <p:embed/>
                </p:oleObj>
              </mc:Choice>
              <mc:Fallback>
                <p:oleObj name="Equation" r:id="rId7" imgW="12192000" imgH="8839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4957571"/>
                        <a:ext cx="900113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715000" y="750941"/>
            <a:ext cx="3429000" cy="7869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次为奇数的点 ，称为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奇点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，否则称为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偶点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/>
      <p:bldP spid="2868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F536AD6-8863-4691-94FF-A9C70F0A5F70}" type="slidenum">
              <a:rPr lang="en-US" altLang="zh-CN"/>
            </a:fld>
            <a:endParaRPr lang="en-US" altLang="zh-CN"/>
          </a:p>
        </p:txBody>
      </p:sp>
      <p:sp>
        <p:nvSpPr>
          <p:cNvPr id="29699" name="Rectangle 11"/>
          <p:cNvSpPr>
            <a:spLocks noChangeArrowheads="1"/>
          </p:cNvSpPr>
          <p:nvPr/>
        </p:nvSpPr>
        <p:spPr bwMode="auto">
          <a:xfrm>
            <a:off x="1042988" y="3860800"/>
            <a:ext cx="7273925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Arial" panose="020B0604020202020204" pitchFamily="34" charset="0"/>
              </a:rPr>
              <a:t>     </a:t>
            </a:r>
            <a:r>
              <a:rPr lang="zh-CN" altLang="en-US" sz="2800">
                <a:latin typeface="Arial" panose="020B0604020202020204" pitchFamily="34" charset="0"/>
              </a:rPr>
              <a:t>则称为一条联结           的</a:t>
            </a:r>
            <a:r>
              <a:rPr lang="zh-CN" altLang="en-US" sz="2800" b="1">
                <a:latin typeface="Arial" panose="020B0604020202020204" pitchFamily="34" charset="0"/>
              </a:rPr>
              <a:t>链</a:t>
            </a:r>
            <a:r>
              <a:rPr lang="zh-CN" altLang="en-US" sz="2800">
                <a:latin typeface="Arial" panose="020B0604020202020204" pitchFamily="34" charset="0"/>
              </a:rPr>
              <a:t>，记为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Arial" panose="020B0604020202020204" pitchFamily="34" charset="0"/>
              </a:rPr>
              <a:t>     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Arial" panose="020B0604020202020204" pitchFamily="34" charset="0"/>
              </a:rPr>
              <a:t>    称点                       为链的</a:t>
            </a:r>
            <a:r>
              <a:rPr lang="zh-CN" altLang="en-US" sz="2800" b="1">
                <a:latin typeface="Arial" panose="020B0604020202020204" pitchFamily="34" charset="0"/>
              </a:rPr>
              <a:t>中间点</a:t>
            </a:r>
            <a:r>
              <a:rPr lang="zh-CN" altLang="en-US" sz="2800">
                <a:latin typeface="Arial" panose="020B0604020202020204" pitchFamily="34" charset="0"/>
              </a:rPr>
              <a:t>。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00213"/>
            <a:ext cx="7661275" cy="1519237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图论中几个重要记号和术语（续）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给定一个图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=(V,E)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和一个</a:t>
            </a:r>
            <a:r>
              <a:rPr lang="zh-CN" alt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点、边交错序列</a:t>
            </a:r>
            <a:r>
              <a:rPr lang="en-US" altLang="zh-CN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1170" lvl="1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，如果满足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9703" name="Object 4"/>
          <p:cNvGraphicFramePr>
            <a:graphicFrameLocks noChangeAspect="1"/>
          </p:cNvGraphicFramePr>
          <p:nvPr/>
        </p:nvGraphicFramePr>
        <p:xfrm>
          <a:off x="1468438" y="2678113"/>
          <a:ext cx="33115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548765" imgH="241300" progId="Equation.3">
                  <p:embed/>
                </p:oleObj>
              </mc:Choice>
              <mc:Fallback>
                <p:oleObj name="" r:id="rId1" imgW="1548765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2678113"/>
                        <a:ext cx="33115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Rectangle 7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9705" name="Object 6"/>
          <p:cNvGraphicFramePr>
            <a:graphicFrameLocks noChangeAspect="1"/>
          </p:cNvGraphicFramePr>
          <p:nvPr/>
        </p:nvGraphicFramePr>
        <p:xfrm>
          <a:off x="2484438" y="3284538"/>
          <a:ext cx="18002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87400" imgH="241300" progId="Equation.3">
                  <p:embed/>
                </p:oleObj>
              </mc:Choice>
              <mc:Fallback>
                <p:oleObj name="" r:id="rId3" imgW="7874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284538"/>
                        <a:ext cx="18002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9707" name="Rectangle 10"/>
          <p:cNvSpPr>
            <a:spLocks noChangeArrowheads="1"/>
          </p:cNvSpPr>
          <p:nvPr/>
        </p:nvSpPr>
        <p:spPr bwMode="auto">
          <a:xfrm>
            <a:off x="3416300" y="3254375"/>
            <a:ext cx="4679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889000" indent="-44005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294130" indent="-40322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81480" indent="-38608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70100" indent="-3873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273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845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417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98900" indent="-387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(</a:t>
            </a:r>
            <a:r>
              <a:rPr lang="en-US" altLang="zh-CN" sz="2800" i="1" dirty="0">
                <a:latin typeface="Times New Roman" panose="02020603050405020304" pitchFamily="18" charset="0"/>
              </a:rPr>
              <a:t>t </a:t>
            </a:r>
            <a:r>
              <a:rPr lang="en-US" altLang="zh-CN" sz="2800" dirty="0">
                <a:latin typeface="Times New Roman" panose="02020603050405020304" pitchFamily="18" charset="0"/>
              </a:rPr>
              <a:t>= 1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</a:rPr>
              <a:t>-1)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2970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9709" name="Object 12"/>
          <p:cNvGraphicFramePr>
            <a:graphicFrameLocks noChangeAspect="1"/>
          </p:cNvGraphicFramePr>
          <p:nvPr/>
        </p:nvGraphicFramePr>
        <p:xfrm>
          <a:off x="3348038" y="4365625"/>
          <a:ext cx="20161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117600" imgH="241300" progId="Equation.3">
                  <p:embed/>
                </p:oleObj>
              </mc:Choice>
              <mc:Fallback>
                <p:oleObj name="" r:id="rId5" imgW="11176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365625"/>
                        <a:ext cx="20161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9711" name="Object 14"/>
          <p:cNvGraphicFramePr>
            <a:graphicFrameLocks noChangeAspect="1"/>
          </p:cNvGraphicFramePr>
          <p:nvPr/>
        </p:nvGraphicFramePr>
        <p:xfrm>
          <a:off x="2555875" y="4941888"/>
          <a:ext cx="172878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787400" imgH="241300" progId="Equation.3">
                  <p:embed/>
                </p:oleObj>
              </mc:Choice>
              <mc:Fallback>
                <p:oleObj name="" r:id="rId7" imgW="787400" imgH="241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941888"/>
                        <a:ext cx="1728788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2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9713" name="Object 16"/>
          <p:cNvGraphicFramePr>
            <a:graphicFrameLocks noChangeAspect="1"/>
          </p:cNvGraphicFramePr>
          <p:nvPr/>
        </p:nvGraphicFramePr>
        <p:xfrm>
          <a:off x="4211638" y="3933825"/>
          <a:ext cx="7556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457200" imgH="266700" progId="Equation.3">
                  <p:embed/>
                </p:oleObj>
              </mc:Choice>
              <mc:Fallback>
                <p:oleObj name="" r:id="rId9" imgW="457200" imgH="2667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933825"/>
                        <a:ext cx="7556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0304A2B-A9C9-4769-AA61-7C6304AA7542}" type="slidenum">
              <a:rPr lang="en-US" altLang="zh-CN"/>
            </a:fld>
            <a:endParaRPr lang="en-US" altLang="zh-CN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153400" cy="31242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图论中几个重要记号和术语（续）</a:t>
            </a:r>
            <a:endParaRPr lang="zh-CN" altLang="en-US" dirty="0"/>
          </a:p>
          <a:p>
            <a:pPr lvl="1">
              <a:lnSpc>
                <a:spcPct val="125000"/>
              </a:lnSpc>
            </a:pPr>
            <a:r>
              <a:rPr lang="zh-CN" altLang="en-US" sz="2400" dirty="0"/>
              <a:t>链                   中，若        ，则称之为一个</a:t>
            </a:r>
            <a:r>
              <a:rPr lang="zh-CN" altLang="en-US" sz="2400" b="1" dirty="0"/>
              <a:t>圈</a:t>
            </a:r>
            <a:r>
              <a:rPr lang="zh-CN" altLang="en-US" sz="2400" dirty="0"/>
              <a:t>，记为                     。</a:t>
            </a:r>
            <a:endParaRPr lang="zh-CN" altLang="en-US" sz="2400" dirty="0"/>
          </a:p>
          <a:p>
            <a:pPr lvl="1">
              <a:lnSpc>
                <a:spcPct val="125000"/>
              </a:lnSpc>
            </a:pPr>
            <a:r>
              <a:rPr lang="zh-CN" altLang="en-US" sz="2400" dirty="0"/>
              <a:t>若链                     中，</a:t>
            </a:r>
            <a:r>
              <a:rPr lang="zh-CN" altLang="en-US" sz="2400" dirty="0">
                <a:solidFill>
                  <a:srgbClr val="FF0000"/>
                </a:solidFill>
              </a:rPr>
              <a:t>点</a:t>
            </a:r>
            <a:r>
              <a:rPr lang="zh-CN" altLang="en-US" sz="2400" dirty="0"/>
              <a:t>        </a:t>
            </a:r>
            <a:endParaRPr lang="zh-CN" altLang="en-US" sz="2400" dirty="0"/>
          </a:p>
          <a:p>
            <a:pPr lvl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都是不同的，则称之为</a:t>
            </a:r>
            <a:r>
              <a:rPr lang="zh-CN" altLang="en-US" sz="2400" b="1" dirty="0">
                <a:solidFill>
                  <a:srgbClr val="C00000"/>
                </a:solidFill>
              </a:rPr>
              <a:t>初等链</a:t>
            </a:r>
            <a:r>
              <a:rPr lang="zh-CN" altLang="en-US" sz="2400" dirty="0"/>
              <a:t>；若圈</a:t>
            </a:r>
            <a:endParaRPr lang="zh-CN" altLang="en-US" sz="2400" dirty="0"/>
          </a:p>
          <a:p>
            <a:pPr lvl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中，</a:t>
            </a:r>
            <a:r>
              <a:rPr lang="zh-CN" altLang="en-US" sz="2400" dirty="0">
                <a:solidFill>
                  <a:srgbClr val="FF0000"/>
                </a:solidFill>
              </a:rPr>
              <a:t>点</a:t>
            </a:r>
            <a:r>
              <a:rPr lang="zh-CN" altLang="en-US" sz="2400" dirty="0"/>
              <a:t>                 都是不同的，则称之为</a:t>
            </a:r>
            <a:r>
              <a:rPr lang="zh-CN" altLang="en-US" sz="2400" b="1" dirty="0">
                <a:solidFill>
                  <a:srgbClr val="C00000"/>
                </a:solidFill>
              </a:rPr>
              <a:t>初等圈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0726" name="Object 5"/>
          <p:cNvGraphicFramePr>
            <a:graphicFrameLocks noChangeAspect="1"/>
          </p:cNvGraphicFramePr>
          <p:nvPr/>
        </p:nvGraphicFramePr>
        <p:xfrm>
          <a:off x="1901825" y="2252663"/>
          <a:ext cx="19446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117600" imgH="241300" progId="Equation.3">
                  <p:embed/>
                </p:oleObj>
              </mc:Choice>
              <mc:Fallback>
                <p:oleObj name="" r:id="rId1" imgW="11176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2252663"/>
                        <a:ext cx="19446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0728" name="Object 7"/>
          <p:cNvGraphicFramePr>
            <a:graphicFrameLocks noChangeAspect="1"/>
          </p:cNvGraphicFramePr>
          <p:nvPr/>
        </p:nvGraphicFramePr>
        <p:xfrm>
          <a:off x="4827326" y="2223826"/>
          <a:ext cx="871537" cy="496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0972800" imgH="5791200" progId="Equation.DSMT4">
                  <p:embed/>
                </p:oleObj>
              </mc:Choice>
              <mc:Fallback>
                <p:oleObj name="Equation" r:id="rId3" imgW="10972800" imgH="579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326" y="2223826"/>
                        <a:ext cx="871537" cy="496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0730" name="Object 9"/>
          <p:cNvGraphicFramePr>
            <a:graphicFrameLocks noChangeAspect="1"/>
          </p:cNvGraphicFramePr>
          <p:nvPr/>
        </p:nvGraphicFramePr>
        <p:xfrm>
          <a:off x="2268538" y="2744526"/>
          <a:ext cx="2074862" cy="452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104900" imgH="241300" progId="Equation.3">
                  <p:embed/>
                </p:oleObj>
              </mc:Choice>
              <mc:Fallback>
                <p:oleObj name="" r:id="rId5" imgW="11049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744526"/>
                        <a:ext cx="2074862" cy="452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11"/>
          <p:cNvGraphicFramePr>
            <a:graphicFrameLocks noChangeAspect="1"/>
          </p:cNvGraphicFramePr>
          <p:nvPr/>
        </p:nvGraphicFramePr>
        <p:xfrm>
          <a:off x="2209800" y="3287713"/>
          <a:ext cx="20875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117600" imgH="241300" progId="Equation.3">
                  <p:embed/>
                </p:oleObj>
              </mc:Choice>
              <mc:Fallback>
                <p:oleObj name="" r:id="rId7" imgW="1117600" imgH="241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287713"/>
                        <a:ext cx="208756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0733" name="Object 13"/>
          <p:cNvGraphicFramePr>
            <a:graphicFrameLocks noChangeAspect="1"/>
          </p:cNvGraphicFramePr>
          <p:nvPr/>
        </p:nvGraphicFramePr>
        <p:xfrm>
          <a:off x="5486400" y="3305175"/>
          <a:ext cx="18002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8" imgW="1002665" imgH="241300" progId="Equation.3">
                  <p:embed/>
                </p:oleObj>
              </mc:Choice>
              <mc:Fallback>
                <p:oleObj name="" r:id="rId8" imgW="1002665" imgH="2413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305175"/>
                        <a:ext cx="18002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0735" name="Object 15"/>
          <p:cNvGraphicFramePr>
            <a:graphicFrameLocks noChangeAspect="1"/>
          </p:cNvGraphicFramePr>
          <p:nvPr/>
        </p:nvGraphicFramePr>
        <p:xfrm>
          <a:off x="6411913" y="3810000"/>
          <a:ext cx="20383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0" imgW="26822400" imgH="5791200" progId="Equation.DSMT4">
                  <p:embed/>
                </p:oleObj>
              </mc:Choice>
              <mc:Fallback>
                <p:oleObj name="Equation" r:id="rId10" imgW="26822400" imgH="579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1913" y="3810000"/>
                        <a:ext cx="203835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6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0737" name="Object 17"/>
          <p:cNvGraphicFramePr>
            <a:graphicFrameLocks noChangeAspect="1"/>
          </p:cNvGraphicFramePr>
          <p:nvPr/>
        </p:nvGraphicFramePr>
        <p:xfrm>
          <a:off x="2500313" y="4267200"/>
          <a:ext cx="18208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2" imgW="19507200" imgH="5791200" progId="Equation.DSMT4">
                  <p:embed/>
                </p:oleObj>
              </mc:Choice>
              <mc:Fallback>
                <p:oleObj name="Equation" r:id="rId12" imgW="19507200" imgH="5791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4267200"/>
                        <a:ext cx="18208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533400" y="5029200"/>
            <a:ext cx="8077200" cy="1084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25000"/>
              </a:lnSpc>
            </a:pPr>
            <a:r>
              <a:rPr lang="zh-CN" altLang="en-US" sz="2400" kern="0" dirty="0"/>
              <a:t>若链</a:t>
            </a:r>
            <a:r>
              <a:rPr lang="en-US" altLang="zh-CN" sz="2400" kern="0" dirty="0"/>
              <a:t>(</a:t>
            </a:r>
            <a:r>
              <a:rPr lang="zh-CN" altLang="en-US" sz="2400" kern="0" dirty="0"/>
              <a:t>圈</a:t>
            </a:r>
            <a:r>
              <a:rPr lang="en-US" altLang="zh-CN" sz="2400" kern="0" dirty="0"/>
              <a:t>)</a:t>
            </a:r>
            <a:r>
              <a:rPr lang="zh-CN" altLang="en-US" sz="2400" kern="0" dirty="0"/>
              <a:t>中含的</a:t>
            </a:r>
            <a:r>
              <a:rPr lang="zh-CN" altLang="en-US" sz="2400" kern="0" dirty="0">
                <a:solidFill>
                  <a:srgbClr val="C00000"/>
                </a:solidFill>
              </a:rPr>
              <a:t>边</a:t>
            </a:r>
            <a:r>
              <a:rPr lang="zh-CN" altLang="en-US" sz="2400" kern="0" dirty="0"/>
              <a:t>均不相同，则称之为</a:t>
            </a:r>
            <a:r>
              <a:rPr lang="zh-CN" altLang="en-US" sz="2400" b="1" kern="0" dirty="0"/>
              <a:t>简单链</a:t>
            </a:r>
            <a:r>
              <a:rPr lang="en-US" altLang="zh-CN" sz="2400" kern="0" dirty="0"/>
              <a:t>(</a:t>
            </a:r>
            <a:r>
              <a:rPr lang="zh-CN" altLang="en-US" sz="2400" b="1" kern="0" dirty="0"/>
              <a:t>圈</a:t>
            </a:r>
            <a:r>
              <a:rPr lang="en-US" altLang="zh-CN" sz="2400" kern="0" dirty="0"/>
              <a:t>)</a:t>
            </a:r>
            <a:r>
              <a:rPr lang="zh-CN" altLang="en-US" sz="2400" kern="0" dirty="0"/>
              <a:t>。</a:t>
            </a:r>
            <a:endParaRPr lang="en-US" altLang="zh-CN" sz="2400" kern="0" dirty="0"/>
          </a:p>
          <a:p>
            <a:pPr lvl="1">
              <a:lnSpc>
                <a:spcPct val="125000"/>
              </a:lnSpc>
            </a:pPr>
            <a:r>
              <a:rPr lang="zh-CN" altLang="en-US" sz="2400" kern="0" dirty="0"/>
              <a:t>以后说到</a:t>
            </a:r>
            <a:r>
              <a:rPr lang="zh-CN" altLang="en-US" sz="2400" kern="0" dirty="0">
                <a:solidFill>
                  <a:srgbClr val="C00000"/>
                </a:solidFill>
              </a:rPr>
              <a:t>链</a:t>
            </a:r>
            <a:r>
              <a:rPr lang="en-US" altLang="zh-CN" sz="2400" kern="0" dirty="0">
                <a:solidFill>
                  <a:srgbClr val="C00000"/>
                </a:solidFill>
              </a:rPr>
              <a:t>(</a:t>
            </a:r>
            <a:r>
              <a:rPr lang="zh-CN" altLang="en-US" sz="2400" kern="0" dirty="0">
                <a:solidFill>
                  <a:srgbClr val="C00000"/>
                </a:solidFill>
              </a:rPr>
              <a:t>圈</a:t>
            </a:r>
            <a:r>
              <a:rPr lang="en-US" altLang="zh-CN" sz="2400" kern="0" dirty="0">
                <a:solidFill>
                  <a:srgbClr val="C00000"/>
                </a:solidFill>
              </a:rPr>
              <a:t>)</a:t>
            </a:r>
            <a:r>
              <a:rPr lang="zh-CN" altLang="en-US" sz="2400" kern="0" dirty="0"/>
              <a:t>，除非特别交代，均指</a:t>
            </a:r>
            <a:r>
              <a:rPr lang="zh-CN" altLang="en-US" sz="2400" kern="0" dirty="0">
                <a:solidFill>
                  <a:srgbClr val="C00000"/>
                </a:solidFill>
              </a:rPr>
              <a:t>初等链</a:t>
            </a:r>
            <a:r>
              <a:rPr lang="en-US" altLang="zh-CN" sz="2400" kern="0" dirty="0">
                <a:solidFill>
                  <a:srgbClr val="C00000"/>
                </a:solidFill>
              </a:rPr>
              <a:t>(</a:t>
            </a:r>
            <a:r>
              <a:rPr lang="zh-CN" altLang="en-US" sz="2400" kern="0" dirty="0">
                <a:solidFill>
                  <a:srgbClr val="C00000"/>
                </a:solidFill>
              </a:rPr>
              <a:t>圈</a:t>
            </a:r>
            <a:r>
              <a:rPr lang="en-US" altLang="zh-CN" sz="2400" kern="0" dirty="0">
                <a:solidFill>
                  <a:srgbClr val="C00000"/>
                </a:solidFill>
              </a:rPr>
              <a:t>)</a:t>
            </a:r>
            <a:r>
              <a:rPr lang="zh-CN" altLang="en-US" sz="2400" kern="0" dirty="0"/>
              <a:t>。</a:t>
            </a:r>
            <a:endParaRPr lang="zh-CN" altLang="en-US" sz="2400" kern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3F2EE5-E7B7-4ECF-B6D3-943D9C87114D}" type="slidenum">
              <a:rPr lang="en-US" altLang="zh-CN"/>
            </a:fld>
            <a:endParaRPr lang="en-US" altLang="zh-CN"/>
          </a:p>
        </p:txBody>
      </p:sp>
      <p:pic>
        <p:nvPicPr>
          <p:cNvPr id="31747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43200"/>
            <a:ext cx="3716537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 </a:t>
            </a:r>
            <a:r>
              <a:rPr lang="en-US" altLang="zh-CN"/>
              <a:t>– 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175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175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175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1753" name="Text Box 13"/>
          <p:cNvSpPr txBox="1">
            <a:spLocks noChangeArrowheads="1"/>
          </p:cNvSpPr>
          <p:nvPr/>
        </p:nvSpPr>
        <p:spPr bwMode="auto">
          <a:xfrm>
            <a:off x="3352800" y="5273675"/>
            <a:ext cx="25209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图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9 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初等链</a:t>
            </a:r>
            <a:r>
              <a:rPr lang="zh-CN" altLang="en-US" sz="2000" b="1">
                <a:latin typeface="Arial" panose="020B0604020202020204" pitchFamily="34" charset="0"/>
                <a:ea typeface="楷体" panose="02010609060101010101" pitchFamily="49" charset="-122"/>
              </a:rPr>
              <a:t>与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初等圈</a:t>
            </a:r>
            <a:endParaRPr lang="zh-CN" altLang="en-US" sz="2000" b="1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262" y="2745370"/>
            <a:ext cx="3542591" cy="20361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45529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1371600" y="5873750"/>
            <a:ext cx="5915025" cy="4619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/>
              <a:t>若链中，点都是不同的，则称之为初等链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B84CA3C-2BE2-4A37-8DDE-9BBAC4113B58}" type="slidenum">
              <a:rPr lang="en-US" altLang="zh-CN"/>
            </a:fld>
            <a:endParaRPr lang="en-US" altLang="zh-CN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 </a:t>
            </a:r>
            <a:r>
              <a:rPr lang="en-US" altLang="zh-CN"/>
              <a:t>– 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277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277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277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32779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746208"/>
            <a:ext cx="3435106" cy="202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74675" y="1771650"/>
            <a:ext cx="76612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defRPr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是简单链还是初等链？为什么？ </a:t>
            </a:r>
            <a:endParaRPr lang="zh-CN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781" name="Object 4"/>
          <p:cNvGraphicFramePr>
            <a:graphicFrameLocks noChangeAspect="1"/>
          </p:cNvGraphicFramePr>
          <p:nvPr/>
        </p:nvGraphicFramePr>
        <p:xfrm>
          <a:off x="990600" y="1820863"/>
          <a:ext cx="22860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1511300" imgH="254000" progId="Equation.DSMT4">
                  <p:embed/>
                </p:oleObj>
              </mc:Choice>
              <mc:Fallback>
                <p:oleObj name="Equation" r:id="rId2" imgW="15113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820863"/>
                        <a:ext cx="22860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B84CA3C-2BE2-4A37-8DDE-9BBAC4113B58}" type="slidenum">
              <a:rPr lang="en-US" altLang="zh-CN"/>
            </a:fld>
            <a:endParaRPr lang="en-US" altLang="zh-CN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 </a:t>
            </a:r>
            <a:r>
              <a:rPr lang="en-US" altLang="zh-CN"/>
              <a:t>– 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277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277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277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2777" name="Text Box 13"/>
          <p:cNvSpPr txBox="1">
            <a:spLocks noChangeArrowheads="1"/>
          </p:cNvSpPr>
          <p:nvPr/>
        </p:nvSpPr>
        <p:spPr bwMode="auto">
          <a:xfrm>
            <a:off x="1828800" y="5014370"/>
            <a:ext cx="1219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简单链</a:t>
            </a: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8200" y="5638800"/>
            <a:ext cx="7315200" cy="8461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dirty="0"/>
              <a:t>若链中，点都是不同的，则称之为初等链；</a:t>
            </a:r>
            <a:endParaRPr lang="en-US" altLang="zh-CN" sz="2200" dirty="0"/>
          </a:p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dirty="0"/>
              <a:t>若链</a:t>
            </a:r>
            <a:r>
              <a:rPr lang="en-US" altLang="zh-CN" sz="2200" b="1" dirty="0"/>
              <a:t>(</a:t>
            </a:r>
            <a:r>
              <a:rPr lang="zh-CN" altLang="en-US" sz="2200" dirty="0"/>
              <a:t>圈</a:t>
            </a:r>
            <a:r>
              <a:rPr lang="en-US" altLang="zh-CN" sz="2200" b="1" dirty="0"/>
              <a:t>)</a:t>
            </a:r>
            <a:r>
              <a:rPr lang="zh-CN" altLang="en-US" sz="2200" dirty="0"/>
              <a:t>中含的边均不相同，则称之为简单链</a:t>
            </a:r>
            <a:r>
              <a:rPr lang="en-US" altLang="zh-CN" sz="2200" b="1" dirty="0"/>
              <a:t>(</a:t>
            </a:r>
            <a:r>
              <a:rPr lang="zh-CN" altLang="en-US" sz="2200" dirty="0"/>
              <a:t>圈</a:t>
            </a:r>
            <a:r>
              <a:rPr lang="en-US" altLang="zh-CN" sz="2200" b="1" dirty="0"/>
              <a:t>)</a:t>
            </a:r>
            <a:endParaRPr lang="zh-CN" altLang="en-US" sz="2200" dirty="0"/>
          </a:p>
        </p:txBody>
      </p:sp>
      <p:pic>
        <p:nvPicPr>
          <p:cNvPr id="32779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746208"/>
            <a:ext cx="3435106" cy="202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74675" y="1771650"/>
            <a:ext cx="76612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defRPr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是一条简单链，但不是初等链。 </a:t>
            </a:r>
            <a:endParaRPr lang="zh-CN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781" name="Object 4"/>
          <p:cNvGraphicFramePr>
            <a:graphicFrameLocks noChangeAspect="1"/>
          </p:cNvGraphicFramePr>
          <p:nvPr/>
        </p:nvGraphicFramePr>
        <p:xfrm>
          <a:off x="990600" y="1820863"/>
          <a:ext cx="22860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1511300" imgH="254000" progId="Equation.DSMT4">
                  <p:embed/>
                </p:oleObj>
              </mc:Choice>
              <mc:Fallback>
                <p:oleObj name="Equation" r:id="rId2" imgW="1511300" imgH="254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820863"/>
                        <a:ext cx="22860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753810"/>
            <a:ext cx="3542591" cy="20361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</p:pic>
      <p:cxnSp>
        <p:nvCxnSpPr>
          <p:cNvPr id="3" name="直接箭头连接符 2"/>
          <p:cNvCxnSpPr>
            <a:endCxn id="14" idx="2"/>
          </p:cNvCxnSpPr>
          <p:nvPr/>
        </p:nvCxnSpPr>
        <p:spPr>
          <a:xfrm flipV="1">
            <a:off x="3352800" y="2286000"/>
            <a:ext cx="1052513" cy="250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6858000" y="22098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5766033" y="5014370"/>
            <a:ext cx="116816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初等链</a:t>
            </a: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94A188B-B7EB-4C4F-A406-5B9522BB2B8B}" type="slidenum">
              <a:rPr lang="en-US" altLang="zh-CN"/>
            </a:fld>
            <a:endParaRPr lang="en-US" altLang="zh-CN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 </a:t>
            </a:r>
            <a:r>
              <a:rPr lang="en-US" altLang="zh-CN"/>
              <a:t>– 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79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79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7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33804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474913"/>
            <a:ext cx="441960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505200" y="5273675"/>
            <a:ext cx="25209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图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9 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初等链</a:t>
            </a:r>
            <a:r>
              <a:rPr lang="zh-CN" altLang="en-US" sz="2000" b="1" dirty="0">
                <a:latin typeface="Arial" panose="020B0604020202020204" pitchFamily="34" charset="0"/>
                <a:ea typeface="楷体" panose="02010609060101010101" pitchFamily="49" charset="-122"/>
              </a:rPr>
              <a:t>与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初等圈</a:t>
            </a: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90600" y="5791200"/>
            <a:ext cx="5791200" cy="4302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dirty="0"/>
              <a:t>若圈中，点都是不同的，则称之为初等圈</a:t>
            </a:r>
            <a:endParaRPr lang="en-US" altLang="zh-CN" sz="2200" dirty="0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81842" y="1771650"/>
            <a:ext cx="47593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defRPr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是？ </a:t>
            </a:r>
            <a:endParaRPr lang="zh-CN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574675" y="1771650"/>
            <a:ext cx="4759325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defRPr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是一个初等圈。 </a:t>
            </a:r>
            <a:endParaRPr lang="zh-CN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803" name="Object 4"/>
          <p:cNvGraphicFramePr>
            <a:graphicFrameLocks noChangeAspect="1"/>
          </p:cNvGraphicFramePr>
          <p:nvPr/>
        </p:nvGraphicFramePr>
        <p:xfrm>
          <a:off x="1066800" y="1820863"/>
          <a:ext cx="145891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965200" imgH="254000" progId="Equation.DSMT4">
                  <p:embed/>
                </p:oleObj>
              </mc:Choice>
              <mc:Fallback>
                <p:oleObj name="Equation" r:id="rId2" imgW="965200" imgH="254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820863"/>
                        <a:ext cx="145891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574675" y="1785496"/>
            <a:ext cx="4530726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defRPr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是？ </a:t>
            </a:r>
            <a:endParaRPr lang="zh-CN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1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D8089F0-12B2-4ED3-8E93-715F8E437FD9}" type="slidenum">
              <a:rPr lang="en-US" altLang="zh-CN"/>
            </a:fld>
            <a:endParaRPr lang="en-US" altLang="zh-CN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 </a:t>
            </a:r>
            <a:r>
              <a:rPr lang="en-US" altLang="zh-CN"/>
              <a:t>– </a:t>
            </a:r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482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482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482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4824" name="Text Box 13"/>
          <p:cNvSpPr txBox="1">
            <a:spLocks noChangeArrowheads="1"/>
          </p:cNvSpPr>
          <p:nvPr/>
        </p:nvSpPr>
        <p:spPr bwMode="auto">
          <a:xfrm>
            <a:off x="2133600" y="4921250"/>
            <a:ext cx="10668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简单圈</a:t>
            </a: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8200" y="5638800"/>
            <a:ext cx="6934200" cy="8461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dirty="0"/>
              <a:t>若圈中，点都是不同的，则称之为初等圈</a:t>
            </a:r>
            <a:endParaRPr lang="en-US" altLang="zh-CN" sz="2200" dirty="0"/>
          </a:p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dirty="0"/>
              <a:t>若链</a:t>
            </a:r>
            <a:r>
              <a:rPr lang="en-US" altLang="zh-CN" sz="2200" b="1" dirty="0"/>
              <a:t>(</a:t>
            </a:r>
            <a:r>
              <a:rPr lang="zh-CN" altLang="en-US" sz="2200" dirty="0"/>
              <a:t>圈</a:t>
            </a:r>
            <a:r>
              <a:rPr lang="en-US" altLang="zh-CN" sz="2200" b="1" dirty="0"/>
              <a:t>)</a:t>
            </a:r>
            <a:r>
              <a:rPr lang="zh-CN" altLang="en-US" sz="2200" dirty="0"/>
              <a:t>中含的边均不相同，则称之为简单链</a:t>
            </a:r>
            <a:r>
              <a:rPr lang="en-US" altLang="zh-CN" sz="2200" b="1" dirty="0"/>
              <a:t>(</a:t>
            </a:r>
            <a:r>
              <a:rPr lang="zh-CN" altLang="en-US" sz="2200" dirty="0"/>
              <a:t>圈</a:t>
            </a:r>
            <a:r>
              <a:rPr lang="en-US" altLang="zh-CN" sz="2200" b="1" dirty="0"/>
              <a:t>)</a:t>
            </a:r>
            <a:endParaRPr lang="zh-CN" altLang="en-US" sz="2200" dirty="0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74675" y="1771650"/>
            <a:ext cx="7350125" cy="5143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defRPr/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是一个简单圈，但不是初等圈。 </a:t>
            </a:r>
            <a:endParaRPr lang="zh-CN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828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42" y="2671719"/>
            <a:ext cx="3626360" cy="206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704718"/>
            <a:ext cx="3581400" cy="2019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791200" y="4892588"/>
            <a:ext cx="990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初等圈</a:t>
            </a: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graphicFrame>
        <p:nvGraphicFramePr>
          <p:cNvPr id="34827" name="Object 4"/>
          <p:cNvGraphicFramePr>
            <a:graphicFrameLocks noChangeAspect="1"/>
          </p:cNvGraphicFramePr>
          <p:nvPr/>
        </p:nvGraphicFramePr>
        <p:xfrm>
          <a:off x="952500" y="1820863"/>
          <a:ext cx="25527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688465" imgH="254000" progId="Equation.DSMT4">
                  <p:embed/>
                </p:oleObj>
              </mc:Choice>
              <mc:Fallback>
                <p:oleObj name="Equation" r:id="rId3" imgW="1688465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1820863"/>
                        <a:ext cx="25527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/>
      <p:bldP spid="7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6D1372C-C0D6-430C-849D-D98629C73AAE}" type="slidenum">
              <a:rPr lang="en-US" altLang="zh-CN"/>
            </a:fld>
            <a:endParaRPr lang="en-US" altLang="zh-CN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8325" y="1727200"/>
            <a:ext cx="8270875" cy="2563813"/>
          </a:xfrm>
        </p:spPr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</a:rPr>
              <a:t>连通图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lvl="1"/>
            <a:r>
              <a:rPr lang="zh-CN" altLang="en-US" sz="2200" dirty="0"/>
              <a:t>图</a:t>
            </a:r>
            <a:r>
              <a:rPr lang="en-US" altLang="zh-CN" sz="2200" dirty="0"/>
              <a:t>G</a:t>
            </a:r>
            <a:r>
              <a:rPr lang="zh-CN" altLang="en-US" sz="2200" dirty="0"/>
              <a:t>中，若任何两点之间至少有一条链，则称</a:t>
            </a:r>
            <a:r>
              <a:rPr lang="en-US" altLang="zh-CN" sz="2200" dirty="0"/>
              <a:t>G</a:t>
            </a:r>
            <a:r>
              <a:rPr lang="zh-CN" altLang="en-US" sz="2200" dirty="0"/>
              <a:t>是</a:t>
            </a:r>
            <a:r>
              <a:rPr lang="zh-CN" altLang="en-US" sz="2200" b="1" dirty="0">
                <a:solidFill>
                  <a:srgbClr val="C00000"/>
                </a:solidFill>
              </a:rPr>
              <a:t>连通图</a:t>
            </a:r>
            <a:r>
              <a:rPr lang="zh-CN" altLang="en-US" sz="2200" dirty="0"/>
              <a:t>，否则称为</a:t>
            </a:r>
            <a:r>
              <a:rPr lang="zh-CN" altLang="en-US" sz="2200" b="1" dirty="0">
                <a:solidFill>
                  <a:srgbClr val="C00000"/>
                </a:solidFill>
              </a:rPr>
              <a:t>不连通图</a:t>
            </a:r>
            <a:r>
              <a:rPr lang="zh-CN" altLang="en-US" sz="2200" dirty="0"/>
              <a:t>。</a:t>
            </a:r>
            <a:endParaRPr lang="zh-CN" altLang="en-US" sz="2200" dirty="0"/>
          </a:p>
          <a:p>
            <a:pPr lvl="1"/>
            <a:r>
              <a:rPr lang="zh-CN" altLang="en-US" sz="2200" dirty="0"/>
              <a:t>若</a:t>
            </a:r>
            <a:r>
              <a:rPr lang="en-US" altLang="zh-CN" sz="2200" dirty="0"/>
              <a:t>G</a:t>
            </a:r>
            <a:r>
              <a:rPr lang="zh-CN" altLang="en-US" sz="2200" dirty="0"/>
              <a:t>是不连通图，它的每个连通的部分称为</a:t>
            </a:r>
            <a:r>
              <a:rPr lang="en-US" altLang="zh-CN" sz="2200" dirty="0"/>
              <a:t>G</a:t>
            </a:r>
            <a:r>
              <a:rPr lang="zh-CN" altLang="en-US" sz="2200" dirty="0"/>
              <a:t>的一个</a:t>
            </a:r>
            <a:r>
              <a:rPr lang="zh-CN" altLang="en-US" sz="2200" b="1" dirty="0">
                <a:solidFill>
                  <a:srgbClr val="C00000"/>
                </a:solidFill>
              </a:rPr>
              <a:t>连通 分图</a:t>
            </a:r>
            <a:r>
              <a:rPr lang="en-US" altLang="zh-CN" sz="2200" dirty="0"/>
              <a:t>(</a:t>
            </a:r>
            <a:r>
              <a:rPr lang="zh-CN" altLang="en-US" sz="2200" dirty="0"/>
              <a:t>也简称</a:t>
            </a:r>
            <a:r>
              <a:rPr lang="zh-CN" altLang="en-US" sz="2200" b="1" dirty="0"/>
              <a:t>分图</a:t>
            </a:r>
            <a:r>
              <a:rPr lang="en-US" altLang="zh-CN" sz="2200" dirty="0"/>
              <a:t>)</a:t>
            </a:r>
            <a:r>
              <a:rPr lang="zh-CN" altLang="en-US" sz="2200" dirty="0"/>
              <a:t>。</a:t>
            </a:r>
            <a:endParaRPr lang="zh-CN" altLang="en-US" sz="2200" dirty="0"/>
          </a:p>
          <a:p>
            <a:pPr lvl="1"/>
            <a:r>
              <a:rPr lang="zh-CN" altLang="en-US" sz="2200" dirty="0"/>
              <a:t>下图是一个不连通图，它有两个连通分图。</a:t>
            </a:r>
            <a:endParaRPr lang="zh-CN" altLang="en-US" sz="2200" dirty="0"/>
          </a:p>
        </p:txBody>
      </p:sp>
      <p:pic>
        <p:nvPicPr>
          <p:cNvPr id="35845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3" y="4291013"/>
            <a:ext cx="3429000" cy="188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6553200" y="6162099"/>
            <a:ext cx="990600" cy="307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支撑子图</a:t>
            </a:r>
            <a:endParaRPr lang="en-US" altLang="zh-CN" dirty="0"/>
          </a:p>
        </p:txBody>
      </p:sp>
      <p:sp>
        <p:nvSpPr>
          <p:cNvPr id="3686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CD8E99-D340-4FC6-BDDF-0B6C4992C806}" type="slidenum">
              <a:rPr lang="en-US" altLang="zh-CN"/>
            </a:fld>
            <a:endParaRPr lang="en-US" altLang="zh-CN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4530725" cy="1216025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节 图的基本概念</a:t>
            </a:r>
            <a:endParaRPr lang="zh-CN" altLang="en-US" dirty="0"/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628775"/>
            <a:ext cx="7661275" cy="2466975"/>
          </a:xfrm>
        </p:spPr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支撑子图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给了一个图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G′=(V′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E′)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V=V′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E′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G′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支撑子图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G−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表示从图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中去掉点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的关联边后得到的一个图。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10(a)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所示，则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−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见图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10(b)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10(c)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的一个支撑子图。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87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149727"/>
            <a:ext cx="5284788" cy="2022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Rectangle 5"/>
          <p:cNvSpPr>
            <a:spLocks noChangeArrowheads="1"/>
          </p:cNvSpPr>
          <p:nvPr/>
        </p:nvSpPr>
        <p:spPr bwMode="auto">
          <a:xfrm>
            <a:off x="1524000" y="5638800"/>
            <a:ext cx="8572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/>
              <a:t>图</a:t>
            </a:r>
            <a:r>
              <a:rPr lang="en-US" altLang="zh-CN" sz="2000" dirty="0"/>
              <a:t>10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71559F-4FA5-4171-9C32-D458758CB0A9}" type="slidenum">
              <a:rPr lang="en-US" altLang="zh-CN"/>
            </a:fld>
            <a:endParaRPr lang="en-US" altLang="zh-CN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7213" y="1677988"/>
            <a:ext cx="8129587" cy="1979612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有向图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有关的概念和术语（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设给定一个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有向图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</a:rPr>
              <a:t>D=(V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</a:rPr>
              <a:t>A)</a:t>
            </a:r>
            <a:r>
              <a:rPr lang="zh-CN" altLang="en-US" sz="2400" dirty="0">
                <a:latin typeface="Times New Roman" panose="02020603050405020304" pitchFamily="18" charset="0"/>
              </a:rPr>
              <a:t>，从</a:t>
            </a:r>
            <a:r>
              <a:rPr lang="en-US" altLang="zh-CN" sz="2400" dirty="0">
                <a:latin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</a:rPr>
              <a:t>中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去掉所有弧上的箭头</a:t>
            </a:r>
            <a:r>
              <a:rPr lang="zh-CN" altLang="en-US" sz="2400" dirty="0">
                <a:latin typeface="Times New Roman" panose="02020603050405020304" pitchFamily="18" charset="0"/>
              </a:rPr>
              <a:t>，就得到一个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无向图</a:t>
            </a:r>
            <a:r>
              <a:rPr lang="zh-CN" altLang="en-US" sz="2400" dirty="0">
                <a:latin typeface="Times New Roman" panose="02020603050405020304" pitchFamily="18" charset="0"/>
              </a:rPr>
              <a:t>，称之为</a:t>
            </a:r>
            <a:r>
              <a:rPr lang="en-US" altLang="zh-CN" sz="2400" dirty="0">
                <a:latin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基础图</a:t>
            </a:r>
            <a:r>
              <a:rPr lang="zh-CN" altLang="en-US" sz="2400" dirty="0">
                <a:latin typeface="Times New Roman" panose="02020603050405020304" pitchFamily="18" charset="0"/>
              </a:rPr>
              <a:t>，记之为</a:t>
            </a:r>
            <a:r>
              <a:rPr lang="en-US" altLang="zh-CN" sz="2400" dirty="0">
                <a:latin typeface="Times New Roman" panose="02020603050405020304" pitchFamily="18" charset="0"/>
              </a:rPr>
              <a:t>G(D)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7894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7895" name="Rectangle 11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7896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37898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882754"/>
            <a:ext cx="4156075" cy="1896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" t="37010" r="3702"/>
          <a:stretch>
            <a:fillRect/>
          </a:stretch>
        </p:blipFill>
        <p:spPr bwMode="auto">
          <a:xfrm>
            <a:off x="840492" y="4038600"/>
            <a:ext cx="3350508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8124022-3BDD-4499-B18F-26F991EE319D}" type="slidenum">
              <a:rPr lang="en-US" altLang="zh-CN"/>
            </a:fld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7988"/>
            <a:ext cx="8281988" cy="3275012"/>
          </a:xfrm>
        </p:spPr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和有向图有关的概念和术语（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zh-CN" altLang="en-US" sz="2200" dirty="0">
                <a:latin typeface="Times New Roman" panose="02020603050405020304" pitchFamily="18" charset="0"/>
              </a:rPr>
              <a:t>给定</a:t>
            </a:r>
            <a:r>
              <a:rPr lang="en-US" altLang="zh-CN" sz="2200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Times New Roman" panose="02020603050405020304" pitchFamily="18" charset="0"/>
              </a:rPr>
              <a:t>中的一条弧</a:t>
            </a:r>
            <a:r>
              <a:rPr lang="en-US" altLang="zh-CN" sz="2200" i="1" dirty="0">
                <a:latin typeface="Times New Roman" panose="02020603050405020304" pitchFamily="18" charset="0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</a:rPr>
              <a:t>=(</a:t>
            </a:r>
            <a:r>
              <a:rPr lang="en-US" altLang="zh-CN" sz="2200" i="1" dirty="0">
                <a:latin typeface="Times New Roman" panose="02020603050405020304" pitchFamily="18" charset="0"/>
              </a:rPr>
              <a:t>u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dirty="0"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，称</a:t>
            </a:r>
            <a:r>
              <a:rPr lang="en-US" altLang="zh-CN" sz="2200" i="1" dirty="0">
                <a:latin typeface="Times New Roman" panose="02020603050405020304" pitchFamily="18" charset="0"/>
              </a:rPr>
              <a:t>u</a:t>
            </a:r>
            <a:r>
              <a:rPr lang="zh-CN" altLang="en-US" sz="2200" dirty="0">
                <a:latin typeface="Times New Roman" panose="02020603050405020304" pitchFamily="18" charset="0"/>
              </a:rPr>
              <a:t>为</a:t>
            </a:r>
            <a:r>
              <a:rPr lang="en-US" altLang="zh-CN" sz="2200" i="1" dirty="0">
                <a:latin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Times New Roman" panose="02020603050405020304" pitchFamily="18" charset="0"/>
              </a:rPr>
              <a:t>的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始点</a:t>
            </a:r>
            <a:r>
              <a:rPr lang="zh-CN" altLang="en-US" sz="2200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zh-CN" altLang="en-US" sz="2200" dirty="0">
                <a:latin typeface="Times New Roman" panose="02020603050405020304" pitchFamily="18" charset="0"/>
              </a:rPr>
              <a:t>为</a:t>
            </a:r>
            <a:r>
              <a:rPr lang="en-US" altLang="zh-CN" sz="2200" i="1" dirty="0">
                <a:latin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Times New Roman" panose="02020603050405020304" pitchFamily="18" charset="0"/>
              </a:rPr>
              <a:t>的终点，称弧</a:t>
            </a:r>
            <a:r>
              <a:rPr lang="en-US" altLang="zh-CN" sz="2200" i="1" dirty="0">
                <a:latin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Times New Roman" panose="02020603050405020304" pitchFamily="18" charset="0"/>
              </a:rPr>
              <a:t>是从</a:t>
            </a:r>
            <a:r>
              <a:rPr lang="en-US" altLang="zh-CN" sz="2200" dirty="0">
                <a:latin typeface="Times New Roman" panose="02020603050405020304" pitchFamily="18" charset="0"/>
              </a:rPr>
              <a:t>u</a:t>
            </a:r>
            <a:r>
              <a:rPr lang="zh-CN" altLang="en-US" sz="2200" dirty="0">
                <a:latin typeface="Times New Roman" panose="02020603050405020304" pitchFamily="18" charset="0"/>
              </a:rPr>
              <a:t>指向</a:t>
            </a:r>
            <a:r>
              <a:rPr lang="en-US" altLang="zh-CN" sz="2200" dirty="0">
                <a:latin typeface="Times New Roman" panose="02020603050405020304" pitchFamily="18" charset="0"/>
              </a:rPr>
              <a:t>v</a:t>
            </a:r>
            <a:r>
              <a:rPr lang="zh-CN" altLang="en-US" sz="2200" dirty="0">
                <a:latin typeface="Times New Roman" panose="02020603050405020304" pitchFamily="18" charset="0"/>
              </a:rPr>
              <a:t>的。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zh-CN" altLang="en-US" sz="2200" dirty="0">
                <a:latin typeface="Times New Roman" panose="02020603050405020304" pitchFamily="18" charset="0"/>
              </a:rPr>
              <a:t>设                                      是</a:t>
            </a:r>
            <a:r>
              <a:rPr lang="en-US" altLang="zh-CN" sz="2200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Times New Roman" panose="02020603050405020304" pitchFamily="18" charset="0"/>
              </a:rPr>
              <a:t>中的一个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点弧交错序列</a:t>
            </a:r>
            <a:r>
              <a:rPr lang="zh-CN" altLang="en-US" sz="2200" dirty="0">
                <a:latin typeface="Times New Roman" panose="02020603050405020304" pitchFamily="18" charset="0"/>
              </a:rPr>
              <a:t>，如果这个序列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在基础图</a:t>
            </a: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G(D)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中所对应的点边序列是一条链</a:t>
            </a:r>
            <a:r>
              <a:rPr lang="zh-CN" altLang="en-US" sz="2200" dirty="0">
                <a:latin typeface="Times New Roman" panose="02020603050405020304" pitchFamily="18" charset="0"/>
              </a:rPr>
              <a:t>，则称这个点弧交错序列是</a:t>
            </a:r>
            <a:r>
              <a:rPr lang="en-US" altLang="zh-CN" sz="2200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Times New Roman" panose="02020603050405020304" pitchFamily="18" charset="0"/>
              </a:rPr>
              <a:t>的一条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链</a:t>
            </a:r>
            <a:r>
              <a:rPr lang="zh-CN" altLang="en-US" sz="2200" dirty="0">
                <a:latin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zh-CN" altLang="en-US" sz="2200" dirty="0">
                <a:latin typeface="Times New Roman" panose="02020603050405020304" pitchFamily="18" charset="0"/>
              </a:rPr>
              <a:t>类似地，定义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圈</a:t>
            </a:r>
            <a:r>
              <a:rPr lang="zh-CN" altLang="en-US" sz="2200" dirty="0">
                <a:latin typeface="Times New Roman" panose="02020603050405020304" pitchFamily="18" charset="0"/>
              </a:rPr>
              <a:t>和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初等链</a:t>
            </a: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圈</a:t>
            </a: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</a:rPr>
              <a:t>。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8918" name="Object 4"/>
          <p:cNvGraphicFramePr>
            <a:graphicFrameLocks noChangeAspect="1"/>
          </p:cNvGraphicFramePr>
          <p:nvPr/>
        </p:nvGraphicFramePr>
        <p:xfrm>
          <a:off x="1676400" y="3124200"/>
          <a:ext cx="25304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752600" imgH="241300" progId="Equation.3">
                  <p:embed/>
                </p:oleObj>
              </mc:Choice>
              <mc:Fallback>
                <p:oleObj name="" r:id="rId1" imgW="17526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124200"/>
                        <a:ext cx="25304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8920" name="Rectangle 11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892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14400" y="5249863"/>
            <a:ext cx="5867400" cy="84613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dirty="0"/>
              <a:t>若链中，点都是不同的，则称之为初等链；</a:t>
            </a:r>
            <a:endParaRPr lang="en-US" altLang="zh-CN" sz="2200" dirty="0"/>
          </a:p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dirty="0"/>
              <a:t>若圈中，点都是不同的，则称之为初等圈；</a:t>
            </a:r>
            <a:endParaRPr lang="en-US" altLang="zh-CN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DC14CF1-0B5D-4410-8296-DFA8CA18AEFD}" type="slidenum">
              <a:rPr lang="en-US" altLang="zh-CN"/>
            </a:fld>
            <a:endParaRPr lang="en-US" altLang="zh-CN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4188"/>
            <a:ext cx="8153400" cy="3122612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和有向图有关的概念和术语（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如果                                          是</a:t>
            </a:r>
            <a:r>
              <a:rPr lang="en-US" altLang="zh-CN" sz="2400" dirty="0">
                <a:latin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</a:rPr>
              <a:t>中的一条链，并且对 </a:t>
            </a:r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</a:rPr>
              <a:t>=1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</a:rPr>
              <a:t>，均有                        ，称之为从 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71170" lvl="1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                   的一条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路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若路的第一个点和最后一点相同，则称之为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回路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类似地，定义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初等路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</a:rPr>
              <a:t>回路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2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</a:rPr>
              <a:t>若链</a:t>
            </a:r>
            <a:r>
              <a:rPr lang="en-US" altLang="zh-CN" sz="2100" b="1" dirty="0">
                <a:solidFill>
                  <a:srgbClr val="0070C0"/>
                </a:solidFill>
              </a:rPr>
              <a:t>(</a:t>
            </a:r>
            <a:r>
              <a:rPr lang="zh-CN" altLang="en-US" sz="2100" b="1" dirty="0">
                <a:solidFill>
                  <a:srgbClr val="C00000"/>
                </a:solidFill>
              </a:rPr>
              <a:t>路</a:t>
            </a:r>
            <a:r>
              <a:rPr lang="en-US" altLang="zh-CN" sz="2100" b="1" dirty="0">
                <a:solidFill>
                  <a:srgbClr val="0070C0"/>
                </a:solidFill>
              </a:rPr>
              <a:t>)</a:t>
            </a:r>
            <a:r>
              <a:rPr lang="zh-CN" altLang="en-US" sz="2100" b="1" dirty="0">
                <a:solidFill>
                  <a:srgbClr val="0070C0"/>
                </a:solidFill>
              </a:rPr>
              <a:t>中，点都是不同的，则称之为初等链</a:t>
            </a:r>
            <a:r>
              <a:rPr lang="en-US" altLang="zh-CN" sz="2100" b="1" dirty="0">
                <a:solidFill>
                  <a:srgbClr val="0070C0"/>
                </a:solidFill>
              </a:rPr>
              <a:t>(</a:t>
            </a:r>
            <a:r>
              <a:rPr lang="zh-CN" altLang="en-US" sz="2100" b="1" dirty="0">
                <a:solidFill>
                  <a:srgbClr val="0070C0"/>
                </a:solidFill>
              </a:rPr>
              <a:t>路</a:t>
            </a:r>
            <a:r>
              <a:rPr lang="en-US" altLang="zh-CN" sz="2100" b="1" dirty="0">
                <a:solidFill>
                  <a:srgbClr val="0070C0"/>
                </a:solidFill>
              </a:rPr>
              <a:t>)</a:t>
            </a:r>
            <a:endParaRPr lang="en-US" altLang="zh-CN" sz="2100" dirty="0"/>
          </a:p>
          <a:p>
            <a:pPr lvl="2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若圈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回路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中，点都是不同的，则称之为初等圈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回路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)</a:t>
            </a:r>
            <a:endParaRPr lang="zh-CN" altLang="en-US" sz="21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42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9943" name="Object 8"/>
          <p:cNvGraphicFramePr>
            <a:graphicFrameLocks noChangeAspect="1"/>
          </p:cNvGraphicFramePr>
          <p:nvPr/>
        </p:nvGraphicFramePr>
        <p:xfrm>
          <a:off x="2209800" y="2308225"/>
          <a:ext cx="30654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752600" imgH="241300" progId="Equation.3">
                  <p:embed/>
                </p:oleObj>
              </mc:Choice>
              <mc:Fallback>
                <p:oleObj name="" r:id="rId1" imgW="17526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308225"/>
                        <a:ext cx="306546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Rectangle 11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9945" name="Object 10"/>
          <p:cNvGraphicFramePr>
            <a:graphicFrameLocks noChangeAspect="1"/>
          </p:cNvGraphicFramePr>
          <p:nvPr/>
        </p:nvGraphicFramePr>
        <p:xfrm>
          <a:off x="5186363" y="2795588"/>
          <a:ext cx="15192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838200" imgH="241300" progId="Equation.3">
                  <p:embed/>
                </p:oleObj>
              </mc:Choice>
              <mc:Fallback>
                <p:oleObj name="" r:id="rId3" imgW="8382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3" y="2795588"/>
                        <a:ext cx="15192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6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9947" name="Object 12"/>
          <p:cNvGraphicFramePr>
            <a:graphicFrameLocks noChangeAspect="1"/>
          </p:cNvGraphicFramePr>
          <p:nvPr/>
        </p:nvGraphicFramePr>
        <p:xfrm>
          <a:off x="1524000" y="3275013"/>
          <a:ext cx="8397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431800" imgH="241300" progId="Equation.3">
                  <p:embed/>
                </p:oleObj>
              </mc:Choice>
              <mc:Fallback>
                <p:oleObj name="" r:id="rId5" imgW="4318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75013"/>
                        <a:ext cx="8397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16B44B9-6BDB-4F6D-BDF2-A02493598D8E}" type="slidenum">
              <a:rPr lang="en-US" altLang="zh-CN"/>
            </a:fld>
            <a:endParaRPr lang="en-US" altLang="zh-CN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752600"/>
            <a:ext cx="7304087" cy="1643063"/>
          </a:xfrm>
        </p:spPr>
        <p:txBody>
          <a:bodyPr/>
          <a:lstStyle/>
          <a:p>
            <a:pPr>
              <a:spcAft>
                <a:spcPts val="1200"/>
              </a:spcAft>
              <a:defRPr/>
            </a:pPr>
            <a:r>
              <a:rPr lang="zh-CN" altLang="en-US" sz="2800" dirty="0"/>
              <a:t>有向图的例子</a:t>
            </a:r>
            <a:endParaRPr lang="zh-CN" altLang="en-US" sz="2800" dirty="0"/>
          </a:p>
          <a:p>
            <a:pPr lvl="1">
              <a:defRPr/>
            </a:pPr>
            <a:r>
              <a:rPr lang="zh-CN" altLang="en-US" sz="2400" dirty="0"/>
              <a:t>                                                   </a:t>
            </a:r>
            <a:endParaRPr lang="en-US" altLang="zh-CN" sz="2400" dirty="0"/>
          </a:p>
          <a:p>
            <a:pPr marL="471170" lvl="1" indent="0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   是从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</a:rPr>
              <a:t>路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1447800" y="2376488"/>
          <a:ext cx="55657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260600" imgH="228600" progId="Equation.DSMT4">
                  <p:embed/>
                </p:oleObj>
              </mc:Choice>
              <mc:Fallback>
                <p:oleObj name="" r:id="rId1" imgW="22606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376488"/>
                        <a:ext cx="55657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40968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581400"/>
            <a:ext cx="580707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AF37E6E-C017-4FF5-89C7-06567F8722ED}" type="slidenum">
              <a:rPr lang="en-US" altLang="zh-CN"/>
            </a:fld>
            <a:endParaRPr lang="en-US" altLang="zh-CN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752600"/>
            <a:ext cx="7304087" cy="1643063"/>
          </a:xfrm>
        </p:spPr>
        <p:txBody>
          <a:bodyPr/>
          <a:lstStyle/>
          <a:p>
            <a:pPr>
              <a:spcAft>
                <a:spcPts val="1200"/>
              </a:spcAft>
              <a:defRPr/>
            </a:pPr>
            <a:r>
              <a:rPr lang="zh-CN" altLang="en-US" sz="2800" dirty="0"/>
              <a:t>有向图的例子</a:t>
            </a:r>
            <a:endParaRPr lang="zh-CN" altLang="en-US" sz="2800" dirty="0"/>
          </a:p>
          <a:p>
            <a:pPr lvl="1">
              <a:defRPr/>
            </a:pPr>
            <a:r>
              <a:rPr lang="zh-CN" altLang="en-US" sz="2400" dirty="0"/>
              <a:t>                                                   </a:t>
            </a:r>
            <a:endParaRPr lang="en-US" altLang="zh-CN" sz="2400" dirty="0"/>
          </a:p>
          <a:p>
            <a:pPr marL="471170" lvl="1" indent="0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   是一个</a:t>
            </a:r>
            <a:r>
              <a:rPr lang="zh-CN" altLang="en-US" sz="2400" b="1" dirty="0">
                <a:solidFill>
                  <a:srgbClr val="C00000"/>
                </a:solidFill>
              </a:rPr>
              <a:t>回路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99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1991" name="Object 4"/>
          <p:cNvGraphicFramePr>
            <a:graphicFrameLocks noChangeAspect="1"/>
          </p:cNvGraphicFramePr>
          <p:nvPr/>
        </p:nvGraphicFramePr>
        <p:xfrm>
          <a:off x="1447800" y="2362200"/>
          <a:ext cx="65611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984500" imgH="228600" progId="Equation.DSMT4">
                  <p:embed/>
                </p:oleObj>
              </mc:Choice>
              <mc:Fallback>
                <p:oleObj name="" r:id="rId1" imgW="29845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362200"/>
                        <a:ext cx="656113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992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476625"/>
            <a:ext cx="5810250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F8361A4-A593-4882-B4B1-669328BFD9DC}" type="slidenum">
              <a:rPr lang="en-US" altLang="zh-CN"/>
            </a:fld>
            <a:endParaRPr lang="en-US" altLang="zh-CN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752600"/>
            <a:ext cx="6161087" cy="1643063"/>
          </a:xfrm>
        </p:spPr>
        <p:txBody>
          <a:bodyPr/>
          <a:lstStyle/>
          <a:p>
            <a:pPr>
              <a:spcAft>
                <a:spcPts val="1200"/>
              </a:spcAft>
              <a:defRPr/>
            </a:pPr>
            <a:r>
              <a:rPr lang="zh-CN" altLang="en-US" sz="2800" dirty="0"/>
              <a:t>有向图的例子</a:t>
            </a:r>
            <a:endParaRPr lang="zh-CN" altLang="en-US" sz="2800" dirty="0"/>
          </a:p>
          <a:p>
            <a:pPr lvl="1">
              <a:defRPr/>
            </a:pPr>
            <a:r>
              <a:rPr lang="zh-CN" altLang="en-US" sz="2400" dirty="0"/>
              <a:t>                                                   </a:t>
            </a:r>
            <a:endParaRPr lang="en-US" altLang="zh-CN" sz="2400" dirty="0"/>
          </a:p>
          <a:p>
            <a:pPr marL="471170" lvl="1" indent="0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   是一条</a:t>
            </a:r>
            <a:r>
              <a:rPr lang="zh-CN" altLang="en-US" sz="2400" b="1" dirty="0">
                <a:solidFill>
                  <a:srgbClr val="C00000"/>
                </a:solidFill>
              </a:rPr>
              <a:t>链</a:t>
            </a:r>
            <a:r>
              <a:rPr lang="zh-CN" altLang="en-US" sz="2400" dirty="0"/>
              <a:t>，但</a:t>
            </a:r>
            <a:r>
              <a:rPr lang="zh-CN" altLang="en-US" sz="2400" dirty="0">
                <a:solidFill>
                  <a:srgbClr val="C00000"/>
                </a:solidFill>
              </a:rPr>
              <a:t>不是路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43015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61803"/>
            <a:ext cx="5486400" cy="2273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1524000" y="2362200"/>
          <a:ext cx="47720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2222500" imgH="228600" progId="Equation.DSMT4">
                  <p:embed/>
                </p:oleObj>
              </mc:Choice>
              <mc:Fallback>
                <p:oleObj name="" r:id="rId2" imgW="22225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362200"/>
                        <a:ext cx="47720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569798" y="6119165"/>
            <a:ext cx="7924800" cy="5238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bg1"/>
              </a:buClr>
              <a:defRPr/>
            </a:pPr>
            <a:r>
              <a:rPr lang="zh-CN" altLang="en-US" sz="2800" b="1" dirty="0">
                <a:latin typeface="Arial" panose="020B0604020202020204" pitchFamily="34" charset="0"/>
              </a:rPr>
              <a:t>对无向图，链与路</a:t>
            </a:r>
            <a:r>
              <a:rPr lang="en-US" altLang="zh-CN" sz="2800" b="1" dirty="0">
                <a:latin typeface="Arial" panose="020B0604020202020204" pitchFamily="34" charset="0"/>
              </a:rPr>
              <a:t>(</a:t>
            </a:r>
            <a:r>
              <a:rPr lang="zh-CN" altLang="en-US" sz="2800" b="1" dirty="0">
                <a:latin typeface="Arial" panose="020B0604020202020204" pitchFamily="34" charset="0"/>
              </a:rPr>
              <a:t>圈与回路</a:t>
            </a:r>
            <a:r>
              <a:rPr lang="en-US" altLang="zh-CN" sz="2800" b="1" dirty="0">
                <a:latin typeface="Arial" panose="020B0604020202020204" pitchFamily="34" charset="0"/>
              </a:rPr>
              <a:t>)</a:t>
            </a:r>
            <a:r>
              <a:rPr lang="zh-CN" altLang="en-US" sz="2800" b="1" dirty="0">
                <a:latin typeface="Arial" panose="020B0604020202020204" pitchFamily="34" charset="0"/>
              </a:rPr>
              <a:t>两个概念是一致的。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9CC2AF4-2D5E-4A7D-B8B4-AE058478BE76}" type="slidenum">
              <a:rPr lang="en-US" altLang="zh-CN"/>
            </a:fld>
            <a:endParaRPr lang="en-US" altLang="zh-CN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4188"/>
            <a:ext cx="8153400" cy="2081212"/>
          </a:xfrm>
        </p:spPr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和有向图有关的概念和术语（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对无向图，链与路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</a:rPr>
              <a:t>圈与回路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两个概念是一致的。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类似于无向图，可定义简单有向图、多重有向图。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图</a:t>
            </a:r>
            <a:r>
              <a:rPr lang="en-US" altLang="zh-CN" sz="2400" dirty="0">
                <a:latin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</a:rPr>
              <a:t>是一个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简单有向图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图的基本概念</a:t>
            </a:r>
            <a:endParaRPr lang="zh-CN" altLang="en-US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4038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4039" name="Rectangle 11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404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44041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" t="37010" r="3702"/>
          <a:stretch>
            <a:fillRect/>
          </a:stretch>
        </p:blipFill>
        <p:spPr bwMode="auto">
          <a:xfrm>
            <a:off x="2324100" y="3670300"/>
            <a:ext cx="45720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6477000" y="5087698"/>
            <a:ext cx="13716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8 </a:t>
            </a:r>
            <a:r>
              <a:rPr lang="zh-CN" altLang="en-US" dirty="0"/>
              <a:t>有向图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66700" y="5692170"/>
            <a:ext cx="8686800" cy="7848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/>
              <a:t>若链（路）中，</a:t>
            </a:r>
            <a:r>
              <a:rPr lang="zh-CN" altLang="en-US" sz="2000" dirty="0">
                <a:solidFill>
                  <a:srgbClr val="C00000"/>
                </a:solidFill>
              </a:rPr>
              <a:t>点</a:t>
            </a:r>
            <a:r>
              <a:rPr lang="zh-CN" altLang="en-US" sz="2000" dirty="0"/>
              <a:t>都是不同的，则称之为</a:t>
            </a:r>
            <a:r>
              <a:rPr lang="zh-CN" altLang="en-US" sz="2000" dirty="0">
                <a:solidFill>
                  <a:srgbClr val="C00000"/>
                </a:solidFill>
              </a:rPr>
              <a:t>初等</a:t>
            </a:r>
            <a:r>
              <a:rPr lang="zh-CN" altLang="en-US" sz="2000" dirty="0"/>
              <a:t>链（路）；</a:t>
            </a:r>
            <a:endParaRPr lang="en-US" altLang="zh-CN" sz="2000" dirty="0"/>
          </a:p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/>
              <a:t>若链与路</a:t>
            </a:r>
            <a:r>
              <a:rPr lang="en-US" altLang="zh-CN" sz="2000" dirty="0"/>
              <a:t>(</a:t>
            </a:r>
            <a:r>
              <a:rPr lang="zh-CN" altLang="en-US" sz="2000" dirty="0"/>
              <a:t>圈与回路</a:t>
            </a:r>
            <a:r>
              <a:rPr lang="en-US" altLang="zh-CN" sz="2000" dirty="0"/>
              <a:t>)</a:t>
            </a:r>
            <a:r>
              <a:rPr lang="zh-CN" altLang="en-US" sz="2000" dirty="0"/>
              <a:t>中含的</a:t>
            </a:r>
            <a:r>
              <a:rPr lang="zh-CN" altLang="en-US" sz="2000" dirty="0">
                <a:solidFill>
                  <a:srgbClr val="C00000"/>
                </a:solidFill>
              </a:rPr>
              <a:t>边</a:t>
            </a:r>
            <a:r>
              <a:rPr lang="zh-CN" altLang="en-US" sz="2000" dirty="0"/>
              <a:t>均不相同，则称之为</a:t>
            </a:r>
            <a:r>
              <a:rPr lang="zh-CN" altLang="en-US" sz="2000" b="1" dirty="0">
                <a:solidFill>
                  <a:srgbClr val="FF0000"/>
                </a:solidFill>
              </a:rPr>
              <a:t>简单</a:t>
            </a:r>
            <a:r>
              <a:rPr lang="zh-CN" altLang="en-US" sz="2000" dirty="0">
                <a:solidFill>
                  <a:srgbClr val="002060"/>
                </a:solidFill>
              </a:rPr>
              <a:t>链与路</a:t>
            </a:r>
            <a:r>
              <a:rPr lang="en-US" altLang="zh-CN" sz="2000" dirty="0">
                <a:solidFill>
                  <a:srgbClr val="002060"/>
                </a:solidFill>
              </a:rPr>
              <a:t>(</a:t>
            </a:r>
            <a:r>
              <a:rPr lang="zh-CN" altLang="en-US" sz="2000" dirty="0">
                <a:solidFill>
                  <a:srgbClr val="002060"/>
                </a:solidFill>
              </a:rPr>
              <a:t>圈与回路</a:t>
            </a:r>
            <a:r>
              <a:rPr lang="en-US" altLang="zh-CN" sz="2000" dirty="0">
                <a:solidFill>
                  <a:srgbClr val="002060"/>
                </a:solidFill>
              </a:rPr>
              <a:t>)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Tx/>
              <a:buNone/>
            </a:pPr>
            <a:fld id="{5A6ED406-5172-4B8D-AFDC-80D738051785}" type="slidenum">
              <a:rPr lang="en-US" altLang="zh-CN" sz="1000">
                <a:latin typeface="Arial" panose="020B0604020202020204" pitchFamily="34" charset="0"/>
                <a:cs typeface="Times New Roman" panose="02020603050405020304" pitchFamily="18" charset="0"/>
              </a:rPr>
            </a:fld>
            <a:endParaRPr lang="en-US" altLang="zh-CN" sz="100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908050"/>
            <a:ext cx="7086600" cy="1600200"/>
          </a:xfrm>
        </p:spPr>
        <p:txBody>
          <a:bodyPr/>
          <a:lstStyle/>
          <a:p>
            <a:r>
              <a:rPr lang="zh-CN" altLang="en-US" dirty="0">
                <a:latin typeface="Arial Unicode MS" panose="020B0604020202020204" charset="-122"/>
              </a:rPr>
              <a:t>第</a:t>
            </a:r>
            <a:r>
              <a:rPr lang="en-US" altLang="zh-CN" dirty="0">
                <a:latin typeface="Arial Unicode MS" panose="020B0604020202020204" charset="-122"/>
              </a:rPr>
              <a:t>9</a:t>
            </a:r>
            <a:r>
              <a:rPr lang="zh-CN" altLang="en-US" dirty="0">
                <a:latin typeface="Arial Unicode MS" panose="020B0604020202020204" charset="-122"/>
              </a:rPr>
              <a:t>章  </a:t>
            </a:r>
            <a:r>
              <a:rPr lang="zh-CN" altLang="en-US" dirty="0"/>
              <a:t>图与网络优化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20483" name="AutoShape 3"/>
          <p:cNvSpPr>
            <a:spLocks noChangeArrowheads="1"/>
          </p:cNvSpPr>
          <p:nvPr/>
        </p:nvSpPr>
        <p:spPr bwMode="auto">
          <a:xfrm>
            <a:off x="1330325" y="3611562"/>
            <a:ext cx="4994275" cy="503238"/>
          </a:xfrm>
          <a:prstGeom prst="homePlate">
            <a:avLst>
              <a:gd name="adj" fmla="val 343454"/>
            </a:avLst>
          </a:prstGeom>
          <a:gradFill rotWithShape="1">
            <a:gsLst>
              <a:gs pos="0">
                <a:srgbClr val="3B8A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781300"/>
            <a:ext cx="6408737" cy="2879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节 图的基本概念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节 树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节 最短路问题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节 网络最大流问题</a:t>
            </a:r>
            <a:endParaRPr lang="zh-CN" altLang="en-US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320AFA6-8F96-4886-A3AB-D74990ED5185}" type="slidenum">
              <a:rPr lang="en-US" altLang="zh-CN"/>
            </a:fld>
            <a:endParaRPr lang="en-US" altLang="zh-CN"/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08962" cy="1412875"/>
          </a:xfrm>
        </p:spPr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节 树</a:t>
            </a:r>
            <a:endParaRPr lang="zh-CN" altLang="en-US"/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1981200"/>
            <a:ext cx="7151688" cy="2332038"/>
          </a:xfrm>
        </p:spPr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树及其性质</a:t>
            </a:r>
            <a:endParaRPr lang="zh-CN" altLang="en-US"/>
          </a:p>
          <a:p>
            <a:r>
              <a:rPr lang="en-US" altLang="zh-CN"/>
              <a:t>2.2 </a:t>
            </a:r>
            <a:r>
              <a:rPr lang="zh-CN" altLang="en-US"/>
              <a:t>图的支撑树</a:t>
            </a:r>
            <a:endParaRPr lang="zh-CN" altLang="en-US"/>
          </a:p>
          <a:p>
            <a:r>
              <a:rPr lang="en-US" altLang="zh-CN"/>
              <a:t>2.3 </a:t>
            </a:r>
            <a:r>
              <a:rPr lang="zh-CN" altLang="en-US"/>
              <a:t>最小支撑树问题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A1893F-D346-4AE3-B4AD-5FB080C1E065}" type="slidenum">
              <a:rPr lang="en-US" altLang="zh-CN"/>
            </a:fld>
            <a:endParaRPr lang="en-US" altLang="zh-CN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700214"/>
            <a:ext cx="8382000" cy="24558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树：一类极其简单，然而却很有用的图，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在现实生活中有许多应用。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4</a:t>
            </a:r>
            <a:r>
              <a:rPr lang="en-US" altLang="zh-CN" sz="2800" dirty="0"/>
              <a:t> </a:t>
            </a:r>
            <a:r>
              <a:rPr lang="zh-CN" altLang="en-US" sz="2400" dirty="0"/>
              <a:t>已知有五个城市，要在它们之间架设电话线，要求：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任何两个城市都</a:t>
            </a:r>
            <a:r>
              <a:rPr lang="zh-CN" altLang="en-US" sz="2400" dirty="0">
                <a:solidFill>
                  <a:srgbClr val="C00000"/>
                </a:solidFill>
              </a:rPr>
              <a:t>可以互相通话</a:t>
            </a:r>
            <a:r>
              <a:rPr lang="zh-CN" altLang="en-US" sz="2400" dirty="0"/>
              <a:t>（允许通过其他城市）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并且，电话线的</a:t>
            </a:r>
            <a:r>
              <a:rPr lang="zh-CN" altLang="en-US" sz="2400" dirty="0">
                <a:solidFill>
                  <a:srgbClr val="C00000"/>
                </a:solidFill>
              </a:rPr>
              <a:t>根数最少</a:t>
            </a:r>
            <a:r>
              <a:rPr lang="zh-CN" altLang="en-US" sz="2400" dirty="0"/>
              <a:t>。</a:t>
            </a:r>
            <a:endParaRPr lang="zh-CN" altLang="en-US" sz="2800" dirty="0"/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树及其性质</a:t>
            </a:r>
            <a:endParaRPr lang="zh-CN" altLang="en-US"/>
          </a:p>
        </p:txBody>
      </p:sp>
      <p:sp>
        <p:nvSpPr>
          <p:cNvPr id="3" name="对话气泡: 椭圆形 2"/>
          <p:cNvSpPr/>
          <p:nvPr/>
        </p:nvSpPr>
        <p:spPr>
          <a:xfrm>
            <a:off x="6781800" y="4419600"/>
            <a:ext cx="1219200" cy="533400"/>
          </a:xfrm>
          <a:prstGeom prst="wedgeEllipseCallout">
            <a:avLst>
              <a:gd name="adj1" fmla="val -219176"/>
              <a:gd name="adj2" fmla="val -73271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需求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对话气泡: 椭圆形 9"/>
          <p:cNvSpPr/>
          <p:nvPr/>
        </p:nvSpPr>
        <p:spPr>
          <a:xfrm>
            <a:off x="3810000" y="5486400"/>
            <a:ext cx="1219200" cy="533400"/>
          </a:xfrm>
          <a:prstGeom prst="wedgeEllipseCallout">
            <a:avLst>
              <a:gd name="adj1" fmla="val -41576"/>
              <a:gd name="adj2" fmla="val -154185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成本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EA2633-1E05-439F-88FB-976BEA32B415}" type="slidenum">
              <a:rPr lang="en-US" altLang="zh-CN"/>
            </a:fld>
            <a:endParaRPr lang="en-US" altLang="zh-CN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01675"/>
            <a:ext cx="3921125" cy="819150"/>
          </a:xfrm>
        </p:spPr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树及其性质</a:t>
            </a:r>
            <a:endParaRPr lang="zh-CN" altLang="en-US"/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839075" cy="1752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用五个点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200" i="1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200" i="1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sz="2200" i="1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sz="2200" i="1" dirty="0">
                <a:latin typeface="Times New Roman" panose="02020603050405020304" pitchFamily="18" charset="0"/>
              </a:rPr>
              <a:t>，</a:t>
            </a:r>
            <a:r>
              <a:rPr lang="en-US" altLang="zh-CN" sz="2200" i="1" dirty="0">
                <a:latin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5</a:t>
            </a:r>
            <a:r>
              <a:rPr lang="zh-CN" altLang="en-US" sz="2200" dirty="0"/>
              <a:t>代表五个城市，如果在某两个城市之间架设电话线，则在相应的两个点之间连一条边，这样一个</a:t>
            </a:r>
            <a:r>
              <a:rPr lang="zh-CN" altLang="en-US" sz="2200" dirty="0">
                <a:solidFill>
                  <a:srgbClr val="FF0000"/>
                </a:solidFill>
              </a:rPr>
              <a:t>电话线网</a:t>
            </a:r>
            <a:r>
              <a:rPr lang="zh-CN" altLang="en-US" sz="2200" dirty="0"/>
              <a:t>就可以用一个</a:t>
            </a:r>
            <a:r>
              <a:rPr lang="zh-CN" altLang="en-US" sz="2200" dirty="0">
                <a:solidFill>
                  <a:srgbClr val="FF0000"/>
                </a:solidFill>
              </a:rPr>
              <a:t>图</a:t>
            </a:r>
            <a:r>
              <a:rPr lang="zh-CN" altLang="en-US" sz="2200" dirty="0"/>
              <a:t>来表示，例如：</a:t>
            </a:r>
            <a:endParaRPr lang="en-US" altLang="zh-CN" sz="2200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-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925637"/>
            <a:ext cx="3255962" cy="210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1468435" y="5582375"/>
            <a:ext cx="2646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1800" dirty="0"/>
              <a:t>图</a:t>
            </a:r>
            <a:r>
              <a:rPr lang="en-US" altLang="zh-CN" sz="1800" dirty="0"/>
              <a:t>11 </a:t>
            </a:r>
            <a:r>
              <a:rPr lang="zh-CN" altLang="en-US" sz="1800" dirty="0"/>
              <a:t>电话线网示意图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EA2633-1E05-439F-88FB-976BEA32B415}" type="slidenum">
              <a:rPr lang="en-US" altLang="zh-CN"/>
            </a:fld>
            <a:endParaRPr lang="en-US" altLang="zh-CN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01675"/>
            <a:ext cx="3921125" cy="819150"/>
          </a:xfrm>
        </p:spPr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树及其性质</a:t>
            </a:r>
            <a:endParaRPr lang="zh-CN" altLang="en-US"/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676401"/>
            <a:ext cx="7991475" cy="2514600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dirty="0"/>
              <a:t>要求：</a:t>
            </a:r>
            <a:endParaRPr lang="en-US" altLang="zh-CN" sz="2200" dirty="0"/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/>
              <a:t>为了使任何两个城市都可以通话，这样的图必须是</a:t>
            </a:r>
            <a:r>
              <a:rPr lang="zh-CN" altLang="en-US" sz="2000" dirty="0">
                <a:solidFill>
                  <a:srgbClr val="FF0000"/>
                </a:solidFill>
              </a:rPr>
              <a:t>连通的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/>
              <a:t>其次，若图中有圈的话，从</a:t>
            </a:r>
            <a:r>
              <a:rPr lang="zh-CN" altLang="en-US" sz="2000" dirty="0">
                <a:solidFill>
                  <a:srgbClr val="FF0000"/>
                </a:solidFill>
              </a:rPr>
              <a:t>圈</a:t>
            </a:r>
            <a:r>
              <a:rPr lang="zh-CN" altLang="en-US" sz="2000" dirty="0"/>
              <a:t>上任意去掉一条边，余下的图仍是连通的，这样可以省去一根电话线。</a:t>
            </a:r>
            <a:endParaRPr lang="en-US" altLang="zh-CN" sz="2000" dirty="0"/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dirty="0"/>
              <a:t>因而，满足要求的</a:t>
            </a:r>
            <a:r>
              <a:rPr lang="zh-CN" altLang="en-US" sz="2000" dirty="0">
                <a:solidFill>
                  <a:srgbClr val="FF0000"/>
                </a:solidFill>
              </a:rPr>
              <a:t>电话线网</a:t>
            </a:r>
            <a:r>
              <a:rPr lang="zh-CN" altLang="en-US" sz="2000" dirty="0"/>
              <a:t>所对应的图必定是</a:t>
            </a:r>
            <a:r>
              <a:rPr lang="zh-CN" altLang="en-US" sz="2000" b="1" dirty="0">
                <a:solidFill>
                  <a:srgbClr val="FF0000"/>
                </a:solidFill>
              </a:rPr>
              <a:t>不含圈的连通图</a:t>
            </a:r>
            <a:r>
              <a:rPr lang="zh-CN" altLang="en-US" sz="2000" dirty="0"/>
              <a:t>。图</a:t>
            </a:r>
            <a:r>
              <a:rPr lang="en-US" altLang="zh-CN" sz="2000" dirty="0"/>
              <a:t>11</a:t>
            </a:r>
            <a:r>
              <a:rPr lang="zh-CN" altLang="en-US" sz="2000" dirty="0"/>
              <a:t>代表了满足要求的一个电话线网。</a:t>
            </a:r>
            <a:endParaRPr lang="zh-CN" altLang="en-US" sz="2000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-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267200"/>
            <a:ext cx="3255962" cy="210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1371600" y="5670533"/>
            <a:ext cx="2646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1800" dirty="0"/>
              <a:t>图</a:t>
            </a:r>
            <a:r>
              <a:rPr lang="en-US" altLang="zh-CN" sz="1800" dirty="0"/>
              <a:t>11 </a:t>
            </a:r>
            <a:r>
              <a:rPr lang="zh-CN" altLang="en-US" sz="1800" dirty="0"/>
              <a:t>电话线网示意图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61F551-D27E-4194-98A2-F0B467238730}" type="slidenum">
              <a:rPr lang="en-US" altLang="zh-CN"/>
            </a:fld>
            <a:endParaRPr lang="en-US" altLang="zh-CN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638175"/>
            <a:ext cx="3997325" cy="882650"/>
          </a:xfrm>
        </p:spPr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树及其性质</a:t>
            </a:r>
            <a:endParaRPr lang="zh-CN" altLang="en-US" dirty="0"/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1628775"/>
            <a:ext cx="5403850" cy="1544638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（树的定义）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 </a:t>
            </a:r>
            <a:r>
              <a:rPr lang="zh-CN" altLang="en-US" sz="2400" b="1" dirty="0"/>
              <a:t>一个无圈的连通图称为</a:t>
            </a:r>
            <a:r>
              <a:rPr lang="zh-CN" altLang="en-US" sz="2400" b="1" dirty="0">
                <a:solidFill>
                  <a:srgbClr val="FF0000"/>
                </a:solidFill>
              </a:rPr>
              <a:t>树</a:t>
            </a:r>
            <a:r>
              <a:rPr lang="zh-CN" altLang="en-US" sz="2400" dirty="0"/>
              <a:t>。</a:t>
            </a:r>
            <a:endParaRPr lang="zh-CN" altLang="en-US" sz="2400" b="1" dirty="0"/>
          </a:p>
          <a:p>
            <a:pPr>
              <a:spcBef>
                <a:spcPts val="1800"/>
              </a:spcBef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5</a:t>
            </a:r>
            <a:r>
              <a:rPr lang="en-US" altLang="zh-CN" sz="2400" dirty="0"/>
              <a:t>   </a:t>
            </a:r>
            <a:r>
              <a:rPr lang="zh-CN" altLang="en-US" sz="2400" dirty="0"/>
              <a:t>某工厂的组织机构如下所示</a:t>
            </a:r>
            <a:endParaRPr lang="zh-CN" altLang="en-US" sz="2400" dirty="0"/>
          </a:p>
        </p:txBody>
      </p:sp>
      <p:pic>
        <p:nvPicPr>
          <p:cNvPr id="4915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246438"/>
            <a:ext cx="4105275" cy="307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1042988" y="4292600"/>
            <a:ext cx="29527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47675" indent="-44767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pitchFamily="49" charset="-122"/>
              </a:rPr>
              <a:t>工厂组织机构图</a:t>
            </a:r>
            <a:endParaRPr lang="zh-CN" altLang="en-US" sz="28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34842F3-E0D6-4042-89F5-135FF82C887D}" type="slidenum">
              <a:rPr lang="en-US" altLang="zh-CN"/>
            </a:fld>
            <a:endParaRPr lang="en-US" altLang="zh-CN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树及其性质</a:t>
            </a:r>
            <a:endParaRPr lang="zh-CN" altLang="en-US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50291" y="1740516"/>
            <a:ext cx="7145909" cy="946150"/>
          </a:xfrm>
        </p:spPr>
        <p:txBody>
          <a:bodyPr/>
          <a:lstStyle/>
          <a:p>
            <a:r>
              <a:rPr lang="zh-CN" altLang="en-US" sz="2400" dirty="0"/>
              <a:t>如果用图表示，该工厂的组织机构图就是一个</a:t>
            </a:r>
            <a:r>
              <a:rPr lang="zh-CN" altLang="en-US" sz="2400" b="1" dirty="0">
                <a:solidFill>
                  <a:srgbClr val="C00000"/>
                </a:solidFill>
              </a:rPr>
              <a:t>树</a:t>
            </a:r>
            <a:r>
              <a:rPr lang="en-US" altLang="zh-CN" sz="2400" dirty="0"/>
              <a:t>(</a:t>
            </a:r>
            <a:r>
              <a:rPr lang="zh-CN" altLang="en-US" sz="2400" dirty="0"/>
              <a:t>如图</a:t>
            </a:r>
            <a:r>
              <a:rPr lang="en-US" altLang="zh-CN" sz="2400" dirty="0"/>
              <a:t>12</a:t>
            </a:r>
            <a:r>
              <a:rPr lang="zh-CN" altLang="en-US" sz="2400" dirty="0"/>
              <a:t>所示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pic>
        <p:nvPicPr>
          <p:cNvPr id="5018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667000"/>
            <a:ext cx="4191000" cy="303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4" name="Rectangle 9"/>
          <p:cNvSpPr>
            <a:spLocks noChangeArrowheads="1"/>
          </p:cNvSpPr>
          <p:nvPr/>
        </p:nvSpPr>
        <p:spPr bwMode="auto">
          <a:xfrm>
            <a:off x="4800600" y="5715000"/>
            <a:ext cx="726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12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4400" y="3962400"/>
            <a:ext cx="1447800" cy="167763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一个无圈的连通图称为</a:t>
            </a:r>
            <a:r>
              <a:rPr lang="zh-CN" altLang="en-US" sz="2400" b="1" dirty="0">
                <a:solidFill>
                  <a:srgbClr val="C00000"/>
                </a:solidFill>
              </a:rPr>
              <a:t>树</a:t>
            </a:r>
            <a:r>
              <a:rPr lang="zh-CN" altLang="en-US" sz="2400" b="1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A7EB67B-3437-46B5-8A9F-4944F9BDA34B}" type="slidenum">
              <a:rPr lang="en-US" altLang="zh-CN"/>
            </a:fld>
            <a:endParaRPr lang="en-US" altLang="zh-CN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141" y="1752600"/>
            <a:ext cx="7206259" cy="16001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G=(V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是一个树，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(G)≥2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中至少有两个悬挂点。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树及其性质</a:t>
            </a:r>
            <a:endParaRPr lang="zh-CN" altLang="en-US"/>
          </a:p>
        </p:txBody>
      </p:sp>
      <p:sp>
        <p:nvSpPr>
          <p:cNvPr id="5120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20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21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21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2000" y="4648200"/>
            <a:ext cx="6553200" cy="168424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p(G)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p(D)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弧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q(G)(q(D))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，分别简记为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次为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的点为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悬挂点。</a:t>
            </a:r>
            <a:endParaRPr lang="zh-CN" altLang="en-US" sz="2400" dirty="0"/>
          </a:p>
        </p:txBody>
      </p:sp>
      <p:sp>
        <p:nvSpPr>
          <p:cNvPr id="3" name="对话气泡: 椭圆形 2"/>
          <p:cNvSpPr/>
          <p:nvPr/>
        </p:nvSpPr>
        <p:spPr>
          <a:xfrm>
            <a:off x="5410200" y="3213154"/>
            <a:ext cx="2514600" cy="1130246"/>
          </a:xfrm>
          <a:prstGeom prst="wedgeEllipseCallout">
            <a:avLst>
              <a:gd name="adj1" fmla="val -127181"/>
              <a:gd name="adj2" fmla="val -63611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2400" b="1" dirty="0">
                <a:solidFill>
                  <a:schemeClr val="tx1"/>
                </a:solidFill>
              </a:rPr>
              <a:t>证明提示：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algn="ctr">
              <a:spcBef>
                <a:spcPts val="600"/>
              </a:spcBef>
            </a:pPr>
            <a:r>
              <a:rPr lang="zh-CN" altLang="en-US" sz="2400" b="1" dirty="0">
                <a:solidFill>
                  <a:schemeClr val="tx1"/>
                </a:solidFill>
              </a:rPr>
              <a:t>找最长的链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A7EB67B-3437-46B5-8A9F-4944F9BDA34B}" type="slidenum">
              <a:rPr lang="en-US" altLang="zh-CN"/>
            </a:fld>
            <a:endParaRPr lang="en-US" altLang="zh-CN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1676399"/>
            <a:ext cx="8135937" cy="4568821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G=(V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是一个树，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(G)≥2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中至少有两个悬挂点。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                              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含边数最多的一条</a:t>
            </a:r>
            <a:r>
              <a:rPr lang="zh-CN" altLang="en-US" sz="20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初等链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p(G)≥2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，并且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是连通的，故链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中至少有一条边，从而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是不同的。现在来证明：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是悬挂点，即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用反证法，如果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)≥2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，则存在边            使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m≠2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。若点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上，那么                          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中的一条初等链，它含的边数比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多一条，这与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是含边数最多的初等链矛盾。若点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上，那么                           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中的一个圈，这与</a:t>
            </a:r>
            <a:r>
              <a:rPr lang="zh-CN" altLang="en-US"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树的定义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矛盾。于是必有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是悬挂点。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同理可证</a:t>
            </a:r>
            <a:r>
              <a:rPr lang="en-US" altLang="zh-CN" sz="20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也是悬挂点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至少有两个悬挂点。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612780"/>
            <a:ext cx="3616325" cy="908045"/>
          </a:xfrm>
        </p:spPr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树及其性质</a:t>
            </a:r>
            <a:endParaRPr lang="zh-CN" altLang="en-US"/>
          </a:p>
        </p:txBody>
      </p:sp>
      <p:sp>
        <p:nvSpPr>
          <p:cNvPr id="5120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1207" name="Object 4"/>
          <p:cNvGraphicFramePr>
            <a:graphicFrameLocks noChangeAspect="1"/>
          </p:cNvGraphicFramePr>
          <p:nvPr/>
        </p:nvGraphicFramePr>
        <p:xfrm>
          <a:off x="2447925" y="2692400"/>
          <a:ext cx="16779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25908000" imgH="5486400" progId="Equation.DSMT4">
                  <p:embed/>
                </p:oleObj>
              </mc:Choice>
              <mc:Fallback>
                <p:oleObj name="Equation" r:id="rId1" imgW="259080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2692400"/>
                        <a:ext cx="16779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1209" name="Object 6"/>
          <p:cNvGraphicFramePr>
            <a:graphicFrameLocks noChangeAspect="1"/>
          </p:cNvGraphicFramePr>
          <p:nvPr/>
        </p:nvGraphicFramePr>
        <p:xfrm>
          <a:off x="5451475" y="3937000"/>
          <a:ext cx="7207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457200" imgH="254000" progId="Equation.DSMT4">
                  <p:embed/>
                </p:oleObj>
              </mc:Choice>
              <mc:Fallback>
                <p:oleObj name="" r:id="rId3" imgW="4572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1475" y="3937000"/>
                        <a:ext cx="7207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1211" name="Object 8"/>
          <p:cNvGraphicFramePr>
            <a:graphicFrameLocks noChangeAspect="1"/>
          </p:cNvGraphicFramePr>
          <p:nvPr/>
        </p:nvGraphicFramePr>
        <p:xfrm>
          <a:off x="2678113" y="4313237"/>
          <a:ext cx="1512887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016000" imgH="228600" progId="Equation.DSMT4">
                  <p:embed/>
                </p:oleObj>
              </mc:Choice>
              <mc:Fallback>
                <p:oleObj name="" r:id="rId5" imgW="10160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4313237"/>
                        <a:ext cx="1512887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1213" name="Object 10"/>
          <p:cNvGraphicFramePr>
            <a:graphicFrameLocks noChangeAspect="1"/>
          </p:cNvGraphicFramePr>
          <p:nvPr/>
        </p:nvGraphicFramePr>
        <p:xfrm>
          <a:off x="1920875" y="5045075"/>
          <a:ext cx="15843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990600" imgH="228600" progId="Equation.DSMT4">
                  <p:embed/>
                </p:oleObj>
              </mc:Choice>
              <mc:Fallback>
                <p:oleObj name="" r:id="rId7" imgW="9906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5045075"/>
                        <a:ext cx="158432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5222875" y="684710"/>
            <a:ext cx="3616325" cy="76944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200" dirty="0"/>
              <a:t>若链中，点都是不同的，则称之为</a:t>
            </a:r>
            <a:r>
              <a:rPr lang="zh-CN" altLang="en-US" sz="2200" b="1" dirty="0">
                <a:solidFill>
                  <a:srgbClr val="C00000"/>
                </a:solidFill>
              </a:rPr>
              <a:t>初等链</a:t>
            </a:r>
            <a:endParaRPr lang="en-US" altLang="zh-CN" sz="2200" b="1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33009" y="5988624"/>
            <a:ext cx="2833255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800" b="1" dirty="0"/>
              <a:t>一个无圈的连通图称为</a:t>
            </a:r>
            <a:r>
              <a:rPr lang="zh-CN" altLang="en-US" sz="1800" b="1" dirty="0">
                <a:solidFill>
                  <a:srgbClr val="FF0000"/>
                </a:solidFill>
              </a:rPr>
              <a:t>树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清华大学出版社</a:t>
            </a:r>
            <a:endParaRPr lang="en-US" altLang="zh-CN"/>
          </a:p>
        </p:txBody>
      </p:sp>
      <p:sp>
        <p:nvSpPr>
          <p:cNvPr id="5222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738E65-33BC-4C4F-A77F-50E905E23A1B}" type="slidenum">
              <a:rPr lang="en-US" altLang="zh-CN"/>
            </a:fld>
            <a:endParaRPr lang="en-US" altLang="zh-CN"/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树及其性质</a:t>
            </a:r>
            <a:endParaRPr lang="zh-CN" altLang="en-US"/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3867" y="1738274"/>
            <a:ext cx="8301533" cy="928726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是一个树的充分必要条件是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不含圈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，且恰有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条边。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09601" y="2913857"/>
            <a:ext cx="8001000" cy="103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是一个树的充分必要条件是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是连通图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，并且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(G)=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 − 1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6800" y="5499154"/>
            <a:ext cx="6553200" cy="113024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p(G)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p(D)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弧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q(G)(q(D))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，分别简记为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10211" y="3990975"/>
            <a:ext cx="7924189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</a:rPr>
              <a:t>定理</a:t>
            </a:r>
            <a:r>
              <a:rPr lang="en-US" altLang="zh-CN" sz="2400" b="1" kern="0" dirty="0">
                <a:solidFill>
                  <a:srgbClr val="FF0000"/>
                </a:solidFill>
              </a:rPr>
              <a:t>6</a:t>
            </a:r>
            <a:r>
              <a:rPr lang="en-US" altLang="zh-CN" sz="2400" kern="0" dirty="0"/>
              <a:t>   </a:t>
            </a:r>
            <a:r>
              <a:rPr lang="zh-CN" altLang="en-US" sz="2400" kern="0" dirty="0"/>
              <a:t>图</a:t>
            </a:r>
            <a:r>
              <a:rPr lang="en-US" altLang="zh-CN" sz="2400" kern="0" dirty="0"/>
              <a:t>G</a:t>
            </a:r>
            <a:r>
              <a:rPr lang="zh-CN" altLang="en-US" sz="2400" kern="0" dirty="0"/>
              <a:t>是树的充分必要条件是任意两个顶点之间恰有一条链。</a:t>
            </a:r>
            <a:endParaRPr lang="zh-CN" altLang="en-US" sz="2400" b="1" kern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4A0D3F-03EA-4302-A6B4-1263F24548DB}" type="slidenum">
              <a:rPr lang="en-US" altLang="zh-CN"/>
            </a:fld>
            <a:endParaRPr lang="en-US" altLang="zh-CN"/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树及其性质</a:t>
            </a:r>
            <a:endParaRPr lang="zh-CN" altLang="en-US"/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4806" y="1890713"/>
            <a:ext cx="8030870" cy="23764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由定理</a:t>
            </a:r>
            <a:r>
              <a:rPr lang="en-US" altLang="zh-CN" sz="2400" dirty="0"/>
              <a:t>6</a:t>
            </a:r>
            <a:r>
              <a:rPr lang="zh-CN" altLang="en-US" sz="2400" dirty="0"/>
              <a:t>，很容易推出如下结论：</a:t>
            </a:r>
            <a:endParaRPr lang="zh-CN" altLang="en-US" sz="2400" dirty="0"/>
          </a:p>
          <a:p>
            <a:pPr lvl="1">
              <a:lnSpc>
                <a:spcPct val="150000"/>
              </a:lnSpc>
            </a:pPr>
            <a:r>
              <a:rPr lang="en-US" altLang="zh-CN" sz="2200" dirty="0"/>
              <a:t>(1) </a:t>
            </a:r>
            <a:r>
              <a:rPr lang="zh-CN" altLang="en-US" sz="2200" b="1" u="sng" dirty="0">
                <a:solidFill>
                  <a:srgbClr val="0070C0"/>
                </a:solidFill>
              </a:rPr>
              <a:t>从一个树中去掉任意一条边，则余下的图是不连通的</a:t>
            </a:r>
            <a:r>
              <a:rPr lang="zh-CN" altLang="en-US" sz="2200" dirty="0"/>
              <a:t>。由此可知，</a:t>
            </a:r>
            <a:r>
              <a:rPr lang="zh-CN" altLang="en-US" sz="2200" b="1" dirty="0">
                <a:solidFill>
                  <a:srgbClr val="0070C0"/>
                </a:solidFill>
              </a:rPr>
              <a:t>在点集合相同的所有图中，树是含边数最少的连通图</a:t>
            </a:r>
            <a:r>
              <a:rPr lang="zh-CN" altLang="en-US" sz="2200" dirty="0"/>
              <a:t>。 所以</a:t>
            </a:r>
            <a:r>
              <a:rPr lang="en-US" altLang="zh-CN" sz="2200" dirty="0"/>
              <a:t>,</a:t>
            </a:r>
            <a:r>
              <a:rPr lang="zh-CN" altLang="en-US" sz="2200" dirty="0"/>
              <a:t>例</a:t>
            </a:r>
            <a:r>
              <a:rPr lang="en-US" altLang="zh-CN" sz="2200" dirty="0"/>
              <a:t>4</a:t>
            </a:r>
            <a:r>
              <a:rPr lang="zh-CN" altLang="en-US" sz="2200" dirty="0"/>
              <a:t>中所要求的电话线网就是以这五个城市为点的一个树。</a:t>
            </a:r>
            <a:endParaRPr lang="zh-CN" altLang="en-US" sz="2200" dirty="0"/>
          </a:p>
        </p:txBody>
      </p:sp>
      <p:sp>
        <p:nvSpPr>
          <p:cNvPr id="8" name="文本框 7"/>
          <p:cNvSpPr txBox="1"/>
          <p:nvPr/>
        </p:nvSpPr>
        <p:spPr>
          <a:xfrm>
            <a:off x="1937395" y="5360194"/>
            <a:ext cx="2447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1800" b="1" dirty="0"/>
              <a:t>例</a:t>
            </a:r>
            <a:r>
              <a:rPr lang="en-US" altLang="zh-CN" sz="1800" b="1" dirty="0"/>
              <a:t>4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dirty="0"/>
              <a:t>图</a:t>
            </a:r>
            <a:r>
              <a:rPr lang="en-US" altLang="zh-CN" sz="1800" dirty="0"/>
              <a:t>11 </a:t>
            </a:r>
            <a:r>
              <a:rPr lang="zh-CN" altLang="en-US" sz="1800" dirty="0"/>
              <a:t>电话线网示意图</a:t>
            </a:r>
            <a:endParaRPr lang="en-US" altLang="zh-CN" sz="1800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-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137" y="4456258"/>
            <a:ext cx="2578468" cy="166452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67600" y="6245225"/>
            <a:ext cx="10668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4A0D3F-03EA-4302-A6B4-1263F24548DB}" type="slidenum">
              <a:rPr lang="en-US" altLang="zh-CN"/>
            </a:fld>
            <a:endParaRPr lang="en-US" altLang="zh-CN" dirty="0"/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3997325" cy="1216025"/>
          </a:xfrm>
        </p:spPr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树及其性质</a:t>
            </a:r>
            <a:endParaRPr lang="zh-CN" altLang="en-US" dirty="0"/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4785" y="1600200"/>
            <a:ext cx="8198215" cy="195638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由定理</a:t>
            </a:r>
            <a:r>
              <a:rPr lang="en-US" altLang="zh-CN" sz="2400" dirty="0"/>
              <a:t>6</a:t>
            </a:r>
            <a:r>
              <a:rPr lang="zh-CN" altLang="en-US" sz="2400" dirty="0"/>
              <a:t>，很容易推出如下结论：</a:t>
            </a:r>
            <a:endParaRPr lang="zh-CN" altLang="en-US" sz="2400" dirty="0"/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en-US" altLang="zh-CN" sz="2200" dirty="0"/>
              <a:t>(2) </a:t>
            </a:r>
            <a:r>
              <a:rPr lang="zh-CN" altLang="en-US" sz="2200" dirty="0"/>
              <a:t>在树中不相邻的两个点间添上一条边，则</a:t>
            </a:r>
            <a:r>
              <a:rPr lang="zh-CN" altLang="en-US" sz="2200" b="1" u="sng" dirty="0">
                <a:solidFill>
                  <a:srgbClr val="0070C0"/>
                </a:solidFill>
              </a:rPr>
              <a:t>恰好得到一个圈</a:t>
            </a:r>
            <a:r>
              <a:rPr lang="zh-CN" altLang="en-US" sz="2200" dirty="0"/>
              <a:t>。进一步地说，如果再</a:t>
            </a:r>
            <a:r>
              <a:rPr lang="zh-CN" altLang="en-US" sz="2200" b="1" u="sng" dirty="0">
                <a:solidFill>
                  <a:srgbClr val="0070C0"/>
                </a:solidFill>
              </a:rPr>
              <a:t>从这个圈上任意去掉一条边，可以得到一个树</a:t>
            </a:r>
            <a:r>
              <a:rPr lang="zh-CN" altLang="en-US" sz="2200" dirty="0"/>
              <a:t>。</a:t>
            </a:r>
            <a:endParaRPr lang="zh-CN" altLang="en-US" sz="2200" dirty="0"/>
          </a:p>
        </p:txBody>
      </p:sp>
      <p:pic>
        <p:nvPicPr>
          <p:cNvPr id="55305" name="Picture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37" y="4495800"/>
            <a:ext cx="2290763" cy="168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5791201" y="61722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13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-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932" y="4519434"/>
            <a:ext cx="2578468" cy="166452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558800" y="3581400"/>
            <a:ext cx="8051800" cy="838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zh-CN" altLang="en-US" sz="2000" kern="0" dirty="0"/>
              <a:t>如图</a:t>
            </a:r>
            <a:r>
              <a:rPr lang="en-US" altLang="zh-CN" sz="2000" kern="0" dirty="0"/>
              <a:t>11</a:t>
            </a:r>
            <a:r>
              <a:rPr lang="zh-CN" altLang="en-US" sz="2000" kern="0" dirty="0"/>
              <a:t>中，添加      ，就得到一个圈           ，</a:t>
            </a:r>
            <a:endParaRPr lang="en-US" altLang="zh-CN" sz="2000" kern="0" dirty="0"/>
          </a:p>
          <a:p>
            <a:pPr lvl="1"/>
            <a:r>
              <a:rPr lang="zh-CN" altLang="en-US" sz="2000" kern="0" dirty="0"/>
              <a:t>如果从这个圈中去掉一条边      ，就得到如图</a:t>
            </a:r>
            <a:r>
              <a:rPr lang="en-US" altLang="zh-CN" sz="2000" kern="0" dirty="0"/>
              <a:t>13</a:t>
            </a:r>
            <a:r>
              <a:rPr lang="zh-CN" altLang="en-US" sz="2000" kern="0" dirty="0"/>
              <a:t>所示的树</a:t>
            </a:r>
            <a:r>
              <a:rPr lang="zh-CN" altLang="en-US" sz="2200" kern="0" dirty="0"/>
              <a:t>。</a:t>
            </a:r>
            <a:endParaRPr lang="zh-CN" altLang="en-US" sz="2200" kern="0" dirty="0"/>
          </a:p>
        </p:txBody>
      </p:sp>
      <p:graphicFrame>
        <p:nvGraphicFramePr>
          <p:cNvPr id="17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429000" y="3657600"/>
          <a:ext cx="5762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3" imgW="431800" imgH="228600" progId="Equation.DSMT4">
                  <p:embed/>
                </p:oleObj>
              </mc:Choice>
              <mc:Fallback>
                <p:oleObj name="" r:id="rId3" imgW="4318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657600"/>
                        <a:ext cx="57626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715000" y="3656568"/>
          <a:ext cx="100965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5" imgW="787400" imgH="228600" progId="Equation.DSMT4">
                  <p:embed/>
                </p:oleObj>
              </mc:Choice>
              <mc:Fallback>
                <p:oleObj name="" r:id="rId5" imgW="7874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656568"/>
                        <a:ext cx="100965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/>
          <p:cNvGraphicFramePr>
            <a:graphicFrameLocks noChangeAspect="1"/>
          </p:cNvGraphicFramePr>
          <p:nvPr/>
        </p:nvGraphicFramePr>
        <p:xfrm>
          <a:off x="4648200" y="4048710"/>
          <a:ext cx="50323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7" imgW="419100" imgH="228600" progId="Equation.DSMT4">
                  <p:embed/>
                </p:oleObj>
              </mc:Choice>
              <mc:Fallback>
                <p:oleObj name="" r:id="rId7" imgW="4191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048710"/>
                        <a:ext cx="503237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2553221" y="6183962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11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5F06327-072F-40C7-A42A-A2F289D03D35}" type="slidenum">
              <a:rPr lang="en-US" altLang="zh-CN"/>
            </a:fld>
            <a:endParaRPr lang="en-US" altLang="zh-CN"/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图的支撑树</a:t>
            </a:r>
            <a:endParaRPr lang="zh-CN" altLang="en-US"/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27200"/>
            <a:ext cx="8064500" cy="1625600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定义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en-US" altLang="zh-CN" sz="2400" b="1" dirty="0"/>
              <a:t> </a:t>
            </a:r>
            <a:r>
              <a:rPr lang="en-US" altLang="zh-CN" sz="2400" dirty="0"/>
              <a:t> </a:t>
            </a:r>
            <a:r>
              <a:rPr lang="zh-CN" altLang="en-US" sz="2400" dirty="0"/>
              <a:t>设图</a:t>
            </a:r>
            <a:r>
              <a:rPr lang="en-US" altLang="zh-CN" sz="2400" dirty="0"/>
              <a:t>T=(V</a:t>
            </a:r>
            <a:r>
              <a:rPr lang="zh-CN" altLang="en-US" sz="2400" dirty="0"/>
              <a:t>，</a:t>
            </a:r>
            <a:r>
              <a:rPr lang="en-US" altLang="zh-CN" sz="2400" dirty="0"/>
              <a:t>E′)</a:t>
            </a:r>
            <a:r>
              <a:rPr lang="zh-CN" altLang="en-US" sz="2400" dirty="0"/>
              <a:t>是图</a:t>
            </a:r>
            <a:r>
              <a:rPr lang="en-US" altLang="zh-CN" sz="2400" dirty="0"/>
              <a:t>G=(V</a:t>
            </a:r>
            <a:r>
              <a:rPr lang="zh-CN" altLang="en-US" sz="2400" dirty="0"/>
              <a:t>，</a:t>
            </a:r>
            <a:r>
              <a:rPr lang="en-US" altLang="zh-CN" sz="2400" dirty="0"/>
              <a:t>E)</a:t>
            </a:r>
            <a:r>
              <a:rPr lang="zh-CN" altLang="en-US" sz="2400" dirty="0"/>
              <a:t>的支撑子图，如果图</a:t>
            </a:r>
            <a:r>
              <a:rPr lang="en-US" altLang="zh-CN" sz="2400" dirty="0"/>
              <a:t>T=(V</a:t>
            </a:r>
            <a:r>
              <a:rPr lang="zh-CN" altLang="en-US" sz="2400" dirty="0"/>
              <a:t>，</a:t>
            </a:r>
            <a:r>
              <a:rPr lang="en-US" altLang="zh-CN" sz="2400" dirty="0"/>
              <a:t>E′)</a:t>
            </a:r>
            <a:r>
              <a:rPr lang="zh-CN" altLang="en-US" sz="2400" dirty="0"/>
              <a:t>是一个树，则称</a:t>
            </a:r>
            <a:r>
              <a:rPr lang="en-US" altLang="zh-CN" sz="2400" dirty="0"/>
              <a:t>T</a:t>
            </a:r>
            <a:r>
              <a:rPr lang="zh-CN" altLang="en-US" sz="2400" dirty="0"/>
              <a:t>是</a:t>
            </a:r>
            <a:r>
              <a:rPr lang="en-US" altLang="zh-CN" sz="2400" dirty="0"/>
              <a:t>G</a:t>
            </a:r>
            <a:r>
              <a:rPr lang="zh-CN" altLang="en-US" sz="2400" dirty="0"/>
              <a:t>的一个</a:t>
            </a:r>
            <a:r>
              <a:rPr lang="zh-CN" altLang="en-US" sz="2400" dirty="0">
                <a:solidFill>
                  <a:srgbClr val="FF0000"/>
                </a:solidFill>
              </a:rPr>
              <a:t>支撑树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      </a:t>
            </a:r>
            <a:endParaRPr lang="zh-CN" altLang="en-US" sz="2400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 dirty="0"/>
              <a:t>图</a:t>
            </a:r>
            <a:r>
              <a:rPr lang="en-US" altLang="zh-CN" sz="2000" dirty="0"/>
              <a:t>14(b)</a:t>
            </a:r>
            <a:r>
              <a:rPr lang="zh-CN" altLang="en-US" sz="2000" dirty="0"/>
              <a:t>是图</a:t>
            </a:r>
            <a:r>
              <a:rPr lang="en-US" altLang="zh-CN" sz="2000" dirty="0"/>
              <a:t>14(a)</a:t>
            </a:r>
            <a:r>
              <a:rPr lang="zh-CN" altLang="en-US" sz="2000" dirty="0"/>
              <a:t>所示图的一个</a:t>
            </a:r>
            <a:r>
              <a:rPr lang="zh-CN" altLang="en-US" sz="2000" b="1" dirty="0"/>
              <a:t>支撑树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pic>
        <p:nvPicPr>
          <p:cNvPr id="5632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562290"/>
            <a:ext cx="6696075" cy="219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7" name="Text Box 5"/>
          <p:cNvSpPr txBox="1">
            <a:spLocks noChangeArrowheads="1"/>
          </p:cNvSpPr>
          <p:nvPr/>
        </p:nvSpPr>
        <p:spPr bwMode="auto">
          <a:xfrm>
            <a:off x="4190999" y="5791200"/>
            <a:ext cx="8382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14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213618A-7067-4DFB-8E82-265013AA3931}" type="slidenum">
              <a:rPr lang="en-US" altLang="zh-CN"/>
            </a:fld>
            <a:endParaRPr lang="en-US" altLang="zh-CN"/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图的支撑树</a:t>
            </a:r>
            <a:endParaRPr lang="zh-CN" altLang="en-US"/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0713" y="1776413"/>
            <a:ext cx="7837487" cy="18811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T=(V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E′)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G=(V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的一个支撑树，则显然，树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中边的个数是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 − 1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中不属于树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的边数是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 −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(G)+1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FBDEC2-162A-4CF5-879E-41ABEE20E62E}" type="slidenum">
              <a:rPr lang="en-US" altLang="zh-CN"/>
            </a:fld>
            <a:endParaRPr lang="en-US" altLang="zh-CN"/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图的支撑树</a:t>
            </a:r>
            <a:endParaRPr lang="zh-CN" altLang="en-US"/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1" y="4343400"/>
            <a:ext cx="8135938" cy="72866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有支撑树的充分必要条件是图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是连通的。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5801" y="1871662"/>
            <a:ext cx="54864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对于给定的图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，其支撑树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是否存在？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如何构造？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 animBg="1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FBDEC2-162A-4CF5-879E-41ABEE20E62E}" type="slidenum">
              <a:rPr lang="en-US" altLang="zh-CN"/>
            </a:fld>
            <a:endParaRPr lang="en-US" altLang="zh-CN"/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图的支撑树</a:t>
            </a:r>
            <a:endParaRPr lang="zh-CN" altLang="en-US"/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29600" cy="4724400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有支撑树的充分必要条件是图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是连通的。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3850" lvl="1" indent="436880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必要性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是显然的。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（若图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有支撑树，则图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是连通的）</a:t>
            </a:r>
            <a:endParaRPr lang="zh-CN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3850" lvl="1" indent="436880">
              <a:lnSpc>
                <a:spcPct val="125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充分性。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（若图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是连通的，则图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有支撑树）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是连通图，如果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不含圈，那么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本身是一个树，从而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是它自身的一个支撑树。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含圈，任取一个圈，从圈中任意地去掉一条边，得到图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的一个支撑子图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不含圈，那么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的一个支撑树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因为易见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是连通的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仍含圈，那么从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中任取一个圈，从圈中再任意去掉一条边，得到图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的一个支撑子图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如此重复，最终可以得到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的一个支撑子图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，它不含圈，于是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的一个支撑树。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FBDEC2-162A-4CF5-879E-41ABEE20E62E}" type="slidenum">
              <a:rPr lang="en-US" altLang="zh-CN"/>
            </a:fld>
            <a:endParaRPr lang="en-US" altLang="zh-CN"/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图的支撑树 </a:t>
            </a:r>
            <a:r>
              <a:rPr lang="en-US" altLang="zh-CN" dirty="0"/>
              <a:t>-- </a:t>
            </a:r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破圈法</a:t>
            </a:r>
            <a:endParaRPr lang="zh-CN" altLang="en-US" dirty="0"/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1"/>
            <a:ext cx="8094269" cy="2819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充分性的证明，提供了一个寻求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连通图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支撑树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的方法。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这就是任取一个圈，从圈中去掉一边，对余下的图重复这个步骤，直到不含圈时为止，即得到一个支撑树，称这种方法为“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破圈法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496EDBB-D7D8-4FD0-A6C2-6A6277D3AAFA}" type="slidenum">
              <a:rPr lang="en-US" altLang="zh-CN"/>
            </a:fld>
            <a:endParaRPr lang="en-US" altLang="zh-CN"/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5292725" cy="1216025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图的支撑树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sz="2800" dirty="0"/>
              <a:t>例</a:t>
            </a:r>
            <a:r>
              <a:rPr lang="en-US" altLang="zh-CN" sz="2800" dirty="0"/>
              <a:t>6</a:t>
            </a:r>
            <a:endParaRPr lang="zh-CN" altLang="en-US" sz="2800" dirty="0"/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00214"/>
            <a:ext cx="7661275" cy="585786"/>
          </a:xfrm>
        </p:spPr>
        <p:txBody>
          <a:bodyPr/>
          <a:lstStyle/>
          <a:p>
            <a:r>
              <a:rPr lang="zh-CN" altLang="en-US" sz="2400" b="1" dirty="0"/>
              <a:t>例</a:t>
            </a:r>
            <a:r>
              <a:rPr lang="en-US" altLang="zh-CN" sz="2400" b="1" dirty="0"/>
              <a:t>6  </a:t>
            </a:r>
            <a:r>
              <a:rPr lang="zh-CN" altLang="en-US" sz="2400" dirty="0"/>
              <a:t>在图</a:t>
            </a:r>
            <a:r>
              <a:rPr lang="en-US" altLang="zh-CN" sz="2400" dirty="0"/>
              <a:t>15</a:t>
            </a:r>
            <a:r>
              <a:rPr lang="zh-CN" altLang="en-US" sz="2400" dirty="0"/>
              <a:t>中，用</a:t>
            </a:r>
            <a:r>
              <a:rPr lang="zh-CN" altLang="en-US" sz="2400" b="1" dirty="0">
                <a:solidFill>
                  <a:srgbClr val="C00000"/>
                </a:solidFill>
              </a:rPr>
              <a:t>破圈法</a:t>
            </a:r>
            <a:r>
              <a:rPr lang="zh-CN" altLang="en-US" sz="2400" dirty="0"/>
              <a:t>求出图的一个支撑树。</a:t>
            </a:r>
            <a:endParaRPr lang="zh-CN" altLang="en-US" sz="2400" b="1" dirty="0"/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00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0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04" name="Rectangle 11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06" name="Rectangle 1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08" name="Rectangle 1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10" name="Rectangle 1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12" name="Rectangle 1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14" name="Rectangle 21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140677" y="2194487"/>
            <a:ext cx="8380412" cy="468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25000"/>
              </a:lnSpc>
            </a:pPr>
            <a:r>
              <a:rPr lang="zh-CN" altLang="en-US" sz="2000" b="1" kern="0" dirty="0"/>
              <a:t>解</a:t>
            </a:r>
            <a:r>
              <a:rPr lang="zh-CN" altLang="en-US" sz="2000" kern="0" dirty="0"/>
              <a:t>  取一个圈            ，从这个圈中去掉边          ；</a:t>
            </a:r>
            <a:endParaRPr lang="zh-CN" altLang="en-US" sz="2000" kern="0" dirty="0"/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2590800" y="2286000"/>
          <a:ext cx="1088336" cy="320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774065" imgH="228600" progId="Equation.DSMT4">
                  <p:embed/>
                </p:oleObj>
              </mc:Choice>
              <mc:Fallback>
                <p:oleObj name="" r:id="rId1" imgW="774065" imgH="2286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86000"/>
                        <a:ext cx="1088336" cy="320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 noChangeAspect="1"/>
          </p:cNvGraphicFramePr>
          <p:nvPr/>
        </p:nvGraphicFramePr>
        <p:xfrm>
          <a:off x="5943600" y="2306930"/>
          <a:ext cx="86360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660400" imgH="228600" progId="Equation.DSMT4">
                  <p:embed/>
                </p:oleObj>
              </mc:Choice>
              <mc:Fallback>
                <p:oleObj name="" r:id="rId3" imgW="660400" imgH="2286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306930"/>
                        <a:ext cx="863600" cy="30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/>
          <p:cNvGraphicFramePr>
            <a:graphicFrameLocks noChangeAspect="1"/>
          </p:cNvGraphicFramePr>
          <p:nvPr/>
        </p:nvGraphicFramePr>
        <p:xfrm>
          <a:off x="1358900" y="2678114"/>
          <a:ext cx="6478587" cy="3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01498400" imgH="5486400" progId="Equation.DSMT4">
                  <p:embed/>
                </p:oleObj>
              </mc:Choice>
              <mc:Fallback>
                <p:oleObj name="Equation" r:id="rId5" imgW="101498400" imgH="5486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2678114"/>
                        <a:ext cx="6478587" cy="3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1287463" y="3509963"/>
          <a:ext cx="47402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73152000" imgH="5486400" progId="Equation.DSMT4">
                  <p:embed/>
                </p:oleObj>
              </mc:Choice>
              <mc:Fallback>
                <p:oleObj name="Equation" r:id="rId7" imgW="731520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3509963"/>
                        <a:ext cx="47402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2"/>
          <p:cNvGraphicFramePr>
            <a:graphicFrameLocks noChangeAspect="1"/>
          </p:cNvGraphicFramePr>
          <p:nvPr/>
        </p:nvGraphicFramePr>
        <p:xfrm>
          <a:off x="1323975" y="3133725"/>
          <a:ext cx="52070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89611200" imgH="5486400" progId="Equation.DSMT4">
                  <p:embed/>
                </p:oleObj>
              </mc:Choice>
              <mc:Fallback>
                <p:oleObj name="Equation" r:id="rId9" imgW="89611200" imgH="54864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975" y="3133725"/>
                        <a:ext cx="52070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86200"/>
            <a:ext cx="3529012" cy="223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3631205" y="5715139"/>
            <a:ext cx="76279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15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181600" y="4191000"/>
            <a:ext cx="762000" cy="8382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257800" y="5108576"/>
            <a:ext cx="914400" cy="72866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6172200" y="5004593"/>
            <a:ext cx="533400" cy="832644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6717506" y="4739030"/>
            <a:ext cx="1283494" cy="23205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221362" y="3955909"/>
            <a:ext cx="3274437" cy="175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436880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en-US" sz="2000" kern="0" dirty="0"/>
              <a:t>这时，剩余的图中不含圈，于是得到一个支撑树，如图</a:t>
            </a:r>
            <a:r>
              <a:rPr lang="en-US" altLang="zh-CN" sz="2000" kern="0" dirty="0"/>
              <a:t>15</a:t>
            </a:r>
            <a:r>
              <a:rPr lang="zh-CN" altLang="en-US" sz="2000" kern="0" dirty="0"/>
              <a:t>中粗线所示。</a:t>
            </a:r>
            <a:endParaRPr lang="zh-CN" altLang="en-US" sz="20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1" grpId="0"/>
      <p:bldP spid="11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492125" y="4067175"/>
            <a:ext cx="8042275" cy="2105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一般，设已有                  ，找一条与                      中的任何一些边不构成圈的边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重复这个过程，直到不能进行为止。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这时，由所有取出的边所构成的图是一个支撑树，称这种方法为</a:t>
            </a:r>
            <a:r>
              <a:rPr lang="zh-CN" alt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避圈法</a:t>
            </a:r>
            <a:r>
              <a:rPr lang="zh-CN" alt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496EDBB-D7D8-4FD0-A6C2-6A6277D3AAFA}" type="slidenum">
              <a:rPr lang="en-US" altLang="zh-CN"/>
            </a:fld>
            <a:endParaRPr lang="en-US" altLang="zh-CN"/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图的支撑树 </a:t>
            </a:r>
            <a:r>
              <a:rPr lang="en-US" altLang="zh-CN" dirty="0"/>
              <a:t>--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避圈法</a:t>
            </a:r>
            <a:endParaRPr lang="zh-CN" altLang="en-US" dirty="0"/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399" y="1700213"/>
            <a:ext cx="7467601" cy="2262187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b="1" dirty="0"/>
              <a:t>也可以用另一种方法来寻求连通图的支撑树。</a:t>
            </a:r>
            <a:endParaRPr lang="en-US" altLang="zh-CN" sz="2400" b="1" dirty="0"/>
          </a:p>
          <a:p>
            <a:pPr lvl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在图中任取一条边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，找一条与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不构成圈的边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再找一条与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不构成圈的边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00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0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04" name="Rectangle 11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06" name="Rectangle 1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08" name="Rectangle 1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10" name="Rectangle 1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12" name="Rectangle 1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9413" name="Object 18"/>
          <p:cNvGraphicFramePr>
            <a:graphicFrameLocks noChangeAspect="1"/>
          </p:cNvGraphicFramePr>
          <p:nvPr/>
        </p:nvGraphicFramePr>
        <p:xfrm>
          <a:off x="3033712" y="4160839"/>
          <a:ext cx="1181151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825500" imgH="228600" progId="Equation.DSMT4">
                  <p:embed/>
                </p:oleObj>
              </mc:Choice>
              <mc:Fallback>
                <p:oleObj name="" r:id="rId1" imgW="8255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712" y="4160839"/>
                        <a:ext cx="1181151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4" name="Rectangle 21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9415" name="Object 20"/>
          <p:cNvGraphicFramePr>
            <a:graphicFrameLocks noChangeAspect="1"/>
          </p:cNvGraphicFramePr>
          <p:nvPr/>
        </p:nvGraphicFramePr>
        <p:xfrm>
          <a:off x="5461920" y="4127768"/>
          <a:ext cx="1301435" cy="35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825500" imgH="228600" progId="Equation.DSMT4">
                  <p:embed/>
                </p:oleObj>
              </mc:Choice>
              <mc:Fallback>
                <p:oleObj name="" r:id="rId3" imgW="8255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920" y="4127768"/>
                        <a:ext cx="1301435" cy="35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F907C8-29A4-4D46-88C8-ABA768FA1914}" type="slidenum">
              <a:rPr lang="en-US" altLang="zh-CN"/>
            </a:fld>
            <a:endParaRPr lang="en-US" altLang="zh-CN"/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7500" y="2209800"/>
            <a:ext cx="8064500" cy="2256631"/>
          </a:xfrm>
        </p:spPr>
        <p:txBody>
          <a:bodyPr/>
          <a:lstStyle/>
          <a:p>
            <a:pPr lvl="1">
              <a:lnSpc>
                <a:spcPct val="110000"/>
              </a:lnSpc>
            </a:pPr>
            <a:r>
              <a:rPr lang="zh-CN" altLang="en-US" sz="2000" b="1" dirty="0">
                <a:latin typeface="Times New Roman" panose="02020603050405020304" pitchFamily="18" charset="0"/>
              </a:rPr>
              <a:t>解</a:t>
            </a:r>
            <a:r>
              <a:rPr lang="zh-CN" altLang="en-US" sz="2000" dirty="0">
                <a:latin typeface="Times New Roman" panose="02020603050405020304" pitchFamily="18" charset="0"/>
              </a:rPr>
              <a:t>  首先任取边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，因</a:t>
            </a:r>
            <a:r>
              <a:rPr lang="en-US" altLang="zh-CN" sz="2000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</a:rPr>
              <a:t>与</a:t>
            </a:r>
            <a:r>
              <a:rPr lang="en-US" altLang="zh-CN" sz="2000" dirty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不构成圈，所以可以取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</a:rPr>
              <a:t>，因为</a:t>
            </a:r>
            <a:r>
              <a:rPr lang="en-US" altLang="zh-CN" sz="2000" dirty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endParaRPr lang="en-US" altLang="zh-CN" sz="2000" baseline="-25000" dirty="0">
              <a:latin typeface="Times New Roman" panose="02020603050405020304" pitchFamily="18" charset="0"/>
            </a:endParaRPr>
          </a:p>
          <a:p>
            <a:pPr marL="471170" lvl="1" indent="0">
              <a:lnSpc>
                <a:spcPct val="11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与            不构成圈，故可以取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</a:rPr>
              <a:t>因</a:t>
            </a:r>
            <a:r>
              <a:rPr lang="en-US" altLang="zh-CN" sz="2000" dirty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</a:rPr>
              <a:t>与           构成一个圈                  ，所以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不能取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solidFill>
                  <a:srgbClr val="0070C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</a:rPr>
              <a:t>；因</a:t>
            </a:r>
            <a:r>
              <a:rPr lang="en-US" altLang="zh-CN" sz="2000" dirty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</a:rPr>
              <a:t>与                  不构成圈，故可取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</a:rPr>
              <a:t>；因</a:t>
            </a:r>
            <a:r>
              <a:rPr lang="en-US" altLang="zh-CN" sz="2000" dirty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8</a:t>
            </a:r>
            <a:endParaRPr lang="en-US" altLang="zh-CN" sz="2000" baseline="-25000" dirty="0">
              <a:latin typeface="Times New Roman" panose="02020603050405020304" pitchFamily="18" charset="0"/>
            </a:endParaRPr>
          </a:p>
          <a:p>
            <a:pPr marL="471170" lvl="1" indent="0">
              <a:lnSpc>
                <a:spcPct val="11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与                 不构成圈，故可取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</a:rPr>
              <a:t>注意，因</a:t>
            </a:r>
            <a:r>
              <a:rPr lang="en-US" altLang="zh-CN" sz="2000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7</a:t>
            </a:r>
            <a:r>
              <a:rPr lang="zh-CN" altLang="en-US" sz="2000" dirty="0">
                <a:latin typeface="Times New Roman" panose="02020603050405020304" pitchFamily="18" charset="0"/>
              </a:rPr>
              <a:t>与                     中的</a:t>
            </a:r>
            <a:r>
              <a:rPr lang="en-US" altLang="zh-CN" sz="2000" dirty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</a:rPr>
              <a:t>构成圈                    ，故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不能取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solidFill>
                  <a:srgbClr val="0070C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</a:rPr>
              <a:t>。这时由                      所构成的图就是一个支撑树，如图</a:t>
            </a:r>
            <a:r>
              <a:rPr lang="en-US" altLang="zh-CN" sz="2000" dirty="0">
                <a:latin typeface="Times New Roman" panose="02020603050405020304" pitchFamily="18" charset="0"/>
              </a:rPr>
              <a:t>16</a:t>
            </a:r>
            <a:r>
              <a:rPr lang="zh-CN" altLang="en-US" sz="2000" dirty="0">
                <a:latin typeface="Times New Roman" panose="02020603050405020304" pitchFamily="18" charset="0"/>
              </a:rPr>
              <a:t>中粗线所示。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1447" name="Object 4"/>
          <p:cNvGraphicFramePr>
            <a:graphicFrameLocks noChangeAspect="1"/>
          </p:cNvGraphicFramePr>
          <p:nvPr/>
        </p:nvGraphicFramePr>
        <p:xfrm>
          <a:off x="1255712" y="2627312"/>
          <a:ext cx="71913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469900" imgH="228600" progId="Equation.DSMT4">
                  <p:embed/>
                </p:oleObj>
              </mc:Choice>
              <mc:Fallback>
                <p:oleObj name="" r:id="rId1" imgW="4699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712" y="2627312"/>
                        <a:ext cx="71913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1449" name="Object 6"/>
          <p:cNvGraphicFramePr>
            <a:graphicFrameLocks noChangeAspect="1"/>
          </p:cNvGraphicFramePr>
          <p:nvPr/>
        </p:nvGraphicFramePr>
        <p:xfrm>
          <a:off x="5181600" y="2625724"/>
          <a:ext cx="7207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469900" imgH="228600" progId="Equation.DSMT4">
                  <p:embed/>
                </p:oleObj>
              </mc:Choice>
              <mc:Fallback>
                <p:oleObj name="" r:id="rId3" imgW="4699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625724"/>
                        <a:ext cx="7207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1451" name="Object 8"/>
          <p:cNvGraphicFramePr>
            <a:graphicFrameLocks noChangeAspect="1"/>
          </p:cNvGraphicFramePr>
          <p:nvPr/>
        </p:nvGraphicFramePr>
        <p:xfrm>
          <a:off x="7231061" y="2661442"/>
          <a:ext cx="1008063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774065" imgH="228600" progId="Equation.DSMT4">
                  <p:embed/>
                </p:oleObj>
              </mc:Choice>
              <mc:Fallback>
                <p:oleObj name="" r:id="rId4" imgW="774065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1061" y="2661442"/>
                        <a:ext cx="1008063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1453" name="Object 10"/>
          <p:cNvGraphicFramePr>
            <a:graphicFrameLocks noChangeAspect="1"/>
          </p:cNvGraphicFramePr>
          <p:nvPr/>
        </p:nvGraphicFramePr>
        <p:xfrm>
          <a:off x="3797299" y="2938461"/>
          <a:ext cx="100806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6" imgW="622300" imgH="228600" progId="Equation.DSMT4">
                  <p:embed/>
                </p:oleObj>
              </mc:Choice>
              <mc:Fallback>
                <p:oleObj name="" r:id="rId6" imgW="6223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299" y="2938461"/>
                        <a:ext cx="1008062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1455" name="Object 12"/>
          <p:cNvGraphicFramePr>
            <a:graphicFrameLocks noChangeAspect="1"/>
          </p:cNvGraphicFramePr>
          <p:nvPr/>
        </p:nvGraphicFramePr>
        <p:xfrm>
          <a:off x="1143000" y="3392488"/>
          <a:ext cx="104457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8" imgW="787400" imgH="228600" progId="Equation.DSMT4">
                  <p:embed/>
                </p:oleObj>
              </mc:Choice>
              <mc:Fallback>
                <p:oleObj name="" r:id="rId8" imgW="7874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392488"/>
                        <a:ext cx="104457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6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1457" name="Object 14"/>
          <p:cNvGraphicFramePr>
            <a:graphicFrameLocks noChangeAspect="1"/>
          </p:cNvGraphicFramePr>
          <p:nvPr/>
        </p:nvGraphicFramePr>
        <p:xfrm>
          <a:off x="6151561" y="3352005"/>
          <a:ext cx="10795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0" imgW="787400" imgH="228600" progId="Equation.DSMT4">
                  <p:embed/>
                </p:oleObj>
              </mc:Choice>
              <mc:Fallback>
                <p:oleObj name="" r:id="rId10" imgW="7874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1561" y="3352005"/>
                        <a:ext cx="10795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8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1459" name="Object 16"/>
          <p:cNvGraphicFramePr>
            <a:graphicFrameLocks noChangeAspect="1"/>
          </p:cNvGraphicFramePr>
          <p:nvPr/>
        </p:nvGraphicFramePr>
        <p:xfrm>
          <a:off x="2090738" y="3739356"/>
          <a:ext cx="1008063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2" imgW="800100" imgH="228600" progId="Equation.DSMT4">
                  <p:embed/>
                </p:oleObj>
              </mc:Choice>
              <mc:Fallback>
                <p:oleObj name="" r:id="rId12" imgW="8001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3739356"/>
                        <a:ext cx="1008063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0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1461" name="Object 18"/>
          <p:cNvGraphicFramePr>
            <a:graphicFrameLocks noChangeAspect="1"/>
          </p:cNvGraphicFramePr>
          <p:nvPr/>
        </p:nvGraphicFramePr>
        <p:xfrm>
          <a:off x="5827712" y="3711574"/>
          <a:ext cx="12255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4" imgW="965200" imgH="228600" progId="Equation.DSMT4">
                  <p:embed/>
                </p:oleObj>
              </mc:Choice>
              <mc:Fallback>
                <p:oleObj name="" r:id="rId14" imgW="9652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7712" y="3711574"/>
                        <a:ext cx="12255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717" y="4487863"/>
            <a:ext cx="3959225" cy="223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连接符 8"/>
          <p:cNvCxnSpPr/>
          <p:nvPr/>
        </p:nvCxnSpPr>
        <p:spPr>
          <a:xfrm flipV="1">
            <a:off x="2667000" y="4928392"/>
            <a:ext cx="838200" cy="71040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743200" y="5638800"/>
            <a:ext cx="762000" cy="76200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3581400" y="4928391"/>
            <a:ext cx="1447800" cy="1420817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505200" y="6400800"/>
            <a:ext cx="1524000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029200" y="4928391"/>
            <a:ext cx="798512" cy="710409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6538190" y="5604669"/>
            <a:ext cx="77701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16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587375" y="1688558"/>
            <a:ext cx="6651625" cy="5063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例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7 </a:t>
            </a:r>
            <a:r>
              <a:rPr lang="en-US" altLang="zh-CN" sz="2400" kern="0" dirty="0">
                <a:latin typeface="Times New Roman" panose="02020603050405020304" pitchFamily="18" charset="0"/>
              </a:rPr>
              <a:t> </a:t>
            </a:r>
            <a:r>
              <a:rPr lang="zh-CN" altLang="en-US" sz="2400" kern="0" dirty="0">
                <a:latin typeface="Times New Roman" panose="02020603050405020304" pitchFamily="18" charset="0"/>
              </a:rPr>
              <a:t>在图</a:t>
            </a:r>
            <a:r>
              <a:rPr lang="en-US" altLang="zh-CN" sz="2400" kern="0" dirty="0">
                <a:latin typeface="Times New Roman" panose="02020603050405020304" pitchFamily="18" charset="0"/>
              </a:rPr>
              <a:t>16</a:t>
            </a:r>
            <a:r>
              <a:rPr lang="zh-CN" altLang="en-US" sz="2400" kern="0" dirty="0">
                <a:latin typeface="Times New Roman" panose="02020603050405020304" pitchFamily="18" charset="0"/>
              </a:rPr>
              <a:t>中，用避圈法求出一个支撑树。</a:t>
            </a:r>
            <a:endParaRPr lang="zh-CN" altLang="en-US" sz="2400" b="1" kern="0" dirty="0">
              <a:latin typeface="Times New Roman" panose="02020603050405020304" pitchFamily="18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6892925" cy="758825"/>
          </a:xfrm>
        </p:spPr>
        <p:txBody>
          <a:bodyPr/>
          <a:lstStyle/>
          <a:p>
            <a:r>
              <a:rPr lang="en-US" altLang="zh-CN" sz="3600" dirty="0"/>
              <a:t>2.2 </a:t>
            </a:r>
            <a:r>
              <a:rPr lang="zh-CN" altLang="en-US" sz="3600" dirty="0"/>
              <a:t>图的支撑树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800" kern="0" dirty="0">
                <a:latin typeface="Times New Roman" panose="02020603050405020304" pitchFamily="18" charset="0"/>
              </a:rPr>
              <a:t>避圈法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F907C8-29A4-4D46-88C8-ABA768FA1914}" type="slidenum">
              <a:rPr lang="en-US" altLang="zh-CN"/>
            </a:fld>
            <a:endParaRPr lang="en-US" altLang="zh-CN"/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4835525" cy="1216025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图的支撑树</a:t>
            </a:r>
            <a:endParaRPr lang="zh-CN" altLang="en-US" dirty="0"/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4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5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5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5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56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58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60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2938" y="1752600"/>
            <a:ext cx="7891462" cy="21335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kern="0" dirty="0">
                <a:latin typeface="Times New Roman" panose="02020603050405020304" pitchFamily="18" charset="0"/>
              </a:rPr>
              <a:t>在实际上，由定理</a:t>
            </a:r>
            <a:r>
              <a:rPr lang="en-US" altLang="zh-CN" sz="2800" kern="0" dirty="0">
                <a:latin typeface="Times New Roman" panose="02020603050405020304" pitchFamily="18" charset="0"/>
              </a:rPr>
              <a:t>4</a:t>
            </a:r>
            <a:r>
              <a:rPr lang="zh-CN" altLang="en-US" sz="2800" kern="0" dirty="0">
                <a:latin typeface="Times New Roman" panose="02020603050405020304" pitchFamily="18" charset="0"/>
              </a:rPr>
              <a:t>，</a:t>
            </a:r>
            <a:r>
              <a:rPr lang="en-US" altLang="zh-CN" sz="2800" kern="0" dirty="0">
                <a:latin typeface="Times New Roman" panose="02020603050405020304" pitchFamily="18" charset="0"/>
              </a:rPr>
              <a:t>5</a:t>
            </a:r>
            <a:r>
              <a:rPr lang="zh-CN" altLang="en-US" sz="2800" kern="0" dirty="0">
                <a:latin typeface="Times New Roman" panose="02020603050405020304" pitchFamily="18" charset="0"/>
              </a:rPr>
              <a:t>可知，</a:t>
            </a:r>
            <a:endParaRPr lang="en-US" altLang="zh-CN" sz="2800" kern="0" dirty="0">
              <a:latin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kern="0" dirty="0">
                <a:latin typeface="Times New Roman" panose="02020603050405020304" pitchFamily="18" charset="0"/>
              </a:rPr>
              <a:t>在“破圈法”中去掉的边数必是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q(G) − p(G)+1</a:t>
            </a:r>
            <a:r>
              <a:rPr lang="zh-CN" altLang="en-US" sz="2400" kern="0" dirty="0">
                <a:latin typeface="Times New Roman" panose="02020603050405020304" pitchFamily="18" charset="0"/>
              </a:rPr>
              <a:t>条，</a:t>
            </a:r>
            <a:endParaRPr lang="en-US" altLang="zh-CN" sz="2400" kern="0" dirty="0">
              <a:latin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kern="0" dirty="0">
                <a:latin typeface="Times New Roman" panose="02020603050405020304" pitchFamily="18" charset="0"/>
              </a:rPr>
              <a:t>在“避圈法”中取出的边数必定是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p(G) − 1</a:t>
            </a:r>
            <a:r>
              <a:rPr lang="zh-CN" altLang="en-US" sz="2400" kern="0" dirty="0">
                <a:latin typeface="Times New Roman" panose="02020603050405020304" pitchFamily="18" charset="0"/>
              </a:rPr>
              <a:t>条。</a:t>
            </a:r>
            <a:endParaRPr lang="zh-CN" altLang="en-US" sz="2400" kern="0" dirty="0">
              <a:latin typeface="Times New Roman" panose="02020603050405020304" pitchFamily="18" charset="0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613867" y="4481474"/>
            <a:ext cx="8301533" cy="928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是一个树的充分必要条件是</a:t>
            </a:r>
            <a:r>
              <a:rPr lang="en-US" altLang="zh-CN" sz="2400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不含圈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，且恰有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条边。</a:t>
            </a:r>
            <a:endParaRPr lang="zh-CN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609601" y="5410200"/>
            <a:ext cx="8001000" cy="10302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是一个树的充分必要条件是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是连通图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，并且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(G)=</a:t>
            </a: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 − 1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6073A18-5A96-483A-A36C-A63A4395940E}" type="slidenum">
              <a:rPr lang="en-US" altLang="zh-CN"/>
            </a:fld>
            <a:endParaRPr lang="en-US" altLang="zh-CN"/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最小支撑树问题 </a:t>
            </a:r>
            <a:r>
              <a:rPr lang="en-US" altLang="zh-CN" dirty="0"/>
              <a:t>-- 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赋权图</a:t>
            </a:r>
            <a:endParaRPr lang="zh-CN" altLang="en-US" dirty="0"/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4525" y="1679232"/>
            <a:ext cx="7661275" cy="4478338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G=(V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中的每一条边            ，相应地有一个数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，则称这样的图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赋权图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称为边           上的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4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这里所说的“权”，是指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与边有关的数量指标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。根据实际问题的需要，可以赋予它不同的含义，如表示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距离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费用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等。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4000"/>
              </a:lnSpc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赋权图在图的理论及其应用方面有重要的地位。</a:t>
            </a:r>
            <a:r>
              <a:rPr lang="zh-CN" altLang="en-US" sz="2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赋权图不仅指出了各点之间的邻接关系，而且同时也表示了各点之间的数量关系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。所以，赋权图被广泛应用于工程技术及科学生产管理等领域的最优化问题。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最小支撑树问题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赋权图上的最优化问题之一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7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2471" name="Object 4"/>
          <p:cNvGraphicFramePr>
            <a:graphicFrameLocks noChangeAspect="1"/>
          </p:cNvGraphicFramePr>
          <p:nvPr/>
        </p:nvGraphicFramePr>
        <p:xfrm>
          <a:off x="6692900" y="1679232"/>
          <a:ext cx="9366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19100" imgH="241300" progId="Equation.DSMT4">
                  <p:embed/>
                </p:oleObj>
              </mc:Choice>
              <mc:Fallback>
                <p:oleObj name="" r:id="rId1" imgW="4191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0" y="1679232"/>
                        <a:ext cx="9366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2473" name="Object 6"/>
          <p:cNvGraphicFramePr>
            <a:graphicFrameLocks noChangeAspect="1"/>
          </p:cNvGraphicFramePr>
          <p:nvPr/>
        </p:nvGraphicFramePr>
        <p:xfrm>
          <a:off x="1828800" y="2539595"/>
          <a:ext cx="8636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419100" imgH="241300" progId="Equation.DSMT4">
                  <p:embed/>
                </p:oleObj>
              </mc:Choice>
              <mc:Fallback>
                <p:oleObj name="" r:id="rId3" imgW="4191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539595"/>
                        <a:ext cx="8636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E2C009-0629-41CC-8EFB-88C3235D9A13}" type="slidenum">
              <a:rPr lang="en-US" altLang="zh-CN"/>
            </a:fld>
            <a:endParaRPr lang="en-US" altLang="zh-CN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4911725" cy="1216025"/>
          </a:xfrm>
        </p:spPr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最小支撑树问题</a:t>
            </a:r>
            <a:endParaRPr lang="zh-CN" altLang="en-US" dirty="0"/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4525" y="1793876"/>
            <a:ext cx="7661275" cy="163512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设有一个连通图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G=(V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，每一边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，有一个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非负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≥0)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T=(V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E′)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的一个支撑树，称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E′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中所有边的权之和为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支撑树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的权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。即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3495" name="Object 4"/>
          <p:cNvGraphicFramePr>
            <a:graphicFrameLocks noChangeAspect="1"/>
          </p:cNvGraphicFramePr>
          <p:nvPr/>
        </p:nvGraphicFramePr>
        <p:xfrm>
          <a:off x="6248400" y="1911351"/>
          <a:ext cx="7921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19100" imgH="241300" progId="Equation.DSMT4">
                  <p:embed/>
                </p:oleObj>
              </mc:Choice>
              <mc:Fallback>
                <p:oleObj name="" r:id="rId1" imgW="4191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911351"/>
                        <a:ext cx="79216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3497" name="Object 6"/>
          <p:cNvGraphicFramePr>
            <a:graphicFrameLocks noChangeAspect="1"/>
          </p:cNvGraphicFramePr>
          <p:nvPr/>
        </p:nvGraphicFramePr>
        <p:xfrm>
          <a:off x="3124200" y="4920067"/>
          <a:ext cx="20161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091565" imgH="381000" progId="Equation.DSMT4">
                  <p:embed/>
                </p:oleObj>
              </mc:Choice>
              <mc:Fallback>
                <p:oleObj name="" r:id="rId3" imgW="1091565" imgH="381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920067"/>
                        <a:ext cx="2016125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E2C009-0629-41CC-8EFB-88C3235D9A13}" type="slidenum">
              <a:rPr lang="en-US" altLang="zh-CN"/>
            </a:fld>
            <a:endParaRPr lang="en-US" altLang="zh-CN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最小支撑树问题</a:t>
            </a:r>
            <a:endParaRPr lang="zh-CN" altLang="en-US"/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4525" y="1825624"/>
            <a:ext cx="7661275" cy="25939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如果支撑树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T*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的权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(T*)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的所有支撑树的权中最小者，则称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T*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最小支撑树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简称最小树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。即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式中对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的所有支撑树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取最小。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349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349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3499" name="Object 8"/>
          <p:cNvGraphicFramePr>
            <a:graphicFrameLocks noChangeAspect="1"/>
          </p:cNvGraphicFramePr>
          <p:nvPr/>
        </p:nvGraphicFramePr>
        <p:xfrm>
          <a:off x="2819400" y="2971800"/>
          <a:ext cx="2811569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1130300" imgH="279400" progId="Equation.DSMT4">
                  <p:embed/>
                </p:oleObj>
              </mc:Choice>
              <mc:Fallback>
                <p:oleObj name="" r:id="rId1" imgW="1130300" imgH="279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971800"/>
                        <a:ext cx="2811569" cy="6858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对话气泡: 椭圆形 1"/>
          <p:cNvSpPr/>
          <p:nvPr/>
        </p:nvSpPr>
        <p:spPr>
          <a:xfrm>
            <a:off x="644525" y="4803776"/>
            <a:ext cx="7585075" cy="1292224"/>
          </a:xfrm>
          <a:prstGeom prst="wedgeEllipseCallout">
            <a:avLst>
              <a:gd name="adj1" fmla="val 20777"/>
              <a:gd name="adj2" fmla="val -13454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400" b="1" u="sng" dirty="0">
                <a:solidFill>
                  <a:srgbClr val="002060"/>
                </a:solidFill>
                <a:latin typeface="Arial" panose="020B0604020202020204" pitchFamily="34" charset="0"/>
              </a:rPr>
              <a:t>最小支撑树问题</a:t>
            </a:r>
            <a:r>
              <a:rPr lang="zh-CN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就是要</a:t>
            </a:r>
            <a:endParaRPr lang="en-US" altLang="zh-CN" sz="24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求给定连通赋权图</a:t>
            </a:r>
            <a:r>
              <a:rPr lang="en-US" altLang="zh-CN" sz="2400" b="1" dirty="0">
                <a:solidFill>
                  <a:srgbClr val="002060"/>
                </a:solidFill>
                <a:latin typeface="Arial" panose="020B0604020202020204" pitchFamily="34" charset="0"/>
              </a:rPr>
              <a:t>G</a:t>
            </a:r>
            <a:r>
              <a:rPr lang="zh-CN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的最小支撑树</a:t>
            </a:r>
            <a:endParaRPr lang="zh-CN" altLang="en-US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E434E09-D290-4C4B-9173-64F40026FBBC}" type="slidenum">
              <a:rPr lang="en-US" altLang="zh-CN"/>
            </a:fld>
            <a:endParaRPr lang="en-US" altLang="zh-CN"/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最小支撑树问题</a:t>
            </a:r>
            <a:endParaRPr lang="zh-CN" altLang="en-US" dirty="0"/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755650" y="1844675"/>
            <a:ext cx="7775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685799" y="1628775"/>
            <a:ext cx="7415213" cy="2518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Arial" panose="020B0604020202020204" pitchFamily="34" charset="0"/>
              </a:rPr>
              <a:t> 例子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800100" lvl="2" indent="-342900">
              <a:lnSpc>
                <a:spcPct val="125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</a:rPr>
              <a:t>假设给定一些城市，已知每对城市间交通线的建造费用。要求建造一个联结这些城市的交通网，使总的建造费用最小，这个问题就是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赋权图上的最小树问题</a:t>
            </a:r>
            <a:r>
              <a:rPr lang="zh-CN" altLang="en-US" sz="2400" dirty="0">
                <a:latin typeface="Arial" panose="020B0604020202020204" pitchFamily="34" charset="0"/>
              </a:rPr>
              <a:t>。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769671" y="4382839"/>
            <a:ext cx="5859729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7675" indent="-4476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Arial" panose="020B0604020202020204" pitchFamily="34" charset="0"/>
              </a:rPr>
              <a:t> 下面介绍两个求解最小支撑树的方法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800100" lvl="2" indent="-342900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</a:rPr>
              <a:t>避圈法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800100" lvl="2" indent="-342900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Arial" panose="020B0604020202020204" pitchFamily="34" charset="0"/>
              </a:rPr>
              <a:t>破圈法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27F019-566B-4CFB-B1AA-23547095E5BB}" type="slidenum">
              <a:rPr lang="en-US" altLang="zh-CN"/>
            </a:fld>
            <a:endParaRPr lang="en-US" altLang="zh-CN"/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8326" y="1825624"/>
            <a:ext cx="8007350" cy="2368549"/>
          </a:xfrm>
        </p:spPr>
        <p:txBody>
          <a:bodyPr/>
          <a:lstStyle/>
          <a:p>
            <a:pPr marL="609600" indent="-6096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避圈法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开始选一条最小权的边，以后每一步中，总从与已选边</a:t>
            </a:r>
            <a:r>
              <a:rPr lang="zh-CN" altLang="en-US" sz="2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不构成圈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的那些</a:t>
            </a:r>
            <a:r>
              <a:rPr lang="zh-CN" alt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未选边中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，选一条</a:t>
            </a:r>
            <a:r>
              <a:rPr lang="zh-CN" altLang="en-US" sz="2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权最小的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每一步中，如果有两条或两条以上的边都是权最小的边，则从中任选一条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554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554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554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55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762000"/>
            <a:ext cx="7197725" cy="758825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最小支撑树问题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避圈法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34200" y="6457950"/>
            <a:ext cx="1981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27F019-566B-4CFB-B1AA-23547095E5BB}" type="slidenum">
              <a:rPr lang="en-US" altLang="zh-CN"/>
            </a:fld>
            <a:endParaRPr lang="en-US" altLang="zh-CN"/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838200"/>
            <a:ext cx="7197725" cy="682625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最小支撑树问题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避圈法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kruskal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1826" y="2057400"/>
            <a:ext cx="8001000" cy="3352799"/>
          </a:xfrm>
        </p:spPr>
        <p:txBody>
          <a:bodyPr/>
          <a:lstStyle/>
          <a:p>
            <a:pPr marL="609600" indent="-609600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避圈法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的具体步骤如下：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2980" lvl="1" indent="-533400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步：令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                              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2980" lvl="1" indent="-533400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步：选一条边                  ，使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是使                    不含圈的所有边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       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中权最小的边。令                  ，如果这样的边不存在，则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是最小树，结束。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2980" lvl="1" indent="-533400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步：把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换成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，转入第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5543" name="Object 4"/>
          <p:cNvGraphicFramePr>
            <a:graphicFrameLocks noChangeAspect="1"/>
          </p:cNvGraphicFramePr>
          <p:nvPr/>
        </p:nvGraphicFramePr>
        <p:xfrm>
          <a:off x="3324910" y="2799042"/>
          <a:ext cx="201612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33832800" imgH="5486400" progId="Equation.DSMT4">
                  <p:embed/>
                </p:oleObj>
              </mc:Choice>
              <mc:Fallback>
                <p:oleObj name="Equation" r:id="rId1" imgW="338328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910" y="2799042"/>
                        <a:ext cx="2016125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5545" name="Object 6"/>
          <p:cNvGraphicFramePr>
            <a:graphicFrameLocks noChangeAspect="1"/>
          </p:cNvGraphicFramePr>
          <p:nvPr/>
        </p:nvGraphicFramePr>
        <p:xfrm>
          <a:off x="3712820" y="3296603"/>
          <a:ext cx="10795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73100" imgH="228600" progId="Equation.DSMT4">
                  <p:embed/>
                </p:oleObj>
              </mc:Choice>
              <mc:Fallback>
                <p:oleObj name="" r:id="rId3" imgW="6731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2820" y="3296603"/>
                        <a:ext cx="10795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5547" name="Object 8"/>
          <p:cNvGraphicFramePr>
            <a:graphicFrameLocks noChangeAspect="1"/>
          </p:cNvGraphicFramePr>
          <p:nvPr/>
        </p:nvGraphicFramePr>
        <p:xfrm>
          <a:off x="6012485" y="3344748"/>
          <a:ext cx="11525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812165" imgH="228600" progId="Equation.DSMT4">
                  <p:embed/>
                </p:oleObj>
              </mc:Choice>
              <mc:Fallback>
                <p:oleObj name="" r:id="rId5" imgW="812165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485" y="3344748"/>
                        <a:ext cx="11525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5549" name="Object 10"/>
          <p:cNvGraphicFramePr>
            <a:graphicFrameLocks noChangeAspect="1"/>
          </p:cNvGraphicFramePr>
          <p:nvPr/>
        </p:nvGraphicFramePr>
        <p:xfrm>
          <a:off x="2461310" y="3810000"/>
          <a:ext cx="86360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635000" imgH="228600" progId="Equation.DSMT4">
                  <p:embed/>
                </p:oleObj>
              </mc:Choice>
              <mc:Fallback>
                <p:oleObj name="" r:id="rId7" imgW="6350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310" y="3810000"/>
                        <a:ext cx="863600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5551" name="Object 12"/>
          <p:cNvGraphicFramePr>
            <a:graphicFrameLocks noChangeAspect="1"/>
          </p:cNvGraphicFramePr>
          <p:nvPr/>
        </p:nvGraphicFramePr>
        <p:xfrm>
          <a:off x="5472735" y="3819525"/>
          <a:ext cx="107950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838200" imgH="228600" progId="Equation.DSMT4">
                  <p:embed/>
                </p:oleObj>
              </mc:Choice>
              <mc:Fallback>
                <p:oleObj name="" r:id="rId9" imgW="8382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735" y="3819525"/>
                        <a:ext cx="1079500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077200" y="6245225"/>
            <a:ext cx="457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5102F3B-60EB-41C0-9CE1-686C18F18945}" type="slidenum">
              <a:rPr lang="en-US" altLang="zh-CN"/>
            </a:fld>
            <a:endParaRPr lang="en-US" altLang="zh-CN" dirty="0"/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5826125" cy="758825"/>
          </a:xfrm>
        </p:spPr>
        <p:txBody>
          <a:bodyPr/>
          <a:lstStyle/>
          <a:p>
            <a:r>
              <a:rPr lang="en-US" altLang="zh-CN" sz="3600" dirty="0"/>
              <a:t>2.3 </a:t>
            </a:r>
            <a:r>
              <a:rPr lang="zh-CN" altLang="en-US" sz="3600" dirty="0"/>
              <a:t>最小支撑树问题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dirty="0"/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4525" y="1727200"/>
            <a:ext cx="7737475" cy="1625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8</a:t>
            </a:r>
            <a:r>
              <a:rPr lang="en-US" altLang="zh-CN" sz="2400" dirty="0"/>
              <a:t>  </a:t>
            </a:r>
            <a:r>
              <a:rPr lang="zh-CN" altLang="en-US" sz="2400" dirty="0"/>
              <a:t>某工厂内联结六个车间的道路网如图</a:t>
            </a:r>
            <a:r>
              <a:rPr lang="en-US" altLang="zh-CN" sz="2400" dirty="0"/>
              <a:t>17(a)</a:t>
            </a:r>
            <a:r>
              <a:rPr lang="zh-CN" altLang="en-US" sz="2400" dirty="0"/>
              <a:t>所示。已知每条道路的长，要求沿道路架设联结六个车间的电话线网，使电话线的总长最小。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09600" y="6019800"/>
            <a:ext cx="7543800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电话线总长最小的电话线网方案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17(b))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，电话线总长为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单位。</a:t>
            </a:r>
            <a:endParaRPr lang="zh-CN" altLang="en-US" sz="2000" dirty="0"/>
          </a:p>
        </p:txBody>
      </p:sp>
      <p:sp>
        <p:nvSpPr>
          <p:cNvPr id="66562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505200" y="5418137"/>
            <a:ext cx="1447800" cy="403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dirty="0"/>
              <a:t>图 </a:t>
            </a:r>
            <a:r>
              <a:rPr lang="en-US" altLang="zh-CN" sz="1800" dirty="0"/>
              <a:t>17</a:t>
            </a:r>
            <a:endParaRPr lang="en-US" altLang="zh-CN" sz="1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821" y="3276600"/>
            <a:ext cx="3006979" cy="20704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273546"/>
            <a:ext cx="3441320" cy="2060454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2133600" y="3505200"/>
            <a:ext cx="0" cy="1295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133600" y="4876800"/>
            <a:ext cx="9906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200400" y="3581400"/>
            <a:ext cx="0" cy="1295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200400" y="3581400"/>
            <a:ext cx="685800" cy="53340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371600" y="4191000"/>
            <a:ext cx="762000" cy="6858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FCD8DD2-0832-4798-A5D5-00D0CA5C0F82}" type="slidenum">
              <a:rPr lang="en-US" altLang="zh-CN"/>
            </a:fld>
            <a:endParaRPr lang="en-US" altLang="zh-CN"/>
          </a:p>
        </p:txBody>
      </p:sp>
      <p:sp>
        <p:nvSpPr>
          <p:cNvPr id="706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3250" y="1600200"/>
            <a:ext cx="7931150" cy="2895600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</a:rPr>
              <a:t>破圈法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/>
              <a:t>任取一个圈，从圈中去掉一条权最大的边</a:t>
            </a:r>
            <a:r>
              <a:rPr lang="en-US" altLang="zh-CN" sz="2400" dirty="0"/>
              <a:t>(</a:t>
            </a:r>
            <a:r>
              <a:rPr lang="zh-CN" altLang="en-US" sz="2400" dirty="0"/>
              <a:t>如果有两条或两条以上的边都是权最大的边，则任意去掉其中一条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/>
              <a:t>在余下的图中，重复这个步骤，直至得到一个不含圈的图为止，这时的图便是最小树。</a:t>
            </a:r>
            <a:endParaRPr lang="zh-CN" altLang="en-US" sz="24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021" y="4495800"/>
            <a:ext cx="3006979" cy="2070499"/>
          </a:xfrm>
          <a:prstGeom prst="rect">
            <a:avLst/>
          </a:prstGeom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838200"/>
            <a:ext cx="7197725" cy="682625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最小支撑树问题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破圈法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849996-D6E8-4654-96C4-265CB17F1928}" type="slidenum">
              <a:rPr lang="en-US" altLang="zh-CN"/>
            </a:fld>
            <a:endParaRPr lang="en-US" altLang="zh-CN"/>
          </a:p>
        </p:txBody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575" y="1628775"/>
            <a:ext cx="7921625" cy="3171825"/>
          </a:xfrm>
        </p:spPr>
        <p:txBody>
          <a:bodyPr/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破圈法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10-17(a)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所示赋权图的最小支撑树。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任取一个圈，比如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，边［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］是这个圈中权最大的边，于是丢去［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］；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再取圈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，去掉［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］；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，去掉［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］；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，这个圈中，［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］及［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］都是权最大的边，去掉其中的一条，比如说［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］。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这时得到一个不含圈的图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17(b)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，即为最小树。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821" y="4572000"/>
            <a:ext cx="3006979" cy="20704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4572000"/>
            <a:ext cx="3441320" cy="2060454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V="1">
            <a:off x="1447800" y="4800600"/>
            <a:ext cx="685800" cy="6858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2133600" y="4876800"/>
            <a:ext cx="990600" cy="1219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133600" y="4850825"/>
            <a:ext cx="1066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3124200" y="5410200"/>
            <a:ext cx="762000" cy="762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5826125" cy="758825"/>
          </a:xfrm>
        </p:spPr>
        <p:txBody>
          <a:bodyPr/>
          <a:lstStyle/>
          <a:p>
            <a:r>
              <a:rPr lang="en-US" altLang="zh-CN" sz="3600" dirty="0"/>
              <a:t>2.3 </a:t>
            </a:r>
            <a:r>
              <a:rPr lang="zh-CN" altLang="en-US" sz="3600" dirty="0"/>
              <a:t>最小支撑树问题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077200" y="6245225"/>
            <a:ext cx="457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849996-D6E8-4654-96C4-265CB17F1928}" type="slidenum">
              <a:rPr lang="en-US" altLang="zh-CN"/>
            </a:fld>
            <a:endParaRPr lang="en-US" altLang="zh-CN" dirty="0"/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694459" y="685800"/>
            <a:ext cx="1295401" cy="763478"/>
          </a:xfrm>
        </p:spPr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895679"/>
            <a:ext cx="1787525" cy="1571625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9.2  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9.3  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2090638"/>
            <a:ext cx="6618506" cy="80496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691979"/>
            <a:ext cx="8980706" cy="110862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010150"/>
            <a:ext cx="6629400" cy="36567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543550"/>
            <a:ext cx="7439025" cy="4762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248400" y="5601444"/>
            <a:ext cx="304800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rIns="0" rtlCol="0">
            <a:spAutoFit/>
          </a:bodyPr>
          <a:lstStyle/>
          <a:p>
            <a:r>
              <a:rPr lang="en-US" altLang="zh-CN" sz="1400" dirty="0"/>
              <a:t>(a)</a:t>
            </a:r>
            <a:endParaRPr lang="zh-CN" altLang="en-US" sz="1400" dirty="0"/>
          </a:p>
        </p:txBody>
      </p:sp>
      <p:sp>
        <p:nvSpPr>
          <p:cNvPr id="2" name="矩形 1"/>
          <p:cNvSpPr/>
          <p:nvPr/>
        </p:nvSpPr>
        <p:spPr>
          <a:xfrm>
            <a:off x="2467708" y="2133782"/>
            <a:ext cx="838200" cy="423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9.1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75359" y="3685385"/>
            <a:ext cx="838200" cy="423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9.2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028700" y="4981004"/>
            <a:ext cx="838200" cy="423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9.3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23059" y="5542410"/>
            <a:ext cx="838200" cy="423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9.4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029200" y="4997067"/>
            <a:ext cx="838200" cy="336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9-41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5029200" y="5569694"/>
            <a:ext cx="990600" cy="423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9-42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9632</Words>
  <Application>WPS 演示</Application>
  <PresentationFormat>全屏显示(4:3)</PresentationFormat>
  <Paragraphs>790</Paragraphs>
  <Slides>71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73</vt:i4>
      </vt:variant>
      <vt:variant>
        <vt:lpstr>幻灯片标题</vt:lpstr>
      </vt:variant>
      <vt:variant>
        <vt:i4>71</vt:i4>
      </vt:variant>
    </vt:vector>
  </HeadingPairs>
  <TitlesOfParts>
    <vt:vector size="154" baseType="lpstr">
      <vt:lpstr>Arial</vt:lpstr>
      <vt:lpstr>宋体</vt:lpstr>
      <vt:lpstr>Wingdings</vt:lpstr>
      <vt:lpstr>Verdana</vt:lpstr>
      <vt:lpstr>Times New Roman</vt:lpstr>
      <vt:lpstr>楷体</vt:lpstr>
      <vt:lpstr>微软雅黑</vt:lpstr>
      <vt:lpstr>Arial Unicode MS</vt:lpstr>
      <vt:lpstr>Calibri</vt:lpstr>
      <vt:lpstr>Profile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第9章  图与网络优化</vt:lpstr>
      <vt:lpstr>图论（Graph Theory）</vt:lpstr>
      <vt:lpstr>图论的起源与发展</vt:lpstr>
      <vt:lpstr>图论的起源与发展</vt:lpstr>
      <vt:lpstr>图论的起源与发展</vt:lpstr>
      <vt:lpstr>图论的起源与发展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 – 例子</vt:lpstr>
      <vt:lpstr>第1节 图的基本概念 – 例子</vt:lpstr>
      <vt:lpstr>第1节 图的基本概念 – 例子</vt:lpstr>
      <vt:lpstr>第1节 图的基本概念 – 例子</vt:lpstr>
      <vt:lpstr>第1节 图的基本概念 – 例子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第1节 图的基本概念</vt:lpstr>
      <vt:lpstr>第9章  图与网络优化 </vt:lpstr>
      <vt:lpstr>第2节 树</vt:lpstr>
      <vt:lpstr>2.1 树及其性质</vt:lpstr>
      <vt:lpstr>2.1 树及其性质</vt:lpstr>
      <vt:lpstr>2.1 树及其性质</vt:lpstr>
      <vt:lpstr>2.1 树及其性质</vt:lpstr>
      <vt:lpstr>2.1 树及其性质</vt:lpstr>
      <vt:lpstr>2.1 树及其性质</vt:lpstr>
      <vt:lpstr>2.1 树及其性质</vt:lpstr>
      <vt:lpstr>2.1 树及其性质</vt:lpstr>
      <vt:lpstr>2.1 树及其性质</vt:lpstr>
      <vt:lpstr>2.1 树及其性质</vt:lpstr>
      <vt:lpstr>2.2 图的支撑树</vt:lpstr>
      <vt:lpstr>2.2 图的支撑树</vt:lpstr>
      <vt:lpstr>2.2 图的支撑树</vt:lpstr>
      <vt:lpstr>2.2 图的支撑树</vt:lpstr>
      <vt:lpstr>2.2 图的支撑树 -- 破圈法</vt:lpstr>
      <vt:lpstr>2.2 图的支撑树 — 例6</vt:lpstr>
      <vt:lpstr>2.2 图的支撑树 -- 避圈法</vt:lpstr>
      <vt:lpstr>2.2 图的支撑树—例7（避圈法）</vt:lpstr>
      <vt:lpstr>2.2 图的支撑树</vt:lpstr>
      <vt:lpstr>2.3 最小支撑树问题 -- 赋权图</vt:lpstr>
      <vt:lpstr>2.3 最小支撑树问题</vt:lpstr>
      <vt:lpstr>2.3 最小支撑树问题</vt:lpstr>
      <vt:lpstr>2.3 最小支撑树问题</vt:lpstr>
      <vt:lpstr>2.3 最小支撑树问题—避圈法(kruskal)</vt:lpstr>
      <vt:lpstr>2.3 最小支撑树问题—避圈法(kruskal)</vt:lpstr>
      <vt:lpstr>2.3 最小支撑树问题—例8</vt:lpstr>
      <vt:lpstr>2.3 最小支撑树问题—破圈法</vt:lpstr>
      <vt:lpstr>2.3 最小支撑树问题—例9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think</dc:creator>
  <cp:lastModifiedBy>壮壮</cp:lastModifiedBy>
  <cp:revision>541</cp:revision>
  <cp:lastPrinted>2113-01-01T00:00:00Z</cp:lastPrinted>
  <dcterms:created xsi:type="dcterms:W3CDTF">2113-01-01T00:00:00Z</dcterms:created>
  <dcterms:modified xsi:type="dcterms:W3CDTF">2024-12-22T08:54:56Z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F90EB3D16E3F4E6C9454399DD78D1E08_13</vt:lpwstr>
  </property>
  <property fmtid="{D5CDD505-2E9C-101B-9397-08002B2CF9AE}" pid="4" name="KSOProductBuildVer">
    <vt:lpwstr>2052-12.1.0.19302</vt:lpwstr>
  </property>
</Properties>
</file>