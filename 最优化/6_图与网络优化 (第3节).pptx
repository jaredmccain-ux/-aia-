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57"/>
  </p:notesMasterIdLst>
  <p:sldIdLst>
    <p:sldId id="263" r:id="rId2"/>
    <p:sldId id="285" r:id="rId3"/>
    <p:sldId id="317" r:id="rId4"/>
    <p:sldId id="716" r:id="rId5"/>
    <p:sldId id="638" r:id="rId6"/>
    <p:sldId id="717" r:id="rId7"/>
    <p:sldId id="701" r:id="rId8"/>
    <p:sldId id="318" r:id="rId9"/>
    <p:sldId id="712" r:id="rId10"/>
    <p:sldId id="322" r:id="rId11"/>
    <p:sldId id="702" r:id="rId12"/>
    <p:sldId id="718" r:id="rId13"/>
    <p:sldId id="720" r:id="rId14"/>
    <p:sldId id="325" r:id="rId15"/>
    <p:sldId id="704" r:id="rId16"/>
    <p:sldId id="721" r:id="rId17"/>
    <p:sldId id="722" r:id="rId18"/>
    <p:sldId id="326" r:id="rId19"/>
    <p:sldId id="711" r:id="rId20"/>
    <p:sldId id="327" r:id="rId21"/>
    <p:sldId id="319" r:id="rId22"/>
    <p:sldId id="710" r:id="rId23"/>
    <p:sldId id="705" r:id="rId24"/>
    <p:sldId id="328" r:id="rId25"/>
    <p:sldId id="715" r:id="rId26"/>
    <p:sldId id="329" r:id="rId27"/>
    <p:sldId id="713" r:id="rId28"/>
    <p:sldId id="714" r:id="rId29"/>
    <p:sldId id="331" r:id="rId30"/>
    <p:sldId id="320" r:id="rId31"/>
    <p:sldId id="335" r:id="rId32"/>
    <p:sldId id="707" r:id="rId33"/>
    <p:sldId id="640" r:id="rId34"/>
    <p:sldId id="641" r:id="rId35"/>
    <p:sldId id="642" r:id="rId36"/>
    <p:sldId id="729" r:id="rId37"/>
    <p:sldId id="731" r:id="rId38"/>
    <p:sldId id="732" r:id="rId39"/>
    <p:sldId id="733" r:id="rId40"/>
    <p:sldId id="734" r:id="rId41"/>
    <p:sldId id="735" r:id="rId42"/>
    <p:sldId id="708" r:id="rId43"/>
    <p:sldId id="644" r:id="rId44"/>
    <p:sldId id="645" r:id="rId45"/>
    <p:sldId id="396" r:id="rId46"/>
    <p:sldId id="727" r:id="rId47"/>
    <p:sldId id="646" r:id="rId48"/>
    <p:sldId id="647" r:id="rId49"/>
    <p:sldId id="336" r:id="rId50"/>
    <p:sldId id="723" r:id="rId51"/>
    <p:sldId id="648" r:id="rId52"/>
    <p:sldId id="649" r:id="rId53"/>
    <p:sldId id="725" r:id="rId54"/>
    <p:sldId id="650" r:id="rId55"/>
    <p:sldId id="736" r:id="rId5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E5E7D7"/>
    <a:srgbClr val="A8BCAF"/>
    <a:srgbClr val="0000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42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79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149A538-51E5-4AC2-B3B4-8D431CB51C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AD2AE9-D686-449C-A786-EB16CC744F7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099C236E-EE02-4FB6-B8B2-6FF08442D8BD}" type="datetimeFigureOut">
              <a:rPr lang="zh-CN" altLang="en-US"/>
              <a:pPr>
                <a:defRPr/>
              </a:pPr>
              <a:t>2024/12/24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A99E106-A71D-4C5F-919B-4F9FD68E3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8062636-4FC4-4461-8E40-B75659DD2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DF8316-AE5E-4A24-B7F4-38181ECBDD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B719F0-34CF-4D6F-AB59-0841A92A9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F0B8892-26F4-4EFB-B429-6DA07C206E2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6503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0B8892-26F4-4EFB-B429-6DA07C206E2C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28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FA4D8DA9-99BD-4C0D-A06E-189C7618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A074EB-FCF8-4B49-986D-EF2E5F24D0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0D5E1-186D-402F-A640-8B4FCF810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6B4753-2F68-49F8-90D9-9238772FDE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4CF2408-090C-45DC-837C-8EE8BD5377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77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BF6184-83AE-400D-8985-DD1B284D5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D33B405-09E3-4EAA-B69B-D83C37A836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59B8E9B-856C-4324-9AD2-1F5F2E07A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E423DC-D3FC-47A7-A7C3-7C0938032E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47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CEFA461-7DDE-4009-912F-847AF0124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D349579-0A8D-4E48-812D-B82F353DAD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6C9CA4C-DED5-44AF-97BE-8E402D189A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3FE264-DA42-45EA-BA4F-6F296ED1D62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787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04939-E4CE-4354-8F94-F1F49BA732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70E72D1-0997-4492-A84A-381FB8CF0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73B94FD-7D53-437D-8709-CA0518CC1C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340B3C-A364-41D0-A333-49A29039A5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5743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A565C6-B050-4D37-A0D7-952E5E2F20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98CB6-D128-41D6-BFBF-E34D7A0C7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72553E-DD2B-438E-923A-8BF12EFAC2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16F569-10A2-4663-8988-D4B30ADA5E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61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B315C0A-A969-4F4F-B356-59DA39302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44968BF-1301-4DB6-87A9-F2711DB91C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6EE2BF1-4EEC-4667-B6A7-1F292DBD89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95F25A-3103-4CF4-AEAE-B4C3292955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31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CB51EF1-FFB5-4100-8B10-C69453A3C0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8C594F1-8DB4-4DA9-8910-9F41BAC27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FF4E9E9-EABE-420D-A7C6-5399A62732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0F3422-8460-44FF-B691-8A44855F69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81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E78686-F2EC-40C1-8B7F-0CB6F432EB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2B74BB2-1E10-410E-A468-9F728EF18F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EEC5700-75A8-4A40-A4B4-CED5227C07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5E16F2-BF48-43A5-B906-6C2E9DAF5A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961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C3C845-1B45-4B75-A51A-185D20CB8A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2CE364A-1471-4E09-8FAA-497BF53D2B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83A5372-8E4E-4094-81AF-AA772744B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61737-FC6B-43A0-A204-1B280C60F0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136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36D5953-A5D1-4B62-8324-525779034A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E8EACF1-ED33-435D-82B2-D49809BF00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59CDA24-2E7C-4515-92C3-072221F17E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3DE86-BBE2-4EE8-A76C-642C912C51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267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06CD25A-93FB-4332-8C63-2AD671A3CD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D9C8AC6-FEC6-438F-87AF-9957B4385E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9DFFFBD-0BB3-4CF5-B7F2-81A2A89907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0BE181-E3C7-4F4C-AEC7-5DB948082E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595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136220-37C4-43FE-AC16-CD456686A7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761178D-D550-4CE0-884E-04F5E02E28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367E1FD-3444-45A0-8E36-DCA5F380B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2AC8C7-1520-4B6F-AFFC-722B094F21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700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A9979F-572D-41D6-8A72-CA9447F625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82C05A0-323D-449B-BF8F-B488FD3934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1DD4EBC3-895F-40C9-AE94-88C12AC12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53EAA8-36B8-432A-8901-056D40780E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866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64754F-6435-4FE8-BBFC-C559521142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7CBB04-E280-4503-B7F9-11C26FA2D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16B56A7-0E46-4DB9-9921-B1687A9A5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3347E0-AD84-4D2B-8966-8D07739F35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719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65FDC5-9208-4E92-9125-E93D65A5C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BC317B-1E98-4F0B-B8DE-D13E7AD26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1B6DAF8-0591-4F6D-9DA3-8C7BBEF23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D404084B-1055-4418-A044-CC2C6F8236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4103EB57-3477-434D-A6AA-C9ECE40FB7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B130002D-3796-4F10-9019-F1AC814F41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2" name="Rectangle 8">
            <a:extLst>
              <a:ext uri="{FF2B5EF4-FFF2-40B4-BE49-F238E27FC236}">
                <a16:creationId xmlns:a16="http://schemas.microsoft.com/office/drawing/2014/main" id="{70D60CD5-DFD6-4D1B-8AB2-875A51ACB8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2329707-5E72-482A-B21B-78F61C18ABD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8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4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5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>
            <a:extLst>
              <a:ext uri="{FF2B5EF4-FFF2-40B4-BE49-F238E27FC236}">
                <a16:creationId xmlns:a16="http://schemas.microsoft.com/office/drawing/2014/main" id="{1758E800-9A6D-4F09-AF6E-66365EFDD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fld id="{2A408E57-8010-46FC-A954-F410C3E6BA3C}" type="slidenum">
              <a:rPr lang="en-US" altLang="zh-CN" sz="1000">
                <a:latin typeface="Arial" panose="020B0604020202020204" pitchFamily="34" charset="0"/>
                <a:cs typeface="Times New Roman" panose="02020603050405020304" pitchFamily="18" charset="0"/>
              </a:rPr>
              <a:pPr eaLnBrk="0" hangingPunct="0"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0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A88D0F7B-84AD-42C9-AAB2-3784D78CE4E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908050"/>
            <a:ext cx="7086600" cy="1600200"/>
          </a:xfrm>
        </p:spPr>
        <p:txBody>
          <a:bodyPr/>
          <a:lstStyle/>
          <a:p>
            <a:r>
              <a:rPr lang="zh-CN" altLang="en-US" dirty="0">
                <a:latin typeface="Arial Unicode MS" panose="020B0604020202020204" pitchFamily="34" charset="-122"/>
              </a:rPr>
              <a:t>第</a:t>
            </a:r>
            <a:r>
              <a:rPr lang="en-US" altLang="zh-CN" dirty="0">
                <a:latin typeface="Arial Unicode MS" panose="020B0604020202020204" pitchFamily="34" charset="-122"/>
              </a:rPr>
              <a:t>9</a:t>
            </a:r>
            <a:r>
              <a:rPr lang="zh-CN" altLang="en-US" dirty="0">
                <a:latin typeface="Arial Unicode MS" panose="020B0604020202020204" pitchFamily="34" charset="-122"/>
              </a:rPr>
              <a:t>章  </a:t>
            </a:r>
            <a:r>
              <a:rPr lang="zh-CN" altLang="en-US" dirty="0"/>
              <a:t>图与网络优化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21507" name="AutoShape 3">
            <a:extLst>
              <a:ext uri="{FF2B5EF4-FFF2-40B4-BE49-F238E27FC236}">
                <a16:creationId xmlns:a16="http://schemas.microsoft.com/office/drawing/2014/main" id="{8A8D4BF1-A049-41EC-8F8F-86D496DFD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196379"/>
            <a:ext cx="5472112" cy="504825"/>
          </a:xfrm>
          <a:prstGeom prst="homePlate">
            <a:avLst>
              <a:gd name="adj" fmla="val 270991"/>
            </a:avLst>
          </a:prstGeom>
          <a:gradFill rotWithShape="1">
            <a:gsLst>
              <a:gs pos="0">
                <a:srgbClr val="3B8A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680B1A49-DAD3-4B62-BFEA-C73A148F69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58888" y="2781300"/>
            <a:ext cx="6408737" cy="28797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节 图的基本概念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节 树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节 最短路问题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节 网络最大流问题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灯片编号占位符 6">
            <a:extLst>
              <a:ext uri="{FF2B5EF4-FFF2-40B4-BE49-F238E27FC236}">
                <a16:creationId xmlns:a16="http://schemas.microsoft.com/office/drawing/2014/main" id="{FB4DD5F6-98F7-4F25-8040-F11BD64065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BD866C-4C68-4F55-B69C-B3072DD10567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5250B5A7-66FC-44E7-9B54-1265C2E76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4530725" cy="911225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节 最短路问题</a:t>
            </a:r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5A0C092D-458B-484C-81AA-0C5B266F2C9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584" y="1981200"/>
            <a:ext cx="4241802" cy="2514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3.1 </a:t>
            </a:r>
            <a:r>
              <a:rPr lang="zh-CN" altLang="en-US" dirty="0"/>
              <a:t>引例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3.3 </a:t>
            </a:r>
            <a:r>
              <a:rPr lang="zh-CN" altLang="en-US" dirty="0"/>
              <a:t>应用举例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灯片编号占位符 5">
            <a:extLst>
              <a:ext uri="{FF2B5EF4-FFF2-40B4-BE49-F238E27FC236}">
                <a16:creationId xmlns:a16="http://schemas.microsoft.com/office/drawing/2014/main" id="{9236A6FE-2CA3-49A1-82D4-4DBBB3948C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18DEE30-97FB-42E1-B6AD-10D161ABB310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70BF425-00B5-450E-A4F2-4986609EB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24025"/>
            <a:ext cx="8299450" cy="10953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已知如图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单行线交通网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，每弧旁的数字表示通过这条单行线所需要的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费用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7" name="Rectangle 2">
            <a:extLst>
              <a:ext uri="{FF2B5EF4-FFF2-40B4-BE49-F238E27FC236}">
                <a16:creationId xmlns:a16="http://schemas.microsoft.com/office/drawing/2014/main" id="{32CD0B4F-7EA8-432A-B948-73E2A2FB3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3.1 </a:t>
            </a:r>
            <a:r>
              <a:rPr lang="zh-CN" altLang="en-US" sz="4400" b="1" dirty="0"/>
              <a:t>引例</a:t>
            </a:r>
            <a:r>
              <a:rPr lang="zh-CN" altLang="en-US" sz="3200" dirty="0"/>
              <a:t>（例</a:t>
            </a:r>
            <a:r>
              <a:rPr lang="en-US" altLang="zh-CN" sz="3200" dirty="0"/>
              <a:t>10</a:t>
            </a:r>
            <a:r>
              <a:rPr lang="zh-CN" altLang="en-US" sz="3200" dirty="0"/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/>
          </a:p>
        </p:txBody>
      </p:sp>
      <p:pic>
        <p:nvPicPr>
          <p:cNvPr id="74758" name="Picture 5">
            <a:extLst>
              <a:ext uri="{FF2B5EF4-FFF2-40B4-BE49-F238E27FC236}">
                <a16:creationId xmlns:a16="http://schemas.microsoft.com/office/drawing/2014/main" id="{FE28DE61-252E-497D-9BF6-9B3E3AE78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657" y="3115009"/>
            <a:ext cx="4878943" cy="305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Text Box 7">
            <a:extLst>
              <a:ext uri="{FF2B5EF4-FFF2-40B4-BE49-F238E27FC236}">
                <a16:creationId xmlns:a16="http://schemas.microsoft.com/office/drawing/2014/main" id="{7F496BDB-D94D-4DED-A37C-2B20495F0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608334"/>
            <a:ext cx="854661" cy="41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CE7057A-3365-C01A-FCF9-13091D3D7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124200"/>
            <a:ext cx="4696691" cy="117316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的旅行路线有很多，如</a:t>
            </a:r>
          </a:p>
          <a:p>
            <a:pPr lvl="2"/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出发，经过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，到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不同的路线所需</a:t>
            </a:r>
            <a:r>
              <a:rPr lang="zh-CN" altLang="en-US" sz="18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总费用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是不同的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CB3EDF9-C6BD-4057-867F-28C2C37F4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109" y="3124200"/>
            <a:ext cx="4696691" cy="2743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</a:pP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用图的语言来描述，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的一条</a:t>
            </a:r>
            <a:r>
              <a:rPr lang="zh-CN" altLang="en-US" sz="18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旅行路线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9637" lvl="2" indent="0">
              <a:lnSpc>
                <a:spcPct val="150000"/>
              </a:lnSpc>
              <a:buNone/>
            </a:pP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图中从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的一条</a:t>
            </a:r>
            <a:r>
              <a:rPr lang="zh-CN" altLang="en-US" sz="18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一条旅行路线的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总费用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就是相应的从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的路中所有弧旁数字之和</a:t>
            </a:r>
          </a:p>
        </p:txBody>
      </p:sp>
      <p:sp>
        <p:nvSpPr>
          <p:cNvPr id="74755" name="灯片编号占位符 5">
            <a:extLst>
              <a:ext uri="{FF2B5EF4-FFF2-40B4-BE49-F238E27FC236}">
                <a16:creationId xmlns:a16="http://schemas.microsoft.com/office/drawing/2014/main" id="{9236A6FE-2CA3-49A1-82D4-4DBBB3948C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18DEE30-97FB-42E1-B6AD-10D161ABB310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70BF425-00B5-450E-A4F2-4986609EB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24025"/>
            <a:ext cx="8299450" cy="11715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现在某人要从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出发，通过这个交通网到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去，求使图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总费用最小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旅行路线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4757" name="Rectangle 2">
            <a:extLst>
              <a:ext uri="{FF2B5EF4-FFF2-40B4-BE49-F238E27FC236}">
                <a16:creationId xmlns:a16="http://schemas.microsoft.com/office/drawing/2014/main" id="{32CD0B4F-7EA8-432A-B948-73E2A2FB3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3.1 </a:t>
            </a:r>
            <a:r>
              <a:rPr lang="zh-CN" altLang="en-US" sz="4400" b="1" dirty="0"/>
              <a:t>引例</a:t>
            </a:r>
            <a:r>
              <a:rPr lang="zh-CN" altLang="en-US" sz="3200" dirty="0"/>
              <a:t>（例</a:t>
            </a:r>
            <a:r>
              <a:rPr lang="en-US" altLang="zh-CN" sz="3200" dirty="0"/>
              <a:t>10</a:t>
            </a:r>
            <a:r>
              <a:rPr lang="zh-CN" altLang="en-US" sz="3200" dirty="0"/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/>
          </a:p>
        </p:txBody>
      </p:sp>
      <p:pic>
        <p:nvPicPr>
          <p:cNvPr id="74758" name="Picture 5">
            <a:extLst>
              <a:ext uri="{FF2B5EF4-FFF2-40B4-BE49-F238E27FC236}">
                <a16:creationId xmlns:a16="http://schemas.microsoft.com/office/drawing/2014/main" id="{FE28DE61-252E-497D-9BF6-9B3E3AE78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1"/>
            <a:ext cx="44386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Text Box 7">
            <a:extLst>
              <a:ext uri="{FF2B5EF4-FFF2-40B4-BE49-F238E27FC236}">
                <a16:creationId xmlns:a16="http://schemas.microsoft.com/office/drawing/2014/main" id="{7F496BDB-D94D-4DED-A37C-2B20495F0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5724525"/>
            <a:ext cx="777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E1C9F0A-71C3-4C83-926F-998B04A17492}"/>
              </a:ext>
            </a:extLst>
          </p:cNvPr>
          <p:cNvSpPr/>
          <p:nvPr/>
        </p:nvSpPr>
        <p:spPr>
          <a:xfrm>
            <a:off x="533400" y="4373562"/>
            <a:ext cx="533400" cy="39687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B6A028B-8DEF-461A-AF26-35F42D74C5D5}"/>
              </a:ext>
            </a:extLst>
          </p:cNvPr>
          <p:cNvSpPr/>
          <p:nvPr/>
        </p:nvSpPr>
        <p:spPr>
          <a:xfrm>
            <a:off x="4225921" y="4836965"/>
            <a:ext cx="533400" cy="39687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8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灯片编号占位符 5">
            <a:extLst>
              <a:ext uri="{FF2B5EF4-FFF2-40B4-BE49-F238E27FC236}">
                <a16:creationId xmlns:a16="http://schemas.microsoft.com/office/drawing/2014/main" id="{250535A0-081E-4698-8082-7CC61DADF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55EF409-1DB7-49FC-A3B8-A83109F7C33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5C4ECCA9-97B9-42C8-AD1F-F455E8DB0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4" y="533400"/>
            <a:ext cx="8188325" cy="987425"/>
          </a:xfrm>
        </p:spPr>
        <p:txBody>
          <a:bodyPr/>
          <a:lstStyle/>
          <a:p>
            <a:r>
              <a:rPr lang="en-US" altLang="zh-CN" sz="4400" dirty="0"/>
              <a:t>3.1 </a:t>
            </a:r>
            <a:r>
              <a:rPr lang="zh-CN" altLang="en-US" sz="4400" dirty="0"/>
              <a:t>引例（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一般意义的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最短路问题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A807148F-5B55-485F-8CA8-3D4CDA09A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752600"/>
            <a:ext cx="7959725" cy="1676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给定一个</a:t>
            </a:r>
            <a:r>
              <a:rPr lang="zh-CN" altLang="en-US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赋权有向图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，即给了一个有向图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D=(V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，对每一个弧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，相应地赋予了权数；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又给定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中的两个顶点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。设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的一条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，定义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</a:t>
            </a: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的权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中所有弧的权之和，记为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806" name="Rectangle 4">
            <a:extLst>
              <a:ext uri="{FF2B5EF4-FFF2-40B4-BE49-F238E27FC236}">
                <a16:creationId xmlns:a16="http://schemas.microsoft.com/office/drawing/2014/main" id="{49AEE6EA-0989-4767-BE9E-008696F54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FE28DE61-252E-497D-9BF6-9B3E3AE78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86" y="3429000"/>
            <a:ext cx="4438650" cy="2781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7">
            <a:extLst>
              <a:ext uri="{FF2B5EF4-FFF2-40B4-BE49-F238E27FC236}">
                <a16:creationId xmlns:a16="http://schemas.microsoft.com/office/drawing/2014/main" id="{7F496BDB-D94D-4DED-A37C-2B20495F0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311" y="5830887"/>
            <a:ext cx="777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E1C9F0A-71C3-4C83-926F-998B04A17492}"/>
              </a:ext>
            </a:extLst>
          </p:cNvPr>
          <p:cNvSpPr/>
          <p:nvPr/>
        </p:nvSpPr>
        <p:spPr>
          <a:xfrm>
            <a:off x="2225386" y="4648200"/>
            <a:ext cx="533400" cy="39687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B6A028B-8DEF-461A-AF26-35F42D74C5D5}"/>
              </a:ext>
            </a:extLst>
          </p:cNvPr>
          <p:cNvSpPr/>
          <p:nvPr/>
        </p:nvSpPr>
        <p:spPr>
          <a:xfrm>
            <a:off x="5959186" y="5029200"/>
            <a:ext cx="533400" cy="39687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灯片编号占位符 5">
            <a:extLst>
              <a:ext uri="{FF2B5EF4-FFF2-40B4-BE49-F238E27FC236}">
                <a16:creationId xmlns:a16="http://schemas.microsoft.com/office/drawing/2014/main" id="{250535A0-081E-4698-8082-7CC61DADF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55EF409-1DB7-49FC-A3B8-A83109F7C33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A807148F-5B55-485F-8CA8-3D4CDA09A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712915"/>
            <a:ext cx="8153400" cy="93477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最短路问题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就是要在所有从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的路中，求一条权最小的路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即求一条从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</a:t>
            </a:r>
          </a:p>
          <a:p>
            <a:pPr lvl="1"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806" name="Rectangle 4">
            <a:extLst>
              <a:ext uri="{FF2B5EF4-FFF2-40B4-BE49-F238E27FC236}">
                <a16:creationId xmlns:a16="http://schemas.microsoft.com/office/drawing/2014/main" id="{49AEE6EA-0989-4767-BE9E-008696F54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76807" name="Object 5">
            <a:extLst>
              <a:ext uri="{FF2B5EF4-FFF2-40B4-BE49-F238E27FC236}">
                <a16:creationId xmlns:a16="http://schemas.microsoft.com/office/drawing/2014/main" id="{2CBC0455-C0E9-4341-88B6-323612328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222965"/>
              </p:ext>
            </p:extLst>
          </p:nvPr>
        </p:nvGraphicFramePr>
        <p:xfrm>
          <a:off x="2514600" y="2856813"/>
          <a:ext cx="341442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04421" imgH="266584" progId="Equation.DSMT4">
                  <p:embed/>
                </p:oleObj>
              </mc:Choice>
              <mc:Fallback>
                <p:oleObj r:id="rId2" imgW="1104421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56813"/>
                        <a:ext cx="3414422" cy="7683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770E3C31-6B6E-40BF-915F-0771CCCC1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33801"/>
            <a:ext cx="8030261" cy="2285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式中对有向图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中所有从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取最小，称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称为从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不一定相等。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609600"/>
            <a:ext cx="7959726" cy="911225"/>
          </a:xfrm>
        </p:spPr>
        <p:txBody>
          <a:bodyPr/>
          <a:lstStyle/>
          <a:p>
            <a:r>
              <a:rPr lang="en-US" altLang="zh-CN" sz="4400" dirty="0"/>
              <a:t>3.1 </a:t>
            </a:r>
            <a:r>
              <a:rPr lang="zh-CN" altLang="en-US" sz="4400" dirty="0"/>
              <a:t>引例</a:t>
            </a:r>
            <a:r>
              <a:rPr lang="zh-CN" altLang="en-US" sz="3600" dirty="0"/>
              <a:t>（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一般意义的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最短路问题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9617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灯片编号占位符 5">
            <a:extLst>
              <a:ext uri="{FF2B5EF4-FFF2-40B4-BE49-F238E27FC236}">
                <a16:creationId xmlns:a16="http://schemas.microsoft.com/office/drawing/2014/main" id="{250535A0-081E-4698-8082-7CC61DADF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55EF409-1DB7-49FC-A3B8-A83109F7C337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A807148F-5B55-485F-8CA8-3D4CDA09A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315200" cy="934777"/>
          </a:xfrm>
          <a:noFill/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最短路问题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就是要在所有从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的路中，求一条权最小的路。</a:t>
            </a:r>
          </a:p>
        </p:txBody>
      </p:sp>
      <p:sp>
        <p:nvSpPr>
          <p:cNvPr id="76806" name="Rectangle 4">
            <a:extLst>
              <a:ext uri="{FF2B5EF4-FFF2-40B4-BE49-F238E27FC236}">
                <a16:creationId xmlns:a16="http://schemas.microsoft.com/office/drawing/2014/main" id="{49AEE6EA-0989-4767-BE9E-008696F54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70E3C31-6B6E-40BF-915F-0771CCCC1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266845"/>
            <a:ext cx="7924800" cy="25145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b="1" kern="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最短路问题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是一类重要的</a:t>
            </a:r>
            <a:r>
              <a:rPr lang="zh-CN" altLang="en-US" sz="2400" b="1" kern="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优化问题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，它不仅可以直接应用于解决生产实际中的许多问题，如</a:t>
            </a:r>
            <a:r>
              <a:rPr lang="zh-CN" alt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管道铺设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线路安排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厂区布局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设备更新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等，而且还经常</a:t>
            </a:r>
            <a:r>
              <a:rPr lang="zh-CN" altLang="en-US" sz="2400" u="sng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作为一个基本工具，用于解决其他优化问题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609600"/>
            <a:ext cx="7959726" cy="911225"/>
          </a:xfrm>
        </p:spPr>
        <p:txBody>
          <a:bodyPr/>
          <a:lstStyle/>
          <a:p>
            <a:r>
              <a:rPr lang="en-US" altLang="zh-CN" sz="4400" dirty="0"/>
              <a:t>3.1 </a:t>
            </a:r>
            <a:r>
              <a:rPr lang="zh-CN" altLang="en-US" sz="4400" dirty="0"/>
              <a:t>引例</a:t>
            </a:r>
            <a:r>
              <a:rPr lang="zh-CN" altLang="en-US" sz="3600" dirty="0"/>
              <a:t>（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一般意义的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最短路问题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72930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灯片编号占位符 5">
            <a:extLst>
              <a:ext uri="{FF2B5EF4-FFF2-40B4-BE49-F238E27FC236}">
                <a16:creationId xmlns:a16="http://schemas.microsoft.com/office/drawing/2014/main" id="{A0BA0942-7907-469E-A217-244E69B76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15D5FE-6E38-4B50-A236-E0DB5AEA87FE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75F0B696-D4AF-439E-BE6D-E1C4E60AD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65119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– </a:t>
            </a:r>
            <a:r>
              <a:rPr lang="zh-CN" altLang="en-US" dirty="0"/>
              <a:t>基本思想</a:t>
            </a:r>
          </a:p>
        </p:txBody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71825F08-4243-40C2-97FD-D6BAB074E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676400"/>
            <a:ext cx="8035925" cy="276479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在一个</a:t>
            </a:r>
            <a:r>
              <a:rPr lang="zh-CN" alt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赋权有向图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中寻求</a:t>
            </a:r>
            <a:r>
              <a:rPr lang="zh-CN" alt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的方法，实际上，是求从给定一个点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到任一个点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400" b="1" u="sng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如下事实是经常要利用的</a:t>
            </a: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最短路算法的基本思想</a:t>
            </a: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中从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的最短路，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中的一个点，</a:t>
            </a:r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那么，从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的路是从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的最短路。</a:t>
            </a:r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36313C-6818-47A2-8C65-97742D10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96770"/>
            <a:ext cx="7924799" cy="1346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灯片编号占位符 5">
            <a:extLst>
              <a:ext uri="{FF2B5EF4-FFF2-40B4-BE49-F238E27FC236}">
                <a16:creationId xmlns:a16="http://schemas.microsoft.com/office/drawing/2014/main" id="{A0BA0942-7907-469E-A217-244E69B76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15D5FE-6E38-4B50-A236-E0DB5AEA87FE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75F0B696-D4AF-439E-BE6D-E1C4E60AD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67405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  <a:r>
              <a:rPr lang="en-US" altLang="zh-CN" dirty="0"/>
              <a:t>– </a:t>
            </a:r>
            <a:r>
              <a:rPr lang="zh-CN" altLang="en-US" dirty="0"/>
              <a:t>基本思想</a:t>
            </a:r>
          </a:p>
        </p:txBody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71825F08-4243-40C2-97FD-D6BAB074E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676400"/>
            <a:ext cx="8035925" cy="2514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最短路算法的基本思想</a:t>
            </a:r>
          </a:p>
          <a:p>
            <a:pPr lvl="1">
              <a:lnSpc>
                <a:spcPct val="11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中从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的最短路，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中的一个点，那么，从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的路是从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的最短路。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事实上，如果这个结论不成立，设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的最短路，令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P′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的路，那么，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P′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的权就比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的权小，这与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的最短路矛盾。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36313C-6818-47A2-8C65-97742D10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267200"/>
            <a:ext cx="6912864" cy="9328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E20BD6-48A2-4A4F-86E6-592046EDC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181600"/>
            <a:ext cx="6934200" cy="95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灯片编号占位符 5">
            <a:extLst>
              <a:ext uri="{FF2B5EF4-FFF2-40B4-BE49-F238E27FC236}">
                <a16:creationId xmlns:a16="http://schemas.microsoft.com/office/drawing/2014/main" id="{80A31249-05B1-41FA-B972-CC0247BCF5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E097264-0C6D-4828-8184-FB1976D510FA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D32ABA69-7726-4017-80CF-ED46E563E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62769A3E-0E48-4BEA-BB97-1F80E6334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848600" cy="35052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首先介绍所有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情形下的求最短路的方法。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目前公认的好方法是由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迪杰斯特拉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1959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年提出的。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487" lvl="1" indent="0">
              <a:lnSpc>
                <a:spcPct val="120000"/>
              </a:lnSpc>
              <a:buNone/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的基本思想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出发，逐步向外探寻最短路。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具体方法：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标号法</a:t>
            </a:r>
            <a:endParaRPr lang="en-US" altLang="zh-CN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灯片编号占位符 5">
            <a:extLst>
              <a:ext uri="{FF2B5EF4-FFF2-40B4-BE49-F238E27FC236}">
                <a16:creationId xmlns:a16="http://schemas.microsoft.com/office/drawing/2014/main" id="{80A31249-05B1-41FA-B972-CC0247BCF5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E097264-0C6D-4828-8184-FB1976D510F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D32ABA69-7726-4017-80CF-ED46E563E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  <a:r>
              <a:rPr lang="en-US" altLang="zh-CN" dirty="0"/>
              <a:t>--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迪杰斯特拉方法</a:t>
            </a:r>
            <a:endParaRPr lang="zh-CN" altLang="en-US" sz="2800" dirty="0"/>
          </a:p>
        </p:txBody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62769A3E-0E48-4BEA-BB97-1F80E6334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752600"/>
            <a:ext cx="7731125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的基本思想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标号法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出发，逐步向外探寻最短路。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8687" lvl="1" indent="-4572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求解过程中，与每个点对应，记录下一个数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称为这个点的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，它或者表示从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到该点的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，或者是从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到该点的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8687" lvl="1" indent="-4572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每一步是去修改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标号，并且把某一个具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标号的点改变为具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标号的点，从而使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标号的顶点数多一个，这样，至多经过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p−1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步，就可以求出从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到各点的最短路。</a:t>
            </a:r>
          </a:p>
        </p:txBody>
      </p:sp>
    </p:spTree>
    <p:extLst>
      <p:ext uri="{BB962C8B-B14F-4D97-AF65-F5344CB8AC3E}">
        <p14:creationId xmlns:p14="http://schemas.microsoft.com/office/powerpoint/2010/main" val="4046342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灯片编号占位符 5">
            <a:extLst>
              <a:ext uri="{FF2B5EF4-FFF2-40B4-BE49-F238E27FC236}">
                <a16:creationId xmlns:a16="http://schemas.microsoft.com/office/drawing/2014/main" id="{D8B7D5CF-67AC-407E-8B9C-9F359E2B9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2806448-5BFE-4B4E-9DBF-3C4BC350D855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F34CDB14-0983-44F2-B106-4BAC22388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723132"/>
            <a:ext cx="6664325" cy="797693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--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zh-CN" altLang="en-US" sz="2800" dirty="0"/>
          </a:p>
        </p:txBody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AB16AFDA-AA90-48E6-B677-6C131D42C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534401" cy="838200"/>
          </a:xfrm>
        </p:spPr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10]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为例说明该方法的基本思想。</a:t>
            </a:r>
          </a:p>
          <a:p>
            <a:pPr marL="630000"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。因为所有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≥0,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故有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。这时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标号的点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2BB4B-C4A1-4EB6-BC70-0CDC61495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837" y="4800600"/>
            <a:ext cx="3583863" cy="2035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71B69DB5-ACF4-76EB-0E0F-6A89B64E6C44}"/>
              </a:ext>
            </a:extLst>
          </p:cNvPr>
          <p:cNvSpPr/>
          <p:nvPr/>
        </p:nvSpPr>
        <p:spPr>
          <a:xfrm>
            <a:off x="5279232" y="5638800"/>
            <a:ext cx="287337" cy="29408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0C7068-6799-7B19-C64D-0E4B738CD8FC}"/>
              </a:ext>
            </a:extLst>
          </p:cNvPr>
          <p:cNvSpPr txBox="1"/>
          <p:nvPr/>
        </p:nvSpPr>
        <p:spPr>
          <a:xfrm>
            <a:off x="685800" y="4228815"/>
            <a:ext cx="7848600" cy="4955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2B5E7D-A916-4767-378B-B49754EA507F}"/>
              </a:ext>
            </a:extLst>
          </p:cNvPr>
          <p:cNvSpPr txBox="1"/>
          <p:nvPr/>
        </p:nvSpPr>
        <p:spPr>
          <a:xfrm>
            <a:off x="1066800" y="4829175"/>
            <a:ext cx="3429000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spcBef>
                <a:spcPts val="12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所以从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的最短路是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这样就可以使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变成具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标号的点。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6EB3F76-B693-2B5D-54AE-80547AA12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7" y="3119834"/>
            <a:ext cx="7848600" cy="103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30000" lvl="2">
              <a:buFont typeface="Wingdings" panose="05000000000000000000" pitchFamily="2" charset="2"/>
              <a:buChar char="Ø"/>
            </a:pP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如果从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出发沿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，需要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单位的费用；</a:t>
            </a:r>
          </a:p>
          <a:p>
            <a:pPr marL="630000" lvl="2">
              <a:buFont typeface="Wingdings" panose="05000000000000000000" pitchFamily="2" charset="2"/>
              <a:buChar char="Ø"/>
            </a:pP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如果从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，则需要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单位的费用；</a:t>
            </a:r>
          </a:p>
          <a:p>
            <a:pPr marL="630000" lvl="2">
              <a:buFont typeface="Wingdings" panose="05000000000000000000" pitchFamily="2" charset="2"/>
              <a:buChar char="Ø"/>
            </a:pP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类似地，若沿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</a:t>
            </a:r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，需要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i="1" u="sng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18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单位的费用。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77E64B6-7C6A-3FFA-2D65-A76F3D5DD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" y="2560638"/>
            <a:ext cx="8534401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30000" lvl="1"/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现考查从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发出的三条弧，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9CD366A-F668-D33C-442A-E1E1DF653E00}"/>
              </a:ext>
            </a:extLst>
          </p:cNvPr>
          <p:cNvSpPr/>
          <p:nvPr/>
        </p:nvSpPr>
        <p:spPr>
          <a:xfrm>
            <a:off x="5982575" y="4798219"/>
            <a:ext cx="287337" cy="2940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6</a:t>
            </a:r>
            <a:endParaRPr lang="zh-CN" altLang="en-US" sz="1600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0A23752-D58A-F30C-E84A-338E81547C6D}"/>
              </a:ext>
            </a:extLst>
          </p:cNvPr>
          <p:cNvSpPr/>
          <p:nvPr/>
        </p:nvSpPr>
        <p:spPr>
          <a:xfrm>
            <a:off x="6037263" y="5486400"/>
            <a:ext cx="287337" cy="2940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875A247-66EA-8B73-DFDE-684DAA7F1079}"/>
              </a:ext>
            </a:extLst>
          </p:cNvPr>
          <p:cNvSpPr/>
          <p:nvPr/>
        </p:nvSpPr>
        <p:spPr>
          <a:xfrm>
            <a:off x="5961063" y="6477000"/>
            <a:ext cx="287337" cy="2940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10DC92D-B568-B3E2-CCF1-3B79130734AA}"/>
              </a:ext>
            </a:extLst>
          </p:cNvPr>
          <p:cNvSpPr/>
          <p:nvPr/>
        </p:nvSpPr>
        <p:spPr>
          <a:xfrm>
            <a:off x="5982576" y="6477000"/>
            <a:ext cx="287337" cy="29408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1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2048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/>
      <p:bldP spid="9" grpId="0"/>
      <p:bldP spid="10" grpId="0"/>
      <p:bldP spid="11" grpId="0" animBg="1"/>
      <p:bldP spid="12" grpId="0" animBg="1"/>
      <p:bldP spid="13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灯片编号占位符 5">
            <a:extLst>
              <a:ext uri="{FF2B5EF4-FFF2-40B4-BE49-F238E27FC236}">
                <a16:creationId xmlns:a16="http://schemas.microsoft.com/office/drawing/2014/main" id="{86A00C5C-738B-4CC7-B6B1-076D2081EB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8BB7B96-5051-49BD-B039-3A7FCA699C36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D814213D-D6A3-4E8A-AE93-D326F882E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6511925" cy="835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--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zh-CN" altLang="en-US" sz="2800" dirty="0"/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8580F12D-9F8E-4482-A325-CE80FA502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676400"/>
            <a:ext cx="8280400" cy="1524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现考查从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指向其余点的弧</a:t>
            </a: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由上已知，从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出发，分别沿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，需要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单位的费用，而从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到达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，所需要的费用是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=1+10=11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单位，因为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B532F-D7A5-48D3-B314-A4F5FBA47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780141"/>
            <a:ext cx="3657600" cy="2077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6E3D8AD8-F86D-6ADD-9960-431A04FE7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733800"/>
            <a:ext cx="7467600" cy="747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可以断言，从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的最短路是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。这样又可以使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0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变成具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标号的点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9A6D06-1379-6C2E-C0E9-333015A4275F}"/>
              </a:ext>
            </a:extLst>
          </p:cNvPr>
          <p:cNvSpPr txBox="1"/>
          <p:nvPr/>
        </p:nvSpPr>
        <p:spPr>
          <a:xfrm>
            <a:off x="1066800" y="3223927"/>
            <a:ext cx="7848600" cy="4955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6BD52-EDAD-C6C1-80F6-CF035C0C3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81214"/>
            <a:ext cx="7467600" cy="49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重复这个过程，可以求出从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到任一点的最短路。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3007F6E-1473-7F0B-388B-5787AFAC5F8B}"/>
              </a:ext>
            </a:extLst>
          </p:cNvPr>
          <p:cNvSpPr/>
          <p:nvPr/>
        </p:nvSpPr>
        <p:spPr>
          <a:xfrm>
            <a:off x="2514519" y="5638800"/>
            <a:ext cx="287337" cy="29408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5C4C1EE-7AED-95BF-86E4-DC967B8C0795}"/>
              </a:ext>
            </a:extLst>
          </p:cNvPr>
          <p:cNvSpPr/>
          <p:nvPr/>
        </p:nvSpPr>
        <p:spPr>
          <a:xfrm>
            <a:off x="3217863" y="6477000"/>
            <a:ext cx="287337" cy="29408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B4924BA-CC1C-1A69-61E2-0A616F5E6358}"/>
              </a:ext>
            </a:extLst>
          </p:cNvPr>
          <p:cNvSpPr/>
          <p:nvPr/>
        </p:nvSpPr>
        <p:spPr>
          <a:xfrm>
            <a:off x="3247150" y="4833654"/>
            <a:ext cx="287337" cy="2940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6</a:t>
            </a:r>
            <a:endParaRPr lang="zh-CN" altLang="en-US" sz="16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E0622EF-8ADC-94EE-AE8E-583E21DEBD0C}"/>
              </a:ext>
            </a:extLst>
          </p:cNvPr>
          <p:cNvSpPr/>
          <p:nvPr/>
        </p:nvSpPr>
        <p:spPr>
          <a:xfrm>
            <a:off x="4294981" y="6261497"/>
            <a:ext cx="554037" cy="2940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11</a:t>
            </a:r>
            <a:endParaRPr lang="zh-CN" altLang="en-US" sz="1200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D4977AD-E121-B9A9-7551-1A5C2A3EFAC6}"/>
              </a:ext>
            </a:extLst>
          </p:cNvPr>
          <p:cNvSpPr/>
          <p:nvPr/>
        </p:nvSpPr>
        <p:spPr>
          <a:xfrm>
            <a:off x="3276600" y="5410200"/>
            <a:ext cx="287337" cy="2940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9B097C3-5EA8-5792-9F40-C1C4C4AE3050}"/>
              </a:ext>
            </a:extLst>
          </p:cNvPr>
          <p:cNvSpPr/>
          <p:nvPr/>
        </p:nvSpPr>
        <p:spPr>
          <a:xfrm>
            <a:off x="3285250" y="5426274"/>
            <a:ext cx="287337" cy="29408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3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6007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10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灯片编号占位符 5">
            <a:extLst>
              <a:ext uri="{FF2B5EF4-FFF2-40B4-BE49-F238E27FC236}">
                <a16:creationId xmlns:a16="http://schemas.microsoft.com/office/drawing/2014/main" id="{6E7743E4-EA52-403E-B32F-FC07A73B01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0D1C650-2A26-4744-A58D-7E11CE339926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FA8423E7-E0C4-4BDC-93CB-1A40CE1E4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6435725" cy="835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--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zh-CN" altLang="en-US" sz="2800" dirty="0"/>
          </a:p>
        </p:txBody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12996439-A13E-4A4B-8116-174CF8B03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75" y="1752600"/>
            <a:ext cx="7883525" cy="4343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方法中</a:t>
            </a:r>
          </a:p>
          <a:p>
            <a:pPr lvl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分别表示某个点的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标号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lvl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表示第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步时具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标号点的集合。</a:t>
            </a:r>
          </a:p>
          <a:p>
            <a:pPr lvl="1">
              <a:lnSpc>
                <a:spcPct val="14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为了在求出从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到各点的距离的同时，也求出从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到各点的最短路，给每个点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以一个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值。算法终止时，如果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，表示在从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的最短路上，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的前一个点是</a:t>
            </a:r>
            <a:r>
              <a:rPr lang="en-US" altLang="zh-CN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；如果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)=M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，则表示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中不含从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的路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灯片编号占位符 5">
            <a:extLst>
              <a:ext uri="{FF2B5EF4-FFF2-40B4-BE49-F238E27FC236}">
                <a16:creationId xmlns:a16="http://schemas.microsoft.com/office/drawing/2014/main" id="{97D489FE-9124-4BC9-8AFD-7A35BF85C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B8D3AC-80A4-492A-9E86-7F47FAD4C3CF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EE85A11C-A8DC-4371-B5D6-0EAD3A2A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6359525" cy="7588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--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zh-CN" altLang="en-US" dirty="0"/>
          </a:p>
        </p:txBody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233CA051-AC38-49B0-8D44-E8DCA2EEE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237" y="1709738"/>
            <a:ext cx="7675563" cy="4386262"/>
          </a:xfrm>
        </p:spPr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方法求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到各个顶点的最短路</a:t>
            </a: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这时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/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487" lvl="1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)=+∞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)=M  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，以及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C0CFE-F70E-4E91-BC3E-3FCB7D36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29000"/>
            <a:ext cx="5486400" cy="311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AABF8DDC-380A-41D9-8B67-E92E4BADD989}"/>
              </a:ext>
            </a:extLst>
          </p:cNvPr>
          <p:cNvSpPr/>
          <p:nvPr/>
        </p:nvSpPr>
        <p:spPr>
          <a:xfrm>
            <a:off x="1600200" y="46482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142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灯片编号占位符 5">
            <a:extLst>
              <a:ext uri="{FF2B5EF4-FFF2-40B4-BE49-F238E27FC236}">
                <a16:creationId xmlns:a16="http://schemas.microsoft.com/office/drawing/2014/main" id="{97D489FE-9124-4BC9-8AFD-7A35BF85C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B8D3AC-80A4-492A-9E86-7F47FAD4C3CF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EE85A11C-A8DC-4371-B5D6-0EAD3A2A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41497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233CA051-AC38-49B0-8D44-E8DCA2EEE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35125"/>
            <a:ext cx="6989763" cy="194627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转入②，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，故把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同理，把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34C0CFE-F70E-4E91-BC3E-3FCB7D36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269" y="13947"/>
            <a:ext cx="3026188" cy="1719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4C0CFE-F70E-4E91-BC3E-3FCB7D36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01" y="3403527"/>
            <a:ext cx="6117399" cy="347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AABF8DDC-380A-41D9-8B67-E92E4BADD989}"/>
              </a:ext>
            </a:extLst>
          </p:cNvPr>
          <p:cNvSpPr/>
          <p:nvPr/>
        </p:nvSpPr>
        <p:spPr>
          <a:xfrm>
            <a:off x="2514600" y="4789879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6D9B708-35C0-4DFD-97FA-1F29FB76D826}"/>
              </a:ext>
            </a:extLst>
          </p:cNvPr>
          <p:cNvSpPr/>
          <p:nvPr/>
        </p:nvSpPr>
        <p:spPr>
          <a:xfrm>
            <a:off x="3581400" y="3452921"/>
            <a:ext cx="6858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FBB977C-9968-4E89-B42E-32B91F54795D}"/>
              </a:ext>
            </a:extLst>
          </p:cNvPr>
          <p:cNvSpPr/>
          <p:nvPr/>
        </p:nvSpPr>
        <p:spPr>
          <a:xfrm>
            <a:off x="3657600" y="4745481"/>
            <a:ext cx="6858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C15E79A-E0D1-4482-9012-6C05EE55910B}"/>
              </a:ext>
            </a:extLst>
          </p:cNvPr>
          <p:cNvSpPr/>
          <p:nvPr/>
        </p:nvSpPr>
        <p:spPr>
          <a:xfrm>
            <a:off x="3657600" y="6111401"/>
            <a:ext cx="685800" cy="609600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35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灯片编号占位符 5">
            <a:extLst>
              <a:ext uri="{FF2B5EF4-FFF2-40B4-BE49-F238E27FC236}">
                <a16:creationId xmlns:a16="http://schemas.microsoft.com/office/drawing/2014/main" id="{97D489FE-9124-4BC9-8AFD-7A35BF85C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B8D3AC-80A4-492A-9E86-7F47FAD4C3CF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EE85A11C-A8DC-4371-B5D6-0EAD3A2A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36925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233CA051-AC38-49B0-8D44-E8DCA2EEE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682182"/>
            <a:ext cx="8229600" cy="119550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转入③，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在所有的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标号中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最小，于是令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34C0CFE-F70E-4E91-BC3E-3FCB7D36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76200"/>
            <a:ext cx="3160321" cy="1795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4C0CFE-F70E-4E91-BC3E-3FCB7D36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819400"/>
            <a:ext cx="6726999" cy="3821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AABF8DDC-380A-41D9-8B67-E92E4BADD989}"/>
              </a:ext>
            </a:extLst>
          </p:cNvPr>
          <p:cNvSpPr/>
          <p:nvPr/>
        </p:nvSpPr>
        <p:spPr>
          <a:xfrm>
            <a:off x="2209800" y="4365464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6D9B708-35C0-4DFD-97FA-1F29FB76D826}"/>
              </a:ext>
            </a:extLst>
          </p:cNvPr>
          <p:cNvSpPr/>
          <p:nvPr/>
        </p:nvSpPr>
        <p:spPr>
          <a:xfrm>
            <a:off x="3444586" y="2874246"/>
            <a:ext cx="6858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FBB977C-9968-4E89-B42E-32B91F54795D}"/>
              </a:ext>
            </a:extLst>
          </p:cNvPr>
          <p:cNvSpPr/>
          <p:nvPr/>
        </p:nvSpPr>
        <p:spPr>
          <a:xfrm>
            <a:off x="3429000" y="4357255"/>
            <a:ext cx="6858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C15E79A-E0D1-4482-9012-6C05EE55910B}"/>
              </a:ext>
            </a:extLst>
          </p:cNvPr>
          <p:cNvSpPr/>
          <p:nvPr/>
        </p:nvSpPr>
        <p:spPr>
          <a:xfrm>
            <a:off x="3429000" y="5993968"/>
            <a:ext cx="685800" cy="609600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C94BC3-6811-4EC2-9F5E-F861EB544799}"/>
              </a:ext>
            </a:extLst>
          </p:cNvPr>
          <p:cNvSpPr/>
          <p:nvPr/>
        </p:nvSpPr>
        <p:spPr>
          <a:xfrm>
            <a:off x="3429000" y="5993968"/>
            <a:ext cx="685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433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灯片编号占位符 5">
            <a:extLst>
              <a:ext uri="{FF2B5EF4-FFF2-40B4-BE49-F238E27FC236}">
                <a16:creationId xmlns:a16="http://schemas.microsoft.com/office/drawing/2014/main" id="{97D489FE-9124-4BC9-8AFD-7A35BF85C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B8D3AC-80A4-492A-9E86-7F47FAD4C3C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EE85A11C-A8DC-4371-B5D6-0EAD3A2A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233CA051-AC38-49B0-8D44-E8DCA2EEE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1"/>
            <a:ext cx="7620000" cy="1752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  <a:p>
            <a:pPr lvl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转入②，把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转入③，在所有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标号中，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最小，于是令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A55C64B-EA2A-47AE-AD82-EF87E5FF1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77" y="33442"/>
            <a:ext cx="2819400" cy="16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3205759-03D0-47C6-87A6-52AA990FA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25" y="3639750"/>
            <a:ext cx="4063975" cy="23885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89FD3EE-640D-435E-A689-2A5771B3A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3639751"/>
            <a:ext cx="4038600" cy="2388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灯片编号占位符 5">
            <a:extLst>
              <a:ext uri="{FF2B5EF4-FFF2-40B4-BE49-F238E27FC236}">
                <a16:creationId xmlns:a16="http://schemas.microsoft.com/office/drawing/2014/main" id="{97D489FE-9124-4BC9-8AFD-7A35BF85C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B8D3AC-80A4-492A-9E86-7F47FAD4C3CF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EE85A11C-A8DC-4371-B5D6-0EAD3A2A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233CA051-AC38-49B0-8D44-E8DCA2EEE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592486"/>
            <a:ext cx="7620000" cy="2115751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</a:p>
          <a:p>
            <a:pPr marL="9000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转入②，因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9000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转入③，在所有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标号中，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最小，于是令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A55C64B-EA2A-47AE-AD82-EF87E5FF1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77" y="33442"/>
            <a:ext cx="2819400" cy="16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13E6FF-B0CF-4D74-B93E-3411979C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832" y="3718917"/>
            <a:ext cx="5029200" cy="2974481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4386407" y="3749424"/>
            <a:ext cx="496853" cy="4294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椭圆 2"/>
          <p:cNvSpPr/>
          <p:nvPr/>
        </p:nvSpPr>
        <p:spPr>
          <a:xfrm>
            <a:off x="4384675" y="3749424"/>
            <a:ext cx="492125" cy="44157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33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灯片编号占位符 5">
            <a:extLst>
              <a:ext uri="{FF2B5EF4-FFF2-40B4-BE49-F238E27FC236}">
                <a16:creationId xmlns:a16="http://schemas.microsoft.com/office/drawing/2014/main" id="{DB742CE7-9755-4C84-8D35-38582D30A4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5B284D-1742-46CA-A765-BF83678687C6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4E5E4A4F-EFB1-4DCB-8A99-D85338D3B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84997" name="Rectangle 3">
            <a:extLst>
              <a:ext uri="{FF2B5EF4-FFF2-40B4-BE49-F238E27FC236}">
                <a16:creationId xmlns:a16="http://schemas.microsoft.com/office/drawing/2014/main" id="{B91326BA-D575-4CE5-8E38-CCA5A10215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7062" y="1752600"/>
            <a:ext cx="7907338" cy="4038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转入②，把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转入③，在所有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标号中，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最小，于是令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转入②，把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转入③，在所有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标号中，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)=9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最小，于是令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)=9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k=7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1454C4F-6AF0-4569-87BE-FE06EDFB7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77" y="33442"/>
            <a:ext cx="2819400" cy="16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灯片编号占位符 5">
            <a:extLst>
              <a:ext uri="{FF2B5EF4-FFF2-40B4-BE49-F238E27FC236}">
                <a16:creationId xmlns:a16="http://schemas.microsoft.com/office/drawing/2014/main" id="{AB79CACD-C705-49A9-9247-987C097D7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0381765-0CFF-4DFC-B765-115E0C8B7F5F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3D8DA16D-F59B-4579-B514-FB1C9446F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86021" name="Rectangle 3">
            <a:extLst>
              <a:ext uri="{FF2B5EF4-FFF2-40B4-BE49-F238E27FC236}">
                <a16:creationId xmlns:a16="http://schemas.microsoft.com/office/drawing/2014/main" id="{F709DB03-8D79-4A2A-A4FA-80E9A7F4A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1676400"/>
            <a:ext cx="7605712" cy="44958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 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转入②，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，，但因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)+ω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不变。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转入③，在所有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标号中，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最小，令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 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转入②，从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出发没有弧指向不属于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的点，故直接转入③。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转入③，在所有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标号中，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最小，令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S7=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 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=7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转入③，这时仅有的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)=+∞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，算法终止。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96311FF-4923-4764-BBDC-0034C5FE3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77" y="33442"/>
            <a:ext cx="2819400" cy="16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灯片编号占位符 5">
            <a:extLst>
              <a:ext uri="{FF2B5EF4-FFF2-40B4-BE49-F238E27FC236}">
                <a16:creationId xmlns:a16="http://schemas.microsoft.com/office/drawing/2014/main" id="{97D489FE-9124-4BC9-8AFD-7A35BF85C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B8D3AC-80A4-492A-9E86-7F47FAD4C3CF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EE85A11C-A8DC-4371-B5D6-0EAD3A2A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41497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34C0CFE-F70E-4E91-BC3E-3FCB7D36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01" y="1808637"/>
            <a:ext cx="7412799" cy="42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AABF8DDC-380A-41D9-8B67-E92E4BADD989}"/>
              </a:ext>
            </a:extLst>
          </p:cNvPr>
          <p:cNvSpPr/>
          <p:nvPr/>
        </p:nvSpPr>
        <p:spPr>
          <a:xfrm>
            <a:off x="990600" y="3581400"/>
            <a:ext cx="685800" cy="6096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6D9B708-35C0-4DFD-97FA-1F29FB76D826}"/>
              </a:ext>
            </a:extLst>
          </p:cNvPr>
          <p:cNvSpPr/>
          <p:nvPr/>
        </p:nvSpPr>
        <p:spPr>
          <a:xfrm>
            <a:off x="2209800" y="1905000"/>
            <a:ext cx="6858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FBB977C-9968-4E89-B42E-32B91F54795D}"/>
              </a:ext>
            </a:extLst>
          </p:cNvPr>
          <p:cNvSpPr/>
          <p:nvPr/>
        </p:nvSpPr>
        <p:spPr>
          <a:xfrm>
            <a:off x="2306637" y="3581400"/>
            <a:ext cx="6858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C15E79A-E0D1-4482-9012-6C05EE55910B}"/>
              </a:ext>
            </a:extLst>
          </p:cNvPr>
          <p:cNvSpPr/>
          <p:nvPr/>
        </p:nvSpPr>
        <p:spPr>
          <a:xfrm>
            <a:off x="2306637" y="5218113"/>
            <a:ext cx="685800" cy="6096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382C4AB-6DB6-4A11-BB5C-FF99E2E2725E}"/>
              </a:ext>
            </a:extLst>
          </p:cNvPr>
          <p:cNvSpPr/>
          <p:nvPr/>
        </p:nvSpPr>
        <p:spPr>
          <a:xfrm>
            <a:off x="4343400" y="5257800"/>
            <a:ext cx="685800" cy="6096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EC94BC3-6811-4EC2-9F5E-F861EB544799}"/>
              </a:ext>
            </a:extLst>
          </p:cNvPr>
          <p:cNvSpPr/>
          <p:nvPr/>
        </p:nvSpPr>
        <p:spPr>
          <a:xfrm>
            <a:off x="2286000" y="3581400"/>
            <a:ext cx="685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51A2C64-1E71-4FC0-879C-7DC34BFE93B1}"/>
              </a:ext>
            </a:extLst>
          </p:cNvPr>
          <p:cNvSpPr/>
          <p:nvPr/>
        </p:nvSpPr>
        <p:spPr>
          <a:xfrm>
            <a:off x="2218151" y="1905000"/>
            <a:ext cx="6858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D135A1E-582D-4C50-A834-62C46CC09E1B}"/>
              </a:ext>
            </a:extLst>
          </p:cNvPr>
          <p:cNvSpPr/>
          <p:nvPr/>
        </p:nvSpPr>
        <p:spPr>
          <a:xfrm>
            <a:off x="4381500" y="1937309"/>
            <a:ext cx="685800" cy="609600"/>
          </a:xfrm>
          <a:prstGeom prst="ellipse">
            <a:avLst/>
          </a:prstGeom>
          <a:solidFill>
            <a:srgbClr val="A8BC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7664705-333D-46D7-8359-0C8F71A871A0}"/>
              </a:ext>
            </a:extLst>
          </p:cNvPr>
          <p:cNvSpPr/>
          <p:nvPr/>
        </p:nvSpPr>
        <p:spPr>
          <a:xfrm>
            <a:off x="5808665" y="4724400"/>
            <a:ext cx="685800" cy="609600"/>
          </a:xfrm>
          <a:prstGeom prst="ellipse">
            <a:avLst/>
          </a:prstGeom>
          <a:solidFill>
            <a:srgbClr val="E5E7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9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B54374C-E769-4604-862A-E041E9468FE9}"/>
              </a:ext>
            </a:extLst>
          </p:cNvPr>
          <p:cNvSpPr/>
          <p:nvPr/>
        </p:nvSpPr>
        <p:spPr>
          <a:xfrm>
            <a:off x="7010400" y="4267200"/>
            <a:ext cx="685800" cy="609600"/>
          </a:xfrm>
          <a:prstGeom prst="ellipse">
            <a:avLst/>
          </a:prstGeom>
          <a:solidFill>
            <a:srgbClr val="E5E7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12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ACEC3E9-1CDC-4E83-A9CB-1582A4C74778}"/>
              </a:ext>
            </a:extLst>
          </p:cNvPr>
          <p:cNvSpPr/>
          <p:nvPr/>
        </p:nvSpPr>
        <p:spPr>
          <a:xfrm>
            <a:off x="4381500" y="1945721"/>
            <a:ext cx="685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1DF61C8-34E2-4576-8C1C-8B9214938103}"/>
              </a:ext>
            </a:extLst>
          </p:cNvPr>
          <p:cNvSpPr/>
          <p:nvPr/>
        </p:nvSpPr>
        <p:spPr>
          <a:xfrm>
            <a:off x="4354373" y="5257800"/>
            <a:ext cx="685800" cy="609600"/>
          </a:xfrm>
          <a:prstGeom prst="ellipse">
            <a:avLst/>
          </a:prstGeom>
          <a:solidFill>
            <a:srgbClr val="E5E7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10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8EAE1F9-A433-4D2A-9030-D0A0826FC428}"/>
              </a:ext>
            </a:extLst>
          </p:cNvPr>
          <p:cNvSpPr/>
          <p:nvPr/>
        </p:nvSpPr>
        <p:spPr>
          <a:xfrm>
            <a:off x="5797692" y="4724400"/>
            <a:ext cx="685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53A79FA-077F-4802-B333-51F45DAEEA0B}"/>
              </a:ext>
            </a:extLst>
          </p:cNvPr>
          <p:cNvSpPr/>
          <p:nvPr/>
        </p:nvSpPr>
        <p:spPr>
          <a:xfrm>
            <a:off x="6999427" y="4276725"/>
            <a:ext cx="685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6813F2C-F279-4FEE-872D-6D9BD108042C}"/>
              </a:ext>
            </a:extLst>
          </p:cNvPr>
          <p:cNvCxnSpPr>
            <a:endCxn id="13" idx="2"/>
          </p:cNvCxnSpPr>
          <p:nvPr/>
        </p:nvCxnSpPr>
        <p:spPr>
          <a:xfrm>
            <a:off x="1752600" y="3849688"/>
            <a:ext cx="533400" cy="3651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0173F27-A7D0-4327-9E70-07A507B487EC}"/>
              </a:ext>
            </a:extLst>
          </p:cNvPr>
          <p:cNvCxnSpPr/>
          <p:nvPr/>
        </p:nvCxnSpPr>
        <p:spPr>
          <a:xfrm flipV="1">
            <a:off x="2628900" y="2555321"/>
            <a:ext cx="0" cy="1026079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4E76B0D-206B-4B9A-AF96-14A9B5E8D48D}"/>
              </a:ext>
            </a:extLst>
          </p:cNvPr>
          <p:cNvCxnSpPr>
            <a:cxnSpLocks/>
          </p:cNvCxnSpPr>
          <p:nvPr/>
        </p:nvCxnSpPr>
        <p:spPr>
          <a:xfrm>
            <a:off x="2872374" y="2241790"/>
            <a:ext cx="1471026" cy="8731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66374D4-142C-4F23-871C-7A7B05890F53}"/>
              </a:ext>
            </a:extLst>
          </p:cNvPr>
          <p:cNvCxnSpPr/>
          <p:nvPr/>
        </p:nvCxnSpPr>
        <p:spPr>
          <a:xfrm>
            <a:off x="4953000" y="2514600"/>
            <a:ext cx="2209800" cy="176212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4" name="Picture 5">
            <a:extLst>
              <a:ext uri="{FF2B5EF4-FFF2-40B4-BE49-F238E27FC236}">
                <a16:creationId xmlns:a16="http://schemas.microsoft.com/office/drawing/2014/main" id="{5517F86C-2DCD-4862-B45F-3F0DBF99E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77" y="33442"/>
            <a:ext cx="2819400" cy="16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DACEC3E9-1CDC-4E83-A9CB-1582A4C74778}"/>
              </a:ext>
            </a:extLst>
          </p:cNvPr>
          <p:cNvSpPr/>
          <p:nvPr/>
        </p:nvSpPr>
        <p:spPr>
          <a:xfrm>
            <a:off x="4343400" y="5247656"/>
            <a:ext cx="685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946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灯片编号占位符 5">
            <a:extLst>
              <a:ext uri="{FF2B5EF4-FFF2-40B4-BE49-F238E27FC236}">
                <a16:creationId xmlns:a16="http://schemas.microsoft.com/office/drawing/2014/main" id="{5C9F8225-6E65-4935-96A2-A8B0D1F83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EC6729C-1114-4228-9EA6-C7DF3744AC2B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87766BB0-6CD2-40AC-82CE-B673A84FD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90698DAB-004C-45BF-8A54-AD010459A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7661275" cy="21732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算法终止时的有关结果如下：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)=6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)=9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)=+∞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9492D4-25D5-4E46-8067-931FA0C2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53171"/>
            <a:ext cx="4114800" cy="2430179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D08D9020-7024-4C40-B0AE-7E7734F1D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134" y="4053171"/>
            <a:ext cx="4277781" cy="2430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629400" y="1586345"/>
            <a:ext cx="2076450" cy="13234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λ(v)=m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，表示在从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的最短路上，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的前一个点是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61766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灯片编号占位符 5">
            <a:extLst>
              <a:ext uri="{FF2B5EF4-FFF2-40B4-BE49-F238E27FC236}">
                <a16:creationId xmlns:a16="http://schemas.microsoft.com/office/drawing/2014/main" id="{5C9F8225-6E65-4935-96A2-A8B0D1F83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EC6729C-1114-4228-9EA6-C7DF3744AC2B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87766BB0-6CD2-40AC-82CE-B673A84FD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90698DAB-004C-45BF-8A54-AD010459A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923212" cy="365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上述结果表明：对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不存在路，根据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值可以求出从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例如，为求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的最短路，考查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，故最短路包含弧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；再考查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，故最短路包含弧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；类推，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，于是最短路包含弧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这样从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的最短路是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E1F871-D35E-4088-AFEF-35E5A0751EEA}"/>
              </a:ext>
            </a:extLst>
          </p:cNvPr>
          <p:cNvSpPr txBox="1"/>
          <p:nvPr/>
        </p:nvSpPr>
        <p:spPr>
          <a:xfrm>
            <a:off x="1447800" y="5486400"/>
            <a:ext cx="4648200" cy="8495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上面介绍了如何在一个赋权有向图中，求从一个顶点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到各个顶点的最短路。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B2EA6-966C-4260-9885-2A05FE0F1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77" y="33442"/>
            <a:ext cx="2819400" cy="16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灯片编号占位符 5">
            <a:extLst>
              <a:ext uri="{FF2B5EF4-FFF2-40B4-BE49-F238E27FC236}">
                <a16:creationId xmlns:a16="http://schemas.microsoft.com/office/drawing/2014/main" id="{2975C8DB-BE3C-452B-9C17-E9D4BC785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3F430A9-35C1-44FC-979F-EE6469CA0C04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41E29E66-E52B-4A6A-9DF4-16E5EAF27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6359525" cy="835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--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zh-CN" altLang="en-US" dirty="0"/>
          </a:p>
        </p:txBody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15986537-1C17-4EDA-81DA-E1707129E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1" y="1600199"/>
            <a:ext cx="8153400" cy="4572001"/>
          </a:xfrm>
        </p:spPr>
        <p:txBody>
          <a:bodyPr/>
          <a:lstStyle/>
          <a:p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方法的具体步骤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：给定赋权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有向图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D=(V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487" lvl="1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对每一个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)=+∞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，算法终止，这时，对每个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∈S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；否则转入②。</a:t>
            </a: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考查每个使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               的点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修改为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；否则转入③。</a:t>
            </a:r>
          </a:p>
          <a:p>
            <a:pPr lvl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令                                        。</a:t>
            </a:r>
          </a:p>
          <a:p>
            <a:pPr lvl="1">
              <a:lnSpc>
                <a:spcPct val="12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            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则把的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标号变为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                            ，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 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换成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，转入①；否则终止，这时对每一个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∈S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  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)=P(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，而对每一个            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)=T(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F1143E-D20C-4CEF-84F6-98C3D1C3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409950"/>
            <a:ext cx="714883" cy="3887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597B0C5-DA6D-4B55-9C27-AD9082387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176" y="4540720"/>
            <a:ext cx="2362200" cy="4884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FE5A9F-9743-4FF1-86EE-3E5F27A97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5119437"/>
            <a:ext cx="1142999" cy="3669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2C7906-515E-4170-8F19-0EAE9663C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377" y="5105400"/>
            <a:ext cx="1656823" cy="3522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EDED67A-ADED-431F-9A56-0DDCCD2F9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562" y="5781335"/>
            <a:ext cx="642518" cy="39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89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灯片编号占位符 5">
            <a:extLst>
              <a:ext uri="{FF2B5EF4-FFF2-40B4-BE49-F238E27FC236}">
                <a16:creationId xmlns:a16="http://schemas.microsoft.com/office/drawing/2014/main" id="{F6E55DA5-7E6A-4397-95BD-2F8DFC74DC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9990014-C239-4488-970F-4B286EF7E03A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331DC2E9-BECB-4C76-A35A-18C9B9E73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67405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- </a:t>
            </a:r>
            <a:r>
              <a:rPr lang="zh-CN" altLang="en-US" dirty="0"/>
              <a:t>无向图</a:t>
            </a:r>
          </a:p>
        </p:txBody>
      </p:sp>
      <p:sp>
        <p:nvSpPr>
          <p:cNvPr id="88069" name="Rectangle 3">
            <a:extLst>
              <a:ext uri="{FF2B5EF4-FFF2-40B4-BE49-F238E27FC236}">
                <a16:creationId xmlns:a16="http://schemas.microsoft.com/office/drawing/2014/main" id="{FD3B6D0E-6C69-4EBC-B608-50816F8C9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429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无向图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的最短路算法</a:t>
            </a: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对于赋权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无向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边［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］可以看作是两条弧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，它们具有相同的权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［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］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这样，在一个赋权图中，如果所有的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，只要把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方法中的“②考查每个使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)∈A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             的点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471487" lvl="1" indent="0">
              <a:lnSpc>
                <a:spcPct val="150000"/>
              </a:lnSpc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改为 “②考查每个使［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］∈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             的点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E56978-C9BB-4E15-8D29-C0D7CB469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648377"/>
            <a:ext cx="685800" cy="3704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6073461-BC83-4F72-8A38-F80829DAF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049167"/>
            <a:ext cx="685800" cy="37043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47800" y="5176317"/>
            <a:ext cx="6248400" cy="968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同样，可以求出从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到各点的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最短路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对于无向图，即为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最短链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灯片编号占位符 5">
            <a:extLst>
              <a:ext uri="{FF2B5EF4-FFF2-40B4-BE49-F238E27FC236}">
                <a16:creationId xmlns:a16="http://schemas.microsoft.com/office/drawing/2014/main" id="{7103B475-77F2-46B6-9A3C-0B5B5E35F7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D2F47D-D9A5-4F9C-A3A2-422D3D302FD2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5FE52170-059F-466B-92E5-2210C9A32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733194"/>
            <a:ext cx="8001000" cy="787631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-- </a:t>
            </a:r>
            <a:r>
              <a:rPr lang="zh-CN" altLang="en-US" dirty="0"/>
              <a:t>无向图</a:t>
            </a:r>
          </a:p>
        </p:txBody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7F830A23-F256-45A9-AF85-50AC2C612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720850"/>
            <a:ext cx="8118475" cy="94615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（迪杰斯特拉）方法求图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所示的赋权图中，从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的最短路。</a:t>
            </a:r>
          </a:p>
        </p:txBody>
      </p:sp>
      <p:pic>
        <p:nvPicPr>
          <p:cNvPr id="89094" name="Picture 4">
            <a:extLst>
              <a:ext uri="{FF2B5EF4-FFF2-40B4-BE49-F238E27FC236}">
                <a16:creationId xmlns:a16="http://schemas.microsoft.com/office/drawing/2014/main" id="{7B12C992-875C-4D14-A781-8900CC1AE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463" y="3132931"/>
            <a:ext cx="5213430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5" name="Text Box 5">
            <a:extLst>
              <a:ext uri="{FF2B5EF4-FFF2-40B4-BE49-F238E27FC236}">
                <a16:creationId xmlns:a16="http://schemas.microsoft.com/office/drawing/2014/main" id="{BD4415B9-C9C7-4670-8283-F6F65FE76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802920"/>
            <a:ext cx="92075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" name="椭圆 1"/>
          <p:cNvSpPr/>
          <p:nvPr/>
        </p:nvSpPr>
        <p:spPr>
          <a:xfrm>
            <a:off x="1371600" y="4114800"/>
            <a:ext cx="533400" cy="762000"/>
          </a:xfrm>
          <a:prstGeom prst="ellipse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2286000" y="5456237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2362200" y="4299466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2" name="椭圆 11"/>
          <p:cNvSpPr/>
          <p:nvPr/>
        </p:nvSpPr>
        <p:spPr>
          <a:xfrm>
            <a:off x="2358736" y="3048000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2286000" y="5342731"/>
            <a:ext cx="758536" cy="744537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3733800" y="3124200"/>
            <a:ext cx="529936" cy="6450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7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398568" y="4240418"/>
            <a:ext cx="529936" cy="6450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3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733800" y="5450959"/>
            <a:ext cx="702830" cy="6450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2345538" y="3013231"/>
            <a:ext cx="569768" cy="665725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5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3693968" y="3106737"/>
            <a:ext cx="569768" cy="665725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6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405495" y="4230927"/>
            <a:ext cx="569768" cy="665725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3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3733800" y="5454180"/>
            <a:ext cx="685800" cy="64182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23" name="椭圆 22"/>
          <p:cNvSpPr/>
          <p:nvPr/>
        </p:nvSpPr>
        <p:spPr>
          <a:xfrm>
            <a:off x="4673520" y="5073179"/>
            <a:ext cx="685800" cy="64182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>
            <a:off x="5592130" y="4750464"/>
            <a:ext cx="685800" cy="64182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25" name="椭圆 24"/>
          <p:cNvSpPr/>
          <p:nvPr/>
        </p:nvSpPr>
        <p:spPr>
          <a:xfrm>
            <a:off x="5650714" y="3630662"/>
            <a:ext cx="685800" cy="64182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6" name="椭圆 25"/>
          <p:cNvSpPr/>
          <p:nvPr/>
        </p:nvSpPr>
        <p:spPr>
          <a:xfrm>
            <a:off x="5708730" y="3633741"/>
            <a:ext cx="569768" cy="665725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8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655328" y="4750308"/>
            <a:ext cx="681186" cy="665725"/>
          </a:xfrm>
          <a:prstGeom prst="ellipse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668174" y="3405465"/>
            <a:ext cx="4266856" cy="1344999"/>
            <a:chOff x="1668174" y="3405465"/>
            <a:chExt cx="4266856" cy="1344999"/>
          </a:xfrm>
        </p:grpSpPr>
        <p:cxnSp>
          <p:nvCxnSpPr>
            <p:cNvPr id="13" name="直接箭头连接符 12"/>
            <p:cNvCxnSpPr>
              <a:endCxn id="11" idx="2"/>
            </p:cNvCxnSpPr>
            <p:nvPr/>
          </p:nvCxnSpPr>
          <p:spPr>
            <a:xfrm>
              <a:off x="1668174" y="4562938"/>
              <a:ext cx="694026" cy="41328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endCxn id="8" idx="4"/>
            </p:cNvCxnSpPr>
            <p:nvPr/>
          </p:nvCxnSpPr>
          <p:spPr>
            <a:xfrm flipH="1" flipV="1">
              <a:off x="2630422" y="3678956"/>
              <a:ext cx="10712" cy="585338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endCxn id="20" idx="2"/>
            </p:cNvCxnSpPr>
            <p:nvPr/>
          </p:nvCxnSpPr>
          <p:spPr>
            <a:xfrm>
              <a:off x="3008168" y="3405465"/>
              <a:ext cx="685800" cy="34135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4267200" y="3469804"/>
              <a:ext cx="1443246" cy="446708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endCxn id="24" idx="0"/>
            </p:cNvCxnSpPr>
            <p:nvPr/>
          </p:nvCxnSpPr>
          <p:spPr>
            <a:xfrm>
              <a:off x="5935030" y="4330011"/>
              <a:ext cx="0" cy="420453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42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1" grpId="0" animBg="1"/>
      <p:bldP spid="12" grpId="0" animBg="1"/>
      <p:bldP spid="5" grpId="0" animBg="1"/>
      <p:bldP spid="6" grpId="0" animBg="1"/>
      <p:bldP spid="15" grpId="0" animBg="1"/>
      <p:bldP spid="17" grpId="0" animBg="1"/>
      <p:bldP spid="8" grpId="0" animBg="1"/>
      <p:bldP spid="20" grpId="0" animBg="1"/>
      <p:bldP spid="21" grpId="0" animBg="1"/>
      <p:bldP spid="9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灯片编号占位符 5">
            <a:extLst>
              <a:ext uri="{FF2B5EF4-FFF2-40B4-BE49-F238E27FC236}">
                <a16:creationId xmlns:a16="http://schemas.microsoft.com/office/drawing/2014/main" id="{7103B475-77F2-46B6-9A3C-0B5B5E35F7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D2F47D-D9A5-4F9C-A3A2-422D3D302FD2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5FE52170-059F-466B-92E5-2210C9A32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89095" name="Text Box 5">
            <a:extLst>
              <a:ext uri="{FF2B5EF4-FFF2-40B4-BE49-F238E27FC236}">
                <a16:creationId xmlns:a16="http://schemas.microsoft.com/office/drawing/2014/main" id="{BD4415B9-C9C7-4670-8283-F6F65FE76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562600"/>
            <a:ext cx="92075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19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3429000" y="3200400"/>
            <a:ext cx="5334000" cy="3383921"/>
            <a:chOff x="3810000" y="21544"/>
            <a:chExt cx="5334000" cy="3383921"/>
          </a:xfrm>
        </p:grpSpPr>
        <p:grpSp>
          <p:nvGrpSpPr>
            <p:cNvPr id="56" name="组合 55"/>
            <p:cNvGrpSpPr/>
            <p:nvPr/>
          </p:nvGrpSpPr>
          <p:grpSpPr>
            <a:xfrm>
              <a:off x="3810000" y="21544"/>
              <a:ext cx="5334000" cy="3244804"/>
              <a:chOff x="3810000" y="21544"/>
              <a:chExt cx="5334000" cy="3244804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3810000" y="21544"/>
                <a:ext cx="5334000" cy="3244804"/>
                <a:chOff x="3810000" y="21544"/>
                <a:chExt cx="5334000" cy="3244804"/>
              </a:xfrm>
            </p:grpSpPr>
            <p:pic>
              <p:nvPicPr>
                <p:cNvPr id="59" name="Picture 4">
                  <a:extLst>
                    <a:ext uri="{FF2B5EF4-FFF2-40B4-BE49-F238E27FC236}">
                      <a16:creationId xmlns:a16="http://schemas.microsoft.com/office/drawing/2014/main" id="{7B12C992-875C-4D14-A781-8900CC1AEE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10000" y="27782"/>
                  <a:ext cx="5334000" cy="32385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60" name="组合 59"/>
                <p:cNvGrpSpPr/>
                <p:nvPr/>
              </p:nvGrpSpPr>
              <p:grpSpPr>
                <a:xfrm>
                  <a:off x="4350095" y="452844"/>
                  <a:ext cx="4266856" cy="1344999"/>
                  <a:chOff x="1668174" y="3405465"/>
                  <a:chExt cx="4266856" cy="1344999"/>
                </a:xfrm>
              </p:grpSpPr>
              <p:cxnSp>
                <p:nvCxnSpPr>
                  <p:cNvPr id="66" name="直接箭头连接符 65"/>
                  <p:cNvCxnSpPr/>
                  <p:nvPr/>
                </p:nvCxnSpPr>
                <p:spPr>
                  <a:xfrm>
                    <a:off x="1668174" y="4562938"/>
                    <a:ext cx="694026" cy="41328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箭头连接符 66"/>
                  <p:cNvCxnSpPr/>
                  <p:nvPr/>
                </p:nvCxnSpPr>
                <p:spPr>
                  <a:xfrm flipH="1" flipV="1">
                    <a:off x="2630422" y="3678956"/>
                    <a:ext cx="10712" cy="585338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箭头连接符 67"/>
                  <p:cNvCxnSpPr/>
                  <p:nvPr/>
                </p:nvCxnSpPr>
                <p:spPr>
                  <a:xfrm>
                    <a:off x="3008168" y="3405465"/>
                    <a:ext cx="685800" cy="34135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箭头连接符 68"/>
                  <p:cNvCxnSpPr/>
                  <p:nvPr/>
                </p:nvCxnSpPr>
                <p:spPr>
                  <a:xfrm>
                    <a:off x="4267200" y="3469804"/>
                    <a:ext cx="1443246" cy="446708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69"/>
                  <p:cNvCxnSpPr/>
                  <p:nvPr/>
                </p:nvCxnSpPr>
                <p:spPr>
                  <a:xfrm>
                    <a:off x="5935030" y="4330011"/>
                    <a:ext cx="0" cy="420453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1" name="椭圆 60"/>
                <p:cNvSpPr/>
                <p:nvPr/>
              </p:nvSpPr>
              <p:spPr>
                <a:xfrm>
                  <a:off x="3861875" y="1123113"/>
                  <a:ext cx="533400" cy="762000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0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4835813" y="21544"/>
                  <a:ext cx="569768" cy="66572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5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6184243" y="115050"/>
                  <a:ext cx="569768" cy="66572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6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194344" y="486979"/>
                  <a:ext cx="834210" cy="732221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8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8305800" y="2135097"/>
                  <a:ext cx="761999" cy="912903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11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58" name="椭圆 57"/>
              <p:cNvSpPr/>
              <p:nvPr/>
            </p:nvSpPr>
            <p:spPr>
              <a:xfrm>
                <a:off x="5044121" y="1455383"/>
                <a:ext cx="569768" cy="665725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C00000"/>
                    </a:solidFill>
                  </a:rPr>
                  <a:t>3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71" name="椭圆 70"/>
            <p:cNvSpPr/>
            <p:nvPr/>
          </p:nvSpPr>
          <p:spPr>
            <a:xfrm>
              <a:off x="6356607" y="2633259"/>
              <a:ext cx="685800" cy="4909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10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7407403" y="2438400"/>
              <a:ext cx="685800" cy="96706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9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5022930" y="2320582"/>
              <a:ext cx="685800" cy="96706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1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37" y="-5885"/>
            <a:ext cx="5071652" cy="311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7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灯片编号占位符 5">
            <a:extLst>
              <a:ext uri="{FF2B5EF4-FFF2-40B4-BE49-F238E27FC236}">
                <a16:creationId xmlns:a16="http://schemas.microsoft.com/office/drawing/2014/main" id="{1646984B-1BAD-43C5-BF36-B61250C1C0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B578AF9-21C6-4E81-81D3-37D9ABFF1A31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A73BEA44-A708-4150-B2C5-6D86F62B4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01000" cy="1216025"/>
          </a:xfrm>
        </p:spPr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最短路算法</a:t>
            </a:r>
          </a:p>
        </p:txBody>
      </p:sp>
      <p:sp>
        <p:nvSpPr>
          <p:cNvPr id="90117" name="Rectangle 3">
            <a:extLst>
              <a:ext uri="{FF2B5EF4-FFF2-40B4-BE49-F238E27FC236}">
                <a16:creationId xmlns:a16="http://schemas.microsoft.com/office/drawing/2014/main" id="{9D567F52-EA7E-4E1A-8F74-E039A392D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4922" y="1752600"/>
            <a:ext cx="7664678" cy="2819400"/>
          </a:xfrm>
        </p:spPr>
        <p:txBody>
          <a:bodyPr/>
          <a:lstStyle/>
          <a:p>
            <a:pPr marL="0" indent="0">
              <a:lnSpc>
                <a:spcPct val="135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计算的最后结果：</a:t>
            </a:r>
          </a:p>
          <a:p>
            <a:pPr lvl="1"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)=9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35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λ(v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)=9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EA3639-2200-4E7B-881B-3E19E8017445}"/>
              </a:ext>
            </a:extLst>
          </p:cNvPr>
          <p:cNvSpPr txBox="1"/>
          <p:nvPr/>
        </p:nvSpPr>
        <p:spPr>
          <a:xfrm>
            <a:off x="914400" y="5207992"/>
            <a:ext cx="7315200" cy="110697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lvl="1" algn="ctr">
              <a:lnSpc>
                <a:spcPct val="135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因此，从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的最短链为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总权为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3810000" y="76201"/>
            <a:ext cx="5257800" cy="2971800"/>
            <a:chOff x="3810000" y="21544"/>
            <a:chExt cx="5334000" cy="3383921"/>
          </a:xfrm>
        </p:grpSpPr>
        <p:grpSp>
          <p:nvGrpSpPr>
            <p:cNvPr id="23" name="组合 22"/>
            <p:cNvGrpSpPr/>
            <p:nvPr/>
          </p:nvGrpSpPr>
          <p:grpSpPr>
            <a:xfrm>
              <a:off x="3810000" y="21544"/>
              <a:ext cx="5334000" cy="3244804"/>
              <a:chOff x="3810000" y="21544"/>
              <a:chExt cx="5334000" cy="3244804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3810000" y="21544"/>
                <a:ext cx="5334000" cy="3244804"/>
                <a:chOff x="3810000" y="21544"/>
                <a:chExt cx="5334000" cy="3244804"/>
              </a:xfrm>
            </p:grpSpPr>
            <p:pic>
              <p:nvPicPr>
                <p:cNvPr id="29" name="Picture 4">
                  <a:extLst>
                    <a:ext uri="{FF2B5EF4-FFF2-40B4-BE49-F238E27FC236}">
                      <a16:creationId xmlns:a16="http://schemas.microsoft.com/office/drawing/2014/main" id="{7B12C992-875C-4D14-A781-8900CC1AEE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10000" y="27782"/>
                  <a:ext cx="5334000" cy="32385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0" name="组合 29"/>
                <p:cNvGrpSpPr/>
                <p:nvPr/>
              </p:nvGrpSpPr>
              <p:grpSpPr>
                <a:xfrm>
                  <a:off x="4350095" y="452844"/>
                  <a:ext cx="4266856" cy="1344999"/>
                  <a:chOff x="1668174" y="3405465"/>
                  <a:chExt cx="4266856" cy="1344999"/>
                </a:xfrm>
              </p:grpSpPr>
              <p:cxnSp>
                <p:nvCxnSpPr>
                  <p:cNvPr id="36" name="直接箭头连接符 35"/>
                  <p:cNvCxnSpPr/>
                  <p:nvPr/>
                </p:nvCxnSpPr>
                <p:spPr>
                  <a:xfrm>
                    <a:off x="1668174" y="4562938"/>
                    <a:ext cx="694026" cy="41328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箭头连接符 36"/>
                  <p:cNvCxnSpPr/>
                  <p:nvPr/>
                </p:nvCxnSpPr>
                <p:spPr>
                  <a:xfrm flipH="1" flipV="1">
                    <a:off x="2630422" y="3678956"/>
                    <a:ext cx="10712" cy="585338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箭头连接符 37"/>
                  <p:cNvCxnSpPr/>
                  <p:nvPr/>
                </p:nvCxnSpPr>
                <p:spPr>
                  <a:xfrm>
                    <a:off x="3008168" y="3405465"/>
                    <a:ext cx="685800" cy="34135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箭头连接符 38"/>
                  <p:cNvCxnSpPr/>
                  <p:nvPr/>
                </p:nvCxnSpPr>
                <p:spPr>
                  <a:xfrm>
                    <a:off x="4267200" y="3469804"/>
                    <a:ext cx="1443246" cy="446708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箭头连接符 39"/>
                  <p:cNvCxnSpPr/>
                  <p:nvPr/>
                </p:nvCxnSpPr>
                <p:spPr>
                  <a:xfrm>
                    <a:off x="5935030" y="4330011"/>
                    <a:ext cx="0" cy="420453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" name="椭圆 30"/>
                <p:cNvSpPr/>
                <p:nvPr/>
              </p:nvSpPr>
              <p:spPr>
                <a:xfrm>
                  <a:off x="3861875" y="1123113"/>
                  <a:ext cx="533400" cy="762000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0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4835813" y="21544"/>
                  <a:ext cx="569768" cy="66572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5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6184243" y="115050"/>
                  <a:ext cx="569768" cy="665725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6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194344" y="486979"/>
                  <a:ext cx="834210" cy="732221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8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8305800" y="2135097"/>
                  <a:ext cx="761999" cy="912903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rgbClr val="C00000"/>
                      </a:solidFill>
                    </a:rPr>
                    <a:t>11</a:t>
                  </a:r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28" name="椭圆 27"/>
              <p:cNvSpPr/>
              <p:nvPr/>
            </p:nvSpPr>
            <p:spPr>
              <a:xfrm>
                <a:off x="5044121" y="1455383"/>
                <a:ext cx="569768" cy="665725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C00000"/>
                    </a:solidFill>
                  </a:rPr>
                  <a:t>3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24" name="椭圆 23"/>
            <p:cNvSpPr/>
            <p:nvPr/>
          </p:nvSpPr>
          <p:spPr>
            <a:xfrm>
              <a:off x="6356607" y="2633259"/>
              <a:ext cx="685800" cy="4909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10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7407403" y="2438400"/>
              <a:ext cx="685800" cy="96706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9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022930" y="2320582"/>
              <a:ext cx="685800" cy="96706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1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灯片编号占位符 5">
            <a:extLst>
              <a:ext uri="{FF2B5EF4-FFF2-40B4-BE49-F238E27FC236}">
                <a16:creationId xmlns:a16="http://schemas.microsoft.com/office/drawing/2014/main" id="{F0D7CD41-ED8D-4813-B09B-1F5DD956D7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14499C6-EA2E-4EB0-AAF7-1B836C6CE31D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94212" name="Rectangle 2">
            <a:extLst>
              <a:ext uri="{FF2B5EF4-FFF2-40B4-BE49-F238E27FC236}">
                <a16:creationId xmlns:a16="http://schemas.microsoft.com/office/drawing/2014/main" id="{FCD5C158-0CF0-4DBD-B1EC-EF5B0AF8D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8001000" cy="9112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chemeClr val="tx1"/>
                </a:solidFill>
              </a:rPr>
              <a:t>考虑存在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负权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的情况</a:t>
            </a:r>
            <a:r>
              <a:rPr lang="zh-CN" altLang="en-US" sz="2800" dirty="0"/>
              <a:t>）</a:t>
            </a:r>
          </a:p>
        </p:txBody>
      </p:sp>
      <p:sp>
        <p:nvSpPr>
          <p:cNvPr id="94213" name="Rectangle 3">
            <a:extLst>
              <a:ext uri="{FF2B5EF4-FFF2-40B4-BE49-F238E27FC236}">
                <a16:creationId xmlns:a16="http://schemas.microsoft.com/office/drawing/2014/main" id="{0456F4BB-0316-4917-99F9-70DC8739C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147050" cy="27146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算法只适用于所有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的情形，当赋权有向图中存在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负权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时，则算法失效。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例如，在如图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所示的赋权有向图中，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如果用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方法，可得出从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的最短路的权是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但这显然是不对的，因为从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的最短路是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权是</a:t>
            </a: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94214" name="Picture 4">
            <a:extLst>
              <a:ext uri="{FF2B5EF4-FFF2-40B4-BE49-F238E27FC236}">
                <a16:creationId xmlns:a16="http://schemas.microsoft.com/office/drawing/2014/main" id="{9EF25036-62CD-435C-9AB7-8C7C4CA41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517" y="4145616"/>
            <a:ext cx="4096883" cy="2178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5" name="Text Box 5">
            <a:extLst>
              <a:ext uri="{FF2B5EF4-FFF2-40B4-BE49-F238E27FC236}">
                <a16:creationId xmlns:a16="http://schemas.microsoft.com/office/drawing/2014/main" id="{D4193098-BD2C-4808-83A0-28E8961A3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025" y="5943600"/>
            <a:ext cx="993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灯片编号占位符 5">
            <a:extLst>
              <a:ext uri="{FF2B5EF4-FFF2-40B4-BE49-F238E27FC236}">
                <a16:creationId xmlns:a16="http://schemas.microsoft.com/office/drawing/2014/main" id="{ED6B3AD3-E567-44BE-A130-068159E1C0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3F002B7-C10B-4D4D-AF3A-98488AF96398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F3781EFC-3338-452A-ACC0-930FF89FA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762001"/>
            <a:ext cx="7578725" cy="758824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chemeClr val="tx1"/>
                </a:solidFill>
              </a:rPr>
              <a:t>考虑存在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负权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的情况</a:t>
            </a:r>
            <a:r>
              <a:rPr lang="zh-CN" altLang="en-US" sz="2800" dirty="0"/>
              <a:t>）</a:t>
            </a:r>
          </a:p>
        </p:txBody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D46603A6-B2A7-4C96-AC4F-4A90C54DC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773238"/>
            <a:ext cx="7661275" cy="30273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现介绍当赋权有向图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中存在具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负权弧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时，求最短路的方法。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为方便起见，不妨设从任一点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到任一个点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都有一条弧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                  ，则添加弧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=+∞)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5238" name="Rectangle 5">
            <a:extLst>
              <a:ext uri="{FF2B5EF4-FFF2-40B4-BE49-F238E27FC236}">
                <a16:creationId xmlns:a16="http://schemas.microsoft.com/office/drawing/2014/main" id="{37A4F9B4-EC64-4573-80BB-B4A69433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5239" name="Object 4">
            <a:extLst>
              <a:ext uri="{FF2B5EF4-FFF2-40B4-BE49-F238E27FC236}">
                <a16:creationId xmlns:a16="http://schemas.microsoft.com/office/drawing/2014/main" id="{08B88BCE-6673-4256-8B04-ED799EEB5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17643"/>
              </p:ext>
            </p:extLst>
          </p:nvPr>
        </p:nvGraphicFramePr>
        <p:xfrm>
          <a:off x="3438384" y="3613150"/>
          <a:ext cx="144318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5800" imgH="241300" progId="Equation.DSMT4">
                  <p:embed/>
                </p:oleObj>
              </mc:Choice>
              <mc:Fallback>
                <p:oleObj r:id="rId2" imgW="6858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384" y="3613150"/>
                        <a:ext cx="144318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0" name="Rectangle 7">
            <a:extLst>
              <a:ext uri="{FF2B5EF4-FFF2-40B4-BE49-F238E27FC236}">
                <a16:creationId xmlns:a16="http://schemas.microsoft.com/office/drawing/2014/main" id="{F42B6486-21A2-4F1B-88FF-3325E93C5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灯片编号占位符 5">
            <a:extLst>
              <a:ext uri="{FF2B5EF4-FFF2-40B4-BE49-F238E27FC236}">
                <a16:creationId xmlns:a16="http://schemas.microsoft.com/office/drawing/2014/main" id="{ED6B3AD3-E567-44BE-A130-068159E1C0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3F002B7-C10B-4D4D-AF3A-98488AF96398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F3781EFC-3338-452A-ACC0-930FF89FA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D46603A6-B2A7-4C96-AC4F-4A90C54DC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773238"/>
            <a:ext cx="7661275" cy="1274762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的最短路总是从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出发，沿着一条路到某个点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，再沿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5238" name="Rectangle 5">
            <a:extLst>
              <a:ext uri="{FF2B5EF4-FFF2-40B4-BE49-F238E27FC236}">
                <a16:creationId xmlns:a16="http://schemas.microsoft.com/office/drawing/2014/main" id="{37A4F9B4-EC64-4573-80BB-B4A69433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5240" name="Rectangle 7">
            <a:extLst>
              <a:ext uri="{FF2B5EF4-FFF2-40B4-BE49-F238E27FC236}">
                <a16:creationId xmlns:a16="http://schemas.microsoft.com/office/drawing/2014/main" id="{F42B6486-21A2-4F1B-88FF-3325E93C5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5241" name="Object 6">
            <a:extLst>
              <a:ext uri="{FF2B5EF4-FFF2-40B4-BE49-F238E27FC236}">
                <a16:creationId xmlns:a16="http://schemas.microsoft.com/office/drawing/2014/main" id="{B448D8FE-37FB-44DA-8075-5B25F542D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466378"/>
              </p:ext>
            </p:extLst>
          </p:nvPr>
        </p:nvGraphicFramePr>
        <p:xfrm>
          <a:off x="2309813" y="5081588"/>
          <a:ext cx="518636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279360" progId="Equation.DSMT4">
                  <p:embed/>
                </p:oleObj>
              </mc:Choice>
              <mc:Fallback>
                <p:oleObj name="Equation" r:id="rId2" imgW="1866600" imgH="279360" progId="Equation.DSMT4">
                  <p:embed/>
                  <p:pic>
                    <p:nvPicPr>
                      <p:cNvPr id="95241" name="Object 6">
                        <a:extLst>
                          <a:ext uri="{FF2B5EF4-FFF2-40B4-BE49-F238E27FC236}">
                            <a16:creationId xmlns:a16="http://schemas.microsoft.com/office/drawing/2014/main" id="{B448D8FE-37FB-44DA-8075-5B25F542D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5081588"/>
                        <a:ext cx="5186362" cy="7747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732DA8EF-5C63-45B1-83C6-32986E4FF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24" y="4203701"/>
            <a:ext cx="7661275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的最短路，所以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必满足如下方程：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A21C2D-9133-4FAD-81D7-7ACF103C3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63" y="2909521"/>
            <a:ext cx="6786337" cy="82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05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灯片编号占位符 5">
            <a:extLst>
              <a:ext uri="{FF2B5EF4-FFF2-40B4-BE49-F238E27FC236}">
                <a16:creationId xmlns:a16="http://schemas.microsoft.com/office/drawing/2014/main" id="{CEDB8CD9-A49B-4071-97E5-9C1CD3F85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BD766F5-18C5-439F-B026-1FC152A6FDA6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96260" name="Rectangle 2">
            <a:extLst>
              <a:ext uri="{FF2B5EF4-FFF2-40B4-BE49-F238E27FC236}">
                <a16:creationId xmlns:a16="http://schemas.microsoft.com/office/drawing/2014/main" id="{B2D9159C-5AEA-4EBA-A2CF-A79BC1A69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75761"/>
            <a:ext cx="3833812" cy="751403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6261" name="Rectangle 3">
            <a:extLst>
              <a:ext uri="{FF2B5EF4-FFF2-40B4-BE49-F238E27FC236}">
                <a16:creationId xmlns:a16="http://schemas.microsoft.com/office/drawing/2014/main" id="{17BED6CC-7BD9-4331-BF85-D0197C6D9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7850187" cy="4286765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为了求得这个方程的解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，可用如下递推公式：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开始时，令                   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 2,3,…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 2, …,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>
              <a:spcBef>
                <a:spcPts val="24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若进行到某一步，例如第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步时，对所有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=1,2,…,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则                                       即为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到各点的最短路的权。</a:t>
            </a:r>
          </a:p>
        </p:txBody>
      </p:sp>
      <p:sp>
        <p:nvSpPr>
          <p:cNvPr id="96262" name="Rectangle 4">
            <a:extLst>
              <a:ext uri="{FF2B5EF4-FFF2-40B4-BE49-F238E27FC236}">
                <a16:creationId xmlns:a16="http://schemas.microsoft.com/office/drawing/2014/main" id="{385A4657-67BD-46EA-9FEB-79EF5939D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6263" name="Rectangle 5">
            <a:extLst>
              <a:ext uri="{FF2B5EF4-FFF2-40B4-BE49-F238E27FC236}">
                <a16:creationId xmlns:a16="http://schemas.microsoft.com/office/drawing/2014/main" id="{CE9E9693-1C2D-4AE0-AB30-443B664B8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6264" name="Rectangle 7">
            <a:extLst>
              <a:ext uri="{FF2B5EF4-FFF2-40B4-BE49-F238E27FC236}">
                <a16:creationId xmlns:a16="http://schemas.microsoft.com/office/drawing/2014/main" id="{12346EC3-0266-4BA0-91FE-3904B36EC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6265" name="Object 6">
            <a:extLst>
              <a:ext uri="{FF2B5EF4-FFF2-40B4-BE49-F238E27FC236}">
                <a16:creationId xmlns:a16="http://schemas.microsoft.com/office/drawing/2014/main" id="{25B936A6-F6EC-4376-A289-F5BCF4D252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493532"/>
              </p:ext>
            </p:extLst>
          </p:nvPr>
        </p:nvGraphicFramePr>
        <p:xfrm>
          <a:off x="2983561" y="2766075"/>
          <a:ext cx="21605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90170" imgH="253890" progId="Equation.DSMT4">
                  <p:embed/>
                </p:oleObj>
              </mc:Choice>
              <mc:Fallback>
                <p:oleObj r:id="rId2" imgW="990170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561" y="2766075"/>
                        <a:ext cx="216058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6" name="Rectangle 9">
            <a:extLst>
              <a:ext uri="{FF2B5EF4-FFF2-40B4-BE49-F238E27FC236}">
                <a16:creationId xmlns:a16="http://schemas.microsoft.com/office/drawing/2014/main" id="{F77C539C-1995-4F39-83A4-38BA6BF1B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6267" name="Object 8">
            <a:extLst>
              <a:ext uri="{FF2B5EF4-FFF2-40B4-BE49-F238E27FC236}">
                <a16:creationId xmlns:a16="http://schemas.microsoft.com/office/drawing/2014/main" id="{C5DB148B-1AB0-430D-BD23-31323249C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870898"/>
              </p:ext>
            </p:extLst>
          </p:nvPr>
        </p:nvGraphicFramePr>
        <p:xfrm>
          <a:off x="1309688" y="3629025"/>
          <a:ext cx="488315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291960" progId="Equation.DSMT4">
                  <p:embed/>
                </p:oleObj>
              </mc:Choice>
              <mc:Fallback>
                <p:oleObj name="Equation" r:id="rId4" imgW="2158920" imgH="291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88" y="3629025"/>
                        <a:ext cx="488315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8" name="Rectangle 11">
            <a:extLst>
              <a:ext uri="{FF2B5EF4-FFF2-40B4-BE49-F238E27FC236}">
                <a16:creationId xmlns:a16="http://schemas.microsoft.com/office/drawing/2014/main" id="{0CF705F8-020D-4624-864C-DD28549E3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6269" name="Object 10">
            <a:extLst>
              <a:ext uri="{FF2B5EF4-FFF2-40B4-BE49-F238E27FC236}">
                <a16:creationId xmlns:a16="http://schemas.microsoft.com/office/drawing/2014/main" id="{9011507B-8BD8-45CB-B477-F3DB5C5371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102256"/>
              </p:ext>
            </p:extLst>
          </p:nvPr>
        </p:nvGraphicFramePr>
        <p:xfrm>
          <a:off x="1866900" y="4765675"/>
          <a:ext cx="317341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253800" progId="Equation.DSMT4">
                  <p:embed/>
                </p:oleObj>
              </mc:Choice>
              <mc:Fallback>
                <p:oleObj name="Equation" r:id="rId6" imgW="1562040" imgH="253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4765675"/>
                        <a:ext cx="317341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0" name="Rectangle 13">
            <a:extLst>
              <a:ext uri="{FF2B5EF4-FFF2-40B4-BE49-F238E27FC236}">
                <a16:creationId xmlns:a16="http://schemas.microsoft.com/office/drawing/2014/main" id="{7C641487-8F28-43EE-82E7-76A99C289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6271" name="Object 12">
            <a:extLst>
              <a:ext uri="{FF2B5EF4-FFF2-40B4-BE49-F238E27FC236}">
                <a16:creationId xmlns:a16="http://schemas.microsoft.com/office/drawing/2014/main" id="{E3EA5BF4-D8F7-4B01-9888-98AADC4AE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482535"/>
              </p:ext>
            </p:extLst>
          </p:nvPr>
        </p:nvGraphicFramePr>
        <p:xfrm>
          <a:off x="1562100" y="5457825"/>
          <a:ext cx="28686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253800" progId="Equation.DSMT4">
                  <p:embed/>
                </p:oleObj>
              </mc:Choice>
              <mc:Fallback>
                <p:oleObj name="Equation" r:id="rId8" imgW="1206360" imgH="253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5457825"/>
                        <a:ext cx="28686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灯片编号占位符 5">
            <a:extLst>
              <a:ext uri="{FF2B5EF4-FFF2-40B4-BE49-F238E27FC236}">
                <a16:creationId xmlns:a16="http://schemas.microsoft.com/office/drawing/2014/main" id="{AA0D6E58-0859-494F-9EA0-9F0403CC7C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2F96166-6A45-4198-B24B-9022E07B45BD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BF17AEA5-5C50-4973-A9B8-CB19E50B5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90563"/>
            <a:ext cx="5445125" cy="830262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 </a:t>
            </a:r>
            <a:r>
              <a:rPr lang="en-US" altLang="zh-CN" dirty="0"/>
              <a:t>– </a:t>
            </a:r>
            <a:r>
              <a:rPr lang="zh-CN" altLang="en-US" sz="2800" dirty="0"/>
              <a:t>例</a:t>
            </a:r>
            <a:r>
              <a:rPr lang="en-US" altLang="zh-CN" sz="2800" dirty="0"/>
              <a:t>12</a:t>
            </a:r>
            <a:endParaRPr lang="zh-CN" altLang="en-US" sz="2800" dirty="0"/>
          </a:p>
        </p:txBody>
      </p:sp>
      <p:sp>
        <p:nvSpPr>
          <p:cNvPr id="97285" name="Rectangle 3">
            <a:extLst>
              <a:ext uri="{FF2B5EF4-FFF2-40B4-BE49-F238E27FC236}">
                <a16:creationId xmlns:a16="http://schemas.microsoft.com/office/drawing/2014/main" id="{3B3456D9-EC0F-4759-BF8E-5AF3593CA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8151812" cy="585787"/>
          </a:xfrm>
        </p:spPr>
        <p:txBody>
          <a:bodyPr/>
          <a:lstStyle/>
          <a:p>
            <a:r>
              <a:rPr lang="zh-CN" altLang="en-US" sz="2400" b="1" dirty="0"/>
              <a:t>例</a:t>
            </a:r>
            <a:r>
              <a:rPr lang="en-US" altLang="zh-CN" sz="2400" b="1" dirty="0"/>
              <a:t>12</a:t>
            </a:r>
            <a:r>
              <a:rPr lang="en-US" altLang="zh-CN" sz="2400" dirty="0"/>
              <a:t>  </a:t>
            </a:r>
            <a:r>
              <a:rPr lang="zh-CN" altLang="en-US" sz="2400" dirty="0"/>
              <a:t>求图</a:t>
            </a:r>
            <a:r>
              <a:rPr lang="en-US" altLang="zh-CN" sz="2400" dirty="0"/>
              <a:t>21</a:t>
            </a:r>
            <a:r>
              <a:rPr lang="zh-CN" altLang="en-US" sz="2400" dirty="0"/>
              <a:t>所示赋权有向图中从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/>
              <a:t>到各点的最短路。</a:t>
            </a:r>
            <a:endParaRPr lang="zh-CN" altLang="en-US" sz="2400" b="1" dirty="0"/>
          </a:p>
        </p:txBody>
      </p:sp>
      <p:sp>
        <p:nvSpPr>
          <p:cNvPr id="97286" name="Rectangle 4">
            <a:extLst>
              <a:ext uri="{FF2B5EF4-FFF2-40B4-BE49-F238E27FC236}">
                <a16:creationId xmlns:a16="http://schemas.microsoft.com/office/drawing/2014/main" id="{0236FA35-C904-4C83-B764-095FD5C41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7287" name="Rectangle 5">
            <a:extLst>
              <a:ext uri="{FF2B5EF4-FFF2-40B4-BE49-F238E27FC236}">
                <a16:creationId xmlns:a16="http://schemas.microsoft.com/office/drawing/2014/main" id="{DA0AAD5D-3B48-4589-88CF-E279AAD1A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97288" name="Picture 6">
            <a:extLst>
              <a:ext uri="{FF2B5EF4-FFF2-40B4-BE49-F238E27FC236}">
                <a16:creationId xmlns:a16="http://schemas.microsoft.com/office/drawing/2014/main" id="{7BF36B7E-A4DE-405B-A88D-A64DE851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39962"/>
            <a:ext cx="3743325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9" name="Text Box 7">
            <a:extLst>
              <a:ext uri="{FF2B5EF4-FFF2-40B4-BE49-F238E27FC236}">
                <a16:creationId xmlns:a16="http://schemas.microsoft.com/office/drawing/2014/main" id="{C00DE378-0B2B-4F10-9BAB-EE456EDD6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189" y="3898502"/>
            <a:ext cx="7596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5D2AF2D-C814-474D-8DEE-29CAB8645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5334000"/>
            <a:ext cx="75025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1" kern="0" dirty="0"/>
              <a:t>解</a:t>
            </a:r>
            <a:r>
              <a:rPr lang="zh-CN" altLang="en-US" sz="2400" kern="0" dirty="0"/>
              <a:t>  利用上述递推公式，求解结果如表</a:t>
            </a:r>
            <a:r>
              <a:rPr lang="en-US" altLang="zh-CN" sz="2400" kern="0" dirty="0"/>
              <a:t>1</a:t>
            </a:r>
            <a:r>
              <a:rPr lang="zh-CN" altLang="en-US" sz="2400" kern="0" dirty="0"/>
              <a:t>所示</a:t>
            </a:r>
            <a:r>
              <a:rPr lang="en-US" altLang="zh-CN" sz="2400" kern="0" dirty="0"/>
              <a:t>(</a:t>
            </a:r>
            <a:r>
              <a:rPr lang="zh-CN" altLang="en-US" sz="2400" kern="0" dirty="0"/>
              <a:t>表中未写数字的空格内是</a:t>
            </a:r>
            <a:r>
              <a:rPr lang="en-US" altLang="zh-CN" sz="2400" kern="0" dirty="0"/>
              <a:t>+∞)</a:t>
            </a:r>
            <a:r>
              <a:rPr lang="zh-CN" altLang="en-US" sz="2400" kern="0" dirty="0"/>
              <a:t>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05" y="2083883"/>
            <a:ext cx="7162800" cy="3920042"/>
          </a:xfrm>
          <a:prstGeom prst="rect">
            <a:avLst/>
          </a:prstGeom>
        </p:spPr>
      </p:pic>
      <p:sp>
        <p:nvSpPr>
          <p:cNvPr id="98307" name="灯片编号占位符 5">
            <a:extLst>
              <a:ext uri="{FF2B5EF4-FFF2-40B4-BE49-F238E27FC236}">
                <a16:creationId xmlns:a16="http://schemas.microsoft.com/office/drawing/2014/main" id="{09C9C9CC-9E42-4444-88DB-E15F8F7889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95605" y="6229350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8F2B26-E27C-4E0B-8870-75288CFDAFE1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589EEC0D-38A0-4ECE-B739-4BC7FE3EB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37687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8309" name="Rectangle 4">
            <a:extLst>
              <a:ext uri="{FF2B5EF4-FFF2-40B4-BE49-F238E27FC236}">
                <a16:creationId xmlns:a16="http://schemas.microsoft.com/office/drawing/2014/main" id="{D7E89562-FE93-4E9D-B00B-EFA7388F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F4778150-EC51-46DB-9074-8DFF8012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2" name="Rectangle 230">
            <a:extLst>
              <a:ext uri="{FF2B5EF4-FFF2-40B4-BE49-F238E27FC236}">
                <a16:creationId xmlns:a16="http://schemas.microsoft.com/office/drawing/2014/main" id="{137A5DC9-6FAC-4A6B-A8DB-675E12A5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3" name="Text Box 231">
            <a:extLst>
              <a:ext uri="{FF2B5EF4-FFF2-40B4-BE49-F238E27FC236}">
                <a16:creationId xmlns:a16="http://schemas.microsoft.com/office/drawing/2014/main" id="{018BF3A8-B847-42F5-B418-5472596E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4406" y="1689136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8315" name="Rectangle 237">
            <a:extLst>
              <a:ext uri="{FF2B5EF4-FFF2-40B4-BE49-F238E27FC236}">
                <a16:creationId xmlns:a16="http://schemas.microsoft.com/office/drawing/2014/main" id="{D5D06035-B35D-4E88-8618-19AEB03A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205" y="6051549"/>
            <a:ext cx="3995737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zh-CN" altLang="en-US" sz="2000" dirty="0">
                <a:latin typeface="Arial" panose="020B0604020202020204" pitchFamily="34" charset="0"/>
              </a:rPr>
              <a:t>表中未写数字的空格内是</a:t>
            </a:r>
            <a:r>
              <a:rPr lang="en-US" altLang="zh-CN" sz="2000" dirty="0">
                <a:latin typeface="Arial" panose="020B0604020202020204" pitchFamily="34" charset="0"/>
              </a:rPr>
              <a:t>+∞)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25B936A6-F6EC-4376-A289-F5BCF4D252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824698"/>
              </p:ext>
            </p:extLst>
          </p:nvPr>
        </p:nvGraphicFramePr>
        <p:xfrm>
          <a:off x="5576456" y="497682"/>
          <a:ext cx="21605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90170" imgH="253890" progId="Equation.DSMT4">
                  <p:embed/>
                </p:oleObj>
              </mc:Choice>
              <mc:Fallback>
                <p:oleObj r:id="rId3" imgW="990170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6456" y="497682"/>
                        <a:ext cx="216058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/>
          <p:cNvCxnSpPr/>
          <p:nvPr/>
        </p:nvCxnSpPr>
        <p:spPr>
          <a:xfrm flipH="1">
            <a:off x="5867400" y="1019210"/>
            <a:ext cx="457200" cy="142622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557405" y="2901950"/>
            <a:ext cx="457200" cy="28733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584615" y="2949574"/>
            <a:ext cx="3820390" cy="3778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08415" y="2949574"/>
            <a:ext cx="3886200" cy="305435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AA195ECD-E567-BC12-D3F7-D97522B7C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574073"/>
              </p:ext>
            </p:extLst>
          </p:nvPr>
        </p:nvGraphicFramePr>
        <p:xfrm>
          <a:off x="6256915" y="1600150"/>
          <a:ext cx="1858963" cy="349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680" imgH="203040" progId="Equation.DSMT4">
                  <p:embed/>
                </p:oleObj>
              </mc:Choice>
              <mc:Fallback>
                <p:oleObj name="Equation" r:id="rId5" imgW="1066680" imgH="203040" progId="Equation.DSMT4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DF9C3D97-6F1F-905C-B790-D6667A08A4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915" y="1600150"/>
                        <a:ext cx="1858963" cy="34935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6">
            <a:extLst>
              <a:ext uri="{FF2B5EF4-FFF2-40B4-BE49-F238E27FC236}">
                <a16:creationId xmlns:a16="http://schemas.microsoft.com/office/drawing/2014/main" id="{7BF36B7E-A4DE-405B-A88D-A64DE851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667" y="0"/>
            <a:ext cx="3743325" cy="2917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5" grpId="0" animBg="1"/>
      <p:bldP spid="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5" y="2099758"/>
            <a:ext cx="7162800" cy="3920042"/>
          </a:xfrm>
          <a:prstGeom prst="rect">
            <a:avLst/>
          </a:prstGeom>
        </p:spPr>
      </p:pic>
      <p:sp>
        <p:nvSpPr>
          <p:cNvPr id="98308" name="Rectangle 2">
            <a:extLst>
              <a:ext uri="{FF2B5EF4-FFF2-40B4-BE49-F238E27FC236}">
                <a16:creationId xmlns:a16="http://schemas.microsoft.com/office/drawing/2014/main" id="{589EEC0D-38A0-4ECE-B739-4BC7FE3EB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37687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8309" name="Rectangle 4">
            <a:extLst>
              <a:ext uri="{FF2B5EF4-FFF2-40B4-BE49-F238E27FC236}">
                <a16:creationId xmlns:a16="http://schemas.microsoft.com/office/drawing/2014/main" id="{D7E89562-FE93-4E9D-B00B-EFA7388F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F4778150-EC51-46DB-9074-8DFF8012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1" name="Rectangle 11">
            <a:extLst>
              <a:ext uri="{FF2B5EF4-FFF2-40B4-BE49-F238E27FC236}">
                <a16:creationId xmlns:a16="http://schemas.microsoft.com/office/drawing/2014/main" id="{85A98D45-04E6-487F-863A-116F6FFD2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95550"/>
            <a:ext cx="17145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2" name="Rectangle 230">
            <a:extLst>
              <a:ext uri="{FF2B5EF4-FFF2-40B4-BE49-F238E27FC236}">
                <a16:creationId xmlns:a16="http://schemas.microsoft.com/office/drawing/2014/main" id="{137A5DC9-6FAC-4A6B-A8DB-675E12A5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3" name="Text Box 231">
            <a:extLst>
              <a:ext uri="{FF2B5EF4-FFF2-40B4-BE49-F238E27FC236}">
                <a16:creationId xmlns:a16="http://schemas.microsoft.com/office/drawing/2014/main" id="{018BF3A8-B847-42F5-B418-5472596E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6" y="170501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8315" name="Rectangle 237">
            <a:extLst>
              <a:ext uri="{FF2B5EF4-FFF2-40B4-BE49-F238E27FC236}">
                <a16:creationId xmlns:a16="http://schemas.microsoft.com/office/drawing/2014/main" id="{D5D06035-B35D-4E88-8618-19AEB03A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067424"/>
            <a:ext cx="3995737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zh-CN" altLang="en-US" sz="2000" dirty="0">
                <a:latin typeface="Arial" panose="020B0604020202020204" pitchFamily="34" charset="0"/>
              </a:rPr>
              <a:t>表中未写数字的空格内是</a:t>
            </a:r>
            <a:r>
              <a:rPr lang="en-US" altLang="zh-CN" sz="2000" dirty="0">
                <a:latin typeface="Arial" panose="020B0604020202020204" pitchFamily="34" charset="0"/>
              </a:rPr>
              <a:t>+∞)</a:t>
            </a:r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C5DB148B-1AB0-430D-BD23-31323249C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112544"/>
              </p:ext>
            </p:extLst>
          </p:nvPr>
        </p:nvGraphicFramePr>
        <p:xfrm>
          <a:off x="4305301" y="468313"/>
          <a:ext cx="4686300" cy="62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920" imgH="291960" progId="Equation.DSMT4">
                  <p:embed/>
                </p:oleObj>
              </mc:Choice>
              <mc:Fallback>
                <p:oleObj name="Equation" r:id="rId3" imgW="2158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1" y="468313"/>
                        <a:ext cx="4686300" cy="62636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340475" y="2971800"/>
            <a:ext cx="381000" cy="3238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>
            <a:off x="6400800" y="1981200"/>
            <a:ext cx="0" cy="5143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654675" y="2971800"/>
            <a:ext cx="457200" cy="28733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539875" y="2971800"/>
            <a:ext cx="457200" cy="28733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34D54889-0576-B30E-ACE3-B0F0945066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792198"/>
              </p:ext>
            </p:extLst>
          </p:nvPr>
        </p:nvGraphicFramePr>
        <p:xfrm>
          <a:off x="90488" y="136525"/>
          <a:ext cx="2957512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57400" imgH="1676160" progId="Equation.DSMT4">
                  <p:embed/>
                </p:oleObj>
              </mc:Choice>
              <mc:Fallback>
                <p:oleObj name="Equation" r:id="rId5" imgW="2057400" imgH="1676160" progId="Equation.DSMT4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DF9C3D97-6F1F-905C-B790-D6667A08A4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8" y="136525"/>
                        <a:ext cx="2957512" cy="23780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10935F4-561B-722F-8703-FEE29A9AD1DC}"/>
              </a:ext>
            </a:extLst>
          </p:cNvPr>
          <p:cNvCxnSpPr>
            <a:cxnSpLocks/>
          </p:cNvCxnSpPr>
          <p:nvPr/>
        </p:nvCxnSpPr>
        <p:spPr>
          <a:xfrm flipH="1">
            <a:off x="1828800" y="838200"/>
            <a:ext cx="914400" cy="1676400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84FBC57-432C-DBB2-CF68-43F316CA0498}"/>
              </a:ext>
            </a:extLst>
          </p:cNvPr>
          <p:cNvCxnSpPr>
            <a:cxnSpLocks/>
          </p:cNvCxnSpPr>
          <p:nvPr/>
        </p:nvCxnSpPr>
        <p:spPr>
          <a:xfrm flipH="1">
            <a:off x="5943600" y="970360"/>
            <a:ext cx="838200" cy="146327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20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 animBg="1"/>
      <p:bldP spid="2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99758"/>
            <a:ext cx="7162800" cy="3920042"/>
          </a:xfrm>
          <a:prstGeom prst="rect">
            <a:avLst/>
          </a:prstGeom>
        </p:spPr>
      </p:pic>
      <p:sp>
        <p:nvSpPr>
          <p:cNvPr id="98308" name="Rectangle 2">
            <a:extLst>
              <a:ext uri="{FF2B5EF4-FFF2-40B4-BE49-F238E27FC236}">
                <a16:creationId xmlns:a16="http://schemas.microsoft.com/office/drawing/2014/main" id="{589EEC0D-38A0-4ECE-B739-4BC7FE3EB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37687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8309" name="Rectangle 4">
            <a:extLst>
              <a:ext uri="{FF2B5EF4-FFF2-40B4-BE49-F238E27FC236}">
                <a16:creationId xmlns:a16="http://schemas.microsoft.com/office/drawing/2014/main" id="{D7E89562-FE93-4E9D-B00B-EFA7388F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F4778150-EC51-46DB-9074-8DFF8012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1" name="Rectangle 11">
            <a:extLst>
              <a:ext uri="{FF2B5EF4-FFF2-40B4-BE49-F238E27FC236}">
                <a16:creationId xmlns:a16="http://schemas.microsoft.com/office/drawing/2014/main" id="{85A98D45-04E6-487F-863A-116F6FFD2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2495550"/>
            <a:ext cx="17145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2" name="Rectangle 230">
            <a:extLst>
              <a:ext uri="{FF2B5EF4-FFF2-40B4-BE49-F238E27FC236}">
                <a16:creationId xmlns:a16="http://schemas.microsoft.com/office/drawing/2014/main" id="{137A5DC9-6FAC-4A6B-A8DB-675E12A5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3" name="Text Box 231">
            <a:extLst>
              <a:ext uri="{FF2B5EF4-FFF2-40B4-BE49-F238E27FC236}">
                <a16:creationId xmlns:a16="http://schemas.microsoft.com/office/drawing/2014/main" id="{018BF3A8-B847-42F5-B418-5472596E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170501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8315" name="Rectangle 237">
            <a:extLst>
              <a:ext uri="{FF2B5EF4-FFF2-40B4-BE49-F238E27FC236}">
                <a16:creationId xmlns:a16="http://schemas.microsoft.com/office/drawing/2014/main" id="{D5D06035-B35D-4E88-8618-19AEB03A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067424"/>
            <a:ext cx="3995737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zh-CN" altLang="en-US" sz="2000" dirty="0">
                <a:latin typeface="Arial" panose="020B0604020202020204" pitchFamily="34" charset="0"/>
              </a:rPr>
              <a:t>表中未写数字的空格内是</a:t>
            </a:r>
            <a:r>
              <a:rPr lang="en-US" altLang="zh-CN" sz="2000" dirty="0">
                <a:latin typeface="Arial" panose="020B0604020202020204" pitchFamily="34" charset="0"/>
              </a:rPr>
              <a:t>+∞)</a:t>
            </a:r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C5DB148B-1AB0-430D-BD23-31323249C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859410"/>
              </p:ext>
            </p:extLst>
          </p:nvPr>
        </p:nvGraphicFramePr>
        <p:xfrm>
          <a:off x="4305300" y="468313"/>
          <a:ext cx="4702539" cy="628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920" imgH="291960" progId="Equation.DSMT4">
                  <p:embed/>
                </p:oleObj>
              </mc:Choice>
              <mc:Fallback>
                <p:oleObj name="Equation" r:id="rId3" imgW="2158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468313"/>
                        <a:ext cx="4702539" cy="628534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6705600" y="3343274"/>
            <a:ext cx="381000" cy="3238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6400800" y="1212778"/>
            <a:ext cx="345281" cy="122471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019800" y="2971800"/>
            <a:ext cx="457200" cy="28733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417620" y="2971800"/>
            <a:ext cx="457200" cy="28733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948B241C-B06F-ABB6-AAA7-D77F4571E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679829"/>
              </p:ext>
            </p:extLst>
          </p:nvPr>
        </p:nvGraphicFramePr>
        <p:xfrm>
          <a:off x="76994" y="4727"/>
          <a:ext cx="3011488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1676160" progId="Equation.DSMT4">
                  <p:embed/>
                </p:oleObj>
              </mc:Choice>
              <mc:Fallback>
                <p:oleObj name="Equation" r:id="rId5" imgW="2095200" imgH="167616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72558E6E-7B8C-2451-81E8-973D9C23B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4" y="4727"/>
                        <a:ext cx="3011488" cy="23780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0D9E43E-DDFB-674E-3095-4CC25F0C8D8B}"/>
              </a:ext>
            </a:extLst>
          </p:cNvPr>
          <p:cNvCxnSpPr>
            <a:cxnSpLocks/>
          </p:cNvCxnSpPr>
          <p:nvPr/>
        </p:nvCxnSpPr>
        <p:spPr>
          <a:xfrm flipH="1">
            <a:off x="2646220" y="688560"/>
            <a:ext cx="96981" cy="1719245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39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5" y="2099758"/>
            <a:ext cx="7162800" cy="3920042"/>
          </a:xfrm>
          <a:prstGeom prst="rect">
            <a:avLst/>
          </a:prstGeom>
        </p:spPr>
      </p:pic>
      <p:sp>
        <p:nvSpPr>
          <p:cNvPr id="98308" name="Rectangle 2">
            <a:extLst>
              <a:ext uri="{FF2B5EF4-FFF2-40B4-BE49-F238E27FC236}">
                <a16:creationId xmlns:a16="http://schemas.microsoft.com/office/drawing/2014/main" id="{589EEC0D-38A0-4ECE-B739-4BC7FE3EB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37687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8309" name="Rectangle 4">
            <a:extLst>
              <a:ext uri="{FF2B5EF4-FFF2-40B4-BE49-F238E27FC236}">
                <a16:creationId xmlns:a16="http://schemas.microsoft.com/office/drawing/2014/main" id="{D7E89562-FE93-4E9D-B00B-EFA7388F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F4778150-EC51-46DB-9074-8DFF8012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2" name="Rectangle 230">
            <a:extLst>
              <a:ext uri="{FF2B5EF4-FFF2-40B4-BE49-F238E27FC236}">
                <a16:creationId xmlns:a16="http://schemas.microsoft.com/office/drawing/2014/main" id="{137A5DC9-6FAC-4A6B-A8DB-675E12A5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3" name="Text Box 231">
            <a:extLst>
              <a:ext uri="{FF2B5EF4-FFF2-40B4-BE49-F238E27FC236}">
                <a16:creationId xmlns:a16="http://schemas.microsoft.com/office/drawing/2014/main" id="{018BF3A8-B847-42F5-B418-5472596E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6" y="170501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8315" name="Rectangle 237">
            <a:extLst>
              <a:ext uri="{FF2B5EF4-FFF2-40B4-BE49-F238E27FC236}">
                <a16:creationId xmlns:a16="http://schemas.microsoft.com/office/drawing/2014/main" id="{D5D06035-B35D-4E88-8618-19AEB03A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6067424"/>
            <a:ext cx="3995737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zh-CN" altLang="en-US" sz="2000" dirty="0">
                <a:latin typeface="Arial" panose="020B0604020202020204" pitchFamily="34" charset="0"/>
              </a:rPr>
              <a:t>表中未写数字的空格内是</a:t>
            </a:r>
            <a:r>
              <a:rPr lang="en-US" altLang="zh-CN" sz="2000" dirty="0">
                <a:latin typeface="Arial" panose="020B0604020202020204" pitchFamily="34" charset="0"/>
              </a:rPr>
              <a:t>+∞)</a:t>
            </a:r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C5DB148B-1AB0-430D-BD23-31323249C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058980"/>
              </p:ext>
            </p:extLst>
          </p:nvPr>
        </p:nvGraphicFramePr>
        <p:xfrm>
          <a:off x="4305301" y="468313"/>
          <a:ext cx="4686300" cy="62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920" imgH="291960" progId="Equation.DSMT4">
                  <p:embed/>
                </p:oleObj>
              </mc:Choice>
              <mc:Fallback>
                <p:oleObj name="Equation" r:id="rId3" imgW="2158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1" y="468313"/>
                        <a:ext cx="4686300" cy="62636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6340475" y="3714750"/>
            <a:ext cx="381000" cy="3238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6340475" y="1212778"/>
            <a:ext cx="60325" cy="122867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654675" y="2971800"/>
            <a:ext cx="457200" cy="28733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547143" y="2971800"/>
            <a:ext cx="457200" cy="28733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47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5" y="2099758"/>
            <a:ext cx="7162800" cy="3920042"/>
          </a:xfrm>
          <a:prstGeom prst="rect">
            <a:avLst/>
          </a:prstGeom>
        </p:spPr>
      </p:pic>
      <p:sp>
        <p:nvSpPr>
          <p:cNvPr id="98308" name="Rectangle 2">
            <a:extLst>
              <a:ext uri="{FF2B5EF4-FFF2-40B4-BE49-F238E27FC236}">
                <a16:creationId xmlns:a16="http://schemas.microsoft.com/office/drawing/2014/main" id="{589EEC0D-38A0-4ECE-B739-4BC7FE3EB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3768725" cy="1216025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8309" name="Rectangle 4">
            <a:extLst>
              <a:ext uri="{FF2B5EF4-FFF2-40B4-BE49-F238E27FC236}">
                <a16:creationId xmlns:a16="http://schemas.microsoft.com/office/drawing/2014/main" id="{D7E89562-FE93-4E9D-B00B-EFA7388F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F4778150-EC51-46DB-9074-8DFF8012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2" name="Rectangle 230">
            <a:extLst>
              <a:ext uri="{FF2B5EF4-FFF2-40B4-BE49-F238E27FC236}">
                <a16:creationId xmlns:a16="http://schemas.microsoft.com/office/drawing/2014/main" id="{137A5DC9-6FAC-4A6B-A8DB-675E12A5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3" name="Text Box 231">
            <a:extLst>
              <a:ext uri="{FF2B5EF4-FFF2-40B4-BE49-F238E27FC236}">
                <a16:creationId xmlns:a16="http://schemas.microsoft.com/office/drawing/2014/main" id="{018BF3A8-B847-42F5-B418-5472596E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6" y="170501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8315" name="Rectangle 237">
            <a:extLst>
              <a:ext uri="{FF2B5EF4-FFF2-40B4-BE49-F238E27FC236}">
                <a16:creationId xmlns:a16="http://schemas.microsoft.com/office/drawing/2014/main" id="{D5D06035-B35D-4E88-8618-19AEB03A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6067424"/>
            <a:ext cx="3995737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zh-CN" altLang="en-US" sz="2000" dirty="0">
                <a:latin typeface="Arial" panose="020B0604020202020204" pitchFamily="34" charset="0"/>
              </a:rPr>
              <a:t>表中未写数字的空格内是</a:t>
            </a:r>
            <a:r>
              <a:rPr lang="en-US" altLang="zh-CN" sz="2000" dirty="0">
                <a:latin typeface="Arial" panose="020B0604020202020204" pitchFamily="34" charset="0"/>
              </a:rPr>
              <a:t>+∞)</a:t>
            </a:r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C5DB148B-1AB0-430D-BD23-31323249C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162424"/>
              </p:ext>
            </p:extLst>
          </p:nvPr>
        </p:nvGraphicFramePr>
        <p:xfrm>
          <a:off x="4305301" y="504595"/>
          <a:ext cx="4610100" cy="61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920" imgH="291960" progId="Equation.DSMT4">
                  <p:embed/>
                </p:oleObj>
              </mc:Choice>
              <mc:Fallback>
                <p:oleObj name="Equation" r:id="rId3" imgW="2158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1" y="504595"/>
                        <a:ext cx="4610100" cy="61617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6950075" y="4090987"/>
            <a:ext cx="381000" cy="3238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6400801" y="1212778"/>
            <a:ext cx="838199" cy="127116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324600" y="2971800"/>
            <a:ext cx="457200" cy="2873375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079170" y="2971800"/>
            <a:ext cx="457200" cy="2873375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16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5" y="2099758"/>
            <a:ext cx="7162800" cy="3920042"/>
          </a:xfrm>
          <a:prstGeom prst="rect">
            <a:avLst/>
          </a:prstGeom>
        </p:spPr>
      </p:pic>
      <p:sp>
        <p:nvSpPr>
          <p:cNvPr id="98308" name="Rectangle 2">
            <a:extLst>
              <a:ext uri="{FF2B5EF4-FFF2-40B4-BE49-F238E27FC236}">
                <a16:creationId xmlns:a16="http://schemas.microsoft.com/office/drawing/2014/main" id="{589EEC0D-38A0-4ECE-B739-4BC7FE3EB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742951"/>
            <a:ext cx="3768725" cy="777874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8309" name="Rectangle 4">
            <a:extLst>
              <a:ext uri="{FF2B5EF4-FFF2-40B4-BE49-F238E27FC236}">
                <a16:creationId xmlns:a16="http://schemas.microsoft.com/office/drawing/2014/main" id="{D7E89562-FE93-4E9D-B00B-EFA7388F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F4778150-EC51-46DB-9074-8DFF8012C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2" name="Rectangle 230">
            <a:extLst>
              <a:ext uri="{FF2B5EF4-FFF2-40B4-BE49-F238E27FC236}">
                <a16:creationId xmlns:a16="http://schemas.microsoft.com/office/drawing/2014/main" id="{137A5DC9-6FAC-4A6B-A8DB-675E12A59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13" name="Text Box 231">
            <a:extLst>
              <a:ext uri="{FF2B5EF4-FFF2-40B4-BE49-F238E27FC236}">
                <a16:creationId xmlns:a16="http://schemas.microsoft.com/office/drawing/2014/main" id="{018BF3A8-B847-42F5-B418-5472596E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6" y="170501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8315" name="Rectangle 237">
            <a:extLst>
              <a:ext uri="{FF2B5EF4-FFF2-40B4-BE49-F238E27FC236}">
                <a16:creationId xmlns:a16="http://schemas.microsoft.com/office/drawing/2014/main" id="{D5D06035-B35D-4E88-8618-19AEB03A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6067424"/>
            <a:ext cx="3995737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zh-CN" altLang="en-US" sz="2000" dirty="0">
                <a:latin typeface="Arial" panose="020B0604020202020204" pitchFamily="34" charset="0"/>
              </a:rPr>
              <a:t>表中未写数字的空格内是</a:t>
            </a:r>
            <a:r>
              <a:rPr lang="en-US" altLang="zh-CN" sz="2000" dirty="0">
                <a:latin typeface="Arial" panose="020B0604020202020204" pitchFamily="34" charset="0"/>
              </a:rPr>
              <a:t>+∞)</a:t>
            </a:r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C5DB148B-1AB0-430D-BD23-31323249C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939957"/>
              </p:ext>
            </p:extLst>
          </p:nvPr>
        </p:nvGraphicFramePr>
        <p:xfrm>
          <a:off x="4305301" y="511247"/>
          <a:ext cx="4533900" cy="563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920" imgH="291960" progId="Equation.DSMT4">
                  <p:embed/>
                </p:oleObj>
              </mc:Choice>
              <mc:Fallback>
                <p:oleObj name="Equation" r:id="rId3" imgW="2158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1" y="511247"/>
                        <a:ext cx="4533900" cy="56305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7620000" y="5619750"/>
            <a:ext cx="381000" cy="3238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6400801" y="1212778"/>
            <a:ext cx="1447799" cy="122562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934200" y="2971800"/>
            <a:ext cx="457200" cy="2971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105400" y="2971800"/>
            <a:ext cx="457200" cy="2971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41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灯片编号占位符 5">
            <a:extLst>
              <a:ext uri="{FF2B5EF4-FFF2-40B4-BE49-F238E27FC236}">
                <a16:creationId xmlns:a16="http://schemas.microsoft.com/office/drawing/2014/main" id="{C1731ADB-FB90-4657-A60E-E2184A7C48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E671EC0-FC7B-44FD-977B-C7161A69DB07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A63EAB4A-C633-4C51-B258-5A17FD8E1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733427"/>
            <a:ext cx="3921125" cy="787398"/>
          </a:xfrm>
        </p:spPr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id="{0CAEEEE4-A889-4936-8C99-33E5E065A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8792" y="1781175"/>
            <a:ext cx="7661275" cy="4391025"/>
          </a:xfrm>
        </p:spPr>
        <p:txBody>
          <a:bodyPr/>
          <a:lstStyle/>
          <a:p>
            <a:pPr marL="360000" indent="-457200"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可以看到，当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对所有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457200"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                                            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-457200">
              <a:lnSpc>
                <a:spcPct val="125000"/>
              </a:lnSpc>
              <a:spcBef>
                <a:spcPts val="12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于是表中最后一列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0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360000" indent="-4572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就分别是从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的最短路的权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为了进一步求得从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到各点的最短路，可以类似于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方法中，给每一个点以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值开始，</a:t>
            </a:r>
          </a:p>
          <a:p>
            <a:pPr algn="ctr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9334" name="Rectangle 5">
            <a:extLst>
              <a:ext uri="{FF2B5EF4-FFF2-40B4-BE49-F238E27FC236}">
                <a16:creationId xmlns:a16="http://schemas.microsoft.com/office/drawing/2014/main" id="{F232FEA6-8532-4BFE-B422-F2D413627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9335" name="Object 4">
            <a:extLst>
              <a:ext uri="{FF2B5EF4-FFF2-40B4-BE49-F238E27FC236}">
                <a16:creationId xmlns:a16="http://schemas.microsoft.com/office/drawing/2014/main" id="{1C36734E-A2B8-42ED-A44A-136BBE12C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099634"/>
              </p:ext>
            </p:extLst>
          </p:nvPr>
        </p:nvGraphicFramePr>
        <p:xfrm>
          <a:off x="1600200" y="2819400"/>
          <a:ext cx="32051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253800" progId="Equation.DSMT4">
                  <p:embed/>
                </p:oleObj>
              </mc:Choice>
              <mc:Fallback>
                <p:oleObj name="Equation" r:id="rId2" imgW="1511280" imgH="253800" progId="Equation.DSMT4">
                  <p:embed/>
                  <p:pic>
                    <p:nvPicPr>
                      <p:cNvPr id="99335" name="Object 4">
                        <a:extLst>
                          <a:ext uri="{FF2B5EF4-FFF2-40B4-BE49-F238E27FC236}">
                            <a16:creationId xmlns:a16="http://schemas.microsoft.com/office/drawing/2014/main" id="{1C36734E-A2B8-42ED-A44A-136BBE12CD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19400"/>
                        <a:ext cx="32051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036D8CD-431F-B58E-6FE9-02FFC309306D}"/>
              </a:ext>
            </a:extLst>
          </p:cNvPr>
          <p:cNvGrpSpPr/>
          <p:nvPr/>
        </p:nvGrpSpPr>
        <p:grpSpPr>
          <a:xfrm>
            <a:off x="5029200" y="118558"/>
            <a:ext cx="4038600" cy="2319842"/>
            <a:chOff x="838200" y="2895600"/>
            <a:chExt cx="7162800" cy="392004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2411085-347C-DFF7-B2AE-FFA49405D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895600"/>
              <a:ext cx="7162800" cy="3920042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0B3C4E2-7C8E-38B8-0D4F-DF54CD5343FF}"/>
                </a:ext>
              </a:extLst>
            </p:cNvPr>
            <p:cNvSpPr/>
            <p:nvPr/>
          </p:nvSpPr>
          <p:spPr>
            <a:xfrm>
              <a:off x="6629400" y="3276600"/>
              <a:ext cx="1295400" cy="350520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9249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灯片编号占位符 5">
            <a:extLst>
              <a:ext uri="{FF2B5EF4-FFF2-40B4-BE49-F238E27FC236}">
                <a16:creationId xmlns:a16="http://schemas.microsoft.com/office/drawing/2014/main" id="{E98F6B59-104C-42EE-B647-D7C6862D4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941653-B3FA-48F6-AD8E-13D7A9EBB9B3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74943D47-A6CF-4211-B8C5-CFA907740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100357" name="Rectangle 3">
            <a:extLst>
              <a:ext uri="{FF2B5EF4-FFF2-40B4-BE49-F238E27FC236}">
                <a16:creationId xmlns:a16="http://schemas.microsoft.com/office/drawing/2014/main" id="{7A78E18F-7F0B-477F-93F9-8FCB9834B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6901" y="1905426"/>
            <a:ext cx="4127500" cy="895350"/>
          </a:xfrm>
        </p:spPr>
        <p:txBody>
          <a:bodyPr/>
          <a:lstStyle/>
          <a:p>
            <a:r>
              <a:rPr lang="zh-CN" altLang="en-US" sz="2400" dirty="0"/>
              <a:t>在迭代过程中，如果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  <p:sp>
        <p:nvSpPr>
          <p:cNvPr id="100358" name="Rectangle 5">
            <a:extLst>
              <a:ext uri="{FF2B5EF4-FFF2-40B4-BE49-F238E27FC236}">
                <a16:creationId xmlns:a16="http://schemas.microsoft.com/office/drawing/2014/main" id="{16D1D437-6268-4A3D-B90D-E4812FFA5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0359" name="Object 4">
            <a:extLst>
              <a:ext uri="{FF2B5EF4-FFF2-40B4-BE49-F238E27FC236}">
                <a16:creationId xmlns:a16="http://schemas.microsoft.com/office/drawing/2014/main" id="{7B4E1C7B-BB25-484E-B01B-D89C7680B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174939"/>
              </p:ext>
            </p:extLst>
          </p:nvPr>
        </p:nvGraphicFramePr>
        <p:xfrm>
          <a:off x="1295400" y="2590800"/>
          <a:ext cx="6457950" cy="1384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533160" progId="Equation.DSMT4">
                  <p:embed/>
                </p:oleObj>
              </mc:Choice>
              <mc:Fallback>
                <p:oleObj name="Equation" r:id="rId2" imgW="2197080" imgH="533160" progId="Equation.DSMT4">
                  <p:embed/>
                  <p:pic>
                    <p:nvPicPr>
                      <p:cNvPr id="100359" name="Object 4">
                        <a:extLst>
                          <a:ext uri="{FF2B5EF4-FFF2-40B4-BE49-F238E27FC236}">
                            <a16:creationId xmlns:a16="http://schemas.microsoft.com/office/drawing/2014/main" id="{7B4E1C7B-BB25-484E-B01B-D89C7680B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590800"/>
                        <a:ext cx="6457950" cy="1384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0" name="Rectangle 9">
            <a:extLst>
              <a:ext uri="{FF2B5EF4-FFF2-40B4-BE49-F238E27FC236}">
                <a16:creationId xmlns:a16="http://schemas.microsoft.com/office/drawing/2014/main" id="{B6F9F35B-9044-41DB-A3BB-289C5146A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1" y="4308359"/>
            <a:ext cx="84708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则把这时的</a:t>
            </a:r>
            <a:r>
              <a:rPr lang="en-US" altLang="zh-CN" sz="2400" dirty="0">
                <a:latin typeface="Times New Roman" panose="02020603050405020304" pitchFamily="18" charset="0"/>
              </a:rPr>
              <a:t>λ(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修改为</a:t>
            </a:r>
            <a:r>
              <a:rPr lang="en-US" altLang="zh-CN" sz="2400" i="1" dirty="0">
                <a:latin typeface="Times New Roman" panose="02020603050405020304" pitchFamily="18" charset="0"/>
              </a:rPr>
              <a:t>i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迭代终止时，根据各点的</a:t>
            </a:r>
            <a:r>
              <a:rPr lang="en-US" altLang="zh-CN" sz="2400" dirty="0">
                <a:latin typeface="Times New Roman" panose="02020603050405020304" pitchFamily="18" charset="0"/>
              </a:rPr>
              <a:t>λ</a:t>
            </a:r>
            <a:r>
              <a:rPr lang="zh-CN" altLang="en-US" sz="2400" dirty="0">
                <a:latin typeface="Times New Roman" panose="02020603050405020304" pitchFamily="18" charset="0"/>
              </a:rPr>
              <a:t>值，可以得到从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到各点的最短路。</a:t>
            </a:r>
          </a:p>
        </p:txBody>
      </p:sp>
    </p:spTree>
    <p:extLst>
      <p:ext uri="{BB962C8B-B14F-4D97-AF65-F5344CB8AC3E}">
        <p14:creationId xmlns:p14="http://schemas.microsoft.com/office/powerpoint/2010/main" val="3649403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灯片编号占位符 5">
            <a:extLst>
              <a:ext uri="{FF2B5EF4-FFF2-40B4-BE49-F238E27FC236}">
                <a16:creationId xmlns:a16="http://schemas.microsoft.com/office/drawing/2014/main" id="{E98F6B59-104C-42EE-B647-D7C6862D4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941653-B3FA-48F6-AD8E-13D7A9EBB9B3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74943D47-A6CF-4211-B8C5-CFA907740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100357" name="Rectangle 3">
            <a:extLst>
              <a:ext uri="{FF2B5EF4-FFF2-40B4-BE49-F238E27FC236}">
                <a16:creationId xmlns:a16="http://schemas.microsoft.com/office/drawing/2014/main" id="{7A78E18F-7F0B-477F-93F9-8FCB9834B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19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寻求最短路的另一个办法是在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求出最短路的权以后</a:t>
            </a:r>
            <a:r>
              <a:rPr lang="zh-CN" altLang="en-US" sz="2400" dirty="0">
                <a:latin typeface="Times New Roman" panose="02020603050405020304" pitchFamily="18" charset="0"/>
              </a:rPr>
              <a:t>，采用“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反向追踪</a:t>
            </a:r>
            <a:r>
              <a:rPr lang="zh-CN" altLang="en-US" sz="2400" dirty="0">
                <a:latin typeface="Times New Roman" panose="02020603050405020304" pitchFamily="18" charset="0"/>
              </a:rPr>
              <a:t>”的方法。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</a:rPr>
              <a:t>比如已知</a:t>
            </a:r>
            <a:r>
              <a:rPr lang="en-US" altLang="zh-CN" sz="2400" dirty="0">
                <a:latin typeface="Times New Roman" panose="02020603050405020304" pitchFamily="18" charset="0"/>
              </a:rPr>
              <a:t>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，则寻求一个点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latin typeface="Times New Roman" panose="02020603050405020304" pitchFamily="18" charset="0"/>
              </a:rPr>
              <a:t>使</a:t>
            </a:r>
            <a:r>
              <a:rPr lang="en-US" altLang="zh-CN" sz="2400" dirty="0">
                <a:latin typeface="Times New Roman" panose="02020603050405020304" pitchFamily="18" charset="0"/>
              </a:rPr>
              <a:t>  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</a:rPr>
              <a:t>) + 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 j </a:t>
            </a:r>
            <a:r>
              <a:rPr lang="en-US" altLang="zh-CN" sz="2400" dirty="0">
                <a:latin typeface="Times New Roman" panose="02020603050405020304" pitchFamily="18" charset="0"/>
              </a:rPr>
              <a:t>= 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，记录下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</a:rPr>
              <a:t>再考查</a:t>
            </a:r>
            <a:r>
              <a:rPr lang="en-US" altLang="zh-CN" sz="2400" dirty="0">
                <a:latin typeface="Times New Roman" panose="02020603050405020304" pitchFamily="18" charset="0"/>
              </a:rPr>
              <a:t>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，寻求一点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</a:rPr>
              <a:t>使  </a:t>
            </a:r>
            <a:r>
              <a:rPr lang="en-US" altLang="zh-CN" sz="2400" dirty="0">
                <a:latin typeface="Times New Roman" panose="02020603050405020304" pitchFamily="18" charset="0"/>
              </a:rPr>
              <a:t> 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)+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 k</a:t>
            </a:r>
            <a:r>
              <a:rPr lang="en-US" altLang="zh-CN" sz="2400" dirty="0">
                <a:latin typeface="Times New Roman" panose="02020603050405020304" pitchFamily="18" charset="0"/>
              </a:rPr>
              <a:t>=d(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，，记录下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</a:rPr>
              <a:t>如此等等，直至到达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为止，于是从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到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</a:rPr>
              <a:t>的最短路是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s</a:t>
            </a:r>
            <a:r>
              <a:rPr lang="en-US" altLang="zh-CN" sz="2400" i="1" dirty="0">
                <a:latin typeface="Times New Roman" panose="02020603050405020304" pitchFamily="18" charset="0"/>
              </a:rPr>
              <a:t>,…,v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endParaRPr lang="zh-CN" altLang="en-US" sz="2400" dirty="0"/>
          </a:p>
        </p:txBody>
      </p:sp>
      <p:sp>
        <p:nvSpPr>
          <p:cNvPr id="100358" name="Rectangle 5">
            <a:extLst>
              <a:ext uri="{FF2B5EF4-FFF2-40B4-BE49-F238E27FC236}">
                <a16:creationId xmlns:a16="http://schemas.microsoft.com/office/drawing/2014/main" id="{16D1D437-6268-4A3D-B90D-E4812FFA5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灯片编号占位符 5">
            <a:extLst>
              <a:ext uri="{FF2B5EF4-FFF2-40B4-BE49-F238E27FC236}">
                <a16:creationId xmlns:a16="http://schemas.microsoft.com/office/drawing/2014/main" id="{758B2D09-5468-4641-B83D-BFC50B8738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C74FA7E-7917-437E-90EF-3B94275C3A0B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DC9C602F-C06C-4EF1-B325-4BAE1C8CD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101381" name="Rectangle 7">
            <a:extLst>
              <a:ext uri="{FF2B5EF4-FFF2-40B4-BE49-F238E27FC236}">
                <a16:creationId xmlns:a16="http://schemas.microsoft.com/office/drawing/2014/main" id="{044F691B-75E0-4D0D-8028-5B95F4F5D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1382" name="Rectangle 8">
            <a:extLst>
              <a:ext uri="{FF2B5EF4-FFF2-40B4-BE49-F238E27FC236}">
                <a16:creationId xmlns:a16="http://schemas.microsoft.com/office/drawing/2014/main" id="{19B9B180-4C4C-49BF-BE24-CCABB1709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617851"/>
            <a:ext cx="7959725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</a:rPr>
              <a:t>如例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Clr>
                <a:srgbClr val="C00000"/>
              </a:buClr>
            </a:pPr>
            <a:r>
              <a:rPr lang="zh-CN" altLang="en-US" sz="2800" dirty="0">
                <a:latin typeface="Times New Roman" panose="02020603050405020304" pitchFamily="18" charset="0"/>
              </a:rPr>
              <a:t>由表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已知，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Clr>
                <a:srgbClr val="C00000"/>
              </a:buClr>
            </a:pPr>
            <a:r>
              <a:rPr lang="en-US" altLang="zh-CN" sz="2800" dirty="0">
                <a:latin typeface="Times New Roman" panose="02020603050405020304" pitchFamily="18" charset="0"/>
              </a:rPr>
              <a:t>d(</a:t>
            </a:r>
            <a:r>
              <a:rPr lang="en-US" altLang="zh-CN" sz="2800" i="1" dirty="0">
                <a:latin typeface="Times New Roman" panose="02020603050405020304" pitchFamily="18" charset="0"/>
              </a:rPr>
              <a:t>v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v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sz="2800" dirty="0">
                <a:latin typeface="Times New Roman" panose="02020603050405020304" pitchFamily="18" charset="0"/>
              </a:rPr>
              <a:t>)=6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</a:rPr>
              <a:t>因</a:t>
            </a:r>
            <a:r>
              <a:rPr lang="en-US" altLang="zh-CN" sz="2400" dirty="0">
                <a:latin typeface="Times New Roman" panose="02020603050405020304" pitchFamily="18" charset="0"/>
              </a:rPr>
              <a:t>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)+w</a:t>
            </a:r>
            <a:r>
              <a:rPr lang="en-US" altLang="zh-CN" sz="2400" baseline="-30000" dirty="0">
                <a:latin typeface="Times New Roman" panose="02020603050405020304" pitchFamily="18" charset="0"/>
              </a:rPr>
              <a:t>68</a:t>
            </a:r>
            <a:r>
              <a:rPr lang="en-US" altLang="zh-CN" sz="2400" dirty="0">
                <a:latin typeface="Times New Roman" panose="02020603050405020304" pitchFamily="18" charset="0"/>
              </a:rPr>
              <a:t>=(-1)+7=d(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，故记下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6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</a:rPr>
              <a:t>因</a:t>
            </a:r>
            <a:r>
              <a:rPr lang="en-US" altLang="zh-CN" sz="2400" dirty="0">
                <a:latin typeface="Times New Roman" panose="02020603050405020304" pitchFamily="18" charset="0"/>
              </a:rPr>
              <a:t>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</a:rPr>
              <a:t>)+w</a:t>
            </a:r>
            <a:r>
              <a:rPr lang="en-US" altLang="zh-CN" sz="2400" baseline="-30000" dirty="0">
                <a:latin typeface="Times New Roman" panose="02020603050405020304" pitchFamily="18" charset="0"/>
              </a:rPr>
              <a:t>36</a:t>
            </a:r>
            <a:r>
              <a:rPr lang="en-US" altLang="zh-CN" sz="2400" dirty="0">
                <a:latin typeface="Times New Roman" panose="02020603050405020304" pitchFamily="18" charset="0"/>
              </a:rPr>
              <a:t>=d(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，故记下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</a:rPr>
              <a:t>因</a:t>
            </a:r>
            <a:r>
              <a:rPr lang="en-US" altLang="zh-CN" sz="2400" dirty="0">
                <a:latin typeface="Times New Roman" panose="02020603050405020304" pitchFamily="18" charset="0"/>
              </a:rPr>
              <a:t>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)+w</a:t>
            </a:r>
            <a:r>
              <a:rPr lang="en-US" altLang="zh-CN" sz="2400" baseline="-30000" dirty="0">
                <a:latin typeface="Times New Roman" panose="02020603050405020304" pitchFamily="18" charset="0"/>
              </a:rPr>
              <a:t>13</a:t>
            </a:r>
            <a:r>
              <a:rPr lang="en-US" altLang="zh-CN" sz="2400" dirty="0">
                <a:latin typeface="Times New Roman" panose="02020603050405020304" pitchFamily="18" charset="0"/>
              </a:rPr>
              <a:t>=d(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，从而从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到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</a:rPr>
              <a:t>的最短路是</a:t>
            </a:r>
            <a:r>
              <a:rPr lang="en-US" altLang="zh-CN" sz="2400" dirty="0">
                <a:latin typeface="Times New Roman" panose="02020603050405020304" pitchFamily="18" charset="0"/>
              </a:rPr>
              <a:t> (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3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6</a:t>
            </a:r>
            <a:r>
              <a:rPr lang="zh-CN" altLang="en-US" sz="2400" i="1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BF36B7E-A4DE-405B-A88D-A64DE851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559175"/>
            <a:ext cx="3743325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2899064" y="19239"/>
            <a:ext cx="6244936" cy="3048000"/>
            <a:chOff x="838200" y="2895600"/>
            <a:chExt cx="7162800" cy="392004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895600"/>
              <a:ext cx="7162800" cy="392004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629400" y="3276600"/>
              <a:ext cx="1295400" cy="350520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553200" y="2133600"/>
            <a:ext cx="2286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89025" y="1231656"/>
            <a:ext cx="2286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305567" y="692728"/>
            <a:ext cx="304267" cy="3463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灯片编号占位符 5">
            <a:extLst>
              <a:ext uri="{FF2B5EF4-FFF2-40B4-BE49-F238E27FC236}">
                <a16:creationId xmlns:a16="http://schemas.microsoft.com/office/drawing/2014/main" id="{2CE736DE-08ED-4C02-970A-6FBFB3D938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580E61A-F5EE-462B-90A4-E05EF485A491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02404" name="Rectangle 2">
            <a:extLst>
              <a:ext uri="{FF2B5EF4-FFF2-40B4-BE49-F238E27FC236}">
                <a16:creationId xmlns:a16="http://schemas.microsoft.com/office/drawing/2014/main" id="{FCB0D29F-717D-4AB6-8A67-C95A204CC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102405" name="Rectangle 3">
            <a:extLst>
              <a:ext uri="{FF2B5EF4-FFF2-40B4-BE49-F238E27FC236}">
                <a16:creationId xmlns:a16="http://schemas.microsoft.com/office/drawing/2014/main" id="{EE58EEDE-2B42-41B5-BAEE-47C5292025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628774"/>
            <a:ext cx="7837487" cy="45434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是赋权有向图，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中的一个回路，如果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的权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小于零，则称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中的一个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负回路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不难证明：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不含负回路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赋权有向图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，那么，从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到任一个点的最短路必可取为初等路，从而最多包含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个中间点；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上述递推公式中的                        是在至多包含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个中间点的限制条件下，从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的最短路的权。</a:t>
            </a:r>
          </a:p>
        </p:txBody>
      </p:sp>
      <p:sp>
        <p:nvSpPr>
          <p:cNvPr id="102406" name="Rectangle 5">
            <a:extLst>
              <a:ext uri="{FF2B5EF4-FFF2-40B4-BE49-F238E27FC236}">
                <a16:creationId xmlns:a16="http://schemas.microsoft.com/office/drawing/2014/main" id="{EAC1EFA1-6EBE-4060-A1A4-CE0B16BB5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2407" name="Object 4">
            <a:extLst>
              <a:ext uri="{FF2B5EF4-FFF2-40B4-BE49-F238E27FC236}">
                <a16:creationId xmlns:a16="http://schemas.microsoft.com/office/drawing/2014/main" id="{D99C0F21-56BC-4922-B20F-837298257F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925004"/>
              </p:ext>
            </p:extLst>
          </p:nvPr>
        </p:nvGraphicFramePr>
        <p:xfrm>
          <a:off x="4300538" y="4876800"/>
          <a:ext cx="15335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53800" progId="Equation.DSMT4">
                  <p:embed/>
                </p:oleObj>
              </mc:Choice>
              <mc:Fallback>
                <p:oleObj name="Equation" r:id="rId2" imgW="68580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538" y="4876800"/>
                        <a:ext cx="15335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8" name="Rectangle 7">
            <a:extLst>
              <a:ext uri="{FF2B5EF4-FFF2-40B4-BE49-F238E27FC236}">
                <a16:creationId xmlns:a16="http://schemas.microsoft.com/office/drawing/2014/main" id="{A9476F44-7AF9-4E63-82C7-C28FDB64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2">
            <a:extLst>
              <a:ext uri="{FF2B5EF4-FFF2-40B4-BE49-F238E27FC236}">
                <a16:creationId xmlns:a16="http://schemas.microsoft.com/office/drawing/2014/main" id="{FCB0D29F-717D-4AB6-8A67-C95A204CC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102405" name="Rectangle 3">
            <a:extLst>
              <a:ext uri="{FF2B5EF4-FFF2-40B4-BE49-F238E27FC236}">
                <a16:creationId xmlns:a16="http://schemas.microsoft.com/office/drawing/2014/main" id="{EE58EEDE-2B42-41B5-BAEE-47C5292025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600200"/>
            <a:ext cx="7913687" cy="248602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由上述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可知：当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中不含负回路时，上述算法最多经过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次迭代必定收敛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即对所有的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1,2,…,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，均有                                      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487" lvl="1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从而，求出从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到各个顶点的最短路的权。</a:t>
            </a:r>
          </a:p>
        </p:txBody>
      </p:sp>
      <p:sp>
        <p:nvSpPr>
          <p:cNvPr id="102406" name="Rectangle 5">
            <a:extLst>
              <a:ext uri="{FF2B5EF4-FFF2-40B4-BE49-F238E27FC236}">
                <a16:creationId xmlns:a16="http://schemas.microsoft.com/office/drawing/2014/main" id="{EAC1EFA1-6EBE-4060-A1A4-CE0B16BB5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408" name="Rectangle 7">
            <a:extLst>
              <a:ext uri="{FF2B5EF4-FFF2-40B4-BE49-F238E27FC236}">
                <a16:creationId xmlns:a16="http://schemas.microsoft.com/office/drawing/2014/main" id="{A9476F44-7AF9-4E63-82C7-C28FDB64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2409" name="Object 6">
            <a:extLst>
              <a:ext uri="{FF2B5EF4-FFF2-40B4-BE49-F238E27FC236}">
                <a16:creationId xmlns:a16="http://schemas.microsoft.com/office/drawing/2014/main" id="{43DA09A1-070C-491C-8A90-5CECECF8AF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947099"/>
              </p:ext>
            </p:extLst>
          </p:nvPr>
        </p:nvGraphicFramePr>
        <p:xfrm>
          <a:off x="1905000" y="2798764"/>
          <a:ext cx="4019794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12900" imgH="254000" progId="Equation.DSMT4">
                  <p:embed/>
                </p:oleObj>
              </mc:Choice>
              <mc:Fallback>
                <p:oleObj r:id="rId2" imgW="16129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798764"/>
                        <a:ext cx="4019794" cy="6096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7BF36B7E-A4DE-405B-A88D-A64DE851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0"/>
            <a:ext cx="3429000" cy="26728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B3735DA-EFC0-4C73-92EB-14A62F8CD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4114800"/>
            <a:ext cx="7778750" cy="2057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如果经过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次迭代，存在某个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                                       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则说明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中含有负回路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。显然，这时从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的路的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权是没有下界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的。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B0D369C1-0112-45CA-A7E7-DCE3B2D89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987766"/>
              </p:ext>
            </p:extLst>
          </p:nvPr>
        </p:nvGraphicFramePr>
        <p:xfrm>
          <a:off x="2514600" y="4648200"/>
          <a:ext cx="3892206" cy="621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12800" imgH="253800" progId="Equation.DSMT4">
                  <p:embed/>
                </p:oleObj>
              </mc:Choice>
              <mc:Fallback>
                <p:oleObj name="Equation" r:id="rId5" imgW="1612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648200"/>
                        <a:ext cx="3892206" cy="62121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926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灯片编号占位符 5">
            <a:extLst>
              <a:ext uri="{FF2B5EF4-FFF2-40B4-BE49-F238E27FC236}">
                <a16:creationId xmlns:a16="http://schemas.microsoft.com/office/drawing/2014/main" id="{0F3C73ED-BB63-4B45-B0A9-C365610D8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951424-1D41-41FD-96E5-4258E591910C}" type="slidenum">
              <a:rPr lang="en-US" altLang="zh-CN"/>
              <a:pPr/>
              <a:t>47</a:t>
            </a:fld>
            <a:endParaRPr lang="en-US" altLang="zh-CN" dirty="0"/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6F107E04-F963-4661-A2C5-CF79E987C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最短路算法</a:t>
            </a:r>
          </a:p>
        </p:txBody>
      </p:sp>
      <p:sp>
        <p:nvSpPr>
          <p:cNvPr id="103429" name="Rectangle 3">
            <a:extLst>
              <a:ext uri="{FF2B5EF4-FFF2-40B4-BE49-F238E27FC236}">
                <a16:creationId xmlns:a16="http://schemas.microsoft.com/office/drawing/2014/main" id="{0B3735DA-EFC0-4C73-92EB-14A62F8CD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781175"/>
            <a:ext cx="7778750" cy="581026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为了加快收敛速度，可以利用如下的递推公式。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algn="ctr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103430" name="Rectangle 5">
            <a:extLst>
              <a:ext uri="{FF2B5EF4-FFF2-40B4-BE49-F238E27FC236}">
                <a16:creationId xmlns:a16="http://schemas.microsoft.com/office/drawing/2014/main" id="{8B7F2D6B-642F-4A09-8986-7BEFC48DC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432" name="Rectangle 7">
            <a:extLst>
              <a:ext uri="{FF2B5EF4-FFF2-40B4-BE49-F238E27FC236}">
                <a16:creationId xmlns:a16="http://schemas.microsoft.com/office/drawing/2014/main" id="{E556C6AF-5671-4E88-8933-9F65B1444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3433" name="Object 6">
            <a:extLst>
              <a:ext uri="{FF2B5EF4-FFF2-40B4-BE49-F238E27FC236}">
                <a16:creationId xmlns:a16="http://schemas.microsoft.com/office/drawing/2014/main" id="{663A917F-EB98-425E-8B38-3839B35A0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363861"/>
              </p:ext>
            </p:extLst>
          </p:nvPr>
        </p:nvGraphicFramePr>
        <p:xfrm>
          <a:off x="1733550" y="2514600"/>
          <a:ext cx="5867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253800" progId="Equation.DSMT4">
                  <p:embed/>
                </p:oleObj>
              </mc:Choice>
              <mc:Fallback>
                <p:oleObj name="Equation" r:id="rId2" imgW="194292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514600"/>
                        <a:ext cx="5867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4" name="Rectangle 9">
            <a:extLst>
              <a:ext uri="{FF2B5EF4-FFF2-40B4-BE49-F238E27FC236}">
                <a16:creationId xmlns:a16="http://schemas.microsoft.com/office/drawing/2014/main" id="{7FC02F49-7847-40E0-853D-2F362843F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20399183-A10D-4A09-8F12-FAD60EEC05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469558"/>
              </p:ext>
            </p:extLst>
          </p:nvPr>
        </p:nvGraphicFramePr>
        <p:xfrm>
          <a:off x="650875" y="3588857"/>
          <a:ext cx="8035925" cy="678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6960" imgH="304560" progId="Equation.DSMT4">
                  <p:embed/>
                </p:oleObj>
              </mc:Choice>
              <mc:Fallback>
                <p:oleObj name="Equation" r:id="rId4" imgW="3936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3588857"/>
                        <a:ext cx="8035925" cy="678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灯片编号占位符 5">
            <a:extLst>
              <a:ext uri="{FF2B5EF4-FFF2-40B4-BE49-F238E27FC236}">
                <a16:creationId xmlns:a16="http://schemas.microsoft.com/office/drawing/2014/main" id="{306D525A-7851-41FB-8254-6857C4B6DB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F08E25-8980-499D-A8F9-B88E79A04C84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id="{20380C1B-0C0B-4E71-88A0-B3624FB94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最短路算法</a:t>
            </a:r>
          </a:p>
        </p:txBody>
      </p:sp>
      <p:sp>
        <p:nvSpPr>
          <p:cNvPr id="104453" name="Rectangle 3">
            <a:extLst>
              <a:ext uri="{FF2B5EF4-FFF2-40B4-BE49-F238E27FC236}">
                <a16:creationId xmlns:a16="http://schemas.microsoft.com/office/drawing/2014/main" id="{706ACDD2-B81E-44DF-AA3A-CE5C1551C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01000" cy="3633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J.Y.Yen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提出一个改进的递推算法：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，按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的顺序计算： 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，按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的顺序计算：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同样地，当对所有的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时，算法终止。</a:t>
            </a:r>
          </a:p>
        </p:txBody>
      </p:sp>
      <p:sp>
        <p:nvSpPr>
          <p:cNvPr id="104454" name="Rectangle 5">
            <a:extLst>
              <a:ext uri="{FF2B5EF4-FFF2-40B4-BE49-F238E27FC236}">
                <a16:creationId xmlns:a16="http://schemas.microsoft.com/office/drawing/2014/main" id="{82C6BDA6-91D3-4F8C-A1CE-3151C796E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4455" name="Object 4">
            <a:extLst>
              <a:ext uri="{FF2B5EF4-FFF2-40B4-BE49-F238E27FC236}">
                <a16:creationId xmlns:a16="http://schemas.microsoft.com/office/drawing/2014/main" id="{1AFF9CD1-B8F4-48CB-958C-C68A94712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51641"/>
              </p:ext>
            </p:extLst>
          </p:nvPr>
        </p:nvGraphicFramePr>
        <p:xfrm>
          <a:off x="2097088" y="2135188"/>
          <a:ext cx="45196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53800" progId="Equation.DSMT4">
                  <p:embed/>
                </p:oleObj>
              </mc:Choice>
              <mc:Fallback>
                <p:oleObj name="Equation" r:id="rId2" imgW="201924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2135188"/>
                        <a:ext cx="4519612" cy="52546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6" name="Rectangle 7">
            <a:extLst>
              <a:ext uri="{FF2B5EF4-FFF2-40B4-BE49-F238E27FC236}">
                <a16:creationId xmlns:a16="http://schemas.microsoft.com/office/drawing/2014/main" id="{424A4D44-13B7-4893-B1AD-135D6608B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4457" name="Object 6">
            <a:extLst>
              <a:ext uri="{FF2B5EF4-FFF2-40B4-BE49-F238E27FC236}">
                <a16:creationId xmlns:a16="http://schemas.microsoft.com/office/drawing/2014/main" id="{F1DF4C1E-B066-4985-94E9-260D92C003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118948"/>
              </p:ext>
            </p:extLst>
          </p:nvPr>
        </p:nvGraphicFramePr>
        <p:xfrm>
          <a:off x="1422400" y="3200400"/>
          <a:ext cx="6577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88960" imgH="304560" progId="Equation.DSMT4">
                  <p:embed/>
                </p:oleObj>
              </mc:Choice>
              <mc:Fallback>
                <p:oleObj name="Equation" r:id="rId4" imgW="3288960" imgH="304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200400"/>
                        <a:ext cx="6577013" cy="6096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9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8" name="Rectangle 9">
            <a:extLst>
              <a:ext uri="{FF2B5EF4-FFF2-40B4-BE49-F238E27FC236}">
                <a16:creationId xmlns:a16="http://schemas.microsoft.com/office/drawing/2014/main" id="{7B84046B-ABF2-4938-B685-1C7AFC178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4459" name="Object 8">
            <a:extLst>
              <a:ext uri="{FF2B5EF4-FFF2-40B4-BE49-F238E27FC236}">
                <a16:creationId xmlns:a16="http://schemas.microsoft.com/office/drawing/2014/main" id="{BA292A98-27B7-4FA7-9C49-7A7EEF1266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207799"/>
              </p:ext>
            </p:extLst>
          </p:nvPr>
        </p:nvGraphicFramePr>
        <p:xfrm>
          <a:off x="1498600" y="4456113"/>
          <a:ext cx="650081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88960" imgH="304560" progId="Equation.DSMT4">
                  <p:embed/>
                </p:oleObj>
              </mc:Choice>
              <mc:Fallback>
                <p:oleObj name="Equation" r:id="rId6" imgW="3288960" imgH="3045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4456113"/>
                        <a:ext cx="6500813" cy="6064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9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0" name="Rectangle 11">
            <a:extLst>
              <a:ext uri="{FF2B5EF4-FFF2-40B4-BE49-F238E27FC236}">
                <a16:creationId xmlns:a16="http://schemas.microsoft.com/office/drawing/2014/main" id="{54F81711-48BD-4A5D-A05B-F5C843954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4461" name="Object 10">
            <a:extLst>
              <a:ext uri="{FF2B5EF4-FFF2-40B4-BE49-F238E27FC236}">
                <a16:creationId xmlns:a16="http://schemas.microsoft.com/office/drawing/2014/main" id="{EC245834-88D4-4389-A070-B225E7306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340351"/>
              </p:ext>
            </p:extLst>
          </p:nvPr>
        </p:nvGraphicFramePr>
        <p:xfrm>
          <a:off x="1316038" y="5657850"/>
          <a:ext cx="29400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253800" progId="Equation.DSMT4">
                  <p:embed/>
                </p:oleObj>
              </mc:Choice>
              <mc:Fallback>
                <p:oleObj name="Equation" r:id="rId8" imgW="1587240" imgH="253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5657850"/>
                        <a:ext cx="2940050" cy="4762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灯片编号占位符 5">
            <a:extLst>
              <a:ext uri="{FF2B5EF4-FFF2-40B4-BE49-F238E27FC236}">
                <a16:creationId xmlns:a16="http://schemas.microsoft.com/office/drawing/2014/main" id="{5076A220-6070-4E57-A812-44EB05E211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8618AE-993B-4783-BCED-C674504A9E54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D07A43BC-3518-457C-85FD-2143865FE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7045325" cy="835025"/>
          </a:xfrm>
        </p:spPr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应用举例</a:t>
            </a:r>
            <a:r>
              <a:rPr lang="en-US" altLang="zh-CN" dirty="0"/>
              <a:t>--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13  </a:t>
            </a:r>
            <a:r>
              <a:rPr lang="zh-CN" altLang="en-US" sz="2800" dirty="0">
                <a:solidFill>
                  <a:srgbClr val="FF0000"/>
                </a:solidFill>
              </a:rPr>
              <a:t>设备更新问题</a:t>
            </a:r>
            <a:endParaRPr lang="zh-CN" altLang="en-US" sz="2800" dirty="0"/>
          </a:p>
        </p:txBody>
      </p:sp>
      <p:sp>
        <p:nvSpPr>
          <p:cNvPr id="105477" name="Rectangle 3">
            <a:extLst>
              <a:ext uri="{FF2B5EF4-FFF2-40B4-BE49-F238E27FC236}">
                <a16:creationId xmlns:a16="http://schemas.microsoft.com/office/drawing/2014/main" id="{F807EB72-DBCB-418E-9101-817ECFAF7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0725" y="1743655"/>
            <a:ext cx="7889875" cy="328554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13</a:t>
            </a:r>
            <a:r>
              <a:rPr lang="zh-CN" altLang="en-US" sz="2400" b="1" dirty="0"/>
              <a:t>：</a:t>
            </a:r>
            <a:r>
              <a:rPr lang="zh-CN" altLang="en-US" sz="2400" dirty="0"/>
              <a:t>某企业使用</a:t>
            </a:r>
            <a:r>
              <a:rPr lang="zh-CN" altLang="en-US" sz="2400" dirty="0">
                <a:solidFill>
                  <a:srgbClr val="C00000"/>
                </a:solidFill>
              </a:rPr>
              <a:t>一台设备</a:t>
            </a:r>
            <a:r>
              <a:rPr lang="zh-CN" altLang="en-US" sz="2400" dirty="0"/>
              <a:t>，在每年年初，企业领导部门就要决定是购置新的，还是继续使用旧的。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/>
              <a:t>若购置新设备，就要支付一定的</a:t>
            </a:r>
            <a:r>
              <a:rPr lang="zh-CN" altLang="en-US" sz="2400" dirty="0">
                <a:solidFill>
                  <a:srgbClr val="C00000"/>
                </a:solidFill>
              </a:rPr>
              <a:t>购置费用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/>
              <a:t>若继续使用旧设备，则需支付一定的</a:t>
            </a:r>
            <a:r>
              <a:rPr lang="zh-CN" altLang="en-US" sz="2400" dirty="0">
                <a:solidFill>
                  <a:srgbClr val="C00000"/>
                </a:solidFill>
              </a:rPr>
              <a:t>维修费用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灯片编号占位符 5">
            <a:extLst>
              <a:ext uri="{FF2B5EF4-FFF2-40B4-BE49-F238E27FC236}">
                <a16:creationId xmlns:a16="http://schemas.microsoft.com/office/drawing/2014/main" id="{5076A220-6070-4E57-A812-44EB05E211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8618AE-993B-4783-BCED-C674504A9E54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D07A43BC-3518-457C-85FD-2143865FE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应用举例</a:t>
            </a:r>
            <a:r>
              <a:rPr lang="en-US" altLang="zh-CN" dirty="0"/>
              <a:t>--</a:t>
            </a:r>
            <a:r>
              <a:rPr lang="zh-CN" altLang="en-US" dirty="0"/>
              <a:t>设备更新问题</a:t>
            </a:r>
          </a:p>
        </p:txBody>
      </p:sp>
      <p:sp>
        <p:nvSpPr>
          <p:cNvPr id="105477" name="Rectangle 3">
            <a:extLst>
              <a:ext uri="{FF2B5EF4-FFF2-40B4-BE49-F238E27FC236}">
                <a16:creationId xmlns:a16="http://schemas.microsoft.com/office/drawing/2014/main" id="{F807EB72-DBCB-418E-9101-817ECFAF7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667455"/>
            <a:ext cx="8007350" cy="199014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/>
              <a:t>现在的问题是如何制定一个</a:t>
            </a:r>
            <a:r>
              <a:rPr lang="zh-CN" altLang="en-US" sz="2400" dirty="0">
                <a:solidFill>
                  <a:srgbClr val="C00000"/>
                </a:solidFill>
              </a:rPr>
              <a:t>几年之内的设备更新计划</a:t>
            </a:r>
            <a:r>
              <a:rPr lang="zh-CN" altLang="en-US" sz="2400" dirty="0"/>
              <a:t>，使得</a:t>
            </a:r>
            <a:r>
              <a:rPr lang="zh-CN" altLang="en-US" sz="2400" dirty="0">
                <a:solidFill>
                  <a:srgbClr val="C00000"/>
                </a:solidFill>
              </a:rPr>
              <a:t>总的支付费用最少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/>
              <a:t>我们用一个</a:t>
            </a:r>
            <a:r>
              <a:rPr lang="zh-CN" altLang="en-US" sz="2400" dirty="0">
                <a:solidFill>
                  <a:srgbClr val="FF0000"/>
                </a:solidFill>
              </a:rPr>
              <a:t>五年</a:t>
            </a:r>
            <a:r>
              <a:rPr lang="zh-CN" altLang="en-US" sz="2400" dirty="0"/>
              <a:t>之内要更新某种设备的计划为例</a:t>
            </a:r>
            <a:r>
              <a:rPr lang="en-US" altLang="zh-CN" sz="2400" dirty="0"/>
              <a:t>.</a:t>
            </a: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2400" dirty="0"/>
              <a:t> </a:t>
            </a:r>
            <a:r>
              <a:rPr lang="zh-CN" altLang="en-US" sz="2400" dirty="0"/>
              <a:t>若已知该种设备在各年年初的价格为：</a:t>
            </a:r>
          </a:p>
        </p:txBody>
      </p:sp>
      <p:graphicFrame>
        <p:nvGraphicFramePr>
          <p:cNvPr id="110723" name="Group 131">
            <a:extLst>
              <a:ext uri="{FF2B5EF4-FFF2-40B4-BE49-F238E27FC236}">
                <a16:creationId xmlns:a16="http://schemas.microsoft.com/office/drawing/2014/main" id="{0A80979F-36D5-4E0A-BA56-EC16C5FB8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206783"/>
              </p:ext>
            </p:extLst>
          </p:nvPr>
        </p:nvGraphicFramePr>
        <p:xfrm>
          <a:off x="1828800" y="3708400"/>
          <a:ext cx="5832475" cy="863600"/>
        </p:xfrm>
        <a:graphic>
          <a:graphicData uri="http://schemas.openxmlformats.org/drawingml/2006/table">
            <a:tbl>
              <a:tblPr/>
              <a:tblGrid>
                <a:gridCol w="116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年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年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年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年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第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年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0A5CF3B7-8F22-41DE-86AA-0394153AE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99" y="4719444"/>
            <a:ext cx="7889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</a:rPr>
              <a:t>还已知使用不同时间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zh-CN" altLang="en-US" sz="2400" dirty="0">
                <a:latin typeface="Arial" panose="020B0604020202020204" pitchFamily="34" charset="0"/>
              </a:rPr>
              <a:t>年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zh-CN" altLang="en-US" sz="2400" dirty="0">
                <a:latin typeface="Arial" panose="020B0604020202020204" pitchFamily="34" charset="0"/>
              </a:rPr>
              <a:t>的设备所需要的维修费用为：</a:t>
            </a:r>
          </a:p>
        </p:txBody>
      </p:sp>
      <p:graphicFrame>
        <p:nvGraphicFramePr>
          <p:cNvPr id="7" name="Group 161">
            <a:extLst>
              <a:ext uri="{FF2B5EF4-FFF2-40B4-BE49-F238E27FC236}">
                <a16:creationId xmlns:a16="http://schemas.microsoft.com/office/drawing/2014/main" id="{84BFF940-B742-4E04-A874-230AB021B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419918"/>
              </p:ext>
            </p:extLst>
          </p:nvPr>
        </p:nvGraphicFramePr>
        <p:xfrm>
          <a:off x="1752600" y="5316989"/>
          <a:ext cx="5791200" cy="792356"/>
        </p:xfrm>
        <a:graphic>
          <a:graphicData uri="http://schemas.openxmlformats.org/drawingml/2006/table">
            <a:tbl>
              <a:tblPr/>
              <a:tblGrid>
                <a:gridCol w="139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12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使用年数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0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维修费用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0193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灯片编号占位符 5">
            <a:extLst>
              <a:ext uri="{FF2B5EF4-FFF2-40B4-BE49-F238E27FC236}">
                <a16:creationId xmlns:a16="http://schemas.microsoft.com/office/drawing/2014/main" id="{2538C9E1-9458-4AD0-B94E-4258910CD7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53400" y="6245225"/>
            <a:ext cx="3810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533019E-729B-4450-89FD-3AF6F9DBE96B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F8853F52-6CE5-4818-8BAB-571F6F358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en-US"/>
              <a:t>应用举例</a:t>
            </a:r>
          </a:p>
        </p:txBody>
      </p:sp>
      <p:sp>
        <p:nvSpPr>
          <p:cNvPr id="106525" name="Text Box 159">
            <a:extLst>
              <a:ext uri="{FF2B5EF4-FFF2-40B4-BE49-F238E27FC236}">
                <a16:creationId xmlns:a16="http://schemas.microsoft.com/office/drawing/2014/main" id="{27AEBEB5-7F09-4066-8F94-8D06BC37C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39411"/>
            <a:ext cx="7848600" cy="3583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Arial" panose="020B0604020202020204" pitchFamily="34" charset="0"/>
              </a:rPr>
              <a:t>可供选择的设备更新方案显然是很多的。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</a:rPr>
              <a:t>例如，每年都购置一台新设备，则其购置费用为</a:t>
            </a:r>
            <a:r>
              <a:rPr lang="en-US" altLang="zh-CN" sz="2400" dirty="0">
                <a:latin typeface="Arial" panose="020B0604020202020204" pitchFamily="34" charset="0"/>
              </a:rPr>
              <a:t>11+11+12+12+13=59</a:t>
            </a:r>
            <a:r>
              <a:rPr lang="zh-CN" altLang="en-US" sz="2400" dirty="0">
                <a:latin typeface="Arial" panose="020B0604020202020204" pitchFamily="34" charset="0"/>
              </a:rPr>
              <a:t>，而每年支付的维修费用为</a:t>
            </a:r>
            <a:r>
              <a:rPr lang="en-US" altLang="zh-CN" sz="2400" dirty="0">
                <a:latin typeface="Arial" panose="020B0604020202020204" pitchFamily="34" charset="0"/>
              </a:rPr>
              <a:t>5</a:t>
            </a:r>
            <a:r>
              <a:rPr lang="zh-CN" altLang="en-US" sz="2400" dirty="0">
                <a:latin typeface="Arial" panose="020B0604020202020204" pitchFamily="34" charset="0"/>
              </a:rPr>
              <a:t>，五年合计为</a:t>
            </a:r>
            <a:r>
              <a:rPr lang="en-US" altLang="zh-CN" sz="2400" dirty="0">
                <a:latin typeface="Arial" panose="020B0604020202020204" pitchFamily="34" charset="0"/>
              </a:rPr>
              <a:t>25</a:t>
            </a:r>
            <a:r>
              <a:rPr lang="zh-CN" altLang="en-US" sz="2400" dirty="0">
                <a:latin typeface="Arial" panose="020B0604020202020204" pitchFamily="34" charset="0"/>
              </a:rPr>
              <a:t>。于是五年总的支付费用为</a:t>
            </a:r>
            <a:r>
              <a:rPr lang="en-US" altLang="zh-CN" sz="2400" dirty="0">
                <a:latin typeface="Arial" panose="020B0604020202020204" pitchFamily="34" charset="0"/>
              </a:rPr>
              <a:t>59+25=84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</a:p>
          <a:p>
            <a:pPr>
              <a:lnSpc>
                <a:spcPct val="125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</a:rPr>
              <a:t>又如，决定在第一、三、五年各购进一台，这个方案的设备购置费为</a:t>
            </a:r>
            <a:r>
              <a:rPr lang="en-US" altLang="zh-CN" sz="2400" dirty="0">
                <a:latin typeface="Arial" panose="020B0604020202020204" pitchFamily="34" charset="0"/>
              </a:rPr>
              <a:t>11+12+13=36</a:t>
            </a:r>
            <a:r>
              <a:rPr lang="zh-CN" altLang="en-US" sz="2400" dirty="0">
                <a:latin typeface="Arial" panose="020B0604020202020204" pitchFamily="34" charset="0"/>
              </a:rPr>
              <a:t>，维修费为</a:t>
            </a:r>
            <a:r>
              <a:rPr lang="en-US" altLang="zh-CN" sz="2400" dirty="0">
                <a:latin typeface="Arial" panose="020B0604020202020204" pitchFamily="34" charset="0"/>
              </a:rPr>
              <a:t>5+6+5+6+5=27</a:t>
            </a:r>
            <a:r>
              <a:rPr lang="zh-CN" altLang="en-US" sz="2400" dirty="0">
                <a:latin typeface="Arial" panose="020B0604020202020204" pitchFamily="34" charset="0"/>
              </a:rPr>
              <a:t>。五年总的支付费用为</a:t>
            </a:r>
            <a:r>
              <a:rPr lang="en-US" altLang="zh-CN" sz="2400" dirty="0">
                <a:latin typeface="Arial" panose="020B0604020202020204" pitchFamily="34" charset="0"/>
              </a:rPr>
              <a:t>63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2C9C23-96A2-60FB-549E-7778AD091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440" y="92113"/>
            <a:ext cx="4657559" cy="7504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25FE4A-01A3-E22A-927F-66B68F48D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441" y="885944"/>
            <a:ext cx="4657559" cy="67187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灯片编号占位符 5">
            <a:extLst>
              <a:ext uri="{FF2B5EF4-FFF2-40B4-BE49-F238E27FC236}">
                <a16:creationId xmlns:a16="http://schemas.microsoft.com/office/drawing/2014/main" id="{415257D1-44BD-43A7-AEC3-9AD442D58E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EC16EE-5A0F-4387-8737-834CE1FD5359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DC0D7FF9-6758-4711-9F11-C7A8E03B7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en-US"/>
              <a:t>应用举例</a:t>
            </a:r>
          </a:p>
        </p:txBody>
      </p:sp>
      <p:sp>
        <p:nvSpPr>
          <p:cNvPr id="107525" name="Rectangle 3">
            <a:extLst>
              <a:ext uri="{FF2B5EF4-FFF2-40B4-BE49-F238E27FC236}">
                <a16:creationId xmlns:a16="http://schemas.microsoft.com/office/drawing/2014/main" id="{A3D9BD91-CF7E-49B3-B85B-330EA3B6C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23250" cy="9667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如何制定使得</a:t>
            </a:r>
            <a:r>
              <a:rPr lang="zh-CN" altLang="en-US" sz="2000" dirty="0">
                <a:solidFill>
                  <a:srgbClr val="C00000"/>
                </a:solidFill>
              </a:rPr>
              <a:t>总的支付费用最少</a:t>
            </a:r>
            <a:r>
              <a:rPr lang="zh-CN" altLang="en-US" sz="2000" dirty="0"/>
              <a:t>的设备更新计划呢</a:t>
            </a:r>
            <a:r>
              <a:rPr lang="en-US" altLang="zh-CN" sz="2000" dirty="0"/>
              <a:t>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可以把这个问题化为最短路问题，见图</a:t>
            </a:r>
            <a:r>
              <a:rPr lang="en-US" altLang="zh-CN" sz="2000" dirty="0"/>
              <a:t>22</a:t>
            </a:r>
            <a:r>
              <a:rPr lang="zh-CN" altLang="en-US" sz="2000" dirty="0"/>
              <a:t>。</a:t>
            </a:r>
          </a:p>
        </p:txBody>
      </p:sp>
      <p:pic>
        <p:nvPicPr>
          <p:cNvPr id="107526" name="Picture 4">
            <a:extLst>
              <a:ext uri="{FF2B5EF4-FFF2-40B4-BE49-F238E27FC236}">
                <a16:creationId xmlns:a16="http://schemas.microsoft.com/office/drawing/2014/main" id="{77B71C74-76B1-455E-A1EA-CAA92543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639" y="4419600"/>
            <a:ext cx="5634561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7" name="Text Box 5">
            <a:extLst>
              <a:ext uri="{FF2B5EF4-FFF2-40B4-BE49-F238E27FC236}">
                <a16:creationId xmlns:a16="http://schemas.microsoft.com/office/drawing/2014/main" id="{0DE5FC30-4763-4604-A4E0-4B640CC7C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172200"/>
            <a:ext cx="78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7D1C069A-6CF6-791B-98BC-45D61D37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67000"/>
            <a:ext cx="8223250" cy="16689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代表“第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年年初购进一台新设备”这种状态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5000"/>
              </a:lnSpc>
              <a:spcBef>
                <a:spcPts val="0"/>
              </a:spcBef>
              <a:buClr>
                <a:srgbClr val="C00000"/>
              </a:buClr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加设一点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，可以理解为第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年年底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各画一条弧。弧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表示在第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年年初购进的设备一直使用到第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年年初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即第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年底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灯片编号占位符 5">
            <a:extLst>
              <a:ext uri="{FF2B5EF4-FFF2-40B4-BE49-F238E27FC236}">
                <a16:creationId xmlns:a16="http://schemas.microsoft.com/office/drawing/2014/main" id="{52FB2E8F-A3CD-4CE3-8B32-011C204063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6BD393-7828-45EB-9B51-5FBC10C6C0DF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id="{D287BCE0-EA41-41DA-B045-44F32DD28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3082925" cy="758825"/>
          </a:xfrm>
        </p:spPr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应用举例</a:t>
            </a:r>
          </a:p>
        </p:txBody>
      </p:sp>
      <p:sp>
        <p:nvSpPr>
          <p:cNvPr id="108549" name="Rectangle 6">
            <a:extLst>
              <a:ext uri="{FF2B5EF4-FFF2-40B4-BE49-F238E27FC236}">
                <a16:creationId xmlns:a16="http://schemas.microsoft.com/office/drawing/2014/main" id="{9BE3B854-217D-4D61-858D-9B542DA27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7165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8550" name="Rectangle 7">
            <a:extLst>
              <a:ext uri="{FF2B5EF4-FFF2-40B4-BE49-F238E27FC236}">
                <a16:creationId xmlns:a16="http://schemas.microsoft.com/office/drawing/2014/main" id="{36579400-B4FD-4FFD-AD44-A810E23E9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755652"/>
            <a:ext cx="8077200" cy="131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每条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弧的权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可按已知资料计算出来。例如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是第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年年初购进一台新设备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支付购置费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，一直使用到第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年年底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支付维修费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5+6+8=19)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上的权为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7B71C74-76B1-455E-A1EA-CAA92543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240" y="4038600"/>
            <a:ext cx="5089281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Group 161">
            <a:extLst>
              <a:ext uri="{FF2B5EF4-FFF2-40B4-BE49-F238E27FC236}">
                <a16:creationId xmlns:a16="http://schemas.microsoft.com/office/drawing/2014/main" id="{84BFF940-B742-4E04-A874-230AB021B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958730"/>
              </p:ext>
            </p:extLst>
          </p:nvPr>
        </p:nvGraphicFramePr>
        <p:xfrm>
          <a:off x="3352800" y="76200"/>
          <a:ext cx="5791200" cy="792356"/>
        </p:xfrm>
        <a:graphic>
          <a:graphicData uri="http://schemas.openxmlformats.org/drawingml/2006/table">
            <a:tbl>
              <a:tblPr/>
              <a:tblGrid>
                <a:gridCol w="139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9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12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使用年数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0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维修费用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rgbClr val="0051C8"/>
                        </a:buClr>
                        <a:buSzPct val="65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66FF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rgbClr val="0051C8"/>
                        </a:buClr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rgbClr val="0064F6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4F6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7">
            <a:extLst>
              <a:ext uri="{FF2B5EF4-FFF2-40B4-BE49-F238E27FC236}">
                <a16:creationId xmlns:a16="http://schemas.microsoft.com/office/drawing/2014/main" id="{1743E892-9D2D-A0F7-1DF7-12AB4B644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" y="3119774"/>
            <a:ext cx="8001000" cy="8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因此，制定一个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最优的设备更新计划问题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就等价于寻求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i="1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的最短路的问题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8004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灯片编号占位符 5">
            <a:extLst>
              <a:ext uri="{FF2B5EF4-FFF2-40B4-BE49-F238E27FC236}">
                <a16:creationId xmlns:a16="http://schemas.microsoft.com/office/drawing/2014/main" id="{52FB2E8F-A3CD-4CE3-8B32-011C204063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53400" y="6245225"/>
            <a:ext cx="3810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6BD393-7828-45EB-9B51-5FBC10C6C0DF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id="{D287BCE0-EA41-41DA-B045-44F32DD28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92110"/>
            <a:ext cx="3540125" cy="762000"/>
          </a:xfrm>
        </p:spPr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应用举例</a:t>
            </a:r>
          </a:p>
        </p:txBody>
      </p:sp>
      <p:sp>
        <p:nvSpPr>
          <p:cNvPr id="108550" name="Rectangle 7">
            <a:extLst>
              <a:ext uri="{FF2B5EF4-FFF2-40B4-BE49-F238E27FC236}">
                <a16:creationId xmlns:a16="http://schemas.microsoft.com/office/drawing/2014/main" id="{36579400-B4FD-4FFD-AD44-A810E23E9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3581400"/>
            <a:ext cx="8001000" cy="258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按求解最短路的计算方法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｛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zh-CN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｝及｛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｝均为最短路，即有两个最优方案。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457200">
              <a:lnSpc>
                <a:spcPct val="125000"/>
              </a:lnSpc>
              <a:spcAft>
                <a:spcPts val="600"/>
              </a:spcAft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一个方案是在第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年各购置一台新设备；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457200">
              <a:lnSpc>
                <a:spcPct val="125000"/>
              </a:lnSpc>
              <a:spcAft>
                <a:spcPts val="600"/>
              </a:spcAft>
              <a:buClr>
                <a:srgbClr val="C00000"/>
              </a:buClr>
              <a:buFont typeface="+mj-ea"/>
              <a:buAutoNum type="circleNumDbPlain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另一个方案是在第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年各购置一台新设备。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50" lvl="1" indent="-342900">
              <a:lnSpc>
                <a:spcPct val="125000"/>
              </a:lnSpc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五年总的支付费用均为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8536B02-533E-292F-1D86-2D5AC9E76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295400"/>
            <a:ext cx="5089281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3">
            <a:extLst>
              <a:ext uri="{FF2B5EF4-FFF2-40B4-BE49-F238E27FC236}">
                <a16:creationId xmlns:a16="http://schemas.microsoft.com/office/drawing/2014/main" id="{E265FEEE-570B-4BD6-A19C-5292C7BB1B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32118" y="381000"/>
            <a:ext cx="2201882" cy="1941672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CN" sz="2000" dirty="0"/>
              <a:t>p.350-351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9.6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9.8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9.11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D54EA8A-0917-66A7-44E1-EEDBE6636EA5}"/>
              </a:ext>
            </a:extLst>
          </p:cNvPr>
          <p:cNvGrpSpPr/>
          <p:nvPr/>
        </p:nvGrpSpPr>
        <p:grpSpPr>
          <a:xfrm>
            <a:off x="6248400" y="92322"/>
            <a:ext cx="2819400" cy="2117478"/>
            <a:chOff x="6629400" y="1"/>
            <a:chExt cx="2438400" cy="178816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9400" y="1"/>
              <a:ext cx="2438400" cy="1788160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6F5673E-2EB7-8274-4732-3477A0C80E54}"/>
                </a:ext>
              </a:extLst>
            </p:cNvPr>
            <p:cNvSpPr/>
            <p:nvPr/>
          </p:nvSpPr>
          <p:spPr>
            <a:xfrm>
              <a:off x="7315200" y="1531694"/>
              <a:ext cx="990600" cy="233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图</a:t>
              </a:r>
              <a:r>
                <a:rPr lang="en-US" altLang="zh-CN" sz="1400" dirty="0">
                  <a:solidFill>
                    <a:schemeClr val="tx1"/>
                  </a:solidFill>
                </a:rPr>
                <a:t>9-43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BEE59A5-1808-AD40-F14E-6C30D1C63CC9}"/>
              </a:ext>
            </a:extLst>
          </p:cNvPr>
          <p:cNvGrpSpPr/>
          <p:nvPr/>
        </p:nvGrpSpPr>
        <p:grpSpPr>
          <a:xfrm>
            <a:off x="18757" y="2551273"/>
            <a:ext cx="9144000" cy="870417"/>
            <a:chOff x="0" y="1828800"/>
            <a:chExt cx="9144000" cy="87041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28800"/>
              <a:ext cx="9144000" cy="870417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D11E5C5-77B1-5DA7-8204-2D660432EF57}"/>
                </a:ext>
              </a:extLst>
            </p:cNvPr>
            <p:cNvSpPr/>
            <p:nvPr/>
          </p:nvSpPr>
          <p:spPr>
            <a:xfrm>
              <a:off x="5029200" y="1871664"/>
              <a:ext cx="937263" cy="392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图</a:t>
              </a:r>
              <a:r>
                <a:rPr lang="en-US" altLang="zh-CN" sz="1600" dirty="0">
                  <a:solidFill>
                    <a:schemeClr val="tx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9-43</a:t>
              </a:r>
              <a:endParaRPr lang="zh-CN" altLang="en-US" sz="1600" dirty="0">
                <a:solidFill>
                  <a:schemeClr val="tx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7A5C587-F315-1242-6665-CF148CE004C6}"/>
                </a:ext>
              </a:extLst>
            </p:cNvPr>
            <p:cNvSpPr/>
            <p:nvPr/>
          </p:nvSpPr>
          <p:spPr>
            <a:xfrm>
              <a:off x="503526" y="1922842"/>
              <a:ext cx="639473" cy="3411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9.6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DF8653B-84AF-576B-AA8A-53E1C0A1AF8B}"/>
              </a:ext>
            </a:extLst>
          </p:cNvPr>
          <p:cNvGrpSpPr/>
          <p:nvPr/>
        </p:nvGrpSpPr>
        <p:grpSpPr>
          <a:xfrm>
            <a:off x="333022" y="4127608"/>
            <a:ext cx="4343400" cy="450812"/>
            <a:chOff x="381000" y="2901988"/>
            <a:chExt cx="4343400" cy="45081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2940806"/>
              <a:ext cx="4343400" cy="338109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ED9B25F-2614-2C75-5FA8-7562C3A0128C}"/>
                </a:ext>
              </a:extLst>
            </p:cNvPr>
            <p:cNvSpPr/>
            <p:nvPr/>
          </p:nvSpPr>
          <p:spPr>
            <a:xfrm>
              <a:off x="381000" y="2935434"/>
              <a:ext cx="639473" cy="3411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9.8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1AFF947-6246-A591-D702-94ED352E443C}"/>
                </a:ext>
              </a:extLst>
            </p:cNvPr>
            <p:cNvSpPr/>
            <p:nvPr/>
          </p:nvSpPr>
          <p:spPr>
            <a:xfrm>
              <a:off x="1524000" y="2901988"/>
              <a:ext cx="728639" cy="450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9-45</a:t>
              </a:r>
              <a:endParaRPr lang="zh-CN" altLang="en-US" sz="1600" dirty="0">
                <a:solidFill>
                  <a:schemeClr val="tx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E29855D-4A20-422B-AED6-5B5629E62670}"/>
              </a:ext>
            </a:extLst>
          </p:cNvPr>
          <p:cNvGrpSpPr/>
          <p:nvPr/>
        </p:nvGrpSpPr>
        <p:grpSpPr>
          <a:xfrm>
            <a:off x="823262" y="4724400"/>
            <a:ext cx="3035877" cy="1837504"/>
            <a:chOff x="4191000" y="4540393"/>
            <a:chExt cx="3035877" cy="183750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1000" y="4540393"/>
              <a:ext cx="3035877" cy="1837504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CF1C524-3CFE-2DF5-3ACA-00D9D9645334}"/>
                </a:ext>
              </a:extLst>
            </p:cNvPr>
            <p:cNvSpPr/>
            <p:nvPr/>
          </p:nvSpPr>
          <p:spPr>
            <a:xfrm>
              <a:off x="5215983" y="6142117"/>
              <a:ext cx="990600" cy="233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图</a:t>
              </a:r>
              <a:r>
                <a:rPr lang="en-US" altLang="zh-CN" sz="1400" dirty="0">
                  <a:solidFill>
                    <a:schemeClr val="tx1"/>
                  </a:solidFill>
                </a:rPr>
                <a:t>9-45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07548EAD-4339-B854-F685-191BC5C18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882" y="3505200"/>
            <a:ext cx="4300538" cy="3210069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03AA277B-A8F8-53D6-3A7E-5BCC60B0C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773" y="598487"/>
            <a:ext cx="2043112" cy="741363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14808009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5540</TotalTime>
  <Words>5066</Words>
  <Application>Microsoft Office PowerPoint</Application>
  <PresentationFormat>全屏显示(4:3)</PresentationFormat>
  <Paragraphs>438</Paragraphs>
  <Slides>55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6" baseType="lpstr">
      <vt:lpstr>Arial Unicode MS</vt:lpstr>
      <vt:lpstr>方正粗黑宋简体</vt:lpstr>
      <vt:lpstr>宋体</vt:lpstr>
      <vt:lpstr>Arial</vt:lpstr>
      <vt:lpstr>Calibri</vt:lpstr>
      <vt:lpstr>Times New Roman</vt:lpstr>
      <vt:lpstr>Verdana</vt:lpstr>
      <vt:lpstr>Wingdings</vt:lpstr>
      <vt:lpstr>Profile</vt:lpstr>
      <vt:lpstr>MathType 6.0 Equation</vt:lpstr>
      <vt:lpstr>Equation</vt:lpstr>
      <vt:lpstr>第9章  图与网络优化 </vt:lpstr>
      <vt:lpstr>第3节 最短路问题</vt:lpstr>
      <vt:lpstr>3.1 引例（例10） </vt:lpstr>
      <vt:lpstr>3.1 引例（例10） </vt:lpstr>
      <vt:lpstr>3.1 引例（一般意义的最短路问题）</vt:lpstr>
      <vt:lpstr>3.1 引例（一般意义的最短路问题）</vt:lpstr>
      <vt:lpstr>3.1 引例（一般意义的最短路问题）</vt:lpstr>
      <vt:lpstr>3.2 最短路算法 – 基本思想</vt:lpstr>
      <vt:lpstr>3.2 最短路算法– 基本思想</vt:lpstr>
      <vt:lpstr>3.2 最短路算法</vt:lpstr>
      <vt:lpstr>3.2 最短路算法--迪杰斯特拉方法</vt:lpstr>
      <vt:lpstr>3.2 最短路算法 -- Dijkstra方法</vt:lpstr>
      <vt:lpstr>3.2 最短路算法 -- Dijkstra方法</vt:lpstr>
      <vt:lpstr>3.2 最短路算法 -- Dijkstra方法</vt:lpstr>
      <vt:lpstr>3.2 最短路算法 -- Dijkstra方法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 -- Dijkstra方法</vt:lpstr>
      <vt:lpstr>3.2 最短路算法 - 无向图</vt:lpstr>
      <vt:lpstr>3.2 最短路算法 -- 无向图</vt:lpstr>
      <vt:lpstr>3.2 最短路算法</vt:lpstr>
      <vt:lpstr>3.2最短路算法</vt:lpstr>
      <vt:lpstr>3.2 最短路算法（考虑存在负权的情况）</vt:lpstr>
      <vt:lpstr>3.2 最短路算法（考虑存在负权的情况）</vt:lpstr>
      <vt:lpstr>3.2 最短路算法</vt:lpstr>
      <vt:lpstr>3.2 最短路算法</vt:lpstr>
      <vt:lpstr>3.2 最短路算法 – 例12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3.2 最短路算法</vt:lpstr>
      <vt:lpstr>3.3 应用举例--例13  设备更新问题</vt:lpstr>
      <vt:lpstr>3.3 应用举例--设备更新问题</vt:lpstr>
      <vt:lpstr>3.3 应用举例</vt:lpstr>
      <vt:lpstr>3.3 应用举例</vt:lpstr>
      <vt:lpstr>3.3 应用举例</vt:lpstr>
      <vt:lpstr>3.3 应用举例</vt:lpstr>
      <vt:lpstr>课后作业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think</dc:creator>
  <cp:lastModifiedBy>hq</cp:lastModifiedBy>
  <cp:revision>617</cp:revision>
  <cp:lastPrinted>1601-01-01T00:00:00Z</cp:lastPrinted>
  <dcterms:created xsi:type="dcterms:W3CDTF">1601-01-01T00:00:00Z</dcterms:created>
  <dcterms:modified xsi:type="dcterms:W3CDTF">2024-12-24T13:53:40Z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