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1"/>
  </p:notesMasterIdLst>
  <p:sldIdLst>
    <p:sldId id="359" r:id="rId2"/>
    <p:sldId id="618" r:id="rId3"/>
    <p:sldId id="616" r:id="rId4"/>
    <p:sldId id="617" r:id="rId5"/>
    <p:sldId id="408" r:id="rId6"/>
    <p:sldId id="409" r:id="rId7"/>
    <p:sldId id="410" r:id="rId8"/>
    <p:sldId id="648" r:id="rId9"/>
    <p:sldId id="412" r:id="rId10"/>
    <p:sldId id="413" r:id="rId11"/>
    <p:sldId id="414" r:id="rId12"/>
    <p:sldId id="415" r:id="rId13"/>
    <p:sldId id="416" r:id="rId14"/>
    <p:sldId id="417" r:id="rId15"/>
    <p:sldId id="619" r:id="rId16"/>
    <p:sldId id="418" r:id="rId17"/>
    <p:sldId id="419" r:id="rId18"/>
    <p:sldId id="420" r:id="rId19"/>
    <p:sldId id="421" r:id="rId2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00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42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4282B68-EB88-437E-8EAB-EEDB8E5135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E7A395-3F31-45B5-A1D3-8FB23EFB54D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8214A041-0A1D-4316-9235-07D9A567715C}" type="datetimeFigureOut">
              <a:rPr lang="zh-CN" altLang="en-US"/>
              <a:pPr>
                <a:defRPr/>
              </a:pPr>
              <a:t>2024/12/15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54C29EEC-DD6B-4CDA-BD8B-9C8C0C8D8D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3EDF7701-8B2E-4D1B-8AB6-E70ED082E7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29F627-CD5A-49E0-964A-38BC28C24C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8F99F8-4854-475E-9131-6BCFBA5FA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43E8C28-748D-4A91-9A73-D427D5E712D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2351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11EEE659-1BC0-4A2E-9F57-B01C818CF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D5EBF5-8758-4491-BA8B-9798439B4D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AFF7E0-1A5F-4808-8F25-86E90C1F00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3C0D9E-C467-42E8-B3C7-D713126087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C45E09F-2EA1-4F2C-9530-1C807C2A0A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89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6DFE17B-EEC6-42F7-855C-78C7568EBC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C1DAC52-C81D-486E-BF04-B7FE19954E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EB4F11F-50E2-47FB-A324-5B80C74A43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3BB16A-FC31-4433-9EE0-8CBC40470E5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3066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EDCC114-D882-4132-954A-E9E28D7261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FDE2BDB-07FE-4F88-B085-D2784FE3B6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D26672E1-E140-4976-991A-55235EA504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099C35-6043-4711-A482-1BA4F6F15C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956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685FE9-7A13-4E17-85A3-28EC0E3049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65E5578-7B2F-4359-B347-A52E1B6AA9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0C3BF25-DBA7-4FE0-A1B6-8799387568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652D11-D2FD-4FB6-BF12-0C690E5B52E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0434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E2CE6F-0957-462F-820C-366CEC4B67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5D9271-6250-47AF-8D35-53E6B6045F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58358F-44C2-4AB6-BAF3-995A7F8A49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AE49E0-0A9D-4855-A748-F1F9382F67B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4741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A35175A-ACCE-47E2-B411-2A546EE3C2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97F30D2-B6C3-4D33-BA71-57BC3F33AC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74D0D17-1317-4AC2-9892-3566467EAD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293CD9-FA6D-4084-8443-D9AD85EB809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774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4E5F5081-770B-4B75-B7E6-1EB63589E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38736DB0-2E82-4A22-A1E8-8ADF4CD51B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1C560AA-A08B-49FC-B2F9-F87857775B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940710-497B-4F01-8F6F-91820459E8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565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57EC59A-345A-4B09-93C3-9A70BD0027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A284F31-FB43-4EAB-A64B-3A2EACF0F7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CFDE0A1-1E10-4DB1-A6C8-13C72488C1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EE8C02-8E73-454B-9EA7-61AA8E39BD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62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58564A-D470-437C-8D1E-1617AD6802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3EB4209-875B-4E6C-A39B-92B11E512B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CFC9ACC-FCB6-4E97-B8CB-5D0F3D65DD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6F79D9-1853-4BB2-A07E-879337AAE2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7437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2DE7014-85B1-4E3D-9653-D3500744C3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9678B4D-522F-47C5-825D-C5D99E8FE0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09773A8-A0A8-4896-84C5-E785497ABD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D78C9B-AF89-46BB-9401-3A7DCF98C5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235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846B955-A599-41E7-AEC2-1B5FE43FD7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157066B-52D7-4667-8489-93C7AC046C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4956052-BAF1-4365-B18E-B65F48EF98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50BA14-40AC-428F-ABC8-8494C1FD48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2781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FA8A089-5620-40CB-9624-6201D048E4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786C6C2-CFD5-4677-B4E0-389122C278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5A3623C-1E79-429A-BAC2-0970D76F9A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CC4F27-7AEA-4A50-84AC-DD2818CC75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2526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DB0506-8AFF-45C9-8BDC-0006B6DD11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1A11675-C211-407D-B09A-7241F8A562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3C4AE269-E509-4F76-970A-3F69B06FB6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55D5B6-84DE-48AD-81C5-ABF3EDBF8E3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978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A397A07-87F8-4376-90E0-4C7D43EFD9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7662B6C-9BF8-44A8-9E51-5DB2A35395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BF494B4-C6C1-44CF-AF38-7EA6F4311C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0D94D8-D508-448B-B39F-0D903F341D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734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4426A33-C30D-4793-BBF4-5E01A78A28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1CFAE91-93F7-4D95-B5C1-F137150D8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D01B89D2-8D5D-4C37-9812-6D808371F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BF7C244E-3609-4188-87BA-3FCA42FB84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4DEFCDC0-EDB6-4231-959C-7E9E573C5A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B4B62C0C-3921-4DA7-A765-B9CF1C8CFDF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2" name="Rectangle 8">
            <a:extLst>
              <a:ext uri="{FF2B5EF4-FFF2-40B4-BE49-F238E27FC236}">
                <a16:creationId xmlns:a16="http://schemas.microsoft.com/office/drawing/2014/main" id="{6606561F-C341-4E10-908C-F8A19439DE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6968DF7-550E-4E11-9C31-91B028A6376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4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8.png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12" Type="http://schemas.openxmlformats.org/officeDocument/2006/relationships/image" Target="../media/image27.png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1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2.bin"/><Relationship Id="rId2" Type="http://schemas.openxmlformats.org/officeDocument/2006/relationships/oleObject" Target="../embeddings/oleObject27.bin"/><Relationship Id="rId16" Type="http://schemas.openxmlformats.org/officeDocument/2006/relationships/image" Target="../media/image1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oleObject" Target="../embeddings/oleObject17.bin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4.wmf"/><Relationship Id="rId1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3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177A527-A73D-4597-BF15-C4C9E7FDC9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609600"/>
            <a:ext cx="6435725" cy="911225"/>
          </a:xfrm>
        </p:spPr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  动态规划应用举例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1E45B8B-847E-47EB-BBC1-70010B3BEC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4537" y="2057400"/>
            <a:ext cx="6096000" cy="19812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3200" b="1" dirty="0"/>
              <a:t>1. </a:t>
            </a:r>
            <a:r>
              <a:rPr lang="zh-CN" altLang="en-US" sz="3200" b="1" dirty="0"/>
              <a:t>资源分配问题</a:t>
            </a:r>
            <a:endParaRPr lang="en-US" altLang="zh-CN" sz="32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3200" b="1" dirty="0"/>
              <a:t>2. </a:t>
            </a:r>
            <a:r>
              <a:rPr lang="zh-CN" altLang="en-US" sz="3200" b="1" dirty="0"/>
              <a:t>生产与存储问题</a:t>
            </a:r>
            <a:endParaRPr lang="en-US" altLang="zh-CN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51E45B8B-847E-47EB-BBC1-70010B3BEC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4876800" cy="22860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dirty="0">
                <a:solidFill>
                  <a:srgbClr val="00CC00"/>
                </a:solidFill>
                <a:hlinkClick r:id="rId2" action="ppaction://hlinksldjump"/>
              </a:rPr>
              <a:t>资源分配问题</a:t>
            </a:r>
            <a:endParaRPr lang="en-US" altLang="zh-CN" sz="2800" dirty="0">
              <a:solidFill>
                <a:srgbClr val="00CC00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</a:t>
            </a:r>
            <a:r>
              <a:rPr lang="zh-CN" altLang="en-US" sz="2800" dirty="0">
                <a:hlinkClick r:id="rId3" action="ppaction://hlinksldjump"/>
              </a:rPr>
              <a:t>动态规划模型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r>
              <a:rPr lang="zh-CN" altLang="en-US" sz="2800" dirty="0">
                <a:hlinkClick r:id="rId4" action="ppaction://hlinksldjump"/>
              </a:rPr>
              <a:t>算例</a:t>
            </a:r>
            <a:endParaRPr lang="zh-CN" altLang="en-US" sz="2800" dirty="0"/>
          </a:p>
          <a:p>
            <a:pPr eaLnBrk="1" hangingPunct="1">
              <a:lnSpc>
                <a:spcPct val="150000"/>
              </a:lnSpc>
            </a:pPr>
            <a:endParaRPr lang="en-US" altLang="zh-CN" sz="28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835D9C4-E18D-482B-A152-FAD3B355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685800"/>
            <a:ext cx="4530725" cy="835025"/>
          </a:xfrm>
        </p:spPr>
        <p:txBody>
          <a:bodyPr/>
          <a:lstStyle/>
          <a:p>
            <a:r>
              <a:rPr lang="en-US" altLang="zh-CN" sz="3600" dirty="0"/>
              <a:t>1.</a:t>
            </a:r>
            <a:r>
              <a:rPr lang="zh-CN" altLang="en-US" sz="3600" dirty="0"/>
              <a:t>资源分配问题</a:t>
            </a:r>
          </a:p>
        </p:txBody>
      </p:sp>
    </p:spTree>
    <p:extLst>
      <p:ext uri="{BB962C8B-B14F-4D97-AF65-F5344CB8AC3E}">
        <p14:creationId xmlns:p14="http://schemas.microsoft.com/office/powerpoint/2010/main" val="398113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06E36-64E6-47A4-B6A0-A7886972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685800"/>
            <a:ext cx="4530725" cy="835025"/>
          </a:xfrm>
        </p:spPr>
        <p:txBody>
          <a:bodyPr/>
          <a:lstStyle/>
          <a:p>
            <a:r>
              <a:rPr lang="en-US" altLang="zh-CN" sz="3600" dirty="0"/>
              <a:t>1.</a:t>
            </a:r>
            <a:r>
              <a:rPr lang="zh-CN" altLang="en-US" sz="3600" dirty="0"/>
              <a:t>资源分配问题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4B8D3E-BA71-4A62-BE5A-E3452465C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752600"/>
            <a:ext cx="7739062" cy="1905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所谓</a:t>
            </a:r>
            <a:r>
              <a:rPr lang="zh-CN" altLang="en-US" sz="2400" b="1" dirty="0">
                <a:solidFill>
                  <a:srgbClr val="FF0000"/>
                </a:solidFill>
              </a:rPr>
              <a:t>分配问题</a:t>
            </a:r>
            <a:r>
              <a:rPr lang="zh-CN" altLang="en-US" sz="2400" dirty="0"/>
              <a:t>，就是将数量一定的一种或若干种</a:t>
            </a:r>
            <a:r>
              <a:rPr lang="zh-CN" altLang="en-US" sz="2400" dirty="0">
                <a:solidFill>
                  <a:srgbClr val="FF0000"/>
                </a:solidFill>
              </a:rPr>
              <a:t>资源</a:t>
            </a:r>
            <a:r>
              <a:rPr lang="en-US" altLang="zh-CN" sz="2400" dirty="0"/>
              <a:t>(</a:t>
            </a:r>
            <a:r>
              <a:rPr lang="zh-CN" altLang="en-US" sz="2400" dirty="0"/>
              <a:t>例如原材料、资金、机器设备、劳力、食品等等</a:t>
            </a:r>
            <a:r>
              <a:rPr lang="en-US" altLang="zh-CN" sz="2400" dirty="0"/>
              <a:t>)</a:t>
            </a:r>
            <a:r>
              <a:rPr lang="zh-CN" altLang="en-US" sz="2400" dirty="0"/>
              <a:t>，恰当地分配给若干个</a:t>
            </a:r>
            <a:r>
              <a:rPr lang="zh-CN" altLang="en-US" sz="2400" dirty="0">
                <a:solidFill>
                  <a:srgbClr val="FF0000"/>
                </a:solidFill>
              </a:rPr>
              <a:t>使用者</a:t>
            </a:r>
            <a:r>
              <a:rPr lang="zh-CN" altLang="en-US" sz="2400" dirty="0"/>
              <a:t>，而使目标函数为</a:t>
            </a:r>
            <a:r>
              <a:rPr lang="zh-CN" altLang="en-US" sz="2400" dirty="0">
                <a:solidFill>
                  <a:srgbClr val="FF0000"/>
                </a:solidFill>
              </a:rPr>
              <a:t>最优</a:t>
            </a:r>
            <a:r>
              <a:rPr lang="zh-CN" altLang="en-US" sz="2400" dirty="0"/>
              <a:t>。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4ACCB84-AF3B-4149-9352-0B5017D3624A}"/>
              </a:ext>
            </a:extLst>
          </p:cNvPr>
          <p:cNvSpPr txBox="1">
            <a:spLocks/>
          </p:cNvSpPr>
          <p:nvPr/>
        </p:nvSpPr>
        <p:spPr bwMode="auto">
          <a:xfrm>
            <a:off x="566738" y="3733800"/>
            <a:ext cx="7891462" cy="1752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例：设有某种原料，总数量为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，用于生产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种产品。若分配数量 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用于生产第 </a:t>
            </a:r>
            <a:r>
              <a:rPr lang="en-US" altLang="zh-CN" sz="24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种产品，其收益为 </a:t>
            </a:r>
            <a:r>
              <a:rPr lang="en-US" altLang="zh-CN" sz="24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i="1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，问应如何分配，才能使生产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种产品的总收入最大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0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06E36-64E6-47A4-B6A0-A7886972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762000"/>
            <a:ext cx="3692525" cy="758825"/>
          </a:xfrm>
        </p:spPr>
        <p:txBody>
          <a:bodyPr/>
          <a:lstStyle/>
          <a:p>
            <a:r>
              <a:rPr lang="en-US" altLang="zh-CN" sz="3600" dirty="0"/>
              <a:t>1.</a:t>
            </a:r>
            <a:r>
              <a:rPr lang="zh-CN" altLang="en-US" sz="3600" dirty="0"/>
              <a:t>资源分配问题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4B8D3E-BA71-4A62-BE5A-E3452465C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752600"/>
            <a:ext cx="7891462" cy="1752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例：设有某种原料，总数量为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，用于生产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种产品。若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分配数量 </a:t>
            </a:r>
            <a:r>
              <a:rPr lang="en-US" altLang="zh-C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用于生产第 </a:t>
            </a:r>
            <a:r>
              <a:rPr lang="en-US" altLang="zh-CN" sz="24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种产品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，其收益为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，问应如何分配，才能使生产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种产品的总收入最大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此问题可写成静态规划问题：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13A6F9D-13B1-4EFD-8C39-E73D8793ED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676958"/>
              </p:ext>
            </p:extLst>
          </p:nvPr>
        </p:nvGraphicFramePr>
        <p:xfrm>
          <a:off x="1849438" y="4191000"/>
          <a:ext cx="4989512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3040" imgH="711000" progId="Equation.DSMT4">
                  <p:embed/>
                </p:oleObj>
              </mc:Choice>
              <mc:Fallback>
                <p:oleObj name="Equation" r:id="rId2" imgW="2273040" imgH="711000" progId="Equation.DSMT4">
                  <p:embed/>
                  <p:pic>
                    <p:nvPicPr>
                      <p:cNvPr id="9219" name="Object 3">
                        <a:extLst>
                          <a:ext uri="{FF2B5EF4-FFF2-40B4-BE49-F238E27FC236}">
                            <a16:creationId xmlns:a16="http://schemas.microsoft.com/office/drawing/2014/main" id="{23B57D01-B23E-40C8-AAD0-09295B9B3B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438" y="4191000"/>
                        <a:ext cx="4989512" cy="16224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8315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10">
            <a:extLst>
              <a:ext uri="{FF2B5EF4-FFF2-40B4-BE49-F238E27FC236}">
                <a16:creationId xmlns:a16="http://schemas.microsoft.com/office/drawing/2014/main" id="{5694D564-3E65-4E9F-A4DE-D096EA7DA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693748"/>
            <a:ext cx="7859712" cy="2347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都是线性函数时，它是一个线性规划问题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是非线性函数时，它是一个非线性规划问题。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但当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比较大时，具体求解是比较麻烦的。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5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由于这类问题的特殊结构，可以将它看成一个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多阶段决策问题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，并利用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动态规划的递推关系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来求解</a:t>
            </a:r>
            <a:r>
              <a:rPr lang="zh-CN" altLang="en-US" sz="2400" b="1" dirty="0"/>
              <a:t>。</a:t>
            </a:r>
            <a:endParaRPr lang="zh-CN" altLang="en-US" sz="2400" dirty="0"/>
          </a:p>
        </p:txBody>
      </p:sp>
      <p:sp>
        <p:nvSpPr>
          <p:cNvPr id="9225" name="日期占位符 1">
            <a:extLst>
              <a:ext uri="{FF2B5EF4-FFF2-40B4-BE49-F238E27FC236}">
                <a16:creationId xmlns:a16="http://schemas.microsoft.com/office/drawing/2014/main" id="{6BC2AAB9-A875-47C6-B250-6A83929ED17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116205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59FBDD53-1174-46B7-BC80-FA89105690A1}" type="datetime1">
              <a:rPr lang="zh-CN" altLang="en-US" sz="1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2024/12/15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226" name="灯片编号占位符 3">
            <a:extLst>
              <a:ext uri="{FF2B5EF4-FFF2-40B4-BE49-F238E27FC236}">
                <a16:creationId xmlns:a16="http://schemas.microsoft.com/office/drawing/2014/main" id="{1CEB631A-3283-4FE7-A038-62BBC070C4A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A92CF2B-FA7A-43BC-8E5D-7B06688D820B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8D1ED42-5BFA-44EA-B0CD-CD07322ABA88}"/>
              </a:ext>
            </a:extLst>
          </p:cNvPr>
          <p:cNvSpPr txBox="1">
            <a:spLocks/>
          </p:cNvSpPr>
          <p:nvPr/>
        </p:nvSpPr>
        <p:spPr>
          <a:xfrm>
            <a:off x="574675" y="762000"/>
            <a:ext cx="4530725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</a:t>
            </a: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C9008C8F-D6C6-7D2E-7F66-6F8E0141FF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645209"/>
              </p:ext>
            </p:extLst>
          </p:nvPr>
        </p:nvGraphicFramePr>
        <p:xfrm>
          <a:off x="1905000" y="1913548"/>
          <a:ext cx="4989512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3040" imgH="711000" progId="Equation.DSMT4">
                  <p:embed/>
                </p:oleObj>
              </mc:Choice>
              <mc:Fallback>
                <p:oleObj name="Equation" r:id="rId2" imgW="2273040" imgH="7110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13A6F9D-13B1-4EFD-8C39-E73D8793ED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913548"/>
                        <a:ext cx="4989512" cy="16224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60A993A-C319-45E7-B6E0-D1D5C668F7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30695" y="1775619"/>
            <a:ext cx="3506787" cy="669925"/>
          </a:xfrm>
        </p:spPr>
        <p:txBody>
          <a:bodyPr/>
          <a:lstStyle/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800" b="1" dirty="0">
                <a:solidFill>
                  <a:schemeClr val="tx1"/>
                </a:solidFill>
              </a:rPr>
              <a:t>  </a:t>
            </a:r>
            <a:r>
              <a:rPr lang="zh-CN" altLang="zh-CN" sz="2800" b="1" dirty="0">
                <a:solidFill>
                  <a:schemeClr val="tx1"/>
                </a:solidFill>
              </a:rPr>
              <a:t>动态规划模型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4D3704F-EC0C-4FA9-AEBD-9BCDA2E62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62899"/>
            <a:ext cx="8039100" cy="3023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在应用动态规划方法处理这类“静态规划”问题时，通常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把资源分配给一个或几个使用者</a:t>
            </a:r>
            <a:r>
              <a:rPr lang="en-US" altLang="zh-CN" sz="24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(e.g. </a:t>
            </a:r>
            <a:r>
              <a:rPr lang="zh-CN" altLang="en-US" sz="24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问题中</a:t>
            </a:r>
            <a:r>
              <a:rPr lang="zh-CN" altLang="en-US" sz="2400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用于生产一种产品</a:t>
            </a:r>
            <a:r>
              <a:rPr lang="en-US" altLang="zh-CN" sz="24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的过程作为一个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阶段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把问题中的变量 </a:t>
            </a:r>
            <a:r>
              <a:rPr lang="en-US" altLang="zh-CN" sz="2400" b="1" i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i="1" u="sng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zh-CN" altLang="en-US" sz="24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决策变量</a:t>
            </a:r>
            <a:r>
              <a:rPr lang="zh-CN" altLang="en-US" sz="24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zh-CN" altLang="en-US" sz="2400" b="1" u="sng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累计的量</a:t>
            </a:r>
            <a:r>
              <a:rPr lang="zh-CN" altLang="en-US" sz="24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或随递推过程</a:t>
            </a:r>
            <a:r>
              <a:rPr lang="zh-CN" altLang="en-US" sz="2400" b="1" u="sng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变化的量</a:t>
            </a:r>
            <a:r>
              <a:rPr lang="zh-CN" altLang="en-US" sz="24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选为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状态变量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246" name="灯片编号占位符 3">
            <a:extLst>
              <a:ext uri="{FF2B5EF4-FFF2-40B4-BE49-F238E27FC236}">
                <a16:creationId xmlns:a16="http://schemas.microsoft.com/office/drawing/2014/main" id="{8D668AE4-3C9B-482C-BB74-0905F2C8CE8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8ED4456-7153-4CFA-85A0-D05837CBDCDF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593AE40-994C-4CC2-8725-5396B6827880}"/>
              </a:ext>
            </a:extLst>
          </p:cNvPr>
          <p:cNvSpPr txBox="1">
            <a:spLocks/>
          </p:cNvSpPr>
          <p:nvPr/>
        </p:nvSpPr>
        <p:spPr>
          <a:xfrm>
            <a:off x="574675" y="762000"/>
            <a:ext cx="4530725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8FD2AFBB-C343-483F-B820-8663B7B174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939538"/>
              </p:ext>
            </p:extLst>
          </p:nvPr>
        </p:nvGraphicFramePr>
        <p:xfrm>
          <a:off x="1600200" y="3376594"/>
          <a:ext cx="33845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46785" imgH="228699" progId="">
                  <p:embed/>
                </p:oleObj>
              </mc:Choice>
              <mc:Fallback>
                <p:oleObj r:id="rId2" imgW="1346785" imgH="228699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376594"/>
                        <a:ext cx="3384550" cy="6477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3">
            <a:extLst>
              <a:ext uri="{FF2B5EF4-FFF2-40B4-BE49-F238E27FC236}">
                <a16:creationId xmlns:a16="http://schemas.microsoft.com/office/drawing/2014/main" id="{971C973A-27D7-4068-8FAF-3B0FFE0A82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419094"/>
              </p:ext>
            </p:extLst>
          </p:nvPr>
        </p:nvGraphicFramePr>
        <p:xfrm>
          <a:off x="2801144" y="4104638"/>
          <a:ext cx="3922712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29594" imgH="279521" progId="">
                  <p:embed/>
                </p:oleObj>
              </mc:Choice>
              <mc:Fallback>
                <p:oleObj r:id="rId4" imgW="1829594" imgH="279521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144" y="4104638"/>
                        <a:ext cx="3922712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Rectangle 8">
            <a:extLst>
              <a:ext uri="{FF2B5EF4-FFF2-40B4-BE49-F238E27FC236}">
                <a16:creationId xmlns:a16="http://schemas.microsoft.com/office/drawing/2014/main" id="{B3F7DD88-E97A-433B-82C0-D831BDFC0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8" y="1600200"/>
            <a:ext cx="7704137" cy="168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设状态变量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表示分配用于生产第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种产品至第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种产品的原料数量；决策变量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表示分配给生产第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种产品的原料数，即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；状态转移方程</a:t>
            </a:r>
            <a:r>
              <a:rPr lang="zh-CN" altLang="en-US" sz="2400" b="1" dirty="0"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1269" name="Rectangle 9">
            <a:extLst>
              <a:ext uri="{FF2B5EF4-FFF2-40B4-BE49-F238E27FC236}">
                <a16:creationId xmlns:a16="http://schemas.microsoft.com/office/drawing/2014/main" id="{80D8AB4C-A34A-4B20-A37C-8987911AA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2" y="4159321"/>
            <a:ext cx="235108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允许决策集合：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1272" name="灯片编号占位符 3">
            <a:extLst>
              <a:ext uri="{FF2B5EF4-FFF2-40B4-BE49-F238E27FC236}">
                <a16:creationId xmlns:a16="http://schemas.microsoft.com/office/drawing/2014/main" id="{832BB0CE-0703-4D22-BC98-846C9E4A302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573802" y="6356350"/>
            <a:ext cx="37334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14A5794-063F-4CED-898E-DC3E7E8F714D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49A80FD7-6090-404F-817D-24C38C38B90C}"/>
              </a:ext>
            </a:extLst>
          </p:cNvPr>
          <p:cNvSpPr txBox="1">
            <a:spLocks/>
          </p:cNvSpPr>
          <p:nvPr/>
        </p:nvSpPr>
        <p:spPr>
          <a:xfrm>
            <a:off x="574675" y="762000"/>
            <a:ext cx="4530725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</a:t>
            </a:r>
          </a:p>
        </p:txBody>
      </p:sp>
      <p:pic>
        <p:nvPicPr>
          <p:cNvPr id="11270" name="Picture 19" descr="8g6">
            <a:extLst>
              <a:ext uri="{FF2B5EF4-FFF2-40B4-BE49-F238E27FC236}">
                <a16:creationId xmlns:a16="http://schemas.microsoft.com/office/drawing/2014/main" id="{4BAE0D23-F79E-2F0C-3F21-283EA8523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4" y="5021404"/>
            <a:ext cx="6892925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3" name="文本框 11272">
            <a:extLst>
              <a:ext uri="{FF2B5EF4-FFF2-40B4-BE49-F238E27FC236}">
                <a16:creationId xmlns:a16="http://schemas.microsoft.com/office/drawing/2014/main" id="{76F2BBA2-7AEC-A45C-1201-DE8C2255E594}"/>
              </a:ext>
            </a:extLst>
          </p:cNvPr>
          <p:cNvSpPr txBox="1"/>
          <p:nvPr/>
        </p:nvSpPr>
        <p:spPr>
          <a:xfrm>
            <a:off x="614682" y="6019800"/>
            <a:ext cx="795411" cy="3693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74" name="文本框 11273">
            <a:extLst>
              <a:ext uri="{FF2B5EF4-FFF2-40B4-BE49-F238E27FC236}">
                <a16:creationId xmlns:a16="http://schemas.microsoft.com/office/drawing/2014/main" id="{F1D06171-F36C-A41A-10ED-3CEE7D7E0CB6}"/>
              </a:ext>
            </a:extLst>
          </p:cNvPr>
          <p:cNvSpPr txBox="1"/>
          <p:nvPr/>
        </p:nvSpPr>
        <p:spPr>
          <a:xfrm>
            <a:off x="2058741" y="6019800"/>
            <a:ext cx="1141659" cy="3693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x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75" name="文本框 11274">
            <a:extLst>
              <a:ext uri="{FF2B5EF4-FFF2-40B4-BE49-F238E27FC236}">
                <a16:creationId xmlns:a16="http://schemas.microsoft.com/office/drawing/2014/main" id="{5977ABD7-720E-64BF-0623-E00BF5B3A468}"/>
              </a:ext>
            </a:extLst>
          </p:cNvPr>
          <p:cNvSpPr txBox="1"/>
          <p:nvPr/>
        </p:nvSpPr>
        <p:spPr>
          <a:xfrm>
            <a:off x="4335296" y="6019800"/>
            <a:ext cx="1490523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76" name="文本框 11275">
            <a:extLst>
              <a:ext uri="{FF2B5EF4-FFF2-40B4-BE49-F238E27FC236}">
                <a16:creationId xmlns:a16="http://schemas.microsoft.com/office/drawing/2014/main" id="{3B83BAE3-39D4-EF77-0099-166E4136E689}"/>
              </a:ext>
            </a:extLst>
          </p:cNvPr>
          <p:cNvSpPr txBox="1"/>
          <p:nvPr/>
        </p:nvSpPr>
        <p:spPr>
          <a:xfrm>
            <a:off x="6967487" y="6019800"/>
            <a:ext cx="957313" cy="3693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77" name="文本框 11276">
            <a:extLst>
              <a:ext uri="{FF2B5EF4-FFF2-40B4-BE49-F238E27FC236}">
                <a16:creationId xmlns:a16="http://schemas.microsoft.com/office/drawing/2014/main" id="{3E3ACEA9-CC75-98F6-00F6-F48EB03CC8B6}"/>
              </a:ext>
            </a:extLst>
          </p:cNvPr>
          <p:cNvSpPr txBox="1"/>
          <p:nvPr/>
        </p:nvSpPr>
        <p:spPr>
          <a:xfrm>
            <a:off x="6066698" y="6019800"/>
            <a:ext cx="782587" cy="3693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3" grpId="0" animBg="1"/>
      <p:bldP spid="11274" grpId="0" animBg="1"/>
      <p:bldP spid="11275" grpId="0" animBg="1"/>
      <p:bldP spid="11276" grpId="0" animBg="1"/>
      <p:bldP spid="112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F9CB7A3-218F-1FC2-CD33-5B03B1823A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848889"/>
              </p:ext>
            </p:extLst>
          </p:nvPr>
        </p:nvGraphicFramePr>
        <p:xfrm>
          <a:off x="1190256" y="3124201"/>
          <a:ext cx="6277344" cy="1220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49280" imgH="634680" progId="Equation.DSMT4">
                  <p:embed/>
                </p:oleObj>
              </mc:Choice>
              <mc:Fallback>
                <p:oleObj name="Equation" r:id="rId2" imgW="3149280" imgH="6346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F9CB7A3-218F-1FC2-CD33-5B03B1823A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256" y="3124201"/>
                        <a:ext cx="6277344" cy="122077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Rectangle 11">
            <a:extLst>
              <a:ext uri="{FF2B5EF4-FFF2-40B4-BE49-F238E27FC236}">
                <a16:creationId xmlns:a16="http://schemas.microsoft.com/office/drawing/2014/main" id="{9E1F31CB-471D-479F-A1A9-CA07141FB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00200"/>
            <a:ext cx="7524750" cy="1037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sz="2200" b="1" dirty="0"/>
              <a:t>  </a:t>
            </a:r>
            <a:r>
              <a:rPr lang="zh-CN" altLang="en-US" sz="2200" b="1" dirty="0"/>
              <a:t>令</a:t>
            </a:r>
            <a:r>
              <a:rPr lang="zh-CN" altLang="en-US" sz="2200" b="1" dirty="0">
                <a:solidFill>
                  <a:srgbClr val="C00000"/>
                </a:solidFill>
              </a:rPr>
              <a:t>最优值函数</a:t>
            </a:r>
            <a:r>
              <a:rPr lang="zh-CN" altLang="en-US" sz="2200" b="1" dirty="0"/>
              <a:t>       </a:t>
            </a:r>
            <a:r>
              <a:rPr lang="zh-CN" altLang="en-US" sz="2200" b="1" dirty="0">
                <a:cs typeface="Times New Roman" panose="02020603050405020304" pitchFamily="18" charset="0"/>
              </a:rPr>
              <a:t>表示以数量为</a:t>
            </a:r>
            <a:r>
              <a:rPr lang="en-US" altLang="zh-CN" sz="2200" b="1" i="1" dirty="0" err="1"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25000" dirty="0" err="1">
                <a:cs typeface="Times New Roman" panose="02020603050405020304" pitchFamily="18" charset="0"/>
              </a:rPr>
              <a:t>k</a:t>
            </a:r>
            <a:r>
              <a:rPr lang="zh-CN" altLang="en-US" sz="2200" b="1" dirty="0">
                <a:cs typeface="Times New Roman" panose="02020603050405020304" pitchFamily="18" charset="0"/>
              </a:rPr>
              <a:t>的原料分配给第</a:t>
            </a:r>
            <a:r>
              <a:rPr lang="en-US" altLang="zh-CN" sz="2200" b="1" i="1" dirty="0">
                <a:cs typeface="Times New Roman" panose="02020603050405020304" pitchFamily="18" charset="0"/>
              </a:rPr>
              <a:t>k</a:t>
            </a:r>
            <a:r>
              <a:rPr lang="zh-CN" altLang="en-US" sz="2200" b="1" dirty="0">
                <a:cs typeface="Times New Roman" panose="02020603050405020304" pitchFamily="18" charset="0"/>
              </a:rPr>
              <a:t>种产品至第</a:t>
            </a:r>
            <a:r>
              <a:rPr lang="en-US" altLang="zh-CN" sz="2200" b="1" i="1" dirty="0">
                <a:cs typeface="Times New Roman" panose="02020603050405020304" pitchFamily="18" charset="0"/>
              </a:rPr>
              <a:t>n</a:t>
            </a:r>
            <a:r>
              <a:rPr lang="zh-CN" altLang="en-US" sz="2200" b="1" dirty="0">
                <a:cs typeface="Times New Roman" panose="02020603050405020304" pitchFamily="18" charset="0"/>
              </a:rPr>
              <a:t>种产品所得到的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最大总收入</a:t>
            </a:r>
            <a:r>
              <a:rPr lang="zh-CN" altLang="en-US" sz="2200" b="1" dirty="0"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2297" name="灯片编号占位符 3">
            <a:extLst>
              <a:ext uri="{FF2B5EF4-FFF2-40B4-BE49-F238E27FC236}">
                <a16:creationId xmlns:a16="http://schemas.microsoft.com/office/drawing/2014/main" id="{005F55EA-68BE-4AFB-9B7D-59B91BE8592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FEA32E3-8321-4413-9311-144BB35C7351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02AB56B-374B-4722-9A81-3703D98FC866}"/>
              </a:ext>
            </a:extLst>
          </p:cNvPr>
          <p:cNvSpPr txBox="1">
            <a:spLocks/>
          </p:cNvSpPr>
          <p:nvPr/>
        </p:nvSpPr>
        <p:spPr>
          <a:xfrm>
            <a:off x="529926" y="712719"/>
            <a:ext cx="4530725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</a:t>
            </a:r>
          </a:p>
        </p:txBody>
      </p:sp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C468AF02-173D-4A9C-9F45-16B0B71D7C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103538"/>
              </p:ext>
            </p:extLst>
          </p:nvPr>
        </p:nvGraphicFramePr>
        <p:xfrm>
          <a:off x="2895600" y="1676400"/>
          <a:ext cx="786111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19464" imgH="228799" progId="">
                  <p:embed/>
                </p:oleObj>
              </mc:Choice>
              <mc:Fallback>
                <p:oleObj r:id="rId4" imgW="419464" imgH="228799" progId="">
                  <p:embed/>
                  <p:pic>
                    <p:nvPicPr>
                      <p:cNvPr id="12290" name="Object 2">
                        <a:extLst>
                          <a:ext uri="{FF2B5EF4-FFF2-40B4-BE49-F238E27FC236}">
                            <a16:creationId xmlns:a16="http://schemas.microsoft.com/office/drawing/2014/main" id="{C468AF02-173D-4A9C-9F45-16B0B71D7C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676400"/>
                        <a:ext cx="786111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AFCADCF-0B4D-A9EE-9708-E55C8AB7D27E}"/>
              </a:ext>
            </a:extLst>
          </p:cNvPr>
          <p:cNvSpPr/>
          <p:nvPr/>
        </p:nvSpPr>
        <p:spPr>
          <a:xfrm>
            <a:off x="2349351" y="4090312"/>
            <a:ext cx="615146" cy="2092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12CE3BF7-4B6C-A9A3-D737-9A86184935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34974"/>
              </p:ext>
            </p:extLst>
          </p:nvPr>
        </p:nvGraphicFramePr>
        <p:xfrm>
          <a:off x="5562600" y="647147"/>
          <a:ext cx="2517036" cy="792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73120" imgH="457200" progId="Equation.DSMT4">
                  <p:embed/>
                </p:oleObj>
              </mc:Choice>
              <mc:Fallback>
                <p:oleObj name="Equation" r:id="rId6" imgW="1473120" imgH="457200" progId="Equation.DSMT4">
                  <p:embed/>
                  <p:pic>
                    <p:nvPicPr>
                      <p:cNvPr id="11265" name="Object 3">
                        <a:extLst>
                          <a:ext uri="{FF2B5EF4-FFF2-40B4-BE49-F238E27FC236}">
                            <a16:creationId xmlns:a16="http://schemas.microsoft.com/office/drawing/2014/main" id="{9B004732-0A41-050E-4E09-7D827C90E2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647147"/>
                        <a:ext cx="2517036" cy="792866"/>
                      </a:xfrm>
                      <a:prstGeom prst="rect">
                        <a:avLst/>
                      </a:prstGeom>
                      <a:solidFill>
                        <a:schemeClr val="accent5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1">
            <a:extLst>
              <a:ext uri="{FF2B5EF4-FFF2-40B4-BE49-F238E27FC236}">
                <a16:creationId xmlns:a16="http://schemas.microsoft.com/office/drawing/2014/main" id="{9450B318-B7D9-95E2-5F48-2BE7F2B6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94311"/>
            <a:ext cx="5581650" cy="529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200" b="1" dirty="0">
                <a:cs typeface="Times New Roman" panose="02020603050405020304" pitchFamily="18" charset="0"/>
              </a:rPr>
              <a:t>可以写出动态规划的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逆推关系式</a:t>
            </a:r>
            <a:r>
              <a:rPr lang="zh-CN" altLang="en-US" sz="2200" b="1" dirty="0">
                <a:cs typeface="Times New Roman" panose="02020603050405020304" pitchFamily="18" charset="0"/>
              </a:rPr>
              <a:t>为：</a:t>
            </a: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4BE83256-3FDB-E885-FFA8-E227210207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004689"/>
              </p:ext>
            </p:extLst>
          </p:nvPr>
        </p:nvGraphicFramePr>
        <p:xfrm>
          <a:off x="5562600" y="628754"/>
          <a:ext cx="2517036" cy="814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49080" imgH="482400" progId="Equation.DSMT4">
                  <p:embed/>
                </p:oleObj>
              </mc:Choice>
              <mc:Fallback>
                <p:oleObj name="Equation" r:id="rId8" imgW="1549080" imgH="48240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C9008C8F-D6C6-7D2E-7F66-6F8E0141FF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628754"/>
                        <a:ext cx="2517036" cy="81408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6DBE8E7-3CF9-4B37-4FDB-5C7748062F0D}"/>
              </a:ext>
            </a:extLst>
          </p:cNvPr>
          <p:cNvSpPr/>
          <p:nvPr/>
        </p:nvSpPr>
        <p:spPr>
          <a:xfrm>
            <a:off x="5867400" y="623498"/>
            <a:ext cx="2395126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B40DE7D1-6947-FEE3-E428-346A3CA6D2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624075"/>
              </p:ext>
            </p:extLst>
          </p:nvPr>
        </p:nvGraphicFramePr>
        <p:xfrm>
          <a:off x="1172694" y="4495800"/>
          <a:ext cx="6294906" cy="1220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27120" imgH="634680" progId="Equation.DSMT4">
                  <p:embed/>
                </p:oleObj>
              </mc:Choice>
              <mc:Fallback>
                <p:oleObj name="Equation" r:id="rId10" imgW="3327120" imgH="634680" progId="Equation.DSMT4">
                  <p:embed/>
                  <p:pic>
                    <p:nvPicPr>
                      <p:cNvPr id="12291" name="Object 3">
                        <a:extLst>
                          <a:ext uri="{FF2B5EF4-FFF2-40B4-BE49-F238E27FC236}">
                            <a16:creationId xmlns:a16="http://schemas.microsoft.com/office/drawing/2014/main" id="{73654EAA-28BF-42A0-84FB-C2E224DD47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2694" y="4495800"/>
                        <a:ext cx="6294906" cy="122077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F21FBB1C-61C4-6C8E-3F5C-394E5E4C9112}"/>
              </a:ext>
            </a:extLst>
          </p:cNvPr>
          <p:cNvSpPr/>
          <p:nvPr/>
        </p:nvSpPr>
        <p:spPr>
          <a:xfrm>
            <a:off x="4558250" y="4542900"/>
            <a:ext cx="1002887" cy="3934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0DD0D65-1D49-37E5-E9D4-776363C0ED64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5059694" y="3637981"/>
            <a:ext cx="31956" cy="9049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7">
            <a:extLst>
              <a:ext uri="{FF2B5EF4-FFF2-40B4-BE49-F238E27FC236}">
                <a16:creationId xmlns:a16="http://schemas.microsoft.com/office/drawing/2014/main" id="{CEB5EC6F-C165-8E8A-26B4-12F40D42A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8" y="5705973"/>
            <a:ext cx="7561262" cy="88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lang="en-US" altLang="zh-CN" sz="2400" b="1" dirty="0"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利用上述递推关系式进行逐段计算，最后求得    ，即为所求问题的最大总收入。 </a:t>
            </a:r>
          </a:p>
        </p:txBody>
      </p:sp>
      <p:graphicFrame>
        <p:nvGraphicFramePr>
          <p:cNvPr id="17" name="Object 6">
            <a:extLst>
              <a:ext uri="{FF2B5EF4-FFF2-40B4-BE49-F238E27FC236}">
                <a16:creationId xmlns:a16="http://schemas.microsoft.com/office/drawing/2014/main" id="{FEF22295-7B08-9713-7CB3-5A228EAC4C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445842"/>
              </p:ext>
            </p:extLst>
          </p:nvPr>
        </p:nvGraphicFramePr>
        <p:xfrm>
          <a:off x="7029958" y="5706043"/>
          <a:ext cx="590042" cy="469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55909" imgH="228799" progId="">
                  <p:embed/>
                </p:oleObj>
              </mc:Choice>
              <mc:Fallback>
                <p:oleObj r:id="rId12" imgW="355909" imgH="228799" progId="">
                  <p:embed/>
                  <p:pic>
                    <p:nvPicPr>
                      <p:cNvPr id="12294" name="Object 6">
                        <a:extLst>
                          <a:ext uri="{FF2B5EF4-FFF2-40B4-BE49-F238E27FC236}">
                            <a16:creationId xmlns:a16="http://schemas.microsoft.com/office/drawing/2014/main" id="{76A11954-DE7B-436C-A394-461693BC43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9958" y="5706043"/>
                        <a:ext cx="590042" cy="469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4E784C07-A4F3-7A6C-8128-CE38CB706E7F}"/>
              </a:ext>
            </a:extLst>
          </p:cNvPr>
          <p:cNvSpPr txBox="1"/>
          <p:nvPr/>
        </p:nvSpPr>
        <p:spPr>
          <a:xfrm>
            <a:off x="6199731" y="6239443"/>
            <a:ext cx="795411" cy="3693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3926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6" grpId="0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F86C5373-58CD-4C1E-8E98-0449BEB31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39493"/>
            <a:ext cx="8001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20000"/>
              </a:lnSpc>
            </a:pPr>
            <a:r>
              <a:rPr lang="zh-CN" altLang="en-US" sz="2000" b="1" u="sng" dirty="0">
                <a:cs typeface="Times New Roman" panose="02020603050405020304" pitchFamily="18" charset="0"/>
              </a:rPr>
              <a:t>例</a:t>
            </a:r>
            <a:r>
              <a:rPr lang="en-US" altLang="zh-CN" sz="2000" b="1" u="sng" dirty="0"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cs typeface="Times New Roman" panose="02020603050405020304" pitchFamily="18" charset="0"/>
              </a:rPr>
              <a:t>  </a:t>
            </a:r>
            <a:r>
              <a:rPr lang="zh-CN" altLang="en-US" sz="2000" b="1" dirty="0">
                <a:cs typeface="Times New Roman" panose="02020603050405020304" pitchFamily="18" charset="0"/>
              </a:rPr>
              <a:t>某工业部门根据国家计划的安排，拟将某种高效率的设备</a:t>
            </a:r>
            <a:r>
              <a:rPr lang="zh-CN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五台</a:t>
            </a:r>
            <a:r>
              <a:rPr lang="zh-CN" altLang="en-US" sz="2000" b="1" dirty="0">
                <a:cs typeface="Times New Roman" panose="02020603050405020304" pitchFamily="18" charset="0"/>
              </a:rPr>
              <a:t>，分配给所属的甲、乙、丙三个工厂，各工厂若获得这种设备之后，  可以为国家提供的盈利如下</a:t>
            </a:r>
            <a:r>
              <a:rPr lang="zh-CN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表</a:t>
            </a:r>
            <a:r>
              <a:rPr lang="en-US" altLang="zh-CN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cs typeface="Times New Roman" panose="02020603050405020304" pitchFamily="18" charset="0"/>
              </a:rPr>
              <a:t>所示。</a:t>
            </a:r>
            <a:endParaRPr lang="zh-CN" altLang="en-US" sz="2000" b="1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AFFF0B8D-A4DA-4541-BCA9-581A86CD4DA7}"/>
              </a:ext>
            </a:extLst>
          </p:cNvPr>
          <p:cNvSpPr txBox="1">
            <a:spLocks/>
          </p:cNvSpPr>
          <p:nvPr/>
        </p:nvSpPr>
        <p:spPr>
          <a:xfrm>
            <a:off x="529926" y="712719"/>
            <a:ext cx="5185074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 </a:t>
            </a:r>
            <a:r>
              <a:rPr lang="en-US" altLang="zh-CN" sz="3600" kern="0" dirty="0"/>
              <a:t>– </a:t>
            </a:r>
            <a:r>
              <a:rPr lang="zh-CN" altLang="en-US" sz="3600" kern="0" dirty="0"/>
              <a:t>算例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1C7206-D0F6-422D-9D30-481D69816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19399"/>
            <a:ext cx="7561261" cy="3176139"/>
          </a:xfrm>
          <a:prstGeom prst="rect">
            <a:avLst/>
          </a:prstGeom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A1F2A76B-7CD6-4830-A050-077E1BB431FF}"/>
              </a:ext>
            </a:extLst>
          </p:cNvPr>
          <p:cNvSpPr txBox="1">
            <a:spLocks/>
          </p:cNvSpPr>
          <p:nvPr/>
        </p:nvSpPr>
        <p:spPr>
          <a:xfrm>
            <a:off x="606127" y="6096000"/>
            <a:ext cx="8080673" cy="457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000" b="1" dirty="0"/>
              <a:t>问：这五台设备如何分配给各工厂，才能使国家得到的盈利最大。</a:t>
            </a:r>
            <a:endParaRPr lang="zh-CN" altLang="en-US" sz="2000" kern="0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B1B0F76C-B3D1-45D2-BE37-9183389A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51000"/>
            <a:ext cx="76962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将问题按工厂分为三个阶段，甲、乙、丙三个工厂分别编号为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。设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表示为分配给第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个工厂至第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个工厂的设备台数。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表示为分配给第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个工厂的设备台数，则</a:t>
            </a:r>
          </a:p>
        </p:txBody>
      </p:sp>
      <p:graphicFrame>
        <p:nvGraphicFramePr>
          <p:cNvPr id="14339" name="Object 3">
            <a:extLst>
              <a:ext uri="{FF2B5EF4-FFF2-40B4-BE49-F238E27FC236}">
                <a16:creationId xmlns:a16="http://schemas.microsoft.com/office/drawing/2014/main" id="{B1D87036-4D30-4D08-AEBE-37A21876F0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460463"/>
              </p:ext>
            </p:extLst>
          </p:nvPr>
        </p:nvGraphicFramePr>
        <p:xfrm>
          <a:off x="937317" y="3087688"/>
          <a:ext cx="20161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7742" imgH="228699" progId="">
                  <p:embed/>
                </p:oleObj>
              </mc:Choice>
              <mc:Fallback>
                <p:oleObj r:id="rId2" imgW="787742" imgH="228699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317" y="3087688"/>
                        <a:ext cx="2016125" cy="5334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Rectangle 9">
            <a:extLst>
              <a:ext uri="{FF2B5EF4-FFF2-40B4-BE49-F238E27FC236}">
                <a16:creationId xmlns:a16="http://schemas.microsoft.com/office/drawing/2014/main" id="{BC89B742-F3CA-492E-9DC0-E79A4444F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463" y="3154333"/>
            <a:ext cx="56388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为分配给第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个工厂至第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个工厂的设备台数。</a:t>
            </a:r>
          </a:p>
        </p:txBody>
      </p:sp>
      <p:sp>
        <p:nvSpPr>
          <p:cNvPr id="14343" name="Rectangle 10">
            <a:extLst>
              <a:ext uri="{FF2B5EF4-FFF2-40B4-BE49-F238E27FC236}">
                <a16:creationId xmlns:a16="http://schemas.microsoft.com/office/drawing/2014/main" id="{44FC4DFA-537F-41B0-B85F-7D03A3ADC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3752850"/>
            <a:ext cx="743108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表示为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台设备分配到第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个工厂所得的盈利值。     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表示为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台设备分配给第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个工厂至第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个工厂时所得到的最大盈利值，所以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逆推关系式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344" name="Object 8">
            <a:extLst>
              <a:ext uri="{FF2B5EF4-FFF2-40B4-BE49-F238E27FC236}">
                <a16:creationId xmlns:a16="http://schemas.microsoft.com/office/drawing/2014/main" id="{1EB60326-4085-4930-B0D5-E1ABBF921A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828149"/>
              </p:ext>
            </p:extLst>
          </p:nvPr>
        </p:nvGraphicFramePr>
        <p:xfrm>
          <a:off x="906463" y="3744912"/>
          <a:ext cx="592137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240" imgH="228600" progId="Equation.DSMT4">
                  <p:embed/>
                </p:oleObj>
              </mc:Choice>
              <mc:Fallback>
                <p:oleObj name="Equation" r:id="rId4" imgW="44424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463" y="3744912"/>
                        <a:ext cx="592137" cy="4492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>
            <a:extLst>
              <a:ext uri="{FF2B5EF4-FFF2-40B4-BE49-F238E27FC236}">
                <a16:creationId xmlns:a16="http://schemas.microsoft.com/office/drawing/2014/main" id="{7C04F3CC-0D97-44DC-9182-0E980DB6D9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728149"/>
              </p:ext>
            </p:extLst>
          </p:nvPr>
        </p:nvGraphicFramePr>
        <p:xfrm>
          <a:off x="914400" y="4164806"/>
          <a:ext cx="5429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19464" imgH="228799" progId="">
                  <p:embed/>
                </p:oleObj>
              </mc:Choice>
              <mc:Fallback>
                <p:oleObj r:id="rId6" imgW="419464" imgH="228799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164806"/>
                        <a:ext cx="542925" cy="4365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>
            <a:extLst>
              <a:ext uri="{FF2B5EF4-FFF2-40B4-BE49-F238E27FC236}">
                <a16:creationId xmlns:a16="http://schemas.microsoft.com/office/drawing/2014/main" id="{1157115E-0E1A-4A36-9970-F849D45A59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351815"/>
              </p:ext>
            </p:extLst>
          </p:nvPr>
        </p:nvGraphicFramePr>
        <p:xfrm>
          <a:off x="1271588" y="5056187"/>
          <a:ext cx="603885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24080" imgH="558720" progId="Equation.DSMT4">
                  <p:embed/>
                </p:oleObj>
              </mc:Choice>
              <mc:Fallback>
                <p:oleObj name="Equation" r:id="rId8" imgW="3124080" imgH="5587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588" y="5056187"/>
                        <a:ext cx="6038850" cy="11160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灯片编号占位符 3">
            <a:extLst>
              <a:ext uri="{FF2B5EF4-FFF2-40B4-BE49-F238E27FC236}">
                <a16:creationId xmlns:a16="http://schemas.microsoft.com/office/drawing/2014/main" id="{276F9DCA-7731-42A4-925F-BEAD28B749A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E4A4B8C-8B2A-4BAE-A40A-410D8C45CE50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7A6E595E-613C-4BAC-9D3E-0D6EDB868225}"/>
              </a:ext>
            </a:extLst>
          </p:cNvPr>
          <p:cNvSpPr txBox="1">
            <a:spLocks/>
          </p:cNvSpPr>
          <p:nvPr/>
        </p:nvSpPr>
        <p:spPr>
          <a:xfrm>
            <a:off x="529926" y="712719"/>
            <a:ext cx="5185074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 </a:t>
            </a:r>
            <a:r>
              <a:rPr lang="en-US" altLang="zh-CN" sz="3600" kern="0" dirty="0"/>
              <a:t>– </a:t>
            </a:r>
            <a:r>
              <a:rPr lang="zh-CN" altLang="en-US" sz="3600" kern="0" dirty="0"/>
              <a:t>算例</a:t>
            </a: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FD22DE02-8E40-0932-B4E9-7EA86B356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661904"/>
              </p:ext>
            </p:extLst>
          </p:nvPr>
        </p:nvGraphicFramePr>
        <p:xfrm>
          <a:off x="4011612" y="529240"/>
          <a:ext cx="45227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46240" imgH="634680" progId="Equation.DSMT4">
                  <p:embed/>
                </p:oleObj>
              </mc:Choice>
              <mc:Fallback>
                <p:oleObj name="Equation" r:id="rId10" imgW="2946240" imgH="634680" progId="Equation.DSMT4">
                  <p:embed/>
                  <p:pic>
                    <p:nvPicPr>
                      <p:cNvPr id="12291" name="Object 3">
                        <a:extLst>
                          <a:ext uri="{FF2B5EF4-FFF2-40B4-BE49-F238E27FC236}">
                            <a16:creationId xmlns:a16="http://schemas.microsoft.com/office/drawing/2014/main" id="{73654EAA-28BF-42A0-84FB-C2E224DD47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2" y="529240"/>
                        <a:ext cx="4522788" cy="9906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>
            <a:extLst>
              <a:ext uri="{FF2B5EF4-FFF2-40B4-BE49-F238E27FC236}">
                <a16:creationId xmlns:a16="http://schemas.microsoft.com/office/drawing/2014/main" id="{0863B2B9-7C19-40F6-8CC7-277A67452B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358589"/>
              </p:ext>
            </p:extLst>
          </p:nvPr>
        </p:nvGraphicFramePr>
        <p:xfrm>
          <a:off x="2322513" y="3886200"/>
          <a:ext cx="4140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304560" progId="Equation.DSMT4">
                  <p:embed/>
                </p:oleObj>
              </mc:Choice>
              <mc:Fallback>
                <p:oleObj name="Equation" r:id="rId2" imgW="1333440" imgH="3045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3886200"/>
                        <a:ext cx="4140200" cy="8382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4">
            <a:extLst>
              <a:ext uri="{FF2B5EF4-FFF2-40B4-BE49-F238E27FC236}">
                <a16:creationId xmlns:a16="http://schemas.microsoft.com/office/drawing/2014/main" id="{5D8A27FA-FE6C-42EC-8A9B-26F583D7C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56308"/>
            <a:ext cx="7848600" cy="207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dirty="0"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cs typeface="Times New Roman" panose="02020603050405020304" pitchFamily="18" charset="0"/>
              </a:rPr>
              <a:t>下面从最后一个阶段开始向前逆推计算。</a:t>
            </a:r>
            <a:endParaRPr lang="en-US" altLang="zh-CN" sz="2400" b="1" dirty="0"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zh-CN" sz="1400" b="1" dirty="0"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第三阶段：设将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台设备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=0,1,2,3,4,5)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全部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分配给工厂丙时，则最大盈利值为</a:t>
            </a:r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A4278610-1060-4B42-AADA-3881FFF3D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4948386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cs typeface="Times New Roman" panose="02020603050405020304" pitchFamily="18" charset="0"/>
              </a:rPr>
              <a:t>其中</a:t>
            </a:r>
          </a:p>
        </p:txBody>
      </p:sp>
      <p:sp>
        <p:nvSpPr>
          <p:cNvPr id="15365" name="Rectangle 7">
            <a:extLst>
              <a:ext uri="{FF2B5EF4-FFF2-40B4-BE49-F238E27FC236}">
                <a16:creationId xmlns:a16="http://schemas.microsoft.com/office/drawing/2014/main" id="{AB173D2F-DCF9-460C-9826-D597568A1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8" y="2093912"/>
            <a:ext cx="18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66" name="Rectangle 8">
            <a:extLst>
              <a:ext uri="{FF2B5EF4-FFF2-40B4-BE49-F238E27FC236}">
                <a16:creationId xmlns:a16="http://schemas.microsoft.com/office/drawing/2014/main" id="{66E36B0F-8E83-4A2F-A356-E6AD178F7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8" y="2093912"/>
            <a:ext cx="18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67" name="Rectangle 9">
            <a:extLst>
              <a:ext uri="{FF2B5EF4-FFF2-40B4-BE49-F238E27FC236}">
                <a16:creationId xmlns:a16="http://schemas.microsoft.com/office/drawing/2014/main" id="{CF5E83C4-7342-49E9-82F0-CD12AD9AD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538" y="1801812"/>
            <a:ext cx="18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68" name="Rectangle 10">
            <a:extLst>
              <a:ext uri="{FF2B5EF4-FFF2-40B4-BE49-F238E27FC236}">
                <a16:creationId xmlns:a16="http://schemas.microsoft.com/office/drawing/2014/main" id="{7E5352DA-6C64-4389-8846-BC94A6307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175" y="1801812"/>
            <a:ext cx="18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69" name="Rectangle 11">
            <a:extLst>
              <a:ext uri="{FF2B5EF4-FFF2-40B4-BE49-F238E27FC236}">
                <a16:creationId xmlns:a16="http://schemas.microsoft.com/office/drawing/2014/main" id="{D378B7E1-89CD-4195-BDF1-E98BDC173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175" y="1801812"/>
            <a:ext cx="18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72" name="灯片编号占位符 3">
            <a:extLst>
              <a:ext uri="{FF2B5EF4-FFF2-40B4-BE49-F238E27FC236}">
                <a16:creationId xmlns:a16="http://schemas.microsoft.com/office/drawing/2014/main" id="{43F017CA-17BE-49EC-9EC5-0377CA085B9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134A793-94F1-453A-B5C2-E8FE1D9313D8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7A6E595E-613C-4BAC-9D3E-0D6EDB868225}"/>
              </a:ext>
            </a:extLst>
          </p:cNvPr>
          <p:cNvSpPr txBox="1">
            <a:spLocks/>
          </p:cNvSpPr>
          <p:nvPr/>
        </p:nvSpPr>
        <p:spPr>
          <a:xfrm>
            <a:off x="529926" y="712719"/>
            <a:ext cx="5185074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 </a:t>
            </a:r>
            <a:r>
              <a:rPr lang="en-US" altLang="zh-CN" sz="3600" kern="0" dirty="0"/>
              <a:t>– </a:t>
            </a:r>
            <a:r>
              <a:rPr lang="zh-CN" altLang="en-US" sz="3600" kern="0" dirty="0"/>
              <a:t>算例</a:t>
            </a: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31ACF0C8-9049-9651-F273-9858BEF088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593949"/>
              </p:ext>
            </p:extLst>
          </p:nvPr>
        </p:nvGraphicFramePr>
        <p:xfrm>
          <a:off x="4011612" y="529240"/>
          <a:ext cx="45227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46240" imgH="634680" progId="Equation.DSMT4">
                  <p:embed/>
                </p:oleObj>
              </mc:Choice>
              <mc:Fallback>
                <p:oleObj name="Equation" r:id="rId4" imgW="2946240" imgH="63468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FD22DE02-8E40-0932-B4E9-7EA86B356B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2" y="529240"/>
                        <a:ext cx="4522788" cy="9906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CBBFC15D-3B6A-1450-907B-D1CB2ADF0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355840"/>
              </p:ext>
            </p:extLst>
          </p:nvPr>
        </p:nvGraphicFramePr>
        <p:xfrm>
          <a:off x="1905000" y="4945063"/>
          <a:ext cx="283686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228600" progId="Equation.DSMT4">
                  <p:embed/>
                </p:oleObj>
              </mc:Choice>
              <mc:Fallback>
                <p:oleObj name="Equation" r:id="rId6" imgW="1282680" imgH="22860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31ACF0C8-9049-9651-F273-9858BEF088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945063"/>
                        <a:ext cx="2836863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60AA2299-00A6-46D4-87A9-6CBCDB99F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15561"/>
            <a:ext cx="7920038" cy="85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 algn="just">
              <a:lnSpc>
                <a:spcPct val="120000"/>
              </a:lnSpc>
            </a:pPr>
            <a:r>
              <a:rPr lang="zh-CN" altLang="en-US" sz="2200" b="1" dirty="0">
                <a:cs typeface="Times New Roman" panose="02020603050405020304" pitchFamily="18" charset="0"/>
              </a:rPr>
              <a:t>因为此时只有一个工厂，有多少台设备就全部分配给工厂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丙</a:t>
            </a:r>
            <a:r>
              <a:rPr lang="zh-CN" altLang="en-US" sz="2200" b="1" dirty="0">
                <a:cs typeface="Times New Roman" panose="02020603050405020304" pitchFamily="18" charset="0"/>
              </a:rPr>
              <a:t>，故它的盈利值就是该段的最大盈利值，如下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表</a:t>
            </a:r>
            <a:r>
              <a:rPr lang="en-US" altLang="zh-CN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200" b="1" dirty="0">
                <a:cs typeface="Times New Roman" panose="02020603050405020304" pitchFamily="18" charset="0"/>
              </a:rPr>
              <a:t>。</a:t>
            </a:r>
            <a:endParaRPr lang="zh-CN" altLang="en-US" sz="2200" b="1" dirty="0">
              <a:latin typeface="Tahoma" panose="020B0604030504040204" pitchFamily="34" charset="0"/>
            </a:endParaRPr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D033941A-9501-49DB-99CF-906BA569F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" y="1892300"/>
            <a:ext cx="18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81B5E0CA-1447-4C72-A336-BC13D8B74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" y="1892300"/>
            <a:ext cx="18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389" name="Rectangle 6">
            <a:extLst>
              <a:ext uri="{FF2B5EF4-FFF2-40B4-BE49-F238E27FC236}">
                <a16:creationId xmlns:a16="http://schemas.microsoft.com/office/drawing/2014/main" id="{FE6C7B09-5790-4113-944E-573F16C12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8413" y="1600200"/>
            <a:ext cx="1857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390" name="Rectangle 7">
            <a:extLst>
              <a:ext uri="{FF2B5EF4-FFF2-40B4-BE49-F238E27FC236}">
                <a16:creationId xmlns:a16="http://schemas.microsoft.com/office/drawing/2014/main" id="{4C6085BF-A758-43EE-9712-36F625F4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" y="1600200"/>
            <a:ext cx="1857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391" name="Rectangle 8">
            <a:extLst>
              <a:ext uri="{FF2B5EF4-FFF2-40B4-BE49-F238E27FC236}">
                <a16:creationId xmlns:a16="http://schemas.microsoft.com/office/drawing/2014/main" id="{F7ABC1C9-A4DF-42F5-BBE4-AF4179A2F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" y="1600200"/>
            <a:ext cx="1857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7416" name="Group 8">
            <a:extLst>
              <a:ext uri="{FF2B5EF4-FFF2-40B4-BE49-F238E27FC236}">
                <a16:creationId xmlns:a16="http://schemas.microsoft.com/office/drawing/2014/main" id="{5AEE1210-224E-4FD6-AE1E-C75F106D7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403128"/>
              </p:ext>
            </p:extLst>
          </p:nvPr>
        </p:nvGraphicFramePr>
        <p:xfrm>
          <a:off x="1371600" y="2438400"/>
          <a:ext cx="6337300" cy="3810002"/>
        </p:xfrm>
        <a:graphic>
          <a:graphicData uri="http://schemas.openxmlformats.org/drawingml/2006/table">
            <a:tbl>
              <a:tblPr/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8000">
                <a:tc row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)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f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)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*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91449" marR="91449" marT="45712" marB="4571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481" name="灯片编号占位符 3">
            <a:extLst>
              <a:ext uri="{FF2B5EF4-FFF2-40B4-BE49-F238E27FC236}">
                <a16:creationId xmlns:a16="http://schemas.microsoft.com/office/drawing/2014/main" id="{415886CC-F451-4453-A42B-F11540C7BAF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705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1C76916-0D32-4222-9A5A-459A43120FB3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68450" y="6248400"/>
            <a:ext cx="262283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ahoma" panose="020B0604030504040204" pitchFamily="34" charset="0"/>
              </a:rPr>
              <a:t>表中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b="1" dirty="0">
                <a:latin typeface="Tahoma" panose="020B0604030504040204" pitchFamily="34" charset="0"/>
              </a:rPr>
              <a:t>表示最优决策。</a:t>
            </a:r>
            <a:endParaRPr lang="zh-CN" altLang="en-US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7A6E595E-613C-4BAC-9D3E-0D6EDB868225}"/>
              </a:ext>
            </a:extLst>
          </p:cNvPr>
          <p:cNvSpPr txBox="1">
            <a:spLocks/>
          </p:cNvSpPr>
          <p:nvPr/>
        </p:nvSpPr>
        <p:spPr>
          <a:xfrm>
            <a:off x="529926" y="712719"/>
            <a:ext cx="5185074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 </a:t>
            </a:r>
            <a:r>
              <a:rPr lang="en-US" altLang="zh-CN" sz="3600" kern="0" dirty="0"/>
              <a:t>– </a:t>
            </a:r>
            <a:r>
              <a:rPr lang="zh-CN" altLang="en-US" sz="3600" kern="0" dirty="0"/>
              <a:t>算例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>
            <a:extLst>
              <a:ext uri="{FF2B5EF4-FFF2-40B4-BE49-F238E27FC236}">
                <a16:creationId xmlns:a16="http://schemas.microsoft.com/office/drawing/2014/main" id="{898CEA78-7299-4550-8FA7-30DCF6F4D3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521532"/>
              </p:ext>
            </p:extLst>
          </p:nvPr>
        </p:nvGraphicFramePr>
        <p:xfrm>
          <a:off x="1882775" y="3625850"/>
          <a:ext cx="4665663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760" imgH="304560" progId="Equation.DSMT4">
                  <p:embed/>
                </p:oleObj>
              </mc:Choice>
              <mc:Fallback>
                <p:oleObj name="Equation" r:id="rId2" imgW="2120760" imgH="3045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3625850"/>
                        <a:ext cx="4665663" cy="6715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>
            <a:extLst>
              <a:ext uri="{FF2B5EF4-FFF2-40B4-BE49-F238E27FC236}">
                <a16:creationId xmlns:a16="http://schemas.microsoft.com/office/drawing/2014/main" id="{40D98AB0-8917-436B-AE4B-FFBCDC32CD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662181"/>
              </p:ext>
            </p:extLst>
          </p:nvPr>
        </p:nvGraphicFramePr>
        <p:xfrm>
          <a:off x="2001838" y="4491038"/>
          <a:ext cx="28098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228600" progId="Equation.DSMT4">
                  <p:embed/>
                </p:oleObj>
              </mc:Choice>
              <mc:Fallback>
                <p:oleObj name="Equation" r:id="rId4" imgW="101592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838" y="4491038"/>
                        <a:ext cx="280987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6">
            <a:extLst>
              <a:ext uri="{FF2B5EF4-FFF2-40B4-BE49-F238E27FC236}">
                <a16:creationId xmlns:a16="http://schemas.microsoft.com/office/drawing/2014/main" id="{6A4E5C49-1F1A-4301-A37D-2C8F63B1F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06563"/>
            <a:ext cx="7848600" cy="168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dirty="0"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cs typeface="Times New Roman" panose="02020603050405020304" pitchFamily="18" charset="0"/>
              </a:rPr>
              <a:t>第二阶段：设把</a:t>
            </a:r>
            <a:r>
              <a:rPr lang="en-US" altLang="zh-CN" sz="2400" b="1" i="1" dirty="0"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cs typeface="Times New Roman" panose="02020603050405020304" pitchFamily="18" charset="0"/>
              </a:rPr>
              <a:t>台设备</a:t>
            </a:r>
            <a:r>
              <a:rPr lang="en-US" altLang="zh-CN" sz="2400" b="1" dirty="0"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cs typeface="Times New Roman" panose="02020603050405020304" pitchFamily="18" charset="0"/>
              </a:rPr>
              <a:t>=0,1,2,3,4,5)</a:t>
            </a:r>
            <a:r>
              <a:rPr lang="zh-CN" altLang="en-US" sz="2400" b="1" dirty="0">
                <a:cs typeface="Times New Roman" panose="02020603050405020304" pitchFamily="18" charset="0"/>
              </a:rPr>
              <a:t>分配给工厂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乙</a:t>
            </a:r>
            <a:r>
              <a:rPr lang="zh-CN" altLang="en-US" sz="2400" b="1" dirty="0">
                <a:cs typeface="Times New Roman" panose="02020603050405020304" pitchFamily="18" charset="0"/>
              </a:rPr>
              <a:t>和工厂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丙</a:t>
            </a:r>
            <a:r>
              <a:rPr lang="zh-CN" altLang="en-US" sz="2400" b="1" dirty="0">
                <a:cs typeface="Times New Roman" panose="02020603050405020304" pitchFamily="18" charset="0"/>
              </a:rPr>
              <a:t>时，则对每个</a:t>
            </a:r>
            <a:r>
              <a:rPr lang="en-US" altLang="zh-CN" sz="2400" b="1" i="1" dirty="0"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cs typeface="Times New Roman" panose="02020603050405020304" pitchFamily="18" charset="0"/>
              </a:rPr>
              <a:t>值，有一种最优分配方案，使最大盈利值为</a:t>
            </a:r>
          </a:p>
        </p:txBody>
      </p:sp>
      <p:sp>
        <p:nvSpPr>
          <p:cNvPr id="17413" name="Rectangle 7">
            <a:extLst>
              <a:ext uri="{FF2B5EF4-FFF2-40B4-BE49-F238E27FC236}">
                <a16:creationId xmlns:a16="http://schemas.microsoft.com/office/drawing/2014/main" id="{1753EA07-E811-4F10-8A3A-FA7B65B90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4491038"/>
            <a:ext cx="8032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Arial" panose="020B0604020202020204" pitchFamily="34" charset="0"/>
                <a:cs typeface="Times New Roman" panose="02020603050405020304" pitchFamily="18" charset="0"/>
              </a:rPr>
              <a:t>其中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17416" name="灯片编号占位符 3">
            <a:extLst>
              <a:ext uri="{FF2B5EF4-FFF2-40B4-BE49-F238E27FC236}">
                <a16:creationId xmlns:a16="http://schemas.microsoft.com/office/drawing/2014/main" id="{940A8A50-D96E-45F2-8110-77C6793DF27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1143AC0-C032-4CC8-A702-747F098B7863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7A6E595E-613C-4BAC-9D3E-0D6EDB868225}"/>
              </a:ext>
            </a:extLst>
          </p:cNvPr>
          <p:cNvSpPr txBox="1">
            <a:spLocks/>
          </p:cNvSpPr>
          <p:nvPr/>
        </p:nvSpPr>
        <p:spPr>
          <a:xfrm>
            <a:off x="529926" y="712719"/>
            <a:ext cx="5185074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 </a:t>
            </a:r>
            <a:r>
              <a:rPr lang="en-US" altLang="zh-CN" sz="3600" kern="0" dirty="0"/>
              <a:t>– </a:t>
            </a:r>
            <a:r>
              <a:rPr lang="zh-CN" altLang="en-US" sz="3600" kern="0" dirty="0"/>
              <a:t>算例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>
            <a:extLst>
              <a:ext uri="{FF2B5EF4-FFF2-40B4-BE49-F238E27FC236}">
                <a16:creationId xmlns:a16="http://schemas.microsoft.com/office/drawing/2014/main" id="{0C1E3632-17B9-40A5-A0C5-AF0398296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63" y="1832150"/>
            <a:ext cx="7993062" cy="1677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因为给乙工厂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台，其盈利为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，余下的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台就给丙工厂，则它的盈利最大值为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现要选择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的值，使           </a:t>
            </a:r>
          </a:p>
        </p:txBody>
      </p:sp>
      <p:graphicFrame>
        <p:nvGraphicFramePr>
          <p:cNvPr id="18435" name="Object 3">
            <a:extLst>
              <a:ext uri="{FF2B5EF4-FFF2-40B4-BE49-F238E27FC236}">
                <a16:creationId xmlns:a16="http://schemas.microsoft.com/office/drawing/2014/main" id="{69AF4D53-2C3B-47B9-911B-A745756EE3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733392"/>
              </p:ext>
            </p:extLst>
          </p:nvPr>
        </p:nvGraphicFramePr>
        <p:xfrm>
          <a:off x="2497138" y="3675063"/>
          <a:ext cx="3529012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360" imgH="228600" progId="Equation.DSMT4">
                  <p:embed/>
                </p:oleObj>
              </mc:Choice>
              <mc:Fallback>
                <p:oleObj name="Equation" r:id="rId2" imgW="120636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3675063"/>
                        <a:ext cx="3529012" cy="668337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Rectangle 9">
            <a:extLst>
              <a:ext uri="{FF2B5EF4-FFF2-40B4-BE49-F238E27FC236}">
                <a16:creationId xmlns:a16="http://schemas.microsoft.com/office/drawing/2014/main" id="{8B0BD95E-8FEC-4F99-A8DF-834A6BF2E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572000"/>
            <a:ext cx="17319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取最大值。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8533" name="灯片编号占位符 3">
            <a:extLst>
              <a:ext uri="{FF2B5EF4-FFF2-40B4-BE49-F238E27FC236}">
                <a16:creationId xmlns:a16="http://schemas.microsoft.com/office/drawing/2014/main" id="{2173CF54-E5B1-446E-9D47-1E048CD4D00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5BCD3B1-CDED-45E0-9184-DD8E81B4678D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7A6E595E-613C-4BAC-9D3E-0D6EDB868225}"/>
              </a:ext>
            </a:extLst>
          </p:cNvPr>
          <p:cNvSpPr txBox="1">
            <a:spLocks/>
          </p:cNvSpPr>
          <p:nvPr/>
        </p:nvSpPr>
        <p:spPr>
          <a:xfrm>
            <a:off x="529926" y="712719"/>
            <a:ext cx="5185074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 </a:t>
            </a:r>
            <a:r>
              <a:rPr lang="en-US" altLang="zh-CN" sz="3600" kern="0" dirty="0"/>
              <a:t>– </a:t>
            </a:r>
            <a:r>
              <a:rPr lang="zh-CN" altLang="en-US" sz="3600" kern="0" dirty="0"/>
              <a:t>算例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9">
            <a:extLst>
              <a:ext uri="{FF2B5EF4-FFF2-40B4-BE49-F238E27FC236}">
                <a16:creationId xmlns:a16="http://schemas.microsoft.com/office/drawing/2014/main" id="{1B3EA8CF-8709-4D8D-B25D-F3A6A288B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828800"/>
            <a:ext cx="37593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其数值计算如下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表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所示。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19462" name="Group 6">
            <a:extLst>
              <a:ext uri="{FF2B5EF4-FFF2-40B4-BE49-F238E27FC236}">
                <a16:creationId xmlns:a16="http://schemas.microsoft.com/office/drawing/2014/main" id="{FC0D61F7-27FA-46EF-8020-C765BB4B2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564780"/>
              </p:ext>
            </p:extLst>
          </p:nvPr>
        </p:nvGraphicFramePr>
        <p:xfrm>
          <a:off x="681037" y="2965504"/>
          <a:ext cx="7777163" cy="3222627"/>
        </p:xfrm>
        <a:graphic>
          <a:graphicData uri="http://schemas.openxmlformats.org/drawingml/2006/table">
            <a:tbl>
              <a:tblPr/>
              <a:tblGrid>
                <a:gridCol w="862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262"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0+4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5+0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0+6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5+4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10+0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0+11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5+6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10+4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11+0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0+12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5+11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10+6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11+4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11+0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1,2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0+12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5+12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10+11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11+6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11+4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11+0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21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684" marB="4568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8524" name="Object 92">
            <a:extLst>
              <a:ext uri="{FF2B5EF4-FFF2-40B4-BE49-F238E27FC236}">
                <a16:creationId xmlns:a16="http://schemas.microsoft.com/office/drawing/2014/main" id="{F3EAAFFB-4083-4C8C-96F5-9218EB2DB6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945721"/>
              </p:ext>
            </p:extLst>
          </p:nvPr>
        </p:nvGraphicFramePr>
        <p:xfrm>
          <a:off x="1184275" y="3000429"/>
          <a:ext cx="290512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5315" imgH="228898" progId="">
                  <p:embed/>
                </p:oleObj>
              </mc:Choice>
              <mc:Fallback>
                <p:oleObj r:id="rId2" imgW="165315" imgH="22889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275" y="3000429"/>
                        <a:ext cx="290512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5" name="Object 93">
            <a:extLst>
              <a:ext uri="{FF2B5EF4-FFF2-40B4-BE49-F238E27FC236}">
                <a16:creationId xmlns:a16="http://schemas.microsoft.com/office/drawing/2014/main" id="{54F2D4F4-EB8C-4839-9722-98CDE7527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632639"/>
              </p:ext>
            </p:extLst>
          </p:nvPr>
        </p:nvGraphicFramePr>
        <p:xfrm>
          <a:off x="752475" y="3192517"/>
          <a:ext cx="2889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2599" imgH="228898" progId="">
                  <p:embed/>
                </p:oleObj>
              </mc:Choice>
              <mc:Fallback>
                <p:oleObj r:id="rId4" imgW="152599" imgH="22889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" y="3192517"/>
                        <a:ext cx="28892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6" name="Object 94">
            <a:extLst>
              <a:ext uri="{FF2B5EF4-FFF2-40B4-BE49-F238E27FC236}">
                <a16:creationId xmlns:a16="http://schemas.microsoft.com/office/drawing/2014/main" id="{DB56A60A-C45E-4564-A29D-DD3B71727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434700"/>
              </p:ext>
            </p:extLst>
          </p:nvPr>
        </p:nvGraphicFramePr>
        <p:xfrm>
          <a:off x="3343275" y="2963919"/>
          <a:ext cx="182086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06360" imgH="228600" progId="Equation.DSMT4">
                  <p:embed/>
                </p:oleObj>
              </mc:Choice>
              <mc:Fallback>
                <p:oleObj name="Equation" r:id="rId6" imgW="1206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275" y="2963919"/>
                        <a:ext cx="1820863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7" name="Object 95">
            <a:extLst>
              <a:ext uri="{FF2B5EF4-FFF2-40B4-BE49-F238E27FC236}">
                <a16:creationId xmlns:a16="http://schemas.microsoft.com/office/drawing/2014/main" id="{F35466CD-FB18-4823-929C-7F6B3B1508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19292"/>
              </p:ext>
            </p:extLst>
          </p:nvPr>
        </p:nvGraphicFramePr>
        <p:xfrm>
          <a:off x="6802437" y="3108379"/>
          <a:ext cx="7905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19464" imgH="228799" progId="">
                  <p:embed/>
                </p:oleObj>
              </mc:Choice>
              <mc:Fallback>
                <p:oleObj r:id="rId8" imgW="419464" imgH="22879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437" y="3108379"/>
                        <a:ext cx="7905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8" name="Object 96">
            <a:extLst>
              <a:ext uri="{FF2B5EF4-FFF2-40B4-BE49-F238E27FC236}">
                <a16:creationId xmlns:a16="http://schemas.microsoft.com/office/drawing/2014/main" id="{47D8CA62-D9FA-4ED0-8BB5-40EBB95387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975289"/>
              </p:ext>
            </p:extLst>
          </p:nvPr>
        </p:nvGraphicFramePr>
        <p:xfrm>
          <a:off x="7837488" y="3019481"/>
          <a:ext cx="376237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241200" progId="Equation.DSMT4">
                  <p:embed/>
                </p:oleObj>
              </mc:Choice>
              <mc:Fallback>
                <p:oleObj name="Equation" r:id="rId10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7488" y="3019481"/>
                        <a:ext cx="376237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29" name="Line 100">
            <a:extLst>
              <a:ext uri="{FF2B5EF4-FFF2-40B4-BE49-F238E27FC236}">
                <a16:creationId xmlns:a16="http://schemas.microsoft.com/office/drawing/2014/main" id="{4D192DDD-CE15-427C-B459-3BC97166FC8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0562" y="2963917"/>
            <a:ext cx="8636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533" name="灯片编号占位符 3">
            <a:extLst>
              <a:ext uri="{FF2B5EF4-FFF2-40B4-BE49-F238E27FC236}">
                <a16:creationId xmlns:a16="http://schemas.microsoft.com/office/drawing/2014/main" id="{2173CF54-E5B1-446E-9D47-1E048CD4D00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5BCD3B1-CDED-45E0-9184-DD8E81B4678D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13752"/>
              </p:ext>
            </p:extLst>
          </p:nvPr>
        </p:nvGraphicFramePr>
        <p:xfrm>
          <a:off x="6172200" y="28416"/>
          <a:ext cx="2682084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44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台数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6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6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6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6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6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12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6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12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标题 1">
            <a:extLst>
              <a:ext uri="{FF2B5EF4-FFF2-40B4-BE49-F238E27FC236}">
                <a16:creationId xmlns:a16="http://schemas.microsoft.com/office/drawing/2014/main" id="{7A6E595E-613C-4BAC-9D3E-0D6EDB868225}"/>
              </a:ext>
            </a:extLst>
          </p:cNvPr>
          <p:cNvSpPr txBox="1">
            <a:spLocks/>
          </p:cNvSpPr>
          <p:nvPr/>
        </p:nvSpPr>
        <p:spPr>
          <a:xfrm>
            <a:off x="529926" y="712719"/>
            <a:ext cx="5185074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 </a:t>
            </a:r>
            <a:r>
              <a:rPr lang="en-US" altLang="zh-CN" sz="3600" kern="0" dirty="0"/>
              <a:t>– </a:t>
            </a:r>
            <a:r>
              <a:rPr lang="zh-CN" altLang="en-US" sz="3600" kern="0" dirty="0"/>
              <a:t>算例</a:t>
            </a:r>
          </a:p>
        </p:txBody>
      </p:sp>
      <p:sp>
        <p:nvSpPr>
          <p:cNvPr id="2" name="矩形 1"/>
          <p:cNvSpPr/>
          <p:nvPr/>
        </p:nvSpPr>
        <p:spPr>
          <a:xfrm>
            <a:off x="7696200" y="381000"/>
            <a:ext cx="304800" cy="2061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01637" y="2304904"/>
            <a:ext cx="990600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s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76600" y="3532878"/>
            <a:ext cx="1125485" cy="304294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4800" y="3917268"/>
            <a:ext cx="1160625" cy="2270863"/>
          </a:xfrm>
          <a:prstGeom prst="rect">
            <a:avLst/>
          </a:prstGeom>
        </p:spPr>
      </p:pic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7BC92C1A-B5D7-483A-D878-7A80E0ABEF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960081"/>
              </p:ext>
            </p:extLst>
          </p:nvPr>
        </p:nvGraphicFramePr>
        <p:xfrm>
          <a:off x="3260616" y="2430699"/>
          <a:ext cx="3521184" cy="506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20760" imgH="304560" progId="Equation.DSMT4">
                  <p:embed/>
                </p:oleObj>
              </mc:Choice>
              <mc:Fallback>
                <p:oleObj name="Equation" r:id="rId14" imgW="2120760" imgH="304560" progId="Equation.DSMT4">
                  <p:embed/>
                  <p:pic>
                    <p:nvPicPr>
                      <p:cNvPr id="17410" name="Object 2">
                        <a:extLst>
                          <a:ext uri="{FF2B5EF4-FFF2-40B4-BE49-F238E27FC236}">
                            <a16:creationId xmlns:a16="http://schemas.microsoft.com/office/drawing/2014/main" id="{898CEA78-7299-4550-8FA7-30DCF6F4D3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616" y="2430699"/>
                        <a:ext cx="3521184" cy="506792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箭头: 右 7">
            <a:extLst>
              <a:ext uri="{FF2B5EF4-FFF2-40B4-BE49-F238E27FC236}">
                <a16:creationId xmlns:a16="http://schemas.microsoft.com/office/drawing/2014/main" id="{DF1602A5-7006-760D-D7B2-6F27AFECA67E}"/>
              </a:ext>
            </a:extLst>
          </p:cNvPr>
          <p:cNvSpPr/>
          <p:nvPr/>
        </p:nvSpPr>
        <p:spPr>
          <a:xfrm rot="2399163" flipV="1">
            <a:off x="6781517" y="2653910"/>
            <a:ext cx="387697" cy="2165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0547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6A0F13EB-470B-4DF0-8CF1-3780284B5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2798762"/>
            <a:ext cx="1857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/>
          </a:p>
        </p:txBody>
      </p:sp>
      <p:sp>
        <p:nvSpPr>
          <p:cNvPr id="19459" name="Rectangle 4">
            <a:extLst>
              <a:ext uri="{FF2B5EF4-FFF2-40B4-BE49-F238E27FC236}">
                <a16:creationId xmlns:a16="http://schemas.microsoft.com/office/drawing/2014/main" id="{0B472025-6AFE-4118-9B46-7F8D8A611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2798762"/>
            <a:ext cx="1857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/>
          </a:p>
        </p:txBody>
      </p:sp>
      <p:sp>
        <p:nvSpPr>
          <p:cNvPr id="19460" name="Rectangle 5">
            <a:extLst>
              <a:ext uri="{FF2B5EF4-FFF2-40B4-BE49-F238E27FC236}">
                <a16:creationId xmlns:a16="http://schemas.microsoft.com/office/drawing/2014/main" id="{07D8F91C-A1FA-4666-B9F4-EA2EA6561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0" y="2798762"/>
            <a:ext cx="1841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/>
          </a:p>
        </p:txBody>
      </p:sp>
      <p:sp>
        <p:nvSpPr>
          <p:cNvPr id="19461" name="Rectangle 6">
            <a:extLst>
              <a:ext uri="{FF2B5EF4-FFF2-40B4-BE49-F238E27FC236}">
                <a16:creationId xmlns:a16="http://schemas.microsoft.com/office/drawing/2014/main" id="{6DA49112-0DB8-47CE-B43C-C08D6A2C4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" y="2798762"/>
            <a:ext cx="1841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/>
          </a:p>
        </p:txBody>
      </p:sp>
      <p:sp>
        <p:nvSpPr>
          <p:cNvPr id="19462" name="Rectangle 7">
            <a:extLst>
              <a:ext uri="{FF2B5EF4-FFF2-40B4-BE49-F238E27FC236}">
                <a16:creationId xmlns:a16="http://schemas.microsoft.com/office/drawing/2014/main" id="{620D5D19-5E08-4340-BD00-D47C8F87E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" y="2798762"/>
            <a:ext cx="1841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/>
          </a:p>
        </p:txBody>
      </p:sp>
      <p:graphicFrame>
        <p:nvGraphicFramePr>
          <p:cNvPr id="19463" name="Object 7">
            <a:extLst>
              <a:ext uri="{FF2B5EF4-FFF2-40B4-BE49-F238E27FC236}">
                <a16:creationId xmlns:a16="http://schemas.microsoft.com/office/drawing/2014/main" id="{DDA89E35-9DD5-4877-BA32-DB965049ED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8276"/>
              </p:ext>
            </p:extLst>
          </p:nvPr>
        </p:nvGraphicFramePr>
        <p:xfrm>
          <a:off x="2293938" y="3460750"/>
          <a:ext cx="46799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520" imgH="304560" progId="Equation.DSMT4">
                  <p:embed/>
                </p:oleObj>
              </mc:Choice>
              <mc:Fallback>
                <p:oleObj name="Equation" r:id="rId2" imgW="1955520" imgH="3045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938" y="3460750"/>
                        <a:ext cx="4679950" cy="73025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>
            <a:extLst>
              <a:ext uri="{FF2B5EF4-FFF2-40B4-BE49-F238E27FC236}">
                <a16:creationId xmlns:a16="http://schemas.microsoft.com/office/drawing/2014/main" id="{D4AE6817-DCC0-4B12-8A54-261FBC0443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472459"/>
              </p:ext>
            </p:extLst>
          </p:nvPr>
        </p:nvGraphicFramePr>
        <p:xfrm>
          <a:off x="2490787" y="4419600"/>
          <a:ext cx="22320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960" imgH="228600" progId="Equation.DSMT4">
                  <p:embed/>
                </p:oleObj>
              </mc:Choice>
              <mc:Fallback>
                <p:oleObj name="Equation" r:id="rId4" imgW="100296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7" y="4419600"/>
                        <a:ext cx="2232025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Rectangle 16">
            <a:extLst>
              <a:ext uri="{FF2B5EF4-FFF2-40B4-BE49-F238E27FC236}">
                <a16:creationId xmlns:a16="http://schemas.microsoft.com/office/drawing/2014/main" id="{871B1083-FCD6-40FE-B6A3-2800DC0CC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2116137"/>
            <a:ext cx="76327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b="1" dirty="0">
                <a:cs typeface="Times New Roman" panose="02020603050405020304" pitchFamily="18" charset="0"/>
              </a:rPr>
              <a:t>第一阶段：设把</a:t>
            </a:r>
            <a:r>
              <a:rPr lang="en-US" altLang="zh-CN" sz="2400" b="1" i="1" dirty="0"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cs typeface="Times New Roman" panose="02020603050405020304" pitchFamily="18" charset="0"/>
              </a:rPr>
              <a:t>台</a:t>
            </a:r>
            <a:r>
              <a:rPr lang="en-US" altLang="zh-CN" sz="2400" b="1" dirty="0"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cs typeface="Times New Roman" panose="02020603050405020304" pitchFamily="18" charset="0"/>
              </a:rPr>
              <a:t>此时，</a:t>
            </a:r>
            <a:r>
              <a:rPr lang="en-US" altLang="zh-CN" sz="2400" b="1" i="1" dirty="0"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cs typeface="Times New Roman" panose="02020603050405020304" pitchFamily="18" charset="0"/>
              </a:rPr>
              <a:t>=5)</a:t>
            </a:r>
            <a:r>
              <a:rPr lang="zh-CN" altLang="en-US" sz="2400" b="1" dirty="0">
                <a:cs typeface="Times New Roman" panose="02020603050405020304" pitchFamily="18" charset="0"/>
              </a:rPr>
              <a:t>设备分配给甲、乙、丙三个工厂时，则最大盈利值为</a:t>
            </a:r>
          </a:p>
        </p:txBody>
      </p:sp>
      <p:sp>
        <p:nvSpPr>
          <p:cNvPr id="19466" name="Rectangle 17">
            <a:extLst>
              <a:ext uri="{FF2B5EF4-FFF2-40B4-BE49-F238E27FC236}">
                <a16:creationId xmlns:a16="http://schemas.microsoft.com/office/drawing/2014/main" id="{D42702B7-A2ED-4965-9D69-E1A85F732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" y="2828925"/>
            <a:ext cx="11080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cs typeface="Times New Roman" panose="02020603050405020304" pitchFamily="18" charset="0"/>
              </a:rPr>
              <a:t>	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19467" name="Rectangle 18">
            <a:extLst>
              <a:ext uri="{FF2B5EF4-FFF2-40B4-BE49-F238E27FC236}">
                <a16:creationId xmlns:a16="http://schemas.microsoft.com/office/drawing/2014/main" id="{8FC1B53E-CDDD-440E-9B5E-D881A0EF5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787" y="4449762"/>
            <a:ext cx="8048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Arial" panose="020B0604020202020204" pitchFamily="34" charset="0"/>
                <a:cs typeface="Times New Roman" panose="02020603050405020304" pitchFamily="18" charset="0"/>
              </a:rPr>
              <a:t>其中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9468" name="Rectangle 21">
            <a:extLst>
              <a:ext uri="{FF2B5EF4-FFF2-40B4-BE49-F238E27FC236}">
                <a16:creationId xmlns:a16="http://schemas.microsoft.com/office/drawing/2014/main" id="{FC1E9205-F1C3-40C8-BE91-B1CEC935F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192337"/>
            <a:ext cx="18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69" name="Rectangle 22">
            <a:extLst>
              <a:ext uri="{FF2B5EF4-FFF2-40B4-BE49-F238E27FC236}">
                <a16:creationId xmlns:a16="http://schemas.microsoft.com/office/drawing/2014/main" id="{28712FC8-160F-4E70-A01C-B1EC192B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192337"/>
            <a:ext cx="18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70" name="Rectangle 23">
            <a:extLst>
              <a:ext uri="{FF2B5EF4-FFF2-40B4-BE49-F238E27FC236}">
                <a16:creationId xmlns:a16="http://schemas.microsoft.com/office/drawing/2014/main" id="{AC5D7426-D4A0-455C-A24D-C7CCC4C9C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7" y="2192337"/>
            <a:ext cx="1857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71" name="Rectangle 24">
            <a:extLst>
              <a:ext uri="{FF2B5EF4-FFF2-40B4-BE49-F238E27FC236}">
                <a16:creationId xmlns:a16="http://schemas.microsoft.com/office/drawing/2014/main" id="{5DD20625-E9F4-4DCB-B0BC-52FC80A70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192337"/>
            <a:ext cx="1857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72" name="Rectangle 25">
            <a:extLst>
              <a:ext uri="{FF2B5EF4-FFF2-40B4-BE49-F238E27FC236}">
                <a16:creationId xmlns:a16="http://schemas.microsoft.com/office/drawing/2014/main" id="{089C2D29-CE7D-4188-A96E-9EAB76E5B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192337"/>
            <a:ext cx="1857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75" name="灯片编号占位符 3">
            <a:extLst>
              <a:ext uri="{FF2B5EF4-FFF2-40B4-BE49-F238E27FC236}">
                <a16:creationId xmlns:a16="http://schemas.microsoft.com/office/drawing/2014/main" id="{C8DE8269-5F8B-4226-9840-2388E94FDEC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86307C8-C25A-4FF6-B471-960899CBE1EE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7A6E595E-613C-4BAC-9D3E-0D6EDB868225}"/>
              </a:ext>
            </a:extLst>
          </p:cNvPr>
          <p:cNvSpPr txBox="1">
            <a:spLocks/>
          </p:cNvSpPr>
          <p:nvPr/>
        </p:nvSpPr>
        <p:spPr>
          <a:xfrm>
            <a:off x="529926" y="712719"/>
            <a:ext cx="5185074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 </a:t>
            </a:r>
            <a:r>
              <a:rPr lang="en-US" altLang="zh-CN" sz="3600" kern="0" dirty="0"/>
              <a:t>– </a:t>
            </a:r>
            <a:r>
              <a:rPr lang="zh-CN" altLang="en-US" sz="3600" kern="0" dirty="0"/>
              <a:t>算例</a:t>
            </a:r>
          </a:p>
        </p:txBody>
      </p:sp>
      <p:sp>
        <p:nvSpPr>
          <p:cNvPr id="2" name="椭圆形标注 1"/>
          <p:cNvSpPr/>
          <p:nvPr/>
        </p:nvSpPr>
        <p:spPr>
          <a:xfrm>
            <a:off x="6477000" y="955641"/>
            <a:ext cx="1295400" cy="838200"/>
          </a:xfrm>
          <a:prstGeom prst="wedgeEllipseCallout">
            <a:avLst>
              <a:gd name="adj1" fmla="val -117090"/>
              <a:gd name="adj2" fmla="val 1065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初始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状态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9">
            <a:extLst>
              <a:ext uri="{FF2B5EF4-FFF2-40B4-BE49-F238E27FC236}">
                <a16:creationId xmlns:a16="http://schemas.microsoft.com/office/drawing/2014/main" id="{84B98B82-0BAD-460C-A0B2-281C60D30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716725"/>
            <a:ext cx="80645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 algn="just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因为给甲工厂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台，其盈利为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，剩下的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5−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台就分给乙和丙两个工厂，则它的盈利最大值为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(5−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。现要选择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值，使取                         最大值，它就是所求的总盈利最大值，其数值计算如下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所示。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E0F6C53-5C29-4026-A0B6-9FD7DF796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2459038"/>
            <a:ext cx="1841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4A0335D3-A3BB-4999-BA15-50AAC4691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2459038"/>
            <a:ext cx="1841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1316EAAC-04A4-4898-8D55-80F98115D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513" y="2459038"/>
            <a:ext cx="1857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/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2727F755-3551-4C9B-89CB-4C6280976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2459038"/>
            <a:ext cx="1857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8D9E348E-E6E8-4AD7-A06D-47E5CBC9B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2459038"/>
            <a:ext cx="1857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/>
          </a:p>
        </p:txBody>
      </p:sp>
      <p:graphicFrame>
        <p:nvGraphicFramePr>
          <p:cNvPr id="20488" name="Object 8">
            <a:extLst>
              <a:ext uri="{FF2B5EF4-FFF2-40B4-BE49-F238E27FC236}">
                <a16:creationId xmlns:a16="http://schemas.microsoft.com/office/drawing/2014/main" id="{C57B3199-96B0-4FE4-B82E-F7F33D089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694663"/>
              </p:ext>
            </p:extLst>
          </p:nvPr>
        </p:nvGraphicFramePr>
        <p:xfrm>
          <a:off x="2213769" y="2951917"/>
          <a:ext cx="2057400" cy="513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92200" imgH="228600" progId="">
                  <p:embed/>
                </p:oleObj>
              </mc:Choice>
              <mc:Fallback>
                <p:oleObj r:id="rId2" imgW="1092200" imgH="2286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3769" y="2951917"/>
                        <a:ext cx="2057400" cy="513541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Rectangle 17">
            <a:extLst>
              <a:ext uri="{FF2B5EF4-FFF2-40B4-BE49-F238E27FC236}">
                <a16:creationId xmlns:a16="http://schemas.microsoft.com/office/drawing/2014/main" id="{C8CEFE87-A1AA-4179-A4C3-55F64CE1A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489200"/>
            <a:ext cx="11080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cs typeface="Times New Roman" panose="02020603050405020304" pitchFamily="18" charset="0"/>
              </a:rPr>
              <a:t>	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20490" name="Rectangle 21">
            <a:extLst>
              <a:ext uri="{FF2B5EF4-FFF2-40B4-BE49-F238E27FC236}">
                <a16:creationId xmlns:a16="http://schemas.microsoft.com/office/drawing/2014/main" id="{70B255B3-23DB-4717-8C5D-8F4B5A019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1949450"/>
            <a:ext cx="18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91" name="Rectangle 22">
            <a:extLst>
              <a:ext uri="{FF2B5EF4-FFF2-40B4-BE49-F238E27FC236}">
                <a16:creationId xmlns:a16="http://schemas.microsoft.com/office/drawing/2014/main" id="{56760F77-8873-4089-B64B-1C7288CCC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1949450"/>
            <a:ext cx="18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92" name="Rectangle 23">
            <a:extLst>
              <a:ext uri="{FF2B5EF4-FFF2-40B4-BE49-F238E27FC236}">
                <a16:creationId xmlns:a16="http://schemas.microsoft.com/office/drawing/2014/main" id="{E0506512-F942-4209-9A8A-C5422642C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075" y="1949450"/>
            <a:ext cx="1857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93" name="Rectangle 24">
            <a:extLst>
              <a:ext uri="{FF2B5EF4-FFF2-40B4-BE49-F238E27FC236}">
                <a16:creationId xmlns:a16="http://schemas.microsoft.com/office/drawing/2014/main" id="{1C5E6D27-B230-4C4C-ABD4-E7C56321C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1949450"/>
            <a:ext cx="1857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94" name="Rectangle 25">
            <a:extLst>
              <a:ext uri="{FF2B5EF4-FFF2-40B4-BE49-F238E27FC236}">
                <a16:creationId xmlns:a16="http://schemas.microsoft.com/office/drawing/2014/main" id="{6D24B00F-789E-45B0-8C03-BC83F94B7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1949450"/>
            <a:ext cx="1857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1519" name="Group 15">
            <a:extLst>
              <a:ext uri="{FF2B5EF4-FFF2-40B4-BE49-F238E27FC236}">
                <a16:creationId xmlns:a16="http://schemas.microsoft.com/office/drawing/2014/main" id="{C1FCE030-B6F1-4ABE-9890-192C8299A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705843"/>
              </p:ext>
            </p:extLst>
          </p:nvPr>
        </p:nvGraphicFramePr>
        <p:xfrm>
          <a:off x="993775" y="4332288"/>
          <a:ext cx="7096125" cy="1371600"/>
        </p:xfrm>
        <a:graphic>
          <a:graphicData uri="http://schemas.openxmlformats.org/drawingml/2006/table">
            <a:tbl>
              <a:tblPr/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9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89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89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0+21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3+16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7+14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9+10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12+5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13+0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21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黑体" pitchFamily="49" charset="-122"/>
                          <a:cs typeface="Times New Roman" pitchFamily="18" charset="0"/>
                        </a:rPr>
                        <a:t>0,2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532" name="Object 52">
            <a:extLst>
              <a:ext uri="{FF2B5EF4-FFF2-40B4-BE49-F238E27FC236}">
                <a16:creationId xmlns:a16="http://schemas.microsoft.com/office/drawing/2014/main" id="{1DD2BD5C-EF90-40BE-9AB7-995BDC4D3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0650" y="4313238"/>
          <a:ext cx="3079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2599" imgH="228898" progId="">
                  <p:embed/>
                </p:oleObj>
              </mc:Choice>
              <mc:Fallback>
                <p:oleObj r:id="rId4" imgW="152599" imgH="228898" progId="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4313238"/>
                        <a:ext cx="3079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3" name="Object 53">
            <a:extLst>
              <a:ext uri="{FF2B5EF4-FFF2-40B4-BE49-F238E27FC236}">
                <a16:creationId xmlns:a16="http://schemas.microsoft.com/office/drawing/2014/main" id="{746B0AE6-DB66-4564-9207-8BC5A2BB15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8238" y="4692650"/>
          <a:ext cx="271462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9943" imgH="228998" progId="">
                  <p:embed/>
                </p:oleObj>
              </mc:Choice>
              <mc:Fallback>
                <p:oleObj r:id="rId6" imgW="139943" imgH="228998" progId="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4692650"/>
                        <a:ext cx="271462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4" name="Object 54">
            <a:extLst>
              <a:ext uri="{FF2B5EF4-FFF2-40B4-BE49-F238E27FC236}">
                <a16:creationId xmlns:a16="http://schemas.microsoft.com/office/drawing/2014/main" id="{8D532436-4A76-4E38-803B-B5B138D494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3288" y="4416425"/>
          <a:ext cx="1655762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92200" imgH="228600" progId="">
                  <p:embed/>
                </p:oleObj>
              </mc:Choice>
              <mc:Fallback>
                <p:oleObj r:id="rId8" imgW="1092200" imgH="228600" progId="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88" y="4416425"/>
                        <a:ext cx="1655762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5" name="Object 55">
            <a:extLst>
              <a:ext uri="{FF2B5EF4-FFF2-40B4-BE49-F238E27FC236}">
                <a16:creationId xmlns:a16="http://schemas.microsoft.com/office/drawing/2014/main" id="{0D2CC1C7-E7E3-4793-8090-9918E8441F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0350" y="4525963"/>
          <a:ext cx="576263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43198" imgH="228799" progId="">
                  <p:embed/>
                </p:oleObj>
              </mc:Choice>
              <mc:Fallback>
                <p:oleObj r:id="rId10" imgW="343198" imgH="228799" progId="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350" y="4525963"/>
                        <a:ext cx="576263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6" name="Object 56">
            <a:extLst>
              <a:ext uri="{FF2B5EF4-FFF2-40B4-BE49-F238E27FC236}">
                <a16:creationId xmlns:a16="http://schemas.microsoft.com/office/drawing/2014/main" id="{7E987090-266E-4540-A5D6-70A533CEE0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6975" y="4403725"/>
          <a:ext cx="36036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65243" imgH="241510" progId="">
                  <p:embed/>
                </p:oleObj>
              </mc:Choice>
              <mc:Fallback>
                <p:oleObj r:id="rId12" imgW="165243" imgH="241510" progId="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6975" y="4403725"/>
                        <a:ext cx="360363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7" name="Line 64">
            <a:extLst>
              <a:ext uri="{FF2B5EF4-FFF2-40B4-BE49-F238E27FC236}">
                <a16:creationId xmlns:a16="http://schemas.microsoft.com/office/drawing/2014/main" id="{84B0B18D-4404-4D17-BA70-EAB103D236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93775" y="4405313"/>
            <a:ext cx="792163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541" name="灯片编号占位符 3">
            <a:extLst>
              <a:ext uri="{FF2B5EF4-FFF2-40B4-BE49-F238E27FC236}">
                <a16:creationId xmlns:a16="http://schemas.microsoft.com/office/drawing/2014/main" id="{923D72C1-61AC-463C-83E0-FB4A9A2318E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382000" y="6356350"/>
            <a:ext cx="565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13F383A-DBC2-47D3-AC0A-F6E22BE927A5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7A6E595E-613C-4BAC-9D3E-0D6EDB868225}"/>
              </a:ext>
            </a:extLst>
          </p:cNvPr>
          <p:cNvSpPr txBox="1">
            <a:spLocks/>
          </p:cNvSpPr>
          <p:nvPr/>
        </p:nvSpPr>
        <p:spPr>
          <a:xfrm>
            <a:off x="529926" y="712719"/>
            <a:ext cx="5185074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 </a:t>
            </a:r>
            <a:r>
              <a:rPr lang="en-US" altLang="zh-CN" sz="3600" kern="0" dirty="0"/>
              <a:t>– </a:t>
            </a:r>
            <a:r>
              <a:rPr lang="zh-CN" altLang="en-US" sz="3600" kern="0" dirty="0"/>
              <a:t>算例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5179" y="304386"/>
            <a:ext cx="1944130" cy="3720663"/>
          </a:xfrm>
          <a:prstGeom prst="rect">
            <a:avLst/>
          </a:prstGeom>
          <a:ln w="28575">
            <a:solidFill>
              <a:srgbClr val="002060"/>
            </a:solidFill>
          </a:ln>
        </p:spPr>
      </p:pic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647A3331-C643-451C-B02A-44B68FC134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857430"/>
              </p:ext>
            </p:extLst>
          </p:nvPr>
        </p:nvGraphicFramePr>
        <p:xfrm>
          <a:off x="4316360" y="6248400"/>
          <a:ext cx="3521184" cy="506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20760" imgH="304560" progId="Equation.DSMT4">
                  <p:embed/>
                </p:oleObj>
              </mc:Choice>
              <mc:Fallback>
                <p:oleObj name="Equation" r:id="rId15" imgW="2120760" imgH="304560" progId="Equation.DSMT4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7BC92C1A-B5D7-483A-D878-7A80E0ABEF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bright="-40000" contrast="-4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360" y="6248400"/>
                        <a:ext cx="3521184" cy="506792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箭头: 右 3">
            <a:extLst>
              <a:ext uri="{FF2B5EF4-FFF2-40B4-BE49-F238E27FC236}">
                <a16:creationId xmlns:a16="http://schemas.microsoft.com/office/drawing/2014/main" id="{A3C14608-5C2B-23F9-AD6A-D2C17947FE7D}"/>
              </a:ext>
            </a:extLst>
          </p:cNvPr>
          <p:cNvSpPr/>
          <p:nvPr/>
        </p:nvSpPr>
        <p:spPr>
          <a:xfrm rot="16200000" flipV="1">
            <a:off x="6704632" y="5831310"/>
            <a:ext cx="387697" cy="2165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2">
            <a:extLst>
              <a:ext uri="{FF2B5EF4-FFF2-40B4-BE49-F238E27FC236}">
                <a16:creationId xmlns:a16="http://schemas.microsoft.com/office/drawing/2014/main" id="{CE89ED5D-836D-465A-B26D-8A5FEDA03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" y="4930775"/>
            <a:ext cx="76327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2400" b="1" dirty="0"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cs typeface="Times New Roman" panose="02020603050405020304" pitchFamily="18" charset="0"/>
              </a:rPr>
              <a:t>故                 即得甲工厂分配</a:t>
            </a:r>
            <a:r>
              <a:rPr lang="en-US" altLang="zh-CN" sz="2400" b="1" dirty="0"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cs typeface="Times New Roman" panose="02020603050405020304" pitchFamily="18" charset="0"/>
              </a:rPr>
              <a:t>台，乙工厂分配</a:t>
            </a:r>
            <a:r>
              <a:rPr lang="en-US" altLang="zh-CN" sz="2400" b="1" dirty="0"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cs typeface="Times New Roman" panose="02020603050405020304" pitchFamily="18" charset="0"/>
              </a:rPr>
              <a:t>台，丙工厂分配</a:t>
            </a:r>
            <a:r>
              <a:rPr lang="en-US" altLang="zh-CN" sz="2400" b="1" dirty="0"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cs typeface="Times New Roman" panose="02020603050405020304" pitchFamily="18" charset="0"/>
              </a:rPr>
              <a:t>台。</a:t>
            </a:r>
          </a:p>
        </p:txBody>
      </p:sp>
      <p:graphicFrame>
        <p:nvGraphicFramePr>
          <p:cNvPr id="21507" name="Object 3">
            <a:extLst>
              <a:ext uri="{FF2B5EF4-FFF2-40B4-BE49-F238E27FC236}">
                <a16:creationId xmlns:a16="http://schemas.microsoft.com/office/drawing/2014/main" id="{24BAF81C-77E0-432D-9600-8F91EDA619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46705"/>
              </p:ext>
            </p:extLst>
          </p:nvPr>
        </p:nvGraphicFramePr>
        <p:xfrm>
          <a:off x="3276600" y="2971800"/>
          <a:ext cx="28797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46785" imgH="241405" progId="">
                  <p:embed/>
                </p:oleObj>
              </mc:Choice>
              <mc:Fallback>
                <p:oleObj r:id="rId2" imgW="1346785" imgH="241405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971800"/>
                        <a:ext cx="28797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>
            <a:extLst>
              <a:ext uri="{FF2B5EF4-FFF2-40B4-BE49-F238E27FC236}">
                <a16:creationId xmlns:a16="http://schemas.microsoft.com/office/drawing/2014/main" id="{3623A1C6-698E-4B98-9BE7-54083B7A40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142596"/>
              </p:ext>
            </p:extLst>
          </p:nvPr>
        </p:nvGraphicFramePr>
        <p:xfrm>
          <a:off x="3276600" y="4292600"/>
          <a:ext cx="324167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58900" imgH="241300" progId="">
                  <p:embed/>
                </p:oleObj>
              </mc:Choice>
              <mc:Fallback>
                <p:oleObj r:id="rId4" imgW="1358900" imgH="2413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292600"/>
                        <a:ext cx="324167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>
            <a:extLst>
              <a:ext uri="{FF2B5EF4-FFF2-40B4-BE49-F238E27FC236}">
                <a16:creationId xmlns:a16="http://schemas.microsoft.com/office/drawing/2014/main" id="{40B42656-3CDB-4C97-80D9-20B388CD98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37153"/>
              </p:ext>
            </p:extLst>
          </p:nvPr>
        </p:nvGraphicFramePr>
        <p:xfrm>
          <a:off x="1908175" y="4930775"/>
          <a:ext cx="1500188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73392" imgH="241405" progId="">
                  <p:embed/>
                </p:oleObj>
              </mc:Choice>
              <mc:Fallback>
                <p:oleObj r:id="rId6" imgW="673392" imgH="241405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930775"/>
                        <a:ext cx="1500188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Rectangle 9">
            <a:extLst>
              <a:ext uri="{FF2B5EF4-FFF2-40B4-BE49-F238E27FC236}">
                <a16:creationId xmlns:a16="http://schemas.microsoft.com/office/drawing/2014/main" id="{E9110029-5FEB-4A14-8B96-49843CB5A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926" y="1753629"/>
            <a:ext cx="7848600" cy="486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 algn="just">
              <a:lnSpc>
                <a:spcPct val="120000"/>
              </a:lnSpc>
            </a:pPr>
            <a:r>
              <a:rPr lang="zh-CN" altLang="en-US" sz="2400" b="1" dirty="0">
                <a:cs typeface="Times New Roman" panose="02020603050405020304" pitchFamily="18" charset="0"/>
              </a:rPr>
              <a:t>根据计算表格的顺序反推算，可知最优分配方案有两个。</a:t>
            </a:r>
          </a:p>
        </p:txBody>
      </p:sp>
      <p:sp>
        <p:nvSpPr>
          <p:cNvPr id="21511" name="Rectangle 10">
            <a:extLst>
              <a:ext uri="{FF2B5EF4-FFF2-40B4-BE49-F238E27FC236}">
                <a16:creationId xmlns:a16="http://schemas.microsoft.com/office/drawing/2014/main" id="{655AA73E-DFDF-4705-A283-D521638A8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3749030"/>
            <a:ext cx="28552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知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= 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，由</a:t>
            </a:r>
          </a:p>
        </p:txBody>
      </p:sp>
      <p:sp>
        <p:nvSpPr>
          <p:cNvPr id="21514" name="灯片编号占位符 3">
            <a:extLst>
              <a:ext uri="{FF2B5EF4-FFF2-40B4-BE49-F238E27FC236}">
                <a16:creationId xmlns:a16="http://schemas.microsoft.com/office/drawing/2014/main" id="{B92789A7-FFF7-41F4-86F1-6B04E19D822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4036F85-9027-4D02-97C8-9A8AEB76EEC6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A6E595E-613C-4BAC-9D3E-0D6EDB868225}"/>
              </a:ext>
            </a:extLst>
          </p:cNvPr>
          <p:cNvSpPr txBox="1">
            <a:spLocks/>
          </p:cNvSpPr>
          <p:nvPr/>
        </p:nvSpPr>
        <p:spPr>
          <a:xfrm>
            <a:off x="529926" y="712719"/>
            <a:ext cx="5185074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 </a:t>
            </a:r>
            <a:r>
              <a:rPr lang="en-US" altLang="zh-CN" sz="3600" kern="0" dirty="0"/>
              <a:t>– </a:t>
            </a:r>
            <a:r>
              <a:rPr lang="zh-CN" altLang="en-US" sz="3600" kern="0" dirty="0"/>
              <a:t>算例</a:t>
            </a: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04D5A30C-6D1D-2BA8-4507-B1F0C6920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85" y="2359412"/>
            <a:ext cx="4388915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*=0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，根据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5">
            <a:extLst>
              <a:ext uri="{FF2B5EF4-FFF2-40B4-BE49-F238E27FC236}">
                <a16:creationId xmlns:a16="http://schemas.microsoft.com/office/drawing/2014/main" id="{9104810C-3E05-4916-A128-C4BFAE025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3" y="4114800"/>
            <a:ext cx="7775575" cy="1123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dirty="0"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cs typeface="Times New Roman" panose="02020603050405020304" pitchFamily="18" charset="0"/>
              </a:rPr>
              <a:t>故                     即得甲工厂分配</a:t>
            </a:r>
            <a:r>
              <a:rPr lang="en-US" altLang="zh-CN" sz="2400" b="1" dirty="0"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cs typeface="Times New Roman" panose="02020603050405020304" pitchFamily="18" charset="0"/>
              </a:rPr>
              <a:t>台，乙工厂分配</a:t>
            </a:r>
            <a:r>
              <a:rPr lang="en-US" altLang="zh-CN" sz="2400" b="1" dirty="0"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cs typeface="Times New Roman" panose="02020603050405020304" pitchFamily="18" charset="0"/>
              </a:rPr>
              <a:t>台，丙工厂分配</a:t>
            </a:r>
            <a:r>
              <a:rPr lang="en-US" altLang="zh-CN" sz="2400" b="1" dirty="0"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cs typeface="Times New Roman" panose="02020603050405020304" pitchFamily="18" charset="0"/>
              </a:rPr>
              <a:t>台。</a:t>
            </a:r>
          </a:p>
        </p:txBody>
      </p:sp>
      <p:graphicFrame>
        <p:nvGraphicFramePr>
          <p:cNvPr id="22531" name="Object 3">
            <a:extLst>
              <a:ext uri="{FF2B5EF4-FFF2-40B4-BE49-F238E27FC236}">
                <a16:creationId xmlns:a16="http://schemas.microsoft.com/office/drawing/2014/main" id="{3BFF7698-0B15-4BF3-99CE-1BAEBC135C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586966"/>
              </p:ext>
            </p:extLst>
          </p:nvPr>
        </p:nvGraphicFramePr>
        <p:xfrm>
          <a:off x="3205163" y="2197100"/>
          <a:ext cx="309721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46785" imgH="241405" progId="">
                  <p:embed/>
                </p:oleObj>
              </mc:Choice>
              <mc:Fallback>
                <p:oleObj r:id="rId2" imgW="1346785" imgH="241405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3" y="2197100"/>
                        <a:ext cx="3097212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>
            <a:extLst>
              <a:ext uri="{FF2B5EF4-FFF2-40B4-BE49-F238E27FC236}">
                <a16:creationId xmlns:a16="http://schemas.microsoft.com/office/drawing/2014/main" id="{2161FB57-8264-476F-9BB1-E254EE2285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161555"/>
              </p:ext>
            </p:extLst>
          </p:nvPr>
        </p:nvGraphicFramePr>
        <p:xfrm>
          <a:off x="3133725" y="3205162"/>
          <a:ext cx="345757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34079" imgH="241405" progId="">
                  <p:embed/>
                </p:oleObj>
              </mc:Choice>
              <mc:Fallback>
                <p:oleObj r:id="rId4" imgW="1334079" imgH="241405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725" y="3205162"/>
                        <a:ext cx="3457575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E4FF73E9-1A9C-4E61-BA72-545A46AB0D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549231"/>
              </p:ext>
            </p:extLst>
          </p:nvPr>
        </p:nvGraphicFramePr>
        <p:xfrm>
          <a:off x="2057400" y="4099719"/>
          <a:ext cx="158432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48263" imgH="241510" progId="">
                  <p:embed/>
                </p:oleObj>
              </mc:Choice>
              <mc:Fallback>
                <p:oleObj r:id="rId6" imgW="648263" imgH="24151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40000" contrast="-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099719"/>
                        <a:ext cx="158432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13">
            <a:extLst>
              <a:ext uri="{FF2B5EF4-FFF2-40B4-BE49-F238E27FC236}">
                <a16:creationId xmlns:a16="http://schemas.microsoft.com/office/drawing/2014/main" id="{610F775D-E7DB-4B40-918A-152172A2D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3" y="2816225"/>
            <a:ext cx="40338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知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*=2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，由</a:t>
            </a:r>
          </a:p>
        </p:txBody>
      </p:sp>
      <p:sp>
        <p:nvSpPr>
          <p:cNvPr id="22538" name="日期占位符 1">
            <a:extLst>
              <a:ext uri="{FF2B5EF4-FFF2-40B4-BE49-F238E27FC236}">
                <a16:creationId xmlns:a16="http://schemas.microsoft.com/office/drawing/2014/main" id="{EB55B485-E99C-4DB7-B5F9-E88A02B4A79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116205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8F68C49B-9A9E-46F1-9870-F2F61938B6BE}" type="datetime1">
              <a:rPr lang="zh-CN" altLang="en-US" sz="1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2024/12/15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2539" name="灯片编号占位符 3">
            <a:extLst>
              <a:ext uri="{FF2B5EF4-FFF2-40B4-BE49-F238E27FC236}">
                <a16:creationId xmlns:a16="http://schemas.microsoft.com/office/drawing/2014/main" id="{E359C6BE-0923-4576-8A9B-76334A51E23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04215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81CBCF1-73A3-40EA-A434-66652CCA24EE}" type="slidenum">
              <a:rPr lang="en-US" altLang="zh-CN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9104810C-3E05-4916-A128-C4BFAE025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486400"/>
            <a:ext cx="6808787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b="1" dirty="0">
                <a:cs typeface="Times New Roman" panose="02020603050405020304" pitchFamily="18" charset="0"/>
              </a:rPr>
              <a:t>以上两个分配方案所得到的总盈利均为</a:t>
            </a:r>
            <a:r>
              <a:rPr lang="en-US" altLang="zh-CN" sz="2400" b="1" dirty="0">
                <a:cs typeface="Times New Roman" panose="02020603050405020304" pitchFamily="18" charset="0"/>
              </a:rPr>
              <a:t>21</a:t>
            </a:r>
            <a:r>
              <a:rPr lang="zh-CN" altLang="en-US" sz="2400" b="1" dirty="0">
                <a:cs typeface="Times New Roman" panose="02020603050405020304" pitchFamily="18" charset="0"/>
              </a:rPr>
              <a:t>万元。 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7A6E595E-613C-4BAC-9D3E-0D6EDB868225}"/>
              </a:ext>
            </a:extLst>
          </p:cNvPr>
          <p:cNvSpPr txBox="1">
            <a:spLocks/>
          </p:cNvSpPr>
          <p:nvPr/>
        </p:nvSpPr>
        <p:spPr>
          <a:xfrm>
            <a:off x="529926" y="712719"/>
            <a:ext cx="5185074" cy="758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3600" kern="0" dirty="0"/>
              <a:t>1.</a:t>
            </a:r>
            <a:r>
              <a:rPr lang="zh-CN" altLang="en-US" sz="3600" kern="0" dirty="0"/>
              <a:t>资源分配问题 </a:t>
            </a:r>
            <a:r>
              <a:rPr lang="en-US" altLang="zh-CN" sz="3600" kern="0" dirty="0"/>
              <a:t>– </a:t>
            </a:r>
            <a:r>
              <a:rPr lang="zh-CN" altLang="en-US" sz="3600" kern="0" dirty="0"/>
              <a:t>算例</a:t>
            </a: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9A07F742-205C-DBBB-7E5E-67596E7C3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926" y="1745388"/>
            <a:ext cx="4388915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*=2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，根据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6663</TotalTime>
  <Words>1320</Words>
  <Application>Microsoft Office PowerPoint</Application>
  <PresentationFormat>全屏显示(4:3)</PresentationFormat>
  <Paragraphs>221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黑体</vt:lpstr>
      <vt:lpstr>宋体</vt:lpstr>
      <vt:lpstr>Arial</vt:lpstr>
      <vt:lpstr>Calibri</vt:lpstr>
      <vt:lpstr>Tahoma</vt:lpstr>
      <vt:lpstr>Times New Roman</vt:lpstr>
      <vt:lpstr>Verdana</vt:lpstr>
      <vt:lpstr>Wingdings</vt:lpstr>
      <vt:lpstr>Profile</vt:lpstr>
      <vt:lpstr>Equation</vt:lpstr>
      <vt:lpstr>第8章  动态规划应用举例</vt:lpstr>
      <vt:lpstr>1.资源分配问题</vt:lpstr>
      <vt:lpstr>1.资源分配问题</vt:lpstr>
      <vt:lpstr>1.资源分配问题</vt:lpstr>
      <vt:lpstr>PowerPoint 演示文稿</vt:lpstr>
      <vt:lpstr>  动态规划模型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think</dc:creator>
  <cp:lastModifiedBy>hq</cp:lastModifiedBy>
  <cp:revision>531</cp:revision>
  <cp:lastPrinted>1601-01-01T00:00:00Z</cp:lastPrinted>
  <dcterms:created xsi:type="dcterms:W3CDTF">1601-01-01T00:00:00Z</dcterms:created>
  <dcterms:modified xsi:type="dcterms:W3CDTF">2024-12-15T15:15:59Z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