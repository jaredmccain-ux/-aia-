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7"/>
  </p:notesMasterIdLst>
  <p:sldIdLst>
    <p:sldId id="616" r:id="rId2"/>
    <p:sldId id="338" r:id="rId3"/>
    <p:sldId id="657" r:id="rId4"/>
    <p:sldId id="658" r:id="rId5"/>
    <p:sldId id="286" r:id="rId6"/>
    <p:sldId id="337" r:id="rId7"/>
    <p:sldId id="659" r:id="rId8"/>
    <p:sldId id="339" r:id="rId9"/>
    <p:sldId id="340" r:id="rId10"/>
    <p:sldId id="341" r:id="rId11"/>
    <p:sldId id="661" r:id="rId12"/>
    <p:sldId id="660" r:id="rId13"/>
    <p:sldId id="343" r:id="rId14"/>
    <p:sldId id="344" r:id="rId15"/>
    <p:sldId id="663" r:id="rId16"/>
    <p:sldId id="346" r:id="rId17"/>
    <p:sldId id="347" r:id="rId18"/>
    <p:sldId id="348" r:id="rId19"/>
    <p:sldId id="651" r:id="rId20"/>
    <p:sldId id="666" r:id="rId21"/>
    <p:sldId id="683" r:id="rId22"/>
    <p:sldId id="349" r:id="rId23"/>
    <p:sldId id="350" r:id="rId24"/>
    <p:sldId id="684" r:id="rId25"/>
    <p:sldId id="351" r:id="rId26"/>
    <p:sldId id="403" r:id="rId27"/>
    <p:sldId id="668" r:id="rId28"/>
    <p:sldId id="669" r:id="rId29"/>
    <p:sldId id="685" r:id="rId30"/>
    <p:sldId id="652" r:id="rId31"/>
    <p:sldId id="653" r:id="rId32"/>
    <p:sldId id="671" r:id="rId33"/>
    <p:sldId id="670" r:id="rId34"/>
    <p:sldId id="672" r:id="rId35"/>
    <p:sldId id="726" r:id="rId3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7D7"/>
    <a:srgbClr val="A8BCAF"/>
    <a:srgbClr val="000099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0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149A538-51E5-4AC2-B3B4-8D431CB51C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AD2AE9-D686-449C-A786-EB16CC744F7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099C236E-EE02-4FB6-B8B2-6FF08442D8BD}" type="datetimeFigureOut">
              <a:rPr lang="zh-CN" altLang="en-US"/>
              <a:pPr>
                <a:defRPr/>
              </a:pPr>
              <a:t>2024/12/29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A99E106-A71D-4C5F-919B-4F9FD68E3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8062636-4FC4-4461-8E40-B75659DD2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DF8316-AE5E-4A24-B7F4-38181ECBDD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B719F0-34CF-4D6F-AB59-0841A92A9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F0B8892-26F4-4EFB-B429-6DA07C206E2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516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B8892-26F4-4EFB-B429-6DA07C206E2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23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0B8892-26F4-4EFB-B429-6DA07C206E2C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20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0B8892-26F4-4EFB-B429-6DA07C206E2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534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0B8892-26F4-4EFB-B429-6DA07C206E2C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79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FA4D8DA9-99BD-4C0D-A06E-189C7618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A074EB-FCF8-4B49-986D-EF2E5F24D0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0D5E1-186D-402F-A640-8B4FCF810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6B4753-2F68-49F8-90D9-9238772FDE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4CF2408-090C-45DC-837C-8EE8BD5377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77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BF6184-83AE-400D-8985-DD1B284D5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D33B405-09E3-4EAA-B69B-D83C37A836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59B8E9B-856C-4324-9AD2-1F5F2E07A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E423DC-D3FC-47A7-A7C3-7C0938032E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47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CEFA461-7DDE-4009-912F-847AF0124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D349579-0A8D-4E48-812D-B82F353DAD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6C9CA4C-DED5-44AF-97BE-8E402D189A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3FE264-DA42-45EA-BA4F-6F296ED1D62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787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04939-E4CE-4354-8F94-F1F49BA732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70E72D1-0997-4492-A84A-381FB8CF0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73B94FD-7D53-437D-8709-CA0518CC1C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340B3C-A364-41D0-A333-49A29039A5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5743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A565C6-B050-4D37-A0D7-952E5E2F20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98CB6-D128-41D6-BFBF-E34D7A0C7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72553E-DD2B-438E-923A-8BF12EFAC2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16F569-10A2-4663-8988-D4B30ADA5E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61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B315C0A-A969-4F4F-B356-59DA39302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44968BF-1301-4DB6-87A9-F2711DB91C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6EE2BF1-4EEC-4667-B6A7-1F292DBD89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95F25A-3103-4CF4-AEAE-B4C3292955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31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CB51EF1-FFB5-4100-8B10-C69453A3C0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8C594F1-8DB4-4DA9-8910-9F41BAC27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FF4E9E9-EABE-420D-A7C6-5399A62732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0F3422-8460-44FF-B691-8A44855F69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81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E78686-F2EC-40C1-8B7F-0CB6F432EB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2B74BB2-1E10-410E-A468-9F728EF18F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EEC5700-75A8-4A40-A4B4-CED5227C07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5E16F2-BF48-43A5-B906-6C2E9DAF5A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961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C3C845-1B45-4B75-A51A-185D20CB8A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2CE364A-1471-4E09-8FAA-497BF53D2B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83A5372-8E4E-4094-81AF-AA772744B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61737-FC6B-43A0-A204-1B280C60F0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136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36D5953-A5D1-4B62-8324-525779034A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E8EACF1-ED33-435D-82B2-D49809BF00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59CDA24-2E7C-4515-92C3-072221F17E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3DE86-BBE2-4EE8-A76C-642C912C51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267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06CD25A-93FB-4332-8C63-2AD671A3CD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D9C8AC6-FEC6-438F-87AF-9957B4385E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9DFFFBD-0BB3-4CF5-B7F2-81A2A89907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0BE181-E3C7-4F4C-AEC7-5DB948082E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595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136220-37C4-43FE-AC16-CD456686A7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761178D-D550-4CE0-884E-04F5E02E28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367E1FD-3444-45A0-8E36-DCA5F380B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2AC8C7-1520-4B6F-AFFC-722B094F21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700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A9979F-572D-41D6-8A72-CA9447F625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82C05A0-323D-449B-BF8F-B488FD3934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1DD4EBC3-895F-40C9-AE94-88C12AC12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53EAA8-36B8-432A-8901-056D40780E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866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64754F-6435-4FE8-BBFC-C559521142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7CBB04-E280-4503-B7F9-11C26FA2D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16B56A7-0E46-4DB9-9921-B1687A9A5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3347E0-AD84-4D2B-8966-8D07739F35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719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65FDC5-9208-4E92-9125-E93D65A5C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BC317B-1E98-4F0B-B8DE-D13E7AD26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1B6DAF8-0591-4F6D-9DA3-8C7BBEF23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D404084B-1055-4418-A044-CC2C6F8236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4103EB57-3477-434D-A6AA-C9ECE40FB7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B130002D-3796-4F10-9019-F1AC814F41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2" name="Rectangle 8">
            <a:extLst>
              <a:ext uri="{FF2B5EF4-FFF2-40B4-BE49-F238E27FC236}">
                <a16:creationId xmlns:a16="http://schemas.microsoft.com/office/drawing/2014/main" id="{70D60CD5-DFD6-4D1B-8AB2-875A51ACB8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2329707-5E72-482A-B21B-78F61C18ABD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8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20.w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wmf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oleObject" Target="../embeddings/oleObject26.bin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11" Type="http://schemas.openxmlformats.org/officeDocument/2006/relationships/image" Target="../media/image39.wmf"/><Relationship Id="rId5" Type="http://schemas.openxmlformats.org/officeDocument/2006/relationships/oleObject" Target="../embeddings/oleObject27.bin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36.wmf"/><Relationship Id="rId9" Type="http://schemas.openxmlformats.org/officeDocument/2006/relationships/image" Target="../media/image38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E4FC07E-EAB8-4A0A-9CE6-FF383B829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6435725" cy="911225"/>
          </a:xfrm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 图与网络优化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D8C6C46-BA7D-42AD-8668-1D159F6FA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6096000" cy="3810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图论和起源与发展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1</a:t>
            </a:r>
            <a:r>
              <a:rPr lang="zh-CN" altLang="en-US" sz="2800" dirty="0"/>
              <a:t>节 图的基本概念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2</a:t>
            </a:r>
            <a:r>
              <a:rPr lang="zh-CN" altLang="en-US" sz="2800" dirty="0"/>
              <a:t>节 树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3</a:t>
            </a:r>
            <a:r>
              <a:rPr lang="zh-CN" altLang="en-US" sz="2800" dirty="0"/>
              <a:t>节 最短路问题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4</a:t>
            </a:r>
            <a:r>
              <a:rPr lang="zh-CN" altLang="en-US" sz="2800" dirty="0"/>
              <a:t>节 网络最大流问题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05" y="3984264"/>
            <a:ext cx="5567795" cy="433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91" y="871692"/>
            <a:ext cx="6836121" cy="519129"/>
          </a:xfrm>
          <a:prstGeom prst="rect">
            <a:avLst/>
          </a:prstGeom>
        </p:spPr>
      </p:pic>
      <p:sp>
        <p:nvSpPr>
          <p:cNvPr id="110595" name="灯片编号占位符 5">
            <a:extLst>
              <a:ext uri="{FF2B5EF4-FFF2-40B4-BE49-F238E27FC236}">
                <a16:creationId xmlns:a16="http://schemas.microsoft.com/office/drawing/2014/main" id="{11ABDF69-B80C-40B9-B88B-5FA0BEBDCD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74CB43-7D3B-45C3-AE6E-D1972F62DB24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158FF5FA-4C51-42DD-B55A-7B217FCFC8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2324" y="838200"/>
            <a:ext cx="1793875" cy="661917"/>
          </a:xfrm>
        </p:spPr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110597" name="Rectangle 6">
            <a:extLst>
              <a:ext uri="{FF2B5EF4-FFF2-40B4-BE49-F238E27FC236}">
                <a16:creationId xmlns:a16="http://schemas.microsoft.com/office/drawing/2014/main" id="{EFFEB21F-C1F4-4A51-8FF3-DB20D015F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78163" y="28876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0598" name="Rectangle 7">
            <a:extLst>
              <a:ext uri="{FF2B5EF4-FFF2-40B4-BE49-F238E27FC236}">
                <a16:creationId xmlns:a16="http://schemas.microsoft.com/office/drawing/2014/main" id="{7598F2E0-75AF-45DE-9CCB-5628C5D2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824603"/>
            <a:ext cx="5791200" cy="358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Arial" panose="020B0604020202020204" pitchFamily="34" charset="0"/>
                <a:cs typeface="Courier New" panose="02070309020205020404" pitchFamily="49" charset="0"/>
              </a:rPr>
              <a:t>  许多</a:t>
            </a:r>
            <a:r>
              <a:rPr lang="zh-CN" altLang="en-US" sz="2600" dirty="0">
                <a:latin typeface="Arial" panose="020B0604020202020204" pitchFamily="34" charset="0"/>
                <a:cs typeface="Courier New" panose="02070309020205020404" pitchFamily="49" charset="0"/>
              </a:rPr>
              <a:t>系统包含了</a:t>
            </a:r>
            <a:r>
              <a:rPr lang="zh-CN" alt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流量问题</a:t>
            </a:r>
            <a:r>
              <a:rPr lang="zh-CN" altLang="en-US" sz="2600" dirty="0">
                <a:latin typeface="Arial" panose="020B0604020202020204" pitchFamily="34" charset="0"/>
                <a:cs typeface="Courier New" panose="02070309020205020404" pitchFamily="49" charset="0"/>
              </a:rPr>
              <a:t>。例如，</a:t>
            </a:r>
            <a:endParaRPr lang="en-US" altLang="zh-CN" sz="2600" dirty="0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  <a:cs typeface="Courier New" panose="02070309020205020404" pitchFamily="49" charset="0"/>
              </a:rPr>
              <a:t>公路系统中有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车辆流</a:t>
            </a:r>
            <a:endParaRPr lang="en-US" altLang="zh-CN" sz="2400" b="1" dirty="0">
              <a:solidFill>
                <a:srgbClr val="0070C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  <a:cs typeface="Courier New" panose="02070309020205020404" pitchFamily="49" charset="0"/>
              </a:rPr>
              <a:t>控制系统中有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信息流</a:t>
            </a:r>
            <a:endParaRPr lang="en-US" altLang="zh-CN" sz="2400" b="1" dirty="0">
              <a:solidFill>
                <a:srgbClr val="0070C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  <a:cs typeface="Courier New" panose="02070309020205020404" pitchFamily="49" charset="0"/>
              </a:rPr>
              <a:t>供水系统中有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水流</a:t>
            </a:r>
            <a:endParaRPr lang="en-US" altLang="zh-CN" sz="2400" b="1" dirty="0">
              <a:solidFill>
                <a:srgbClr val="0070C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  <a:cs typeface="Courier New" panose="02070309020205020404" pitchFamily="49" charset="0"/>
              </a:rPr>
              <a:t>金融系统中有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现金流</a:t>
            </a:r>
            <a:endParaRPr lang="en-US" altLang="zh-CN" sz="2400" b="1" dirty="0">
              <a:solidFill>
                <a:srgbClr val="0070C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  <a:cs typeface="Courier New" panose="02070309020205020404" pitchFamily="49" charset="0"/>
              </a:rPr>
              <a:t>。。。等。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灯片编号占位符 5">
            <a:extLst>
              <a:ext uri="{FF2B5EF4-FFF2-40B4-BE49-F238E27FC236}">
                <a16:creationId xmlns:a16="http://schemas.microsoft.com/office/drawing/2014/main" id="{11ABDF69-B80C-40B9-B88B-5FA0BEBDCD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74CB43-7D3B-45C3-AE6E-D1972F62DB24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158FF5FA-4C51-42DD-B55A-7B217FCFC8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5597525" cy="911225"/>
          </a:xfrm>
        </p:spPr>
        <p:txBody>
          <a:bodyPr/>
          <a:lstStyle/>
          <a:p>
            <a:r>
              <a:rPr lang="zh-CN" altLang="en-US" dirty="0"/>
              <a:t>引言（网络最大流问题）</a:t>
            </a:r>
          </a:p>
        </p:txBody>
      </p:sp>
      <p:sp>
        <p:nvSpPr>
          <p:cNvPr id="110597" name="Rectangle 6">
            <a:extLst>
              <a:ext uri="{FF2B5EF4-FFF2-40B4-BE49-F238E27FC236}">
                <a16:creationId xmlns:a16="http://schemas.microsoft.com/office/drawing/2014/main" id="{EFFEB21F-C1F4-4A51-8FF3-DB20D015F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78163" y="28876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0598" name="Rectangle 7">
            <a:extLst>
              <a:ext uri="{FF2B5EF4-FFF2-40B4-BE49-F238E27FC236}">
                <a16:creationId xmlns:a16="http://schemas.microsoft.com/office/drawing/2014/main" id="{7598F2E0-75AF-45DE-9CCB-5628C5D2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3072"/>
            <a:ext cx="7772400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是联结某产品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产地</a:t>
            </a:r>
            <a:r>
              <a:rPr lang="en-US" altLang="zh-CN" sz="2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销地</a:t>
            </a:r>
            <a:r>
              <a:rPr lang="en-US" altLang="zh-CN" sz="2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的交通网，每一弧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的运输线，产品经这条弧由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输送到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，弧旁的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表示这条运输线的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最大通过能力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产品经过交通网从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输送到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。现在要求制定一个运输方案使从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运到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产品数量最多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21DBDA4-9B1D-497F-8F65-2C87508D0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933569"/>
            <a:ext cx="4572000" cy="223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23A53575-FB9B-476D-968F-1E2D5D94A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150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42050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灯片编号占位符 5">
            <a:extLst>
              <a:ext uri="{FF2B5EF4-FFF2-40B4-BE49-F238E27FC236}">
                <a16:creationId xmlns:a16="http://schemas.microsoft.com/office/drawing/2014/main" id="{11ABDF69-B80C-40B9-B88B-5FA0BEBDCD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74CB43-7D3B-45C3-AE6E-D1972F62DB24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158FF5FA-4C51-42DD-B55A-7B217FCFC8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5597525" cy="911225"/>
          </a:xfrm>
        </p:spPr>
        <p:txBody>
          <a:bodyPr/>
          <a:lstStyle/>
          <a:p>
            <a:r>
              <a:rPr lang="zh-CN" altLang="en-US" dirty="0"/>
              <a:t>引言（网络最大流问题）</a:t>
            </a:r>
          </a:p>
        </p:txBody>
      </p:sp>
      <p:sp>
        <p:nvSpPr>
          <p:cNvPr id="110597" name="Rectangle 6">
            <a:extLst>
              <a:ext uri="{FF2B5EF4-FFF2-40B4-BE49-F238E27FC236}">
                <a16:creationId xmlns:a16="http://schemas.microsoft.com/office/drawing/2014/main" id="{EFFEB21F-C1F4-4A51-8FF3-DB20D015F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78163" y="28876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0598" name="Rectangle 7">
            <a:extLst>
              <a:ext uri="{FF2B5EF4-FFF2-40B4-BE49-F238E27FC236}">
                <a16:creationId xmlns:a16="http://schemas.microsoft.com/office/drawing/2014/main" id="{7598F2E0-75AF-45DE-9CCB-5628C5D2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20" y="1752600"/>
            <a:ext cx="8087880" cy="8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给出了一个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运输方案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，每条弧旁的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表示在此方案中每条运输线上的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运输数量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。该方案使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个单位的产品从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运到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6F4797-15C7-46E1-97A0-B1568587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890" y="2672783"/>
            <a:ext cx="4522823" cy="205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DA805001-2748-47D6-883A-92787968A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394406"/>
            <a:ext cx="72469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8F2E0-75AF-45DE-9CCB-5628C5D2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20" y="5705479"/>
            <a:ext cx="5420880" cy="5539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本节就是要研究类似这样的问题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A0CEF0F-A1B7-409B-BA6A-B8A1C7FA4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20" y="4772464"/>
            <a:ext cx="8087880" cy="8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在这个交通网上输送量是否还可以增多，或者说这个运输网络中，从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最大输送量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是多少呢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956A776-C586-466B-B51F-D726F7DEE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155" y="-5383"/>
            <a:ext cx="3205845" cy="15697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135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灯片编号占位符 5">
            <a:extLst>
              <a:ext uri="{FF2B5EF4-FFF2-40B4-BE49-F238E27FC236}">
                <a16:creationId xmlns:a16="http://schemas.microsoft.com/office/drawing/2014/main" id="{153E668C-1463-4CA0-AD68-088B2977D3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77D54E-9B8F-4DD2-8318-67340B7F56FC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12644" name="Rectangle 2">
            <a:extLst>
              <a:ext uri="{FF2B5EF4-FFF2-40B4-BE49-F238E27FC236}">
                <a16:creationId xmlns:a16="http://schemas.microsoft.com/office/drawing/2014/main" id="{CDFD39A5-F7BA-473A-9667-C3D6E47CA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节 网络最大流问题</a:t>
            </a:r>
          </a:p>
        </p:txBody>
      </p:sp>
      <p:sp>
        <p:nvSpPr>
          <p:cNvPr id="112645" name="Rectangle 3">
            <a:extLst>
              <a:ext uri="{FF2B5EF4-FFF2-40B4-BE49-F238E27FC236}">
                <a16:creationId xmlns:a16="http://schemas.microsoft.com/office/drawing/2014/main" id="{AC988D26-FC25-47C2-A282-771CCCB94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5299075" cy="1905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4.1 </a:t>
            </a:r>
            <a:r>
              <a:rPr lang="zh-CN" altLang="en-US" dirty="0"/>
              <a:t>基本概念与基本定理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4.2 </a:t>
            </a:r>
            <a:r>
              <a:rPr lang="zh-CN" altLang="en-US" dirty="0"/>
              <a:t>寻求最大流的标号法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灯片编号占位符 5">
            <a:extLst>
              <a:ext uri="{FF2B5EF4-FFF2-40B4-BE49-F238E27FC236}">
                <a16:creationId xmlns:a16="http://schemas.microsoft.com/office/drawing/2014/main" id="{ACD1DB90-BF12-4880-9BA6-3EA55287F1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E4BF181-A7CB-43AE-8E50-DB63F7455A36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6DC7F3A-692E-4A1D-BAA3-B4B18C3FC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en-US"/>
              <a:t>基本概念与基本定理</a:t>
            </a:r>
          </a:p>
        </p:txBody>
      </p:sp>
      <p:sp>
        <p:nvSpPr>
          <p:cNvPr id="113669" name="Rectangle 7">
            <a:extLst>
              <a:ext uri="{FF2B5EF4-FFF2-40B4-BE49-F238E27FC236}">
                <a16:creationId xmlns:a16="http://schemas.microsoft.com/office/drawing/2014/main" id="{B22C0EA9-E620-42D9-9374-8B309C478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86013" y="26590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3670" name="Rectangle 8">
            <a:extLst>
              <a:ext uri="{FF2B5EF4-FFF2-40B4-BE49-F238E27FC236}">
                <a16:creationId xmlns:a16="http://schemas.microsoft.com/office/drawing/2014/main" id="{A66159F3-8621-441D-9E7C-78159F7E7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91161"/>
            <a:ext cx="7772400" cy="2728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网络与流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给一个有向图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D=(V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中指定了一点称为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发点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，而另一点称为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收点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，其余的点叫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中间点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。对于每一个弧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，对应有一个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)≥0(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或简写为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200" i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，称为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容量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。通常我们就把这样的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叫作一个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。记作</a:t>
            </a:r>
          </a:p>
          <a:p>
            <a:pPr>
              <a:lnSpc>
                <a:spcPct val="125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D=(V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66159F3-8621-441D-9E7C-78159F7E7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640961"/>
            <a:ext cx="7010400" cy="143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所谓网络上的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，是指定义在弧集合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上的一个函数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5000"/>
              </a:lnSpc>
              <a:buClr>
                <a:srgbClr val="C00000"/>
              </a:buClr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为弧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流量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有时也简记作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灯片编号占位符 5">
            <a:extLst>
              <a:ext uri="{FF2B5EF4-FFF2-40B4-BE49-F238E27FC236}">
                <a16:creationId xmlns:a16="http://schemas.microsoft.com/office/drawing/2014/main" id="{ACD1DB90-BF12-4880-9BA6-3EA55287F1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E4BF181-A7CB-43AE-8E50-DB63F7455A36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6DC7F3A-692E-4A1D-BAA3-B4B18C3FC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113669" name="Rectangle 7">
            <a:extLst>
              <a:ext uri="{FF2B5EF4-FFF2-40B4-BE49-F238E27FC236}">
                <a16:creationId xmlns:a16="http://schemas.microsoft.com/office/drawing/2014/main" id="{B22C0EA9-E620-42D9-9374-8B309C478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86013" y="26590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3670" name="Rectangle 8">
            <a:extLst>
              <a:ext uri="{FF2B5EF4-FFF2-40B4-BE49-F238E27FC236}">
                <a16:creationId xmlns:a16="http://schemas.microsoft.com/office/drawing/2014/main" id="{A66159F3-8621-441D-9E7C-78159F7E7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622504"/>
            <a:ext cx="7959725" cy="2285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例如图</a:t>
            </a:r>
            <a:r>
              <a:rPr lang="en-US" altLang="zh-CN" sz="2200" dirty="0">
                <a:latin typeface="Times New Roman" panose="02020603050405020304" pitchFamily="18" charset="0"/>
              </a:rPr>
              <a:t>23</a:t>
            </a:r>
            <a:r>
              <a:rPr lang="zh-CN" altLang="en-US" sz="2200" dirty="0">
                <a:latin typeface="Times New Roman" panose="02020603050405020304" pitchFamily="18" charset="0"/>
              </a:rPr>
              <a:t>就是一个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网络</a:t>
            </a:r>
            <a:r>
              <a:rPr lang="zh-CN" altLang="en-US" sz="2200" dirty="0">
                <a:latin typeface="Times New Roman" panose="02020603050405020304" pitchFamily="18" charset="0"/>
              </a:rPr>
              <a:t>，指定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发点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收点</a:t>
            </a:r>
            <a:r>
              <a:rPr lang="zh-CN" altLang="en-US" sz="2200" dirty="0">
                <a:latin typeface="Times New Roman" panose="02020603050405020304" pitchFamily="18" charset="0"/>
              </a:rPr>
              <a:t>，其他的点是中间点。弧旁的数字为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</a:rPr>
              <a:t>。（弧上的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容量</a:t>
            </a:r>
            <a:r>
              <a:rPr lang="zh-CN" altLang="en-US" sz="2200" dirty="0">
                <a:latin typeface="Times New Roman" panose="02020603050405020304" pitchFamily="18" charset="0"/>
              </a:rPr>
              <a:t>）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图</a:t>
            </a:r>
            <a:r>
              <a:rPr lang="en-US" altLang="zh-CN" sz="2200" dirty="0">
                <a:latin typeface="Times New Roman" panose="02020603050405020304" pitchFamily="18" charset="0"/>
              </a:rPr>
              <a:t>24</a:t>
            </a:r>
            <a:r>
              <a:rPr lang="zh-CN" altLang="en-US" sz="2200" dirty="0">
                <a:latin typeface="Times New Roman" panose="02020603050405020304" pitchFamily="18" charset="0"/>
              </a:rPr>
              <a:t>所示的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运输方案</a:t>
            </a:r>
            <a:r>
              <a:rPr lang="zh-CN" altLang="en-US" sz="2200" dirty="0">
                <a:latin typeface="Times New Roman" panose="02020603050405020304" pitchFamily="18" charset="0"/>
              </a:rPr>
              <a:t>，就可看作是这个网络上的一个流，每个弧上的运输量就是该弧上的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流量</a:t>
            </a:r>
            <a:r>
              <a:rPr lang="zh-CN" altLang="en-US" sz="2200" dirty="0">
                <a:latin typeface="Times New Roman" panose="02020603050405020304" pitchFamily="18" charset="0"/>
              </a:rPr>
              <a:t>，即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200" dirty="0">
                <a:latin typeface="Times New Roman" panose="02020603050405020304" pitchFamily="18" charset="0"/>
              </a:rPr>
              <a:t>=5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24</a:t>
            </a:r>
            <a:r>
              <a:rPr lang="en-US" altLang="zh-CN" sz="2200" dirty="0">
                <a:latin typeface="Times New Roman" panose="02020603050405020304" pitchFamily="18" charset="0"/>
              </a:rPr>
              <a:t>=2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13</a:t>
            </a:r>
            <a:r>
              <a:rPr lang="en-US" altLang="zh-CN" sz="2200" dirty="0">
                <a:latin typeface="Times New Roman" panose="02020603050405020304" pitchFamily="18" charset="0"/>
              </a:rPr>
              <a:t>=3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34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  <a:r>
              <a:rPr lang="zh-CN" altLang="en-US" sz="2200" dirty="0">
                <a:latin typeface="Times New Roman" panose="02020603050405020304" pitchFamily="18" charset="0"/>
              </a:rPr>
              <a:t>等。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21DBDA4-9B1D-497F-8F65-2C87508D0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2" y="3907745"/>
            <a:ext cx="4201869" cy="218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23A53575-FB9B-476D-968F-1E2D5D94A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086" y="6080125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23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0A6F4797-15C7-46E1-97A0-B1568587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751" y="3909593"/>
            <a:ext cx="4222249" cy="215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DA805001-2748-47D6-883A-92787968A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853" y="6071784"/>
            <a:ext cx="72469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9292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灯片编号占位符 5">
            <a:extLst>
              <a:ext uri="{FF2B5EF4-FFF2-40B4-BE49-F238E27FC236}">
                <a16:creationId xmlns:a16="http://schemas.microsoft.com/office/drawing/2014/main" id="{DB10ACC1-729D-4BCB-9E1A-515A6BE0E4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DB419D8-C2A6-413E-BBD6-4E8942456B7F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id="{82C98DCF-BA48-4335-A276-EF5816AC8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114693" name="Rectangle 3">
            <a:extLst>
              <a:ext uri="{FF2B5EF4-FFF2-40B4-BE49-F238E27FC236}">
                <a16:creationId xmlns:a16="http://schemas.microsoft.com/office/drawing/2014/main" id="{8783FD49-18EF-426A-9124-CCAD4C84C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00213"/>
            <a:ext cx="8229600" cy="34051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2. </a:t>
            </a:r>
            <a:r>
              <a:rPr lang="zh-CN" altLang="en-US" sz="2400" dirty="0">
                <a:solidFill>
                  <a:srgbClr val="FF0000"/>
                </a:solidFill>
              </a:rPr>
              <a:t>可行流与最大流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200" dirty="0"/>
              <a:t>在运输网络的实际问题中可看出，对于流有两个明显的要求：</a:t>
            </a:r>
            <a:endParaRPr lang="en-US" altLang="zh-CN" sz="2200" dirty="0"/>
          </a:p>
          <a:p>
            <a:pPr>
              <a:lnSpc>
                <a:spcPct val="125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lang="zh-CN" altLang="en-US" sz="2200" b="1" dirty="0">
                <a:solidFill>
                  <a:srgbClr val="0070C0"/>
                </a:solidFill>
              </a:rPr>
              <a:t>每个弧上的流量不能超过该弧的最大通过能力</a:t>
            </a:r>
            <a:r>
              <a:rPr lang="en-US" altLang="zh-CN" sz="2200" b="1" dirty="0">
                <a:solidFill>
                  <a:srgbClr val="0070C0"/>
                </a:solidFill>
              </a:rPr>
              <a:t>(</a:t>
            </a:r>
            <a:r>
              <a:rPr lang="zh-CN" altLang="en-US" sz="2200" b="1" dirty="0">
                <a:solidFill>
                  <a:srgbClr val="0070C0"/>
                </a:solidFill>
              </a:rPr>
              <a:t>即弧的容量</a:t>
            </a:r>
            <a:r>
              <a:rPr lang="en-US" altLang="zh-CN" sz="2200" b="1" dirty="0">
                <a:solidFill>
                  <a:srgbClr val="0070C0"/>
                </a:solidFill>
              </a:rPr>
              <a:t>)</a:t>
            </a:r>
          </a:p>
          <a:p>
            <a:pPr>
              <a:lnSpc>
                <a:spcPct val="125000"/>
              </a:lnSpc>
              <a:buClr>
                <a:srgbClr val="00B0F0"/>
              </a:buClr>
              <a:buFont typeface="+mj-ea"/>
              <a:buAutoNum type="circleNumDbPlain"/>
            </a:pPr>
            <a:r>
              <a:rPr lang="zh-CN" altLang="en-US" sz="2200" b="1" dirty="0">
                <a:solidFill>
                  <a:srgbClr val="0070C0"/>
                </a:solidFill>
              </a:rPr>
              <a:t>中间点的流量为零</a:t>
            </a:r>
            <a:r>
              <a:rPr lang="zh-CN" altLang="en-US" sz="2200" dirty="0">
                <a:solidFill>
                  <a:srgbClr val="0070C0"/>
                </a:solidFill>
              </a:rPr>
              <a:t>。</a:t>
            </a:r>
            <a:endParaRPr lang="en-US" altLang="zh-CN" sz="2200" dirty="0">
              <a:solidFill>
                <a:srgbClr val="0070C0"/>
              </a:solidFill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对于每个点，运出这点的产品总量</a:t>
            </a:r>
            <a:r>
              <a:rPr lang="en-US" altLang="zh-CN" sz="2200" dirty="0"/>
              <a:t>(</a:t>
            </a:r>
            <a:r>
              <a:rPr lang="zh-CN" altLang="en-US" sz="2200" dirty="0">
                <a:solidFill>
                  <a:srgbClr val="0070C0"/>
                </a:solidFill>
              </a:rPr>
              <a:t>流出量</a:t>
            </a:r>
            <a:r>
              <a:rPr lang="en-US" altLang="zh-CN" sz="2200" dirty="0"/>
              <a:t>)</a:t>
            </a:r>
            <a:r>
              <a:rPr lang="zh-CN" altLang="en-US" sz="2200" dirty="0"/>
              <a:t>与运进这点的产品总量</a:t>
            </a:r>
            <a:r>
              <a:rPr lang="en-US" altLang="zh-CN" sz="2200" dirty="0"/>
              <a:t>(</a:t>
            </a:r>
            <a:r>
              <a:rPr lang="zh-CN" altLang="en-US" sz="2200" dirty="0">
                <a:solidFill>
                  <a:srgbClr val="0070C0"/>
                </a:solidFill>
              </a:rPr>
              <a:t>流入量</a:t>
            </a:r>
            <a:r>
              <a:rPr lang="en-US" altLang="zh-CN" sz="2200" dirty="0"/>
              <a:t>)</a:t>
            </a:r>
            <a:r>
              <a:rPr lang="zh-CN" altLang="en-US" sz="2200" dirty="0"/>
              <a:t>之差，是这点的</a:t>
            </a:r>
            <a:r>
              <a:rPr lang="zh-CN" altLang="en-US" sz="2200" dirty="0">
                <a:solidFill>
                  <a:srgbClr val="C00000"/>
                </a:solidFill>
              </a:rPr>
              <a:t>净流出量</a:t>
            </a:r>
            <a:r>
              <a:rPr lang="zh-CN" altLang="en-US" sz="2200" dirty="0"/>
              <a:t>，简称为这一点的</a:t>
            </a:r>
            <a:r>
              <a:rPr lang="zh-CN" altLang="en-US" sz="2200" dirty="0">
                <a:solidFill>
                  <a:srgbClr val="C00000"/>
                </a:solidFill>
              </a:rPr>
              <a:t>流量</a:t>
            </a:r>
            <a:r>
              <a:rPr lang="zh-CN" altLang="en-US" sz="2200" dirty="0"/>
              <a:t>；由于中间点只起转运作用，所以中间点的流量必为零。</a:t>
            </a:r>
            <a:endParaRPr lang="en-US" altLang="zh-CN" sz="2200" dirty="0"/>
          </a:p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200" dirty="0"/>
              <a:t>易见，发点的</a:t>
            </a:r>
            <a:r>
              <a:rPr lang="zh-CN" altLang="en-US" sz="2200" dirty="0">
                <a:solidFill>
                  <a:srgbClr val="C00000"/>
                </a:solidFill>
              </a:rPr>
              <a:t>净流出量</a:t>
            </a:r>
            <a:r>
              <a:rPr lang="zh-CN" altLang="en-US" sz="2200" dirty="0"/>
              <a:t>和收点的</a:t>
            </a:r>
            <a:r>
              <a:rPr lang="zh-CN" altLang="en-US" sz="2200" dirty="0">
                <a:solidFill>
                  <a:srgbClr val="C00000"/>
                </a:solidFill>
              </a:rPr>
              <a:t>净流入量</a:t>
            </a:r>
            <a:r>
              <a:rPr lang="zh-CN" altLang="en-US" sz="2200" dirty="0"/>
              <a:t>必相等，也是这个方案的</a:t>
            </a:r>
            <a:r>
              <a:rPr lang="zh-CN" altLang="en-US" sz="2200" dirty="0">
                <a:solidFill>
                  <a:srgbClr val="0070C0"/>
                </a:solidFill>
              </a:rPr>
              <a:t>总输送量</a:t>
            </a:r>
            <a:r>
              <a:rPr lang="zh-CN" altLang="en-US" sz="2200" dirty="0"/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灯片编号占位符 5">
            <a:extLst>
              <a:ext uri="{FF2B5EF4-FFF2-40B4-BE49-F238E27FC236}">
                <a16:creationId xmlns:a16="http://schemas.microsoft.com/office/drawing/2014/main" id="{2107B8A4-4C48-4096-BE6F-B101C5B342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1FE04A7-A014-4659-BFD7-0985A053C914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193BEC12-FA3B-4C97-BD99-DDE547B35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5597525" cy="1216025"/>
          </a:xfrm>
        </p:spPr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115717" name="Rectangle 3">
            <a:extLst>
              <a:ext uri="{FF2B5EF4-FFF2-40B4-BE49-F238E27FC236}">
                <a16:creationId xmlns:a16="http://schemas.microsoft.com/office/drawing/2014/main" id="{60CE3EF9-569C-4D15-BD66-A29142F00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1626175"/>
            <a:ext cx="7683500" cy="4543425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满足下述条件的流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可行流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容量限制条件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：对每一弧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≤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endParaRPr lang="en-US" altLang="zh-CN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平衡条件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对于中间点，流出量等于流入量，即对每个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</a:p>
          <a:p>
            <a:pPr>
              <a:lnSpc>
                <a:spcPct val="125000"/>
              </a:lnSpc>
              <a:buFont typeface="+mj-ea"/>
              <a:buAutoNum type="circleNumDbPlain"/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对于发点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+mj-ea"/>
              <a:buAutoNum type="circleNumDbPlain"/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对于收点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式中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称为这个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可行流的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流量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，即发点的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净输出量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或收点的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净输入量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5718" name="Rectangle 5">
            <a:extLst>
              <a:ext uri="{FF2B5EF4-FFF2-40B4-BE49-F238E27FC236}">
                <a16:creationId xmlns:a16="http://schemas.microsoft.com/office/drawing/2014/main" id="{467AD5E4-CA20-4E8A-B1ED-93EF017A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5719" name="Object 4">
            <a:extLst>
              <a:ext uri="{FF2B5EF4-FFF2-40B4-BE49-F238E27FC236}">
                <a16:creationId xmlns:a16="http://schemas.microsoft.com/office/drawing/2014/main" id="{7E544EAF-207B-40E0-BFE8-9F0CD5548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696549"/>
              </p:ext>
            </p:extLst>
          </p:nvPr>
        </p:nvGraphicFramePr>
        <p:xfrm>
          <a:off x="2590800" y="3344762"/>
          <a:ext cx="2575502" cy="64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380880" progId="Equation.DSMT4">
                  <p:embed/>
                </p:oleObj>
              </mc:Choice>
              <mc:Fallback>
                <p:oleObj name="Equation" r:id="rId2" imgW="1511280" imgH="380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344762"/>
                        <a:ext cx="2575502" cy="641351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0" name="Rectangle 7">
            <a:extLst>
              <a:ext uri="{FF2B5EF4-FFF2-40B4-BE49-F238E27FC236}">
                <a16:creationId xmlns:a16="http://schemas.microsoft.com/office/drawing/2014/main" id="{7A2BDE86-93AE-490B-BF35-FC4C0C3FC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5721" name="Object 6">
            <a:extLst>
              <a:ext uri="{FF2B5EF4-FFF2-40B4-BE49-F238E27FC236}">
                <a16:creationId xmlns:a16="http://schemas.microsoft.com/office/drawing/2014/main" id="{F1F67660-DE00-4792-9A63-6AC83B882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423217"/>
              </p:ext>
            </p:extLst>
          </p:nvPr>
        </p:nvGraphicFramePr>
        <p:xfrm>
          <a:off x="3369973" y="4011513"/>
          <a:ext cx="3924659" cy="679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380880" progId="Equation.DSMT4">
                  <p:embed/>
                </p:oleObj>
              </mc:Choice>
              <mc:Fallback>
                <p:oleObj name="Equation" r:id="rId4" imgW="1803240" imgH="3808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9973" y="4011513"/>
                        <a:ext cx="3924659" cy="679649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2" name="Rectangle 9">
            <a:extLst>
              <a:ext uri="{FF2B5EF4-FFF2-40B4-BE49-F238E27FC236}">
                <a16:creationId xmlns:a16="http://schemas.microsoft.com/office/drawing/2014/main" id="{AAECA636-8F6F-42E6-B492-94A19B920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5723" name="Object 8">
            <a:extLst>
              <a:ext uri="{FF2B5EF4-FFF2-40B4-BE49-F238E27FC236}">
                <a16:creationId xmlns:a16="http://schemas.microsoft.com/office/drawing/2014/main" id="{63ED6949-EAB9-4CE1-9E16-CB8460882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299433"/>
              </p:ext>
            </p:extLst>
          </p:nvPr>
        </p:nvGraphicFramePr>
        <p:xfrm>
          <a:off x="3382963" y="4832350"/>
          <a:ext cx="30749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41400" imgH="380880" progId="Equation.DSMT4">
                  <p:embed/>
                </p:oleObj>
              </mc:Choice>
              <mc:Fallback>
                <p:oleObj name="Equation" r:id="rId6" imgW="1841400" imgH="3808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3" y="4832350"/>
                        <a:ext cx="3074987" cy="6286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灯片编号占位符 5">
            <a:extLst>
              <a:ext uri="{FF2B5EF4-FFF2-40B4-BE49-F238E27FC236}">
                <a16:creationId xmlns:a16="http://schemas.microsoft.com/office/drawing/2014/main" id="{91FBA1BA-D415-4144-81EF-E14D14365F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9EC8CE8-6120-41D4-955C-9531B12C9F45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16740" name="Rectangle 2">
            <a:extLst>
              <a:ext uri="{FF2B5EF4-FFF2-40B4-BE49-F238E27FC236}">
                <a16:creationId xmlns:a16="http://schemas.microsoft.com/office/drawing/2014/main" id="{606FE9CB-C402-4E18-AAFE-22B8F76A1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en-US"/>
              <a:t>基本概念与基本定理</a:t>
            </a:r>
          </a:p>
        </p:txBody>
      </p:sp>
      <p:sp>
        <p:nvSpPr>
          <p:cNvPr id="116741" name="Rectangle 3">
            <a:extLst>
              <a:ext uri="{FF2B5EF4-FFF2-40B4-BE49-F238E27FC236}">
                <a16:creationId xmlns:a16="http://schemas.microsoft.com/office/drawing/2014/main" id="{F0745F83-477C-49DE-A73F-75BE2D669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700213"/>
            <a:ext cx="8077199" cy="454501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可行流总是存在的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。比如令所有弧的流量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，就得到一个可行流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零流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。其流量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最大流问题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就是求一个流｛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｝使其流量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达到最大，并且满足：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≤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     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</a:p>
          <a:p>
            <a:pPr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</a:p>
          <a:p>
            <a:pPr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②</a:t>
            </a:r>
          </a:p>
          <a:p>
            <a:pPr>
              <a:lnSpc>
                <a:spcPct val="110000"/>
              </a:lnSpc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最大流问题是一个特殊的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线性规划问题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。即求一组｛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｝，在满足条件①和②下使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达到极大。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将会看到利用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的特点，解决这个问题的方法较之线性规划的一般方法要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方便、直观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得多。 </a:t>
            </a:r>
          </a:p>
        </p:txBody>
      </p:sp>
      <p:sp>
        <p:nvSpPr>
          <p:cNvPr id="116742" name="Rectangle 5">
            <a:extLst>
              <a:ext uri="{FF2B5EF4-FFF2-40B4-BE49-F238E27FC236}">
                <a16:creationId xmlns:a16="http://schemas.microsoft.com/office/drawing/2014/main" id="{1AC4AA88-01CA-4BF0-BC23-587B41960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6743" name="Object 4">
            <a:extLst>
              <a:ext uri="{FF2B5EF4-FFF2-40B4-BE49-F238E27FC236}">
                <a16:creationId xmlns:a16="http://schemas.microsoft.com/office/drawing/2014/main" id="{0AAFE336-63F3-4C5A-AA2C-22C2F17D4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370353"/>
              </p:ext>
            </p:extLst>
          </p:nvPr>
        </p:nvGraphicFramePr>
        <p:xfrm>
          <a:off x="2286000" y="3487738"/>
          <a:ext cx="3743325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46300" imgH="711200" progId="Equation.DSMT4">
                  <p:embed/>
                </p:oleObj>
              </mc:Choice>
              <mc:Fallback>
                <p:oleObj r:id="rId2" imgW="2146300" imgH="71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87738"/>
                        <a:ext cx="3743325" cy="123666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3">
            <a:extLst>
              <a:ext uri="{FF2B5EF4-FFF2-40B4-BE49-F238E27FC236}">
                <a16:creationId xmlns:a16="http://schemas.microsoft.com/office/drawing/2014/main" id="{2CC55CE7-C970-4409-92A3-109A99DA3F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74675" y="1752600"/>
            <a:ext cx="5445125" cy="28575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增广链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若给一个可行流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｝，网络中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的弧称为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饱和弧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的弧称为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非饱和弧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的弧称为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零流弧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的弧称为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非零流弧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7763" name="灯片编号占位符 6">
            <a:extLst>
              <a:ext uri="{FF2B5EF4-FFF2-40B4-BE49-F238E27FC236}">
                <a16:creationId xmlns:a16="http://schemas.microsoft.com/office/drawing/2014/main" id="{1FC1C332-103A-4A6B-A1DF-7F41B76AEB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2D8F357-DCE6-4261-B00D-EF2EB942BA14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17764" name="Rectangle 2">
            <a:extLst>
              <a:ext uri="{FF2B5EF4-FFF2-40B4-BE49-F238E27FC236}">
                <a16:creationId xmlns:a16="http://schemas.microsoft.com/office/drawing/2014/main" id="{CE699C2C-EFF5-4C85-84C9-A0944C39F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5826125" cy="835025"/>
          </a:xfrm>
        </p:spPr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基本概念与基本定理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0A6F4797-15C7-46E1-97A0-B1568587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4078358"/>
            <a:ext cx="4515246" cy="2093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DA805001-2748-47D6-883A-92787968A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4810" y="6102784"/>
            <a:ext cx="72469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24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21DBDA4-9B1D-497F-8F65-2C87508D0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66850"/>
            <a:ext cx="445769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7">
            <a:extLst>
              <a:ext uri="{FF2B5EF4-FFF2-40B4-BE49-F238E27FC236}">
                <a16:creationId xmlns:a16="http://schemas.microsoft.com/office/drawing/2014/main" id="{DA805001-2748-47D6-883A-92787968A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852" y="3394074"/>
            <a:ext cx="7246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23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391400" y="4419600"/>
            <a:ext cx="0" cy="13716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2CC55CE7-C970-4409-92A3-109A99DA3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39" y="4605771"/>
            <a:ext cx="3692525" cy="1566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是饱和弧，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其他的弧为非饱和弧。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所有弧都是非零流弧。</a:t>
            </a:r>
          </a:p>
        </p:txBody>
      </p:sp>
      <p:sp>
        <p:nvSpPr>
          <p:cNvPr id="2" name="矩形 1"/>
          <p:cNvSpPr/>
          <p:nvPr/>
        </p:nvSpPr>
        <p:spPr>
          <a:xfrm>
            <a:off x="1524000" y="5105400"/>
            <a:ext cx="21336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27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灯片编号占位符 6">
            <a:extLst>
              <a:ext uri="{FF2B5EF4-FFF2-40B4-BE49-F238E27FC236}">
                <a16:creationId xmlns:a16="http://schemas.microsoft.com/office/drawing/2014/main" id="{1FC1C332-103A-4A6B-A1DF-7F41B76AEB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2D8F357-DCE6-4261-B00D-EF2EB942BA14}" type="slidenum">
              <a:rPr lang="en-US" altLang="zh-CN"/>
              <a:pPr/>
              <a:t>12</a:t>
            </a:fld>
            <a:endParaRPr lang="en-US" altLang="zh-CN" dirty="0"/>
          </a:p>
        </p:txBody>
      </p:sp>
      <p:sp>
        <p:nvSpPr>
          <p:cNvPr id="117764" name="Rectangle 2">
            <a:extLst>
              <a:ext uri="{FF2B5EF4-FFF2-40B4-BE49-F238E27FC236}">
                <a16:creationId xmlns:a16="http://schemas.microsoft.com/office/drawing/2014/main" id="{CE699C2C-EFF5-4C85-84C9-A0944C39F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en-US"/>
              <a:t>基本概念与基本定理</a:t>
            </a:r>
          </a:p>
        </p:txBody>
      </p:sp>
      <p:sp>
        <p:nvSpPr>
          <p:cNvPr id="117765" name="Rectangle 3">
            <a:extLst>
              <a:ext uri="{FF2B5EF4-FFF2-40B4-BE49-F238E27FC236}">
                <a16:creationId xmlns:a16="http://schemas.microsoft.com/office/drawing/2014/main" id="{2CC55CE7-C970-4409-92A3-109A99DA3F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709738"/>
            <a:ext cx="8153400" cy="2786062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增广链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是网络中联结发点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和收点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的一条链，我们定义链的方向是从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，则链上的弧被分为两类：</a:t>
            </a:r>
          </a:p>
          <a:p>
            <a:pPr marL="928687" lvl="1" indent="-457200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弧的方向与链的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方向一致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，叫做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前向弧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。前向弧的全体记为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928687" lvl="1" indent="-457200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弧与链的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方向相反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，称为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后向弧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。后向弧的全体记为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762000" y="4753119"/>
            <a:ext cx="2209800" cy="552883"/>
          </a:xfrm>
        </p:spPr>
        <p:txBody>
          <a:bodyPr/>
          <a:lstStyle/>
          <a:p>
            <a:r>
              <a:rPr lang="zh-CN" altLang="en-US" sz="2200" dirty="0"/>
              <a:t>图</a:t>
            </a:r>
            <a:r>
              <a:rPr lang="en-US" altLang="zh-CN" sz="2200" dirty="0"/>
              <a:t>24</a:t>
            </a:r>
            <a:r>
              <a:rPr lang="zh-CN" altLang="en-US" sz="2200" dirty="0"/>
              <a:t>中，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753119"/>
            <a:ext cx="5890269" cy="1298575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0A6F4797-15C7-46E1-97A0-B1568587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654" y="17318"/>
            <a:ext cx="4515246" cy="20938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连接符 5"/>
          <p:cNvCxnSpPr/>
          <p:nvPr/>
        </p:nvCxnSpPr>
        <p:spPr>
          <a:xfrm flipV="1">
            <a:off x="5029200" y="304800"/>
            <a:ext cx="914400" cy="7620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943600" y="381000"/>
            <a:ext cx="0" cy="139714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5943600" y="381000"/>
            <a:ext cx="1828800" cy="14478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7772400" y="381000"/>
            <a:ext cx="60325" cy="139714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7848600" y="1066800"/>
            <a:ext cx="868362" cy="70340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42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灯片编号占位符 5">
            <a:extLst>
              <a:ext uri="{FF2B5EF4-FFF2-40B4-BE49-F238E27FC236}">
                <a16:creationId xmlns:a16="http://schemas.microsoft.com/office/drawing/2014/main" id="{8721FC90-180F-4C47-A09E-C607CEA205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1334783-2829-4412-B1D0-55FB2B967247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4B9930EF-6F59-4FDF-BD53-7EDF956DD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5330827" cy="835025"/>
          </a:xfrm>
        </p:spPr>
        <p:txBody>
          <a:bodyPr/>
          <a:lstStyle/>
          <a:p>
            <a:r>
              <a:rPr lang="en-US" altLang="zh-CN" sz="3600" dirty="0"/>
              <a:t>4.1 </a:t>
            </a:r>
            <a:r>
              <a:rPr lang="zh-CN" altLang="en-US" sz="3600" dirty="0"/>
              <a:t>基本概念与基本定理</a:t>
            </a:r>
          </a:p>
        </p:txBody>
      </p:sp>
      <p:sp>
        <p:nvSpPr>
          <p:cNvPr id="118789" name="Rectangle 3">
            <a:extLst>
              <a:ext uri="{FF2B5EF4-FFF2-40B4-BE49-F238E27FC236}">
                <a16:creationId xmlns:a16="http://schemas.microsoft.com/office/drawing/2014/main" id="{A12A427F-3697-4389-9A95-3A3C11B23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719262"/>
            <a:ext cx="7813675" cy="2090738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是一个可行流，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的一条链，    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满足下列条件，称之为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关于可行流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增广链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在弧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≤ 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中每一弧是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非饱和弧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在弧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 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中每一弧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是非零流弧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725" y="4256087"/>
            <a:ext cx="5676900" cy="2601913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A12A427F-3697-4389-9A95-3A3C11B23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749675"/>
            <a:ext cx="7813675" cy="566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中，链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是一条增广链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1B961B2-AE24-DBED-2539-E4E29E36D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2" y="24775"/>
            <a:ext cx="3238498" cy="143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灯片编号占位符 5">
            <a:extLst>
              <a:ext uri="{FF2B5EF4-FFF2-40B4-BE49-F238E27FC236}">
                <a16:creationId xmlns:a16="http://schemas.microsoft.com/office/drawing/2014/main" id="{B7FBFBFC-91C0-4F45-9207-A173DF7B41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7775E15-81EB-4EAC-854E-97DB5F42CB8A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19812" name="Rectangle 2">
            <a:extLst>
              <a:ext uri="{FF2B5EF4-FFF2-40B4-BE49-F238E27FC236}">
                <a16:creationId xmlns:a16="http://schemas.microsoft.com/office/drawing/2014/main" id="{8990A9FD-C135-47A4-ACF6-3DD9ECFDF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5673725" cy="1216025"/>
          </a:xfrm>
        </p:spPr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119813" name="Rectangle 3">
            <a:extLst>
              <a:ext uri="{FF2B5EF4-FFF2-40B4-BE49-F238E27FC236}">
                <a16:creationId xmlns:a16="http://schemas.microsoft.com/office/drawing/2014/main" id="{8505AD7A-E193-474F-AE5B-4C2E0AC5E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0725" y="1642269"/>
            <a:ext cx="7737475" cy="4529931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截集与截量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S,T⊂V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S∩T=Ø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，我们把始点在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中，终点在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中的所有弧构成的集合，记为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给网络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D=(V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，若点集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被剖分为两个非空集合，使                          ，则把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称为是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分离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显然，若把某一截集的弧从网络中丢去，则从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便不存在路。所以，直观上说，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必经之道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9814" name="Rectangle 5">
            <a:extLst>
              <a:ext uri="{FF2B5EF4-FFF2-40B4-BE49-F238E27FC236}">
                <a16:creationId xmlns:a16="http://schemas.microsoft.com/office/drawing/2014/main" id="{EC4C2FA6-F07C-4293-9FDC-41243C5AC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9815" name="Object 4">
            <a:extLst>
              <a:ext uri="{FF2B5EF4-FFF2-40B4-BE49-F238E27FC236}">
                <a16:creationId xmlns:a16="http://schemas.microsoft.com/office/drawing/2014/main" id="{79D327F2-9C52-423E-9E82-E501145A9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721258"/>
              </p:ext>
            </p:extLst>
          </p:nvPr>
        </p:nvGraphicFramePr>
        <p:xfrm>
          <a:off x="3225800" y="3725863"/>
          <a:ext cx="18288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241200" progId="Equation.DSMT4">
                  <p:embed/>
                </p:oleObj>
              </mc:Choice>
              <mc:Fallback>
                <p:oleObj name="Equation" r:id="rId2" imgW="9396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3725863"/>
                        <a:ext cx="18288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6" name="Rectangle 7">
            <a:extLst>
              <a:ext uri="{FF2B5EF4-FFF2-40B4-BE49-F238E27FC236}">
                <a16:creationId xmlns:a16="http://schemas.microsoft.com/office/drawing/2014/main" id="{C5C07A4E-6218-4002-B4BC-02BF00792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9817" name="Object 6">
            <a:extLst>
              <a:ext uri="{FF2B5EF4-FFF2-40B4-BE49-F238E27FC236}">
                <a16:creationId xmlns:a16="http://schemas.microsoft.com/office/drawing/2014/main" id="{5EFFC048-D3A2-4E62-92EE-B64299F9F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673368"/>
              </p:ext>
            </p:extLst>
          </p:nvPr>
        </p:nvGraphicFramePr>
        <p:xfrm>
          <a:off x="6705600" y="3733800"/>
          <a:ext cx="8651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95085" imgH="241195" progId="Equation.DSMT4">
                  <p:embed/>
                </p:oleObj>
              </mc:Choice>
              <mc:Fallback>
                <p:oleObj r:id="rId4" imgW="495085" imgH="24119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733800"/>
                        <a:ext cx="8651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灯片编号占位符 5">
            <a:extLst>
              <a:ext uri="{FF2B5EF4-FFF2-40B4-BE49-F238E27FC236}">
                <a16:creationId xmlns:a16="http://schemas.microsoft.com/office/drawing/2014/main" id="{35829AE7-D813-4EAC-A3D7-DEE36BC20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9950215-CB4C-404D-B028-B4464DDE60FB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294B8CCD-7784-42AA-ADC8-66B3962E30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寻求最大流的标号法</a:t>
            </a:r>
          </a:p>
        </p:txBody>
      </p:sp>
      <p:sp>
        <p:nvSpPr>
          <p:cNvPr id="120837" name="Rectangle 3">
            <a:extLst>
              <a:ext uri="{FF2B5EF4-FFF2-40B4-BE49-F238E27FC236}">
                <a16:creationId xmlns:a16="http://schemas.microsoft.com/office/drawing/2014/main" id="{4348E1FC-2EC4-4C4A-9404-98E911158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599" y="1677987"/>
            <a:ext cx="8077201" cy="1903413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给一截集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把截集           中所有弧的容量之和称为这个截集的容量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简称为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截量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838" name="Rectangle 5">
            <a:extLst>
              <a:ext uri="{FF2B5EF4-FFF2-40B4-BE49-F238E27FC236}">
                <a16:creationId xmlns:a16="http://schemas.microsoft.com/office/drawing/2014/main" id="{200F2541-2DCE-4086-9D62-F1F699154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0839" name="Object 4">
            <a:extLst>
              <a:ext uri="{FF2B5EF4-FFF2-40B4-BE49-F238E27FC236}">
                <a16:creationId xmlns:a16="http://schemas.microsoft.com/office/drawing/2014/main" id="{96431BA4-1A56-4B6C-8555-C09DABDEC0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366783"/>
              </p:ext>
            </p:extLst>
          </p:nvPr>
        </p:nvGraphicFramePr>
        <p:xfrm>
          <a:off x="3484563" y="1739900"/>
          <a:ext cx="83978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240" imgH="241200" progId="Equation.DSMT4">
                  <p:embed/>
                </p:oleObj>
              </mc:Choice>
              <mc:Fallback>
                <p:oleObj name="Equation" r:id="rId2" imgW="444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1739900"/>
                        <a:ext cx="839787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0" name="Rectangle 7">
            <a:extLst>
              <a:ext uri="{FF2B5EF4-FFF2-40B4-BE49-F238E27FC236}">
                <a16:creationId xmlns:a16="http://schemas.microsoft.com/office/drawing/2014/main" id="{4B3C1E90-1C30-4E7F-A2BE-F284C21AD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0842" name="Rectangle 9">
            <a:extLst>
              <a:ext uri="{FF2B5EF4-FFF2-40B4-BE49-F238E27FC236}">
                <a16:creationId xmlns:a16="http://schemas.microsoft.com/office/drawing/2014/main" id="{19FC1F1A-487F-45A7-8EEE-B2BE9838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0844" name="Rectangle 11">
            <a:extLst>
              <a:ext uri="{FF2B5EF4-FFF2-40B4-BE49-F238E27FC236}">
                <a16:creationId xmlns:a16="http://schemas.microsoft.com/office/drawing/2014/main" id="{5F2FC6EB-5C85-4C6E-B109-6A9C423D5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0845" name="Object 10">
            <a:extLst>
              <a:ext uri="{FF2B5EF4-FFF2-40B4-BE49-F238E27FC236}">
                <a16:creationId xmlns:a16="http://schemas.microsoft.com/office/drawing/2014/main" id="{43F26E63-ABBB-4DE0-B233-DE0AE0804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193111"/>
              </p:ext>
            </p:extLst>
          </p:nvPr>
        </p:nvGraphicFramePr>
        <p:xfrm>
          <a:off x="1686293" y="2636837"/>
          <a:ext cx="4095014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380880" progId="Equation.DSMT4">
                  <p:embed/>
                </p:oleObj>
              </mc:Choice>
              <mc:Fallback>
                <p:oleObj name="Equation" r:id="rId4" imgW="18032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293" y="2636837"/>
                        <a:ext cx="4095014" cy="86836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6" name="Rectangle 15">
            <a:extLst>
              <a:ext uri="{FF2B5EF4-FFF2-40B4-BE49-F238E27FC236}">
                <a16:creationId xmlns:a16="http://schemas.microsoft.com/office/drawing/2014/main" id="{50E403C2-53D1-4A51-85F0-DEE1FB40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0848" name="Rectangle 17">
            <a:extLst>
              <a:ext uri="{FF2B5EF4-FFF2-40B4-BE49-F238E27FC236}">
                <a16:creationId xmlns:a16="http://schemas.microsoft.com/office/drawing/2014/main" id="{38F3DE1D-5575-4588-A9A0-C5DDFED22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0849" name="Object 16">
            <a:extLst>
              <a:ext uri="{FF2B5EF4-FFF2-40B4-BE49-F238E27FC236}">
                <a16:creationId xmlns:a16="http://schemas.microsoft.com/office/drawing/2014/main" id="{E99CD0E9-797E-490F-9C1E-DA93F30787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357472"/>
              </p:ext>
            </p:extLst>
          </p:nvPr>
        </p:nvGraphicFramePr>
        <p:xfrm>
          <a:off x="5453063" y="1733550"/>
          <a:ext cx="7762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240" imgH="241200" progId="Equation.DSMT4">
                  <p:embed/>
                </p:oleObj>
              </mc:Choice>
              <mc:Fallback>
                <p:oleObj name="Equation" r:id="rId6" imgW="444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1733550"/>
                        <a:ext cx="7762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50" name="Rectangle 19">
            <a:extLst>
              <a:ext uri="{FF2B5EF4-FFF2-40B4-BE49-F238E27FC236}">
                <a16:creationId xmlns:a16="http://schemas.microsoft.com/office/drawing/2014/main" id="{6743519B-3B49-4594-9827-54D608BCF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0852" name="Rectangle 21">
            <a:extLst>
              <a:ext uri="{FF2B5EF4-FFF2-40B4-BE49-F238E27FC236}">
                <a16:creationId xmlns:a16="http://schemas.microsoft.com/office/drawing/2014/main" id="{4BB53B0E-252A-4EC7-8A5B-FE9E0288B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" name="Object 8">
            <a:extLst>
              <a:ext uri="{FF2B5EF4-FFF2-40B4-BE49-F238E27FC236}">
                <a16:creationId xmlns:a16="http://schemas.microsoft.com/office/drawing/2014/main" id="{2D3C37FF-9049-493E-83FA-E7D2C9221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557978"/>
              </p:ext>
            </p:extLst>
          </p:nvPr>
        </p:nvGraphicFramePr>
        <p:xfrm>
          <a:off x="7162800" y="2170980"/>
          <a:ext cx="9080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560" imgH="241200" progId="Equation.DSMT4">
                  <p:embed/>
                </p:oleObj>
              </mc:Choice>
              <mc:Fallback>
                <p:oleObj name="Equation" r:id="rId8" imgW="520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170980"/>
                        <a:ext cx="9080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">
            <a:extLst>
              <a:ext uri="{FF2B5EF4-FFF2-40B4-BE49-F238E27FC236}">
                <a16:creationId xmlns:a16="http://schemas.microsoft.com/office/drawing/2014/main" id="{4348E1FC-2EC4-4C4A-9404-98E911158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3581400"/>
            <a:ext cx="8077201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不难证明，任何一个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可行流的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流量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都不会超过任一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截集的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容量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。即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1A3DE5B1-64C9-4BA8-8FE3-75228F988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836333"/>
              </p:ext>
            </p:extLst>
          </p:nvPr>
        </p:nvGraphicFramePr>
        <p:xfrm>
          <a:off x="3429000" y="4087811"/>
          <a:ext cx="2209800" cy="52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960" imgH="241200" progId="Equation.DSMT4">
                  <p:embed/>
                </p:oleObj>
              </mc:Choice>
              <mc:Fallback>
                <p:oleObj name="Equation" r:id="rId10" imgW="1002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087811"/>
                        <a:ext cx="2209800" cy="52585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">
            <a:extLst>
              <a:ext uri="{FF2B5EF4-FFF2-40B4-BE49-F238E27FC236}">
                <a16:creationId xmlns:a16="http://schemas.microsoft.com/office/drawing/2014/main" id="{4348E1FC-2EC4-4C4A-9404-98E911158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4648200"/>
            <a:ext cx="807720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若对于一个可行流 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*,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网络中有一个截集           ，使             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 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最大流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             必定是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的所有截集中，容量最小的一个，即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最小截集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1" name="Object 18">
            <a:extLst>
              <a:ext uri="{FF2B5EF4-FFF2-40B4-BE49-F238E27FC236}">
                <a16:creationId xmlns:a16="http://schemas.microsoft.com/office/drawing/2014/main" id="{8E1F0D4B-47BA-4F03-ADB7-CE33DF00B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2888" y="5157788"/>
          <a:ext cx="22225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04840" imgH="241200" progId="Equation.DSMT4">
                  <p:embed/>
                </p:oleObj>
              </mc:Choice>
              <mc:Fallback>
                <p:oleObj name="Equation" r:id="rId12" imgW="1104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888" y="5157788"/>
                        <a:ext cx="22225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0">
            <a:extLst>
              <a:ext uri="{FF2B5EF4-FFF2-40B4-BE49-F238E27FC236}">
                <a16:creationId xmlns:a16="http://schemas.microsoft.com/office/drawing/2014/main" id="{38262725-D24E-45DF-BA6B-135E11974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1775" y="5208588"/>
          <a:ext cx="8239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20560" imgH="241200" progId="Equation.DSMT4">
                  <p:embed/>
                </p:oleObj>
              </mc:Choice>
              <mc:Fallback>
                <p:oleObj name="Equation" r:id="rId14" imgW="520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5208588"/>
                        <a:ext cx="823913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0">
            <a:extLst>
              <a:ext uri="{FF2B5EF4-FFF2-40B4-BE49-F238E27FC236}">
                <a16:creationId xmlns:a16="http://schemas.microsoft.com/office/drawing/2014/main" id="{38262725-D24E-45DF-BA6B-135E11974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5838" y="4729163"/>
          <a:ext cx="8715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20560" imgH="241200" progId="Equation.DSMT4">
                  <p:embed/>
                </p:oleObj>
              </mc:Choice>
              <mc:Fallback>
                <p:oleObj name="Equation" r:id="rId16" imgW="520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8" y="4729163"/>
                        <a:ext cx="87153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966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灯片编号占位符 5">
            <a:extLst>
              <a:ext uri="{FF2B5EF4-FFF2-40B4-BE49-F238E27FC236}">
                <a16:creationId xmlns:a16="http://schemas.microsoft.com/office/drawing/2014/main" id="{F7EE9938-3D94-4C62-B3E0-8ADAF380DD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94674" y="6245225"/>
            <a:ext cx="1939726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695A878-FE7D-490E-A252-B63F15212513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21860" name="Rectangle 2">
            <a:extLst>
              <a:ext uri="{FF2B5EF4-FFF2-40B4-BE49-F238E27FC236}">
                <a16:creationId xmlns:a16="http://schemas.microsoft.com/office/drawing/2014/main" id="{CD521C1E-CA2F-4D31-B41F-EE66960F0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</a:t>
            </a:r>
            <a:r>
              <a:rPr lang="zh-CN" altLang="en-US"/>
              <a:t>寻求最大流的标号法</a:t>
            </a:r>
          </a:p>
        </p:txBody>
      </p:sp>
      <p:sp>
        <p:nvSpPr>
          <p:cNvPr id="121861" name="Rectangle 3">
            <a:extLst>
              <a:ext uri="{FF2B5EF4-FFF2-40B4-BE49-F238E27FC236}">
                <a16:creationId xmlns:a16="http://schemas.microsoft.com/office/drawing/2014/main" id="{8C01D490-4887-46F8-9BA2-993AE38B0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14268"/>
            <a:ext cx="7848600" cy="2743199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是最大流，当且仅当不存在关于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增广链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是最大流，设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中存在关于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的增广链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由增广链的定义，可知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</a:p>
        </p:txBody>
      </p:sp>
      <p:sp>
        <p:nvSpPr>
          <p:cNvPr id="121862" name="Rectangle 5">
            <a:extLst>
              <a:ext uri="{FF2B5EF4-FFF2-40B4-BE49-F238E27FC236}">
                <a16:creationId xmlns:a16="http://schemas.microsoft.com/office/drawing/2014/main" id="{5E9231CE-3F52-491B-9FBE-D219BEA44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1863" name="Object 4">
            <a:extLst>
              <a:ext uri="{FF2B5EF4-FFF2-40B4-BE49-F238E27FC236}">
                <a16:creationId xmlns:a16="http://schemas.microsoft.com/office/drawing/2014/main" id="{E03D1FB9-9E2C-422F-A7CE-7A3589CAF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3823"/>
              </p:ext>
            </p:extLst>
          </p:nvPr>
        </p:nvGraphicFramePr>
        <p:xfrm>
          <a:off x="1600200" y="2622582"/>
          <a:ext cx="4189123" cy="72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68500" imgH="317500" progId="Equation.DSMT4">
                  <p:embed/>
                </p:oleObj>
              </mc:Choice>
              <mc:Fallback>
                <p:oleObj r:id="rId3" imgW="1968500" imgH="317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622582"/>
                        <a:ext cx="4189123" cy="72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4" name="Rectangle 7">
            <a:extLst>
              <a:ext uri="{FF2B5EF4-FFF2-40B4-BE49-F238E27FC236}">
                <a16:creationId xmlns:a16="http://schemas.microsoft.com/office/drawing/2014/main" id="{63B3B12A-A9CA-4C30-AD91-9D1545C6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1865" name="Object 6">
            <a:extLst>
              <a:ext uri="{FF2B5EF4-FFF2-40B4-BE49-F238E27FC236}">
                <a16:creationId xmlns:a16="http://schemas.microsoft.com/office/drawing/2014/main" id="{4AA9554E-E8B1-42FD-9247-9B2048C7A2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154029"/>
              </p:ext>
            </p:extLst>
          </p:nvPr>
        </p:nvGraphicFramePr>
        <p:xfrm>
          <a:off x="5181600" y="3290668"/>
          <a:ext cx="3032376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27200" imgH="838200" progId="Equation.DSMT4">
                  <p:embed/>
                </p:oleObj>
              </mc:Choice>
              <mc:Fallback>
                <p:oleObj r:id="rId5" imgW="1727200" imgH="838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290668"/>
                        <a:ext cx="3032376" cy="15065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6" name="Rectangle 9">
            <a:extLst>
              <a:ext uri="{FF2B5EF4-FFF2-40B4-BE49-F238E27FC236}">
                <a16:creationId xmlns:a16="http://schemas.microsoft.com/office/drawing/2014/main" id="{97D93899-449A-4DE0-B742-8FC4CE200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897681-584E-4A4F-0FB3-4816FE398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029201"/>
            <a:ext cx="7848600" cy="114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不难验证          是一个可行流，且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f**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)+θ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这与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是最大流的假设矛盾。</a:t>
            </a: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FEBF4887-7D28-02FF-0E8B-61435F010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685486"/>
              </p:ext>
            </p:extLst>
          </p:nvPr>
        </p:nvGraphicFramePr>
        <p:xfrm>
          <a:off x="2016125" y="5029200"/>
          <a:ext cx="84552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93529" imgH="253890" progId="Equation.DSMT4">
                  <p:embed/>
                </p:oleObj>
              </mc:Choice>
              <mc:Fallback>
                <p:oleObj r:id="rId7" imgW="393529" imgH="253890" progId="Equation.DSMT4">
                  <p:embed/>
                  <p:pic>
                    <p:nvPicPr>
                      <p:cNvPr id="121867" name="Object 8">
                        <a:extLst>
                          <a:ext uri="{FF2B5EF4-FFF2-40B4-BE49-F238E27FC236}">
                            <a16:creationId xmlns:a16="http://schemas.microsoft.com/office/drawing/2014/main" id="{A9F666B6-DD0C-4CE5-B3B1-0C7645BE7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5029200"/>
                        <a:ext cx="84552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25" y="4876800"/>
            <a:ext cx="7772400" cy="195261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灯片编号占位符 5">
            <a:extLst>
              <a:ext uri="{FF2B5EF4-FFF2-40B4-BE49-F238E27FC236}">
                <a16:creationId xmlns:a16="http://schemas.microsoft.com/office/drawing/2014/main" id="{A3780A22-A97B-478C-919A-B501012D6E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9C9E3E-EB10-4E3F-8B26-846FBAF5DFD2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22884" name="Rectangle 2">
            <a:extLst>
              <a:ext uri="{FF2B5EF4-FFF2-40B4-BE49-F238E27FC236}">
                <a16:creationId xmlns:a16="http://schemas.microsoft.com/office/drawing/2014/main" id="{0E3A4058-DE7F-4697-A279-75A8018C9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5673725" cy="1216025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寻求最大流的标号法</a:t>
            </a:r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C6216159-CA2F-4A9E-917E-AC6557EB2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886" name="Rectangle 7">
            <a:extLst>
              <a:ext uri="{FF2B5EF4-FFF2-40B4-BE49-F238E27FC236}">
                <a16:creationId xmlns:a16="http://schemas.microsoft.com/office/drawing/2014/main" id="{521A6F15-3D83-4AFC-9EFC-D2973FA63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887" name="Rectangle 9">
            <a:extLst>
              <a:ext uri="{FF2B5EF4-FFF2-40B4-BE49-F238E27FC236}">
                <a16:creationId xmlns:a16="http://schemas.microsoft.com/office/drawing/2014/main" id="{28404EB8-99D1-47D1-953F-B3C624377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888" name="Rectangle 11">
            <a:extLst>
              <a:ext uri="{FF2B5EF4-FFF2-40B4-BE49-F238E27FC236}">
                <a16:creationId xmlns:a16="http://schemas.microsoft.com/office/drawing/2014/main" id="{87476977-918E-4943-8813-F5CBAA9E9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2889" name="Object 10">
            <a:extLst>
              <a:ext uri="{FF2B5EF4-FFF2-40B4-BE49-F238E27FC236}">
                <a16:creationId xmlns:a16="http://schemas.microsoft.com/office/drawing/2014/main" id="{073A1541-4BB1-4B82-8C52-F1E393F50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632344"/>
              </p:ext>
            </p:extLst>
          </p:nvPr>
        </p:nvGraphicFramePr>
        <p:xfrm>
          <a:off x="2746375" y="4627622"/>
          <a:ext cx="266382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558720" progId="Equation.DSMT4">
                  <p:embed/>
                </p:oleObj>
              </mc:Choice>
              <mc:Fallback>
                <p:oleObj name="Equation" r:id="rId2" imgW="1739880" imgH="5587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5" y="4627622"/>
                        <a:ext cx="2663825" cy="85883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0" name="Rectangle 13">
            <a:extLst>
              <a:ext uri="{FF2B5EF4-FFF2-40B4-BE49-F238E27FC236}">
                <a16:creationId xmlns:a16="http://schemas.microsoft.com/office/drawing/2014/main" id="{901A5D6B-8CB7-4D3F-B904-67B5314AD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2892" name="Object 21">
            <a:extLst>
              <a:ext uri="{FF2B5EF4-FFF2-40B4-BE49-F238E27FC236}">
                <a16:creationId xmlns:a16="http://schemas.microsoft.com/office/drawing/2014/main" id="{E50E8057-2D3E-49C3-9933-21FC8C8E5F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968559"/>
              </p:ext>
            </p:extLst>
          </p:nvPr>
        </p:nvGraphicFramePr>
        <p:xfrm>
          <a:off x="5029200" y="3474212"/>
          <a:ext cx="10572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41200" progId="Equation.DSMT4">
                  <p:embed/>
                </p:oleObj>
              </mc:Choice>
              <mc:Fallback>
                <p:oleObj name="Equation" r:id="rId4" imgW="444240" imgH="241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474212"/>
                        <a:ext cx="10572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3" name="Object 20">
            <a:extLst>
              <a:ext uri="{FF2B5EF4-FFF2-40B4-BE49-F238E27FC236}">
                <a16:creationId xmlns:a16="http://schemas.microsoft.com/office/drawing/2014/main" id="{AD862A3D-3E8A-4398-8E8C-ED7CCBCEC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901116"/>
              </p:ext>
            </p:extLst>
          </p:nvPr>
        </p:nvGraphicFramePr>
        <p:xfrm>
          <a:off x="1611312" y="4168775"/>
          <a:ext cx="120808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241200" progId="Equation.DSMT4">
                  <p:embed/>
                </p:oleObj>
              </mc:Choice>
              <mc:Fallback>
                <p:oleObj name="Equation" r:id="rId6" imgW="711000" imgH="241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2" y="4168775"/>
                        <a:ext cx="120808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4" name="Object 19">
            <a:extLst>
              <a:ext uri="{FF2B5EF4-FFF2-40B4-BE49-F238E27FC236}">
                <a16:creationId xmlns:a16="http://schemas.microsoft.com/office/drawing/2014/main" id="{E1632AA9-5F68-4501-BBE6-892637541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769911"/>
              </p:ext>
            </p:extLst>
          </p:nvPr>
        </p:nvGraphicFramePr>
        <p:xfrm>
          <a:off x="5408613" y="4125119"/>
          <a:ext cx="915987" cy="419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560" imgH="241200" progId="Equation.DSMT4">
                  <p:embed/>
                </p:oleObj>
              </mc:Choice>
              <mc:Fallback>
                <p:oleObj name="Equation" r:id="rId8" imgW="520560" imgH="241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613" y="4125119"/>
                        <a:ext cx="915987" cy="419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5" name="Object 17">
            <a:extLst>
              <a:ext uri="{FF2B5EF4-FFF2-40B4-BE49-F238E27FC236}">
                <a16:creationId xmlns:a16="http://schemas.microsoft.com/office/drawing/2014/main" id="{E303A7DE-1E54-4601-8829-527A57EBF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549432"/>
              </p:ext>
            </p:extLst>
          </p:nvPr>
        </p:nvGraphicFramePr>
        <p:xfrm>
          <a:off x="2032069" y="5562600"/>
          <a:ext cx="2082731" cy="487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16000" imgH="241300" progId="Equation.DSMT4">
                  <p:embed/>
                </p:oleObj>
              </mc:Choice>
              <mc:Fallback>
                <p:oleObj r:id="rId10" imgW="1016000" imgH="241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69" y="5562600"/>
                        <a:ext cx="2082731" cy="487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7" name="Rectangle 24">
            <a:extLst>
              <a:ext uri="{FF2B5EF4-FFF2-40B4-BE49-F238E27FC236}">
                <a16:creationId xmlns:a16="http://schemas.microsoft.com/office/drawing/2014/main" id="{B5109690-9BC7-4842-93C0-84B7C32E4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49" y="1696004"/>
            <a:ext cx="7778751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现在设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中不存在关于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的增广链，证明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是最大流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利用下面的方法来定义</a:t>
            </a:r>
            <a:r>
              <a:rPr lang="en-US" altLang="zh-CN" sz="2200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* </a:t>
            </a:r>
            <a:r>
              <a:rPr lang="zh-CN" altLang="en-US" sz="2200" dirty="0">
                <a:latin typeface="Times New Roman" panose="02020603050405020304" pitchFamily="18" charset="0"/>
              </a:rPr>
              <a:t>：令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</a:rPr>
              <a:t>∈V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*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</a:rPr>
              <a:t>若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∈V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sz="2200" dirty="0">
                <a:latin typeface="Times New Roman" panose="02020603050405020304" pitchFamily="18" charset="0"/>
              </a:rPr>
              <a:t>，且 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</a:rPr>
              <a:t>＜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</a:rPr>
              <a:t>，则令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∈V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*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</a:rPr>
              <a:t>若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∈V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sz="2200" dirty="0">
                <a:latin typeface="Times New Roman" panose="02020603050405020304" pitchFamily="18" charset="0"/>
              </a:rPr>
              <a:t>，且 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ji</a:t>
            </a:r>
            <a:r>
              <a:rPr lang="zh-CN" altLang="en-US" sz="2200" dirty="0">
                <a:latin typeface="Times New Roman" panose="02020603050405020304" pitchFamily="18" charset="0"/>
              </a:rPr>
              <a:t>＞</a:t>
            </a:r>
            <a:r>
              <a:rPr lang="en-US" altLang="zh-CN" sz="2200" dirty="0">
                <a:latin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</a:rPr>
              <a:t>， 则令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∈V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*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</a:rPr>
              <a:t>因为不存在关于</a:t>
            </a:r>
            <a:r>
              <a:rPr lang="en-US" altLang="zh-CN" sz="2200" dirty="0">
                <a:latin typeface="Times New Roman" panose="02020603050405020304" pitchFamily="18" charset="0"/>
              </a:rPr>
              <a:t>f </a:t>
            </a:r>
            <a:r>
              <a:rPr lang="zh-CN" altLang="en-US" sz="2200" dirty="0">
                <a:latin typeface="Times New Roman" panose="02020603050405020304" pitchFamily="18" charset="0"/>
              </a:rPr>
              <a:t>的增广链，故</a:t>
            </a:r>
          </a:p>
        </p:txBody>
      </p:sp>
      <p:sp>
        <p:nvSpPr>
          <p:cNvPr id="122898" name="Rectangle 25">
            <a:extLst>
              <a:ext uri="{FF2B5EF4-FFF2-40B4-BE49-F238E27FC236}">
                <a16:creationId xmlns:a16="http://schemas.microsoft.com/office/drawing/2014/main" id="{8F0C5CF5-4B7F-4E50-91F1-4F429AC21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084300"/>
            <a:ext cx="546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ctr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Arial" panose="020B0604020202020204" pitchFamily="34" charset="0"/>
                <a:cs typeface="Courier New" panose="02070309020205020404" pitchFamily="49" charset="0"/>
              </a:rPr>
              <a:t>记</a:t>
            </a:r>
            <a:endParaRPr lang="zh-CN" altLang="en-US" sz="2200" dirty="0">
              <a:latin typeface="Arial" panose="020B0604020202020204" pitchFamily="34" charset="0"/>
            </a:endParaRPr>
          </a:p>
        </p:txBody>
      </p:sp>
      <p:sp>
        <p:nvSpPr>
          <p:cNvPr id="122899" name="Rectangle 26">
            <a:extLst>
              <a:ext uri="{FF2B5EF4-FFF2-40B4-BE49-F238E27FC236}">
                <a16:creationId xmlns:a16="http://schemas.microsoft.com/office/drawing/2014/main" id="{08CF5815-D4CB-4CF3-8F07-4614992F8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108113"/>
            <a:ext cx="30956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 dirty="0">
                <a:cs typeface="Courier New" panose="02070309020205020404" pitchFamily="49" charset="0"/>
              </a:rPr>
              <a:t>于是得到一个截集</a:t>
            </a:r>
            <a:endParaRPr lang="zh-CN" altLang="en-US" sz="2200" dirty="0"/>
          </a:p>
        </p:txBody>
      </p:sp>
      <p:sp>
        <p:nvSpPr>
          <p:cNvPr id="122900" name="Rectangle 27">
            <a:extLst>
              <a:ext uri="{FF2B5EF4-FFF2-40B4-BE49-F238E27FC236}">
                <a16:creationId xmlns:a16="http://schemas.microsoft.com/office/drawing/2014/main" id="{94BAC414-3BF5-41D6-8FFA-79BBA7DB9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800" y="4807804"/>
            <a:ext cx="14125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 dirty="0">
                <a:cs typeface="Courier New" panose="02070309020205020404" pitchFamily="49" charset="0"/>
              </a:rPr>
              <a:t> </a:t>
            </a:r>
            <a:r>
              <a:rPr lang="zh-CN" altLang="en-US" sz="2200" dirty="0">
                <a:cs typeface="Courier New" panose="02070309020205020404" pitchFamily="49" charset="0"/>
              </a:rPr>
              <a:t>显然必有</a:t>
            </a:r>
            <a:endParaRPr lang="zh-CN" altLang="en-US" sz="2200" dirty="0"/>
          </a:p>
        </p:txBody>
      </p:sp>
      <p:sp>
        <p:nvSpPr>
          <p:cNvPr id="122902" name="Rectangle 29">
            <a:extLst>
              <a:ext uri="{FF2B5EF4-FFF2-40B4-BE49-F238E27FC236}">
                <a16:creationId xmlns:a16="http://schemas.microsoft.com/office/drawing/2014/main" id="{B673AFB5-A9AF-4E8F-8D53-6349A54B2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605919"/>
            <a:ext cx="7315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 dirty="0">
                <a:latin typeface="Times New Roman" panose="02020603050405020304" pitchFamily="18" charset="0"/>
              </a:rPr>
              <a:t>所以                                。于是 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dirty="0"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Times New Roman" panose="02020603050405020304" pitchFamily="18" charset="0"/>
              </a:rPr>
              <a:t>必是最大流。定理得证。</a:t>
            </a:r>
            <a:r>
              <a:rPr lang="zh-CN" altLang="en-US" sz="22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灯片编号占位符 5">
            <a:extLst>
              <a:ext uri="{FF2B5EF4-FFF2-40B4-BE49-F238E27FC236}">
                <a16:creationId xmlns:a16="http://schemas.microsoft.com/office/drawing/2014/main" id="{B67F9EAF-FDEE-46AE-A622-C4A82DA1B7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09A8FD-C7B3-446F-81D5-97231F083B71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23908" name="Rectangle 2">
            <a:extLst>
              <a:ext uri="{FF2B5EF4-FFF2-40B4-BE49-F238E27FC236}">
                <a16:creationId xmlns:a16="http://schemas.microsoft.com/office/drawing/2014/main" id="{2797C9D0-2C4D-4621-8ECE-9DBC47B4F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</a:t>
            </a:r>
            <a:r>
              <a:rPr lang="zh-CN" altLang="en-US"/>
              <a:t>寻求最大流的标号法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8C5BF92E-5185-4490-9886-ED4B693727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888" y="1785938"/>
            <a:ext cx="7910512" cy="43100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由上述证明中可见，若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是最大流，则网络中必存在一个截集            ，使</a:t>
            </a:r>
          </a:p>
          <a:p>
            <a:pP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于是有如下重要的结论：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最大流量最小截量定理：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任一个网络</a:t>
            </a:r>
            <a:r>
              <a:rPr lang="en-US" altLang="zh-CN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中，从</a:t>
            </a:r>
            <a:r>
              <a:rPr lang="en-US" altLang="zh-CN" b="1" i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b="1" i="1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最大流的流量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分离</a:t>
            </a:r>
            <a:r>
              <a:rPr lang="en-US" altLang="zh-CN" b="1" i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最小截集的容量</a:t>
            </a:r>
            <a:r>
              <a:rPr lang="zh-CN" altLang="en-US" b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3910" name="Rectangle 5">
            <a:extLst>
              <a:ext uri="{FF2B5EF4-FFF2-40B4-BE49-F238E27FC236}">
                <a16:creationId xmlns:a16="http://schemas.microsoft.com/office/drawing/2014/main" id="{1C23FF1F-845F-4E23-B480-AEDD27BA0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3911" name="Object 4">
            <a:extLst>
              <a:ext uri="{FF2B5EF4-FFF2-40B4-BE49-F238E27FC236}">
                <a16:creationId xmlns:a16="http://schemas.microsoft.com/office/drawing/2014/main" id="{BF3F0825-8A26-47B1-869D-B1F511E2A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690348"/>
              </p:ext>
            </p:extLst>
          </p:nvPr>
        </p:nvGraphicFramePr>
        <p:xfrm>
          <a:off x="3713162" y="2314574"/>
          <a:ext cx="9350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5863" imgH="241195" progId="Equation.DSMT4">
                  <p:embed/>
                </p:oleObj>
              </mc:Choice>
              <mc:Fallback>
                <p:oleObj r:id="rId2" imgW="545863" imgH="24119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2" y="2314574"/>
                        <a:ext cx="93503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2" name="Rectangle 7">
            <a:extLst>
              <a:ext uri="{FF2B5EF4-FFF2-40B4-BE49-F238E27FC236}">
                <a16:creationId xmlns:a16="http://schemas.microsoft.com/office/drawing/2014/main" id="{DE3281ED-4469-4565-BB5E-8C5A52AE9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3913" name="Object 6">
            <a:extLst>
              <a:ext uri="{FF2B5EF4-FFF2-40B4-BE49-F238E27FC236}">
                <a16:creationId xmlns:a16="http://schemas.microsoft.com/office/drawing/2014/main" id="{0688651E-EE29-420A-8772-385B5DB40C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953345"/>
              </p:ext>
            </p:extLst>
          </p:nvPr>
        </p:nvGraphicFramePr>
        <p:xfrm>
          <a:off x="3352800" y="2819400"/>
          <a:ext cx="246826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16000" imgH="241300" progId="Equation.DSMT4">
                  <p:embed/>
                </p:oleObj>
              </mc:Choice>
              <mc:Fallback>
                <p:oleObj r:id="rId4" imgW="10160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819400"/>
                        <a:ext cx="2468260" cy="57626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灯片编号占位符 5">
            <a:extLst>
              <a:ext uri="{FF2B5EF4-FFF2-40B4-BE49-F238E27FC236}">
                <a16:creationId xmlns:a16="http://schemas.microsoft.com/office/drawing/2014/main" id="{23EBBDA1-AEDB-4798-A613-40242AAC34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8732E99-FC8E-48F2-BCFF-8A27FEECC10B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24932" name="Rectangle 2">
            <a:extLst>
              <a:ext uri="{FF2B5EF4-FFF2-40B4-BE49-F238E27FC236}">
                <a16:creationId xmlns:a16="http://schemas.microsoft.com/office/drawing/2014/main" id="{A10A3AA4-F1DC-4620-922A-9DC8D97D6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5597525" cy="1216025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寻求最大流的标号法</a:t>
            </a:r>
          </a:p>
        </p:txBody>
      </p:sp>
      <p:sp>
        <p:nvSpPr>
          <p:cNvPr id="124933" name="Rectangle 3">
            <a:extLst>
              <a:ext uri="{FF2B5EF4-FFF2-40B4-BE49-F238E27FC236}">
                <a16:creationId xmlns:a16="http://schemas.microsoft.com/office/drawing/2014/main" id="{F4D851AD-5570-4B91-9034-BE7FB807B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52402" cy="4267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为我们提供了寻求网络中最大流的一个方法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若给了一个可行流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只要判断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中有无关于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的增广链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如果有增广链，则可以按定理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前半部证明中的办法，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487" lvl="1" indent="0">
              <a:lnSpc>
                <a:spcPct val="150000"/>
              </a:lnSpc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改进 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，得到一个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流量增大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新的可行流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如果没有增广链，则得到最大流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而利用定理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后半部证明中定义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的办法，可以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是否属于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来判断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中有无关于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的增广链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4934" name="Rectangle 4">
            <a:extLst>
              <a:ext uri="{FF2B5EF4-FFF2-40B4-BE49-F238E27FC236}">
                <a16:creationId xmlns:a16="http://schemas.microsoft.com/office/drawing/2014/main" id="{7BD80836-7FF8-4254-9F13-2609B429A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4935" name="Rectangle 6">
            <a:extLst>
              <a:ext uri="{FF2B5EF4-FFF2-40B4-BE49-F238E27FC236}">
                <a16:creationId xmlns:a16="http://schemas.microsoft.com/office/drawing/2014/main" id="{DE491A71-D132-4662-A70B-384DF68D4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灯片编号占位符 5">
            <a:extLst>
              <a:ext uri="{FF2B5EF4-FFF2-40B4-BE49-F238E27FC236}">
                <a16:creationId xmlns:a16="http://schemas.microsoft.com/office/drawing/2014/main" id="{23EBBDA1-AEDB-4798-A613-40242AAC34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8732E99-FC8E-48F2-BCFF-8A27FEECC10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24932" name="Rectangle 2">
            <a:extLst>
              <a:ext uri="{FF2B5EF4-FFF2-40B4-BE49-F238E27FC236}">
                <a16:creationId xmlns:a16="http://schemas.microsoft.com/office/drawing/2014/main" id="{A10A3AA4-F1DC-4620-922A-9DC8D97D6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5749925" cy="758825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</a:t>
            </a:r>
            <a:r>
              <a:rPr lang="zh-CN" altLang="en-US" dirty="0">
                <a:solidFill>
                  <a:srgbClr val="FF0000"/>
                </a:solidFill>
              </a:rPr>
              <a:t>标号法</a:t>
            </a:r>
          </a:p>
        </p:txBody>
      </p:sp>
      <p:sp>
        <p:nvSpPr>
          <p:cNvPr id="124933" name="Rectangle 3">
            <a:extLst>
              <a:ext uri="{FF2B5EF4-FFF2-40B4-BE49-F238E27FC236}">
                <a16:creationId xmlns:a16="http://schemas.microsoft.com/office/drawing/2014/main" id="{F4D851AD-5570-4B91-9034-BE7FB807B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9138" y="1752600"/>
            <a:ext cx="7510462" cy="36242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实际计算时，用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给顶点标号的方法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来定义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在标号过程中，有标号的顶点表示是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中的点，没有标号的点表示不是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中的点。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一旦</a:t>
            </a:r>
            <a:r>
              <a:rPr lang="en-US" altLang="zh-CN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有了标号，就表明找到一条增广链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如果标号过程进行不下去，而</a:t>
            </a:r>
            <a:r>
              <a:rPr lang="en-US" altLang="zh-CN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尚未标号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，则说明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不存在增广链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，于是得到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最大流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。而且同时也得到一个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最小截集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4934" name="Rectangle 4">
            <a:extLst>
              <a:ext uri="{FF2B5EF4-FFF2-40B4-BE49-F238E27FC236}">
                <a16:creationId xmlns:a16="http://schemas.microsoft.com/office/drawing/2014/main" id="{7BD80836-7FF8-4254-9F13-2609B429A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4935" name="Rectangle 6">
            <a:extLst>
              <a:ext uri="{FF2B5EF4-FFF2-40B4-BE49-F238E27FC236}">
                <a16:creationId xmlns:a16="http://schemas.microsoft.com/office/drawing/2014/main" id="{DE491A71-D132-4662-A70B-384DF68D4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213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灯片编号占位符 5">
            <a:extLst>
              <a:ext uri="{FF2B5EF4-FFF2-40B4-BE49-F238E27FC236}">
                <a16:creationId xmlns:a16="http://schemas.microsoft.com/office/drawing/2014/main" id="{42FFEB89-7298-4190-AF71-036137C929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B701A6B-DA19-4E1E-AECE-538CA30681B6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25956" name="Rectangle 2">
            <a:extLst>
              <a:ext uri="{FF2B5EF4-FFF2-40B4-BE49-F238E27FC236}">
                <a16:creationId xmlns:a16="http://schemas.microsoft.com/office/drawing/2014/main" id="{536E92BB-3ECD-44EB-885D-801144D37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09601"/>
            <a:ext cx="6054725" cy="911224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</a:t>
            </a:r>
            <a:r>
              <a:rPr lang="zh-CN" altLang="en-US" dirty="0">
                <a:solidFill>
                  <a:srgbClr val="FF0000"/>
                </a:solidFill>
              </a:rPr>
              <a:t>标号法</a:t>
            </a:r>
          </a:p>
        </p:txBody>
      </p:sp>
      <p:sp>
        <p:nvSpPr>
          <p:cNvPr id="125957" name="Rectangle 6">
            <a:extLst>
              <a:ext uri="{FF2B5EF4-FFF2-40B4-BE49-F238E27FC236}">
                <a16:creationId xmlns:a16="http://schemas.microsoft.com/office/drawing/2014/main" id="{1889832A-E0B3-441F-B0CB-E0BF0215D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09788" y="2490788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5958" name="Rectangle 7">
            <a:extLst>
              <a:ext uri="{FF2B5EF4-FFF2-40B4-BE49-F238E27FC236}">
                <a16:creationId xmlns:a16="http://schemas.microsoft.com/office/drawing/2014/main" id="{FDDAC976-C72A-43DF-9B27-82FB1256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39" y="1731201"/>
            <a:ext cx="6878061" cy="436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</a:rPr>
              <a:t>网络中的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点</a:t>
            </a:r>
            <a:r>
              <a:rPr lang="zh-CN" altLang="en-US" sz="2400" dirty="0">
                <a:latin typeface="Times New Roman" panose="02020603050405020304" pitchFamily="18" charset="0"/>
              </a:rPr>
              <a:t>，分为两大类：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1200150" lvl="1" indent="-457200">
              <a:lnSpc>
                <a:spcPct val="125000"/>
              </a:lnSpc>
              <a:spcBef>
                <a:spcPts val="0"/>
              </a:spcBef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b="1" dirty="0">
                <a:latin typeface="Times New Roman" panose="02020603050405020304" pitchFamily="18" charset="0"/>
              </a:rPr>
              <a:t>标号点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1485900" lvl="2" indent="-342900">
              <a:lnSpc>
                <a:spcPct val="125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Times New Roman" panose="02020603050405020304" pitchFamily="18" charset="0"/>
              </a:rPr>
              <a:t>标号而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未检查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的点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1485900" lvl="2" indent="-342900">
              <a:lnSpc>
                <a:spcPct val="125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Times New Roman" panose="02020603050405020304" pitchFamily="18" charset="0"/>
              </a:rPr>
              <a:t>标号而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已检查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的点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1200150" lvl="1" indent="-457200">
              <a:lnSpc>
                <a:spcPct val="125000"/>
              </a:lnSpc>
              <a:spcBef>
                <a:spcPts val="0"/>
              </a:spcBef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b="1" dirty="0">
                <a:latin typeface="Times New Roman" panose="02020603050405020304" pitchFamily="18" charset="0"/>
              </a:rPr>
              <a:t>未标号点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标号</a:t>
            </a:r>
            <a:r>
              <a:rPr lang="zh-CN" altLang="en-US" sz="2400" dirty="0">
                <a:latin typeface="Times New Roman" panose="02020603050405020304" pitchFamily="18" charset="0"/>
              </a:rPr>
              <a:t>包含两部分：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</a:rPr>
              <a:t>表明该标号是从哪一点得到的，以便找出增广链；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</a:rPr>
              <a:t>是为确定增广链的调整量 </a:t>
            </a:r>
            <a:r>
              <a:rPr lang="el-GR" altLang="zh-CN" sz="2200" i="1" dirty="0">
                <a:latin typeface="Times New Roman" panose="02020603050405020304" pitchFamily="18" charset="0"/>
              </a:rPr>
              <a:t>θ</a:t>
            </a:r>
            <a:r>
              <a:rPr lang="en-US" altLang="zh-CN" sz="2200" i="1" dirty="0"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Times New Roman" panose="02020603050405020304" pitchFamily="18" charset="0"/>
              </a:rPr>
              <a:t>用的。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</a:rPr>
              <a:t>例如：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</a:rPr>
              <a:t>的标号 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 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705938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灯片编号占位符 5">
            <a:extLst>
              <a:ext uri="{FF2B5EF4-FFF2-40B4-BE49-F238E27FC236}">
                <a16:creationId xmlns:a16="http://schemas.microsoft.com/office/drawing/2014/main" id="{42FFEB89-7298-4190-AF71-036137C929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B701A6B-DA19-4E1E-AECE-538CA30681B6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25956" name="Rectangle 2">
            <a:extLst>
              <a:ext uri="{FF2B5EF4-FFF2-40B4-BE49-F238E27FC236}">
                <a16:creationId xmlns:a16="http://schemas.microsoft.com/office/drawing/2014/main" id="{536E92BB-3ECD-44EB-885D-801144D37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97955"/>
            <a:ext cx="5597525" cy="726045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</a:t>
            </a:r>
            <a:r>
              <a:rPr lang="zh-CN" altLang="en-US" dirty="0">
                <a:solidFill>
                  <a:srgbClr val="FF0000"/>
                </a:solidFill>
              </a:rPr>
              <a:t>标号法</a:t>
            </a:r>
          </a:p>
        </p:txBody>
      </p:sp>
      <p:sp>
        <p:nvSpPr>
          <p:cNvPr id="125957" name="Rectangle 6">
            <a:extLst>
              <a:ext uri="{FF2B5EF4-FFF2-40B4-BE49-F238E27FC236}">
                <a16:creationId xmlns:a16="http://schemas.microsoft.com/office/drawing/2014/main" id="{1889832A-E0B3-441F-B0CB-E0BF0215D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09788" y="2490788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5958" name="Rectangle 7">
            <a:extLst>
              <a:ext uri="{FF2B5EF4-FFF2-40B4-BE49-F238E27FC236}">
                <a16:creationId xmlns:a16="http://schemas.microsoft.com/office/drawing/2014/main" id="{FDDAC976-C72A-43DF-9B27-82FB1256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2" y="1637928"/>
            <a:ext cx="776128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标号过程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开始，先给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</a:rPr>
              <a:t>标上</a:t>
            </a:r>
            <a:r>
              <a:rPr lang="en-US" altLang="zh-CN" sz="2200" dirty="0">
                <a:latin typeface="Times New Roman" panose="02020603050405020304" pitchFamily="18" charset="0"/>
              </a:rPr>
              <a:t>(0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+∞)</a:t>
            </a:r>
            <a:r>
              <a:rPr lang="zh-CN" altLang="en-US" sz="2200" dirty="0">
                <a:latin typeface="Times New Roman" panose="02020603050405020304" pitchFamily="18" charset="0"/>
              </a:rPr>
              <a:t>，这时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标号而未检查的点</a:t>
            </a:r>
            <a:r>
              <a:rPr lang="zh-CN" altLang="en-US" sz="2200" dirty="0">
                <a:latin typeface="Times New Roman" panose="02020603050405020304" pitchFamily="18" charset="0"/>
              </a:rPr>
              <a:t>，其余都是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未标号点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一般，取一个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标号而未检查</a:t>
            </a:r>
            <a:r>
              <a:rPr lang="zh-CN" altLang="en-US" sz="2200" dirty="0">
                <a:latin typeface="Times New Roman" panose="02020603050405020304" pitchFamily="18" charset="0"/>
              </a:rPr>
              <a:t>的点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="1" i="1" baseline="-30000" dirty="0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，对一切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未标号</a:t>
            </a:r>
            <a:r>
              <a:rPr lang="zh-CN" altLang="en-US" sz="2200" dirty="0">
                <a:latin typeface="Times New Roman" panose="02020603050405020304" pitchFamily="18" charset="0"/>
              </a:rPr>
              <a:t>点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</a:rPr>
              <a:t>：</a:t>
            </a:r>
          </a:p>
          <a:p>
            <a:pPr marL="457200" indent="-4572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</a:rPr>
              <a:t>若在弧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 j</a:t>
            </a:r>
            <a:r>
              <a:rPr lang="zh-CN" altLang="en-US" sz="2200" dirty="0">
                <a:latin typeface="Times New Roman" panose="02020603050405020304" pitchFamily="18" charset="0"/>
              </a:rPr>
              <a:t>＜</a:t>
            </a:r>
            <a:r>
              <a:rPr lang="en-US" altLang="zh-CN" sz="2200" i="1" dirty="0">
                <a:latin typeface="Times New Roman" panose="02020603050405020304" pitchFamily="18" charset="0"/>
              </a:rPr>
              <a:t>c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 j</a:t>
            </a:r>
            <a:r>
              <a:rPr lang="zh-CN" altLang="en-US" sz="2200" dirty="0">
                <a:latin typeface="Times New Roman" panose="02020603050405020304" pitchFamily="18" charset="0"/>
              </a:rPr>
              <a:t>，则给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</a:rPr>
              <a:t>标号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l </a:t>
            </a:r>
            <a:r>
              <a:rPr lang="en-US" altLang="zh-CN" sz="2200" dirty="0">
                <a:latin typeface="Times New Roman" panose="02020603050405020304" pitchFamily="18" charset="0"/>
              </a:rPr>
              <a:t>( 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。这里      </a:t>
            </a:r>
            <a:r>
              <a:rPr lang="en-US" altLang="zh-CN" sz="2200" i="1" dirty="0">
                <a:latin typeface="Times New Roman" panose="02020603050405020304" pitchFamily="18" charset="0"/>
              </a:rPr>
              <a:t>l 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)=min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i="1" dirty="0">
                <a:latin typeface="Times New Roman" panose="02020603050405020304" pitchFamily="18" charset="0"/>
              </a:rPr>
              <a:t>l 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), </a:t>
            </a:r>
            <a:r>
              <a:rPr lang="en-US" altLang="zh-CN" sz="2200" i="1" dirty="0">
                <a:latin typeface="Times New Roman" panose="02020603050405020304" pitchFamily="18" charset="0"/>
              </a:rPr>
              <a:t>c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 j </a:t>
            </a:r>
            <a:r>
              <a:rPr lang="en-US" altLang="zh-CN" sz="2200" i="1" dirty="0">
                <a:latin typeface="Times New Roman" panose="02020603050405020304" pitchFamily="18" charset="0"/>
              </a:rPr>
              <a:t>- 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 j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. </a:t>
            </a:r>
            <a:r>
              <a:rPr lang="zh-CN" altLang="en-US" sz="2200" dirty="0">
                <a:latin typeface="Times New Roman" panose="02020603050405020304" pitchFamily="18" charset="0"/>
              </a:rPr>
              <a:t>这时点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</a:rPr>
              <a:t>成为标号而未检查的点</a:t>
            </a:r>
            <a:r>
              <a:rPr lang="en-US" altLang="zh-CN" sz="2200" dirty="0">
                <a:latin typeface="Times New Roman" panose="02020603050405020304" pitchFamily="18" charset="0"/>
              </a:rPr>
              <a:t>.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</a:rPr>
              <a:t>若在弧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j 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＞</a:t>
            </a:r>
            <a:r>
              <a:rPr lang="en-US" altLang="zh-CN" sz="2200" dirty="0">
                <a:latin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</a:rPr>
              <a:t>，则给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</a:rPr>
              <a:t>标号</a:t>
            </a:r>
            <a:r>
              <a:rPr lang="en-US" altLang="zh-CN" sz="2200" dirty="0">
                <a:latin typeface="Times New Roman" panose="02020603050405020304" pitchFamily="18" charset="0"/>
              </a:rPr>
              <a:t>(-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，这里       </a:t>
            </a:r>
            <a:r>
              <a:rPr lang="en-US" altLang="zh-CN" sz="2200" dirty="0">
                <a:latin typeface="Times New Roman" panose="02020603050405020304" pitchFamily="18" charset="0"/>
              </a:rPr>
              <a:t>l 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</a:rPr>
              <a:t>)=min 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),  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j 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］。这时点</a:t>
            </a:r>
            <a:r>
              <a:rPr lang="en-US" altLang="zh-CN" sz="2200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成为标号而未检查的点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于是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成为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标号而已检查过的点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灯片编号占位符 5">
            <a:extLst>
              <a:ext uri="{FF2B5EF4-FFF2-40B4-BE49-F238E27FC236}">
                <a16:creationId xmlns:a16="http://schemas.microsoft.com/office/drawing/2014/main" id="{07905DF3-FDF3-4299-9F27-2FE7160E22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01FE03-8251-4438-AADA-0AA01668BBA2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26980" name="Rectangle 2">
            <a:extLst>
              <a:ext uri="{FF2B5EF4-FFF2-40B4-BE49-F238E27FC236}">
                <a16:creationId xmlns:a16="http://schemas.microsoft.com/office/drawing/2014/main" id="{81653AB5-AEFC-4ECE-9F3E-41834A29E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5978525" cy="835025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</a:t>
            </a:r>
            <a:r>
              <a:rPr lang="zh-CN" altLang="en-US" dirty="0">
                <a:solidFill>
                  <a:srgbClr val="FF0000"/>
                </a:solidFill>
              </a:rPr>
              <a:t>标号法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DB0E24E0-A302-4502-9A49-90AD6CF6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6982" name="Rectangle 8">
            <a:extLst>
              <a:ext uri="{FF2B5EF4-FFF2-40B4-BE49-F238E27FC236}">
                <a16:creationId xmlns:a16="http://schemas.microsoft.com/office/drawing/2014/main" id="{8D5986EC-A925-4E4C-8769-9562194F2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3972"/>
            <a:ext cx="76200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调整过程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b="1" dirty="0">
                <a:latin typeface="Times New Roman" panose="02020603050405020304" pitchFamily="18" charset="0"/>
              </a:rPr>
              <a:t>首先，按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i="1" baseline="-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200" b="1" dirty="0">
                <a:latin typeface="Times New Roman" panose="02020603050405020304" pitchFamily="18" charset="0"/>
              </a:rPr>
              <a:t>及其他点的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第一个标号</a:t>
            </a:r>
            <a:r>
              <a:rPr lang="zh-CN" altLang="en-US" sz="2200" b="1" dirty="0">
                <a:latin typeface="Times New Roman" panose="02020603050405020304" pitchFamily="18" charset="0"/>
              </a:rPr>
              <a:t>，利用“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反向追踪</a:t>
            </a:r>
            <a:r>
              <a:rPr lang="zh-CN" altLang="en-US" sz="2200" b="1" dirty="0">
                <a:latin typeface="Times New Roman" panose="02020603050405020304" pitchFamily="18" charset="0"/>
              </a:rPr>
              <a:t>”的办法，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找出增广链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μ</a:t>
            </a:r>
            <a:r>
              <a:rPr lang="zh-CN" altLang="en-US" sz="2200" b="1" dirty="0">
                <a:latin typeface="Times New Roman" panose="02020603050405020304" pitchFamily="18" charset="0"/>
              </a:rPr>
              <a:t>。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</a:rPr>
              <a:t>例如，设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</a:rPr>
              <a:t>的第一个标号为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</a:rPr>
              <a:t>或</a:t>
            </a:r>
            <a:r>
              <a:rPr lang="en-US" altLang="zh-CN" sz="2200" dirty="0">
                <a:latin typeface="Times New Roman" panose="02020603050405020304" pitchFamily="18" charset="0"/>
              </a:rPr>
              <a:t>-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，则弧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</a:rPr>
              <a:t>) (</a:t>
            </a:r>
            <a:r>
              <a:rPr lang="zh-CN" altLang="en-US" sz="2200" dirty="0">
                <a:latin typeface="Times New Roman" panose="02020603050405020304" pitchFamily="18" charset="0"/>
              </a:rPr>
              <a:t>或相应地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是</a:t>
            </a:r>
            <a:r>
              <a:rPr lang="en-US" altLang="zh-CN" sz="2200" dirty="0">
                <a:latin typeface="Times New Roman" panose="02020603050405020304" pitchFamily="18" charset="0"/>
              </a:rPr>
              <a:t>μ</a:t>
            </a:r>
            <a:r>
              <a:rPr lang="zh-CN" altLang="en-US" sz="2200" dirty="0">
                <a:latin typeface="Times New Roman" panose="02020603050405020304" pitchFamily="18" charset="0"/>
              </a:rPr>
              <a:t>上的弧。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200" dirty="0">
                <a:latin typeface="Times New Roman" panose="02020603050405020304" pitchFamily="18" charset="0"/>
              </a:rPr>
              <a:t>接下来，检查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200" dirty="0">
                <a:latin typeface="Times New Roman" panose="02020603050405020304" pitchFamily="18" charset="0"/>
              </a:rPr>
              <a:t>的第一个标号，若为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</a:rPr>
              <a:t>或</a:t>
            </a:r>
            <a:r>
              <a:rPr lang="en-US" altLang="zh-CN" sz="2200" dirty="0">
                <a:latin typeface="Times New Roman" panose="02020603050405020304" pitchFamily="18" charset="0"/>
              </a:rPr>
              <a:t>-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),</a:t>
            </a:r>
            <a:r>
              <a:rPr lang="zh-CN" altLang="en-US" sz="2200" dirty="0">
                <a:latin typeface="Times New Roman" panose="02020603050405020304" pitchFamily="18" charset="0"/>
              </a:rPr>
              <a:t>则找出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sz="2200" dirty="0" err="1">
                <a:latin typeface="Times New Roman" panose="02020603050405020304" pitchFamily="18" charset="0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200" dirty="0">
                <a:latin typeface="Times New Roman" panose="02020603050405020304" pitchFamily="18" charset="0"/>
              </a:rPr>
              <a:t>) (</a:t>
            </a:r>
            <a:r>
              <a:rPr lang="zh-CN" altLang="en-US" sz="2200" dirty="0">
                <a:latin typeface="Times New Roman" panose="02020603050405020304" pitchFamily="18" charset="0"/>
              </a:rPr>
              <a:t>或相应地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。再检查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</a:rPr>
              <a:t>的第一个标号，依此下去，直到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</a:rPr>
              <a:t>为止。这时被找出的弧就构成了增广链</a:t>
            </a:r>
            <a:r>
              <a:rPr lang="en-US" altLang="zh-CN" sz="2200" dirty="0">
                <a:latin typeface="Times New Roman" panose="02020603050405020304" pitchFamily="18" charset="0"/>
              </a:rPr>
              <a:t>μ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灯片编号占位符 5">
            <a:extLst>
              <a:ext uri="{FF2B5EF4-FFF2-40B4-BE49-F238E27FC236}">
                <a16:creationId xmlns:a16="http://schemas.microsoft.com/office/drawing/2014/main" id="{07905DF3-FDF3-4299-9F27-2FE7160E22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01FE03-8251-4438-AADA-0AA01668BBA2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26980" name="Rectangle 2">
            <a:extLst>
              <a:ext uri="{FF2B5EF4-FFF2-40B4-BE49-F238E27FC236}">
                <a16:creationId xmlns:a16="http://schemas.microsoft.com/office/drawing/2014/main" id="{81653AB5-AEFC-4ECE-9F3E-41834A29E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60737"/>
            <a:ext cx="5978525" cy="860088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</a:t>
            </a:r>
            <a:r>
              <a:rPr lang="zh-CN" altLang="en-US" dirty="0">
                <a:solidFill>
                  <a:srgbClr val="FF0000"/>
                </a:solidFill>
              </a:rPr>
              <a:t>标号法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DB0E24E0-A302-4502-9A49-90AD6CF6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6982" name="Rectangle 8">
            <a:extLst>
              <a:ext uri="{FF2B5EF4-FFF2-40B4-BE49-F238E27FC236}">
                <a16:creationId xmlns:a16="http://schemas.microsoft.com/office/drawing/2014/main" id="{8D5986EC-A925-4E4C-8769-9562194F2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59" y="1787641"/>
            <a:ext cx="7807325" cy="168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调整过程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这时已找出了增广链</a:t>
            </a:r>
            <a:r>
              <a:rPr lang="en-US" altLang="zh-CN" sz="2400" dirty="0">
                <a:latin typeface="Times New Roman" panose="02020603050405020304" pitchFamily="18" charset="0"/>
              </a:rPr>
              <a:t>μ</a:t>
            </a:r>
            <a:r>
              <a:rPr lang="zh-CN" altLang="en-US" sz="2400" dirty="0">
                <a:latin typeface="Times New Roman" panose="02020603050405020304" pitchFamily="18" charset="0"/>
              </a:rPr>
              <a:t>。令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调整量</a:t>
            </a:r>
            <a:r>
              <a:rPr lang="en-US" altLang="zh-CN" sz="2400" dirty="0">
                <a:latin typeface="Times New Roman" panose="02020603050405020304" pitchFamily="18" charset="0"/>
              </a:rPr>
              <a:t>θ</a:t>
            </a:r>
            <a:r>
              <a:rPr lang="zh-CN" altLang="en-US" sz="2400" dirty="0">
                <a:latin typeface="Times New Roman" panose="02020603050405020304" pitchFamily="18" charset="0"/>
              </a:rPr>
              <a:t>是</a:t>
            </a:r>
            <a:r>
              <a:rPr lang="en-US" altLang="zh-CN" sz="2400" i="1" dirty="0">
                <a:latin typeface="Times New Roman" panose="02020603050405020304" pitchFamily="18" charset="0"/>
              </a:rPr>
              <a:t>l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，即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</a:rPr>
              <a:t>的第二个标号。令</a:t>
            </a:r>
          </a:p>
        </p:txBody>
      </p:sp>
      <p:graphicFrame>
        <p:nvGraphicFramePr>
          <p:cNvPr id="126983" name="Object 7">
            <a:extLst>
              <a:ext uri="{FF2B5EF4-FFF2-40B4-BE49-F238E27FC236}">
                <a16:creationId xmlns:a16="http://schemas.microsoft.com/office/drawing/2014/main" id="{643AA99F-D457-45EA-A304-CA4E6F39A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123706"/>
              </p:ext>
            </p:extLst>
          </p:nvPr>
        </p:nvGraphicFramePr>
        <p:xfrm>
          <a:off x="2667000" y="3051316"/>
          <a:ext cx="3424539" cy="168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01800" imgH="838200" progId="Equation.DSMT4">
                  <p:embed/>
                </p:oleObj>
              </mc:Choice>
              <mc:Fallback>
                <p:oleObj r:id="rId2" imgW="17018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051316"/>
                        <a:ext cx="3424539" cy="168419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4" name="Rectangle 9">
            <a:extLst>
              <a:ext uri="{FF2B5EF4-FFF2-40B4-BE49-F238E27FC236}">
                <a16:creationId xmlns:a16="http://schemas.microsoft.com/office/drawing/2014/main" id="{958F918C-F934-4A57-B152-2D4064FE6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181600"/>
            <a:ext cx="7650884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</a:rPr>
              <a:t>去掉所有的标号，对新的可行流</a:t>
            </a:r>
            <a:r>
              <a:rPr lang="en-US" altLang="zh-CN" sz="2400" dirty="0">
                <a:latin typeface="Times New Roman" panose="02020603050405020304" pitchFamily="18" charset="0"/>
              </a:rPr>
              <a:t>f′=</a:t>
            </a:r>
            <a:r>
              <a:rPr lang="zh-CN" altLang="en-US" sz="2400" dirty="0">
                <a:latin typeface="Times New Roman" panose="02020603050405020304" pitchFamily="18" charset="0"/>
              </a:rPr>
              <a:t>｛</a:t>
            </a:r>
            <a:r>
              <a:rPr lang="en-US" altLang="zh-CN" sz="2400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</a:rPr>
              <a:t>′</a:t>
            </a:r>
            <a:r>
              <a:rPr lang="zh-CN" altLang="en-US" sz="2400" dirty="0">
                <a:latin typeface="Times New Roman" panose="02020603050405020304" pitchFamily="18" charset="0"/>
              </a:rPr>
              <a:t>｝，重新进入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标号过程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60866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灯片编号占位符 5">
            <a:extLst>
              <a:ext uri="{FF2B5EF4-FFF2-40B4-BE49-F238E27FC236}">
                <a16:creationId xmlns:a16="http://schemas.microsoft.com/office/drawing/2014/main" id="{8A8CD739-1F84-4AE7-B415-68183E753D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53400" y="6245225"/>
            <a:ext cx="3810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AB358B0-6E62-49C6-ABAC-292FA04C1841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28005" name="Rectangle 8">
            <a:extLst>
              <a:ext uri="{FF2B5EF4-FFF2-40B4-BE49-F238E27FC236}">
                <a16:creationId xmlns:a16="http://schemas.microsoft.com/office/drawing/2014/main" id="{209EB380-959F-4BCD-A6B7-92C8F5703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3336"/>
            <a:ext cx="6476453" cy="6568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14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用标号法</a:t>
            </a:r>
            <a:r>
              <a:rPr lang="zh-CN" altLang="en-US" sz="2800" dirty="0">
                <a:latin typeface="Times New Roman" panose="02020603050405020304" pitchFamily="18" charset="0"/>
              </a:rPr>
              <a:t>求图</a:t>
            </a:r>
            <a:r>
              <a:rPr lang="en-US" altLang="zh-CN" sz="2800" dirty="0">
                <a:latin typeface="Times New Roman" panose="02020603050405020304" pitchFamily="18" charset="0"/>
              </a:rPr>
              <a:t>25</a:t>
            </a:r>
            <a:r>
              <a:rPr lang="zh-CN" altLang="en-US" sz="2800" dirty="0">
                <a:latin typeface="Times New Roman" panose="02020603050405020304" pitchFamily="18" charset="0"/>
              </a:rPr>
              <a:t>所示网络的最大流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pic>
        <p:nvPicPr>
          <p:cNvPr id="128006" name="Picture 7">
            <a:extLst>
              <a:ext uri="{FF2B5EF4-FFF2-40B4-BE49-F238E27FC236}">
                <a16:creationId xmlns:a16="http://schemas.microsoft.com/office/drawing/2014/main" id="{0834D43C-D26E-4E9A-9D1C-3BA071959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752600"/>
            <a:ext cx="51354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7" name="Rectangle 9">
            <a:extLst>
              <a:ext uri="{FF2B5EF4-FFF2-40B4-BE49-F238E27FC236}">
                <a16:creationId xmlns:a16="http://schemas.microsoft.com/office/drawing/2014/main" id="{EA83030C-F10A-4D06-94D9-13779B7C6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617589"/>
            <a:ext cx="7924800" cy="257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3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标号过程</a:t>
            </a:r>
          </a:p>
          <a:p>
            <a:pPr marL="457200" indent="-457200">
              <a:lnSpc>
                <a:spcPct val="130000"/>
              </a:lnSpc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</a:rPr>
              <a:t>首先给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</a:rPr>
              <a:t>标上</a:t>
            </a:r>
            <a:r>
              <a:rPr lang="en-US" altLang="zh-CN" sz="2000" dirty="0">
                <a:latin typeface="Times New Roman" panose="02020603050405020304" pitchFamily="18" charset="0"/>
              </a:rPr>
              <a:t>(0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+∞)</a:t>
            </a:r>
          </a:p>
          <a:p>
            <a:pPr marL="457200" indent="-457200">
              <a:lnSpc>
                <a:spcPct val="130000"/>
              </a:lnSpc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检查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="1" i="1" baseline="-30000" dirty="0">
                <a:solidFill>
                  <a:srgbClr val="C0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60000" lvl="1" indent="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</a:rPr>
              <a:t> 在弧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000" i="1" dirty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</a:rPr>
              <a:t>上，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s2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s2</a:t>
            </a:r>
            <a:r>
              <a:rPr lang="en-US" altLang="zh-CN" sz="2000" dirty="0">
                <a:latin typeface="Times New Roman" panose="02020603050405020304" pitchFamily="18" charset="0"/>
              </a:rPr>
              <a:t>=3</a:t>
            </a:r>
            <a:r>
              <a:rPr lang="zh-CN" altLang="en-US" sz="2000" dirty="0">
                <a:latin typeface="Times New Roman" panose="02020603050405020304" pitchFamily="18" charset="0"/>
              </a:rPr>
              <a:t>，不满足标号条件。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60000" lvl="1" indent="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</a:rPr>
              <a:t> 弧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000" i="1" dirty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</a:rPr>
              <a:t>上，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s1</a:t>
            </a:r>
            <a:r>
              <a:rPr lang="en-US" altLang="zh-CN" sz="2000" dirty="0">
                <a:latin typeface="Times New Roman" panose="02020603050405020304" pitchFamily="18" charset="0"/>
              </a:rPr>
              <a:t>=1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s1</a:t>
            </a:r>
            <a:r>
              <a:rPr lang="en-US" altLang="zh-CN" sz="2000" dirty="0">
                <a:latin typeface="Times New Roman" panose="02020603050405020304" pitchFamily="18" charset="0"/>
              </a:rPr>
              <a:t>=5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s1</a:t>
            </a:r>
            <a:r>
              <a:rPr lang="zh-CN" altLang="en-US" sz="2000" dirty="0">
                <a:latin typeface="Times New Roman" panose="02020603050405020304" pitchFamily="18" charset="0"/>
              </a:rPr>
              <a:t>＜</a:t>
            </a:r>
            <a:r>
              <a:rPr lang="en-US" altLang="zh-CN" sz="2000" dirty="0">
                <a:latin typeface="Times New Roman" panose="02020603050405020304" pitchFamily="18" charset="0"/>
              </a:rPr>
              <a:t>c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s1</a:t>
            </a:r>
            <a:r>
              <a:rPr lang="zh-CN" altLang="en-US" sz="2000" dirty="0">
                <a:latin typeface="Times New Roman" panose="02020603050405020304" pitchFamily="18" charset="0"/>
              </a:rPr>
              <a:t>，则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的标号为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</a:rPr>
              <a:t>l 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))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60000" lvl="1" indent="0">
              <a:lnSpc>
                <a:spcPct val="130000"/>
              </a:lnSpc>
              <a:buClr>
                <a:srgbClr val="C00000"/>
              </a:buClr>
            </a:pPr>
            <a:r>
              <a:rPr lang="en-US" altLang="zh-CN" sz="2000" dirty="0">
                <a:latin typeface="Times New Roman" panose="02020603050405020304" pitchFamily="18" charset="0"/>
              </a:rPr>
              <a:t>     </a:t>
            </a:r>
            <a:r>
              <a:rPr lang="zh-CN" altLang="en-US" sz="2000" dirty="0">
                <a:latin typeface="Times New Roman" panose="02020603050405020304" pitchFamily="18" charset="0"/>
              </a:rPr>
              <a:t>其中，</a:t>
            </a:r>
            <a:r>
              <a:rPr lang="en-US" altLang="zh-CN" sz="2000" i="1" dirty="0">
                <a:latin typeface="Times New Roman" panose="02020603050405020304" pitchFamily="18" charset="0"/>
              </a:rPr>
              <a:t>l</a:t>
            </a:r>
            <a:r>
              <a:rPr lang="en-US" altLang="zh-CN" sz="2000" dirty="0">
                <a:latin typeface="Times New Roman" panose="02020603050405020304" pitchFamily="18" charset="0"/>
              </a:rPr>
              <a:t> 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)=min</a:t>
            </a:r>
            <a:r>
              <a:rPr lang="zh-CN" altLang="en-US" sz="2000" dirty="0">
                <a:latin typeface="Times New Roman" panose="02020603050405020304" pitchFamily="18" charset="0"/>
              </a:rPr>
              <a:t>［</a:t>
            </a:r>
            <a:r>
              <a:rPr lang="en-US" altLang="zh-CN" sz="2000" i="1" dirty="0">
                <a:latin typeface="Times New Roman" panose="02020603050405020304" pitchFamily="18" charset="0"/>
              </a:rPr>
              <a:t>l</a:t>
            </a:r>
            <a:r>
              <a:rPr lang="en-US" altLang="zh-CN" sz="2000" dirty="0">
                <a:latin typeface="Times New Roman" panose="02020603050405020304" pitchFamily="18" charset="0"/>
              </a:rPr>
              <a:t> 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s1 </a:t>
            </a:r>
            <a:r>
              <a:rPr lang="en-US" altLang="zh-CN" sz="2000" dirty="0">
                <a:latin typeface="Times New Roman" panose="02020603050405020304" pitchFamily="18" charset="0"/>
              </a:rPr>
              <a:t>-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s1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</a:rPr>
              <a:t>］</a:t>
            </a:r>
            <a:r>
              <a:rPr lang="en-US" altLang="zh-CN" sz="2000" dirty="0">
                <a:latin typeface="Times New Roman" panose="02020603050405020304" pitchFamily="18" charset="0"/>
              </a:rPr>
              <a:t>=min</a:t>
            </a:r>
            <a:r>
              <a:rPr lang="zh-CN" altLang="en-US" sz="2000" dirty="0">
                <a:latin typeface="Times New Roman" panose="02020603050405020304" pitchFamily="18" charset="0"/>
              </a:rPr>
              <a:t>［</a:t>
            </a:r>
            <a:r>
              <a:rPr lang="en-US" altLang="zh-CN" sz="2000" dirty="0">
                <a:latin typeface="Times New Roman" panose="02020603050405020304" pitchFamily="18" charset="0"/>
              </a:rPr>
              <a:t>+∞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5-1</a:t>
            </a:r>
            <a:r>
              <a:rPr lang="zh-CN" altLang="en-US" sz="2000" dirty="0">
                <a:latin typeface="Times New Roman" panose="02020603050405020304" pitchFamily="18" charset="0"/>
              </a:rPr>
              <a:t>］</a:t>
            </a:r>
            <a:r>
              <a:rPr lang="en-US" altLang="zh-CN" sz="2000" dirty="0">
                <a:latin typeface="Times New Roman" panose="02020603050405020304" pitchFamily="18" charset="0"/>
              </a:rPr>
              <a:t>= 4</a:t>
            </a:r>
          </a:p>
        </p:txBody>
      </p:sp>
      <p:sp>
        <p:nvSpPr>
          <p:cNvPr id="128008" name="Rectangle 10">
            <a:extLst>
              <a:ext uri="{FF2B5EF4-FFF2-40B4-BE49-F238E27FC236}">
                <a16:creationId xmlns:a16="http://schemas.microsoft.com/office/drawing/2014/main" id="{B486C34E-7E83-4AF7-AC44-DF0064FE1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213" y="3887712"/>
            <a:ext cx="726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48000" y="2514600"/>
            <a:ext cx="9144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(0, +∞)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800600" y="3729882"/>
            <a:ext cx="8382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</a:t>
            </a:r>
            <a:r>
              <a:rPr lang="en-US" altLang="zh-CN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, 4)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197F22-05C2-441F-E311-C870A7C68EAD}"/>
              </a:ext>
            </a:extLst>
          </p:cNvPr>
          <p:cNvSpPr/>
          <p:nvPr/>
        </p:nvSpPr>
        <p:spPr>
          <a:xfrm>
            <a:off x="3048000" y="25146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4CC29D2-9541-5067-2C0A-FF1515E43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66" y="1726398"/>
            <a:ext cx="248177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 dirty="0">
                <a:latin typeface="Times New Roman" panose="02020603050405020304" pitchFamily="18" charset="0"/>
              </a:rPr>
              <a:t>弧旁的数是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6C4E22-0B8F-A529-1173-C8DC3CB05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66" y="93752"/>
            <a:ext cx="1830247" cy="9477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7" grpId="0"/>
      <p:bldP spid="2" grpId="0" animBg="1"/>
      <p:bldP spid="9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灯片编号占位符 5">
            <a:extLst>
              <a:ext uri="{FF2B5EF4-FFF2-40B4-BE49-F238E27FC236}">
                <a16:creationId xmlns:a16="http://schemas.microsoft.com/office/drawing/2014/main" id="{5D14983C-10C8-48E5-AE87-63FEAE523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16FB64-150F-4FE5-8ABC-8736C81F1096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29028" name="Rectangle 2">
            <a:extLst>
              <a:ext uri="{FF2B5EF4-FFF2-40B4-BE49-F238E27FC236}">
                <a16:creationId xmlns:a16="http://schemas.microsoft.com/office/drawing/2014/main" id="{8CC128DC-EDFC-4FB1-AC74-DB3C3C3E9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28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29029" name="Rectangle 6">
            <a:extLst>
              <a:ext uri="{FF2B5EF4-FFF2-40B4-BE49-F238E27FC236}">
                <a16:creationId xmlns:a16="http://schemas.microsoft.com/office/drawing/2014/main" id="{4AB14B89-E502-4E1F-999E-BB22C3C1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9030" name="Rectangle 7">
            <a:extLst>
              <a:ext uri="{FF2B5EF4-FFF2-40B4-BE49-F238E27FC236}">
                <a16:creationId xmlns:a16="http://schemas.microsoft.com/office/drawing/2014/main" id="{CFE137A8-B2A1-4528-901B-9D77F87B0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1752600"/>
            <a:ext cx="7848600" cy="185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③ 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检查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="1" i="1" baseline="-30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Times New Roman" panose="02020603050405020304" pitchFamily="18" charset="0"/>
              </a:rPr>
              <a:t>在弧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13</a:t>
            </a:r>
            <a:r>
              <a:rPr lang="en-US" altLang="zh-CN" sz="2200" dirty="0">
                <a:latin typeface="Times New Roman" panose="02020603050405020304" pitchFamily="18" charset="0"/>
              </a:rPr>
              <a:t>=2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13</a:t>
            </a:r>
            <a:r>
              <a:rPr lang="en-US" altLang="zh-CN" sz="2200" dirty="0">
                <a:latin typeface="Times New Roman" panose="02020603050405020304" pitchFamily="18" charset="0"/>
              </a:rPr>
              <a:t>=2</a:t>
            </a:r>
            <a:r>
              <a:rPr lang="zh-CN" altLang="en-US" sz="2200" dirty="0">
                <a:latin typeface="Times New Roman" panose="02020603050405020304" pitchFamily="18" charset="0"/>
              </a:rPr>
              <a:t>，不满足标号条件。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Times New Roman" panose="02020603050405020304" pitchFamily="18" charset="0"/>
              </a:rPr>
              <a:t>在弧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  <a:r>
              <a:rPr lang="zh-CN" altLang="en-US" sz="2200" dirty="0">
                <a:latin typeface="Times New Roman" panose="02020603050405020304" pitchFamily="18" charset="0"/>
              </a:rPr>
              <a:t>＞</a:t>
            </a:r>
            <a:r>
              <a:rPr lang="en-US" altLang="zh-CN" sz="2200" dirty="0">
                <a:latin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</a:rPr>
              <a:t>，则给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</a:rPr>
              <a:t>记下标号为</a:t>
            </a:r>
            <a:r>
              <a:rPr lang="en-US" altLang="zh-CN" sz="2200" dirty="0">
                <a:latin typeface="Times New Roman" panose="02020603050405020304" pitchFamily="18" charset="0"/>
              </a:rPr>
              <a:t>(-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，这里</a:t>
            </a:r>
            <a:r>
              <a:rPr lang="en-US" altLang="zh-CN" sz="2200" dirty="0">
                <a:latin typeface="Times New Roman" panose="02020603050405020304" pitchFamily="18" charset="0"/>
              </a:rPr>
              <a:t>  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</a:rPr>
              <a:t>)=min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21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dirty="0">
                <a:latin typeface="Times New Roman" panose="02020603050405020304" pitchFamily="18" charset="0"/>
              </a:rPr>
              <a:t>4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0834D43C-D26E-4E9A-9D1C-3BA071959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027466"/>
            <a:ext cx="51354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066800" y="4789466"/>
            <a:ext cx="9144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(0, +∞)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819400" y="6070023"/>
            <a:ext cx="8382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, 4)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514600" y="3886200"/>
            <a:ext cx="8382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(-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,1)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91091-CDE4-2256-100F-0A35AA37E734}"/>
              </a:ext>
            </a:extLst>
          </p:cNvPr>
          <p:cNvSpPr/>
          <p:nvPr/>
        </p:nvSpPr>
        <p:spPr>
          <a:xfrm>
            <a:off x="1066800" y="4777798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5AD54B-B165-719D-AE5C-0D95DC6AD86C}"/>
              </a:ext>
            </a:extLst>
          </p:cNvPr>
          <p:cNvSpPr/>
          <p:nvPr/>
        </p:nvSpPr>
        <p:spPr>
          <a:xfrm>
            <a:off x="2819400" y="608141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272112-716B-D2FD-B4A2-943B5B181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66" y="93752"/>
            <a:ext cx="1830247" cy="9477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灯片编号占位符 5">
            <a:extLst>
              <a:ext uri="{FF2B5EF4-FFF2-40B4-BE49-F238E27FC236}">
                <a16:creationId xmlns:a16="http://schemas.microsoft.com/office/drawing/2014/main" id="{5D14983C-10C8-48E5-AE87-63FEAE523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16FB64-150F-4FE5-8ABC-8736C81F1096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29028" name="Rectangle 2">
            <a:extLst>
              <a:ext uri="{FF2B5EF4-FFF2-40B4-BE49-F238E27FC236}">
                <a16:creationId xmlns:a16="http://schemas.microsoft.com/office/drawing/2014/main" id="{8CC128DC-EDFC-4FB1-AC74-DB3C3C3E9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74132"/>
            <a:ext cx="6359525" cy="846693"/>
          </a:xfrm>
        </p:spPr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32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/>
          </a:p>
        </p:txBody>
      </p:sp>
      <p:sp>
        <p:nvSpPr>
          <p:cNvPr id="129029" name="Rectangle 6">
            <a:extLst>
              <a:ext uri="{FF2B5EF4-FFF2-40B4-BE49-F238E27FC236}">
                <a16:creationId xmlns:a16="http://schemas.microsoft.com/office/drawing/2014/main" id="{4AB14B89-E502-4E1F-999E-BB22C3C1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9030" name="Rectangle 7">
            <a:extLst>
              <a:ext uri="{FF2B5EF4-FFF2-40B4-BE49-F238E27FC236}">
                <a16:creationId xmlns:a16="http://schemas.microsoft.com/office/drawing/2014/main" id="{CFE137A8-B2A1-4528-901B-9D77F87B0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1600200"/>
            <a:ext cx="8497887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④ 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检查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Times New Roman" panose="02020603050405020304" pitchFamily="18" charset="0"/>
              </a:rPr>
              <a:t>在弧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4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200" dirty="0">
                <a:latin typeface="Times New Roman" panose="02020603050405020304" pitchFamily="18" charset="0"/>
              </a:rPr>
              <a:t>=3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24</a:t>
            </a:r>
            <a:r>
              <a:rPr lang="en-US" altLang="zh-CN" sz="2200" dirty="0">
                <a:latin typeface="Times New Roman" panose="02020603050405020304" pitchFamily="18" charset="0"/>
              </a:rPr>
              <a:t>=4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24</a:t>
            </a:r>
            <a:r>
              <a:rPr lang="zh-CN" altLang="en-US" sz="2200" dirty="0">
                <a:latin typeface="Times New Roman" panose="02020603050405020304" pitchFamily="18" charset="0"/>
              </a:rPr>
              <a:t>＜</a:t>
            </a:r>
            <a:r>
              <a:rPr lang="en-US" altLang="zh-CN" sz="2200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24</a:t>
            </a:r>
            <a:r>
              <a:rPr lang="zh-CN" altLang="en-US" sz="2200" dirty="0">
                <a:latin typeface="Times New Roman" panose="02020603050405020304" pitchFamily="18" charset="0"/>
              </a:rPr>
              <a:t>，则给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4</a:t>
            </a:r>
            <a:r>
              <a:rPr lang="zh-CN" altLang="en-US" sz="2200" dirty="0">
                <a:latin typeface="Times New Roman" panose="02020603050405020304" pitchFamily="18" charset="0"/>
              </a:rPr>
              <a:t>标号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4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，这里 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4</a:t>
            </a:r>
            <a:r>
              <a:rPr lang="en-US" altLang="zh-CN" sz="2200" dirty="0">
                <a:latin typeface="Times New Roman" panose="02020603050405020304" pitchFamily="18" charset="0"/>
              </a:rPr>
              <a:t>)=min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24</a:t>
            </a:r>
            <a:r>
              <a:rPr lang="en-US" altLang="zh-CN" sz="2200" dirty="0">
                <a:latin typeface="Times New Roman" panose="02020603050405020304" pitchFamily="18" charset="0"/>
              </a:rPr>
              <a:t>-f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24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Times New Roman" panose="02020603050405020304" pitchFamily="18" charset="0"/>
              </a:rPr>
              <a:t>在弧</a:t>
            </a:r>
            <a:r>
              <a:rPr lang="en-US" altLang="zh-CN" sz="2200" dirty="0">
                <a:latin typeface="Times New Roman" panose="02020603050405020304" pitchFamily="18" charset="0"/>
              </a:rPr>
              <a:t>(v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32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  <a:r>
              <a:rPr lang="zh-CN" altLang="en-US" sz="2200" dirty="0">
                <a:latin typeface="Times New Roman" panose="02020603050405020304" pitchFamily="18" charset="0"/>
              </a:rPr>
              <a:t>＞</a:t>
            </a:r>
            <a:r>
              <a:rPr lang="en-US" altLang="zh-CN" sz="2200" dirty="0">
                <a:latin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</a:rPr>
              <a:t>，给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</a:rPr>
              <a:t>标号：</a:t>
            </a:r>
            <a:r>
              <a:rPr lang="en-US" altLang="zh-CN" sz="2200" dirty="0">
                <a:latin typeface="Times New Roman" panose="02020603050405020304" pitchFamily="18" charset="0"/>
              </a:rPr>
              <a:t>(-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indent="0">
              <a:lnSpc>
                <a:spcPct val="130000"/>
              </a:lnSpc>
            </a:pPr>
            <a:r>
              <a:rPr lang="zh-CN" altLang="en-US" sz="2200" dirty="0">
                <a:latin typeface="Times New Roman" panose="02020603050405020304" pitchFamily="18" charset="0"/>
              </a:rPr>
              <a:t>     这里</a:t>
            </a:r>
            <a:r>
              <a:rPr lang="en-US" altLang="zh-CN" sz="2200" dirty="0">
                <a:latin typeface="Times New Roman" panose="02020603050405020304" pitchFamily="18" charset="0"/>
              </a:rPr>
              <a:t> 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</a:rPr>
              <a:t>）</a:t>
            </a:r>
            <a:r>
              <a:rPr lang="en-US" altLang="zh-CN" sz="2200" dirty="0">
                <a:latin typeface="Times New Roman" panose="02020603050405020304" pitchFamily="18" charset="0"/>
              </a:rPr>
              <a:t>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32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0834D43C-D26E-4E9A-9D1C-3BA071959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03666"/>
            <a:ext cx="51354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066800" y="4865666"/>
            <a:ext cx="9144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(0, +∞)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819400" y="6114018"/>
            <a:ext cx="8382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, 4)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514600" y="3962400"/>
            <a:ext cx="8382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(-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,1)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715000" y="3935255"/>
            <a:ext cx="8382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,1)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257800" y="6114018"/>
            <a:ext cx="8382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(-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,1)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04E3BE-F12A-2D40-E200-9B5DFBEC082C}"/>
              </a:ext>
            </a:extLst>
          </p:cNvPr>
          <p:cNvSpPr/>
          <p:nvPr/>
        </p:nvSpPr>
        <p:spPr>
          <a:xfrm>
            <a:off x="1066800" y="48768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7FDD0F-152B-9A25-9F59-BB365D5C6D17}"/>
              </a:ext>
            </a:extLst>
          </p:cNvPr>
          <p:cNvSpPr/>
          <p:nvPr/>
        </p:nvSpPr>
        <p:spPr>
          <a:xfrm>
            <a:off x="2819400" y="6102350"/>
            <a:ext cx="8382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71651F-9795-4EAE-0E68-FE55BF43554F}"/>
              </a:ext>
            </a:extLst>
          </p:cNvPr>
          <p:cNvSpPr/>
          <p:nvPr/>
        </p:nvSpPr>
        <p:spPr>
          <a:xfrm>
            <a:off x="2487637" y="3961570"/>
            <a:ext cx="8382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2C0612-C7A3-0621-D9CF-159B16416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66" y="93752"/>
            <a:ext cx="1830247" cy="9477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9812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灯片编号占位符 5">
            <a:extLst>
              <a:ext uri="{FF2B5EF4-FFF2-40B4-BE49-F238E27FC236}">
                <a16:creationId xmlns:a16="http://schemas.microsoft.com/office/drawing/2014/main" id="{5D14983C-10C8-48E5-AE87-63FEAE523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16FB64-150F-4FE5-8ABC-8736C81F1096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29029" name="Rectangle 6">
            <a:extLst>
              <a:ext uri="{FF2B5EF4-FFF2-40B4-BE49-F238E27FC236}">
                <a16:creationId xmlns:a16="http://schemas.microsoft.com/office/drawing/2014/main" id="{4AB14B89-E502-4E1F-999E-BB22C3C1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9030" name="Rectangle 7">
            <a:extLst>
              <a:ext uri="{FF2B5EF4-FFF2-40B4-BE49-F238E27FC236}">
                <a16:creationId xmlns:a16="http://schemas.microsoft.com/office/drawing/2014/main" id="{CFE137A8-B2A1-4528-901B-9D77F87B0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1672578"/>
            <a:ext cx="8001000" cy="185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⑤ </a:t>
            </a:r>
            <a:r>
              <a:rPr lang="zh-CN" altLang="en-US" sz="2200" dirty="0">
                <a:latin typeface="Times New Roman" panose="02020603050405020304" pitchFamily="18" charset="0"/>
              </a:rPr>
              <a:t>在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>
                <a:solidFill>
                  <a:srgbClr val="C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200" dirty="0">
                <a:latin typeface="Times New Roman" panose="02020603050405020304" pitchFamily="18" charset="0"/>
              </a:rPr>
              <a:t>中任选一个进行检查。例如</a:t>
            </a:r>
          </a:p>
          <a:p>
            <a:pPr>
              <a:lnSpc>
                <a:spcPct val="130000"/>
              </a:lnSpc>
            </a:pPr>
            <a:r>
              <a:rPr lang="zh-CN" altLang="en-US" sz="2200" dirty="0">
                <a:latin typeface="Times New Roman" panose="02020603050405020304" pitchFamily="18" charset="0"/>
              </a:rPr>
              <a:t>在弧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3t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3t</a:t>
            </a:r>
            <a:r>
              <a:rPr lang="en-US" altLang="zh-CN" sz="2200" dirty="0">
                <a:latin typeface="Times New Roman" panose="02020603050405020304" pitchFamily="18" charset="0"/>
              </a:rPr>
              <a:t>=2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3t</a:t>
            </a:r>
            <a:r>
              <a:rPr lang="zh-CN" altLang="en-US" sz="2200" dirty="0">
                <a:latin typeface="Times New Roman" panose="02020603050405020304" pitchFamily="18" charset="0"/>
              </a:rPr>
              <a:t>＜</a:t>
            </a:r>
            <a:r>
              <a:rPr lang="en-US" altLang="zh-CN" sz="2200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3t</a:t>
            </a:r>
            <a:r>
              <a:rPr lang="zh-CN" altLang="en-US" sz="2200" dirty="0">
                <a:latin typeface="Times New Roman" panose="02020603050405020304" pitchFamily="18" charset="0"/>
              </a:rPr>
              <a:t>，给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</a:rPr>
              <a:t>标号为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</a:rPr>
              <a:t>))</a:t>
            </a:r>
            <a:r>
              <a:rPr lang="zh-CN" altLang="en-US" sz="2200" dirty="0">
                <a:latin typeface="Times New Roman" panose="02020603050405020304" pitchFamily="18" charset="0"/>
              </a:rPr>
              <a:t>，这里 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</a:rPr>
              <a:t>)=min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i="1" dirty="0"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latin typeface="Times New Roman" panose="02020603050405020304" pitchFamily="18" charset="0"/>
              </a:rPr>
              <a:t> 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3t </a:t>
            </a:r>
            <a:r>
              <a:rPr lang="en-US" altLang="zh-CN" sz="2200" dirty="0">
                <a:latin typeface="Times New Roman" panose="02020603050405020304" pitchFamily="18" charset="0"/>
              </a:rPr>
              <a:t>- 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3t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=min</a:t>
            </a:r>
            <a:r>
              <a:rPr lang="zh-CN" altLang="en-US" sz="2200" dirty="0">
                <a:latin typeface="Times New Roman" panose="02020603050405020304" pitchFamily="18" charset="0"/>
              </a:rPr>
              <a:t>［</a:t>
            </a:r>
            <a:r>
              <a:rPr lang="en-US" altLang="zh-CN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］</a:t>
            </a:r>
            <a:r>
              <a:rPr lang="en-US" altLang="zh-CN" sz="2200" dirty="0">
                <a:latin typeface="Times New Roman" panose="02020603050405020304" pitchFamily="18" charset="0"/>
              </a:rPr>
              <a:t>=1</a:t>
            </a:r>
          </a:p>
          <a:p>
            <a:pPr>
              <a:lnSpc>
                <a:spcPct val="130000"/>
              </a:lnSpc>
            </a:pPr>
            <a:r>
              <a:rPr lang="zh-CN" altLang="en-US" sz="2200" b="1" dirty="0">
                <a:latin typeface="Times New Roman" panose="02020603050405020304" pitchFamily="18" charset="0"/>
              </a:rPr>
              <a:t>因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i="1" baseline="-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200" b="1" dirty="0">
                <a:latin typeface="Times New Roman" panose="02020603050405020304" pitchFamily="18" charset="0"/>
              </a:rPr>
              <a:t>有了标号，故转入调整过程</a:t>
            </a:r>
            <a:r>
              <a:rPr lang="zh-CN" altLang="en-US" sz="2200" dirty="0">
                <a:latin typeface="Times New Roman" panose="02020603050405020304" pitchFamily="18" charset="0"/>
              </a:rPr>
              <a:t>。 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0834D43C-D26E-4E9A-9D1C-3BA071959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902211"/>
            <a:ext cx="51354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066800" y="4664211"/>
            <a:ext cx="94441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(0, +∞)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2819400" y="5912563"/>
            <a:ext cx="9144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sz="2000" dirty="0">
                <a:latin typeface="Times New Roman" panose="02020603050405020304" pitchFamily="18" charset="0"/>
              </a:rPr>
              <a:t>, 4)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2514600" y="3760945"/>
            <a:ext cx="8382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(-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,1)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715000" y="3733800"/>
            <a:ext cx="838200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,1)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257800" y="5912563"/>
            <a:ext cx="914400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(-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2000" dirty="0">
                <a:latin typeface="Times New Roman" panose="02020603050405020304" pitchFamily="18" charset="0"/>
              </a:rPr>
              <a:t>,1)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34199" y="4664211"/>
            <a:ext cx="944413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, 1)</a:t>
            </a:r>
            <a:endParaRPr lang="zh-CN" alt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138910-A226-AFBF-8425-7E66F70CA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74132"/>
            <a:ext cx="6359525" cy="846693"/>
          </a:xfrm>
        </p:spPr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32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2E4FB1-42CD-36B8-8F82-41CF256CDCE0}"/>
              </a:ext>
            </a:extLst>
          </p:cNvPr>
          <p:cNvSpPr/>
          <p:nvPr/>
        </p:nvSpPr>
        <p:spPr>
          <a:xfrm>
            <a:off x="1066800" y="4655234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1EA97E-9CD9-D189-0028-B7495D426118}"/>
              </a:ext>
            </a:extLst>
          </p:cNvPr>
          <p:cNvSpPr/>
          <p:nvPr/>
        </p:nvSpPr>
        <p:spPr>
          <a:xfrm>
            <a:off x="2819400" y="59436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3C29DF-4E5A-E761-5513-5DF0C3B15050}"/>
              </a:ext>
            </a:extLst>
          </p:cNvPr>
          <p:cNvSpPr/>
          <p:nvPr/>
        </p:nvSpPr>
        <p:spPr>
          <a:xfrm>
            <a:off x="2514599" y="3760945"/>
            <a:ext cx="803031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A7B2A06-EC2A-ED3C-7A3D-FDADAE9BA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66" y="93752"/>
            <a:ext cx="1830247" cy="9477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5076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灯片编号占位符 5">
            <a:extLst>
              <a:ext uri="{FF2B5EF4-FFF2-40B4-BE49-F238E27FC236}">
                <a16:creationId xmlns:a16="http://schemas.microsoft.com/office/drawing/2014/main" id="{5D14983C-10C8-48E5-AE87-63FEAE523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16FB64-150F-4FE5-8ABC-8736C81F1096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29029" name="Rectangle 6">
            <a:extLst>
              <a:ext uri="{FF2B5EF4-FFF2-40B4-BE49-F238E27FC236}">
                <a16:creationId xmlns:a16="http://schemas.microsoft.com/office/drawing/2014/main" id="{4AB14B89-E502-4E1F-999E-BB22C3C1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0834D43C-D26E-4E9A-9D1C-3BA071959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292611"/>
            <a:ext cx="51354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066800" y="4054611"/>
            <a:ext cx="990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(0, +∞)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2819400" y="5302963"/>
            <a:ext cx="9144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sz="2000" dirty="0">
                <a:latin typeface="Times New Roman" panose="02020603050405020304" pitchFamily="18" charset="0"/>
              </a:rPr>
              <a:t>, 4)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2362200" y="3151345"/>
            <a:ext cx="9144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(-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,1)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715000" y="3124200"/>
            <a:ext cx="838200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,1)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257800" y="5302963"/>
            <a:ext cx="914400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(-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2000" dirty="0">
                <a:latin typeface="Times New Roman" panose="02020603050405020304" pitchFamily="18" charset="0"/>
              </a:rPr>
              <a:t>,1)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34199" y="4054611"/>
            <a:ext cx="944413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, 1)</a:t>
            </a:r>
            <a:endParaRPr lang="zh-CN" altLang="en-US" sz="2000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7D5E728B-2341-4E88-86D8-AB5DA6C2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20" y="1651337"/>
            <a:ext cx="5044971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(2) 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调整过程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Arial" panose="020B0604020202020204" pitchFamily="34" charset="0"/>
                <a:cs typeface="Courier New" panose="02070309020205020404" pitchFamily="49" charset="0"/>
              </a:rPr>
              <a:t>按点的第一个标号</a:t>
            </a:r>
            <a:r>
              <a:rPr lang="zh-CN" altLang="en-US" sz="2200" dirty="0">
                <a:solidFill>
                  <a:srgbClr val="C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找到一条增广链</a:t>
            </a:r>
            <a:r>
              <a:rPr lang="zh-CN" altLang="en-US" sz="2200" dirty="0">
                <a:latin typeface="Arial" panose="020B0604020202020204" pitchFamily="34" charset="0"/>
                <a:cs typeface="Courier New" panose="02070309020205020404" pitchFamily="49" charset="0"/>
              </a:rPr>
              <a:t>。</a:t>
            </a:r>
            <a:endParaRPr lang="zh-CN" altLang="en-US" sz="2200" dirty="0">
              <a:latin typeface="Arial" panose="020B0604020202020204" pitchFamily="3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6553200" y="3886200"/>
            <a:ext cx="838200" cy="6858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334000" y="4768918"/>
            <a:ext cx="487213" cy="6858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192321" y="3151345"/>
            <a:ext cx="487213" cy="6858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178474" y="4674373"/>
            <a:ext cx="487213" cy="6858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7D5E728B-2341-4E88-86D8-AB5DA6C2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45" y="2225385"/>
            <a:ext cx="7436768" cy="534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Arial" panose="020B0604020202020204" pitchFamily="34" charset="0"/>
                <a:cs typeface="Courier New" panose="02070309020205020404" pitchFamily="49" charset="0"/>
              </a:rPr>
              <a:t>按点的第一个标号</a:t>
            </a:r>
            <a:r>
              <a:rPr lang="zh-CN" altLang="en-US" sz="2200" dirty="0">
                <a:solidFill>
                  <a:srgbClr val="C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找到一条增广链</a:t>
            </a:r>
            <a:r>
              <a:rPr lang="zh-CN" altLang="en-US" sz="2200" dirty="0">
                <a:latin typeface="Arial" panose="020B0604020202020204" pitchFamily="34" charset="0"/>
                <a:cs typeface="Courier New" panose="02070309020205020404" pitchFamily="49" charset="0"/>
              </a:rPr>
              <a:t>，如图</a:t>
            </a:r>
            <a:r>
              <a:rPr lang="en-US" altLang="zh-CN" sz="2200" dirty="0">
                <a:latin typeface="Arial" panose="020B0604020202020204" pitchFamily="34" charset="0"/>
                <a:cs typeface="Courier New" panose="02070309020205020404" pitchFamily="49" charset="0"/>
              </a:rPr>
              <a:t>26</a:t>
            </a:r>
            <a:r>
              <a:rPr lang="zh-CN" altLang="en-US" sz="2200" dirty="0">
                <a:latin typeface="Arial" panose="020B0604020202020204" pitchFamily="34" charset="0"/>
                <a:cs typeface="Courier New" panose="02070309020205020404" pitchFamily="49" charset="0"/>
              </a:rPr>
              <a:t>中双箭头线表示。</a:t>
            </a:r>
            <a:endParaRPr lang="zh-CN" altLang="en-US" sz="2200" dirty="0">
              <a:latin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1951186" y="3944529"/>
            <a:ext cx="487213" cy="6858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52400" y="3083121"/>
            <a:ext cx="8153400" cy="2743200"/>
            <a:chOff x="1371600" y="4175125"/>
            <a:chExt cx="7772401" cy="2606675"/>
          </a:xfrm>
        </p:grpSpPr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EBD3A542-2EC1-46EA-8D5E-E90259732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5825836"/>
              <a:ext cx="73183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47675" indent="-44767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000" dirty="0">
                  <a:latin typeface="Arial" panose="020B0604020202020204" pitchFamily="34" charset="0"/>
                </a:rPr>
                <a:t>图</a:t>
              </a:r>
              <a:r>
                <a:rPr lang="en-US" altLang="zh-CN" sz="2000" dirty="0">
                  <a:latin typeface="Arial" panose="020B0604020202020204" pitchFamily="34" charset="0"/>
                </a:rPr>
                <a:t>26</a:t>
              </a:r>
            </a:p>
          </p:txBody>
        </p:sp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DBEE6645-8AA3-409B-A3F0-69D6ED5E8F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9382" y="4175125"/>
              <a:ext cx="6974619" cy="2606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C9FC7482-18A3-5CF2-9893-177A9E420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74132"/>
            <a:ext cx="6359525" cy="846693"/>
          </a:xfrm>
        </p:spPr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32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0875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animBg="1"/>
      <p:bldP spid="18" grpId="0" animBg="1"/>
      <p:bldP spid="22" grpId="0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灯片编号占位符 5">
            <a:extLst>
              <a:ext uri="{FF2B5EF4-FFF2-40B4-BE49-F238E27FC236}">
                <a16:creationId xmlns:a16="http://schemas.microsoft.com/office/drawing/2014/main" id="{1B92D99B-1A7A-4676-800E-F731CD238E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01000" y="6245225"/>
            <a:ext cx="533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91643E-EB68-4AE5-BCB3-9E94F76018FA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30053" name="Text Box 5">
            <a:extLst>
              <a:ext uri="{FF2B5EF4-FFF2-40B4-BE49-F238E27FC236}">
                <a16:creationId xmlns:a16="http://schemas.microsoft.com/office/drawing/2014/main" id="{EBD3A542-2EC1-46EA-8D5E-E90259732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825836"/>
            <a:ext cx="731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130054" name="Rectangle 8">
            <a:extLst>
              <a:ext uri="{FF2B5EF4-FFF2-40B4-BE49-F238E27FC236}">
                <a16:creationId xmlns:a16="http://schemas.microsoft.com/office/drawing/2014/main" id="{7D5E728B-2341-4E88-86D8-AB5DA6C2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20" y="1748135"/>
            <a:ext cx="21531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(2) 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调整过程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130055" name="Picture 7">
            <a:extLst>
              <a:ext uri="{FF2B5EF4-FFF2-40B4-BE49-F238E27FC236}">
                <a16:creationId xmlns:a16="http://schemas.microsoft.com/office/drawing/2014/main" id="{DBEE6645-8AA3-409B-A3F0-69D6ED5E8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382" y="4175125"/>
            <a:ext cx="6974619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6" name="Rectangle 9">
            <a:extLst>
              <a:ext uri="{FF2B5EF4-FFF2-40B4-BE49-F238E27FC236}">
                <a16:creationId xmlns:a16="http://schemas.microsoft.com/office/drawing/2014/main" id="{C9AFE3FC-B556-4711-9811-8AEC3CB41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37" y="2247528"/>
            <a:ext cx="7893508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易见   </a:t>
            </a:r>
            <a:r>
              <a:rPr lang="en-US" altLang="zh-CN" sz="2200" dirty="0">
                <a:latin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latin typeface="Times New Roman" panose="02020603050405020304" pitchFamily="18" charset="0"/>
              </a:rPr>
              <a:t>=</a:t>
            </a:r>
            <a:r>
              <a:rPr lang="zh-CN" altLang="en-US" sz="2200" dirty="0">
                <a:latin typeface="Times New Roman" panose="02020603050405020304" pitchFamily="18" charset="0"/>
              </a:rPr>
              <a:t>｛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｝； </a:t>
            </a:r>
            <a:r>
              <a:rPr lang="en-US" altLang="zh-CN" sz="2200" dirty="0">
                <a:latin typeface="Times New Roman" panose="02020603050405020304" pitchFamily="18" charset="0"/>
              </a:rPr>
              <a:t>μ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- </a:t>
            </a:r>
            <a:r>
              <a:rPr lang="en-US" altLang="zh-CN" sz="2200" dirty="0">
                <a:latin typeface="Times New Roman" panose="02020603050405020304" pitchFamily="18" charset="0"/>
              </a:rPr>
              <a:t>=</a:t>
            </a:r>
            <a:r>
              <a:rPr lang="zh-CN" altLang="en-US" sz="2200" dirty="0">
                <a:latin typeface="Times New Roman" panose="02020603050405020304" pitchFamily="18" charset="0"/>
              </a:rPr>
              <a:t>｛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｝</a:t>
            </a:r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</a:rPr>
              <a:t>按</a:t>
            </a:r>
            <a:r>
              <a:rPr lang="en-US" altLang="zh-CN" sz="2200" dirty="0">
                <a:latin typeface="Times New Roman" panose="02020603050405020304" pitchFamily="18" charset="0"/>
              </a:rPr>
              <a:t>θ=1</a:t>
            </a:r>
            <a:r>
              <a:rPr lang="zh-CN" altLang="en-US" sz="2200" dirty="0">
                <a:latin typeface="Times New Roman" panose="02020603050405020304" pitchFamily="18" charset="0"/>
              </a:rPr>
              <a:t>在</a:t>
            </a:r>
            <a:r>
              <a:rPr lang="en-US" altLang="zh-CN" sz="2200" dirty="0">
                <a:latin typeface="Times New Roman" panose="02020603050405020304" pitchFamily="18" charset="0"/>
              </a:rPr>
              <a:t>μ</a:t>
            </a:r>
            <a:r>
              <a:rPr lang="zh-CN" altLang="en-US" sz="2200" dirty="0">
                <a:latin typeface="Times New Roman" panose="02020603050405020304" pitchFamily="18" charset="0"/>
              </a:rPr>
              <a:t>上调整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pitchFamily="18" charset="0"/>
              </a:rPr>
              <a:t> μ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+</a:t>
            </a:r>
            <a:r>
              <a:rPr lang="zh-CN" altLang="en-US" sz="2200" dirty="0">
                <a:latin typeface="Times New Roman" panose="02020603050405020304" pitchFamily="18" charset="0"/>
              </a:rPr>
              <a:t>上：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s1</a:t>
            </a:r>
            <a:r>
              <a:rPr lang="en-US" altLang="zh-CN" sz="2200" dirty="0">
                <a:latin typeface="Times New Roman" panose="02020603050405020304" pitchFamily="18" charset="0"/>
              </a:rPr>
              <a:t>+θ=1+1=2</a:t>
            </a:r>
            <a:r>
              <a:rPr lang="zh-CN" altLang="en-US" sz="2200" dirty="0">
                <a:latin typeface="Times New Roman" panose="02020603050405020304" pitchFamily="18" charset="0"/>
              </a:rPr>
              <a:t>；</a:t>
            </a:r>
            <a:r>
              <a:rPr lang="en-US" altLang="zh-CN" sz="2200" dirty="0">
                <a:latin typeface="Times New Roman" panose="02020603050405020304" pitchFamily="18" charset="0"/>
              </a:rPr>
              <a:t> 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3t</a:t>
            </a:r>
            <a:r>
              <a:rPr lang="en-US" altLang="zh-CN" sz="2200" dirty="0">
                <a:latin typeface="Times New Roman" panose="02020603050405020304" pitchFamily="18" charset="0"/>
              </a:rPr>
              <a:t>+θ=1+1=2</a:t>
            </a:r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pitchFamily="18" charset="0"/>
              </a:rPr>
              <a:t> μ</a:t>
            </a:r>
            <a:r>
              <a:rPr lang="en-US" altLang="zh-CN" sz="2200" baseline="30000" dirty="0">
                <a:latin typeface="Times New Roman" panose="02020603050405020304" pitchFamily="18" charset="0"/>
              </a:rPr>
              <a:t>-</a:t>
            </a:r>
            <a:r>
              <a:rPr lang="zh-CN" altLang="en-US" sz="2200" dirty="0">
                <a:latin typeface="Times New Roman" panose="02020603050405020304" pitchFamily="18" charset="0"/>
              </a:rPr>
              <a:t>上：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200" dirty="0">
                <a:latin typeface="Times New Roman" panose="02020603050405020304" pitchFamily="18" charset="0"/>
              </a:rPr>
              <a:t>−θ=1−1=0</a:t>
            </a:r>
            <a:r>
              <a:rPr lang="zh-CN" altLang="en-US" sz="2200" dirty="0">
                <a:latin typeface="Times New Roman" panose="02020603050405020304" pitchFamily="18" charset="0"/>
              </a:rPr>
              <a:t>；</a:t>
            </a:r>
            <a:r>
              <a:rPr lang="en-US" altLang="zh-CN" sz="2200" dirty="0">
                <a:latin typeface="Times New Roman" panose="02020603050405020304" pitchFamily="18" charset="0"/>
              </a:rPr>
              <a:t> 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32</a:t>
            </a:r>
            <a:r>
              <a:rPr lang="en-US" altLang="zh-CN" sz="2200" dirty="0">
                <a:latin typeface="Arial" panose="020B0604020202020204" pitchFamily="34" charset="0"/>
              </a:rPr>
              <a:t>−</a:t>
            </a:r>
            <a:r>
              <a:rPr lang="en-US" altLang="zh-CN" sz="2200" dirty="0">
                <a:latin typeface="Times New Roman" panose="02020603050405020304" pitchFamily="18" charset="0"/>
              </a:rPr>
              <a:t>θ=1</a:t>
            </a:r>
            <a:r>
              <a:rPr lang="en-US" altLang="zh-CN" sz="2200" dirty="0">
                <a:latin typeface="Arial" panose="020B0604020202020204" pitchFamily="34" charset="0"/>
              </a:rPr>
              <a:t>−</a:t>
            </a:r>
            <a:r>
              <a:rPr lang="en-US" altLang="zh-CN" sz="2200" dirty="0">
                <a:latin typeface="Times New Roman" panose="02020603050405020304" pitchFamily="18" charset="0"/>
              </a:rPr>
              <a:t>1=0</a:t>
            </a:r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</a:rPr>
              <a:t>其余的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200" dirty="0">
                <a:latin typeface="Times New Roman" panose="02020603050405020304" pitchFamily="18" charset="0"/>
              </a:rPr>
              <a:t>不变。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8A7AE4-C8D0-8143-8CED-373D2F666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74132"/>
            <a:ext cx="6359525" cy="846693"/>
          </a:xfrm>
        </p:spPr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32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灯片编号占位符 5">
            <a:extLst>
              <a:ext uri="{FF2B5EF4-FFF2-40B4-BE49-F238E27FC236}">
                <a16:creationId xmlns:a16="http://schemas.microsoft.com/office/drawing/2014/main" id="{8CB8D044-B300-4142-BFBD-D57649949B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866735-A970-432B-92FA-AC9A56EC2458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07A50747-989E-45F9-AD7E-532E57D8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78" name="Rectangle 9">
            <a:extLst>
              <a:ext uri="{FF2B5EF4-FFF2-40B4-BE49-F238E27FC236}">
                <a16:creationId xmlns:a16="http://schemas.microsoft.com/office/drawing/2014/main" id="{F3157B30-9611-457E-B333-8F95B1219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79" name="Rectangle 11">
            <a:extLst>
              <a:ext uri="{FF2B5EF4-FFF2-40B4-BE49-F238E27FC236}">
                <a16:creationId xmlns:a16="http://schemas.microsoft.com/office/drawing/2014/main" id="{8BC27C99-FF88-43D3-A8B8-3AB37FCEE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84" name="Rectangle 17">
            <a:extLst>
              <a:ext uri="{FF2B5EF4-FFF2-40B4-BE49-F238E27FC236}">
                <a16:creationId xmlns:a16="http://schemas.microsoft.com/office/drawing/2014/main" id="{A892F241-32E7-47E5-9684-B695369D1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61" y="1641263"/>
            <a:ext cx="4896139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cs typeface="Courier New" panose="02070309020205020404" pitchFamily="49" charset="0"/>
              </a:rPr>
              <a:t>调整后得如图</a:t>
            </a:r>
            <a:r>
              <a:rPr lang="en-US" altLang="zh-CN" sz="2200" dirty="0">
                <a:cs typeface="Courier New" panose="02070309020205020404" pitchFamily="49" charset="0"/>
              </a:rPr>
              <a:t>27</a:t>
            </a:r>
            <a:r>
              <a:rPr lang="zh-CN" altLang="en-US" sz="2200" dirty="0">
                <a:cs typeface="Courier New" panose="02070309020205020404" pitchFamily="49" charset="0"/>
              </a:rPr>
              <a:t>所示的可行流。</a:t>
            </a:r>
            <a:endParaRPr lang="en-US" altLang="zh-CN" sz="2200" dirty="0">
              <a:cs typeface="Courier New" panose="020703090202050204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4445" y="445964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Courier New" panose="02070309020205020404" pitchFamily="49" charset="0"/>
              </a:rPr>
              <a:t>图</a:t>
            </a:r>
            <a:r>
              <a:rPr lang="en-US" altLang="zh-CN" dirty="0">
                <a:cs typeface="Courier New" panose="02070309020205020404" pitchFamily="49" charset="0"/>
              </a:rPr>
              <a:t>27</a:t>
            </a:r>
            <a:endParaRPr lang="zh-CN" altLang="en-US" dirty="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A892F241-32E7-47E5-9684-B695369D1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211" y="5911974"/>
            <a:ext cx="6667789" cy="6001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cs typeface="Courier New" panose="02070309020205020404" pitchFamily="49" charset="0"/>
              </a:rPr>
              <a:t>下面</a:t>
            </a:r>
            <a:r>
              <a:rPr lang="en-US" altLang="zh-CN" sz="2200" dirty="0">
                <a:cs typeface="Courier New" panose="02070309020205020404" pitchFamily="49" charset="0"/>
              </a:rPr>
              <a:t>, </a:t>
            </a:r>
            <a:r>
              <a:rPr lang="zh-CN" altLang="en-US" sz="2200" dirty="0">
                <a:cs typeface="Courier New" panose="02070309020205020404" pitchFamily="49" charset="0"/>
              </a:rPr>
              <a:t>对这个可行流进入标号过程，寻找增广链。</a:t>
            </a:r>
            <a:endParaRPr lang="zh-CN" altLang="en-US" sz="2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253D3B-4D9D-0F09-B6B7-69B41B06C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74132"/>
            <a:ext cx="6359525" cy="846693"/>
          </a:xfrm>
        </p:spPr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32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96F3DC5-8BF3-23DA-AA7C-C29063918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710" y="2546054"/>
            <a:ext cx="6388303" cy="2559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86B5364-2C3C-EB3F-971C-BB1742BBDA1D}"/>
              </a:ext>
            </a:extLst>
          </p:cNvPr>
          <p:cNvSpPr txBox="1"/>
          <p:nvPr/>
        </p:nvSpPr>
        <p:spPr>
          <a:xfrm>
            <a:off x="2976051" y="4404899"/>
            <a:ext cx="419100" cy="300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4DCFE2-D739-CFC2-B024-1B772F8F119F}"/>
              </a:ext>
            </a:extLst>
          </p:cNvPr>
          <p:cNvSpPr txBox="1"/>
          <p:nvPr/>
        </p:nvSpPr>
        <p:spPr>
          <a:xfrm>
            <a:off x="5224077" y="3276600"/>
            <a:ext cx="567123" cy="396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6B948A-6157-CA1D-1D05-74A690DEB97F}"/>
              </a:ext>
            </a:extLst>
          </p:cNvPr>
          <p:cNvSpPr txBox="1"/>
          <p:nvPr/>
        </p:nvSpPr>
        <p:spPr>
          <a:xfrm>
            <a:off x="7467600" y="4114800"/>
            <a:ext cx="419100" cy="300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273225-B0F1-25E9-5D9A-DEB331B7985C}"/>
              </a:ext>
            </a:extLst>
          </p:cNvPr>
          <p:cNvSpPr txBox="1"/>
          <p:nvPr/>
        </p:nvSpPr>
        <p:spPr>
          <a:xfrm>
            <a:off x="5410200" y="3585592"/>
            <a:ext cx="419100" cy="300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710704-CC67-A7DA-BA0C-D9DF94339C52}"/>
              </a:ext>
            </a:extLst>
          </p:cNvPr>
          <p:cNvSpPr txBox="1"/>
          <p:nvPr/>
        </p:nvSpPr>
        <p:spPr>
          <a:xfrm>
            <a:off x="2362199" y="4149232"/>
            <a:ext cx="685801" cy="4062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(5, 2)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6D884F-2073-6805-5BD7-84D8C5D1406B}"/>
              </a:ext>
            </a:extLst>
          </p:cNvPr>
          <p:cNvSpPr txBox="1"/>
          <p:nvPr/>
        </p:nvSpPr>
        <p:spPr>
          <a:xfrm>
            <a:off x="7086600" y="4419427"/>
            <a:ext cx="419100" cy="300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A2D77F-A67F-E86F-9887-9CB29DFAC07D}"/>
              </a:ext>
            </a:extLst>
          </p:cNvPr>
          <p:cNvSpPr txBox="1"/>
          <p:nvPr/>
        </p:nvSpPr>
        <p:spPr>
          <a:xfrm>
            <a:off x="7200899" y="4350703"/>
            <a:ext cx="6858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(2, 2)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4D1E46-8130-A9C2-97A5-9D1265E93D96}"/>
              </a:ext>
            </a:extLst>
          </p:cNvPr>
          <p:cNvSpPr txBox="1"/>
          <p:nvPr/>
        </p:nvSpPr>
        <p:spPr>
          <a:xfrm>
            <a:off x="5011594" y="3244334"/>
            <a:ext cx="68580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(1, 0)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33AA91-CC42-146D-EB87-BBA3877387BC}"/>
              </a:ext>
            </a:extLst>
          </p:cNvPr>
          <p:cNvSpPr txBox="1"/>
          <p:nvPr/>
        </p:nvSpPr>
        <p:spPr>
          <a:xfrm>
            <a:off x="3962399" y="3641060"/>
            <a:ext cx="83820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(1, 0)</a:t>
            </a:r>
            <a:endParaRPr lang="zh-CN" altLang="en-US" dirty="0"/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C258F3FB-3089-4A3A-ADE1-B2E044591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91314"/>
            <a:ext cx="3949174" cy="147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灯片编号占位符 5">
            <a:extLst>
              <a:ext uri="{FF2B5EF4-FFF2-40B4-BE49-F238E27FC236}">
                <a16:creationId xmlns:a16="http://schemas.microsoft.com/office/drawing/2014/main" id="{8CB8D044-B300-4142-BFBD-D57649949B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866735-A970-432B-92FA-AC9A56EC2458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07A50747-989E-45F9-AD7E-532E57D8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78" name="Rectangle 9">
            <a:extLst>
              <a:ext uri="{FF2B5EF4-FFF2-40B4-BE49-F238E27FC236}">
                <a16:creationId xmlns:a16="http://schemas.microsoft.com/office/drawing/2014/main" id="{F3157B30-9611-457E-B333-8F95B1219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79" name="Rectangle 11">
            <a:extLst>
              <a:ext uri="{FF2B5EF4-FFF2-40B4-BE49-F238E27FC236}">
                <a16:creationId xmlns:a16="http://schemas.microsoft.com/office/drawing/2014/main" id="{8BC27C99-FF88-43D3-A8B8-3AB37FCEE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AC671B18-7286-4785-99F0-C17819788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8800"/>
            <a:ext cx="8066088" cy="4281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3333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开始给</a:t>
            </a:r>
            <a:r>
              <a:rPr lang="en-US" altLang="zh-CN" sz="2200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</a:rPr>
              <a:t>标以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indent="0">
              <a:lnSpc>
                <a:spcPct val="125000"/>
              </a:lnSpc>
              <a:buClr>
                <a:srgbClr val="C00000"/>
              </a:buClr>
            </a:pPr>
            <a:r>
              <a:rPr lang="en-US" altLang="zh-CN" sz="2200" dirty="0">
                <a:latin typeface="Times New Roman" panose="02020603050405020304" pitchFamily="18" charset="0"/>
              </a:rPr>
              <a:t>       (0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</a:rPr>
              <a:t>+∞)</a:t>
            </a: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200" dirty="0">
                <a:latin typeface="Times New Roman" panose="02020603050405020304" pitchFamily="18" charset="0"/>
              </a:rPr>
              <a:t>  </a:t>
            </a:r>
            <a:r>
              <a:rPr lang="zh-CN" altLang="en-US" sz="2200" dirty="0">
                <a:latin typeface="Times New Roman" panose="02020603050405020304" pitchFamily="18" charset="0"/>
              </a:rPr>
              <a:t>于是检查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indent="0">
              <a:lnSpc>
                <a:spcPct val="125000"/>
              </a:lnSpc>
              <a:buClr>
                <a:srgbClr val="C00000"/>
              </a:buClr>
            </a:pPr>
            <a:r>
              <a:rPr lang="zh-CN" altLang="en-US" sz="2200" dirty="0">
                <a:latin typeface="Times New Roman" panose="02020603050405020304" pitchFamily="18" charset="0"/>
              </a:rPr>
              <a:t>       给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标以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</a:rPr>
              <a:t>,3)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检查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1085850" lvl="1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</a:rPr>
              <a:t>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2200" dirty="0">
                <a:latin typeface="Times New Roman" panose="02020603050405020304" pitchFamily="18" charset="0"/>
              </a:rPr>
              <a:t>,</a:t>
            </a:r>
            <a:r>
              <a:rPr lang="en-US" altLang="zh-CN" sz="2200" i="1" dirty="0">
                <a:latin typeface="Times New Roman" panose="02020603050405020304" pitchFamily="18" charset="0"/>
              </a:rPr>
              <a:t> 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13</a:t>
            </a:r>
            <a:r>
              <a:rPr lang="zh-CN" altLang="en-US" sz="2200" dirty="0">
                <a:latin typeface="Times New Roman" panose="02020603050405020304" pitchFamily="18" charset="0"/>
              </a:rPr>
              <a:t>＝</a:t>
            </a:r>
            <a:r>
              <a:rPr lang="en-US" altLang="zh-CN" sz="2200" dirty="0">
                <a:latin typeface="Times New Roman" panose="02020603050405020304" pitchFamily="18" charset="0"/>
              </a:rPr>
              <a:t>c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13</a:t>
            </a:r>
          </a:p>
          <a:p>
            <a:pPr marL="1085850" lvl="1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</a:rPr>
              <a:t>弧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2200" dirty="0">
                <a:latin typeface="Times New Roman" panose="02020603050405020304" pitchFamily="18" charset="0"/>
              </a:rPr>
              <a:t>,</a:t>
            </a:r>
            <a:r>
              <a:rPr lang="en-US" altLang="zh-CN" sz="2200" i="1" dirty="0">
                <a:latin typeface="Times New Roman" panose="02020603050405020304" pitchFamily="18" charset="0"/>
              </a:rPr>
              <a:t> v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上，</a:t>
            </a:r>
            <a:r>
              <a:rPr lang="en-US" altLang="zh-CN" sz="2200" dirty="0">
                <a:latin typeface="Times New Roman" panose="02020603050405020304" pitchFamily="18" charset="0"/>
              </a:rPr>
              <a:t>f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200" dirty="0">
                <a:latin typeface="Times New Roman" panose="02020603050405020304" pitchFamily="18" charset="0"/>
              </a:rPr>
              <a:t>=0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indent="0">
              <a:lnSpc>
                <a:spcPct val="125000"/>
              </a:lnSpc>
              <a:buClr>
                <a:srgbClr val="C00000"/>
              </a:buClr>
            </a:pPr>
            <a:r>
              <a:rPr lang="zh-CN" altLang="en-US" sz="2200" dirty="0">
                <a:latin typeface="Times New Roman" panose="02020603050405020304" pitchFamily="18" charset="0"/>
              </a:rPr>
              <a:t>       均不符号条件，标号过程无法继续下去，算法结束。</a:t>
            </a:r>
          </a:p>
          <a:p>
            <a:pPr marL="457200" indent="-4572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这时的可行流</a:t>
            </a:r>
            <a:r>
              <a:rPr lang="en-US" altLang="zh-CN" sz="2200" dirty="0">
                <a:latin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</a:rPr>
              <a:t>图</a:t>
            </a:r>
            <a:r>
              <a:rPr lang="en-US" altLang="zh-CN" sz="2200" dirty="0">
                <a:latin typeface="Times New Roman" panose="02020603050405020304" pitchFamily="18" charset="0"/>
              </a:rPr>
              <a:t>27)</a:t>
            </a:r>
            <a:r>
              <a:rPr lang="zh-CN" altLang="en-US" sz="2200" dirty="0">
                <a:latin typeface="Times New Roman" panose="02020603050405020304" pitchFamily="18" charset="0"/>
              </a:rPr>
              <a:t>即为所求最大流。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最大流量为</a:t>
            </a:r>
            <a:r>
              <a:rPr lang="en-US" altLang="zh-CN" sz="2200" dirty="0">
                <a:latin typeface="Times New Roman" panose="02020603050405020304" pitchFamily="18" charset="0"/>
              </a:rPr>
              <a:t>  </a:t>
            </a:r>
            <a:r>
              <a:rPr lang="en-US" altLang="zh-CN" sz="2200" i="1" dirty="0">
                <a:latin typeface="Times New Roman" panose="02020603050405020304" pitchFamily="18" charset="0"/>
              </a:rPr>
              <a:t>v </a:t>
            </a:r>
            <a:r>
              <a:rPr lang="en-US" altLang="zh-CN" sz="2200" dirty="0">
                <a:latin typeface="Times New Roman" panose="02020603050405020304" pitchFamily="18" charset="0"/>
              </a:rPr>
              <a:t>( </a:t>
            </a:r>
            <a:r>
              <a:rPr lang="en-US" altLang="zh-CN" sz="2200" i="1" dirty="0">
                <a:latin typeface="Times New Roman" panose="02020603050405020304" pitchFamily="18" charset="0"/>
              </a:rPr>
              <a:t>f </a:t>
            </a:r>
            <a:r>
              <a:rPr lang="en-US" altLang="zh-CN" sz="2200" dirty="0">
                <a:latin typeface="Times New Roman" panose="02020603050405020304" pitchFamily="18" charset="0"/>
              </a:rPr>
              <a:t>) =  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s1</a:t>
            </a:r>
            <a:r>
              <a:rPr lang="en-US" altLang="zh-CN" sz="2200" dirty="0">
                <a:latin typeface="Times New Roman" panose="02020603050405020304" pitchFamily="18" charset="0"/>
              </a:rPr>
              <a:t>+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s2   </a:t>
            </a:r>
            <a:r>
              <a:rPr lang="en-US" altLang="zh-CN" sz="2200" dirty="0">
                <a:latin typeface="Times New Roman" panose="02020603050405020304" pitchFamily="18" charset="0"/>
              </a:rPr>
              <a:t>=  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4t</a:t>
            </a:r>
            <a:r>
              <a:rPr lang="en-US" altLang="zh-CN" sz="2200" dirty="0">
                <a:latin typeface="Times New Roman" panose="02020603050405020304" pitchFamily="18" charset="0"/>
              </a:rPr>
              <a:t>+</a:t>
            </a:r>
            <a:r>
              <a:rPr lang="en-US" altLang="zh-CN" sz="2200" i="1" dirty="0">
                <a:latin typeface="Times New Roman" panose="02020603050405020304" pitchFamily="18" charset="0"/>
              </a:rPr>
              <a:t>f</a:t>
            </a:r>
            <a:r>
              <a:rPr lang="en-US" altLang="zh-CN" sz="2200" i="1" baseline="-30000" dirty="0">
                <a:latin typeface="Times New Roman" panose="02020603050405020304" pitchFamily="18" charset="0"/>
              </a:rPr>
              <a:t>3t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  </a:t>
            </a:r>
            <a:r>
              <a:rPr lang="en-US" altLang="zh-CN" sz="2200" dirty="0">
                <a:latin typeface="Times New Roman" panose="02020603050405020304" pitchFamily="18" charset="0"/>
              </a:rPr>
              <a:t>= 5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229600" y="3212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Courier New" panose="02070309020205020404" pitchFamily="49" charset="0"/>
              </a:rPr>
              <a:t>图</a:t>
            </a:r>
            <a:r>
              <a:rPr lang="en-US" altLang="zh-CN" dirty="0">
                <a:cs typeface="Courier New" panose="02070309020205020404" pitchFamily="49" charset="0"/>
              </a:rPr>
              <a:t>27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CBBC88-3AF2-DFC4-1913-927D63DC0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74132"/>
            <a:ext cx="6359525" cy="846693"/>
          </a:xfrm>
        </p:spPr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32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/>
          </a:p>
        </p:txBody>
      </p:sp>
      <p:grpSp>
        <p:nvGrpSpPr>
          <p:cNvPr id="3" name="组合 2"/>
          <p:cNvGrpSpPr/>
          <p:nvPr/>
        </p:nvGrpSpPr>
        <p:grpSpPr>
          <a:xfrm>
            <a:off x="3543300" y="145903"/>
            <a:ext cx="5600700" cy="3562961"/>
            <a:chOff x="2579039" y="14360"/>
            <a:chExt cx="6564961" cy="3201755"/>
          </a:xfrm>
        </p:grpSpPr>
        <p:sp>
          <p:nvSpPr>
            <p:cNvPr id="2" name="矩形 1"/>
            <p:cNvSpPr/>
            <p:nvPr/>
          </p:nvSpPr>
          <p:spPr>
            <a:xfrm>
              <a:off x="2579039" y="34295"/>
              <a:ext cx="6553200" cy="3181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1080" name="Picture 16">
              <a:extLst>
                <a:ext uri="{FF2B5EF4-FFF2-40B4-BE49-F238E27FC236}">
                  <a16:creationId xmlns:a16="http://schemas.microsoft.com/office/drawing/2014/main" id="{7421CB0A-36BE-49CA-BD38-933A4CE4E1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1059" y="14360"/>
              <a:ext cx="6562941" cy="32004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</p:pic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532272DB-5461-464E-6294-905BEBF19240}"/>
              </a:ext>
            </a:extLst>
          </p:cNvPr>
          <p:cNvSpPr/>
          <p:nvPr/>
        </p:nvSpPr>
        <p:spPr>
          <a:xfrm>
            <a:off x="3968179" y="1339071"/>
            <a:ext cx="885949" cy="377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4CE4D4-FB03-A986-0842-94781749FC17}"/>
              </a:ext>
            </a:extLst>
          </p:cNvPr>
          <p:cNvSpPr/>
          <p:nvPr/>
        </p:nvSpPr>
        <p:spPr>
          <a:xfrm>
            <a:off x="5334000" y="2350407"/>
            <a:ext cx="885949" cy="343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4716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灯片编号占位符 5">
            <a:extLst>
              <a:ext uri="{FF2B5EF4-FFF2-40B4-BE49-F238E27FC236}">
                <a16:creationId xmlns:a16="http://schemas.microsoft.com/office/drawing/2014/main" id="{8CB8D044-B300-4142-BFBD-D57649949B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866735-A970-432B-92FA-AC9A56EC2458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07A50747-989E-45F9-AD7E-532E57D8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78" name="Rectangle 9">
            <a:extLst>
              <a:ext uri="{FF2B5EF4-FFF2-40B4-BE49-F238E27FC236}">
                <a16:creationId xmlns:a16="http://schemas.microsoft.com/office/drawing/2014/main" id="{F3157B30-9611-457E-B333-8F95B1219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79" name="Rectangle 11">
            <a:extLst>
              <a:ext uri="{FF2B5EF4-FFF2-40B4-BE49-F238E27FC236}">
                <a16:creationId xmlns:a16="http://schemas.microsoft.com/office/drawing/2014/main" id="{8BC27C99-FF88-43D3-A8B8-3AB37FCEE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31081" name="Object 15">
            <a:extLst>
              <a:ext uri="{FF2B5EF4-FFF2-40B4-BE49-F238E27FC236}">
                <a16:creationId xmlns:a16="http://schemas.microsoft.com/office/drawing/2014/main" id="{C383A503-BD0B-4899-BF4B-AB570B2E6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421902"/>
              </p:ext>
            </p:extLst>
          </p:nvPr>
        </p:nvGraphicFramePr>
        <p:xfrm>
          <a:off x="2266014" y="2718185"/>
          <a:ext cx="1014991" cy="444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45863" imgH="241195" progId="Equation.DSMT4">
                  <p:embed/>
                </p:oleObj>
              </mc:Choice>
              <mc:Fallback>
                <p:oleObj r:id="rId3" imgW="545863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014" y="2718185"/>
                        <a:ext cx="1014991" cy="444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2" name="Object 14">
            <a:extLst>
              <a:ext uri="{FF2B5EF4-FFF2-40B4-BE49-F238E27FC236}">
                <a16:creationId xmlns:a16="http://schemas.microsoft.com/office/drawing/2014/main" id="{09537F73-455B-4736-A30C-312039E35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285024"/>
              </p:ext>
            </p:extLst>
          </p:nvPr>
        </p:nvGraphicFramePr>
        <p:xfrm>
          <a:off x="1143000" y="3858111"/>
          <a:ext cx="429795" cy="429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1195" imgH="241195" progId="Equation.DSMT4">
                  <p:embed/>
                </p:oleObj>
              </mc:Choice>
              <mc:Fallback>
                <p:oleObj r:id="rId5" imgW="241195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58111"/>
                        <a:ext cx="429795" cy="429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3581400" y="1468675"/>
            <a:ext cx="5524500" cy="3408124"/>
            <a:chOff x="2579039" y="34295"/>
            <a:chExt cx="6564961" cy="3254587"/>
          </a:xfrm>
        </p:grpSpPr>
        <p:sp>
          <p:nvSpPr>
            <p:cNvPr id="2" name="矩形 1"/>
            <p:cNvSpPr/>
            <p:nvPr/>
          </p:nvSpPr>
          <p:spPr>
            <a:xfrm>
              <a:off x="2579039" y="34295"/>
              <a:ext cx="6553200" cy="3181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1080" name="Picture 16">
              <a:extLst>
                <a:ext uri="{FF2B5EF4-FFF2-40B4-BE49-F238E27FC236}">
                  <a16:creationId xmlns:a16="http://schemas.microsoft.com/office/drawing/2014/main" id="{7421CB0A-36BE-49CA-BD38-933A4CE4E1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1059" y="88482"/>
              <a:ext cx="6562941" cy="32004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</p:pic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E9347B8F-EDEC-44F4-8C45-019B0F275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56637"/>
            <a:ext cx="799306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此例中，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＝｛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  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，于是  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是最小截集，其容量也是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6B88CE6F-C517-4FC0-BA44-639B4A2E0E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419402"/>
              </p:ext>
            </p:extLst>
          </p:nvPr>
        </p:nvGraphicFramePr>
        <p:xfrm>
          <a:off x="4392613" y="4909036"/>
          <a:ext cx="21605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55700" imgH="241300" progId="Equation.DSMT4">
                  <p:embed/>
                </p:oleObj>
              </mc:Choice>
              <mc:Fallback>
                <p:oleObj r:id="rId8" imgW="11557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909036"/>
                        <a:ext cx="2160587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9474E86A-1E9C-4AEB-B3A4-451BDF828B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908090"/>
              </p:ext>
            </p:extLst>
          </p:nvPr>
        </p:nvGraphicFramePr>
        <p:xfrm>
          <a:off x="1066800" y="5442436"/>
          <a:ext cx="341342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63560" imgH="241200" progId="Equation.DSMT4">
                  <p:embed/>
                </p:oleObj>
              </mc:Choice>
              <mc:Fallback>
                <p:oleObj name="Equation" r:id="rId10" imgW="1663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442436"/>
                        <a:ext cx="341342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5" name="Rectangle 18">
            <a:extLst>
              <a:ext uri="{FF2B5EF4-FFF2-40B4-BE49-F238E27FC236}">
                <a16:creationId xmlns:a16="http://schemas.microsoft.com/office/drawing/2014/main" id="{AC671B18-7286-4785-99F0-C17819788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1988909"/>
            <a:ext cx="3159125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3333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</a:rPr>
              <a:t>与此同时可找到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最小截集</a:t>
            </a:r>
            <a:r>
              <a:rPr lang="zh-CN" altLang="en-US" sz="2200" dirty="0">
                <a:latin typeface="Times New Roman" panose="02020603050405020304" pitchFamily="18" charset="0"/>
              </a:rPr>
              <a:t>               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200" dirty="0">
                <a:latin typeface="Times New Roman" panose="02020603050405020304" pitchFamily="18" charset="0"/>
              </a:rPr>
              <a:t>   V</a:t>
            </a:r>
            <a:r>
              <a:rPr lang="en-US" altLang="zh-CN" sz="2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</a:rPr>
              <a:t>为标号点集合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Times New Roman" panose="02020603050405020304" pitchFamily="18" charset="0"/>
              </a:rPr>
              <a:t>       为未标号点集合</a:t>
            </a:r>
            <a:r>
              <a:rPr lang="zh-CN" altLang="en-US" sz="2000" dirty="0">
                <a:latin typeface="Times New Roman" panose="02020603050405020304" pitchFamily="18" charset="0"/>
              </a:rPr>
              <a:t>       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B3401EF-0957-B639-418E-69E5C835D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883581"/>
            <a:ext cx="6359525" cy="637244"/>
          </a:xfrm>
        </p:spPr>
        <p:txBody>
          <a:bodyPr/>
          <a:lstStyle/>
          <a:p>
            <a:r>
              <a:rPr lang="en-US" altLang="zh-CN" sz="3200" dirty="0"/>
              <a:t>4.2 </a:t>
            </a:r>
            <a:r>
              <a:rPr lang="zh-CN" altLang="en-US" sz="3200" dirty="0"/>
              <a:t>寻求最大流的标号法 </a:t>
            </a:r>
            <a:r>
              <a:rPr lang="en-US" altLang="zh-CN" sz="3200" dirty="0"/>
              <a:t>– 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14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14218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灯片编号占位符 5">
            <a:extLst>
              <a:ext uri="{FF2B5EF4-FFF2-40B4-BE49-F238E27FC236}">
                <a16:creationId xmlns:a16="http://schemas.microsoft.com/office/drawing/2014/main" id="{4F9B0487-3FC3-400A-BC20-E22F8724C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DE87E36-7C7B-4263-985D-FEA4DB2D727C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32100" name="Rectangle 2">
            <a:extLst>
              <a:ext uri="{FF2B5EF4-FFF2-40B4-BE49-F238E27FC236}">
                <a16:creationId xmlns:a16="http://schemas.microsoft.com/office/drawing/2014/main" id="{8FDDDF8A-FAEA-416B-BD11-1BAEFB9E7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5978525" cy="1216025"/>
          </a:xfrm>
        </p:spPr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寻求最大流的标号法</a:t>
            </a:r>
          </a:p>
        </p:txBody>
      </p:sp>
      <p:sp>
        <p:nvSpPr>
          <p:cNvPr id="132101" name="Rectangle 3">
            <a:extLst>
              <a:ext uri="{FF2B5EF4-FFF2-40B4-BE49-F238E27FC236}">
                <a16:creationId xmlns:a16="http://schemas.microsoft.com/office/drawing/2014/main" id="{E9347B8F-EDEC-44F4-8C45-019B0F275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825624"/>
            <a:ext cx="7772400" cy="341153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由上述可见，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标号法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找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增广链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以求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最大流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的结果，同时得到一个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最小截集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最小截集容量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的大小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影响总的输送量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的提高。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因此，为提高总的输送量，必须首先考虑改善最小截集中各弧的输送状况，提高它们的通过能力。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另一方面，一旦最小截集中弧的通过能力被降低，就会使总的输送量减少。</a:t>
            </a:r>
          </a:p>
        </p:txBody>
      </p:sp>
      <p:sp>
        <p:nvSpPr>
          <p:cNvPr id="132102" name="Rectangle 5">
            <a:extLst>
              <a:ext uri="{FF2B5EF4-FFF2-40B4-BE49-F238E27FC236}">
                <a16:creationId xmlns:a16="http://schemas.microsoft.com/office/drawing/2014/main" id="{AEBB0165-6BAF-443E-BBA3-80E7F71FC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2104" name="Rectangle 7">
            <a:extLst>
              <a:ext uri="{FF2B5EF4-FFF2-40B4-BE49-F238E27FC236}">
                <a16:creationId xmlns:a16="http://schemas.microsoft.com/office/drawing/2014/main" id="{076A7193-B4B7-4950-A39A-32E82B714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66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3">
            <a:extLst>
              <a:ext uri="{FF2B5EF4-FFF2-40B4-BE49-F238E27FC236}">
                <a16:creationId xmlns:a16="http://schemas.microsoft.com/office/drawing/2014/main" id="{E265FEEE-570B-4BD6-A19C-5292C7BB1B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32118" y="381000"/>
            <a:ext cx="2201882" cy="1941672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CN" sz="2000" dirty="0"/>
              <a:t>p.350-351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9.6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9.8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9.11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D54EA8A-0917-66A7-44E1-EEDBE6636EA5}"/>
              </a:ext>
            </a:extLst>
          </p:cNvPr>
          <p:cNvGrpSpPr/>
          <p:nvPr/>
        </p:nvGrpSpPr>
        <p:grpSpPr>
          <a:xfrm>
            <a:off x="6248400" y="92322"/>
            <a:ext cx="2819400" cy="2117478"/>
            <a:chOff x="6629400" y="1"/>
            <a:chExt cx="2438400" cy="178816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9400" y="1"/>
              <a:ext cx="2438400" cy="1788160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6F5673E-2EB7-8274-4732-3477A0C80E54}"/>
                </a:ext>
              </a:extLst>
            </p:cNvPr>
            <p:cNvSpPr/>
            <p:nvPr/>
          </p:nvSpPr>
          <p:spPr>
            <a:xfrm>
              <a:off x="7315200" y="1531694"/>
              <a:ext cx="990600" cy="233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图</a:t>
              </a:r>
              <a:r>
                <a:rPr lang="en-US" altLang="zh-CN" sz="1400" dirty="0">
                  <a:solidFill>
                    <a:schemeClr val="tx1"/>
                  </a:solidFill>
                </a:rPr>
                <a:t>9-43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BEE59A5-1808-AD40-F14E-6C30D1C63CC9}"/>
              </a:ext>
            </a:extLst>
          </p:cNvPr>
          <p:cNvGrpSpPr/>
          <p:nvPr/>
        </p:nvGrpSpPr>
        <p:grpSpPr>
          <a:xfrm>
            <a:off x="18757" y="2551273"/>
            <a:ext cx="9049043" cy="807947"/>
            <a:chOff x="0" y="1828800"/>
            <a:chExt cx="9144000" cy="87041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28800"/>
              <a:ext cx="9144000" cy="870417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D11E5C5-77B1-5DA7-8204-2D660432EF57}"/>
                </a:ext>
              </a:extLst>
            </p:cNvPr>
            <p:cNvSpPr/>
            <p:nvPr/>
          </p:nvSpPr>
          <p:spPr>
            <a:xfrm>
              <a:off x="5029200" y="1871664"/>
              <a:ext cx="937263" cy="392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图</a:t>
              </a:r>
              <a:r>
                <a:rPr lang="en-US" altLang="zh-CN" sz="1600" dirty="0">
                  <a:solidFill>
                    <a:schemeClr val="tx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9-43</a:t>
              </a:r>
              <a:endParaRPr lang="zh-CN" altLang="en-US" sz="1600" dirty="0">
                <a:solidFill>
                  <a:schemeClr val="tx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7A5C587-F315-1242-6665-CF148CE004C6}"/>
                </a:ext>
              </a:extLst>
            </p:cNvPr>
            <p:cNvSpPr/>
            <p:nvPr/>
          </p:nvSpPr>
          <p:spPr>
            <a:xfrm>
              <a:off x="503526" y="1922842"/>
              <a:ext cx="639473" cy="3411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9.6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DF8653B-84AF-576B-AA8A-53E1C0A1AF8B}"/>
              </a:ext>
            </a:extLst>
          </p:cNvPr>
          <p:cNvGrpSpPr/>
          <p:nvPr/>
        </p:nvGrpSpPr>
        <p:grpSpPr>
          <a:xfrm>
            <a:off x="304800" y="4127608"/>
            <a:ext cx="4343400" cy="450812"/>
            <a:chOff x="381000" y="2901988"/>
            <a:chExt cx="4343400" cy="45081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2940806"/>
              <a:ext cx="4343400" cy="338109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ED9B25F-2614-2C75-5FA8-7562C3A0128C}"/>
                </a:ext>
              </a:extLst>
            </p:cNvPr>
            <p:cNvSpPr/>
            <p:nvPr/>
          </p:nvSpPr>
          <p:spPr>
            <a:xfrm>
              <a:off x="381000" y="2935434"/>
              <a:ext cx="639473" cy="3411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9.8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1AFF947-6246-A591-D702-94ED352E443C}"/>
                </a:ext>
              </a:extLst>
            </p:cNvPr>
            <p:cNvSpPr/>
            <p:nvPr/>
          </p:nvSpPr>
          <p:spPr>
            <a:xfrm>
              <a:off x="1524000" y="2901988"/>
              <a:ext cx="728639" cy="450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9-45</a:t>
              </a:r>
              <a:endParaRPr lang="zh-CN" altLang="en-US" sz="1600" dirty="0">
                <a:solidFill>
                  <a:schemeClr val="tx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E29855D-4A20-422B-AED6-5B5629E62670}"/>
              </a:ext>
            </a:extLst>
          </p:cNvPr>
          <p:cNvGrpSpPr/>
          <p:nvPr/>
        </p:nvGrpSpPr>
        <p:grpSpPr>
          <a:xfrm>
            <a:off x="823262" y="4724400"/>
            <a:ext cx="3035877" cy="1837504"/>
            <a:chOff x="4191000" y="4540393"/>
            <a:chExt cx="3035877" cy="183750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1000" y="4540393"/>
              <a:ext cx="3035877" cy="1837504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CF1C524-3CFE-2DF5-3ACA-00D9D9645334}"/>
                </a:ext>
              </a:extLst>
            </p:cNvPr>
            <p:cNvSpPr/>
            <p:nvPr/>
          </p:nvSpPr>
          <p:spPr>
            <a:xfrm>
              <a:off x="5215983" y="6142117"/>
              <a:ext cx="990600" cy="233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图</a:t>
              </a:r>
              <a:r>
                <a:rPr lang="en-US" altLang="zh-CN" sz="1400" dirty="0">
                  <a:solidFill>
                    <a:schemeClr val="tx1"/>
                  </a:solidFill>
                </a:rPr>
                <a:t>9-45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07548EAD-4339-B854-F685-191BC5C18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3505200"/>
            <a:ext cx="4491755" cy="3352800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03AA277B-A8F8-53D6-3A7E-5BCC60B0C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773" y="598487"/>
            <a:ext cx="2043112" cy="741363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3922864351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5545</TotalTime>
  <Words>3481</Words>
  <Application>Microsoft Office PowerPoint</Application>
  <PresentationFormat>全屏显示(4:3)</PresentationFormat>
  <Paragraphs>296</Paragraphs>
  <Slides>35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方正粗黑宋简体</vt:lpstr>
      <vt:lpstr>宋体</vt:lpstr>
      <vt:lpstr>Arial</vt:lpstr>
      <vt:lpstr>Calibri</vt:lpstr>
      <vt:lpstr>Courier New</vt:lpstr>
      <vt:lpstr>Times New Roman</vt:lpstr>
      <vt:lpstr>Verdana</vt:lpstr>
      <vt:lpstr>Wingdings</vt:lpstr>
      <vt:lpstr>Profile</vt:lpstr>
      <vt:lpstr>Equation</vt:lpstr>
      <vt:lpstr>MathType 6.0 Equation</vt:lpstr>
      <vt:lpstr>第9章  图与网络优化</vt:lpstr>
      <vt:lpstr>引言</vt:lpstr>
      <vt:lpstr>引言（网络最大流问题）</vt:lpstr>
      <vt:lpstr>引言（网络最大流问题）</vt:lpstr>
      <vt:lpstr>第4节 网络最大流问题</vt:lpstr>
      <vt:lpstr>4.1 基本概念与基本定理</vt:lpstr>
      <vt:lpstr>4.1 基本概念与基本定理</vt:lpstr>
      <vt:lpstr>4.1 基本概念与基本定理</vt:lpstr>
      <vt:lpstr>4.1 基本概念与基本定理</vt:lpstr>
      <vt:lpstr>4.1 基本概念与基本定理</vt:lpstr>
      <vt:lpstr>4.1 基本概念与基本定理</vt:lpstr>
      <vt:lpstr>4.1 基本概念与基本定理</vt:lpstr>
      <vt:lpstr>4.1 基本概念与基本定理</vt:lpstr>
      <vt:lpstr>4.1 基本概念与基本定理</vt:lpstr>
      <vt:lpstr>4.2 寻求最大流的标号法</vt:lpstr>
      <vt:lpstr>4.2 寻求最大流的标号法</vt:lpstr>
      <vt:lpstr>4.2 寻求最大流的标号法</vt:lpstr>
      <vt:lpstr>4.2 寻求最大流的标号法</vt:lpstr>
      <vt:lpstr>4.2 寻求最大流的标号法</vt:lpstr>
      <vt:lpstr>4.2 寻求最大流的标号法</vt:lpstr>
      <vt:lpstr>4.2 寻求最大流的标号法</vt:lpstr>
      <vt:lpstr>4.2 寻求最大流的标号法</vt:lpstr>
      <vt:lpstr>4.2 寻求最大流的标号法</vt:lpstr>
      <vt:lpstr>4.2 寻求最大流的标号法</vt:lpstr>
      <vt:lpstr>PowerPoint 演示文稿</vt:lpstr>
      <vt:lpstr>4.2 寻求最大流的标号法 – 例14</vt:lpstr>
      <vt:lpstr>4.2 寻求最大流的标号法 – 例14</vt:lpstr>
      <vt:lpstr>4.2 寻求最大流的标号法 – 例14</vt:lpstr>
      <vt:lpstr>4.2 寻求最大流的标号法 – 例14</vt:lpstr>
      <vt:lpstr>4.2 寻求最大流的标号法 – 例14</vt:lpstr>
      <vt:lpstr>4.2 寻求最大流的标号法 – 例14</vt:lpstr>
      <vt:lpstr>4.2 寻求最大流的标号法 – 例14</vt:lpstr>
      <vt:lpstr>4.2 寻求最大流的标号法 – 例14</vt:lpstr>
      <vt:lpstr>4.2 寻求最大流的标号法</vt:lpstr>
      <vt:lpstr>课后作业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think</dc:creator>
  <cp:lastModifiedBy>hq</cp:lastModifiedBy>
  <cp:revision>645</cp:revision>
  <cp:lastPrinted>1601-01-01T00:00:00Z</cp:lastPrinted>
  <dcterms:created xsi:type="dcterms:W3CDTF">1601-01-01T00:00:00Z</dcterms:created>
  <dcterms:modified xsi:type="dcterms:W3CDTF">2024-12-29T15:23:51Z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