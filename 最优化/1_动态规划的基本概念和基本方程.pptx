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62"/>
  </p:notesMasterIdLst>
  <p:sldIdLst>
    <p:sldId id="449" r:id="rId2"/>
    <p:sldId id="448" r:id="rId3"/>
    <p:sldId id="427" r:id="rId4"/>
    <p:sldId id="447" r:id="rId5"/>
    <p:sldId id="257" r:id="rId6"/>
    <p:sldId id="402" r:id="rId7"/>
    <p:sldId id="428" r:id="rId8"/>
    <p:sldId id="446" r:id="rId9"/>
    <p:sldId id="430" r:id="rId10"/>
    <p:sldId id="263" r:id="rId11"/>
    <p:sldId id="266" r:id="rId12"/>
    <p:sldId id="267" r:id="rId13"/>
    <p:sldId id="271" r:id="rId14"/>
    <p:sldId id="274" r:id="rId15"/>
    <p:sldId id="277" r:id="rId16"/>
    <p:sldId id="278" r:id="rId17"/>
    <p:sldId id="281" r:id="rId18"/>
    <p:sldId id="431" r:id="rId19"/>
    <p:sldId id="432" r:id="rId20"/>
    <p:sldId id="287" r:id="rId21"/>
    <p:sldId id="291" r:id="rId22"/>
    <p:sldId id="292" r:id="rId23"/>
    <p:sldId id="445" r:id="rId24"/>
    <p:sldId id="295" r:id="rId25"/>
    <p:sldId id="297" r:id="rId26"/>
    <p:sldId id="300" r:id="rId27"/>
    <p:sldId id="302" r:id="rId28"/>
    <p:sldId id="305" r:id="rId29"/>
    <p:sldId id="310" r:id="rId30"/>
    <p:sldId id="311" r:id="rId31"/>
    <p:sldId id="312" r:id="rId32"/>
    <p:sldId id="308" r:id="rId33"/>
    <p:sldId id="309" r:id="rId34"/>
    <p:sldId id="450" r:id="rId35"/>
    <p:sldId id="313" r:id="rId36"/>
    <p:sldId id="316" r:id="rId37"/>
    <p:sldId id="433" r:id="rId38"/>
    <p:sldId id="318" r:id="rId39"/>
    <p:sldId id="434" r:id="rId40"/>
    <p:sldId id="435" r:id="rId41"/>
    <p:sldId id="404" r:id="rId42"/>
    <p:sldId id="436" r:id="rId43"/>
    <p:sldId id="321" r:id="rId44"/>
    <p:sldId id="322" r:id="rId45"/>
    <p:sldId id="437" r:id="rId46"/>
    <p:sldId id="438" r:id="rId47"/>
    <p:sldId id="439" r:id="rId48"/>
    <p:sldId id="440" r:id="rId49"/>
    <p:sldId id="441" r:id="rId50"/>
    <p:sldId id="451" r:id="rId51"/>
    <p:sldId id="406" r:id="rId52"/>
    <p:sldId id="407" r:id="rId53"/>
    <p:sldId id="326" r:id="rId54"/>
    <p:sldId id="329" r:id="rId55"/>
    <p:sldId id="331" r:id="rId56"/>
    <p:sldId id="332" r:id="rId57"/>
    <p:sldId id="408" r:id="rId58"/>
    <p:sldId id="443" r:id="rId59"/>
    <p:sldId id="409" r:id="rId60"/>
    <p:sldId id="442" r:id="rId6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581" y="91"/>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24981"/>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ea typeface="宋体" charset="-122"/>
              </a:defRPr>
            </a:lvl1pPr>
          </a:lstStyle>
          <a:p>
            <a:pPr>
              <a:defRPr/>
            </a:pPr>
            <a:fld id="{CD80F6E5-AD4A-4B1E-95CA-3F73C58AFB92}" type="datetimeFigureOut">
              <a:rPr lang="zh-CN" altLang="en-US"/>
              <a:pPr>
                <a:defRPr/>
              </a:pPr>
              <a:t>2024/1/6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D9B61587-DBB4-4CB0-9314-684E09425646}" type="slidenum">
              <a:rPr lang="zh-CN" altLang="en-US"/>
              <a:pPr>
                <a:defRPr/>
              </a:pPr>
              <a:t>‹#›</a:t>
            </a:fld>
            <a:endParaRPr lang="zh-CN" altLang="en-US"/>
          </a:p>
        </p:txBody>
      </p:sp>
    </p:spTree>
    <p:extLst>
      <p:ext uri="{BB962C8B-B14F-4D97-AF65-F5344CB8AC3E}">
        <p14:creationId xmlns:p14="http://schemas.microsoft.com/office/powerpoint/2010/main" val="3964926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6347FC1-DA29-4CC2-9DE3-D602D913025F}" type="slidenum">
              <a:rPr lang="zh-CN" altLang="en-US">
                <a:latin typeface="Arial" panose="020B0604020202020204" pitchFamily="34" charset="0"/>
              </a:rPr>
              <a:pPr>
                <a:spcBef>
                  <a:spcPct val="0"/>
                </a:spcBef>
              </a:pPr>
              <a:t>12</a:t>
            </a:fld>
            <a:endParaRPr lang="zh-CN" altLang="en-US">
              <a:latin typeface="Arial" panose="020B0604020202020204" pitchFamily="34" charset="0"/>
            </a:endParaRPr>
          </a:p>
        </p:txBody>
      </p:sp>
    </p:spTree>
    <p:extLst>
      <p:ext uri="{BB962C8B-B14F-4D97-AF65-F5344CB8AC3E}">
        <p14:creationId xmlns:p14="http://schemas.microsoft.com/office/powerpoint/2010/main" val="76897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1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1DAF587-A7ED-4620-B069-E6C817ED1197}" type="slidenum">
              <a:rPr lang="zh-CN" altLang="en-US"/>
              <a:pPr/>
              <a:t>25</a:t>
            </a:fld>
            <a:endParaRPr lang="zh-CN" altLang="en-US"/>
          </a:p>
        </p:txBody>
      </p:sp>
    </p:spTree>
    <p:extLst>
      <p:ext uri="{BB962C8B-B14F-4D97-AF65-F5344CB8AC3E}">
        <p14:creationId xmlns:p14="http://schemas.microsoft.com/office/powerpoint/2010/main" val="433601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03F3D9F-5008-45A8-ACD6-6E9F25D34237}" type="slidenum">
              <a:rPr lang="zh-CN" altLang="en-US">
                <a:latin typeface="Arial" panose="020B0604020202020204" pitchFamily="34" charset="0"/>
              </a:rPr>
              <a:pPr>
                <a:spcBef>
                  <a:spcPct val="0"/>
                </a:spcBef>
              </a:pPr>
              <a:t>29</a:t>
            </a:fld>
            <a:endParaRPr lang="zh-CN" altLang="en-US">
              <a:latin typeface="Arial" panose="020B0604020202020204" pitchFamily="34" charset="0"/>
            </a:endParaRPr>
          </a:p>
        </p:txBody>
      </p:sp>
    </p:spTree>
    <p:extLst>
      <p:ext uri="{BB962C8B-B14F-4D97-AF65-F5344CB8AC3E}">
        <p14:creationId xmlns:p14="http://schemas.microsoft.com/office/powerpoint/2010/main" val="1649382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86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33B328E-2994-4F1D-8B50-6169DE8EC899}" type="slidenum">
              <a:rPr lang="zh-CN" altLang="en-US">
                <a:latin typeface="Arial" panose="020B0604020202020204" pitchFamily="34" charset="0"/>
              </a:rPr>
              <a:pPr/>
              <a:t>51</a:t>
            </a:fld>
            <a:endParaRPr lang="zh-CN" altLang="en-US">
              <a:latin typeface="Arial" panose="020B0604020202020204" pitchFamily="34" charset="0"/>
            </a:endParaRPr>
          </a:p>
        </p:txBody>
      </p:sp>
    </p:spTree>
    <p:extLst>
      <p:ext uri="{BB962C8B-B14F-4D97-AF65-F5344CB8AC3E}">
        <p14:creationId xmlns:p14="http://schemas.microsoft.com/office/powerpoint/2010/main" val="376382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16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D90F333-B261-475D-912D-AD9AE1414AB6}" type="slidenum">
              <a:rPr lang="zh-CN" altLang="en-US">
                <a:latin typeface="Arial" panose="020B0604020202020204" pitchFamily="34" charset="0"/>
              </a:rPr>
              <a:pPr>
                <a:spcBef>
                  <a:spcPct val="0"/>
                </a:spcBef>
              </a:pPr>
              <a:t>53</a:t>
            </a:fld>
            <a:endParaRPr lang="zh-CN" altLang="en-US">
              <a:latin typeface="Arial" panose="020B0604020202020204" pitchFamily="34" charset="0"/>
            </a:endParaRPr>
          </a:p>
        </p:txBody>
      </p:sp>
    </p:spTree>
    <p:extLst>
      <p:ext uri="{BB962C8B-B14F-4D97-AF65-F5344CB8AC3E}">
        <p14:creationId xmlns:p14="http://schemas.microsoft.com/office/powerpoint/2010/main" val="742009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88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73622D4-EA05-48DC-B6E0-3BBD00E0B03C}" type="slidenum">
              <a:rPr lang="zh-CN" altLang="en-US"/>
              <a:pPr/>
              <a:t>59</a:t>
            </a:fld>
            <a:endParaRPr lang="zh-CN" altLang="en-US"/>
          </a:p>
        </p:txBody>
      </p:sp>
    </p:spTree>
    <p:extLst>
      <p:ext uri="{BB962C8B-B14F-4D97-AF65-F5344CB8AC3E}">
        <p14:creationId xmlns:p14="http://schemas.microsoft.com/office/powerpoint/2010/main" val="4118568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58370" name="Rectangle 2"/>
          <p:cNvSpPr>
            <a:spLocks noGrp="1" noChangeArrowheads="1"/>
          </p:cNvSpPr>
          <p:nvPr>
            <p:ph type="ctrTitle"/>
          </p:nvPr>
        </p:nvSpPr>
        <p:spPr>
          <a:xfrm>
            <a:off x="685800" y="990600"/>
            <a:ext cx="7772400" cy="1371600"/>
          </a:xfrm>
        </p:spPr>
        <p:txBody>
          <a:bodyPr/>
          <a:lstStyle>
            <a:lvl1pPr>
              <a:defRPr sz="4000"/>
            </a:lvl1pPr>
          </a:lstStyle>
          <a:p>
            <a:r>
              <a:rPr lang="zh-CN" altLang="en-US"/>
              <a:t>单击此处编辑母版标题样式</a:t>
            </a:r>
          </a:p>
        </p:txBody>
      </p:sp>
      <p:sp>
        <p:nvSpPr>
          <p:cNvPr id="58371"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zh-CN" altLang="en-US"/>
              <a:t>单击此处编辑母版副标题样式</a:t>
            </a:r>
          </a:p>
        </p:txBody>
      </p:sp>
      <p:sp>
        <p:nvSpPr>
          <p:cNvPr id="5"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smtClean="0"/>
            </a:lvl1pPr>
          </a:lstStyle>
          <a:p>
            <a:pPr>
              <a:defRPr/>
            </a:pPr>
            <a:fld id="{C10967E2-3BC1-404D-A9AD-E70781224CF4}" type="slidenum">
              <a:rPr lang="en-US" altLang="zh-CN"/>
              <a:pPr>
                <a:defRPr/>
              </a:pPr>
              <a:t>‹#›</a:t>
            </a:fld>
            <a:endParaRPr lang="en-US" altLang="zh-CN"/>
          </a:p>
        </p:txBody>
      </p:sp>
    </p:spTree>
    <p:extLst>
      <p:ext uri="{BB962C8B-B14F-4D97-AF65-F5344CB8AC3E}">
        <p14:creationId xmlns:p14="http://schemas.microsoft.com/office/powerpoint/2010/main" val="3685541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1"/>
          </p:nvPr>
        </p:nvSpPr>
        <p:spPr>
          <a:ln/>
        </p:spPr>
        <p:txBody>
          <a:bodyPr/>
          <a:lstStyle>
            <a:lvl1pPr>
              <a:defRPr/>
            </a:lvl1pPr>
          </a:lstStyle>
          <a:p>
            <a:pPr>
              <a:defRPr/>
            </a:pPr>
            <a:fld id="{F353843C-8E16-40C9-A559-DD7768348179}" type="slidenum">
              <a:rPr lang="en-US" altLang="zh-CN"/>
              <a:pPr>
                <a:defRPr/>
              </a:pPr>
              <a:t>‹#›</a:t>
            </a:fld>
            <a:endParaRPr lang="en-US" altLang="zh-CN"/>
          </a:p>
        </p:txBody>
      </p:sp>
    </p:spTree>
    <p:extLst>
      <p:ext uri="{BB962C8B-B14F-4D97-AF65-F5344CB8AC3E}">
        <p14:creationId xmlns:p14="http://schemas.microsoft.com/office/powerpoint/2010/main" val="2130396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smtClean="0"/>
            </a:lvl1pPr>
          </a:lstStyle>
          <a:p>
            <a:pPr>
              <a:defRPr/>
            </a:pPr>
            <a:fld id="{D9553289-61DC-4E99-9AF8-5D4239461D4C}" type="slidenum">
              <a:rPr lang="en-US" altLang="zh-CN"/>
              <a:pPr>
                <a:defRPr/>
              </a:pPr>
              <a:t>‹#›</a:t>
            </a:fld>
            <a:endParaRPr lang="en-US" altLang="zh-CN"/>
          </a:p>
        </p:txBody>
      </p:sp>
    </p:spTree>
    <p:extLst>
      <p:ext uri="{BB962C8B-B14F-4D97-AF65-F5344CB8AC3E}">
        <p14:creationId xmlns:p14="http://schemas.microsoft.com/office/powerpoint/2010/main" val="2886228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smtClean="0"/>
            </a:lvl1pPr>
          </a:lstStyle>
          <a:p>
            <a:pPr>
              <a:defRPr/>
            </a:pPr>
            <a:fld id="{92126D25-6935-4E52-9633-07499DD998CE}" type="slidenum">
              <a:rPr lang="en-US" altLang="zh-CN"/>
              <a:pPr>
                <a:defRPr/>
              </a:pPr>
              <a:t>‹#›</a:t>
            </a:fld>
            <a:endParaRPr lang="en-US" altLang="zh-CN"/>
          </a:p>
        </p:txBody>
      </p:sp>
    </p:spTree>
    <p:extLst>
      <p:ext uri="{BB962C8B-B14F-4D97-AF65-F5344CB8AC3E}">
        <p14:creationId xmlns:p14="http://schemas.microsoft.com/office/powerpoint/2010/main" val="1533080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p:txBody>
          <a:bodyPr/>
          <a:lstStyle>
            <a:lvl1pPr>
              <a:defRPr smtClean="0"/>
            </a:lvl1pPr>
          </a:lstStyle>
          <a:p>
            <a:pPr>
              <a:defRPr/>
            </a:pPr>
            <a:fld id="{2C76F19F-8D0E-4FEB-9EAA-069BABC2F032}" type="slidenum">
              <a:rPr lang="en-US" altLang="zh-CN"/>
              <a:pPr>
                <a:defRPr/>
              </a:pPr>
              <a:t>‹#›</a:t>
            </a:fld>
            <a:endParaRPr lang="en-US" altLang="zh-CN"/>
          </a:p>
        </p:txBody>
      </p:sp>
    </p:spTree>
    <p:extLst>
      <p:ext uri="{BB962C8B-B14F-4D97-AF65-F5344CB8AC3E}">
        <p14:creationId xmlns:p14="http://schemas.microsoft.com/office/powerpoint/2010/main" val="428815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smtClean="0"/>
            </a:lvl1pPr>
          </a:lstStyle>
          <a:p>
            <a:pPr>
              <a:defRPr/>
            </a:pPr>
            <a:fld id="{4489EAE8-2E4F-4131-B53A-6D60D1339EB0}" type="slidenum">
              <a:rPr lang="en-US" altLang="zh-CN"/>
              <a:pPr>
                <a:defRPr/>
              </a:pPr>
              <a:t>‹#›</a:t>
            </a:fld>
            <a:endParaRPr lang="en-US" altLang="zh-CN"/>
          </a:p>
        </p:txBody>
      </p:sp>
    </p:spTree>
    <p:extLst>
      <p:ext uri="{BB962C8B-B14F-4D97-AF65-F5344CB8AC3E}">
        <p14:creationId xmlns:p14="http://schemas.microsoft.com/office/powerpoint/2010/main" val="153461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p:txBody>
          <a:bodyPr/>
          <a:lstStyle>
            <a:lvl1pPr>
              <a:defRPr smtClean="0"/>
            </a:lvl1pPr>
          </a:lstStyle>
          <a:p>
            <a:pPr>
              <a:defRPr/>
            </a:pPr>
            <a:fld id="{B00478F3-EEA7-46D8-9171-93AE6D7EE7BC}" type="slidenum">
              <a:rPr lang="en-US" altLang="zh-CN"/>
              <a:pPr>
                <a:defRPr/>
              </a:pPr>
              <a:t>‹#›</a:t>
            </a:fld>
            <a:endParaRPr lang="en-US" altLang="zh-CN"/>
          </a:p>
        </p:txBody>
      </p:sp>
    </p:spTree>
    <p:extLst>
      <p:ext uri="{BB962C8B-B14F-4D97-AF65-F5344CB8AC3E}">
        <p14:creationId xmlns:p14="http://schemas.microsoft.com/office/powerpoint/2010/main" val="1329079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smtClean="0"/>
            </a:lvl1pPr>
          </a:lstStyle>
          <a:p>
            <a:pPr>
              <a:defRPr/>
            </a:pPr>
            <a:fld id="{7CDC6629-6992-4A64-80E7-5E14EC39E996}" type="slidenum">
              <a:rPr lang="en-US" altLang="zh-CN"/>
              <a:pPr>
                <a:defRPr/>
              </a:pPr>
              <a:t>‹#›</a:t>
            </a:fld>
            <a:endParaRPr lang="en-US" altLang="zh-CN"/>
          </a:p>
        </p:txBody>
      </p:sp>
    </p:spTree>
    <p:extLst>
      <p:ext uri="{BB962C8B-B14F-4D97-AF65-F5344CB8AC3E}">
        <p14:creationId xmlns:p14="http://schemas.microsoft.com/office/powerpoint/2010/main" val="349758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smtClean="0"/>
            </a:lvl1pPr>
          </a:lstStyle>
          <a:p>
            <a:pPr>
              <a:defRPr/>
            </a:pPr>
            <a:fld id="{99A1A54C-C214-4E12-A2E5-6DE121398E9C}" type="slidenum">
              <a:rPr lang="en-US" altLang="zh-CN"/>
              <a:pPr>
                <a:defRPr/>
              </a:pPr>
              <a:t>‹#›</a:t>
            </a:fld>
            <a:endParaRPr lang="en-US" altLang="zh-CN"/>
          </a:p>
        </p:txBody>
      </p:sp>
    </p:spTree>
    <p:extLst>
      <p:ext uri="{BB962C8B-B14F-4D97-AF65-F5344CB8AC3E}">
        <p14:creationId xmlns:p14="http://schemas.microsoft.com/office/powerpoint/2010/main" val="2003172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smtClean="0"/>
            </a:lvl1pPr>
          </a:lstStyle>
          <a:p>
            <a:pPr>
              <a:defRPr/>
            </a:pPr>
            <a:fld id="{725CC42A-A699-40CD-A3A9-19B145D5DC18}" type="slidenum">
              <a:rPr lang="en-US" altLang="zh-CN"/>
              <a:pPr>
                <a:defRPr/>
              </a:pPr>
              <a:t>‹#›</a:t>
            </a:fld>
            <a:endParaRPr lang="en-US" altLang="zh-CN"/>
          </a:p>
        </p:txBody>
      </p:sp>
    </p:spTree>
    <p:extLst>
      <p:ext uri="{BB962C8B-B14F-4D97-AF65-F5344CB8AC3E}">
        <p14:creationId xmlns:p14="http://schemas.microsoft.com/office/powerpoint/2010/main" val="3182268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smtClean="0"/>
            </a:lvl1pPr>
          </a:lstStyle>
          <a:p>
            <a:pPr>
              <a:defRPr/>
            </a:pPr>
            <a:fld id="{C0892BBD-9638-4D88-9151-919E6920F981}" type="slidenum">
              <a:rPr lang="en-US" altLang="zh-CN"/>
              <a:pPr>
                <a:defRPr/>
              </a:pPr>
              <a:t>‹#›</a:t>
            </a:fld>
            <a:endParaRPr lang="en-US" altLang="zh-CN"/>
          </a:p>
        </p:txBody>
      </p:sp>
    </p:spTree>
    <p:extLst>
      <p:ext uri="{BB962C8B-B14F-4D97-AF65-F5344CB8AC3E}">
        <p14:creationId xmlns:p14="http://schemas.microsoft.com/office/powerpoint/2010/main" val="36585262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smtClean="0"/>
            </a:lvl1pPr>
          </a:lstStyle>
          <a:p>
            <a:pPr>
              <a:defRPr/>
            </a:pPr>
            <a:fld id="{58DA27EA-815B-4DB4-9FFB-058BE7793617}" type="slidenum">
              <a:rPr lang="en-US" altLang="zh-CN"/>
              <a:pPr>
                <a:defRPr/>
              </a:pPr>
              <a:t>‹#›</a:t>
            </a:fld>
            <a:endParaRPr lang="en-US" altLang="zh-CN"/>
          </a:p>
        </p:txBody>
      </p:sp>
    </p:spTree>
    <p:extLst>
      <p:ext uri="{BB962C8B-B14F-4D97-AF65-F5344CB8AC3E}">
        <p14:creationId xmlns:p14="http://schemas.microsoft.com/office/powerpoint/2010/main" val="3043141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7" name="Rectangle 7"/>
          <p:cNvSpPr>
            <a:spLocks noGrp="1" noChangeArrowheads="1"/>
          </p:cNvSpPr>
          <p:nvPr>
            <p:ph type="ftr" sz="quarter" idx="11"/>
          </p:nvPr>
        </p:nvSpPr>
        <p:spPr/>
        <p:txBody>
          <a:bodyPr/>
          <a:lstStyle>
            <a:lvl1pPr>
              <a:defRPr/>
            </a:lvl1pPr>
          </a:lstStyle>
          <a:p>
            <a:pPr>
              <a:defRPr/>
            </a:pPr>
            <a:endParaRPr lang="en-US" altLang="zh-CN"/>
          </a:p>
        </p:txBody>
      </p:sp>
      <p:sp>
        <p:nvSpPr>
          <p:cNvPr id="8" name="Rectangle 8"/>
          <p:cNvSpPr>
            <a:spLocks noGrp="1" noChangeArrowheads="1"/>
          </p:cNvSpPr>
          <p:nvPr>
            <p:ph type="sldNum" sz="quarter" idx="12"/>
          </p:nvPr>
        </p:nvSpPr>
        <p:spPr/>
        <p:txBody>
          <a:bodyPr/>
          <a:lstStyle>
            <a:lvl1pPr>
              <a:defRPr smtClean="0"/>
            </a:lvl1pPr>
          </a:lstStyle>
          <a:p>
            <a:pPr>
              <a:defRPr/>
            </a:pPr>
            <a:fld id="{28A23203-B85B-4D15-B012-D4BCBF489A32}" type="slidenum">
              <a:rPr lang="en-US" altLang="zh-CN"/>
              <a:pPr>
                <a:defRPr/>
              </a:pPr>
              <a:t>‹#›</a:t>
            </a:fld>
            <a:endParaRPr lang="en-US" altLang="zh-CN"/>
          </a:p>
        </p:txBody>
      </p:sp>
    </p:spTree>
    <p:extLst>
      <p:ext uri="{BB962C8B-B14F-4D97-AF65-F5344CB8AC3E}">
        <p14:creationId xmlns:p14="http://schemas.microsoft.com/office/powerpoint/2010/main" val="1084816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表格占位符 2"/>
          <p:cNvSpPr>
            <a:spLocks noGrp="1"/>
          </p:cNvSpPr>
          <p:nvPr>
            <p:ph type="tbl" idx="1"/>
          </p:nvPr>
        </p:nvSpPr>
        <p:spPr>
          <a:xfrm>
            <a:off x="566738" y="1752600"/>
            <a:ext cx="8001000" cy="4267200"/>
          </a:xfrm>
        </p:spPr>
        <p:txBody>
          <a:bodyPr/>
          <a:lstStyle/>
          <a:p>
            <a:pPr lvl="0"/>
            <a:endParaRPr lang="zh-CN" altLang="en-US" noProof="0"/>
          </a:p>
        </p:txBody>
      </p:sp>
      <p:sp>
        <p:nvSpPr>
          <p:cNvPr id="4" name="Rectangle 6"/>
          <p:cNvSpPr>
            <a:spLocks noGrp="1" noChangeArrowheads="1"/>
          </p:cNvSpPr>
          <p:nvPr>
            <p:ph type="dt" sz="half" idx="10"/>
          </p:nvPr>
        </p:nvSpPr>
        <p:spPr>
          <a:xfrm>
            <a:off x="609600" y="6245225"/>
            <a:ext cx="1981200" cy="476250"/>
          </a:xfrm>
          <a:prstGeom prst="rect">
            <a:avLst/>
          </a:prstGeom>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smtClean="0"/>
            </a:lvl1pPr>
          </a:lstStyle>
          <a:p>
            <a:pPr>
              <a:defRPr/>
            </a:pPr>
            <a:fld id="{D6AE9F00-A16E-4529-B7EF-46B1409BFD03}" type="slidenum">
              <a:rPr lang="en-US" altLang="zh-CN"/>
              <a:pPr>
                <a:defRPr/>
              </a:pPr>
              <a:t>‹#›</a:t>
            </a:fld>
            <a:endParaRPr lang="en-US" altLang="zh-CN"/>
          </a:p>
        </p:txBody>
      </p:sp>
    </p:spTree>
    <p:extLst>
      <p:ext uri="{BB962C8B-B14F-4D97-AF65-F5344CB8AC3E}">
        <p14:creationId xmlns:p14="http://schemas.microsoft.com/office/powerpoint/2010/main" val="152136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1"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ea typeface="宋体" pitchFamily="2" charset="-122"/>
              </a:defRPr>
            </a:lvl1pPr>
          </a:lstStyle>
          <a:p>
            <a:pPr>
              <a:defRPr/>
            </a:pPr>
            <a:endParaRPr lang="en-US" altLang="zh-CN"/>
          </a:p>
        </p:txBody>
      </p:sp>
      <p:sp>
        <p:nvSpPr>
          <p:cNvPr id="57352"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C86D8439-16DB-41B5-9F3B-C11712DB70B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330" r:id="rId1"/>
    <p:sldLayoutId id="2147484329" r:id="rId2"/>
    <p:sldLayoutId id="2147484331" r:id="rId3"/>
    <p:sldLayoutId id="2147484332" r:id="rId4"/>
    <p:sldLayoutId id="2147484333" r:id="rId5"/>
    <p:sldLayoutId id="2147484334" r:id="rId6"/>
    <p:sldLayoutId id="2147484335" r:id="rId7"/>
    <p:sldLayoutId id="2147484336" r:id="rId8"/>
    <p:sldLayoutId id="2147484337" r:id="rId9"/>
    <p:sldLayoutId id="2147484338" r:id="rId10"/>
    <p:sldLayoutId id="2147484339" r:id="rId11"/>
    <p:sldLayoutId id="2147484340" r:id="rId12"/>
    <p:sldLayoutId id="2147484341" r:id="rId13"/>
    <p:sldLayoutId id="2147484342" r:id="rId14"/>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slide" Target="slide28.xml"/><Relationship Id="rId2" Type="http://schemas.openxmlformats.org/officeDocument/2006/relationships/slide" Target="slide16.xml"/><Relationship Id="rId1" Type="http://schemas.openxmlformats.org/officeDocument/2006/relationships/slideLayout" Target="../slideLayouts/slideLayout2.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2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5.wmf"/><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31.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image" Target="../media/image32.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wmf"/><Relationship Id="rId4" Type="http://schemas.openxmlformats.org/officeDocument/2006/relationships/image" Target="../media/image32.wmf"/></Relationships>
</file>

<file path=ppt/slides/_rels/slide39.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png"/><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4.bin"/><Relationship Id="rId4" Type="http://schemas.openxmlformats.org/officeDocument/2006/relationships/image" Target="../media/image28.wmf"/></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wmf"/><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image" Target="../media/image42.wmf"/><Relationship Id="rId4" Type="http://schemas.openxmlformats.org/officeDocument/2006/relationships/oleObject" Target="../embeddings/oleObject6.bin"/></Relationships>
</file>

<file path=ppt/slides/_rels/slide43.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slideLayout" Target="../slideLayouts/slideLayout2.xml"/><Relationship Id="rId5" Type="http://schemas.openxmlformats.org/officeDocument/2006/relationships/image" Target="../media/image46.wmf"/><Relationship Id="rId4" Type="http://schemas.openxmlformats.org/officeDocument/2006/relationships/oleObject" Target="../embeddings/oleObject7.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8.wmf"/></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4.wmf"/></Relationships>
</file>

<file path=ppt/slides/_rels/slide54.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image" Target="../media/image57.wmf"/></Relationships>
</file>

<file path=ppt/slides/_rels/slide55.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60.wmf"/><Relationship Id="rId7" Type="http://schemas.openxmlformats.org/officeDocument/2006/relationships/image" Target="../media/image58.wmf"/><Relationship Id="rId2" Type="http://schemas.openxmlformats.org/officeDocument/2006/relationships/image" Target="../media/image59.wmf"/><Relationship Id="rId1" Type="http://schemas.openxmlformats.org/officeDocument/2006/relationships/slideLayout" Target="../slideLayouts/slideLayout2.xml"/><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slides/_rels/slide56.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slideLayout" Target="../slideLayouts/slideLayout2.xml"/><Relationship Id="rId5" Type="http://schemas.openxmlformats.org/officeDocument/2006/relationships/slide" Target="slide43.xml"/><Relationship Id="rId4" Type="http://schemas.openxmlformats.org/officeDocument/2006/relationships/image" Target="../media/image66.wmf"/></Relationships>
</file>

<file path=ppt/slides/_rels/slide57.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58.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slide" Target="slide43.xml"/><Relationship Id="rId7" Type="http://schemas.openxmlformats.org/officeDocument/2006/relationships/image" Target="../media/image70.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72.wmf"/><Relationship Id="rId5" Type="http://schemas.openxmlformats.org/officeDocument/2006/relationships/image" Target="../media/image69.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71.wmf"/></Relationships>
</file>

<file path=ppt/slides/_rels/slide60.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685800" y="1524000"/>
            <a:ext cx="4419600" cy="838200"/>
          </a:xfrm>
        </p:spPr>
        <p:txBody>
          <a:bodyPr/>
          <a:lstStyle/>
          <a:p>
            <a:pPr algn="ctr" eaLnBrk="1" hangingPunct="1">
              <a:spcBef>
                <a:spcPts val="1200"/>
              </a:spcBef>
              <a:spcAft>
                <a:spcPts val="600"/>
              </a:spcAft>
            </a:pPr>
            <a:r>
              <a:rPr lang="zh-CN" altLang="en-US" b="1" dirty="0">
                <a:latin typeface="微软雅黑" panose="020B0503020204020204" pitchFamily="34" charset="-122"/>
                <a:ea typeface="微软雅黑" panose="020B0503020204020204" pitchFamily="34" charset="-122"/>
              </a:rPr>
              <a:t>最优化理论与方法</a:t>
            </a:r>
            <a:r>
              <a:rPr lang="zh-CN" altLang="en-US" sz="3200" dirty="0">
                <a:latin typeface="微软雅黑" panose="020B0503020204020204" pitchFamily="34" charset="-122"/>
                <a:ea typeface="微软雅黑" panose="020B0503020204020204" pitchFamily="34" charset="-122"/>
              </a:rPr>
              <a:t>（动态规划与图论）</a:t>
            </a:r>
          </a:p>
        </p:txBody>
      </p:sp>
      <p:sp>
        <p:nvSpPr>
          <p:cNvPr id="16387" name="Rectangle 3"/>
          <p:cNvSpPr>
            <a:spLocks noGrp="1" noChangeArrowheads="1"/>
          </p:cNvSpPr>
          <p:nvPr>
            <p:ph type="subTitle" idx="1"/>
          </p:nvPr>
        </p:nvSpPr>
        <p:spPr>
          <a:xfrm>
            <a:off x="685800" y="2590800"/>
            <a:ext cx="4495800" cy="3124200"/>
          </a:xfrm>
        </p:spPr>
        <p:txBody>
          <a:bodyPr/>
          <a:lstStyle/>
          <a:p>
            <a:pPr eaLnBrk="1" hangingPunct="1">
              <a:buFont typeface="Wingdings" panose="05000000000000000000" pitchFamily="2" charset="2"/>
              <a:buChar char="o"/>
            </a:pPr>
            <a:r>
              <a:rPr lang="zh-CN" altLang="en-US" sz="2000" b="1" dirty="0">
                <a:latin typeface="宋体" panose="02010600030101010101" pitchFamily="2" charset="-122"/>
              </a:rPr>
              <a:t>教材：</a:t>
            </a:r>
            <a:r>
              <a:rPr lang="en-US" altLang="zh-CN" sz="2000" b="1" dirty="0">
                <a:latin typeface="宋体" panose="02010600030101010101" pitchFamily="2" charset="-122"/>
              </a:rPr>
              <a:t>《</a:t>
            </a:r>
            <a:r>
              <a:rPr lang="zh-CN" altLang="en-US" sz="2000" b="1" dirty="0">
                <a:latin typeface="宋体" panose="02010600030101010101" pitchFamily="2" charset="-122"/>
              </a:rPr>
              <a:t>运筹学</a:t>
            </a:r>
            <a:r>
              <a:rPr lang="en-US" altLang="zh-CN" sz="2000" b="1" dirty="0">
                <a:latin typeface="宋体" panose="02010600030101010101" pitchFamily="2" charset="-122"/>
              </a:rPr>
              <a:t>》</a:t>
            </a:r>
            <a:r>
              <a:rPr lang="zh-CN" altLang="en-US" sz="2000" b="1" dirty="0">
                <a:latin typeface="宋体" panose="02010600030101010101" pitchFamily="2" charset="-122"/>
              </a:rPr>
              <a:t>（第</a:t>
            </a:r>
            <a:r>
              <a:rPr lang="en-US" altLang="zh-CN" sz="2000" b="1" dirty="0">
                <a:latin typeface="宋体" panose="02010600030101010101" pitchFamily="2" charset="-122"/>
              </a:rPr>
              <a:t>5</a:t>
            </a:r>
            <a:r>
              <a:rPr lang="zh-CN" altLang="en-US" sz="2000" b="1" dirty="0">
                <a:latin typeface="宋体" panose="02010600030101010101" pitchFamily="2" charset="-122"/>
              </a:rPr>
              <a:t>版）</a:t>
            </a:r>
          </a:p>
          <a:p>
            <a:pPr eaLnBrk="1" hangingPunct="1"/>
            <a:r>
              <a:rPr lang="zh-CN" altLang="en-US" sz="2000" dirty="0">
                <a:latin typeface="宋体" panose="02010600030101010101" pitchFamily="2" charset="-122"/>
              </a:rPr>
              <a:t>   清华大学出版社</a:t>
            </a:r>
            <a:r>
              <a:rPr lang="en-US" altLang="zh-CN" sz="2000" dirty="0">
                <a:latin typeface="宋体" panose="02010600030101010101" pitchFamily="2" charset="-122"/>
              </a:rPr>
              <a:t>,2021</a:t>
            </a:r>
          </a:p>
          <a:p>
            <a:pPr eaLnBrk="1" hangingPunct="1">
              <a:spcBef>
                <a:spcPts val="1800"/>
              </a:spcBef>
              <a:buFont typeface="Wingdings" panose="05000000000000000000" pitchFamily="2" charset="2"/>
              <a:buChar char="o"/>
            </a:pPr>
            <a:r>
              <a:rPr lang="zh-CN" altLang="en-US" sz="2000" dirty="0">
                <a:latin typeface="宋体" panose="02010600030101010101" pitchFamily="2" charset="-122"/>
              </a:rPr>
              <a:t> 参考书：</a:t>
            </a:r>
            <a:endParaRPr lang="en-US" altLang="zh-CN" sz="2000" dirty="0">
              <a:latin typeface="宋体" panose="02010600030101010101" pitchFamily="2" charset="-122"/>
            </a:endParaRPr>
          </a:p>
          <a:p>
            <a:pPr marL="342900" indent="-342900" eaLnBrk="1" hangingPunct="1">
              <a:buFont typeface="Wingdings" panose="05000000000000000000" pitchFamily="2" charset="2"/>
              <a:buChar char="u"/>
            </a:pPr>
            <a:r>
              <a:rPr lang="en-US" altLang="zh-CN" sz="2000" b="1" dirty="0">
                <a:latin typeface="宋体" panose="02010600030101010101" pitchFamily="2" charset="-122"/>
              </a:rPr>
              <a:t>《</a:t>
            </a:r>
            <a:r>
              <a:rPr lang="zh-CN" altLang="en-US" sz="2000" b="1" dirty="0">
                <a:latin typeface="宋体" panose="02010600030101010101" pitchFamily="2" charset="-122"/>
              </a:rPr>
              <a:t>最优化理论与算法</a:t>
            </a:r>
            <a:r>
              <a:rPr lang="en-US" altLang="zh-CN" sz="2000" b="1" dirty="0">
                <a:latin typeface="宋体" panose="02010600030101010101" pitchFamily="2" charset="-122"/>
              </a:rPr>
              <a:t>》</a:t>
            </a:r>
            <a:r>
              <a:rPr lang="zh-CN" altLang="en-US" sz="2000" b="1" dirty="0">
                <a:latin typeface="宋体" panose="02010600030101010101" pitchFamily="2" charset="-122"/>
              </a:rPr>
              <a:t>（第</a:t>
            </a:r>
            <a:r>
              <a:rPr lang="en-US" altLang="zh-CN" sz="2000" b="1" dirty="0">
                <a:latin typeface="宋体" panose="02010600030101010101" pitchFamily="2" charset="-122"/>
              </a:rPr>
              <a:t>2</a:t>
            </a:r>
            <a:r>
              <a:rPr lang="zh-CN" altLang="en-US" sz="2000" b="1" dirty="0">
                <a:latin typeface="宋体" panose="02010600030101010101" pitchFamily="2" charset="-122"/>
              </a:rPr>
              <a:t>版）</a:t>
            </a:r>
          </a:p>
          <a:p>
            <a:pPr eaLnBrk="1" hangingPunct="1"/>
            <a:r>
              <a:rPr lang="zh-CN" altLang="en-US" sz="2000" dirty="0">
                <a:latin typeface="宋体" panose="02010600030101010101" pitchFamily="2" charset="-122"/>
              </a:rPr>
              <a:t>陈宝林 编著，清华大学出版社</a:t>
            </a:r>
            <a:r>
              <a:rPr lang="en-US" altLang="zh-CN" sz="2000" dirty="0">
                <a:latin typeface="宋体" panose="02010600030101010101" pitchFamily="2" charset="-122"/>
              </a:rPr>
              <a:t>,2005</a:t>
            </a:r>
          </a:p>
          <a:p>
            <a:pPr marL="342900" indent="-342900" eaLnBrk="1" hangingPunct="1">
              <a:buFont typeface="Wingdings" panose="05000000000000000000" pitchFamily="2" charset="2"/>
              <a:buChar char="u"/>
            </a:pPr>
            <a:r>
              <a:rPr lang="en-US" altLang="zh-CN" sz="2000" b="1" dirty="0">
                <a:latin typeface="宋体" panose="02010600030101010101" pitchFamily="2" charset="-122"/>
              </a:rPr>
              <a:t>《</a:t>
            </a:r>
            <a:r>
              <a:rPr lang="zh-CN" altLang="en-US" sz="2000" b="1" dirty="0">
                <a:latin typeface="宋体" panose="02010600030101010101" pitchFamily="2" charset="-122"/>
              </a:rPr>
              <a:t>运筹学</a:t>
            </a:r>
            <a:r>
              <a:rPr lang="en-US" altLang="zh-CN" sz="2000" b="1" dirty="0">
                <a:latin typeface="宋体" panose="02010600030101010101" pitchFamily="2" charset="-122"/>
              </a:rPr>
              <a:t>》</a:t>
            </a:r>
            <a:r>
              <a:rPr lang="zh-CN" altLang="en-US" sz="2000" b="1" dirty="0">
                <a:latin typeface="宋体" panose="02010600030101010101" pitchFamily="2" charset="-122"/>
              </a:rPr>
              <a:t>（第</a:t>
            </a:r>
            <a:r>
              <a:rPr lang="en-US" altLang="zh-CN" sz="2000" b="1" dirty="0">
                <a:latin typeface="宋体" panose="02010600030101010101" pitchFamily="2" charset="-122"/>
              </a:rPr>
              <a:t>4</a:t>
            </a:r>
            <a:r>
              <a:rPr lang="zh-CN" altLang="en-US" sz="2000" b="1" dirty="0">
                <a:latin typeface="宋体" panose="02010600030101010101" pitchFamily="2" charset="-122"/>
              </a:rPr>
              <a:t>版）</a:t>
            </a:r>
          </a:p>
          <a:p>
            <a:pPr eaLnBrk="1" hangingPunct="1"/>
            <a:r>
              <a:rPr lang="zh-CN" altLang="en-US" sz="2000" dirty="0">
                <a:latin typeface="宋体" panose="02010600030101010101" pitchFamily="2" charset="-122"/>
              </a:rPr>
              <a:t>   清华大学出版社</a:t>
            </a:r>
            <a:r>
              <a:rPr lang="en-US" altLang="zh-CN" sz="2000" dirty="0">
                <a:latin typeface="宋体" panose="02010600030101010101" pitchFamily="2" charset="-122"/>
              </a:rPr>
              <a:t>,2012</a:t>
            </a:r>
          </a:p>
          <a:p>
            <a:pPr eaLnBrk="1" hangingPunct="1">
              <a:spcBef>
                <a:spcPts val="1200"/>
              </a:spcBef>
            </a:pPr>
            <a:r>
              <a:rPr lang="zh-CN" altLang="en-US" dirty="0"/>
              <a:t>主讲教师：沈吟东</a:t>
            </a:r>
          </a:p>
        </p:txBody>
      </p:sp>
      <p:pic>
        <p:nvPicPr>
          <p:cNvPr id="16388"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67200" y="4648200"/>
            <a:ext cx="1113841"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388EA103-E2A3-01E2-01F4-47ABD0129D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0" y="1720011"/>
            <a:ext cx="3041872" cy="42997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74675" y="685800"/>
            <a:ext cx="4911725" cy="835025"/>
          </a:xfrm>
        </p:spPr>
        <p:txBody>
          <a:bodyPr/>
          <a:lstStyle/>
          <a:p>
            <a:pPr eaLnBrk="1" hangingPunct="1"/>
            <a:r>
              <a:rPr lang="zh-CN" altLang="en-US"/>
              <a:t>教学安排（</a:t>
            </a:r>
            <a:r>
              <a:rPr lang="en-US" altLang="zh-CN"/>
              <a:t>16</a:t>
            </a:r>
            <a:r>
              <a:rPr lang="zh-CN" altLang="en-US"/>
              <a:t>学时）</a:t>
            </a:r>
          </a:p>
        </p:txBody>
      </p:sp>
      <p:sp>
        <p:nvSpPr>
          <p:cNvPr id="3" name="内容占位符 2"/>
          <p:cNvSpPr>
            <a:spLocks noGrp="1"/>
          </p:cNvSpPr>
          <p:nvPr>
            <p:ph sz="half" idx="2"/>
          </p:nvPr>
        </p:nvSpPr>
        <p:spPr>
          <a:xfrm>
            <a:off x="5334000" y="1905000"/>
            <a:ext cx="3357563" cy="3733800"/>
          </a:xfrm>
          <a:ln>
            <a:solidFill>
              <a:schemeClr val="bg1">
                <a:lumMod val="50000"/>
              </a:schemeClr>
            </a:solidFill>
          </a:ln>
        </p:spPr>
        <p:txBody>
          <a:bodyPr/>
          <a:lstStyle/>
          <a:p>
            <a:pPr eaLnBrk="1" hangingPunct="1">
              <a:lnSpc>
                <a:spcPct val="120000"/>
              </a:lnSpc>
              <a:spcBef>
                <a:spcPts val="1200"/>
              </a:spcBef>
              <a:defRPr/>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9</a:t>
            </a:r>
            <a:r>
              <a:rPr lang="zh-CN" altLang="en-US" sz="2000" b="1" dirty="0">
                <a:latin typeface="微软雅黑" panose="020B0503020204020204" pitchFamily="34" charset="-122"/>
                <a:ea typeface="微软雅黑" panose="020B0503020204020204" pitchFamily="34" charset="-122"/>
              </a:rPr>
              <a:t>章图与网络</a:t>
            </a:r>
            <a:r>
              <a:rPr lang="en-US" altLang="zh-CN" sz="2000" b="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学时</a:t>
            </a:r>
            <a:r>
              <a:rPr lang="en-US" altLang="zh-CN" sz="2000" dirty="0">
                <a:latin typeface="微软雅黑" panose="020B0503020204020204" pitchFamily="34" charset="-122"/>
                <a:ea typeface="微软雅黑" panose="020B0503020204020204" pitchFamily="34" charset="-122"/>
              </a:rPr>
              <a:t>)</a:t>
            </a:r>
          </a:p>
          <a:p>
            <a:pPr lvl="1" eaLnBrk="1" hangingPunct="1">
              <a:lnSpc>
                <a:spcPct val="120000"/>
              </a:lnSpc>
              <a:spcBef>
                <a:spcPts val="600"/>
              </a:spcBef>
              <a:spcAft>
                <a:spcPts val="600"/>
              </a:spcAft>
              <a:defRPr/>
            </a:pPr>
            <a:r>
              <a:rPr lang="en-US" altLang="zh-CN" sz="1600" dirty="0">
                <a:solidFill>
                  <a:srgbClr val="333333"/>
                </a:solidFill>
                <a:latin typeface="arial" panose="020B0604020202020204" pitchFamily="34" charset="0"/>
              </a:rPr>
              <a:t>1 </a:t>
            </a:r>
            <a:r>
              <a:rPr lang="zh-CN" altLang="en-US" sz="1600" dirty="0">
                <a:solidFill>
                  <a:srgbClr val="333333"/>
                </a:solidFill>
                <a:latin typeface="arial" panose="020B0604020202020204" pitchFamily="34" charset="0"/>
              </a:rPr>
              <a:t>图的基本概念</a:t>
            </a:r>
            <a:endParaRPr lang="en-US" altLang="zh-CN" sz="1600" dirty="0">
              <a:solidFill>
                <a:srgbClr val="333333"/>
              </a:solidFill>
              <a:latin typeface="arial" panose="020B0604020202020204" pitchFamily="34" charset="0"/>
            </a:endParaRPr>
          </a:p>
          <a:p>
            <a:pPr lvl="1" eaLnBrk="1" hangingPunct="1">
              <a:lnSpc>
                <a:spcPct val="120000"/>
              </a:lnSpc>
              <a:spcBef>
                <a:spcPts val="600"/>
              </a:spcBef>
              <a:spcAft>
                <a:spcPts val="600"/>
              </a:spcAft>
              <a:defRPr/>
            </a:pPr>
            <a:r>
              <a:rPr lang="en-US" altLang="zh-CN" sz="1600" dirty="0">
                <a:solidFill>
                  <a:srgbClr val="333333"/>
                </a:solidFill>
                <a:latin typeface="arial" panose="020B0604020202020204" pitchFamily="34" charset="0"/>
              </a:rPr>
              <a:t>2 </a:t>
            </a:r>
            <a:r>
              <a:rPr lang="zh-CN" altLang="en-US" sz="1600" dirty="0">
                <a:solidFill>
                  <a:srgbClr val="333333"/>
                </a:solidFill>
                <a:latin typeface="arial" panose="020B0604020202020204" pitchFamily="34" charset="0"/>
              </a:rPr>
              <a:t>树</a:t>
            </a:r>
            <a:endParaRPr lang="en-US" altLang="zh-CN" sz="1600" dirty="0">
              <a:solidFill>
                <a:srgbClr val="333333"/>
              </a:solidFill>
              <a:latin typeface="arial" panose="020B0604020202020204" pitchFamily="34" charset="0"/>
            </a:endParaRPr>
          </a:p>
          <a:p>
            <a:pPr lvl="1" eaLnBrk="1" hangingPunct="1">
              <a:lnSpc>
                <a:spcPct val="120000"/>
              </a:lnSpc>
              <a:spcBef>
                <a:spcPts val="600"/>
              </a:spcBef>
              <a:spcAft>
                <a:spcPts val="600"/>
              </a:spcAft>
              <a:defRPr/>
            </a:pPr>
            <a:r>
              <a:rPr lang="en-US" altLang="zh-CN" sz="1600" dirty="0">
                <a:solidFill>
                  <a:srgbClr val="333333"/>
                </a:solidFill>
                <a:latin typeface="arial" panose="020B0604020202020204" pitchFamily="34" charset="0"/>
              </a:rPr>
              <a:t>3 </a:t>
            </a:r>
            <a:r>
              <a:rPr lang="zh-CN" altLang="en-US" sz="1600" dirty="0">
                <a:solidFill>
                  <a:srgbClr val="333333"/>
                </a:solidFill>
                <a:latin typeface="arial" panose="020B0604020202020204" pitchFamily="34" charset="0"/>
              </a:rPr>
              <a:t>最短路问题</a:t>
            </a:r>
            <a:endParaRPr lang="en-US" altLang="zh-CN" sz="1600" dirty="0">
              <a:solidFill>
                <a:srgbClr val="333333"/>
              </a:solidFill>
              <a:latin typeface="arial" panose="020B0604020202020204" pitchFamily="34" charset="0"/>
            </a:endParaRPr>
          </a:p>
          <a:p>
            <a:pPr lvl="1" eaLnBrk="1" hangingPunct="1">
              <a:lnSpc>
                <a:spcPct val="120000"/>
              </a:lnSpc>
              <a:spcBef>
                <a:spcPts val="600"/>
              </a:spcBef>
              <a:spcAft>
                <a:spcPts val="600"/>
              </a:spcAft>
              <a:defRPr/>
            </a:pPr>
            <a:r>
              <a:rPr lang="en-US" altLang="zh-CN" sz="1600" dirty="0">
                <a:solidFill>
                  <a:srgbClr val="333333"/>
                </a:solidFill>
                <a:latin typeface="arial" panose="020B0604020202020204" pitchFamily="34" charset="0"/>
              </a:rPr>
              <a:t>4 </a:t>
            </a:r>
            <a:r>
              <a:rPr lang="zh-CN" altLang="en-US" sz="1600" dirty="0">
                <a:solidFill>
                  <a:srgbClr val="333333"/>
                </a:solidFill>
                <a:latin typeface="arial" panose="020B0604020202020204" pitchFamily="34" charset="0"/>
              </a:rPr>
              <a:t>网络最大流问题</a:t>
            </a:r>
            <a:endParaRPr lang="en-US" altLang="zh-CN" sz="1600" dirty="0">
              <a:solidFill>
                <a:srgbClr val="333333"/>
              </a:solidFill>
              <a:latin typeface="arial" panose="020B0604020202020204" pitchFamily="34" charset="0"/>
            </a:endParaRPr>
          </a:p>
          <a:p>
            <a:pPr marL="471487" lvl="1" indent="0" eaLnBrk="1" hangingPunct="1">
              <a:lnSpc>
                <a:spcPct val="120000"/>
              </a:lnSpc>
              <a:spcBef>
                <a:spcPts val="600"/>
              </a:spcBef>
              <a:spcAft>
                <a:spcPts val="600"/>
              </a:spcAft>
              <a:buNone/>
              <a:defRPr/>
            </a:pPr>
            <a:endParaRPr lang="zh-CN" altLang="en-US" sz="1600" dirty="0">
              <a:solidFill>
                <a:srgbClr val="333333"/>
              </a:solidFill>
              <a:latin typeface="arial" panose="020B0604020202020204" pitchFamily="34" charset="0"/>
            </a:endParaRPr>
          </a:p>
        </p:txBody>
      </p:sp>
      <p:sp>
        <p:nvSpPr>
          <p:cNvPr id="4" name="文本占位符 3"/>
          <p:cNvSpPr>
            <a:spLocks noGrp="1"/>
          </p:cNvSpPr>
          <p:nvPr>
            <p:ph type="body" sz="half" idx="1"/>
          </p:nvPr>
        </p:nvSpPr>
        <p:spPr>
          <a:xfrm>
            <a:off x="528637" y="1905000"/>
            <a:ext cx="4724400" cy="3733800"/>
          </a:xfrm>
          <a:ln>
            <a:solidFill>
              <a:schemeClr val="bg1">
                <a:lumMod val="50000"/>
              </a:schemeClr>
            </a:solidFill>
          </a:ln>
        </p:spPr>
        <p:txBody>
          <a:bodyPr/>
          <a:lstStyle/>
          <a:p>
            <a:pPr eaLnBrk="1" hangingPunct="1">
              <a:lnSpc>
                <a:spcPct val="120000"/>
              </a:lnSpc>
              <a:spcBef>
                <a:spcPts val="1200"/>
              </a:spcBef>
              <a:defRPr/>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8</a:t>
            </a:r>
            <a:r>
              <a:rPr lang="zh-CN" altLang="en-US" sz="2000" b="1" dirty="0">
                <a:latin typeface="微软雅黑" panose="020B0503020204020204" pitchFamily="34" charset="-122"/>
                <a:ea typeface="微软雅黑" panose="020B0503020204020204" pitchFamily="34" charset="-122"/>
              </a:rPr>
              <a:t>章动态规划</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基本方法</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学时</a:t>
            </a:r>
            <a:r>
              <a:rPr lang="en-US" altLang="zh-CN" sz="2000" dirty="0">
                <a:latin typeface="微软雅黑" panose="020B0503020204020204" pitchFamily="34" charset="-122"/>
                <a:ea typeface="微软雅黑" panose="020B0503020204020204" pitchFamily="34" charset="-122"/>
              </a:rPr>
              <a:t>)</a:t>
            </a:r>
          </a:p>
          <a:p>
            <a:pPr lvl="1" eaLnBrk="1" hangingPunct="1">
              <a:lnSpc>
                <a:spcPct val="120000"/>
              </a:lnSpc>
              <a:defRPr/>
            </a:pPr>
            <a:r>
              <a:rPr lang="en-US" altLang="zh-CN" sz="1600" dirty="0">
                <a:solidFill>
                  <a:srgbClr val="333333"/>
                </a:solidFill>
                <a:latin typeface="arial" panose="020B0604020202020204" pitchFamily="34" charset="0"/>
              </a:rPr>
              <a:t>1 </a:t>
            </a:r>
            <a:r>
              <a:rPr lang="zh-CN" altLang="en-US" sz="1600" dirty="0">
                <a:solidFill>
                  <a:srgbClr val="333333"/>
                </a:solidFill>
                <a:latin typeface="arial" panose="020B0604020202020204" pitchFamily="34" charset="0"/>
              </a:rPr>
              <a:t>多阶段决策过程及实例</a:t>
            </a:r>
            <a:endParaRPr lang="en-US" altLang="zh-CN" sz="1600" dirty="0">
              <a:solidFill>
                <a:srgbClr val="333333"/>
              </a:solidFill>
              <a:latin typeface="arial" panose="020B0604020202020204" pitchFamily="34" charset="0"/>
            </a:endParaRPr>
          </a:p>
          <a:p>
            <a:pPr lvl="1" eaLnBrk="1" hangingPunct="1">
              <a:lnSpc>
                <a:spcPct val="120000"/>
              </a:lnSpc>
              <a:defRPr/>
            </a:pPr>
            <a:r>
              <a:rPr lang="en-US" altLang="zh-CN" sz="1600" dirty="0">
                <a:solidFill>
                  <a:srgbClr val="333333"/>
                </a:solidFill>
                <a:latin typeface="arial" panose="020B0604020202020204" pitchFamily="34" charset="0"/>
              </a:rPr>
              <a:t>2 </a:t>
            </a:r>
            <a:r>
              <a:rPr lang="zh-CN" altLang="en-US" sz="1600" dirty="0">
                <a:solidFill>
                  <a:srgbClr val="333333"/>
                </a:solidFill>
                <a:latin typeface="arial" panose="020B0604020202020204" pitchFamily="34" charset="0"/>
              </a:rPr>
              <a:t>动态规划的基本概念</a:t>
            </a:r>
            <a:endParaRPr lang="en-US" altLang="zh-CN" sz="1600" dirty="0">
              <a:solidFill>
                <a:srgbClr val="333333"/>
              </a:solidFill>
              <a:latin typeface="arial" panose="020B0604020202020204" pitchFamily="34" charset="0"/>
            </a:endParaRPr>
          </a:p>
          <a:p>
            <a:pPr lvl="1" eaLnBrk="1" hangingPunct="1">
              <a:lnSpc>
                <a:spcPct val="120000"/>
              </a:lnSpc>
              <a:defRPr/>
            </a:pPr>
            <a:r>
              <a:rPr lang="en-US" altLang="zh-CN" sz="1600" kern="0" dirty="0"/>
              <a:t>3 </a:t>
            </a:r>
            <a:r>
              <a:rPr lang="zh-CN" altLang="en-US" sz="1600" kern="0" dirty="0"/>
              <a:t>动态规划的基本方程</a:t>
            </a:r>
            <a:endParaRPr lang="en-US" altLang="zh-CN" sz="1600" dirty="0">
              <a:solidFill>
                <a:srgbClr val="333333"/>
              </a:solidFill>
              <a:latin typeface="arial" panose="020B0604020202020204" pitchFamily="34" charset="0"/>
            </a:endParaRPr>
          </a:p>
          <a:p>
            <a:pPr lvl="1" eaLnBrk="1" hangingPunct="1">
              <a:lnSpc>
                <a:spcPct val="120000"/>
              </a:lnSpc>
              <a:defRPr/>
            </a:pPr>
            <a:r>
              <a:rPr lang="en-US" altLang="zh-CN" sz="1600" dirty="0">
                <a:solidFill>
                  <a:srgbClr val="333333"/>
                </a:solidFill>
                <a:latin typeface="arial" panose="020B0604020202020204" pitchFamily="34" charset="0"/>
              </a:rPr>
              <a:t>4 </a:t>
            </a:r>
            <a:r>
              <a:rPr lang="zh-CN" altLang="en-US" sz="1600" dirty="0">
                <a:solidFill>
                  <a:srgbClr val="333333"/>
                </a:solidFill>
                <a:latin typeface="arial" panose="020B0604020202020204" pitchFamily="34" charset="0"/>
              </a:rPr>
              <a:t>动态规划的最优性原理</a:t>
            </a:r>
            <a:endParaRPr lang="en-US" altLang="zh-CN" sz="1600" dirty="0">
              <a:solidFill>
                <a:srgbClr val="333333"/>
              </a:solidFill>
              <a:latin typeface="arial" panose="020B0604020202020204" pitchFamily="34" charset="0"/>
            </a:endParaRPr>
          </a:p>
          <a:p>
            <a:pPr lvl="1" eaLnBrk="1" hangingPunct="1">
              <a:lnSpc>
                <a:spcPct val="120000"/>
              </a:lnSpc>
              <a:defRPr/>
            </a:pPr>
            <a:r>
              <a:rPr lang="en-US" altLang="zh-CN" sz="1600" dirty="0">
                <a:solidFill>
                  <a:srgbClr val="333333"/>
                </a:solidFill>
                <a:latin typeface="arial" panose="020B0604020202020204" pitchFamily="34" charset="0"/>
              </a:rPr>
              <a:t>5 </a:t>
            </a:r>
            <a:r>
              <a:rPr lang="zh-CN" altLang="en-US" sz="1600" dirty="0">
                <a:solidFill>
                  <a:srgbClr val="333333"/>
                </a:solidFill>
                <a:latin typeface="arial" panose="020B0604020202020204" pitchFamily="34" charset="0"/>
              </a:rPr>
              <a:t>动态规划的求解方法</a:t>
            </a:r>
            <a:endParaRPr lang="en-US" altLang="zh-CN" sz="1600" dirty="0">
              <a:solidFill>
                <a:srgbClr val="333333"/>
              </a:solidFill>
              <a:latin typeface="arial" panose="020B0604020202020204" pitchFamily="34" charset="0"/>
            </a:endParaRPr>
          </a:p>
          <a:p>
            <a:pPr lvl="1" eaLnBrk="1" hangingPunct="1">
              <a:lnSpc>
                <a:spcPct val="120000"/>
              </a:lnSpc>
              <a:defRPr/>
            </a:pPr>
            <a:endParaRPr lang="en-US" altLang="zh-CN" sz="1400" dirty="0">
              <a:solidFill>
                <a:srgbClr val="333333"/>
              </a:solidFill>
              <a:latin typeface="arial" panose="020B0604020202020204" pitchFamily="34" charset="0"/>
            </a:endParaRPr>
          </a:p>
          <a:p>
            <a:pPr eaLnBrk="1" hangingPunct="1">
              <a:lnSpc>
                <a:spcPct val="120000"/>
              </a:lnSpc>
              <a:defRPr/>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8</a:t>
            </a:r>
            <a:r>
              <a:rPr lang="zh-CN" altLang="en-US" sz="2000" b="1" dirty="0">
                <a:latin typeface="微软雅黑" panose="020B0503020204020204" pitchFamily="34" charset="-122"/>
                <a:ea typeface="微软雅黑" panose="020B0503020204020204" pitchFamily="34" charset="-122"/>
              </a:rPr>
              <a:t>章动态规划</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管理应用 </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学时</a:t>
            </a:r>
            <a:r>
              <a:rPr lang="en-US" altLang="zh-CN" sz="2000" dirty="0">
                <a:latin typeface="微软雅黑" panose="020B0503020204020204" pitchFamily="34" charset="-122"/>
                <a:ea typeface="微软雅黑" panose="020B0503020204020204" pitchFamily="34" charset="-122"/>
              </a:rPr>
              <a:t>)</a:t>
            </a:r>
          </a:p>
          <a:p>
            <a:pPr lvl="1" eaLnBrk="1" hangingPunct="1">
              <a:lnSpc>
                <a:spcPct val="120000"/>
              </a:lnSpc>
              <a:defRPr/>
            </a:pPr>
            <a:r>
              <a:rPr lang="en-US" altLang="zh-CN" sz="1600" dirty="0">
                <a:solidFill>
                  <a:srgbClr val="333333"/>
                </a:solidFill>
                <a:latin typeface="微软雅黑" panose="020B0503020204020204" pitchFamily="34" charset="-122"/>
                <a:ea typeface="微软雅黑" panose="020B0503020204020204" pitchFamily="34" charset="-122"/>
              </a:rPr>
              <a:t>6 </a:t>
            </a:r>
            <a:r>
              <a:rPr lang="zh-CN" altLang="en-US" sz="1600" dirty="0">
                <a:solidFill>
                  <a:srgbClr val="333333"/>
                </a:solidFill>
                <a:latin typeface="微软雅黑" panose="020B0503020204020204" pitchFamily="34" charset="-122"/>
                <a:ea typeface="微软雅黑" panose="020B0503020204020204" pitchFamily="34" charset="-122"/>
              </a:rPr>
              <a:t>资源分配问题</a:t>
            </a:r>
            <a:endParaRPr lang="en-US" altLang="zh-CN" sz="1600" dirty="0">
              <a:solidFill>
                <a:srgbClr val="333333"/>
              </a:solidFill>
              <a:latin typeface="微软雅黑" panose="020B0503020204020204" pitchFamily="34" charset="-122"/>
              <a:ea typeface="微软雅黑" panose="020B0503020204020204" pitchFamily="34" charset="-122"/>
            </a:endParaRPr>
          </a:p>
          <a:p>
            <a:pPr lvl="1" eaLnBrk="1" hangingPunct="1">
              <a:lnSpc>
                <a:spcPct val="120000"/>
              </a:lnSpc>
              <a:defRPr/>
            </a:pPr>
            <a:r>
              <a:rPr lang="en-US" altLang="zh-CN" sz="1600" dirty="0">
                <a:solidFill>
                  <a:srgbClr val="333333"/>
                </a:solidFill>
                <a:latin typeface="arial" panose="020B0604020202020204" pitchFamily="34" charset="0"/>
              </a:rPr>
              <a:t>7 </a:t>
            </a:r>
            <a:r>
              <a:rPr lang="zh-CN" altLang="en-US" sz="1600" dirty="0">
                <a:solidFill>
                  <a:srgbClr val="333333"/>
                </a:solidFill>
                <a:latin typeface="arial" panose="020B0604020202020204" pitchFamily="34" charset="0"/>
              </a:rPr>
              <a:t>生产计划问题</a:t>
            </a:r>
            <a:endParaRPr lang="en-US" altLang="zh-CN" sz="1600" dirty="0">
              <a:solidFill>
                <a:srgbClr val="333333"/>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38175" y="488950"/>
            <a:ext cx="5076825" cy="984250"/>
          </a:xfrm>
        </p:spPr>
        <p:txBody>
          <a:bodyPr/>
          <a:lstStyle/>
          <a:p>
            <a:pPr eaLnBrk="1" hangingPunct="1"/>
            <a:r>
              <a:rPr lang="zh-CN" altLang="en-US" b="1"/>
              <a:t>什么是动态规划？</a:t>
            </a:r>
          </a:p>
        </p:txBody>
      </p:sp>
      <p:sp>
        <p:nvSpPr>
          <p:cNvPr id="18435" name="Rectangle 3"/>
          <p:cNvSpPr>
            <a:spLocks noGrp="1" noChangeArrowheads="1"/>
          </p:cNvSpPr>
          <p:nvPr>
            <p:ph idx="1"/>
          </p:nvPr>
        </p:nvSpPr>
        <p:spPr>
          <a:xfrm>
            <a:off x="685800" y="1819275"/>
            <a:ext cx="7772400" cy="3895725"/>
          </a:xfrm>
        </p:spPr>
        <p:txBody>
          <a:bodyPr/>
          <a:lstStyle/>
          <a:p>
            <a:pPr marL="431800" indent="-431800" algn="just" eaLnBrk="1" hangingPunct="1">
              <a:lnSpc>
                <a:spcPct val="125000"/>
              </a:lnSpc>
            </a:pPr>
            <a:r>
              <a:rPr lang="zh-CN" altLang="en-US" sz="2400" b="1" dirty="0">
                <a:latin typeface="Times New Roman" panose="02020603050405020304" pitchFamily="18" charset="0"/>
              </a:rPr>
              <a:t>动态规划</a:t>
            </a:r>
            <a:r>
              <a:rPr lang="zh-CN" altLang="en-US" sz="2400" dirty="0">
                <a:latin typeface="Times New Roman" panose="02020603050405020304" pitchFamily="18" charset="0"/>
              </a:rPr>
              <a:t>是运筹学的一个分支，它是解决</a:t>
            </a:r>
            <a:r>
              <a:rPr lang="zh-CN" altLang="en-US" sz="2400" b="1" dirty="0">
                <a:solidFill>
                  <a:schemeClr val="hlink"/>
                </a:solidFill>
                <a:latin typeface="Times New Roman" panose="02020603050405020304" pitchFamily="18" charset="0"/>
              </a:rPr>
              <a:t>多阶段决策问题</a:t>
            </a:r>
            <a:r>
              <a:rPr lang="zh-CN" altLang="en-US" sz="2400" dirty="0">
                <a:latin typeface="Times New Roman" panose="02020603050405020304" pitchFamily="18" charset="0"/>
              </a:rPr>
              <a:t>的一种数学方法。</a:t>
            </a:r>
            <a:endParaRPr lang="en-US" altLang="zh-CN" sz="2400" dirty="0">
              <a:latin typeface="Times New Roman" panose="02020603050405020304" pitchFamily="18" charset="0"/>
            </a:endParaRPr>
          </a:p>
          <a:p>
            <a:pPr marL="431800" indent="-431800" algn="just" eaLnBrk="1" hangingPunct="1">
              <a:lnSpc>
                <a:spcPct val="125000"/>
              </a:lnSpc>
              <a:spcBef>
                <a:spcPts val="1800"/>
              </a:spcBef>
            </a:pPr>
            <a:r>
              <a:rPr lang="zh-CN" altLang="en-US" sz="2400" dirty="0">
                <a:latin typeface="Times New Roman" panose="02020603050405020304" pitchFamily="18" charset="0"/>
              </a:rPr>
              <a:t>在很多管理情景中，企业面临着</a:t>
            </a:r>
            <a:r>
              <a:rPr lang="zh-CN" altLang="en-US" sz="2400" dirty="0">
                <a:solidFill>
                  <a:srgbClr val="FF0000"/>
                </a:solidFill>
                <a:latin typeface="Times New Roman" panose="02020603050405020304" pitchFamily="18" charset="0"/>
              </a:rPr>
              <a:t>多阶段</a:t>
            </a:r>
            <a:r>
              <a:rPr lang="zh-CN" altLang="en-US" sz="2400" dirty="0">
                <a:latin typeface="Times New Roman" panose="02020603050405020304" pitchFamily="18" charset="0"/>
              </a:rPr>
              <a:t>（可以体现为空间、时间等维度）的</a:t>
            </a:r>
            <a:r>
              <a:rPr lang="zh-CN" altLang="en-US" sz="2400" dirty="0">
                <a:solidFill>
                  <a:srgbClr val="FF0000"/>
                </a:solidFill>
                <a:latin typeface="Times New Roman" panose="02020603050405020304" pitchFamily="18" charset="0"/>
              </a:rPr>
              <a:t>决策问题</a:t>
            </a:r>
            <a:r>
              <a:rPr lang="zh-CN" altLang="en-US" sz="2400" dirty="0">
                <a:latin typeface="Times New Roman" panose="02020603050405020304" pitchFamily="18" charset="0"/>
              </a:rPr>
              <a:t>，每一阶段的最优决策不仅受限于当时的实际情况（如当时具备的资源），而且要考虑到该决策对未来的影响。因此，</a:t>
            </a:r>
            <a:r>
              <a:rPr lang="zh-CN" altLang="en-US" sz="2400" b="1" dirty="0">
                <a:solidFill>
                  <a:srgbClr val="0070C0"/>
                </a:solidFill>
                <a:latin typeface="Times New Roman" panose="02020603050405020304" pitchFamily="18" charset="0"/>
              </a:rPr>
              <a:t>不同阶段的决策是彼此关联的</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p:txBody>
      </p:sp>
      <p:sp>
        <p:nvSpPr>
          <p:cNvPr id="1843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E1CFB96-4AEE-441B-AE6F-628DA1738C7A}" type="slidenum">
              <a:rPr lang="zh-CN" altLang="zh-CN" sz="1400">
                <a:latin typeface="Arial" panose="020B0604020202020204" pitchFamily="34" charset="0"/>
              </a:rPr>
              <a:pPr>
                <a:spcBef>
                  <a:spcPct val="0"/>
                </a:spcBef>
                <a:buClr>
                  <a:srgbClr val="000000"/>
                </a:buClr>
                <a:buFontTx/>
                <a:buNone/>
              </a:pPr>
              <a:t>3</a:t>
            </a:fld>
            <a:endParaRPr lang="en-US" altLang="zh-CN" sz="1400">
              <a:latin typeface="Arial" panose="020B0604020202020204" pitchFamily="34"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38175" y="488950"/>
            <a:ext cx="5076825" cy="984250"/>
          </a:xfrm>
        </p:spPr>
        <p:txBody>
          <a:bodyPr/>
          <a:lstStyle/>
          <a:p>
            <a:pPr eaLnBrk="1" hangingPunct="1"/>
            <a:r>
              <a:rPr lang="zh-CN" altLang="en-US" b="1" dirty="0"/>
              <a:t>动态规划的形成</a:t>
            </a:r>
          </a:p>
        </p:txBody>
      </p:sp>
      <p:sp>
        <p:nvSpPr>
          <p:cNvPr id="18435" name="Rectangle 3"/>
          <p:cNvSpPr>
            <a:spLocks noGrp="1" noChangeArrowheads="1"/>
          </p:cNvSpPr>
          <p:nvPr>
            <p:ph idx="1"/>
          </p:nvPr>
        </p:nvSpPr>
        <p:spPr>
          <a:xfrm>
            <a:off x="568325" y="1819275"/>
            <a:ext cx="8118475" cy="3743325"/>
          </a:xfrm>
        </p:spPr>
        <p:txBody>
          <a:bodyPr/>
          <a:lstStyle/>
          <a:p>
            <a:pPr marL="431800" indent="-431800" algn="just" eaLnBrk="1" hangingPunct="1">
              <a:lnSpc>
                <a:spcPct val="125000"/>
              </a:lnSpc>
              <a:spcBef>
                <a:spcPts val="1200"/>
              </a:spcBef>
            </a:pPr>
            <a:r>
              <a:rPr lang="en-US" altLang="zh-CN" sz="2200" dirty="0">
                <a:latin typeface="Times New Roman" panose="02020603050405020304" pitchFamily="18" charset="0"/>
              </a:rPr>
              <a:t>1951</a:t>
            </a:r>
            <a:r>
              <a:rPr lang="zh-CN" altLang="en-US" sz="2200" dirty="0">
                <a:latin typeface="Times New Roman" panose="02020603050405020304" pitchFamily="18" charset="0"/>
              </a:rPr>
              <a:t>年，美国数学家</a:t>
            </a:r>
            <a:r>
              <a:rPr lang="zh-CN" altLang="en-US" sz="2200" dirty="0">
                <a:solidFill>
                  <a:srgbClr val="FF0000"/>
                </a:solidFill>
                <a:latin typeface="Times New Roman" panose="02020603050405020304" pitchFamily="18" charset="0"/>
              </a:rPr>
              <a:t>贝尔曼（</a:t>
            </a:r>
            <a:r>
              <a:rPr lang="en-US" altLang="zh-CN" sz="2200" dirty="0" err="1">
                <a:solidFill>
                  <a:srgbClr val="FF0000"/>
                </a:solidFill>
                <a:latin typeface="Times New Roman" panose="02020603050405020304" pitchFamily="18" charset="0"/>
              </a:rPr>
              <a:t>R.Bellman</a:t>
            </a:r>
            <a:r>
              <a:rPr lang="zh-CN" altLang="en-US" sz="2200" dirty="0">
                <a:solidFill>
                  <a:srgbClr val="FF0000"/>
                </a:solidFill>
                <a:latin typeface="Times New Roman" panose="02020603050405020304" pitchFamily="18" charset="0"/>
              </a:rPr>
              <a:t>）</a:t>
            </a:r>
            <a:r>
              <a:rPr lang="zh-CN" altLang="en-US" sz="2200" dirty="0">
                <a:latin typeface="Times New Roman" panose="02020603050405020304" pitchFamily="18" charset="0"/>
              </a:rPr>
              <a:t>等人，根据一类多阶段决策问题的特点，把</a:t>
            </a:r>
            <a:r>
              <a:rPr lang="zh-CN" altLang="en-US" sz="2200" dirty="0">
                <a:solidFill>
                  <a:srgbClr val="C00000"/>
                </a:solidFill>
                <a:latin typeface="Times New Roman" panose="02020603050405020304" pitchFamily="18" charset="0"/>
              </a:rPr>
              <a:t>多阶段决策问题</a:t>
            </a:r>
            <a:r>
              <a:rPr lang="zh-CN" altLang="en-US" sz="2200" dirty="0">
                <a:latin typeface="Times New Roman" panose="02020603050405020304" pitchFamily="18" charset="0"/>
              </a:rPr>
              <a:t>变换为一系列相互联系的</a:t>
            </a:r>
            <a:r>
              <a:rPr lang="zh-CN" altLang="en-US" sz="2200" dirty="0">
                <a:solidFill>
                  <a:srgbClr val="C00000"/>
                </a:solidFill>
                <a:latin typeface="Times New Roman" panose="02020603050405020304" pitchFamily="18" charset="0"/>
              </a:rPr>
              <a:t>单阶段决策问题</a:t>
            </a:r>
            <a:r>
              <a:rPr lang="zh-CN" altLang="en-US" sz="2200" dirty="0">
                <a:latin typeface="Times New Roman" panose="02020603050405020304" pitchFamily="18" charset="0"/>
              </a:rPr>
              <a:t>，然后分阶段逐个加以解决。</a:t>
            </a:r>
            <a:endParaRPr lang="en-US" altLang="zh-CN" sz="2200" dirty="0">
              <a:latin typeface="Times New Roman" panose="02020603050405020304" pitchFamily="18" charset="0"/>
            </a:endParaRPr>
          </a:p>
          <a:p>
            <a:pPr marL="431800" indent="-431800" algn="just" eaLnBrk="1" hangingPunct="1">
              <a:lnSpc>
                <a:spcPct val="125000"/>
              </a:lnSpc>
              <a:spcBef>
                <a:spcPts val="1200"/>
              </a:spcBef>
            </a:pPr>
            <a:r>
              <a:rPr lang="zh-CN" altLang="en-US" sz="2200" dirty="0"/>
              <a:t>与此同时，他提出了解决这类问题的“最优性原理”，研究了许多实际问题，从而</a:t>
            </a:r>
            <a:r>
              <a:rPr lang="zh-CN" altLang="en-US" sz="2200" dirty="0">
                <a:solidFill>
                  <a:srgbClr val="C00000"/>
                </a:solidFill>
              </a:rPr>
              <a:t>创建了</a:t>
            </a:r>
            <a:r>
              <a:rPr lang="zh-CN" altLang="en-US" sz="2200" dirty="0"/>
              <a:t>解决最优化问题的一种新的方法</a:t>
            </a:r>
            <a:r>
              <a:rPr lang="en-US" altLang="zh-CN" sz="2200" dirty="0"/>
              <a:t>——</a:t>
            </a:r>
            <a:r>
              <a:rPr lang="zh-CN" altLang="en-US" sz="2200" dirty="0"/>
              <a:t>动态规划。</a:t>
            </a:r>
            <a:endParaRPr lang="en-US" altLang="zh-CN" sz="2200" dirty="0"/>
          </a:p>
          <a:p>
            <a:pPr marL="431800" indent="-431800" algn="just" eaLnBrk="1" hangingPunct="1">
              <a:lnSpc>
                <a:spcPct val="125000"/>
              </a:lnSpc>
              <a:spcBef>
                <a:spcPts val="1200"/>
              </a:spcBef>
            </a:pPr>
            <a:r>
              <a:rPr lang="en-US" altLang="zh-CN" sz="2200" dirty="0"/>
              <a:t>《</a:t>
            </a:r>
            <a:r>
              <a:rPr lang="zh-CN" altLang="en-US" sz="2200" dirty="0"/>
              <a:t>动态规划</a:t>
            </a:r>
            <a:r>
              <a:rPr lang="en-US" altLang="zh-CN" sz="2200" dirty="0"/>
              <a:t>》1957</a:t>
            </a:r>
            <a:r>
              <a:rPr lang="zh-CN" altLang="en-US" sz="2200" dirty="0"/>
              <a:t>年出版，是动态规划的第一本著作。</a:t>
            </a:r>
          </a:p>
        </p:txBody>
      </p:sp>
      <p:sp>
        <p:nvSpPr>
          <p:cNvPr id="1843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E1CFB96-4AEE-441B-AE6F-628DA1738C7A}" type="slidenum">
              <a:rPr lang="zh-CN" altLang="zh-CN" sz="1400">
                <a:latin typeface="Arial" panose="020B0604020202020204" pitchFamily="34" charset="0"/>
              </a:rPr>
              <a:pPr>
                <a:spcBef>
                  <a:spcPct val="0"/>
                </a:spcBef>
                <a:buClr>
                  <a:srgbClr val="000000"/>
                </a:buClr>
                <a:buFontTx/>
                <a:buNone/>
              </a:pPr>
              <a:t>4</a:t>
            </a:fld>
            <a:endParaRPr lang="en-US" altLang="zh-CN" sz="1400">
              <a:latin typeface="Arial" panose="020B0604020202020204" pitchFamily="34" charset="0"/>
            </a:endParaRPr>
          </a:p>
        </p:txBody>
      </p:sp>
    </p:spTree>
    <p:extLst>
      <p:ext uri="{BB962C8B-B14F-4D97-AF65-F5344CB8AC3E}">
        <p14:creationId xmlns:p14="http://schemas.microsoft.com/office/powerpoint/2010/main" val="315946619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38175" y="488950"/>
            <a:ext cx="2851150" cy="984250"/>
          </a:xfrm>
        </p:spPr>
        <p:txBody>
          <a:bodyPr/>
          <a:lstStyle/>
          <a:p>
            <a:pPr eaLnBrk="1" hangingPunct="1"/>
            <a:r>
              <a:rPr lang="zh-CN" altLang="en-US"/>
              <a:t>动态规划</a:t>
            </a:r>
          </a:p>
        </p:txBody>
      </p:sp>
      <p:sp>
        <p:nvSpPr>
          <p:cNvPr id="19459" name="Rectangle 3"/>
          <p:cNvSpPr>
            <a:spLocks noGrp="1" noChangeArrowheads="1"/>
          </p:cNvSpPr>
          <p:nvPr>
            <p:ph idx="1"/>
          </p:nvPr>
        </p:nvSpPr>
        <p:spPr>
          <a:xfrm>
            <a:off x="685800" y="1819275"/>
            <a:ext cx="7813675" cy="3438525"/>
          </a:xfrm>
        </p:spPr>
        <p:txBody>
          <a:bodyPr/>
          <a:lstStyle/>
          <a:p>
            <a:pPr marL="431800" indent="-431800" algn="just" eaLnBrk="1" hangingPunct="1">
              <a:lnSpc>
                <a:spcPct val="125000"/>
              </a:lnSpc>
            </a:pPr>
            <a:r>
              <a:rPr lang="zh-CN" altLang="en-US" sz="2400" dirty="0">
                <a:latin typeface="Times New Roman" panose="02020603050405020304" pitchFamily="18" charset="0"/>
              </a:rPr>
              <a:t>动态规划</a:t>
            </a:r>
            <a:r>
              <a:rPr lang="zh-CN" altLang="en-US" sz="2400" dirty="0"/>
              <a:t>已广泛的应用于工程技术、工农业生产以及军事等部门，并获得了显著的效果。尤其是在</a:t>
            </a:r>
            <a:r>
              <a:rPr lang="zh-CN" altLang="en-US" sz="2400" dirty="0">
                <a:hlinkClick r:id="rId2" action="ppaction://hlinksldjump"/>
              </a:rPr>
              <a:t>企业管理决策方面</a:t>
            </a:r>
            <a:r>
              <a:rPr lang="en-US" altLang="zh-CN" sz="2400" dirty="0"/>
              <a:t>:</a:t>
            </a:r>
          </a:p>
          <a:p>
            <a:pPr marL="869950" lvl="1" indent="-431800" algn="just" eaLnBrk="1" hangingPunct="1">
              <a:lnSpc>
                <a:spcPct val="125000"/>
              </a:lnSpc>
            </a:pPr>
            <a:r>
              <a:rPr lang="zh-CN" altLang="en-US" sz="2200" dirty="0">
                <a:latin typeface="黑体" panose="02010609060101010101" pitchFamily="49" charset="-122"/>
              </a:rPr>
              <a:t>可以用来解决</a:t>
            </a:r>
            <a:r>
              <a:rPr lang="zh-CN" altLang="en-US" sz="2200" dirty="0">
                <a:solidFill>
                  <a:schemeClr val="hlink"/>
                </a:solidFill>
                <a:latin typeface="黑体" panose="02010609060101010101" pitchFamily="49" charset="-122"/>
              </a:rPr>
              <a:t>最优路径问题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资源分配问题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生产调度问题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库存问题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装载问题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排序问题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设备更新问题</a:t>
            </a:r>
            <a:r>
              <a:rPr lang="zh-CN" altLang="en-US" sz="2200" dirty="0">
                <a:latin typeface="黑体" panose="02010609060101010101" pitchFamily="49" charset="-122"/>
              </a:rPr>
              <a:t>、</a:t>
            </a:r>
            <a:r>
              <a:rPr lang="zh-CN" altLang="en-US" sz="2200" dirty="0">
                <a:solidFill>
                  <a:schemeClr val="hlink"/>
                </a:solidFill>
                <a:latin typeface="黑体" panose="02010609060101010101" pitchFamily="49" charset="-122"/>
              </a:rPr>
              <a:t>生产过程最优控制</a:t>
            </a:r>
            <a:r>
              <a:rPr lang="zh-CN" altLang="en-US" sz="2200" dirty="0">
                <a:latin typeface="黑体" panose="02010609060101010101" pitchFamily="49" charset="-122"/>
              </a:rPr>
              <a:t>等问题，</a:t>
            </a:r>
            <a:endParaRPr lang="en-US" altLang="zh-CN" sz="2200" dirty="0">
              <a:latin typeface="黑体" panose="02010609060101010101" pitchFamily="49" charset="-122"/>
            </a:endParaRPr>
          </a:p>
          <a:p>
            <a:pPr marL="431800" indent="-431800" algn="just" eaLnBrk="1" hangingPunct="1">
              <a:lnSpc>
                <a:spcPct val="125000"/>
              </a:lnSpc>
            </a:pPr>
            <a:r>
              <a:rPr lang="zh-CN" altLang="en-US" sz="2400" dirty="0">
                <a:latin typeface="黑体" panose="02010609060101010101" pitchFamily="49" charset="-122"/>
              </a:rPr>
              <a:t>是现代企业管理中一种重要的决策方法。</a:t>
            </a:r>
            <a:endParaRPr lang="zh-CN" altLang="en-US" sz="2400" dirty="0">
              <a:latin typeface="Times New Roman" panose="02020603050405020304" pitchFamily="18" charset="0"/>
            </a:endParaRPr>
          </a:p>
        </p:txBody>
      </p:sp>
      <p:sp>
        <p:nvSpPr>
          <p:cNvPr id="19460"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9EF2097E-472A-443A-98E5-6A72F2D2004F}"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19461"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585FE989-9675-4AA0-ADCF-021CD15A9CA2}" type="slidenum">
              <a:rPr lang="zh-CN" altLang="zh-CN" sz="1400">
                <a:latin typeface="Arial" panose="020B0604020202020204" pitchFamily="34" charset="0"/>
              </a:rPr>
              <a:pPr>
                <a:spcBef>
                  <a:spcPct val="0"/>
                </a:spcBef>
                <a:buClr>
                  <a:srgbClr val="000000"/>
                </a:buClr>
                <a:buFontTx/>
                <a:buNone/>
              </a:pPr>
              <a:t>5</a:t>
            </a:fld>
            <a:endParaRPr lang="en-US" altLang="zh-CN" sz="1400">
              <a:latin typeface="Arial" panose="020B0604020202020204" pitchFamily="34"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4675" y="796925"/>
            <a:ext cx="3082925" cy="723900"/>
          </a:xfrm>
        </p:spPr>
        <p:txBody>
          <a:bodyPr/>
          <a:lstStyle/>
          <a:p>
            <a:pPr>
              <a:defRPr/>
            </a:pPr>
            <a:r>
              <a:rPr lang="zh-CN" altLang="en-US" sz="3200" dirty="0">
                <a:latin typeface="+mn-ea"/>
              </a:rPr>
              <a:t>理查德</a:t>
            </a:r>
            <a:r>
              <a:rPr lang="en-US" altLang="zh-CN" sz="3200" dirty="0">
                <a:latin typeface="+mn-ea"/>
              </a:rPr>
              <a:t>·</a:t>
            </a:r>
            <a:r>
              <a:rPr lang="zh-CN" altLang="en-US" sz="3200" dirty="0">
                <a:latin typeface="+mn-ea"/>
              </a:rPr>
              <a:t>贝尔曼</a:t>
            </a:r>
            <a:br>
              <a:rPr lang="en-US" altLang="zh-CN" sz="3200" dirty="0">
                <a:latin typeface="+mn-ea"/>
              </a:rPr>
            </a:br>
            <a:r>
              <a:rPr lang="en-US" altLang="zh-CN" sz="2000" dirty="0">
                <a:latin typeface="+mn-ea"/>
              </a:rPr>
              <a:t>(</a:t>
            </a:r>
            <a:r>
              <a:rPr lang="en-US" altLang="zh-CN" sz="2000" dirty="0">
                <a:latin typeface="+mn-ea"/>
                <a:ea typeface="+mn-ea"/>
              </a:rPr>
              <a:t>Richard Bellman)</a:t>
            </a:r>
            <a:endParaRPr lang="zh-CN" altLang="en-US" sz="2000" dirty="0"/>
          </a:p>
        </p:txBody>
      </p:sp>
      <p:sp>
        <p:nvSpPr>
          <p:cNvPr id="20484" name="灯片编号占位符 4"/>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8B2B118E-3179-4F64-9AEA-21D998BB3442}" type="slidenum">
              <a:rPr lang="zh-CN" altLang="zh-CN" sz="1400">
                <a:latin typeface="Arial" panose="020B0604020202020204" pitchFamily="34" charset="0"/>
              </a:rPr>
              <a:pPr>
                <a:spcBef>
                  <a:spcPct val="0"/>
                </a:spcBef>
                <a:buClr>
                  <a:srgbClr val="000000"/>
                </a:buClr>
                <a:buFontTx/>
                <a:buNone/>
              </a:pPr>
              <a:t>6</a:t>
            </a:fld>
            <a:endParaRPr lang="en-US" altLang="zh-CN" sz="1400">
              <a:latin typeface="Arial" panose="020B0604020202020204" pitchFamily="34" charset="0"/>
            </a:endParaRPr>
          </a:p>
        </p:txBody>
      </p:sp>
      <p:pic>
        <p:nvPicPr>
          <p:cNvPr id="20485" name="Picture 2" descr="https://upload.wikimedia.org/wikipedia/en/thumb/7/7a/Richard_Ernest_Bellman.jpg/220px-Richard_Ernest_Bellma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13" y="1936750"/>
            <a:ext cx="25336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4114800" y="330404"/>
            <a:ext cx="4495799" cy="1193596"/>
          </a:xfrm>
          <a:prstGeom prst="rect">
            <a:avLst/>
          </a:prstGeom>
          <a:solidFill>
            <a:schemeClr val="bg1">
              <a:lumMod val="75000"/>
            </a:schemeClr>
          </a:solidFill>
        </p:spPr>
        <p:txBody>
          <a:bodyPr wrap="square">
            <a:spAutoFit/>
          </a:bodyPr>
          <a:lstStyle/>
          <a:p>
            <a:pPr algn="ctr" eaLnBrk="1" hangingPunct="1">
              <a:lnSpc>
                <a:spcPct val="125000"/>
              </a:lnSpc>
              <a:buClr>
                <a:srgbClr val="000000"/>
              </a:buClr>
              <a:buSzPct val="100000"/>
              <a:defRPr/>
            </a:pPr>
            <a:r>
              <a:rPr lang="zh-CN" altLang="en-US" sz="2000" dirty="0">
                <a:latin typeface="+mn-ea"/>
                <a:ea typeface="+mn-ea"/>
              </a:rPr>
              <a:t>（</a:t>
            </a:r>
            <a:r>
              <a:rPr lang="en-US" altLang="zh-CN" sz="2000" dirty="0">
                <a:latin typeface="+mn-ea"/>
                <a:ea typeface="+mn-ea"/>
              </a:rPr>
              <a:t>1920</a:t>
            </a:r>
            <a:r>
              <a:rPr lang="zh-CN" altLang="en-US" sz="2000" dirty="0">
                <a:latin typeface="+mn-ea"/>
                <a:ea typeface="+mn-ea"/>
              </a:rPr>
              <a:t>年</a:t>
            </a:r>
            <a:r>
              <a:rPr lang="en-US" altLang="zh-CN" sz="2000" dirty="0">
                <a:latin typeface="+mn-ea"/>
                <a:ea typeface="+mn-ea"/>
              </a:rPr>
              <a:t>8</a:t>
            </a:r>
            <a:r>
              <a:rPr lang="zh-CN" altLang="en-US" sz="2000" dirty="0">
                <a:latin typeface="+mn-ea"/>
                <a:ea typeface="+mn-ea"/>
              </a:rPr>
              <a:t>月</a:t>
            </a:r>
            <a:r>
              <a:rPr lang="en-US" altLang="zh-CN" sz="2000" dirty="0">
                <a:latin typeface="+mn-ea"/>
                <a:ea typeface="+mn-ea"/>
              </a:rPr>
              <a:t>26</a:t>
            </a:r>
            <a:r>
              <a:rPr lang="zh-CN" altLang="en-US" sz="2000" dirty="0">
                <a:latin typeface="+mn-ea"/>
                <a:ea typeface="+mn-ea"/>
              </a:rPr>
              <a:t>日</a:t>
            </a:r>
            <a:r>
              <a:rPr lang="en-US" altLang="zh-CN" sz="2000" dirty="0">
                <a:latin typeface="+mn-ea"/>
                <a:ea typeface="+mn-ea"/>
              </a:rPr>
              <a:t>——1984</a:t>
            </a:r>
            <a:r>
              <a:rPr lang="zh-CN" altLang="en-US" sz="2000" dirty="0">
                <a:latin typeface="+mn-ea"/>
                <a:ea typeface="+mn-ea"/>
              </a:rPr>
              <a:t>年</a:t>
            </a:r>
            <a:r>
              <a:rPr lang="en-US" altLang="zh-CN" sz="2000" dirty="0">
                <a:latin typeface="+mn-ea"/>
                <a:ea typeface="+mn-ea"/>
              </a:rPr>
              <a:t>3</a:t>
            </a:r>
            <a:r>
              <a:rPr lang="zh-CN" altLang="en-US" sz="2000" dirty="0">
                <a:latin typeface="+mn-ea"/>
                <a:ea typeface="+mn-ea"/>
              </a:rPr>
              <a:t>月</a:t>
            </a:r>
            <a:r>
              <a:rPr lang="en-US" altLang="zh-CN" sz="2000" dirty="0">
                <a:latin typeface="+mn-ea"/>
                <a:ea typeface="+mn-ea"/>
              </a:rPr>
              <a:t>19</a:t>
            </a:r>
            <a:r>
              <a:rPr lang="zh-CN" altLang="en-US" sz="2000" dirty="0">
                <a:latin typeface="+mn-ea"/>
                <a:ea typeface="+mn-ea"/>
              </a:rPr>
              <a:t>日）美国数学家，美国国家科学院院士，</a:t>
            </a:r>
            <a:r>
              <a:rPr lang="zh-CN" altLang="en-US" sz="2000" b="1" dirty="0">
                <a:solidFill>
                  <a:srgbClr val="C00000"/>
                </a:solidFill>
                <a:latin typeface="+mn-ea"/>
                <a:ea typeface="+mn-ea"/>
              </a:rPr>
              <a:t>动态规划的创始人</a:t>
            </a:r>
            <a:endParaRPr lang="zh-CN" altLang="en-US" sz="2000" b="1" dirty="0">
              <a:latin typeface="+mn-ea"/>
              <a:ea typeface="+mn-ea"/>
            </a:endParaRPr>
          </a:p>
        </p:txBody>
      </p:sp>
      <p:sp>
        <p:nvSpPr>
          <p:cNvPr id="7" name="矩形 6"/>
          <p:cNvSpPr/>
          <p:nvPr/>
        </p:nvSpPr>
        <p:spPr>
          <a:xfrm>
            <a:off x="3194050" y="1795463"/>
            <a:ext cx="5568950" cy="4271362"/>
          </a:xfrm>
          <a:prstGeom prst="rect">
            <a:avLst/>
          </a:prstGeom>
        </p:spPr>
        <p:txBody>
          <a:bodyPr>
            <a:spAutoFit/>
          </a:bodyPr>
          <a:lstStyle/>
          <a:p>
            <a:pPr marL="285750" indent="-285750" eaLnBrk="1" hangingPunct="1">
              <a:lnSpc>
                <a:spcPct val="125000"/>
              </a:lnSpc>
              <a:buClr>
                <a:srgbClr val="C00000"/>
              </a:buClr>
              <a:buSzPct val="100000"/>
              <a:buFont typeface="Wingdings" panose="05000000000000000000" pitchFamily="2" charset="2"/>
              <a:buChar char="p"/>
              <a:defRPr/>
            </a:pPr>
            <a:r>
              <a:rPr lang="en-US" altLang="zh-CN" sz="2000" dirty="0">
                <a:latin typeface="+mn-ea"/>
                <a:ea typeface="+mn-ea"/>
              </a:rPr>
              <a:t>1946</a:t>
            </a:r>
            <a:r>
              <a:rPr lang="zh-CN" altLang="en-US" sz="2000" dirty="0">
                <a:latin typeface="+mn-ea"/>
                <a:ea typeface="+mn-ea"/>
              </a:rPr>
              <a:t>～</a:t>
            </a:r>
            <a:r>
              <a:rPr lang="en-US" altLang="zh-CN" sz="2000" dirty="0">
                <a:latin typeface="+mn-ea"/>
                <a:ea typeface="+mn-ea"/>
              </a:rPr>
              <a:t>1948</a:t>
            </a:r>
            <a:r>
              <a:rPr lang="zh-CN" altLang="en-US" sz="2000" dirty="0">
                <a:latin typeface="+mn-ea"/>
                <a:ea typeface="+mn-ea"/>
              </a:rPr>
              <a:t>年在</a:t>
            </a:r>
            <a:r>
              <a:rPr lang="zh-CN" altLang="en-US" sz="2000" dirty="0">
                <a:solidFill>
                  <a:srgbClr val="0070C0"/>
                </a:solidFill>
                <a:latin typeface="+mn-ea"/>
                <a:ea typeface="+mn-ea"/>
              </a:rPr>
              <a:t>普林斯顿大学</a:t>
            </a:r>
            <a:r>
              <a:rPr lang="zh-CN" altLang="en-US" sz="2000" dirty="0">
                <a:latin typeface="+mn-ea"/>
                <a:ea typeface="+mn-ea"/>
              </a:rPr>
              <a:t>任助理教授</a:t>
            </a:r>
            <a:r>
              <a:rPr lang="en-US" altLang="zh-CN" sz="2000" dirty="0">
                <a:latin typeface="+mn-ea"/>
                <a:ea typeface="+mn-ea"/>
              </a:rPr>
              <a:t>,</a:t>
            </a:r>
          </a:p>
          <a:p>
            <a:pPr marL="285750" indent="-285750" eaLnBrk="1" hangingPunct="1">
              <a:lnSpc>
                <a:spcPct val="125000"/>
              </a:lnSpc>
              <a:buClr>
                <a:srgbClr val="C00000"/>
              </a:buClr>
              <a:buSzPct val="100000"/>
              <a:buFont typeface="Wingdings" panose="05000000000000000000" pitchFamily="2" charset="2"/>
              <a:buChar char="p"/>
              <a:defRPr/>
            </a:pPr>
            <a:r>
              <a:rPr lang="en-US" altLang="zh-CN" sz="2000" dirty="0">
                <a:latin typeface="+mn-ea"/>
                <a:ea typeface="+mn-ea"/>
              </a:rPr>
              <a:t>1948</a:t>
            </a:r>
            <a:r>
              <a:rPr lang="zh-CN" altLang="en-US" sz="2000" dirty="0">
                <a:latin typeface="+mn-ea"/>
                <a:ea typeface="+mn-ea"/>
              </a:rPr>
              <a:t>～</a:t>
            </a:r>
            <a:r>
              <a:rPr lang="en-US" altLang="zh-CN" sz="2000" dirty="0">
                <a:latin typeface="+mn-ea"/>
                <a:ea typeface="+mn-ea"/>
              </a:rPr>
              <a:t>1952</a:t>
            </a:r>
            <a:r>
              <a:rPr lang="zh-CN" altLang="en-US" sz="2000" dirty="0">
                <a:latin typeface="+mn-ea"/>
                <a:ea typeface="+mn-ea"/>
              </a:rPr>
              <a:t>年在</a:t>
            </a:r>
            <a:r>
              <a:rPr lang="zh-CN" altLang="en-US" sz="2000" dirty="0">
                <a:solidFill>
                  <a:srgbClr val="0070C0"/>
                </a:solidFill>
                <a:latin typeface="+mn-ea"/>
                <a:ea typeface="+mn-ea"/>
              </a:rPr>
              <a:t>斯坦福大学</a:t>
            </a:r>
            <a:r>
              <a:rPr lang="zh-CN" altLang="en-US" sz="2000" dirty="0">
                <a:latin typeface="+mn-ea"/>
                <a:ea typeface="+mn-ea"/>
              </a:rPr>
              <a:t>任副教授</a:t>
            </a:r>
            <a:r>
              <a:rPr lang="en-US" altLang="zh-CN" sz="2000" dirty="0">
                <a:latin typeface="+mn-ea"/>
                <a:ea typeface="+mn-ea"/>
              </a:rPr>
              <a:t>,</a:t>
            </a:r>
          </a:p>
          <a:p>
            <a:pPr marL="285750" indent="-285750" eaLnBrk="1" hangingPunct="1">
              <a:lnSpc>
                <a:spcPct val="125000"/>
              </a:lnSpc>
              <a:buClr>
                <a:srgbClr val="C00000"/>
              </a:buClr>
              <a:buSzPct val="100000"/>
              <a:buFont typeface="Wingdings" panose="05000000000000000000" pitchFamily="2" charset="2"/>
              <a:buChar char="p"/>
              <a:defRPr/>
            </a:pPr>
            <a:r>
              <a:rPr lang="en-US" altLang="zh-CN" sz="2000" dirty="0">
                <a:latin typeface="+mn-ea"/>
                <a:ea typeface="+mn-ea"/>
              </a:rPr>
              <a:t>1953</a:t>
            </a:r>
            <a:r>
              <a:rPr lang="zh-CN" altLang="en-US" sz="2000" dirty="0">
                <a:latin typeface="+mn-ea"/>
                <a:ea typeface="+mn-ea"/>
              </a:rPr>
              <a:t>～</a:t>
            </a:r>
            <a:r>
              <a:rPr lang="en-US" altLang="zh-CN" sz="2000" dirty="0">
                <a:latin typeface="+mn-ea"/>
                <a:ea typeface="+mn-ea"/>
              </a:rPr>
              <a:t>1956</a:t>
            </a:r>
            <a:r>
              <a:rPr lang="zh-CN" altLang="en-US" sz="2000" dirty="0">
                <a:latin typeface="+mn-ea"/>
                <a:ea typeface="+mn-ea"/>
              </a:rPr>
              <a:t>年在美国</a:t>
            </a:r>
            <a:r>
              <a:rPr lang="zh-CN" altLang="en-US" sz="2000" dirty="0">
                <a:solidFill>
                  <a:srgbClr val="0070C0"/>
                </a:solidFill>
                <a:latin typeface="+mn-ea"/>
                <a:ea typeface="+mn-ea"/>
              </a:rPr>
              <a:t>兰德公司</a:t>
            </a:r>
            <a:r>
              <a:rPr lang="zh-CN" altLang="en-US" sz="2000" dirty="0">
                <a:latin typeface="+mn-ea"/>
                <a:ea typeface="+mn-ea"/>
              </a:rPr>
              <a:t>任研究员，</a:t>
            </a:r>
            <a:endParaRPr lang="en-US" altLang="zh-CN" sz="2000" dirty="0">
              <a:latin typeface="+mn-ea"/>
              <a:ea typeface="+mn-ea"/>
            </a:endParaRPr>
          </a:p>
          <a:p>
            <a:pPr marL="285750" indent="-285750" eaLnBrk="1" hangingPunct="1">
              <a:lnSpc>
                <a:spcPct val="125000"/>
              </a:lnSpc>
              <a:buClr>
                <a:srgbClr val="C00000"/>
              </a:buClr>
              <a:buSzPct val="100000"/>
              <a:buFont typeface="Wingdings" panose="05000000000000000000" pitchFamily="2" charset="2"/>
              <a:buChar char="p"/>
              <a:defRPr/>
            </a:pPr>
            <a:r>
              <a:rPr lang="en-US" altLang="zh-CN" sz="2000" dirty="0">
                <a:latin typeface="+mn-ea"/>
                <a:ea typeface="+mn-ea"/>
              </a:rPr>
              <a:t>1956</a:t>
            </a:r>
            <a:r>
              <a:rPr lang="zh-CN" altLang="en-US" sz="2000" dirty="0">
                <a:latin typeface="+mn-ea"/>
                <a:ea typeface="+mn-ea"/>
              </a:rPr>
              <a:t>年后在</a:t>
            </a:r>
            <a:r>
              <a:rPr lang="zh-CN" altLang="en-US" sz="2000" dirty="0">
                <a:solidFill>
                  <a:srgbClr val="0070C0"/>
                </a:solidFill>
                <a:latin typeface="+mn-ea"/>
                <a:ea typeface="+mn-ea"/>
              </a:rPr>
              <a:t>南加利福尼亚大学</a:t>
            </a:r>
            <a:r>
              <a:rPr lang="zh-CN" altLang="en-US" sz="2000" dirty="0">
                <a:latin typeface="+mn-ea"/>
                <a:ea typeface="+mn-ea"/>
              </a:rPr>
              <a:t>任数学教授、电气工程教授和医学教授。</a:t>
            </a:r>
            <a:endParaRPr lang="en-US" altLang="zh-CN" sz="2000" dirty="0">
              <a:latin typeface="+mn-ea"/>
              <a:ea typeface="+mn-ea"/>
            </a:endParaRPr>
          </a:p>
          <a:p>
            <a:pPr marL="285750" indent="-285750" eaLnBrk="1" hangingPunct="1">
              <a:lnSpc>
                <a:spcPct val="125000"/>
              </a:lnSpc>
              <a:buClr>
                <a:srgbClr val="C00000"/>
              </a:buClr>
              <a:buSzPct val="100000"/>
              <a:buFont typeface="Wingdings" panose="05000000000000000000" pitchFamily="2" charset="2"/>
              <a:buChar char="p"/>
              <a:defRPr/>
            </a:pPr>
            <a:r>
              <a:rPr lang="en-US" altLang="zh-CN" sz="2000" dirty="0">
                <a:latin typeface="+mn-ea"/>
                <a:ea typeface="+mn-ea"/>
              </a:rPr>
              <a:t>1955</a:t>
            </a:r>
            <a:r>
              <a:rPr lang="zh-CN" altLang="en-US" sz="2000" dirty="0">
                <a:latin typeface="+mn-ea"/>
                <a:ea typeface="+mn-ea"/>
              </a:rPr>
              <a:t>年后贝尔曼开始研究算法、计算机仿真和人工智能，把</a:t>
            </a:r>
            <a:r>
              <a:rPr lang="zh-CN" altLang="en-US" sz="2000" dirty="0">
                <a:solidFill>
                  <a:srgbClr val="FF0000"/>
                </a:solidFill>
                <a:latin typeface="+mn-ea"/>
                <a:ea typeface="+mn-ea"/>
              </a:rPr>
              <a:t>建模与仿真</a:t>
            </a:r>
            <a:r>
              <a:rPr lang="zh-CN" altLang="en-US" sz="2000" dirty="0">
                <a:latin typeface="+mn-ea"/>
                <a:ea typeface="+mn-ea"/>
              </a:rPr>
              <a:t>等数学方法应用到工程、经济、社会和医学等方面，取得许多成就。</a:t>
            </a:r>
            <a:endParaRPr lang="en-US" altLang="zh-CN" sz="2000" dirty="0">
              <a:latin typeface="+mn-ea"/>
              <a:ea typeface="+mn-ea"/>
            </a:endParaRPr>
          </a:p>
          <a:p>
            <a:pPr marL="285750" indent="-285750" eaLnBrk="1" hangingPunct="1">
              <a:lnSpc>
                <a:spcPct val="125000"/>
              </a:lnSpc>
              <a:buClr>
                <a:srgbClr val="C00000"/>
              </a:buClr>
              <a:buSzPct val="100000"/>
              <a:buFont typeface="Wingdings" panose="05000000000000000000" pitchFamily="2" charset="2"/>
              <a:buChar char="p"/>
              <a:defRPr/>
            </a:pPr>
            <a:r>
              <a:rPr lang="zh-CN" altLang="en-US" sz="2000" dirty="0">
                <a:latin typeface="+mn-ea"/>
                <a:ea typeface="+mn-ea"/>
              </a:rPr>
              <a:t>贝尔曼对稳定性的矩阵理论、时滞系统、自适应控制过程、分岔理论、微分和积分不等式等方面都有过贡献。</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74675" y="762000"/>
            <a:ext cx="6816725" cy="758825"/>
          </a:xfrm>
        </p:spPr>
        <p:txBody>
          <a:bodyPr/>
          <a:lstStyle/>
          <a:p>
            <a:pPr eaLnBrk="1" hangingPunct="1"/>
            <a:r>
              <a:rPr lang="zh-CN" altLang="en-US" dirty="0"/>
              <a:t>第</a:t>
            </a:r>
            <a:r>
              <a:rPr lang="en-US" altLang="zh-CN" dirty="0"/>
              <a:t>8</a:t>
            </a:r>
            <a:r>
              <a:rPr lang="zh-CN" altLang="en-US" dirty="0"/>
              <a:t>章  动态规划</a:t>
            </a:r>
          </a:p>
        </p:txBody>
      </p:sp>
      <p:sp>
        <p:nvSpPr>
          <p:cNvPr id="22531" name="Rectangle 3"/>
          <p:cNvSpPr>
            <a:spLocks noGrp="1" noChangeArrowheads="1"/>
          </p:cNvSpPr>
          <p:nvPr>
            <p:ph type="body" idx="1"/>
          </p:nvPr>
        </p:nvSpPr>
        <p:spPr>
          <a:xfrm>
            <a:off x="644525" y="1676400"/>
            <a:ext cx="6858000" cy="4267200"/>
          </a:xfrm>
        </p:spPr>
        <p:txBody>
          <a:bodyPr/>
          <a:lstStyle/>
          <a:p>
            <a:pPr lvl="1" eaLnBrk="1" hangingPunct="1">
              <a:lnSpc>
                <a:spcPct val="150000"/>
              </a:lnSpc>
            </a:pPr>
            <a:r>
              <a:rPr lang="zh-CN" altLang="en-US" dirty="0">
                <a:solidFill>
                  <a:srgbClr val="333333"/>
                </a:solidFill>
                <a:latin typeface="arial" panose="020B0604020202020204" pitchFamily="34" charset="0"/>
              </a:rPr>
              <a:t>多阶段决策过程及实例</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动态规划的基本概念</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动态规划的基本方程</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动态规划的最优性原理</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动态规划的求解方法</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动态规划的管理应用</a:t>
            </a:r>
            <a:endParaRPr lang="en-US" altLang="zh-CN" dirty="0">
              <a:solidFill>
                <a:srgbClr val="333333"/>
              </a:solidFill>
              <a:latin typeface="Arial" panose="020B0604020202020204" pitchFamily="34" charset="0"/>
            </a:endParaRPr>
          </a:p>
          <a:p>
            <a:pPr marL="909637" lvl="2" indent="0" eaLnBrk="1" hangingPunct="1">
              <a:lnSpc>
                <a:spcPct val="120000"/>
              </a:lnSpc>
              <a:buNone/>
            </a:pPr>
            <a:endParaRPr lang="en-US" altLang="zh-CN" sz="2500" dirty="0">
              <a:solidFill>
                <a:srgbClr val="333333"/>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0607767-118F-4EBD-B9EC-3C97210EFD85}" type="slidenum">
              <a:rPr lang="en-US" altLang="zh-CN"/>
              <a:pPr/>
              <a:t>8</a:t>
            </a:fld>
            <a:endParaRPr lang="en-US" altLang="zh-CN"/>
          </a:p>
        </p:txBody>
      </p:sp>
      <p:sp>
        <p:nvSpPr>
          <p:cNvPr id="23555" name="Rectangle 2"/>
          <p:cNvSpPr>
            <a:spLocks noGrp="1" noChangeArrowheads="1"/>
          </p:cNvSpPr>
          <p:nvPr>
            <p:ph type="title"/>
          </p:nvPr>
        </p:nvSpPr>
        <p:spPr>
          <a:xfrm>
            <a:off x="574675" y="762000"/>
            <a:ext cx="8001000" cy="758825"/>
          </a:xfrm>
        </p:spPr>
        <p:txBody>
          <a:bodyPr/>
          <a:lstStyle/>
          <a:p>
            <a:r>
              <a:rPr lang="en-US" altLang="zh-CN" sz="3200" dirty="0"/>
              <a:t>1 </a:t>
            </a:r>
            <a:r>
              <a:rPr lang="zh-CN" altLang="en-US" sz="3200" dirty="0">
                <a:solidFill>
                  <a:srgbClr val="333333"/>
                </a:solidFill>
                <a:latin typeface="arial" panose="020B0604020202020204" pitchFamily="34" charset="0"/>
              </a:rPr>
              <a:t>多阶段决策过程及实例</a:t>
            </a:r>
            <a:endParaRPr lang="zh-CN" altLang="en-US" sz="3200" dirty="0"/>
          </a:p>
        </p:txBody>
      </p:sp>
      <p:sp>
        <p:nvSpPr>
          <p:cNvPr id="23556" name="Rectangle 3"/>
          <p:cNvSpPr>
            <a:spLocks noGrp="1" noChangeArrowheads="1"/>
          </p:cNvSpPr>
          <p:nvPr>
            <p:ph type="body" idx="1"/>
          </p:nvPr>
        </p:nvSpPr>
        <p:spPr>
          <a:xfrm>
            <a:off x="558800" y="1704975"/>
            <a:ext cx="8051800" cy="4238625"/>
          </a:xfrm>
        </p:spPr>
        <p:txBody>
          <a:bodyPr/>
          <a:lstStyle/>
          <a:p>
            <a:pPr algn="just"/>
            <a:r>
              <a:rPr lang="zh-CN" altLang="en-US" sz="2400" b="1" dirty="0"/>
              <a:t>多阶段决策过程</a:t>
            </a:r>
          </a:p>
          <a:p>
            <a:pPr lvl="1" algn="just">
              <a:lnSpc>
                <a:spcPct val="150000"/>
              </a:lnSpc>
            </a:pPr>
            <a:r>
              <a:rPr lang="zh-CN" altLang="en-US" sz="2000" dirty="0"/>
              <a:t>在生产和科学实验中，有一类活动的过程，由于它的特殊性，可将</a:t>
            </a:r>
            <a:r>
              <a:rPr lang="zh-CN" altLang="en-US" sz="2000" b="1" dirty="0">
                <a:solidFill>
                  <a:srgbClr val="0070C0"/>
                </a:solidFill>
              </a:rPr>
              <a:t>过程</a:t>
            </a:r>
            <a:r>
              <a:rPr lang="zh-CN" altLang="en-US" sz="2000" dirty="0"/>
              <a:t>分为若干个互相联系的</a:t>
            </a:r>
            <a:r>
              <a:rPr lang="zh-CN" altLang="en-US" sz="2000" b="1" dirty="0">
                <a:solidFill>
                  <a:srgbClr val="0070C0"/>
                </a:solidFill>
              </a:rPr>
              <a:t>阶段</a:t>
            </a:r>
            <a:r>
              <a:rPr lang="zh-CN" altLang="en-US" sz="2000" dirty="0"/>
              <a:t>，在它的每一个阶段都需要作出</a:t>
            </a:r>
            <a:r>
              <a:rPr lang="zh-CN" altLang="en-US" sz="2000" b="1" dirty="0">
                <a:solidFill>
                  <a:srgbClr val="0070C0"/>
                </a:solidFill>
              </a:rPr>
              <a:t>决策</a:t>
            </a:r>
            <a:r>
              <a:rPr lang="zh-CN" altLang="en-US" sz="2000" dirty="0"/>
              <a:t>，从而使整个过程</a:t>
            </a:r>
            <a:r>
              <a:rPr lang="zh-CN" altLang="en-US" sz="2000" b="1" dirty="0">
                <a:solidFill>
                  <a:srgbClr val="0070C0"/>
                </a:solidFill>
              </a:rPr>
              <a:t>达到最好的活动效果</a:t>
            </a:r>
            <a:r>
              <a:rPr lang="zh-CN" altLang="en-US" sz="2000" dirty="0"/>
              <a:t>。</a:t>
            </a:r>
            <a:endParaRPr lang="en-US" altLang="zh-CN" sz="2000" dirty="0"/>
          </a:p>
          <a:p>
            <a:pPr lvl="1" algn="just">
              <a:lnSpc>
                <a:spcPct val="150000"/>
              </a:lnSpc>
            </a:pPr>
            <a:r>
              <a:rPr lang="zh-CN" altLang="en-US" sz="2000" dirty="0"/>
              <a:t>因此，各个阶段决策的选取不是任意确定的，它依赖于当前面临的</a:t>
            </a:r>
            <a:r>
              <a:rPr lang="zh-CN" altLang="en-US" sz="2000" b="1" dirty="0">
                <a:solidFill>
                  <a:srgbClr val="C00000"/>
                </a:solidFill>
              </a:rPr>
              <a:t>状态</a:t>
            </a:r>
            <a:r>
              <a:rPr lang="zh-CN" altLang="en-US" sz="2000" dirty="0"/>
              <a:t>，又影响以后的发展。</a:t>
            </a:r>
            <a:endParaRPr lang="en-US" altLang="zh-CN" sz="2000" dirty="0"/>
          </a:p>
          <a:p>
            <a:pPr lvl="1" algn="just">
              <a:lnSpc>
                <a:spcPct val="150000"/>
              </a:lnSpc>
            </a:pPr>
            <a:r>
              <a:rPr lang="zh-CN" altLang="en-US" sz="2000" dirty="0"/>
              <a:t>当各个阶段决策确定后，就组成了一个</a:t>
            </a:r>
            <a:r>
              <a:rPr lang="zh-CN" altLang="en-US" sz="2000" b="1" dirty="0">
                <a:solidFill>
                  <a:srgbClr val="0070C0"/>
                </a:solidFill>
              </a:rPr>
              <a:t>决策序列</a:t>
            </a:r>
            <a:r>
              <a:rPr lang="zh-CN" altLang="en-US" sz="2000" dirty="0"/>
              <a:t>，因而也就决定了整个过程的一条活动路线。</a:t>
            </a:r>
            <a:endParaRPr lang="en-US" altLang="zh-CN" sz="2000" dirty="0"/>
          </a:p>
        </p:txBody>
      </p:sp>
    </p:spTree>
    <p:extLst>
      <p:ext uri="{BB962C8B-B14F-4D97-AF65-F5344CB8AC3E}">
        <p14:creationId xmlns:p14="http://schemas.microsoft.com/office/powerpoint/2010/main" val="2399148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0607767-118F-4EBD-B9EC-3C97210EFD85}" type="slidenum">
              <a:rPr lang="en-US" altLang="zh-CN"/>
              <a:pPr/>
              <a:t>9</a:t>
            </a:fld>
            <a:endParaRPr lang="en-US" altLang="zh-CN"/>
          </a:p>
        </p:txBody>
      </p:sp>
      <p:sp>
        <p:nvSpPr>
          <p:cNvPr id="23555" name="Rectangle 2"/>
          <p:cNvSpPr>
            <a:spLocks noGrp="1" noChangeArrowheads="1"/>
          </p:cNvSpPr>
          <p:nvPr>
            <p:ph type="title"/>
          </p:nvPr>
        </p:nvSpPr>
        <p:spPr>
          <a:xfrm>
            <a:off x="574675" y="838200"/>
            <a:ext cx="8001000" cy="682625"/>
          </a:xfrm>
        </p:spPr>
        <p:txBody>
          <a:bodyPr/>
          <a:lstStyle/>
          <a:p>
            <a:r>
              <a:rPr lang="en-US" altLang="zh-CN" sz="3200" dirty="0"/>
              <a:t>1 </a:t>
            </a:r>
            <a:r>
              <a:rPr lang="zh-CN" altLang="en-US" sz="3200" dirty="0">
                <a:solidFill>
                  <a:srgbClr val="333333"/>
                </a:solidFill>
                <a:latin typeface="arial" panose="020B0604020202020204" pitchFamily="34" charset="0"/>
              </a:rPr>
              <a:t>多阶段决策过程及实例</a:t>
            </a:r>
            <a:endParaRPr lang="zh-CN" altLang="en-US" sz="3200" dirty="0"/>
          </a:p>
        </p:txBody>
      </p:sp>
      <p:sp>
        <p:nvSpPr>
          <p:cNvPr id="23556" name="Rectangle 3"/>
          <p:cNvSpPr>
            <a:spLocks noGrp="1" noChangeArrowheads="1"/>
          </p:cNvSpPr>
          <p:nvPr>
            <p:ph type="body" idx="1"/>
          </p:nvPr>
        </p:nvSpPr>
        <p:spPr>
          <a:xfrm>
            <a:off x="574675" y="1628774"/>
            <a:ext cx="7959725" cy="1976440"/>
          </a:xfrm>
        </p:spPr>
        <p:txBody>
          <a:bodyPr/>
          <a:lstStyle/>
          <a:p>
            <a:pPr algn="just"/>
            <a:r>
              <a:rPr lang="zh-CN" altLang="en-US" sz="2400" b="1" dirty="0"/>
              <a:t>多阶段决策过程</a:t>
            </a:r>
          </a:p>
          <a:p>
            <a:pPr lvl="1" algn="just">
              <a:lnSpc>
                <a:spcPct val="120000"/>
              </a:lnSpc>
            </a:pPr>
            <a:r>
              <a:rPr lang="zh-CN" altLang="en-US" sz="2000" dirty="0"/>
              <a:t>将</a:t>
            </a:r>
            <a:r>
              <a:rPr lang="zh-CN" altLang="en-US" sz="2000" b="1" dirty="0">
                <a:solidFill>
                  <a:srgbClr val="0070C0"/>
                </a:solidFill>
              </a:rPr>
              <a:t>过程</a:t>
            </a:r>
            <a:r>
              <a:rPr lang="zh-CN" altLang="en-US" sz="2000" dirty="0"/>
              <a:t>分为</a:t>
            </a:r>
            <a:r>
              <a:rPr lang="en-US" altLang="zh-CN" sz="2000" dirty="0"/>
              <a:t>1-n</a:t>
            </a:r>
            <a:r>
              <a:rPr lang="zh-CN" altLang="en-US" sz="2000" dirty="0"/>
              <a:t>个互相联系的</a:t>
            </a:r>
            <a:r>
              <a:rPr lang="zh-CN" altLang="en-US" sz="2000" b="1" dirty="0">
                <a:solidFill>
                  <a:srgbClr val="0070C0"/>
                </a:solidFill>
              </a:rPr>
              <a:t>阶段</a:t>
            </a:r>
            <a:r>
              <a:rPr lang="zh-CN" altLang="en-US" sz="2000" dirty="0"/>
              <a:t>，在每个阶段都需要作出</a:t>
            </a:r>
            <a:r>
              <a:rPr lang="zh-CN" altLang="en-US" sz="2000" b="1" dirty="0">
                <a:solidFill>
                  <a:srgbClr val="0070C0"/>
                </a:solidFill>
              </a:rPr>
              <a:t>决策</a:t>
            </a:r>
            <a:r>
              <a:rPr lang="zh-CN" altLang="en-US" sz="2000" dirty="0"/>
              <a:t>。各阶段决策的选取依赖于当前</a:t>
            </a:r>
            <a:r>
              <a:rPr lang="zh-CN" altLang="en-US" sz="2000" b="1" dirty="0">
                <a:solidFill>
                  <a:srgbClr val="C00000"/>
                </a:solidFill>
              </a:rPr>
              <a:t>状态</a:t>
            </a:r>
            <a:r>
              <a:rPr lang="zh-CN" altLang="en-US" sz="2000" dirty="0"/>
              <a:t>，又影响以后的发展。</a:t>
            </a:r>
            <a:endParaRPr lang="en-US" altLang="zh-CN" sz="2000" dirty="0"/>
          </a:p>
          <a:p>
            <a:pPr lvl="1" algn="just">
              <a:lnSpc>
                <a:spcPct val="120000"/>
              </a:lnSpc>
            </a:pPr>
            <a:r>
              <a:rPr lang="zh-CN" altLang="en-US" sz="2000" dirty="0"/>
              <a:t>当各个阶段决策确定后，就组成了一个</a:t>
            </a:r>
            <a:r>
              <a:rPr lang="zh-CN" altLang="en-US" sz="2000" b="1" dirty="0">
                <a:solidFill>
                  <a:srgbClr val="0070C0"/>
                </a:solidFill>
              </a:rPr>
              <a:t>决策序列</a:t>
            </a:r>
            <a:r>
              <a:rPr lang="zh-CN" altLang="en-US" sz="2000" dirty="0"/>
              <a:t>，因而也就决定了整个过程的一条活动路线。</a:t>
            </a:r>
            <a:endParaRPr lang="en-US" altLang="zh-CN" sz="2000" dirty="0"/>
          </a:p>
        </p:txBody>
      </p:sp>
      <p:pic>
        <p:nvPicPr>
          <p:cNvPr id="8" name="Picture 4" descr="6096355461398087791793"/>
          <p:cNvPicPr>
            <a:picLocks noChangeAspect="1" noChangeArrowheads="1"/>
          </p:cNvPicPr>
          <p:nvPr/>
        </p:nvPicPr>
        <p:blipFill>
          <a:blip r:embed="rId2"/>
          <a:srcRect/>
          <a:stretch>
            <a:fillRect/>
          </a:stretch>
        </p:blipFill>
        <p:spPr bwMode="auto">
          <a:xfrm>
            <a:off x="1371600" y="4981575"/>
            <a:ext cx="6142038" cy="962025"/>
          </a:xfrm>
          <a:prstGeom prst="rect">
            <a:avLst/>
          </a:prstGeom>
          <a:solidFill>
            <a:schemeClr val="bg1">
              <a:lumMod val="75000"/>
            </a:schemeClr>
          </a:solidFill>
          <a:ln>
            <a:noFill/>
          </a:ln>
          <a:effectLst/>
        </p:spPr>
      </p:pic>
      <p:sp>
        <p:nvSpPr>
          <p:cNvPr id="23558" name="Rectangle 3"/>
          <p:cNvSpPr txBox="1">
            <a:spLocks noChangeArrowheads="1"/>
          </p:cNvSpPr>
          <p:nvPr/>
        </p:nvSpPr>
        <p:spPr bwMode="auto">
          <a:xfrm>
            <a:off x="2590800" y="6096000"/>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buClr>
                <a:schemeClr val="folHlink"/>
              </a:buClr>
              <a:buSzPct val="60000"/>
              <a:buFont typeface="Wingdings" panose="05000000000000000000" pitchFamily="2" charset="2"/>
              <a:buNone/>
            </a:pPr>
            <a:r>
              <a:rPr lang="zh-CN" altLang="en-US" sz="2000" dirty="0">
                <a:latin typeface="黑体" panose="02010609060101010101" pitchFamily="49" charset="-122"/>
                <a:ea typeface="黑体" panose="02010609060101010101" pitchFamily="49" charset="-122"/>
              </a:rPr>
              <a:t>多阶段决策过程示意图</a:t>
            </a:r>
          </a:p>
        </p:txBody>
      </p:sp>
      <p:sp>
        <p:nvSpPr>
          <p:cNvPr id="7" name="Rectangle 3">
            <a:extLst>
              <a:ext uri="{FF2B5EF4-FFF2-40B4-BE49-F238E27FC236}">
                <a16:creationId xmlns:a16="http://schemas.microsoft.com/office/drawing/2014/main" id="{5DC14452-DEA8-4511-89DC-77EDEA48DEDD}"/>
              </a:ext>
            </a:extLst>
          </p:cNvPr>
          <p:cNvSpPr txBox="1">
            <a:spLocks noChangeArrowheads="1"/>
          </p:cNvSpPr>
          <p:nvPr/>
        </p:nvSpPr>
        <p:spPr bwMode="auto">
          <a:xfrm>
            <a:off x="574674" y="3757614"/>
            <a:ext cx="7959725" cy="1119186"/>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lvl="1" algn="just">
              <a:lnSpc>
                <a:spcPct val="150000"/>
              </a:lnSpc>
              <a:spcBef>
                <a:spcPts val="600"/>
              </a:spcBef>
            </a:pPr>
            <a:r>
              <a:rPr lang="zh-CN" altLang="en-US" sz="2000" kern="0" dirty="0"/>
              <a:t>这种把一个问题可看作是一个前后关联具有链状结构的多阶段过程就称为</a:t>
            </a:r>
            <a:r>
              <a:rPr lang="zh-CN" altLang="en-US" sz="2000" u="sng" kern="0" dirty="0">
                <a:solidFill>
                  <a:srgbClr val="FF0000"/>
                </a:solidFill>
              </a:rPr>
              <a:t>多阶段决策过程</a:t>
            </a:r>
            <a:r>
              <a:rPr lang="zh-CN" altLang="en-US" sz="2000" kern="0" dirty="0"/>
              <a:t>，也称</a:t>
            </a:r>
            <a:r>
              <a:rPr lang="zh-CN" altLang="en-US" sz="2000" b="1" kern="0" dirty="0">
                <a:solidFill>
                  <a:srgbClr val="0070C0"/>
                </a:solidFill>
              </a:rPr>
              <a:t>序贯决策过程</a:t>
            </a:r>
            <a:r>
              <a:rPr lang="zh-CN" altLang="en-US" sz="2000" kern="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15950" y="642938"/>
            <a:ext cx="7793038" cy="668337"/>
          </a:xfrm>
        </p:spPr>
        <p:txBody>
          <a:bodyPr/>
          <a:lstStyle/>
          <a:p>
            <a:pPr eaLnBrk="1" hangingPunct="1">
              <a:defRPr/>
            </a:pPr>
            <a:r>
              <a:rPr lang="zh-CN" altLang="en-US" sz="3200" dirty="0">
                <a:latin typeface="+mn-ea"/>
                <a:ea typeface="+mn-ea"/>
              </a:rPr>
              <a:t>示例</a:t>
            </a:r>
            <a:r>
              <a:rPr lang="en-US" altLang="zh-CN" sz="3200" dirty="0">
                <a:latin typeface="+mn-ea"/>
                <a:ea typeface="+mn-ea"/>
              </a:rPr>
              <a:t>1</a:t>
            </a:r>
            <a:r>
              <a:rPr lang="zh-CN" altLang="en-US" sz="3200" dirty="0">
                <a:latin typeface="+mn-ea"/>
                <a:ea typeface="+mn-ea"/>
              </a:rPr>
              <a:t>：最短路问题</a:t>
            </a:r>
            <a:endParaRPr lang="en-US" altLang="zh-CN" sz="3200" dirty="0">
              <a:latin typeface="+mn-ea"/>
              <a:ea typeface="+mn-ea"/>
            </a:endParaRPr>
          </a:p>
        </p:txBody>
      </p:sp>
      <p:sp>
        <p:nvSpPr>
          <p:cNvPr id="24579" name="Rectangle 3"/>
          <p:cNvSpPr>
            <a:spLocks noGrp="1" noChangeArrowheads="1"/>
          </p:cNvSpPr>
          <p:nvPr>
            <p:ph idx="1"/>
          </p:nvPr>
        </p:nvSpPr>
        <p:spPr>
          <a:xfrm>
            <a:off x="615950" y="1690688"/>
            <a:ext cx="7916863" cy="1509712"/>
          </a:xfrm>
        </p:spPr>
        <p:txBody>
          <a:bodyPr/>
          <a:lstStyle/>
          <a:p>
            <a:pPr marL="452438" indent="-452438" algn="just" eaLnBrk="1" hangingPunct="1">
              <a:lnSpc>
                <a:spcPct val="120000"/>
              </a:lnSpc>
            </a:pPr>
            <a:r>
              <a:rPr lang="zh-CN" altLang="en-US" sz="2400" dirty="0">
                <a:latin typeface="宋体" panose="02010600030101010101" pitchFamily="2" charset="-122"/>
              </a:rPr>
              <a:t>给定一个线路网络，两点之间连线上的数字表示两点间的</a:t>
            </a:r>
            <a:r>
              <a:rPr lang="zh-CN" altLang="en-US" sz="2400" dirty="0">
                <a:solidFill>
                  <a:srgbClr val="0070C0"/>
                </a:solidFill>
                <a:latin typeface="宋体" panose="02010600030101010101" pitchFamily="2" charset="-122"/>
              </a:rPr>
              <a:t>距离</a:t>
            </a:r>
            <a:r>
              <a:rPr lang="en-US" altLang="zh-CN" sz="2400" dirty="0">
                <a:solidFill>
                  <a:srgbClr val="0070C0"/>
                </a:solidFill>
                <a:latin typeface="宋体" panose="02010600030101010101" pitchFamily="2" charset="-122"/>
              </a:rPr>
              <a:t>(</a:t>
            </a:r>
            <a:r>
              <a:rPr lang="zh-CN" altLang="en-US" sz="2400" dirty="0">
                <a:solidFill>
                  <a:srgbClr val="0070C0"/>
                </a:solidFill>
                <a:latin typeface="宋体" panose="02010600030101010101" pitchFamily="2" charset="-122"/>
              </a:rPr>
              <a:t>或费用</a:t>
            </a:r>
            <a:r>
              <a:rPr lang="en-US" altLang="zh-CN" sz="2400" dirty="0">
                <a:solidFill>
                  <a:srgbClr val="0070C0"/>
                </a:solidFill>
                <a:latin typeface="宋体" panose="02010600030101010101" pitchFamily="2" charset="-122"/>
              </a:rPr>
              <a:t>)</a:t>
            </a:r>
            <a:r>
              <a:rPr lang="zh-CN" altLang="en-US" sz="2400" dirty="0">
                <a:latin typeface="宋体" panose="02010600030101010101" pitchFamily="2" charset="-122"/>
              </a:rPr>
              <a:t>，试求一条由</a:t>
            </a:r>
            <a:r>
              <a:rPr lang="en-US" altLang="zh-CN" sz="2400" dirty="0">
                <a:latin typeface="Times New Roman" panose="02020603050405020304" pitchFamily="18" charset="0"/>
              </a:rPr>
              <a:t>A</a:t>
            </a:r>
            <a:r>
              <a:rPr lang="zh-CN" altLang="en-US" sz="2400" dirty="0">
                <a:latin typeface="宋体" panose="02010600030101010101" pitchFamily="2" charset="-122"/>
              </a:rPr>
              <a:t>到</a:t>
            </a:r>
            <a:r>
              <a:rPr lang="en-US" altLang="zh-CN" sz="2400" dirty="0">
                <a:latin typeface="Times New Roman" panose="02020603050405020304" pitchFamily="18" charset="0"/>
              </a:rPr>
              <a:t>G</a:t>
            </a:r>
            <a:r>
              <a:rPr lang="zh-CN" altLang="en-US" sz="2400" dirty="0">
                <a:latin typeface="宋体" panose="02010600030101010101" pitchFamily="2" charset="-122"/>
              </a:rPr>
              <a:t>的铺管线路，使总距离为最短</a:t>
            </a:r>
            <a:r>
              <a:rPr lang="en-US" altLang="zh-CN" sz="2400" dirty="0">
                <a:latin typeface="宋体" panose="02010600030101010101" pitchFamily="2" charset="-122"/>
              </a:rPr>
              <a:t>(</a:t>
            </a:r>
            <a:r>
              <a:rPr lang="zh-CN" altLang="en-US" sz="2400" dirty="0">
                <a:latin typeface="宋体" panose="02010600030101010101" pitchFamily="2" charset="-122"/>
              </a:rPr>
              <a:t>或总费用最小</a:t>
            </a:r>
            <a:r>
              <a:rPr lang="en-US" altLang="zh-CN" sz="2400" dirty="0">
                <a:latin typeface="宋体" panose="02010600030101010101" pitchFamily="2" charset="-122"/>
              </a:rPr>
              <a:t>)</a:t>
            </a:r>
            <a:r>
              <a:rPr lang="zh-CN" altLang="en-US" sz="2400" dirty="0">
                <a:latin typeface="宋体" panose="02010600030101010101" pitchFamily="2" charset="-122"/>
              </a:rPr>
              <a:t>。</a:t>
            </a:r>
            <a:endParaRPr lang="zh-CN" altLang="en-US" sz="2400" dirty="0">
              <a:latin typeface="宋体" panose="02010600030101010101" pitchFamily="2" charset="-122"/>
              <a:hlinkClick r:id="rId2" action="ppaction://hlinksldjump"/>
            </a:endParaRPr>
          </a:p>
        </p:txBody>
      </p:sp>
      <p:pic>
        <p:nvPicPr>
          <p:cNvPr id="24580" name="Picture 4" descr="14075991613980877917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200400"/>
            <a:ext cx="6913563" cy="280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1" name="Rectangle 3"/>
          <p:cNvSpPr txBox="1">
            <a:spLocks noChangeArrowheads="1"/>
          </p:cNvSpPr>
          <p:nvPr/>
        </p:nvSpPr>
        <p:spPr bwMode="auto">
          <a:xfrm>
            <a:off x="3276600" y="6096000"/>
            <a:ext cx="251460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812800" indent="-8128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0" indent="0" algn="just" eaLnBrk="1" hangingPunct="1">
              <a:lnSpc>
                <a:spcPct val="120000"/>
              </a:lnSpc>
              <a:buClr>
                <a:schemeClr val="folHlink"/>
              </a:buClr>
              <a:buSzPct val="60000"/>
              <a:buNone/>
            </a:pPr>
            <a:r>
              <a:rPr lang="zh-CN" altLang="en-US" sz="2000" dirty="0">
                <a:latin typeface="宋体" panose="02010600030101010101" pitchFamily="2" charset="-122"/>
                <a:ea typeface="黑体" panose="02010609060101010101" pitchFamily="49" charset="-122"/>
              </a:rPr>
              <a:t>最短路线问题示意图</a:t>
            </a:r>
            <a:endParaRPr lang="zh-CN" altLang="en-US" sz="2000" dirty="0">
              <a:latin typeface="宋体" panose="02010600030101010101" pitchFamily="2" charset="-122"/>
              <a:ea typeface="黑体" panose="02010609060101010101" pitchFamily="49" charset="-122"/>
              <a:hlinkClick r:id="rId2" action="ppaction://hlinksldjump"/>
            </a:endParaRPr>
          </a:p>
        </p:txBody>
      </p:sp>
      <p:sp>
        <p:nvSpPr>
          <p:cNvPr id="24582"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FC1F3E16-E467-4364-90CF-D622BF4C507A}" type="slidenum">
              <a:rPr lang="zh-CN" altLang="zh-CN" sz="1400">
                <a:latin typeface="Arial" panose="020B0604020202020204" pitchFamily="34" charset="0"/>
              </a:rPr>
              <a:pPr>
                <a:spcBef>
                  <a:spcPct val="0"/>
                </a:spcBef>
                <a:buClr>
                  <a:srgbClr val="000000"/>
                </a:buClr>
                <a:buFontTx/>
                <a:buNone/>
              </a:pPr>
              <a:t>10</a:t>
            </a:fld>
            <a:endParaRPr lang="en-US" altLang="zh-CN" sz="1400">
              <a:latin typeface="Arial" panose="020B0604020202020204" pitchFamily="34" charset="0"/>
            </a:endParaRPr>
          </a:p>
        </p:txBody>
      </p:sp>
      <p:sp>
        <p:nvSpPr>
          <p:cNvPr id="2" name="椭圆 1">
            <a:extLst>
              <a:ext uri="{FF2B5EF4-FFF2-40B4-BE49-F238E27FC236}">
                <a16:creationId xmlns:a16="http://schemas.microsoft.com/office/drawing/2014/main" id="{825F58B5-B188-4898-88A2-31D8C6B6C691}"/>
              </a:ext>
            </a:extLst>
          </p:cNvPr>
          <p:cNvSpPr/>
          <p:nvPr/>
        </p:nvSpPr>
        <p:spPr>
          <a:xfrm>
            <a:off x="1421609" y="4488657"/>
            <a:ext cx="457200" cy="4572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26F1AD4C-A37C-40A6-BC4F-463DCA2E4CDF}"/>
              </a:ext>
            </a:extLst>
          </p:cNvPr>
          <p:cNvSpPr/>
          <p:nvPr/>
        </p:nvSpPr>
        <p:spPr>
          <a:xfrm>
            <a:off x="7467600" y="4191000"/>
            <a:ext cx="457200" cy="45720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idx="1"/>
          </p:nvPr>
        </p:nvSpPr>
        <p:spPr>
          <a:xfrm>
            <a:off x="611188" y="1644650"/>
            <a:ext cx="7999412" cy="1651000"/>
          </a:xfrm>
        </p:spPr>
        <p:txBody>
          <a:bodyPr/>
          <a:lstStyle/>
          <a:p>
            <a:pPr marL="452438" indent="-452438" algn="just" eaLnBrk="1" hangingPunct="1">
              <a:lnSpc>
                <a:spcPct val="120000"/>
              </a:lnSpc>
            </a:pPr>
            <a:r>
              <a:rPr lang="zh-CN" altLang="en-US" sz="2000">
                <a:latin typeface="Times New Roman" panose="02020603050405020304" pitchFamily="18" charset="0"/>
              </a:rPr>
              <a:t>在最短线路问题中，</a:t>
            </a:r>
            <a:r>
              <a:rPr lang="zh-CN" altLang="en-US" sz="2000">
                <a:solidFill>
                  <a:schemeClr val="hlink"/>
                </a:solidFill>
                <a:latin typeface="Times New Roman" panose="02020603050405020304" pitchFamily="18" charset="0"/>
              </a:rPr>
              <a:t>各个阶段决策的选取不是任意确定的，它既依赖于当前所处的位置（或状态），又影响以后的决策（或发展）。</a:t>
            </a:r>
            <a:r>
              <a:rPr lang="zh-CN" altLang="en-US" sz="2000">
                <a:latin typeface="Times New Roman" panose="02020603050405020304" pitchFamily="18" charset="0"/>
              </a:rPr>
              <a:t>当各个阶段决策确定后，就组成了一个决策序列，因而也就决定了整个过程的一条活动路线。</a:t>
            </a:r>
          </a:p>
        </p:txBody>
      </p:sp>
      <p:pic>
        <p:nvPicPr>
          <p:cNvPr id="25603" name="Picture 4" descr="14075991613980877917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295650"/>
            <a:ext cx="6913563" cy="280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4"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8E98B1D-F1F6-4094-AC53-C709FE6C3BBC}" type="slidenum">
              <a:rPr lang="zh-CN" altLang="zh-CN" sz="1400">
                <a:latin typeface="Arial" panose="020B0604020202020204" pitchFamily="34" charset="0"/>
              </a:rPr>
              <a:pPr>
                <a:spcBef>
                  <a:spcPct val="0"/>
                </a:spcBef>
                <a:buClr>
                  <a:srgbClr val="000000"/>
                </a:buClr>
                <a:buFontTx/>
                <a:buNone/>
              </a:pPr>
              <a:t>11</a:t>
            </a:fld>
            <a:endParaRPr lang="en-US" altLang="zh-CN" sz="1400">
              <a:latin typeface="Arial" panose="020B0604020202020204" pitchFamily="34" charset="0"/>
            </a:endParaRPr>
          </a:p>
        </p:txBody>
      </p:sp>
      <p:sp>
        <p:nvSpPr>
          <p:cNvPr id="25605" name="Rectangle 2"/>
          <p:cNvSpPr txBox="1">
            <a:spLocks noChangeArrowheads="1"/>
          </p:cNvSpPr>
          <p:nvPr/>
        </p:nvSpPr>
        <p:spPr bwMode="auto">
          <a:xfrm>
            <a:off x="762000" y="747713"/>
            <a:ext cx="3989388"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3200">
                <a:solidFill>
                  <a:schemeClr val="tx2"/>
                </a:solidFill>
                <a:latin typeface="宋体" panose="02010600030101010101" pitchFamily="2" charset="-122"/>
              </a:rPr>
              <a:t>示例</a:t>
            </a:r>
            <a:r>
              <a:rPr lang="en-US" altLang="zh-CN" sz="3200">
                <a:solidFill>
                  <a:schemeClr val="tx2"/>
                </a:solidFill>
                <a:latin typeface="宋体" panose="02010600030101010101" pitchFamily="2" charset="-122"/>
              </a:rPr>
              <a:t>1</a:t>
            </a:r>
            <a:r>
              <a:rPr lang="zh-CN" altLang="en-US" sz="3200">
                <a:solidFill>
                  <a:schemeClr val="tx2"/>
                </a:solidFill>
                <a:latin typeface="宋体" panose="02010600030101010101" pitchFamily="2" charset="-122"/>
              </a:rPr>
              <a:t>：最短路问题</a:t>
            </a:r>
            <a:endParaRPr lang="en-US" altLang="zh-CN" sz="3200">
              <a:solidFill>
                <a:schemeClr val="tx2"/>
              </a:solidFill>
              <a:latin typeface="宋体" panose="02010600030101010101" pitchFamily="2" charset="-122"/>
            </a:endParaRPr>
          </a:p>
        </p:txBody>
      </p:sp>
      <p:pic>
        <p:nvPicPr>
          <p:cNvPr id="7" name="Picture 4" descr="39319562413980877917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11513"/>
            <a:ext cx="7488238" cy="344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4" descr="6096355461398087791793">
            <a:extLst>
              <a:ext uri="{FF2B5EF4-FFF2-40B4-BE49-F238E27FC236}">
                <a16:creationId xmlns:a16="http://schemas.microsoft.com/office/drawing/2014/main" id="{CF45EC18-7BE7-423C-9324-E1ADDF47F8CC}"/>
              </a:ext>
            </a:extLst>
          </p:cNvPr>
          <p:cNvPicPr>
            <a:picLocks noChangeAspect="1" noChangeArrowheads="1"/>
          </p:cNvPicPr>
          <p:nvPr/>
        </p:nvPicPr>
        <p:blipFill>
          <a:blip r:embed="rId4"/>
          <a:srcRect/>
          <a:stretch>
            <a:fillRect/>
          </a:stretch>
        </p:blipFill>
        <p:spPr bwMode="auto">
          <a:xfrm>
            <a:off x="4572794" y="747713"/>
            <a:ext cx="4008438" cy="627840"/>
          </a:xfrm>
          <a:prstGeom prst="rect">
            <a:avLst/>
          </a:prstGeom>
          <a:solidFill>
            <a:schemeClr val="bg1">
              <a:lumMod val="75000"/>
            </a:schemeClr>
          </a:solidFill>
          <a:ln>
            <a:noFill/>
          </a:ln>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idx="1"/>
          </p:nvPr>
        </p:nvSpPr>
        <p:spPr>
          <a:xfrm>
            <a:off x="609600" y="1676400"/>
            <a:ext cx="8153400" cy="4533900"/>
          </a:xfrm>
        </p:spPr>
        <p:txBody>
          <a:bodyPr/>
          <a:lstStyle/>
          <a:p>
            <a:pPr marL="432000" indent="-432000" algn="just" eaLnBrk="1" hangingPunct="1">
              <a:lnSpc>
                <a:spcPct val="120000"/>
              </a:lnSpc>
              <a:defRPr/>
            </a:pPr>
            <a:r>
              <a:rPr lang="zh-CN" altLang="en-US" sz="2200" dirty="0">
                <a:latin typeface="Times New Roman" panose="02020603050405020304" pitchFamily="18" charset="0"/>
              </a:rPr>
              <a:t>某种机器可以在高低两种不同的负荷下进行生产。</a:t>
            </a:r>
            <a:endParaRPr lang="en-US" altLang="zh-CN" sz="2200" dirty="0">
              <a:latin typeface="Times New Roman" panose="02020603050405020304" pitchFamily="18" charset="0"/>
            </a:endParaRPr>
          </a:p>
          <a:p>
            <a:pPr marL="432000" indent="-432000" algn="just" eaLnBrk="1" hangingPunct="1">
              <a:lnSpc>
                <a:spcPct val="120000"/>
              </a:lnSpc>
              <a:defRPr/>
            </a:pPr>
            <a:r>
              <a:rPr lang="zh-CN" altLang="en-US" sz="2200" dirty="0">
                <a:latin typeface="Times New Roman" panose="02020603050405020304" pitchFamily="18" charset="0"/>
              </a:rPr>
              <a:t>在</a:t>
            </a:r>
            <a:r>
              <a:rPr lang="zh-CN" altLang="en-US" sz="2200" dirty="0">
                <a:solidFill>
                  <a:srgbClr val="0070C0"/>
                </a:solidFill>
                <a:latin typeface="Times New Roman" panose="02020603050405020304" pitchFamily="18" charset="0"/>
              </a:rPr>
              <a:t>高负荷</a:t>
            </a:r>
            <a:r>
              <a:rPr lang="zh-CN" altLang="en-US" sz="2200" dirty="0">
                <a:latin typeface="Times New Roman" panose="02020603050405020304" pitchFamily="18" charset="0"/>
              </a:rPr>
              <a:t>下进行生产时，产品的年产量</a:t>
            </a:r>
            <a:r>
              <a:rPr lang="en-US" altLang="zh-CN" sz="2200" i="1" dirty="0">
                <a:latin typeface="Times New Roman" panose="02020603050405020304" pitchFamily="18" charset="0"/>
              </a:rPr>
              <a:t>g</a:t>
            </a:r>
            <a:r>
              <a:rPr lang="zh-CN" altLang="en-US" sz="2200" dirty="0">
                <a:latin typeface="Times New Roman" panose="02020603050405020304" pitchFamily="18" charset="0"/>
              </a:rPr>
              <a:t>和投入生产的机器数量</a:t>
            </a:r>
            <a:r>
              <a:rPr lang="en-US" altLang="zh-CN" sz="2200" i="1" dirty="0">
                <a:latin typeface="Times New Roman" panose="02020603050405020304" pitchFamily="18" charset="0"/>
              </a:rPr>
              <a:t>u</a:t>
            </a:r>
            <a:r>
              <a:rPr lang="en-US" altLang="zh-CN" sz="2200" baseline="-25000" dirty="0">
                <a:latin typeface="Times New Roman" panose="02020603050405020304" pitchFamily="18" charset="0"/>
              </a:rPr>
              <a:t>1</a:t>
            </a:r>
            <a:r>
              <a:rPr lang="zh-CN" altLang="en-US" sz="2200" dirty="0">
                <a:latin typeface="Times New Roman" panose="02020603050405020304" pitchFamily="18" charset="0"/>
              </a:rPr>
              <a:t>的关系为：</a:t>
            </a:r>
            <a:r>
              <a:rPr lang="en-US" altLang="zh-CN" sz="2200" i="1" dirty="0">
                <a:latin typeface="Times New Roman" panose="02020603050405020304" pitchFamily="18" charset="0"/>
              </a:rPr>
              <a:t>g</a:t>
            </a:r>
            <a:r>
              <a:rPr lang="en-US" altLang="zh-CN" sz="2200" dirty="0">
                <a:latin typeface="Times New Roman" panose="02020603050405020304" pitchFamily="18" charset="0"/>
              </a:rPr>
              <a:t>=</a:t>
            </a:r>
            <a:r>
              <a:rPr lang="en-US" altLang="zh-CN" sz="2200" i="1" dirty="0">
                <a:latin typeface="Times New Roman" panose="02020603050405020304" pitchFamily="18" charset="0"/>
              </a:rPr>
              <a:t>g</a:t>
            </a:r>
            <a:r>
              <a:rPr lang="en-US" altLang="zh-CN" sz="2200" dirty="0">
                <a:latin typeface="Times New Roman" panose="02020603050405020304" pitchFamily="18" charset="0"/>
              </a:rPr>
              <a:t>(</a:t>
            </a:r>
            <a:r>
              <a:rPr lang="en-US" altLang="zh-CN" sz="2200" i="1" dirty="0">
                <a:latin typeface="Times New Roman" panose="02020603050405020304" pitchFamily="18" charset="0"/>
              </a:rPr>
              <a:t>u</a:t>
            </a:r>
            <a:r>
              <a:rPr lang="en-US" altLang="zh-CN" sz="2200" baseline="-25000" dirty="0">
                <a:latin typeface="Times New Roman" panose="02020603050405020304" pitchFamily="18" charset="0"/>
              </a:rPr>
              <a:t>1</a:t>
            </a:r>
            <a:r>
              <a:rPr lang="en-US" altLang="zh-CN" sz="2200" dirty="0">
                <a:latin typeface="Times New Roman" panose="02020603050405020304" pitchFamily="18" charset="0"/>
              </a:rPr>
              <a:t>)</a:t>
            </a:r>
            <a:r>
              <a:rPr lang="zh-CN" altLang="en-US" sz="2200" dirty="0">
                <a:latin typeface="Times New Roman" panose="02020603050405020304" pitchFamily="18" charset="0"/>
              </a:rPr>
              <a:t>，这时，机器的年完好率为</a:t>
            </a:r>
            <a:r>
              <a:rPr lang="en-US" altLang="zh-CN" sz="2200" i="1" dirty="0">
                <a:latin typeface="Times New Roman" panose="02020603050405020304" pitchFamily="18" charset="0"/>
              </a:rPr>
              <a:t>a</a:t>
            </a:r>
            <a:r>
              <a:rPr lang="zh-CN" altLang="en-US" sz="2200" dirty="0">
                <a:latin typeface="Times New Roman" panose="02020603050405020304" pitchFamily="18" charset="0"/>
              </a:rPr>
              <a:t>，即如果年初投入高负荷状态生产的完好机器数量为</a:t>
            </a:r>
            <a:r>
              <a:rPr lang="en-US" altLang="zh-CN" sz="2200" i="1" dirty="0">
                <a:latin typeface="Times New Roman" panose="02020603050405020304" pitchFamily="18" charset="0"/>
              </a:rPr>
              <a:t>u</a:t>
            </a:r>
            <a:r>
              <a:rPr lang="zh-CN" altLang="en-US" sz="2200" dirty="0">
                <a:latin typeface="Times New Roman" panose="02020603050405020304" pitchFamily="18" charset="0"/>
              </a:rPr>
              <a:t>，到年终时完好的机器就为</a:t>
            </a:r>
            <a:r>
              <a:rPr lang="en-US" altLang="zh-CN" sz="2200" i="1" dirty="0">
                <a:latin typeface="Times New Roman" panose="02020603050405020304" pitchFamily="18" charset="0"/>
              </a:rPr>
              <a:t>au</a:t>
            </a:r>
            <a:r>
              <a:rPr lang="zh-CN" altLang="en-US" sz="2200" dirty="0">
                <a:latin typeface="Times New Roman" panose="02020603050405020304" pitchFamily="18" charset="0"/>
              </a:rPr>
              <a:t>，其中</a:t>
            </a:r>
            <a:r>
              <a:rPr lang="en-US" altLang="zh-CN" sz="2200" dirty="0">
                <a:latin typeface="Times New Roman" panose="02020603050405020304" pitchFamily="18" charset="0"/>
              </a:rPr>
              <a:t>0</a:t>
            </a:r>
            <a:r>
              <a:rPr lang="zh-CN" altLang="en-US" sz="2200" dirty="0">
                <a:latin typeface="Times New Roman" panose="02020603050405020304" pitchFamily="18" charset="0"/>
              </a:rPr>
              <a:t>＜</a:t>
            </a:r>
            <a:r>
              <a:rPr lang="en-US" altLang="zh-CN" sz="2200" i="1" dirty="0">
                <a:latin typeface="Times New Roman" panose="02020603050405020304" pitchFamily="18" charset="0"/>
              </a:rPr>
              <a:t>a</a:t>
            </a:r>
            <a:r>
              <a:rPr lang="zh-CN" altLang="en-US" sz="2200" dirty="0">
                <a:latin typeface="Times New Roman" panose="02020603050405020304" pitchFamily="18" charset="0"/>
              </a:rPr>
              <a:t>＜</a:t>
            </a:r>
            <a:r>
              <a:rPr lang="en-US" altLang="zh-CN" sz="2200" dirty="0">
                <a:latin typeface="Times New Roman" panose="02020603050405020304" pitchFamily="18" charset="0"/>
              </a:rPr>
              <a:t>1</a:t>
            </a:r>
            <a:r>
              <a:rPr lang="zh-CN" altLang="en-US" sz="2200" dirty="0">
                <a:latin typeface="Times New Roman" panose="02020603050405020304" pitchFamily="18" charset="0"/>
              </a:rPr>
              <a:t>；</a:t>
            </a:r>
            <a:endParaRPr lang="en-US" altLang="zh-CN" sz="2200" dirty="0">
              <a:latin typeface="Times New Roman" panose="02020603050405020304" pitchFamily="18" charset="0"/>
            </a:endParaRPr>
          </a:p>
          <a:p>
            <a:pPr marL="432000" indent="-432000" algn="just" eaLnBrk="1" hangingPunct="1">
              <a:lnSpc>
                <a:spcPct val="120000"/>
              </a:lnSpc>
              <a:defRPr/>
            </a:pPr>
            <a:r>
              <a:rPr lang="zh-CN" altLang="en-US" sz="2200" dirty="0">
                <a:latin typeface="Times New Roman" panose="02020603050405020304" pitchFamily="18" charset="0"/>
              </a:rPr>
              <a:t>在</a:t>
            </a:r>
            <a:r>
              <a:rPr lang="zh-CN" altLang="en-US" sz="2200" dirty="0">
                <a:solidFill>
                  <a:srgbClr val="0070C0"/>
                </a:solidFill>
                <a:latin typeface="Times New Roman" panose="02020603050405020304" pitchFamily="18" charset="0"/>
              </a:rPr>
              <a:t>低负荷</a:t>
            </a:r>
            <a:r>
              <a:rPr lang="zh-CN" altLang="en-US" sz="2200" dirty="0">
                <a:latin typeface="Times New Roman" panose="02020603050405020304" pitchFamily="18" charset="0"/>
              </a:rPr>
              <a:t>下生产时，产品的年产量</a:t>
            </a:r>
            <a:r>
              <a:rPr lang="en-US" altLang="zh-CN" sz="2200" i="1" dirty="0">
                <a:latin typeface="Times New Roman" panose="02020603050405020304" pitchFamily="18" charset="0"/>
              </a:rPr>
              <a:t>h</a:t>
            </a:r>
            <a:r>
              <a:rPr lang="zh-CN" altLang="en-US" sz="2200" dirty="0">
                <a:latin typeface="Times New Roman" panose="02020603050405020304" pitchFamily="18" charset="0"/>
              </a:rPr>
              <a:t>和投入生产的机器数量</a:t>
            </a:r>
            <a:r>
              <a:rPr lang="en-US" altLang="zh-CN" sz="2200" i="1" dirty="0">
                <a:latin typeface="Times New Roman" panose="02020603050405020304" pitchFamily="18" charset="0"/>
              </a:rPr>
              <a:t>u</a:t>
            </a:r>
            <a:r>
              <a:rPr lang="en-US" altLang="zh-CN" sz="2200" baseline="-25000" dirty="0">
                <a:latin typeface="Times New Roman" panose="02020603050405020304" pitchFamily="18" charset="0"/>
              </a:rPr>
              <a:t>2</a:t>
            </a:r>
            <a:r>
              <a:rPr lang="zh-CN" altLang="en-US" sz="2200" dirty="0">
                <a:latin typeface="Times New Roman" panose="02020603050405020304" pitchFamily="18" charset="0"/>
              </a:rPr>
              <a:t>的关系为： </a:t>
            </a:r>
            <a:r>
              <a:rPr lang="en-US" altLang="zh-CN" sz="2200" i="1" dirty="0">
                <a:latin typeface="Times New Roman" panose="02020603050405020304" pitchFamily="18" charset="0"/>
              </a:rPr>
              <a:t>h</a:t>
            </a:r>
            <a:r>
              <a:rPr lang="en-US" altLang="zh-CN" sz="2200" dirty="0">
                <a:latin typeface="Times New Roman" panose="02020603050405020304" pitchFamily="18" charset="0"/>
              </a:rPr>
              <a:t>=</a:t>
            </a:r>
            <a:r>
              <a:rPr lang="en-US" altLang="zh-CN" sz="2200" i="1" dirty="0">
                <a:latin typeface="Times New Roman" panose="02020603050405020304" pitchFamily="18" charset="0"/>
              </a:rPr>
              <a:t>h</a:t>
            </a:r>
            <a:r>
              <a:rPr lang="en-US" altLang="zh-CN" sz="2200" dirty="0">
                <a:latin typeface="Times New Roman" panose="02020603050405020304" pitchFamily="18" charset="0"/>
              </a:rPr>
              <a:t>(</a:t>
            </a:r>
            <a:r>
              <a:rPr lang="en-US" altLang="zh-CN" sz="2200" i="1" dirty="0">
                <a:latin typeface="Times New Roman" panose="02020603050405020304" pitchFamily="18" charset="0"/>
              </a:rPr>
              <a:t>u</a:t>
            </a:r>
            <a:r>
              <a:rPr lang="en-US" altLang="zh-CN" sz="2200" baseline="-25000" dirty="0">
                <a:latin typeface="Times New Roman" panose="02020603050405020304" pitchFamily="18" charset="0"/>
              </a:rPr>
              <a:t>2</a:t>
            </a:r>
            <a:r>
              <a:rPr lang="en-US" altLang="zh-CN" sz="2200" dirty="0">
                <a:latin typeface="Times New Roman" panose="02020603050405020304" pitchFamily="18" charset="0"/>
              </a:rPr>
              <a:t>)</a:t>
            </a:r>
            <a:r>
              <a:rPr lang="zh-CN" altLang="en-US" sz="2200" dirty="0">
                <a:latin typeface="Times New Roman" panose="02020603050405020304" pitchFamily="18" charset="0"/>
              </a:rPr>
              <a:t>。</a:t>
            </a:r>
            <a:r>
              <a:rPr lang="zh-CN" altLang="en-US" sz="2200" dirty="0"/>
              <a:t>相应的机器年完好率为</a:t>
            </a:r>
            <a:r>
              <a:rPr lang="en-US" altLang="zh-CN" sz="2200" i="1" dirty="0">
                <a:latin typeface="Times New Roman" panose="02020603050405020304" pitchFamily="18" charset="0"/>
              </a:rPr>
              <a:t>b</a:t>
            </a:r>
            <a:r>
              <a:rPr lang="zh-CN" altLang="en-US" sz="2200" dirty="0">
                <a:latin typeface="Times New Roman" panose="02020603050405020304" pitchFamily="18" charset="0"/>
              </a:rPr>
              <a:t>，其中</a:t>
            </a:r>
            <a:r>
              <a:rPr lang="en-US" altLang="zh-CN" sz="2200" dirty="0">
                <a:latin typeface="Times New Roman" panose="02020603050405020304" pitchFamily="18" charset="0"/>
              </a:rPr>
              <a:t>0</a:t>
            </a:r>
            <a:r>
              <a:rPr lang="zh-CN" altLang="en-US" sz="2200" dirty="0">
                <a:latin typeface="Times New Roman" panose="02020603050405020304" pitchFamily="18" charset="0"/>
              </a:rPr>
              <a:t>＜</a:t>
            </a:r>
            <a:r>
              <a:rPr lang="en-US" altLang="zh-CN" sz="2200" i="1" dirty="0">
                <a:latin typeface="Times New Roman" panose="02020603050405020304" pitchFamily="18" charset="0"/>
              </a:rPr>
              <a:t>b</a:t>
            </a:r>
            <a:r>
              <a:rPr lang="zh-CN" altLang="en-US" sz="2200" dirty="0">
                <a:latin typeface="Times New Roman" panose="02020603050405020304" pitchFamily="18" charset="0"/>
              </a:rPr>
              <a:t>＜</a:t>
            </a:r>
            <a:r>
              <a:rPr lang="en-US" altLang="zh-CN" sz="2200" dirty="0">
                <a:latin typeface="Times New Roman" panose="02020603050405020304" pitchFamily="18" charset="0"/>
              </a:rPr>
              <a:t>1</a:t>
            </a:r>
            <a:r>
              <a:rPr lang="zh-CN" altLang="en-US" sz="2200" dirty="0"/>
              <a:t>。</a:t>
            </a:r>
            <a:endParaRPr lang="en-US" altLang="zh-CN" sz="2200" dirty="0"/>
          </a:p>
          <a:p>
            <a:pPr marL="432000" indent="-432000" algn="just" eaLnBrk="1" hangingPunct="1">
              <a:lnSpc>
                <a:spcPct val="120000"/>
              </a:lnSpc>
              <a:defRPr/>
            </a:pPr>
            <a:r>
              <a:rPr lang="zh-CN" altLang="en-US" sz="2200" dirty="0"/>
              <a:t>假定开始生产时，完好的机器数量为</a:t>
            </a:r>
            <a:r>
              <a:rPr lang="en-US" altLang="zh-CN" sz="2200" i="1" dirty="0">
                <a:latin typeface="Times New Roman" panose="02020603050405020304" pitchFamily="18" charset="0"/>
              </a:rPr>
              <a:t>s</a:t>
            </a:r>
            <a:r>
              <a:rPr lang="en-US" altLang="zh-CN" sz="2200" baseline="-25000" dirty="0">
                <a:latin typeface="Times New Roman" panose="02020603050405020304" pitchFamily="18" charset="0"/>
              </a:rPr>
              <a:t>1</a:t>
            </a:r>
            <a:r>
              <a:rPr lang="zh-CN" altLang="en-US" sz="2200" dirty="0"/>
              <a:t>。要求制定一个</a:t>
            </a:r>
            <a:r>
              <a:rPr lang="zh-CN" altLang="en-US" sz="2200" b="1" dirty="0">
                <a:solidFill>
                  <a:schemeClr val="accent2"/>
                </a:solidFill>
              </a:rPr>
              <a:t>五年计划</a:t>
            </a:r>
            <a:r>
              <a:rPr lang="zh-CN" altLang="en-US" sz="2200" dirty="0"/>
              <a:t>，在每年开始时，决定</a:t>
            </a:r>
            <a:r>
              <a:rPr lang="zh-CN" altLang="en-US" sz="2200" dirty="0">
                <a:solidFill>
                  <a:srgbClr val="000099"/>
                </a:solidFill>
              </a:rPr>
              <a:t>如何重新分配完好的机器在两种不同的负荷下生产的数量</a:t>
            </a:r>
            <a:r>
              <a:rPr lang="zh-CN" altLang="en-US" sz="2200" dirty="0"/>
              <a:t>，</a:t>
            </a:r>
            <a:r>
              <a:rPr lang="zh-CN" altLang="en-US" sz="2200" dirty="0">
                <a:solidFill>
                  <a:schemeClr val="accent2"/>
                </a:solidFill>
              </a:rPr>
              <a:t>使在五年内产品的总产量达到最高</a:t>
            </a:r>
            <a:r>
              <a:rPr lang="zh-CN" altLang="en-US" sz="2200" dirty="0"/>
              <a:t>。</a:t>
            </a:r>
          </a:p>
          <a:p>
            <a:pPr marL="812800" indent="-812800" algn="just" eaLnBrk="1" hangingPunct="1">
              <a:lnSpc>
                <a:spcPct val="120000"/>
              </a:lnSpc>
              <a:defRPr/>
            </a:pPr>
            <a:endParaRPr lang="zh-CN" altLang="en-US" sz="2200" dirty="0"/>
          </a:p>
          <a:p>
            <a:pPr marL="812800" indent="-812800" algn="just" eaLnBrk="1" hangingPunct="1">
              <a:lnSpc>
                <a:spcPct val="120000"/>
              </a:lnSpc>
              <a:defRPr/>
            </a:pPr>
            <a:endParaRPr lang="zh-CN" altLang="en-US" sz="2200" dirty="0">
              <a:latin typeface="Times New Roman" panose="02020603050405020304" pitchFamily="18" charset="0"/>
            </a:endParaRPr>
          </a:p>
        </p:txBody>
      </p:sp>
      <p:sp>
        <p:nvSpPr>
          <p:cNvPr id="26627"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F1C14FBF-52D6-4FFC-9F6D-F2353C54C684}"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26628"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4AF9CF5-5349-4297-A456-7A61F1DC2666}" type="slidenum">
              <a:rPr lang="zh-CN" altLang="zh-CN" sz="1400">
                <a:latin typeface="Arial" panose="020B0604020202020204" pitchFamily="34" charset="0"/>
              </a:rPr>
              <a:pPr>
                <a:spcBef>
                  <a:spcPct val="0"/>
                </a:spcBef>
                <a:buClr>
                  <a:srgbClr val="000000"/>
                </a:buClr>
                <a:buFontTx/>
                <a:buNone/>
              </a:pPr>
              <a:t>12</a:t>
            </a:fld>
            <a:endParaRPr lang="en-US" altLang="zh-CN" sz="1400">
              <a:latin typeface="Arial" panose="020B0604020202020204" pitchFamily="34" charset="0"/>
            </a:endParaRPr>
          </a:p>
        </p:txBody>
      </p:sp>
      <p:sp>
        <p:nvSpPr>
          <p:cNvPr id="12293" name="Rectangle 2"/>
          <p:cNvSpPr>
            <a:spLocks noGrp="1" noChangeArrowheads="1"/>
          </p:cNvSpPr>
          <p:nvPr>
            <p:ph type="title"/>
          </p:nvPr>
        </p:nvSpPr>
        <p:spPr>
          <a:xfrm>
            <a:off x="635000" y="657225"/>
            <a:ext cx="5080000" cy="668338"/>
          </a:xfrm>
        </p:spPr>
        <p:txBody>
          <a:bodyPr/>
          <a:lstStyle/>
          <a:p>
            <a:pPr eaLnBrk="1" hangingPunct="1">
              <a:defRPr/>
            </a:pPr>
            <a:r>
              <a:rPr lang="zh-CN" altLang="en-US" sz="3200" dirty="0">
                <a:latin typeface="+mn-ea"/>
                <a:ea typeface="+mn-ea"/>
              </a:rPr>
              <a:t>示例</a:t>
            </a:r>
            <a:r>
              <a:rPr lang="en-US" altLang="zh-CN" sz="3200" dirty="0">
                <a:latin typeface="+mn-ea"/>
                <a:ea typeface="+mn-ea"/>
              </a:rPr>
              <a:t>2</a:t>
            </a:r>
            <a:r>
              <a:rPr lang="zh-CN" altLang="en-US" sz="3200" dirty="0">
                <a:latin typeface="+mn-ea"/>
                <a:ea typeface="+mn-ea"/>
              </a:rPr>
              <a:t>：机器负荷分配问题</a:t>
            </a:r>
            <a:endParaRPr lang="en-US" altLang="zh-CN" sz="3200" dirty="0">
              <a:latin typeface="+mn-ea"/>
              <a:ea typeface="+mn-ea"/>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1"/>
          </p:nvPr>
        </p:nvSpPr>
        <p:spPr>
          <a:xfrm>
            <a:off x="611188" y="1671638"/>
            <a:ext cx="7999412" cy="4348162"/>
          </a:xfrm>
        </p:spPr>
        <p:txBody>
          <a:bodyPr/>
          <a:lstStyle/>
          <a:p>
            <a:pPr marL="453600" indent="-453600" algn="just" eaLnBrk="1" hangingPunct="1">
              <a:lnSpc>
                <a:spcPct val="120000"/>
              </a:lnSpc>
              <a:defRPr/>
            </a:pPr>
            <a:r>
              <a:rPr lang="zh-CN" altLang="en-US" sz="2200" dirty="0">
                <a:latin typeface="Times New Roman" pitchFamily="18" charset="0"/>
              </a:rPr>
              <a:t>从决策的角度来看，上述</a:t>
            </a:r>
            <a:r>
              <a:rPr lang="zh-CN" altLang="en-US" sz="2200" dirty="0">
                <a:solidFill>
                  <a:schemeClr val="hlink"/>
                </a:solidFill>
                <a:latin typeface="Times New Roman" pitchFamily="18" charset="0"/>
              </a:rPr>
              <a:t>前后关联具有链状结构</a:t>
            </a:r>
            <a:r>
              <a:rPr lang="zh-CN" altLang="en-US" sz="2200" dirty="0">
                <a:latin typeface="Times New Roman" pitchFamily="18" charset="0"/>
              </a:rPr>
              <a:t>的多阶段过程就称为</a:t>
            </a:r>
            <a:r>
              <a:rPr lang="zh-CN" altLang="en-US" sz="2200" b="1" dirty="0">
                <a:solidFill>
                  <a:srgbClr val="0070C0"/>
                </a:solidFill>
                <a:latin typeface="Times New Roman" pitchFamily="18" charset="0"/>
              </a:rPr>
              <a:t>多阶段决策过程</a:t>
            </a:r>
            <a:r>
              <a:rPr lang="zh-CN" altLang="en-US" sz="2200" dirty="0">
                <a:latin typeface="Times New Roman" pitchFamily="18" charset="0"/>
              </a:rPr>
              <a:t>，也称</a:t>
            </a:r>
            <a:r>
              <a:rPr lang="zh-CN" altLang="en-US" sz="2200" b="1" dirty="0">
                <a:solidFill>
                  <a:srgbClr val="0070C0"/>
                </a:solidFill>
                <a:latin typeface="Times New Roman" pitchFamily="18" charset="0"/>
              </a:rPr>
              <a:t>序贯决策过程</a:t>
            </a:r>
            <a:r>
              <a:rPr lang="zh-CN" altLang="en-US" sz="2200" dirty="0">
                <a:latin typeface="Times New Roman" pitchFamily="18" charset="0"/>
              </a:rPr>
              <a:t>。这种问题就称为多阶段决策问题。</a:t>
            </a:r>
            <a:endParaRPr lang="en-US" altLang="zh-CN" sz="2200" dirty="0">
              <a:latin typeface="Times New Roman" pitchFamily="18" charset="0"/>
            </a:endParaRPr>
          </a:p>
          <a:p>
            <a:pPr marL="453600" indent="-453600" algn="just" eaLnBrk="1" hangingPunct="1">
              <a:lnSpc>
                <a:spcPct val="120000"/>
              </a:lnSpc>
              <a:defRPr/>
            </a:pPr>
            <a:r>
              <a:rPr lang="zh-CN" altLang="en-US" sz="2200" dirty="0">
                <a:latin typeface="Times New Roman" pitchFamily="18" charset="0"/>
              </a:rPr>
              <a:t>在多阶段决策问题中，各个阶段采取的决策，一般来说与时间有关，决策依赖于当前的状态，又随即引起状态的转移，</a:t>
            </a:r>
            <a:r>
              <a:rPr lang="zh-CN" altLang="en-US" sz="2200" dirty="0">
                <a:solidFill>
                  <a:schemeClr val="hlink"/>
                </a:solidFill>
                <a:latin typeface="Times New Roman" pitchFamily="18" charset="0"/>
              </a:rPr>
              <a:t>一个决策序列就是在变化的状态中产生出来的</a:t>
            </a:r>
            <a:r>
              <a:rPr lang="zh-CN" altLang="en-US" sz="2200" dirty="0">
                <a:latin typeface="Times New Roman" pitchFamily="18" charset="0"/>
              </a:rPr>
              <a:t>，故有“动态”的含义。</a:t>
            </a:r>
            <a:endParaRPr lang="en-US" altLang="zh-CN" sz="2200" dirty="0">
              <a:latin typeface="Times New Roman" pitchFamily="18" charset="0"/>
            </a:endParaRPr>
          </a:p>
          <a:p>
            <a:pPr marL="453600" indent="-453600" algn="just" eaLnBrk="1" hangingPunct="1">
              <a:lnSpc>
                <a:spcPct val="120000"/>
              </a:lnSpc>
              <a:defRPr/>
            </a:pPr>
            <a:r>
              <a:rPr lang="zh-CN" altLang="en-US" sz="2200" dirty="0">
                <a:latin typeface="Times New Roman" pitchFamily="18" charset="0"/>
              </a:rPr>
              <a:t>但是，一些与时间没有关系的静态规划（如线性规划、非线性规划等）问题，只要人为地引进“时间”因素，也可以把它视为多阶段决策问题，用动态规划的方法去处理。</a:t>
            </a:r>
          </a:p>
          <a:p>
            <a:pPr marL="812800" indent="-812800" algn="just" eaLnBrk="1" hangingPunct="1">
              <a:lnSpc>
                <a:spcPct val="120000"/>
              </a:lnSpc>
              <a:defRPr/>
            </a:pPr>
            <a:endParaRPr lang="zh-CN" altLang="en-US" sz="2200" dirty="0">
              <a:latin typeface="Times New Roman" pitchFamily="18" charset="0"/>
            </a:endParaRPr>
          </a:p>
        </p:txBody>
      </p:sp>
      <p:sp>
        <p:nvSpPr>
          <p:cNvPr id="28675"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EAC8E1D-56AF-4FAF-BEC9-28ABB1B2569D}" type="slidenum">
              <a:rPr lang="zh-CN" altLang="zh-CN" sz="1400">
                <a:latin typeface="Arial" panose="020B0604020202020204" pitchFamily="34" charset="0"/>
              </a:rPr>
              <a:pPr>
                <a:spcBef>
                  <a:spcPct val="0"/>
                </a:spcBef>
                <a:buClr>
                  <a:srgbClr val="000000"/>
                </a:buClr>
                <a:buFontTx/>
                <a:buNone/>
              </a:pPr>
              <a:t>13</a:t>
            </a:fld>
            <a:endParaRPr lang="en-US" altLang="zh-CN" sz="1400">
              <a:latin typeface="Arial" panose="020B0604020202020204" pitchFamily="34" charset="0"/>
            </a:endParaRPr>
          </a:p>
        </p:txBody>
      </p:sp>
      <p:sp>
        <p:nvSpPr>
          <p:cNvPr id="28676" name="Rectangle 2"/>
          <p:cNvSpPr>
            <a:spLocks noGrp="1" noChangeArrowheads="1"/>
          </p:cNvSpPr>
          <p:nvPr>
            <p:ph type="title"/>
          </p:nvPr>
        </p:nvSpPr>
        <p:spPr>
          <a:xfrm>
            <a:off x="685800" y="685800"/>
            <a:ext cx="1474788" cy="668338"/>
          </a:xfrm>
        </p:spPr>
        <p:txBody>
          <a:bodyPr/>
          <a:lstStyle/>
          <a:p>
            <a:pPr eaLnBrk="1" hangingPunct="1"/>
            <a:r>
              <a:rPr lang="zh-CN" altLang="en-US" sz="3200">
                <a:latin typeface="黑体" panose="02010609060101010101" pitchFamily="49" charset="-122"/>
              </a:rPr>
              <a:t>总结</a:t>
            </a:r>
            <a:endParaRPr lang="en-US" altLang="zh-CN" sz="3200">
              <a:latin typeface="黑体" panose="02010609060101010101" pitchFamily="49"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09600" y="533400"/>
            <a:ext cx="7993063" cy="812800"/>
          </a:xfrm>
        </p:spPr>
        <p:txBody>
          <a:bodyPr/>
          <a:lstStyle/>
          <a:p>
            <a:pPr eaLnBrk="1" hangingPunct="1"/>
            <a:r>
              <a:rPr lang="en-US" altLang="zh-CN" sz="3600" b="1" dirty="0">
                <a:latin typeface="Times New Roman" panose="02020603050405020304" pitchFamily="18" charset="0"/>
              </a:rPr>
              <a:t>2</a:t>
            </a:r>
            <a:r>
              <a:rPr lang="en-US" altLang="zh-CN" sz="3600" b="1" dirty="0">
                <a:latin typeface="黑体" panose="02010609060101010101" pitchFamily="49" charset="-122"/>
              </a:rPr>
              <a:t> </a:t>
            </a:r>
            <a:r>
              <a:rPr lang="zh-CN" altLang="en-US" sz="3600" b="1" dirty="0">
                <a:latin typeface="黑体" panose="02010609060101010101" pitchFamily="49" charset="-122"/>
              </a:rPr>
              <a:t>动态规划基本概念</a:t>
            </a:r>
          </a:p>
        </p:txBody>
      </p:sp>
      <p:sp>
        <p:nvSpPr>
          <p:cNvPr id="29699"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715D4B20-7AAB-4628-80C0-578772DED9B5}" type="slidenum">
              <a:rPr lang="zh-CN" altLang="zh-CN" sz="1400">
                <a:latin typeface="Arial" panose="020B0604020202020204" pitchFamily="34" charset="0"/>
              </a:rPr>
              <a:pPr>
                <a:spcBef>
                  <a:spcPct val="0"/>
                </a:spcBef>
                <a:buClr>
                  <a:srgbClr val="000000"/>
                </a:buClr>
                <a:buFontTx/>
                <a:buNone/>
              </a:pPr>
              <a:t>14</a:t>
            </a:fld>
            <a:endParaRPr lang="en-US" altLang="zh-CN" sz="1400">
              <a:latin typeface="Arial" panose="020B0604020202020204" pitchFamily="34" charset="0"/>
            </a:endParaRPr>
          </a:p>
        </p:txBody>
      </p:sp>
      <p:sp>
        <p:nvSpPr>
          <p:cNvPr id="5" name="矩形 4"/>
          <p:cNvSpPr/>
          <p:nvPr/>
        </p:nvSpPr>
        <p:spPr>
          <a:xfrm>
            <a:off x="588963" y="1752600"/>
            <a:ext cx="8248650" cy="2476500"/>
          </a:xfrm>
          <a:prstGeom prst="rect">
            <a:avLst/>
          </a:prstGeom>
        </p:spPr>
        <p:txBody>
          <a:bodyPr>
            <a:spAutoFit/>
          </a:bodyPr>
          <a:lstStyle/>
          <a:p>
            <a:pPr marL="453600" indent="-453600" algn="just" eaLnBrk="1" hangingPunct="1">
              <a:lnSpc>
                <a:spcPct val="120000"/>
              </a:lnSpc>
              <a:buClr>
                <a:srgbClr val="C00000"/>
              </a:buClr>
              <a:buSzPct val="100000"/>
              <a:buFont typeface="Wingdings" panose="05000000000000000000" pitchFamily="2" charset="2"/>
              <a:buChar char="p"/>
              <a:defRPr/>
            </a:pPr>
            <a:r>
              <a:rPr lang="zh-CN" altLang="en-US" sz="2200" dirty="0">
                <a:latin typeface="+mn-ea"/>
                <a:ea typeface="+mn-ea"/>
              </a:rPr>
              <a:t>结合最短路线问题（</a:t>
            </a:r>
            <a:r>
              <a:rPr lang="zh-CN" altLang="en-US" sz="2200" dirty="0">
                <a:latin typeface="宋体" panose="02010600030101010101" pitchFamily="2" charset="-122"/>
                <a:cs typeface="Courier New" panose="02070309020205020404" pitchFamily="49" charset="0"/>
              </a:rPr>
              <a:t>是动态规划中一个典型例子</a:t>
            </a:r>
            <a:r>
              <a:rPr lang="zh-CN" altLang="en-US" sz="2200" dirty="0">
                <a:latin typeface="+mn-ea"/>
                <a:ea typeface="+mn-ea"/>
              </a:rPr>
              <a:t>），对动态规划所涉及到的基本概念进行说明。</a:t>
            </a:r>
            <a:endParaRPr lang="en-US" altLang="zh-CN" sz="2200" dirty="0">
              <a:latin typeface="+mn-ea"/>
              <a:ea typeface="+mn-ea"/>
            </a:endParaRPr>
          </a:p>
          <a:p>
            <a:pPr marL="453600" indent="-453600" algn="just" eaLnBrk="1" hangingPunct="1">
              <a:lnSpc>
                <a:spcPct val="120000"/>
              </a:lnSpc>
              <a:buClr>
                <a:srgbClr val="C00000"/>
              </a:buClr>
              <a:buSzPct val="100000"/>
              <a:buFont typeface="Wingdings" panose="05000000000000000000" pitchFamily="2" charset="2"/>
              <a:buChar char="p"/>
              <a:defRPr/>
            </a:pPr>
            <a:r>
              <a:rPr lang="zh-CN" altLang="en-US" sz="2200" dirty="0">
                <a:latin typeface="+mn-ea"/>
                <a:ea typeface="+mn-ea"/>
              </a:rPr>
              <a:t>在最短路线问题中，从</a:t>
            </a:r>
            <a:r>
              <a:rPr lang="en-US" altLang="zh-CN" sz="2200" dirty="0">
                <a:latin typeface="+mn-ea"/>
                <a:ea typeface="+mn-ea"/>
              </a:rPr>
              <a:t>A</a:t>
            </a:r>
            <a:r>
              <a:rPr lang="zh-CN" altLang="en-US" sz="2200" dirty="0">
                <a:latin typeface="+mn-ea"/>
                <a:ea typeface="+mn-ea"/>
              </a:rPr>
              <a:t>点到</a:t>
            </a:r>
            <a:r>
              <a:rPr lang="en-US" altLang="zh-CN" sz="2200" dirty="0">
                <a:latin typeface="+mn-ea"/>
                <a:ea typeface="+mn-ea"/>
              </a:rPr>
              <a:t>G</a:t>
            </a:r>
            <a:r>
              <a:rPr lang="zh-CN" altLang="en-US" sz="2200" dirty="0">
                <a:latin typeface="+mn-ea"/>
                <a:ea typeface="+mn-ea"/>
              </a:rPr>
              <a:t>点可以分为</a:t>
            </a:r>
            <a:r>
              <a:rPr lang="en-US" altLang="zh-CN" sz="2200" dirty="0">
                <a:solidFill>
                  <a:srgbClr val="000099"/>
                </a:solidFill>
                <a:latin typeface="+mn-ea"/>
                <a:ea typeface="+mn-ea"/>
              </a:rPr>
              <a:t>6</a:t>
            </a:r>
            <a:r>
              <a:rPr lang="zh-CN" altLang="en-US" sz="2200" dirty="0">
                <a:solidFill>
                  <a:srgbClr val="000099"/>
                </a:solidFill>
                <a:latin typeface="+mn-ea"/>
                <a:ea typeface="+mn-ea"/>
              </a:rPr>
              <a:t>个阶段</a:t>
            </a:r>
            <a:r>
              <a:rPr lang="zh-CN" altLang="en-US" sz="2200" dirty="0">
                <a:latin typeface="+mn-ea"/>
                <a:ea typeface="+mn-ea"/>
              </a:rPr>
              <a:t>，是一个</a:t>
            </a:r>
            <a:r>
              <a:rPr lang="en-US" altLang="zh-CN" sz="2200" dirty="0">
                <a:latin typeface="+mn-ea"/>
                <a:ea typeface="+mn-ea"/>
              </a:rPr>
              <a:t>6</a:t>
            </a:r>
            <a:r>
              <a:rPr lang="zh-CN" altLang="en-US" sz="2200" dirty="0">
                <a:latin typeface="+mn-ea"/>
                <a:ea typeface="+mn-ea"/>
              </a:rPr>
              <a:t>阶段的多阶段决策问题。其目的是：在各个阶段上选择一个恰当的决策，使得由这些决策组成的一个决策序列所决定的一条路线是总路程最短的一条。</a:t>
            </a:r>
          </a:p>
        </p:txBody>
      </p:sp>
      <p:pic>
        <p:nvPicPr>
          <p:cNvPr id="29701" name="Picture 4" descr="39319562413980877917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8" y="4206875"/>
            <a:ext cx="5472112" cy="251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914400" y="1752600"/>
            <a:ext cx="6477000" cy="3835400"/>
          </a:xfrm>
        </p:spPr>
        <p:txBody>
          <a:bodyPr/>
          <a:lstStyle/>
          <a:p>
            <a:pPr marL="812800" indent="-812800" algn="just" eaLnBrk="1" hangingPunct="1">
              <a:lnSpc>
                <a:spcPct val="150000"/>
              </a:lnSpc>
              <a:spcBef>
                <a:spcPct val="0"/>
              </a:spcBef>
              <a:buFont typeface="Wingdings" panose="05000000000000000000" pitchFamily="2" charset="2"/>
              <a:buNone/>
            </a:pPr>
            <a:r>
              <a:rPr lang="zh-CN" altLang="en-US" sz="2400" dirty="0">
                <a:latin typeface="Times New Roman" panose="02020603050405020304" pitchFamily="18" charset="0"/>
              </a:rPr>
              <a:t>动态规划问题涉及到的基本概念主要有：</a:t>
            </a:r>
            <a:endParaRPr lang="en-US" altLang="zh-CN" sz="2400" dirty="0">
              <a:latin typeface="Times New Roman" panose="02020603050405020304" pitchFamily="18" charset="0"/>
            </a:endParaRPr>
          </a:p>
          <a:p>
            <a:pPr marL="1250950" lvl="1" indent="-812800" algn="just" eaLnBrk="1" hangingPunct="1">
              <a:lnSpc>
                <a:spcPct val="150000"/>
              </a:lnSpc>
              <a:spcBef>
                <a:spcPct val="0"/>
              </a:spcBef>
              <a:buFont typeface="Wingdings" panose="05000000000000000000" pitchFamily="2" charset="2"/>
              <a:buNone/>
            </a:pPr>
            <a:r>
              <a:rPr lang="en-US" altLang="zh-CN" sz="2400" dirty="0">
                <a:latin typeface="Times New Roman" panose="02020603050405020304" pitchFamily="18" charset="0"/>
              </a:rPr>
              <a:t>1  </a:t>
            </a:r>
            <a:r>
              <a:rPr lang="zh-CN" altLang="en-US" sz="2400" dirty="0">
                <a:solidFill>
                  <a:srgbClr val="FF0000"/>
                </a:solidFill>
                <a:latin typeface="Times New Roman" panose="02020603050405020304" pitchFamily="18" charset="0"/>
                <a:hlinkClick r:id="rId2" action="ppaction://hlinksldjump"/>
              </a:rPr>
              <a:t>阶段</a:t>
            </a:r>
            <a:endParaRPr lang="en-US" altLang="zh-CN" sz="2400" dirty="0">
              <a:solidFill>
                <a:srgbClr val="FF0000"/>
              </a:solidFill>
              <a:latin typeface="Times New Roman" panose="02020603050405020304" pitchFamily="18" charset="0"/>
            </a:endParaRPr>
          </a:p>
          <a:p>
            <a:pPr marL="1250950" lvl="1" indent="-812800" algn="just" eaLnBrk="1" hangingPunct="1">
              <a:lnSpc>
                <a:spcPct val="150000"/>
              </a:lnSpc>
              <a:spcBef>
                <a:spcPct val="0"/>
              </a:spcBef>
              <a:buFont typeface="Wingdings" panose="05000000000000000000" pitchFamily="2" charset="2"/>
              <a:buNone/>
            </a:pPr>
            <a:r>
              <a:rPr lang="en-US" altLang="zh-CN" sz="2400" dirty="0">
                <a:latin typeface="Times New Roman" panose="02020603050405020304" pitchFamily="18" charset="0"/>
              </a:rPr>
              <a:t>2 </a:t>
            </a:r>
            <a:r>
              <a:rPr lang="en-US" altLang="zh-CN" sz="2400" dirty="0">
                <a:solidFill>
                  <a:srgbClr val="FF0000"/>
                </a:solidFill>
                <a:latin typeface="Times New Roman" panose="02020603050405020304" pitchFamily="18" charset="0"/>
              </a:rPr>
              <a:t> </a:t>
            </a:r>
            <a:r>
              <a:rPr lang="zh-CN" altLang="en-US" sz="2400" dirty="0">
                <a:solidFill>
                  <a:schemeClr val="hlink"/>
                </a:solidFill>
                <a:latin typeface="Times New Roman" panose="02020603050405020304" pitchFamily="18" charset="0"/>
                <a:hlinkClick r:id="rId3" action="ppaction://hlinksldjump"/>
              </a:rPr>
              <a:t>状态</a:t>
            </a:r>
            <a:endParaRPr lang="en-US" altLang="zh-CN" sz="2400" dirty="0">
              <a:latin typeface="Times New Roman" panose="02020603050405020304" pitchFamily="18" charset="0"/>
            </a:endParaRPr>
          </a:p>
          <a:p>
            <a:pPr marL="1250950" lvl="1" indent="-812800" algn="just" eaLnBrk="1" hangingPunct="1">
              <a:lnSpc>
                <a:spcPct val="150000"/>
              </a:lnSpc>
              <a:spcBef>
                <a:spcPct val="0"/>
              </a:spcBef>
              <a:buFont typeface="Wingdings" panose="05000000000000000000" pitchFamily="2" charset="2"/>
              <a:buNone/>
            </a:pPr>
            <a:r>
              <a:rPr lang="en-US" altLang="zh-CN" sz="2400" dirty="0">
                <a:latin typeface="Times New Roman" panose="02020603050405020304" pitchFamily="18" charset="0"/>
              </a:rPr>
              <a:t>3  </a:t>
            </a:r>
            <a:r>
              <a:rPr lang="zh-CN" altLang="en-US" sz="2400" u="sng" dirty="0">
                <a:solidFill>
                  <a:schemeClr val="hlink"/>
                </a:solidFill>
                <a:latin typeface="Times New Roman" panose="02020603050405020304" pitchFamily="18" charset="0"/>
                <a:hlinkClick r:id="rId4" action="ppaction://hlinksldjump"/>
              </a:rPr>
              <a:t>决策</a:t>
            </a:r>
            <a:endParaRPr lang="en-US" altLang="zh-CN" sz="2400" dirty="0">
              <a:latin typeface="Times New Roman" panose="02020603050405020304" pitchFamily="18" charset="0"/>
            </a:endParaRPr>
          </a:p>
          <a:p>
            <a:pPr marL="1250950" lvl="1" indent="-812800" algn="just" eaLnBrk="1" hangingPunct="1">
              <a:lnSpc>
                <a:spcPct val="150000"/>
              </a:lnSpc>
              <a:spcBef>
                <a:spcPct val="0"/>
              </a:spcBef>
              <a:buFont typeface="Wingdings" panose="05000000000000000000" pitchFamily="2" charset="2"/>
              <a:buNone/>
            </a:pPr>
            <a:r>
              <a:rPr lang="en-US" altLang="zh-CN" sz="2400" dirty="0">
                <a:latin typeface="Times New Roman" panose="02020603050405020304" pitchFamily="18" charset="0"/>
              </a:rPr>
              <a:t>4  </a:t>
            </a:r>
            <a:r>
              <a:rPr lang="zh-CN" altLang="en-US" sz="2400" u="sng" dirty="0">
                <a:solidFill>
                  <a:schemeClr val="hlink"/>
                </a:solidFill>
                <a:latin typeface="Times New Roman" panose="02020603050405020304" pitchFamily="18" charset="0"/>
                <a:hlinkClick r:id="rId5" action="ppaction://hlinksldjump"/>
              </a:rPr>
              <a:t>策略</a:t>
            </a:r>
            <a:endParaRPr lang="en-US" altLang="zh-CN" sz="2400" dirty="0">
              <a:latin typeface="Times New Roman" panose="02020603050405020304" pitchFamily="18" charset="0"/>
            </a:endParaRPr>
          </a:p>
          <a:p>
            <a:pPr marL="1250950" lvl="1" indent="-812800" algn="just" eaLnBrk="1" hangingPunct="1">
              <a:lnSpc>
                <a:spcPct val="150000"/>
              </a:lnSpc>
              <a:spcBef>
                <a:spcPct val="0"/>
              </a:spcBef>
              <a:buFont typeface="Wingdings" panose="05000000000000000000" pitchFamily="2" charset="2"/>
              <a:buNone/>
            </a:pPr>
            <a:r>
              <a:rPr lang="en-US" altLang="zh-CN" sz="2400" dirty="0">
                <a:latin typeface="Times New Roman" panose="02020603050405020304" pitchFamily="18" charset="0"/>
              </a:rPr>
              <a:t>5  </a:t>
            </a:r>
            <a:r>
              <a:rPr lang="zh-CN" altLang="en-US" sz="2400" u="sng" dirty="0">
                <a:solidFill>
                  <a:schemeClr val="hlink"/>
                </a:solidFill>
                <a:latin typeface="Times New Roman" panose="02020603050405020304" pitchFamily="18" charset="0"/>
                <a:hlinkClick r:id="rId6" action="ppaction://hlinksldjump"/>
              </a:rPr>
              <a:t>状态转移方程</a:t>
            </a:r>
            <a:endParaRPr lang="en-US" altLang="zh-CN" sz="2400" dirty="0">
              <a:latin typeface="Times New Roman" panose="02020603050405020304" pitchFamily="18" charset="0"/>
            </a:endParaRPr>
          </a:p>
          <a:p>
            <a:pPr marL="1250950" lvl="1" indent="-812800" algn="just" eaLnBrk="1" hangingPunct="1">
              <a:lnSpc>
                <a:spcPct val="150000"/>
              </a:lnSpc>
              <a:spcBef>
                <a:spcPct val="0"/>
              </a:spcBef>
              <a:buFont typeface="Wingdings" panose="05000000000000000000" pitchFamily="2" charset="2"/>
              <a:buNone/>
            </a:pPr>
            <a:r>
              <a:rPr lang="en-US" altLang="zh-CN" sz="2400" dirty="0">
                <a:latin typeface="Times New Roman" panose="02020603050405020304" pitchFamily="18" charset="0"/>
              </a:rPr>
              <a:t>6  </a:t>
            </a:r>
            <a:r>
              <a:rPr lang="zh-CN" altLang="en-US" sz="2400" u="sng" dirty="0">
                <a:solidFill>
                  <a:schemeClr val="hlink"/>
                </a:solidFill>
                <a:latin typeface="Times New Roman" panose="02020603050405020304" pitchFamily="18" charset="0"/>
                <a:hlinkClick r:id="rId7" action="ppaction://hlinksldjump"/>
              </a:rPr>
              <a:t>指标函数</a:t>
            </a:r>
            <a:r>
              <a:rPr lang="zh-CN" altLang="en-US" sz="2400" dirty="0">
                <a:latin typeface="Times New Roman" panose="02020603050405020304" pitchFamily="18" charset="0"/>
              </a:rPr>
              <a:t>以及</a:t>
            </a:r>
            <a:r>
              <a:rPr lang="zh-CN" altLang="en-US" sz="2400" u="sng" dirty="0">
                <a:solidFill>
                  <a:schemeClr val="hlink"/>
                </a:solidFill>
                <a:latin typeface="Times New Roman" panose="02020603050405020304" pitchFamily="18" charset="0"/>
              </a:rPr>
              <a:t>最优值函数</a:t>
            </a:r>
            <a:r>
              <a:rPr lang="zh-CN" altLang="en-US" sz="2400" dirty="0">
                <a:latin typeface="Times New Roman" panose="02020603050405020304" pitchFamily="18" charset="0"/>
              </a:rPr>
              <a:t>。</a:t>
            </a:r>
          </a:p>
          <a:p>
            <a:pPr marL="812800" indent="-812800" algn="just" eaLnBrk="1" hangingPunct="1">
              <a:lnSpc>
                <a:spcPct val="150000"/>
              </a:lnSpc>
              <a:spcBef>
                <a:spcPct val="0"/>
              </a:spcBef>
              <a:buFont typeface="Wingdings" panose="05000000000000000000" pitchFamily="2" charset="2"/>
              <a:buNone/>
            </a:pPr>
            <a:endParaRPr lang="zh-CN" altLang="en-US" sz="2400" dirty="0">
              <a:latin typeface="Times New Roman" panose="02020603050405020304" pitchFamily="18" charset="0"/>
            </a:endParaRPr>
          </a:p>
        </p:txBody>
      </p:sp>
      <p:sp>
        <p:nvSpPr>
          <p:cNvPr id="30723"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A5E52402-A568-41C9-BB27-711768EFF366}"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30724"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55946B97-3310-4DC4-A68F-CC7E539A2424}" type="slidenum">
              <a:rPr lang="zh-CN" altLang="zh-CN" sz="1400">
                <a:latin typeface="Arial" panose="020B0604020202020204" pitchFamily="34" charset="0"/>
              </a:rPr>
              <a:pPr>
                <a:spcBef>
                  <a:spcPct val="0"/>
                </a:spcBef>
                <a:buClr>
                  <a:srgbClr val="000000"/>
                </a:buClr>
                <a:buFontTx/>
                <a:buNone/>
              </a:pPr>
              <a:t>15</a:t>
            </a:fld>
            <a:endParaRPr lang="en-US" altLang="zh-CN" sz="1400">
              <a:latin typeface="Arial" panose="020B0604020202020204" pitchFamily="34" charset="0"/>
            </a:endParaRPr>
          </a:p>
        </p:txBody>
      </p:sp>
      <p:sp>
        <p:nvSpPr>
          <p:cNvPr id="30725" name="Rectangle 2"/>
          <p:cNvSpPr>
            <a:spLocks noGrp="1" noChangeArrowheads="1"/>
          </p:cNvSpPr>
          <p:nvPr>
            <p:ph type="title"/>
          </p:nvPr>
        </p:nvSpPr>
        <p:spPr>
          <a:xfrm>
            <a:off x="685800" y="750888"/>
            <a:ext cx="4214813" cy="688975"/>
          </a:xfrm>
        </p:spPr>
        <p:txBody>
          <a:bodyPr/>
          <a:lstStyle/>
          <a:p>
            <a:pPr eaLnBrk="1" hangingPunct="1"/>
            <a:r>
              <a:rPr lang="en-US" altLang="zh-CN" sz="3200" dirty="0">
                <a:latin typeface="Times New Roman" panose="02020603050405020304" pitchFamily="18" charset="0"/>
              </a:rPr>
              <a:t>2</a:t>
            </a:r>
            <a:r>
              <a:rPr lang="en-US" altLang="zh-CN" sz="3200" dirty="0">
                <a:latin typeface="黑体" panose="02010609060101010101" pitchFamily="49" charset="-122"/>
              </a:rPr>
              <a:t> </a:t>
            </a:r>
            <a:r>
              <a:rPr lang="zh-CN" altLang="en-US" sz="3200" dirty="0">
                <a:latin typeface="黑体" panose="02010609060101010101" pitchFamily="49" charset="-122"/>
              </a:rPr>
              <a:t>动态规划基本概念</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a:xfrm>
            <a:off x="609600" y="1600200"/>
            <a:ext cx="7848600" cy="1684337"/>
          </a:xfrm>
        </p:spPr>
        <p:txBody>
          <a:bodyPr/>
          <a:lstStyle/>
          <a:p>
            <a:pPr marL="342900" lvl="1" indent="-342900" algn="just" eaLnBrk="1" hangingPunct="1">
              <a:lnSpc>
                <a:spcPct val="150000"/>
              </a:lnSpc>
              <a:spcBef>
                <a:spcPct val="0"/>
              </a:spcBef>
              <a:buFont typeface="Wingdings" panose="05000000000000000000" pitchFamily="2" charset="2"/>
              <a:buChar char="p"/>
              <a:defRPr/>
            </a:pPr>
            <a:r>
              <a:rPr lang="zh-CN" altLang="en-US" sz="2400" dirty="0">
                <a:latin typeface="Times New Roman" panose="02020603050405020304" pitchFamily="18" charset="0"/>
              </a:rPr>
              <a:t>描述阶段的变量称为</a:t>
            </a:r>
            <a:r>
              <a:rPr lang="zh-CN" altLang="en-US" sz="2400" dirty="0">
                <a:solidFill>
                  <a:srgbClr val="FF0000"/>
                </a:solidFill>
                <a:latin typeface="Times New Roman" panose="02020603050405020304" pitchFamily="18" charset="0"/>
              </a:rPr>
              <a:t>阶段变量</a:t>
            </a:r>
            <a:r>
              <a:rPr lang="zh-CN" altLang="en-US" sz="2400" dirty="0">
                <a:latin typeface="Times New Roman" panose="02020603050405020304" pitchFamily="18" charset="0"/>
              </a:rPr>
              <a:t>，常用</a:t>
            </a:r>
            <a:r>
              <a:rPr lang="en-US" altLang="zh-CN" sz="2400" i="1" dirty="0">
                <a:latin typeface="Times New Roman" panose="02020603050405020304" pitchFamily="18" charset="0"/>
              </a:rPr>
              <a:t>k</a:t>
            </a:r>
            <a:r>
              <a:rPr lang="zh-CN" altLang="en-US" sz="2400" dirty="0">
                <a:latin typeface="Times New Roman" panose="02020603050405020304" pitchFamily="18" charset="0"/>
              </a:rPr>
              <a:t>表示。</a:t>
            </a:r>
            <a:endParaRPr lang="en-US" altLang="zh-CN" sz="2400" dirty="0">
              <a:latin typeface="Times New Roman" panose="02020603050405020304" pitchFamily="18" charset="0"/>
            </a:endParaRPr>
          </a:p>
          <a:p>
            <a:pPr marL="342900" lvl="1" indent="-342900" algn="just" eaLnBrk="1" hangingPunct="1">
              <a:lnSpc>
                <a:spcPct val="150000"/>
              </a:lnSpc>
              <a:spcBef>
                <a:spcPct val="0"/>
              </a:spcBef>
              <a:buFont typeface="Wingdings" panose="05000000000000000000" pitchFamily="2" charset="2"/>
              <a:buChar char="p"/>
              <a:defRPr/>
            </a:pPr>
            <a:r>
              <a:rPr lang="zh-CN" altLang="en-US" sz="2400" dirty="0">
                <a:latin typeface="Times New Roman" panose="02020603050405020304" pitchFamily="18" charset="0"/>
              </a:rPr>
              <a:t>阶段的划分，一般是根据</a:t>
            </a:r>
            <a:r>
              <a:rPr lang="zh-CN" altLang="en-US" sz="2400" dirty="0">
                <a:solidFill>
                  <a:schemeClr val="hlink"/>
                </a:solidFill>
                <a:latin typeface="Times New Roman" panose="02020603050405020304" pitchFamily="18" charset="0"/>
              </a:rPr>
              <a:t>时间</a:t>
            </a:r>
            <a:r>
              <a:rPr lang="zh-CN" altLang="en-US" sz="2400" dirty="0">
                <a:latin typeface="Times New Roman" panose="02020603050405020304" pitchFamily="18" charset="0"/>
              </a:rPr>
              <a:t>和</a:t>
            </a:r>
            <a:r>
              <a:rPr lang="zh-CN" altLang="en-US" sz="2400" dirty="0">
                <a:solidFill>
                  <a:srgbClr val="FF0000"/>
                </a:solidFill>
                <a:latin typeface="Times New Roman" panose="02020603050405020304" pitchFamily="18" charset="0"/>
              </a:rPr>
              <a:t>空间</a:t>
            </a:r>
            <a:r>
              <a:rPr lang="zh-CN" altLang="en-US" sz="2400" dirty="0">
                <a:latin typeface="Times New Roman" panose="02020603050405020304" pitchFamily="18" charset="0"/>
              </a:rPr>
              <a:t>的自然特征来划分，但要便于把问题的过程能转化为多阶段决策的过程。</a:t>
            </a:r>
            <a:endParaRPr lang="en-US" altLang="zh-CN" sz="2400" dirty="0">
              <a:latin typeface="Times New Roman" panose="02020603050405020304" pitchFamily="18" charset="0"/>
            </a:endParaRPr>
          </a:p>
        </p:txBody>
      </p:sp>
      <p:sp>
        <p:nvSpPr>
          <p:cNvPr id="3174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FBA6650-6626-4CCE-A427-0D2E72FBB775}" type="slidenum">
              <a:rPr lang="zh-CN" altLang="zh-CN" sz="1400">
                <a:latin typeface="Arial" panose="020B0604020202020204" pitchFamily="34" charset="0"/>
              </a:rPr>
              <a:pPr>
                <a:spcBef>
                  <a:spcPct val="0"/>
                </a:spcBef>
                <a:buClr>
                  <a:srgbClr val="000000"/>
                </a:buClr>
                <a:buFontTx/>
                <a:buNone/>
              </a:pPr>
              <a:t>16</a:t>
            </a:fld>
            <a:endParaRPr lang="en-US" altLang="zh-CN" sz="1400">
              <a:latin typeface="Arial" panose="020B0604020202020204" pitchFamily="34" charset="0"/>
            </a:endParaRPr>
          </a:p>
        </p:txBody>
      </p:sp>
      <p:sp>
        <p:nvSpPr>
          <p:cNvPr id="31748" name="Rectangle 2"/>
          <p:cNvSpPr txBox="1">
            <a:spLocks noChangeArrowheads="1"/>
          </p:cNvSpPr>
          <p:nvPr/>
        </p:nvSpPr>
        <p:spPr bwMode="auto">
          <a:xfrm>
            <a:off x="560388" y="606425"/>
            <a:ext cx="7993062"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 </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1</a:t>
            </a:r>
            <a:r>
              <a:rPr lang="zh-CN" altLang="en-US" sz="3200" dirty="0">
                <a:solidFill>
                  <a:srgbClr val="000099"/>
                </a:solidFill>
                <a:latin typeface="黑体" panose="02010609060101010101" pitchFamily="49" charset="-122"/>
                <a:ea typeface="黑体" panose="02010609060101010101" pitchFamily="49" charset="-122"/>
              </a:rPr>
              <a:t>）阶段</a:t>
            </a:r>
          </a:p>
        </p:txBody>
      </p:sp>
      <p:pic>
        <p:nvPicPr>
          <p:cNvPr id="31749" name="Picture 4" descr="39319562413980877917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3962400"/>
            <a:ext cx="5486400" cy="252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4" descr="6096355461398087791793">
            <a:extLst>
              <a:ext uri="{FF2B5EF4-FFF2-40B4-BE49-F238E27FC236}">
                <a16:creationId xmlns:a16="http://schemas.microsoft.com/office/drawing/2014/main" id="{D1DE94AB-0A2B-4FFE-8B6F-A3BAB2A8E408}"/>
              </a:ext>
            </a:extLst>
          </p:cNvPr>
          <p:cNvPicPr>
            <a:picLocks noChangeAspect="1" noChangeArrowheads="1"/>
          </p:cNvPicPr>
          <p:nvPr/>
        </p:nvPicPr>
        <p:blipFill>
          <a:blip r:embed="rId3"/>
          <a:srcRect/>
          <a:stretch>
            <a:fillRect/>
          </a:stretch>
        </p:blipFill>
        <p:spPr bwMode="auto">
          <a:xfrm>
            <a:off x="4800600" y="778685"/>
            <a:ext cx="4008438" cy="627840"/>
          </a:xfrm>
          <a:prstGeom prst="rect">
            <a:avLst/>
          </a:prstGeom>
          <a:solidFill>
            <a:schemeClr val="bg1">
              <a:lumMod val="75000"/>
            </a:schemeClr>
          </a:solidFill>
          <a:ln>
            <a:noFill/>
          </a:ln>
          <a:effectLst/>
        </p:spPr>
      </p:pic>
      <p:sp>
        <p:nvSpPr>
          <p:cNvPr id="2" name="文本框 1">
            <a:extLst>
              <a:ext uri="{FF2B5EF4-FFF2-40B4-BE49-F238E27FC236}">
                <a16:creationId xmlns:a16="http://schemas.microsoft.com/office/drawing/2014/main" id="{741D90A1-8C60-44A0-BA50-621D1D2D7425}"/>
              </a:ext>
            </a:extLst>
          </p:cNvPr>
          <p:cNvSpPr txBox="1"/>
          <p:nvPr/>
        </p:nvSpPr>
        <p:spPr>
          <a:xfrm>
            <a:off x="1676400" y="6214646"/>
            <a:ext cx="5600700" cy="338554"/>
          </a:xfrm>
          <a:prstGeom prst="rect">
            <a:avLst/>
          </a:prstGeom>
          <a:solidFill>
            <a:schemeClr val="bg2"/>
          </a:solidFill>
        </p:spPr>
        <p:txBody>
          <a:bodyPr wrap="square" rtlCol="0">
            <a:spAutoFit/>
          </a:bodyPr>
          <a:lstStyle/>
          <a:p>
            <a:r>
              <a:rPr lang="zh-CN" altLang="en-US" sz="1600" dirty="0"/>
              <a:t> 阶段</a:t>
            </a:r>
            <a:r>
              <a:rPr lang="en-US" altLang="zh-CN" sz="1600" dirty="0"/>
              <a:t>1   </a:t>
            </a:r>
            <a:r>
              <a:rPr lang="zh-CN" altLang="en-US" sz="1600" dirty="0"/>
              <a:t>阶段</a:t>
            </a:r>
            <a:r>
              <a:rPr lang="en-US" altLang="zh-CN" sz="1600" dirty="0"/>
              <a:t>2   </a:t>
            </a:r>
            <a:r>
              <a:rPr lang="zh-CN" altLang="en-US" sz="1600" dirty="0"/>
              <a:t>阶段</a:t>
            </a:r>
            <a:r>
              <a:rPr lang="en-US" altLang="zh-CN" sz="1600" dirty="0"/>
              <a:t>3    </a:t>
            </a:r>
            <a:r>
              <a:rPr lang="zh-CN" altLang="en-US" sz="1600" dirty="0"/>
              <a:t>阶段</a:t>
            </a:r>
            <a:r>
              <a:rPr lang="en-US" altLang="zh-CN" sz="1600" dirty="0"/>
              <a:t>4   </a:t>
            </a:r>
            <a:r>
              <a:rPr lang="zh-CN" altLang="en-US" sz="1600" dirty="0"/>
              <a:t>阶段</a:t>
            </a:r>
            <a:r>
              <a:rPr lang="en-US" altLang="zh-CN" sz="1600" dirty="0"/>
              <a:t>5    </a:t>
            </a:r>
            <a:r>
              <a:rPr lang="zh-CN" altLang="en-US" sz="1600" dirty="0"/>
              <a:t>阶段</a:t>
            </a:r>
            <a:r>
              <a:rPr lang="en-US" altLang="zh-CN" sz="1600" dirty="0"/>
              <a:t>6</a:t>
            </a:r>
            <a:endParaRPr lang="zh-CN" altLang="en-US" sz="1600" dirty="0"/>
          </a:p>
        </p:txBody>
      </p:sp>
      <p:sp>
        <p:nvSpPr>
          <p:cNvPr id="4" name="矩形: 圆角 3">
            <a:extLst>
              <a:ext uri="{FF2B5EF4-FFF2-40B4-BE49-F238E27FC236}">
                <a16:creationId xmlns:a16="http://schemas.microsoft.com/office/drawing/2014/main" id="{F72B7ED8-A48C-36CA-D225-9E0B76720063}"/>
              </a:ext>
            </a:extLst>
          </p:cNvPr>
          <p:cNvSpPr/>
          <p:nvPr/>
        </p:nvSpPr>
        <p:spPr>
          <a:xfrm>
            <a:off x="685800" y="3429000"/>
            <a:ext cx="4648200" cy="476250"/>
          </a:xfrm>
          <a:prstGeom prst="roundRect">
            <a:avLst>
              <a:gd name="adj" fmla="val 5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kern="0" dirty="0">
                <a:solidFill>
                  <a:schemeClr val="tx1"/>
                </a:solidFill>
                <a:latin typeface="Times New Roman" panose="02020603050405020304" pitchFamily="18" charset="0"/>
              </a:rPr>
              <a:t>思考：例</a:t>
            </a:r>
            <a:r>
              <a:rPr lang="en-US" altLang="zh-CN" sz="2000" b="1" kern="0" dirty="0">
                <a:solidFill>
                  <a:schemeClr val="tx1"/>
                </a:solidFill>
                <a:latin typeface="Times New Roman" panose="02020603050405020304" pitchFamily="18" charset="0"/>
              </a:rPr>
              <a:t>1</a:t>
            </a:r>
            <a:r>
              <a:rPr lang="zh-CN" altLang="en-US" sz="2000" b="1" kern="0" dirty="0">
                <a:solidFill>
                  <a:schemeClr val="tx1"/>
                </a:solidFill>
                <a:latin typeface="Times New Roman" panose="02020603050405020304" pitchFamily="18" charset="0"/>
              </a:rPr>
              <a:t>可分为几个阶段来求解？</a:t>
            </a:r>
          </a:p>
        </p:txBody>
      </p:sp>
      <p:sp>
        <p:nvSpPr>
          <p:cNvPr id="5" name="矩形: 圆角 4">
            <a:extLst>
              <a:ext uri="{FF2B5EF4-FFF2-40B4-BE49-F238E27FC236}">
                <a16:creationId xmlns:a16="http://schemas.microsoft.com/office/drawing/2014/main" id="{4DB8036D-D03F-3199-6469-CC70C1BA5E4F}"/>
              </a:ext>
            </a:extLst>
          </p:cNvPr>
          <p:cNvSpPr/>
          <p:nvPr/>
        </p:nvSpPr>
        <p:spPr>
          <a:xfrm>
            <a:off x="671477" y="3429000"/>
            <a:ext cx="7239000" cy="476250"/>
          </a:xfrm>
          <a:prstGeom prst="roundRect">
            <a:avLst>
              <a:gd name="adj" fmla="val 5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kern="0" dirty="0">
                <a:solidFill>
                  <a:schemeClr val="tx1"/>
                </a:solidFill>
                <a:latin typeface="Times New Roman" panose="02020603050405020304" pitchFamily="18" charset="0"/>
              </a:rPr>
              <a:t>例</a:t>
            </a:r>
            <a:r>
              <a:rPr lang="en-US" altLang="zh-CN" sz="2000" b="1" kern="0" dirty="0">
                <a:solidFill>
                  <a:schemeClr val="tx1"/>
                </a:solidFill>
                <a:latin typeface="Times New Roman" panose="02020603050405020304" pitchFamily="18" charset="0"/>
              </a:rPr>
              <a:t>1</a:t>
            </a:r>
            <a:r>
              <a:rPr lang="zh-CN" altLang="en-US" sz="2000" b="1" kern="0" dirty="0">
                <a:solidFill>
                  <a:schemeClr val="tx1"/>
                </a:solidFill>
                <a:latin typeface="Times New Roman" panose="02020603050405020304" pitchFamily="18" charset="0"/>
              </a:rPr>
              <a:t>可分为</a:t>
            </a:r>
            <a:r>
              <a:rPr lang="en-US" altLang="zh-CN" sz="2000" b="1" kern="0" dirty="0">
                <a:solidFill>
                  <a:schemeClr val="tx1"/>
                </a:solidFill>
                <a:latin typeface="Times New Roman" panose="02020603050405020304" pitchFamily="18" charset="0"/>
              </a:rPr>
              <a:t>6</a:t>
            </a:r>
            <a:r>
              <a:rPr lang="zh-CN" altLang="en-US" sz="2000" b="1" kern="0" dirty="0">
                <a:solidFill>
                  <a:schemeClr val="tx1"/>
                </a:solidFill>
                <a:latin typeface="Times New Roman" panose="02020603050405020304" pitchFamily="18" charset="0"/>
              </a:rPr>
              <a:t>个阶段来求解，</a:t>
            </a:r>
            <a:r>
              <a:rPr lang="en-US" altLang="zh-CN" sz="2000" b="1" i="1" kern="0" dirty="0">
                <a:solidFill>
                  <a:schemeClr val="tx1"/>
                </a:solidFill>
                <a:latin typeface="Times New Roman" panose="02020603050405020304" pitchFamily="18" charset="0"/>
              </a:rPr>
              <a:t>k</a:t>
            </a:r>
            <a:r>
              <a:rPr lang="zh-CN" altLang="en-US" sz="2000" b="1" kern="0" dirty="0">
                <a:solidFill>
                  <a:schemeClr val="tx1"/>
                </a:solidFill>
                <a:latin typeface="Times New Roman" panose="02020603050405020304" pitchFamily="18" charset="0"/>
              </a:rPr>
              <a:t>分别等于</a:t>
            </a:r>
            <a:r>
              <a:rPr lang="en-US" altLang="zh-CN" sz="2000" b="1" kern="0" dirty="0">
                <a:solidFill>
                  <a:schemeClr val="tx1"/>
                </a:solidFill>
                <a:latin typeface="Times New Roman" panose="02020603050405020304" pitchFamily="18" charset="0"/>
              </a:rPr>
              <a:t>1</a:t>
            </a:r>
            <a:r>
              <a:rPr lang="zh-CN" altLang="en-US" sz="2000" b="1" kern="0" dirty="0">
                <a:solidFill>
                  <a:schemeClr val="tx1"/>
                </a:solidFill>
                <a:latin typeface="Times New Roman" panose="02020603050405020304" pitchFamily="18" charset="0"/>
              </a:rPr>
              <a:t>、</a:t>
            </a:r>
            <a:r>
              <a:rPr lang="en-US" altLang="zh-CN" sz="2000" b="1" kern="0" dirty="0">
                <a:solidFill>
                  <a:schemeClr val="tx1"/>
                </a:solidFill>
                <a:latin typeface="Times New Roman" panose="02020603050405020304" pitchFamily="18" charset="0"/>
              </a:rPr>
              <a:t>2</a:t>
            </a:r>
            <a:r>
              <a:rPr lang="zh-CN" altLang="en-US" sz="2000" b="1" kern="0" dirty="0">
                <a:solidFill>
                  <a:schemeClr val="tx1"/>
                </a:solidFill>
                <a:latin typeface="Times New Roman" panose="02020603050405020304" pitchFamily="18" charset="0"/>
              </a:rPr>
              <a:t>、</a:t>
            </a:r>
            <a:r>
              <a:rPr lang="en-US" altLang="zh-CN" sz="2000" b="1" kern="0" dirty="0">
                <a:solidFill>
                  <a:schemeClr val="tx1"/>
                </a:solidFill>
                <a:latin typeface="Times New Roman" panose="02020603050405020304" pitchFamily="18" charset="0"/>
              </a:rPr>
              <a:t>3</a:t>
            </a:r>
            <a:r>
              <a:rPr lang="zh-CN" altLang="en-US" sz="2000" b="1" kern="0" dirty="0">
                <a:solidFill>
                  <a:schemeClr val="tx1"/>
                </a:solidFill>
                <a:latin typeface="Times New Roman" panose="02020603050405020304" pitchFamily="18" charset="0"/>
              </a:rPr>
              <a:t>、</a:t>
            </a:r>
            <a:r>
              <a:rPr lang="en-US" altLang="zh-CN" sz="2000" b="1" kern="0" dirty="0">
                <a:solidFill>
                  <a:schemeClr val="tx1"/>
                </a:solidFill>
                <a:latin typeface="Times New Roman" panose="02020603050405020304" pitchFamily="18" charset="0"/>
              </a:rPr>
              <a:t>4</a:t>
            </a:r>
            <a:r>
              <a:rPr lang="zh-CN" altLang="en-US" sz="2000" b="1" kern="0" dirty="0">
                <a:solidFill>
                  <a:schemeClr val="tx1"/>
                </a:solidFill>
                <a:latin typeface="Times New Roman" panose="02020603050405020304" pitchFamily="18" charset="0"/>
              </a:rPr>
              <a:t>、</a:t>
            </a:r>
            <a:r>
              <a:rPr lang="en-US" altLang="zh-CN" sz="2000" b="1" kern="0" dirty="0">
                <a:solidFill>
                  <a:schemeClr val="tx1"/>
                </a:solidFill>
                <a:latin typeface="Times New Roman" panose="02020603050405020304" pitchFamily="18" charset="0"/>
              </a:rPr>
              <a:t>5</a:t>
            </a:r>
            <a:r>
              <a:rPr lang="zh-CN" altLang="en-US" sz="2000" b="1" kern="0" dirty="0">
                <a:solidFill>
                  <a:schemeClr val="tx1"/>
                </a:solidFill>
                <a:latin typeface="Times New Roman" panose="02020603050405020304" pitchFamily="18" charset="0"/>
              </a:rPr>
              <a:t>、</a:t>
            </a:r>
            <a:r>
              <a:rPr lang="en-US" altLang="zh-CN" sz="2000" b="1" kern="0" dirty="0">
                <a:solidFill>
                  <a:schemeClr val="tx1"/>
                </a:solidFill>
                <a:latin typeface="Times New Roman" panose="02020603050405020304" pitchFamily="18" charset="0"/>
              </a:rPr>
              <a:t>6</a:t>
            </a:r>
            <a:r>
              <a:rPr lang="zh-CN" altLang="en-US" sz="2000" b="1" kern="0" dirty="0">
                <a:solidFill>
                  <a:schemeClr val="tx1"/>
                </a:solidFill>
                <a:latin typeface="Times New Roman" panose="02020603050405020304" pitchFamily="18"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1749"/>
                                        </p:tgtEl>
                                        <p:attrNameLst>
                                          <p:attrName>style.visibility</p:attrName>
                                        </p:attrNameLst>
                                      </p:cBhvr>
                                      <p:to>
                                        <p:strVal val="visible"/>
                                      </p:to>
                                    </p:set>
                                    <p:anim calcmode="lin" valueType="num">
                                      <p:cBhvr additive="base">
                                        <p:cTn id="17" dur="500" fill="hold"/>
                                        <p:tgtEl>
                                          <p:spTgt spid="31749"/>
                                        </p:tgtEl>
                                        <p:attrNameLst>
                                          <p:attrName>ppt_x</p:attrName>
                                        </p:attrNameLst>
                                      </p:cBhvr>
                                      <p:tavLst>
                                        <p:tav tm="0">
                                          <p:val>
                                            <p:strVal val="#ppt_x"/>
                                          </p:val>
                                        </p:tav>
                                        <p:tav tm="100000">
                                          <p:val>
                                            <p:strVal val="#ppt_x"/>
                                          </p:val>
                                        </p:tav>
                                      </p:tavLst>
                                    </p:anim>
                                    <p:anim calcmode="lin" valueType="num">
                                      <p:cBhvr additive="base">
                                        <p:cTn id="18"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a:xfrm>
            <a:off x="762000" y="1600200"/>
            <a:ext cx="7620000" cy="1600200"/>
          </a:xfrm>
        </p:spPr>
        <p:txBody>
          <a:bodyPr/>
          <a:lstStyle/>
          <a:p>
            <a:pPr marL="0" indent="0" algn="just" eaLnBrk="1" hangingPunct="1">
              <a:lnSpc>
                <a:spcPct val="150000"/>
              </a:lnSpc>
              <a:spcBef>
                <a:spcPct val="0"/>
              </a:spcBef>
              <a:buFont typeface="Wingdings" panose="05000000000000000000" pitchFamily="2" charset="2"/>
              <a:buNone/>
            </a:pPr>
            <a:r>
              <a:rPr lang="zh-CN" altLang="en-US" sz="2400" dirty="0">
                <a:latin typeface="Times New Roman" panose="02020603050405020304" pitchFamily="18" charset="0"/>
              </a:rPr>
              <a:t> </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zh-CN" altLang="en-US" sz="2400" u="sng" dirty="0">
                <a:solidFill>
                  <a:schemeClr val="hlink"/>
                </a:solidFill>
                <a:latin typeface="Times New Roman" panose="02020603050405020304" pitchFamily="18" charset="0"/>
              </a:rPr>
              <a:t>状态</a:t>
            </a:r>
          </a:p>
          <a:p>
            <a:pPr marL="0" lvl="1" indent="0" algn="just" eaLnBrk="1" hangingPunct="1">
              <a:lnSpc>
                <a:spcPct val="150000"/>
              </a:lnSpc>
              <a:spcBef>
                <a:spcPct val="0"/>
              </a:spcBef>
              <a:buFont typeface="Wingdings" panose="05000000000000000000" pitchFamily="2" charset="2"/>
              <a:buNone/>
            </a:pPr>
            <a:r>
              <a:rPr lang="zh-CN" altLang="en-US" sz="2400" dirty="0"/>
              <a:t>      状态表示</a:t>
            </a:r>
            <a:r>
              <a:rPr lang="zh-CN" altLang="en-US" sz="2400" dirty="0">
                <a:solidFill>
                  <a:schemeClr val="hlink"/>
                </a:solidFill>
              </a:rPr>
              <a:t>每个阶段开始</a:t>
            </a:r>
            <a:r>
              <a:rPr lang="zh-CN" altLang="en-US" sz="2400" dirty="0"/>
              <a:t>所处的自然状况或客观条件，它描述了研究问题过程的状况，又称不可控因素。</a:t>
            </a:r>
            <a:endParaRPr lang="en-US" altLang="zh-CN" sz="2400" dirty="0"/>
          </a:p>
        </p:txBody>
      </p:sp>
      <p:sp>
        <p:nvSpPr>
          <p:cNvPr id="32772"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283AABD8-EA4C-4163-8DB7-67EC0BB03E1C}" type="slidenum">
              <a:rPr lang="zh-CN" altLang="zh-CN" sz="1400">
                <a:latin typeface="Arial" panose="020B0604020202020204" pitchFamily="34" charset="0"/>
              </a:rPr>
              <a:pPr>
                <a:spcBef>
                  <a:spcPct val="0"/>
                </a:spcBef>
                <a:buClr>
                  <a:srgbClr val="000000"/>
                </a:buClr>
                <a:buFontTx/>
                <a:buNone/>
              </a:pPr>
              <a:t>17</a:t>
            </a:fld>
            <a:endParaRPr lang="en-US" altLang="zh-CN" sz="1400">
              <a:latin typeface="Arial" panose="020B0604020202020204" pitchFamily="34" charset="0"/>
            </a:endParaRPr>
          </a:p>
        </p:txBody>
      </p:sp>
      <p:sp>
        <p:nvSpPr>
          <p:cNvPr id="32773" name="Rectangle 2"/>
          <p:cNvSpPr txBox="1">
            <a:spLocks noChangeArrowheads="1"/>
          </p:cNvSpPr>
          <p:nvPr/>
        </p:nvSpPr>
        <p:spPr bwMode="auto">
          <a:xfrm>
            <a:off x="576263" y="609600"/>
            <a:ext cx="6348412"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2</a:t>
            </a:r>
            <a:r>
              <a:rPr lang="zh-CN" altLang="en-US" sz="3200" dirty="0">
                <a:solidFill>
                  <a:srgbClr val="000099"/>
                </a:solidFill>
                <a:latin typeface="黑体" panose="02010609060101010101" pitchFamily="49" charset="-122"/>
                <a:ea typeface="黑体" panose="02010609060101010101" pitchFamily="49" charset="-122"/>
              </a:rPr>
              <a:t>）状态</a:t>
            </a:r>
          </a:p>
        </p:txBody>
      </p:sp>
      <p:pic>
        <p:nvPicPr>
          <p:cNvPr id="2" name="Picture 4" descr="3931956241398087791793">
            <a:extLst>
              <a:ext uri="{FF2B5EF4-FFF2-40B4-BE49-F238E27FC236}">
                <a16:creationId xmlns:a16="http://schemas.microsoft.com/office/drawing/2014/main" id="{792877D0-38B8-5F10-08F0-847D80FAC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3979970"/>
            <a:ext cx="5372100" cy="2468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文本框 2">
            <a:extLst>
              <a:ext uri="{FF2B5EF4-FFF2-40B4-BE49-F238E27FC236}">
                <a16:creationId xmlns:a16="http://schemas.microsoft.com/office/drawing/2014/main" id="{41A102FB-46A4-771A-F0F2-44B01BA087C7}"/>
              </a:ext>
            </a:extLst>
          </p:cNvPr>
          <p:cNvSpPr txBox="1"/>
          <p:nvPr/>
        </p:nvSpPr>
        <p:spPr>
          <a:xfrm>
            <a:off x="1676400" y="6172821"/>
            <a:ext cx="5600700" cy="338554"/>
          </a:xfrm>
          <a:prstGeom prst="rect">
            <a:avLst/>
          </a:prstGeom>
          <a:solidFill>
            <a:schemeClr val="bg2"/>
          </a:solidFill>
        </p:spPr>
        <p:txBody>
          <a:bodyPr wrap="square" rtlCol="0">
            <a:spAutoFit/>
          </a:bodyPr>
          <a:lstStyle/>
          <a:p>
            <a:r>
              <a:rPr lang="zh-CN" altLang="en-US" sz="1600" dirty="0"/>
              <a:t> 阶段</a:t>
            </a:r>
            <a:r>
              <a:rPr lang="en-US" altLang="zh-CN" sz="1600" dirty="0"/>
              <a:t>1   </a:t>
            </a:r>
            <a:r>
              <a:rPr lang="zh-CN" altLang="en-US" sz="1600" dirty="0"/>
              <a:t>阶段</a:t>
            </a:r>
            <a:r>
              <a:rPr lang="en-US" altLang="zh-CN" sz="1600" dirty="0"/>
              <a:t>2   </a:t>
            </a:r>
            <a:r>
              <a:rPr lang="zh-CN" altLang="en-US" sz="1600" dirty="0"/>
              <a:t>阶段</a:t>
            </a:r>
            <a:r>
              <a:rPr lang="en-US" altLang="zh-CN" sz="1600" dirty="0"/>
              <a:t>3    </a:t>
            </a:r>
            <a:r>
              <a:rPr lang="zh-CN" altLang="en-US" sz="1600" dirty="0"/>
              <a:t>阶段</a:t>
            </a:r>
            <a:r>
              <a:rPr lang="en-US" altLang="zh-CN" sz="1600" dirty="0"/>
              <a:t>4   </a:t>
            </a:r>
            <a:r>
              <a:rPr lang="zh-CN" altLang="en-US" sz="1600" dirty="0"/>
              <a:t>阶段</a:t>
            </a:r>
            <a:r>
              <a:rPr lang="en-US" altLang="zh-CN" sz="1600" dirty="0"/>
              <a:t>5    </a:t>
            </a:r>
            <a:r>
              <a:rPr lang="zh-CN" altLang="en-US" sz="1600" dirty="0"/>
              <a:t>阶段</a:t>
            </a:r>
            <a:r>
              <a:rPr lang="en-US" altLang="zh-CN" sz="1600" dirty="0"/>
              <a:t>6</a:t>
            </a:r>
            <a:endParaRPr lang="zh-CN" altLang="en-US" sz="1600" dirty="0"/>
          </a:p>
        </p:txBody>
      </p:sp>
      <p:sp>
        <p:nvSpPr>
          <p:cNvPr id="4" name="Rectangle 3">
            <a:extLst>
              <a:ext uri="{FF2B5EF4-FFF2-40B4-BE49-F238E27FC236}">
                <a16:creationId xmlns:a16="http://schemas.microsoft.com/office/drawing/2014/main" id="{241BFA76-5D1F-E603-4234-9F81C8A55851}"/>
              </a:ext>
            </a:extLst>
          </p:cNvPr>
          <p:cNvSpPr txBox="1">
            <a:spLocks noChangeArrowheads="1"/>
          </p:cNvSpPr>
          <p:nvPr/>
        </p:nvSpPr>
        <p:spPr bwMode="auto">
          <a:xfrm>
            <a:off x="613505" y="3435375"/>
            <a:ext cx="5787296" cy="609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342900" lvl="1" indent="-342900" algn="just" eaLnBrk="1" hangingPunct="1">
              <a:lnSpc>
                <a:spcPct val="125000"/>
              </a:lnSpc>
              <a:spcBef>
                <a:spcPct val="0"/>
              </a:spcBef>
              <a:buFont typeface="Wingdings" panose="05000000000000000000" pitchFamily="2" charset="2"/>
              <a:buChar char="p"/>
            </a:pPr>
            <a:r>
              <a:rPr lang="zh-CN" altLang="en-US" sz="2200" kern="0" dirty="0"/>
              <a:t>在例</a:t>
            </a:r>
            <a:r>
              <a:rPr lang="en-US" altLang="zh-CN" sz="2200" kern="0" dirty="0"/>
              <a:t>1</a:t>
            </a:r>
            <a:r>
              <a:rPr lang="zh-CN" altLang="en-US" sz="2200" kern="0" dirty="0"/>
              <a:t>中，状态就是某阶段的出发位置。</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574675" y="685800"/>
            <a:ext cx="6435725" cy="835025"/>
          </a:xfrm>
        </p:spPr>
        <p:txBody>
          <a:bodyPr/>
          <a:lstStyle/>
          <a:p>
            <a:pPr eaLnBrk="1" hangingPunct="1">
              <a:buClr>
                <a:srgbClr val="000000"/>
              </a:buClr>
            </a:pPr>
            <a:r>
              <a:rPr lang="en-US" altLang="zh-CN" sz="3200" dirty="0">
                <a:latin typeface="Times New Roman" panose="02020603050405020304" pitchFamily="18" charset="0"/>
                <a:ea typeface="黑体" panose="02010609060101010101" pitchFamily="49" charset="-122"/>
              </a:rPr>
              <a:t>2</a:t>
            </a:r>
            <a:r>
              <a:rPr lang="en-US" altLang="zh-CN" sz="3200" dirty="0">
                <a:latin typeface="黑体" panose="02010609060101010101" pitchFamily="49" charset="-122"/>
                <a:ea typeface="黑体" panose="02010609060101010101" pitchFamily="49" charset="-122"/>
              </a:rPr>
              <a:t> </a:t>
            </a:r>
            <a:r>
              <a:rPr lang="zh-CN" altLang="en-US" sz="3200" dirty="0">
                <a:latin typeface="黑体" panose="02010609060101010101" pitchFamily="49" charset="-122"/>
                <a:ea typeface="黑体" panose="02010609060101010101" pitchFamily="49" charset="-122"/>
              </a:rPr>
              <a:t>动态规划基本概念</a:t>
            </a:r>
            <a:r>
              <a:rPr lang="en-US" altLang="zh-CN" sz="3200" dirty="0">
                <a:latin typeface="黑体" panose="02010609060101010101" pitchFamily="49" charset="-122"/>
                <a:ea typeface="黑体" panose="02010609060101010101" pitchFamily="49" charset="-122"/>
              </a:rPr>
              <a:t>-</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2</a:t>
            </a:r>
            <a:r>
              <a:rPr lang="zh-CN" altLang="en-US" sz="3200" dirty="0">
                <a:solidFill>
                  <a:srgbClr val="000099"/>
                </a:solidFill>
                <a:latin typeface="黑体" panose="02010609060101010101" pitchFamily="49" charset="-122"/>
                <a:ea typeface="黑体" panose="02010609060101010101" pitchFamily="49" charset="-122"/>
              </a:rPr>
              <a:t>）状态</a:t>
            </a:r>
          </a:p>
        </p:txBody>
      </p:sp>
      <p:sp>
        <p:nvSpPr>
          <p:cNvPr id="33795" name="Rectangle 3"/>
          <p:cNvSpPr>
            <a:spLocks noGrp="1" noChangeArrowheads="1"/>
          </p:cNvSpPr>
          <p:nvPr>
            <p:ph type="body" idx="1"/>
          </p:nvPr>
        </p:nvSpPr>
        <p:spPr>
          <a:xfrm>
            <a:off x="533400" y="1701800"/>
            <a:ext cx="8112125" cy="2108200"/>
          </a:xfrm>
        </p:spPr>
        <p:txBody>
          <a:bodyPr/>
          <a:lstStyle/>
          <a:p>
            <a:pPr marL="342900" lvl="1" indent="-342900" algn="just" eaLnBrk="1" hangingPunct="1">
              <a:lnSpc>
                <a:spcPct val="125000"/>
              </a:lnSpc>
              <a:spcBef>
                <a:spcPts val="1200"/>
              </a:spcBef>
              <a:buFont typeface="Wingdings" panose="05000000000000000000" pitchFamily="2" charset="2"/>
              <a:buChar char="p"/>
            </a:pPr>
            <a:r>
              <a:rPr lang="zh-CN" altLang="en-US" sz="2000" dirty="0"/>
              <a:t>在例</a:t>
            </a:r>
            <a:r>
              <a:rPr lang="en-US" altLang="zh-CN" sz="2000" dirty="0"/>
              <a:t>1</a:t>
            </a:r>
            <a:r>
              <a:rPr lang="zh-CN" altLang="en-US" sz="2000" dirty="0"/>
              <a:t>中，状态就是某阶段的出发位置。它既是该阶段某支路的</a:t>
            </a:r>
            <a:r>
              <a:rPr lang="zh-CN" altLang="en-US" sz="2000" b="1" dirty="0"/>
              <a:t>起点</a:t>
            </a:r>
            <a:r>
              <a:rPr lang="zh-CN" altLang="en-US" sz="2000" dirty="0"/>
              <a:t>，又是前一阶段某支路的</a:t>
            </a:r>
            <a:r>
              <a:rPr lang="zh-CN" altLang="en-US" sz="2000" b="1" dirty="0"/>
              <a:t>终点</a:t>
            </a:r>
            <a:r>
              <a:rPr lang="zh-CN" altLang="en-US" sz="2000" dirty="0"/>
              <a:t>。（</a:t>
            </a:r>
            <a:r>
              <a:rPr lang="zh-CN" altLang="en-US" sz="2000" b="1" dirty="0">
                <a:solidFill>
                  <a:schemeClr val="accent2"/>
                </a:solidFill>
              </a:rPr>
              <a:t>当前状态就是当前所处的位置</a:t>
            </a:r>
            <a:r>
              <a:rPr lang="zh-CN" altLang="en-US" sz="2000" dirty="0"/>
              <a:t>）</a:t>
            </a:r>
            <a:endParaRPr lang="en-US" altLang="zh-CN" sz="2000" dirty="0"/>
          </a:p>
          <a:p>
            <a:pPr marL="342900" lvl="1" indent="-342900" algn="just" eaLnBrk="1" hangingPunct="1">
              <a:lnSpc>
                <a:spcPct val="125000"/>
              </a:lnSpc>
              <a:spcBef>
                <a:spcPts val="1200"/>
              </a:spcBef>
              <a:buFont typeface="Wingdings" panose="05000000000000000000" pitchFamily="2" charset="2"/>
              <a:buChar char="p"/>
            </a:pPr>
            <a:r>
              <a:rPr lang="zh-CN" altLang="en-US" sz="2000" dirty="0"/>
              <a:t>通常</a:t>
            </a:r>
            <a:r>
              <a:rPr lang="zh-CN" altLang="en-US" sz="2000" dirty="0">
                <a:solidFill>
                  <a:srgbClr val="0070C0"/>
                </a:solidFill>
              </a:rPr>
              <a:t>一个阶段有</a:t>
            </a:r>
            <a:r>
              <a:rPr lang="zh-CN" altLang="en-US" sz="2000" b="1" dirty="0">
                <a:solidFill>
                  <a:srgbClr val="0070C0"/>
                </a:solidFill>
              </a:rPr>
              <a:t>若干个状态</a:t>
            </a:r>
            <a:r>
              <a:rPr lang="zh-CN" altLang="en-US" sz="2000" dirty="0"/>
              <a:t>，第一阶段有一个状态就是点</a:t>
            </a:r>
            <a:r>
              <a:rPr lang="en-US" altLang="zh-CN" sz="2000" dirty="0"/>
              <a:t>A</a:t>
            </a:r>
            <a:r>
              <a:rPr lang="zh-CN" altLang="en-US" sz="2000" dirty="0"/>
              <a:t>，第二阶段有两个状态，即点集合｛</a:t>
            </a:r>
            <a:r>
              <a:rPr lang="en-US" altLang="zh-CN" sz="2000" dirty="0"/>
              <a:t>B</a:t>
            </a:r>
            <a:r>
              <a:rPr lang="en-US" altLang="zh-CN" sz="2000" baseline="-25000" dirty="0"/>
              <a:t>1</a:t>
            </a:r>
            <a:r>
              <a:rPr lang="zh-CN" altLang="en-US" sz="2000" dirty="0"/>
              <a:t>，</a:t>
            </a:r>
            <a:r>
              <a:rPr lang="en-US" altLang="zh-CN" sz="2000" dirty="0"/>
              <a:t>B</a:t>
            </a:r>
            <a:r>
              <a:rPr lang="en-US" altLang="zh-CN" sz="2000" baseline="-25000" dirty="0"/>
              <a:t>2</a:t>
            </a:r>
            <a:r>
              <a:rPr lang="zh-CN" altLang="en-US" sz="2000" dirty="0"/>
              <a:t>｝，一般第</a:t>
            </a:r>
            <a:r>
              <a:rPr lang="en-US" altLang="zh-CN" sz="2000" dirty="0"/>
              <a:t>k</a:t>
            </a:r>
            <a:r>
              <a:rPr lang="zh-CN" altLang="en-US" sz="2000" dirty="0"/>
              <a:t>阶段的状态就是第</a:t>
            </a:r>
            <a:r>
              <a:rPr lang="en-US" altLang="zh-CN" sz="2000" dirty="0"/>
              <a:t>k</a:t>
            </a:r>
            <a:r>
              <a:rPr lang="zh-CN" altLang="en-US" sz="2000" dirty="0"/>
              <a:t>阶段所有始点的集合。</a:t>
            </a:r>
          </a:p>
        </p:txBody>
      </p:sp>
      <p:pic>
        <p:nvPicPr>
          <p:cNvPr id="3379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3886200"/>
            <a:ext cx="5496876" cy="220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idx="1"/>
          </p:nvPr>
        </p:nvSpPr>
        <p:spPr>
          <a:xfrm>
            <a:off x="457200" y="1905000"/>
            <a:ext cx="8169275" cy="4175125"/>
          </a:xfrm>
        </p:spPr>
        <p:txBody>
          <a:bodyPr/>
          <a:lstStyle/>
          <a:p>
            <a:pPr marL="812800" indent="-812800" algn="just" eaLnBrk="1" hangingPunct="1">
              <a:lnSpc>
                <a:spcPct val="150000"/>
              </a:lnSpc>
              <a:spcBef>
                <a:spcPct val="0"/>
              </a:spcBef>
              <a:buFont typeface="Wingdings" panose="05000000000000000000" pitchFamily="2" charset="2"/>
              <a:buNone/>
            </a:pPr>
            <a:r>
              <a:rPr lang="zh-CN" altLang="en-US" sz="2400">
                <a:latin typeface="Times New Roman" panose="02020603050405020304" pitchFamily="18" charset="0"/>
              </a:rPr>
              <a:t>       </a:t>
            </a:r>
            <a:r>
              <a:rPr lang="zh-CN" altLang="en-US" sz="2400" u="sng">
                <a:solidFill>
                  <a:schemeClr val="hlink"/>
                </a:solidFill>
                <a:latin typeface="Times New Roman" panose="02020603050405020304" pitchFamily="18" charset="0"/>
              </a:rPr>
              <a:t>状态变量</a:t>
            </a:r>
          </a:p>
          <a:p>
            <a:pPr marL="1168400" lvl="1" indent="-711200" algn="just" eaLnBrk="1" hangingPunct="1">
              <a:lnSpc>
                <a:spcPct val="150000"/>
              </a:lnSpc>
              <a:spcBef>
                <a:spcPct val="0"/>
              </a:spcBef>
              <a:buFont typeface="Wingdings" panose="05000000000000000000" pitchFamily="2" charset="2"/>
              <a:buChar char="u"/>
            </a:pPr>
            <a:r>
              <a:rPr lang="zh-CN" altLang="en-US" sz="2400" b="1">
                <a:latin typeface="Times New Roman" panose="02020603050405020304" pitchFamily="18" charset="0"/>
              </a:rPr>
              <a:t>描述过程状态的变量称为</a:t>
            </a:r>
            <a:r>
              <a:rPr lang="zh-CN" altLang="en-US" sz="2400" b="1" u="sng">
                <a:solidFill>
                  <a:srgbClr val="C00000"/>
                </a:solidFill>
                <a:latin typeface="Times New Roman" panose="02020603050405020304" pitchFamily="18" charset="0"/>
              </a:rPr>
              <a:t>状态变量</a:t>
            </a:r>
            <a:r>
              <a:rPr lang="zh-CN" altLang="en-US" sz="2400" b="1">
                <a:latin typeface="Times New Roman" panose="02020603050405020304" pitchFamily="18" charset="0"/>
              </a:rPr>
              <a:t>。它可用一个数、一组数或一向量</a:t>
            </a:r>
            <a:r>
              <a:rPr lang="en-US" altLang="zh-CN" sz="2400" b="1">
                <a:latin typeface="Times New Roman" panose="02020603050405020304" pitchFamily="18" charset="0"/>
              </a:rPr>
              <a:t>(</a:t>
            </a:r>
            <a:r>
              <a:rPr lang="zh-CN" altLang="en-US" sz="2400" b="1">
                <a:latin typeface="Times New Roman" panose="02020603050405020304" pitchFamily="18" charset="0"/>
              </a:rPr>
              <a:t>多维情形</a:t>
            </a:r>
            <a:r>
              <a:rPr lang="en-US" altLang="zh-CN" sz="2400" b="1">
                <a:latin typeface="Times New Roman" panose="02020603050405020304" pitchFamily="18" charset="0"/>
              </a:rPr>
              <a:t>)</a:t>
            </a:r>
            <a:r>
              <a:rPr lang="zh-CN" altLang="en-US" sz="2400" b="1">
                <a:latin typeface="Times New Roman" panose="02020603050405020304" pitchFamily="18" charset="0"/>
              </a:rPr>
              <a:t>来描述。</a:t>
            </a:r>
          </a:p>
          <a:p>
            <a:pPr marL="1168400" lvl="1" indent="-711200" algn="just" eaLnBrk="1" hangingPunct="1">
              <a:lnSpc>
                <a:spcPct val="150000"/>
              </a:lnSpc>
              <a:spcBef>
                <a:spcPct val="0"/>
              </a:spcBef>
              <a:buFont typeface="Wingdings" panose="05000000000000000000" pitchFamily="2" charset="2"/>
              <a:buNone/>
            </a:pPr>
            <a:endParaRPr lang="zh-CN" altLang="en-US" sz="2400"/>
          </a:p>
          <a:p>
            <a:pPr marL="1168400" lvl="1" indent="-711200" algn="just" eaLnBrk="1" hangingPunct="1">
              <a:lnSpc>
                <a:spcPct val="150000"/>
              </a:lnSpc>
              <a:spcBef>
                <a:spcPct val="0"/>
              </a:spcBef>
              <a:buFont typeface="Wingdings" panose="05000000000000000000" pitchFamily="2" charset="2"/>
              <a:buNone/>
            </a:pPr>
            <a:endParaRPr lang="zh-CN" altLang="en-US" sz="2400"/>
          </a:p>
        </p:txBody>
      </p:sp>
      <p:sp>
        <p:nvSpPr>
          <p:cNvPr id="34819"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5CB8B283-E404-47B6-BBB2-22C64A852154}"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34820"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E628DF12-84ED-4965-8AC6-07B4284E5E50}" type="slidenum">
              <a:rPr lang="zh-CN" altLang="zh-CN" sz="1400">
                <a:latin typeface="Arial" panose="020B0604020202020204" pitchFamily="34" charset="0"/>
              </a:rPr>
              <a:pPr>
                <a:spcBef>
                  <a:spcPct val="0"/>
                </a:spcBef>
                <a:buClr>
                  <a:srgbClr val="000000"/>
                </a:buClr>
                <a:buFontTx/>
                <a:buNone/>
              </a:pPr>
              <a:t>19</a:t>
            </a:fld>
            <a:endParaRPr lang="en-US" altLang="zh-CN" sz="1400">
              <a:latin typeface="Arial" panose="020B0604020202020204" pitchFamily="34" charset="0"/>
            </a:endParaRPr>
          </a:p>
        </p:txBody>
      </p:sp>
      <p:sp>
        <p:nvSpPr>
          <p:cNvPr id="34821" name="Rectangle 2"/>
          <p:cNvSpPr txBox="1">
            <a:spLocks noChangeArrowheads="1"/>
          </p:cNvSpPr>
          <p:nvPr/>
        </p:nvSpPr>
        <p:spPr bwMode="auto">
          <a:xfrm>
            <a:off x="633413" y="533400"/>
            <a:ext cx="7993062"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 </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2</a:t>
            </a:r>
            <a:r>
              <a:rPr lang="zh-CN" altLang="en-US" sz="3200" dirty="0">
                <a:solidFill>
                  <a:srgbClr val="000099"/>
                </a:solidFill>
                <a:latin typeface="黑体" panose="02010609060101010101" pitchFamily="49" charset="-122"/>
                <a:ea typeface="黑体" panose="02010609060101010101" pitchFamily="49" charset="-122"/>
              </a:rPr>
              <a:t>）状态</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685800" y="4843463"/>
            <a:ext cx="1828800" cy="1295400"/>
          </a:xfrm>
          <a:solidFill>
            <a:schemeClr val="bg1">
              <a:lumMod val="85000"/>
            </a:schemeClr>
          </a:solidFill>
        </p:spPr>
        <p:txBody>
          <a:bodyPr/>
          <a:lstStyle/>
          <a:p>
            <a:pPr marL="0" indent="0" algn="ctr" eaLnBrk="1" hangingPunct="1">
              <a:lnSpc>
                <a:spcPct val="120000"/>
              </a:lnSpc>
              <a:spcBef>
                <a:spcPct val="0"/>
              </a:spcBef>
              <a:buFont typeface="Wingdings" panose="05000000000000000000" pitchFamily="2" charset="2"/>
              <a:buNone/>
              <a:defRPr/>
            </a:pPr>
            <a:r>
              <a:rPr lang="zh-CN" altLang="en-US" sz="2000" dirty="0">
                <a:latin typeface="宋体" panose="02010600030101010101" pitchFamily="2" charset="-122"/>
              </a:rPr>
              <a:t>最短路线问题中“状态集合”的示意图</a:t>
            </a:r>
          </a:p>
        </p:txBody>
      </p:sp>
      <p:grpSp>
        <p:nvGrpSpPr>
          <p:cNvPr id="35843" name="Group 4"/>
          <p:cNvGrpSpPr>
            <a:grpSpLocks/>
          </p:cNvGrpSpPr>
          <p:nvPr/>
        </p:nvGrpSpPr>
        <p:grpSpPr bwMode="auto">
          <a:xfrm>
            <a:off x="2514600" y="4267200"/>
            <a:ext cx="6067425" cy="2451100"/>
            <a:chOff x="839" y="1389"/>
            <a:chExt cx="4218" cy="1998"/>
          </a:xfrm>
        </p:grpSpPr>
        <p:pic>
          <p:nvPicPr>
            <p:cNvPr id="35846" name="Picture 5" descr="12015622913980877917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 y="1389"/>
              <a:ext cx="4218" cy="19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7" name="Line 6"/>
            <p:cNvSpPr>
              <a:spLocks noChangeShapeType="1"/>
            </p:cNvSpPr>
            <p:nvPr/>
          </p:nvSpPr>
          <p:spPr bwMode="auto">
            <a:xfrm rot="5400000">
              <a:off x="3892" y="2487"/>
              <a:ext cx="1797" cy="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5844" name="Rectangle 2"/>
          <p:cNvSpPr txBox="1">
            <a:spLocks noChangeArrowheads="1"/>
          </p:cNvSpPr>
          <p:nvPr/>
        </p:nvSpPr>
        <p:spPr bwMode="auto">
          <a:xfrm>
            <a:off x="533400" y="574675"/>
            <a:ext cx="699135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2</a:t>
            </a:r>
            <a:r>
              <a:rPr lang="zh-CN" altLang="en-US" sz="3200" dirty="0">
                <a:solidFill>
                  <a:srgbClr val="000099"/>
                </a:solidFill>
                <a:latin typeface="黑体" panose="02010609060101010101" pitchFamily="49" charset="-122"/>
                <a:ea typeface="黑体" panose="02010609060101010101" pitchFamily="49" charset="-122"/>
              </a:rPr>
              <a:t>）状态</a:t>
            </a:r>
          </a:p>
        </p:txBody>
      </p:sp>
      <p:sp>
        <p:nvSpPr>
          <p:cNvPr id="23559" name="Rectangle 3"/>
          <p:cNvSpPr txBox="1">
            <a:spLocks noChangeArrowheads="1"/>
          </p:cNvSpPr>
          <p:nvPr/>
        </p:nvSpPr>
        <p:spPr bwMode="auto">
          <a:xfrm>
            <a:off x="609600" y="1676400"/>
            <a:ext cx="8118475" cy="2376488"/>
          </a:xfrm>
          <a:prstGeom prst="rect">
            <a:avLst/>
          </a:prstGeom>
          <a:noFill/>
          <a:ln>
            <a:noFill/>
          </a:ln>
          <a:effectLst/>
        </p:spPr>
        <p:txBody>
          <a:bodyPr/>
          <a:lstStyle>
            <a:lvl1pPr marL="812800" indent="-8128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0" indent="-453600" algn="just" eaLnBrk="1" hangingPunct="1">
              <a:lnSpc>
                <a:spcPct val="120000"/>
              </a:lnSpc>
              <a:spcBef>
                <a:spcPct val="0"/>
              </a:spcBef>
              <a:buClr>
                <a:srgbClr val="C00000"/>
              </a:buClr>
              <a:buSzPct val="60000"/>
              <a:buFont typeface="Wingdings" panose="05000000000000000000" pitchFamily="2" charset="2"/>
              <a:buChar char="p"/>
              <a:defRPr/>
            </a:pPr>
            <a:r>
              <a:rPr lang="zh-CN" altLang="en-US" sz="2200" dirty="0">
                <a:latin typeface="Times New Roman" panose="02020603050405020304" pitchFamily="18" charset="0"/>
                <a:ea typeface="黑体" panose="02010609060101010101" pitchFamily="49" charset="-122"/>
              </a:rPr>
              <a:t>常用</a:t>
            </a:r>
            <a:r>
              <a:rPr lang="en-US" altLang="zh-CN" sz="2200" b="1" i="1" dirty="0" err="1">
                <a:solidFill>
                  <a:srgbClr val="C00000"/>
                </a:solidFill>
                <a:latin typeface="Times New Roman" panose="02020603050405020304" pitchFamily="18" charset="0"/>
                <a:ea typeface="黑体" panose="02010609060101010101" pitchFamily="49" charset="-122"/>
              </a:rPr>
              <a:t>S</a:t>
            </a:r>
            <a:r>
              <a:rPr lang="en-US" altLang="zh-CN" sz="2200" b="1" i="1" baseline="-25000" dirty="0" err="1">
                <a:solidFill>
                  <a:srgbClr val="C00000"/>
                </a:solidFill>
                <a:latin typeface="Times New Roman" panose="02020603050405020304" pitchFamily="18" charset="0"/>
                <a:ea typeface="黑体" panose="02010609060101010101" pitchFamily="49" charset="-122"/>
              </a:rPr>
              <a:t>k</a:t>
            </a:r>
            <a:r>
              <a:rPr lang="zh-CN" altLang="en-US" sz="2200" dirty="0">
                <a:latin typeface="Times New Roman" panose="02020603050405020304" pitchFamily="18" charset="0"/>
                <a:ea typeface="黑体" panose="02010609060101010101" pitchFamily="49" charset="-122"/>
              </a:rPr>
              <a:t>表示第</a:t>
            </a:r>
            <a:r>
              <a:rPr lang="en-US" altLang="zh-CN" sz="2200" i="1" dirty="0">
                <a:latin typeface="Times New Roman" panose="02020603050405020304" pitchFamily="18" charset="0"/>
                <a:ea typeface="黑体" panose="02010609060101010101" pitchFamily="49" charset="-122"/>
              </a:rPr>
              <a:t>k</a:t>
            </a:r>
            <a:r>
              <a:rPr lang="zh-CN" altLang="en-US" sz="2200" dirty="0">
                <a:latin typeface="Times New Roman" panose="02020603050405020304" pitchFamily="18" charset="0"/>
                <a:ea typeface="黑体" panose="02010609060101010101" pitchFamily="49" charset="-122"/>
              </a:rPr>
              <a:t>阶段的</a:t>
            </a:r>
            <a:r>
              <a:rPr lang="zh-CN" altLang="en-US" sz="2200" dirty="0">
                <a:solidFill>
                  <a:srgbClr val="000099"/>
                </a:solidFill>
                <a:latin typeface="Times New Roman" panose="02020603050405020304" pitchFamily="18" charset="0"/>
                <a:ea typeface="黑体" panose="02010609060101010101" pitchFamily="49" charset="-122"/>
              </a:rPr>
              <a:t>状态变量</a:t>
            </a:r>
            <a:r>
              <a:rPr lang="zh-CN" altLang="en-US" sz="2200" dirty="0">
                <a:latin typeface="Times New Roman" panose="02020603050405020304" pitchFamily="18" charset="0"/>
                <a:ea typeface="黑体" panose="02010609060101010101" pitchFamily="49" charset="-122"/>
              </a:rPr>
              <a:t>。如</a:t>
            </a:r>
            <a:r>
              <a:rPr lang="zh-CN" altLang="en-US" sz="2200" dirty="0">
                <a:latin typeface="Times New Roman" panose="02020603050405020304" pitchFamily="18" charset="0"/>
                <a:ea typeface="黑体" panose="02010609060101010101" pitchFamily="49" charset="-122"/>
                <a:hlinkClick r:id="" action="ppaction://noaction"/>
              </a:rPr>
              <a:t>在例</a:t>
            </a:r>
            <a:r>
              <a:rPr lang="en-US" altLang="zh-CN" sz="2200" dirty="0">
                <a:latin typeface="Times New Roman" panose="02020603050405020304" pitchFamily="18" charset="0"/>
                <a:ea typeface="黑体" panose="02010609060101010101" pitchFamily="49" charset="-122"/>
                <a:hlinkClick r:id="" action="ppaction://noaction"/>
              </a:rPr>
              <a:t>1</a:t>
            </a:r>
            <a:r>
              <a:rPr lang="zh-CN" altLang="en-US" sz="2200" dirty="0">
                <a:latin typeface="Times New Roman" panose="02020603050405020304" pitchFamily="18" charset="0"/>
                <a:ea typeface="黑体" panose="02010609060101010101" pitchFamily="49" charset="-122"/>
                <a:hlinkClick r:id="" action="ppaction://noaction"/>
              </a:rPr>
              <a:t>中</a:t>
            </a:r>
            <a:r>
              <a:rPr lang="zh-CN" altLang="en-US" sz="2200" dirty="0">
                <a:latin typeface="Times New Roman" panose="02020603050405020304" pitchFamily="18" charset="0"/>
                <a:ea typeface="黑体" panose="02010609060101010101" pitchFamily="49" charset="-122"/>
              </a:rPr>
              <a:t>第三阶段有四个状态，则状态变量</a:t>
            </a:r>
            <a:r>
              <a:rPr lang="en-US" altLang="zh-CN" sz="2200" i="1" dirty="0" err="1">
                <a:latin typeface="Times New Roman" panose="02020603050405020304" pitchFamily="18" charset="0"/>
                <a:ea typeface="黑体" panose="02010609060101010101" pitchFamily="49" charset="-122"/>
              </a:rPr>
              <a:t>S</a:t>
            </a:r>
            <a:r>
              <a:rPr lang="en-US" altLang="zh-CN" sz="2200" i="1" baseline="-25000" dirty="0" err="1">
                <a:latin typeface="Times New Roman" panose="02020603050405020304" pitchFamily="18" charset="0"/>
                <a:ea typeface="黑体" panose="02010609060101010101" pitchFamily="49" charset="-122"/>
              </a:rPr>
              <a:t>k</a:t>
            </a:r>
            <a:r>
              <a:rPr lang="zh-CN" altLang="en-US" sz="2200" dirty="0">
                <a:latin typeface="Times New Roman" panose="02020603050405020304" pitchFamily="18" charset="0"/>
                <a:ea typeface="黑体" panose="02010609060101010101" pitchFamily="49" charset="-122"/>
              </a:rPr>
              <a:t>可取四个值，即</a:t>
            </a:r>
            <a:r>
              <a:rPr lang="en-US" altLang="zh-CN" sz="2200" dirty="0">
                <a:latin typeface="Times New Roman" panose="02020603050405020304" pitchFamily="18" charset="0"/>
                <a:ea typeface="黑体" panose="02010609060101010101" pitchFamily="49" charset="-122"/>
              </a:rPr>
              <a:t>C1</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C2</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C3</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C4</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0" indent="-453600" algn="just" eaLnBrk="1" hangingPunct="1">
              <a:lnSpc>
                <a:spcPct val="120000"/>
              </a:lnSpc>
              <a:spcBef>
                <a:spcPct val="0"/>
              </a:spcBef>
              <a:buClr>
                <a:srgbClr val="C00000"/>
              </a:buClr>
              <a:buSzPct val="60000"/>
              <a:buFont typeface="Wingdings" panose="05000000000000000000" pitchFamily="2" charset="2"/>
              <a:buChar char="p"/>
              <a:defRPr/>
            </a:pPr>
            <a:r>
              <a:rPr lang="zh-CN" altLang="en-US" sz="2200" dirty="0">
                <a:latin typeface="Times New Roman" panose="02020603050405020304" pitchFamily="18" charset="0"/>
                <a:ea typeface="黑体" panose="02010609060101010101" pitchFamily="49" charset="-122"/>
              </a:rPr>
              <a:t>点集合｛</a:t>
            </a:r>
            <a:r>
              <a:rPr lang="en-US" altLang="zh-CN" sz="2200" dirty="0">
                <a:latin typeface="Times New Roman" panose="02020603050405020304" pitchFamily="18" charset="0"/>
                <a:ea typeface="黑体" panose="02010609060101010101" pitchFamily="49" charset="-122"/>
              </a:rPr>
              <a:t>C1</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C2</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C3</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C4</a:t>
            </a:r>
            <a:r>
              <a:rPr lang="zh-CN" altLang="en-US" sz="2200" dirty="0">
                <a:latin typeface="Times New Roman" panose="02020603050405020304" pitchFamily="18" charset="0"/>
                <a:ea typeface="黑体" panose="02010609060101010101" pitchFamily="49" charset="-122"/>
              </a:rPr>
              <a:t>｝就称为第三阶段的</a:t>
            </a:r>
            <a:r>
              <a:rPr lang="zh-CN" altLang="en-US" sz="2200" dirty="0">
                <a:solidFill>
                  <a:srgbClr val="C00000"/>
                </a:solidFill>
                <a:latin typeface="Times New Roman" panose="02020603050405020304" pitchFamily="18" charset="0"/>
                <a:ea typeface="黑体" panose="02010609060101010101" pitchFamily="49" charset="-122"/>
              </a:rPr>
              <a:t>可达状态集合</a:t>
            </a:r>
            <a:r>
              <a:rPr lang="zh-CN" altLang="en-US" sz="2200" dirty="0">
                <a:latin typeface="Times New Roman" panose="02020603050405020304" pitchFamily="18" charset="0"/>
                <a:ea typeface="黑体" panose="02010609060101010101" pitchFamily="49" charset="-122"/>
              </a:rPr>
              <a:t>。记为  </a:t>
            </a:r>
            <a:r>
              <a:rPr lang="en-US" altLang="zh-CN" sz="2200" i="1" dirty="0">
                <a:latin typeface="Times New Roman" panose="02020603050405020304" pitchFamily="18" charset="0"/>
                <a:ea typeface="黑体" panose="02010609060101010101" pitchFamily="49" charset="-122"/>
              </a:rPr>
              <a:t>S</a:t>
            </a:r>
            <a:r>
              <a:rPr lang="en-US" altLang="zh-CN" sz="2200" baseline="-25000" dirty="0">
                <a:latin typeface="Times New Roman" panose="02020603050405020304" pitchFamily="18" charset="0"/>
                <a:ea typeface="黑体" panose="02010609060101010101" pitchFamily="49" charset="-122"/>
              </a:rPr>
              <a:t>3</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C1</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C2</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C3</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C4</a:t>
            </a:r>
            <a:r>
              <a:rPr lang="zh-CN" altLang="en-US" sz="2200" dirty="0">
                <a:latin typeface="Times New Roman" panose="02020603050405020304" pitchFamily="18" charset="0"/>
                <a:ea typeface="黑体" panose="02010609060101010101" pitchFamily="49" charset="-122"/>
              </a:rPr>
              <a:t>｝</a:t>
            </a:r>
            <a:endParaRPr lang="en-US" altLang="zh-CN" sz="2200" dirty="0">
              <a:latin typeface="Times New Roman" panose="02020603050405020304" pitchFamily="18" charset="0"/>
              <a:ea typeface="黑体" panose="02010609060101010101" pitchFamily="49" charset="-122"/>
            </a:endParaRPr>
          </a:p>
          <a:p>
            <a:pPr marL="0" indent="-453600" algn="just" eaLnBrk="1" hangingPunct="1">
              <a:lnSpc>
                <a:spcPct val="120000"/>
              </a:lnSpc>
              <a:spcBef>
                <a:spcPct val="0"/>
              </a:spcBef>
              <a:buClr>
                <a:srgbClr val="C00000"/>
              </a:buClr>
              <a:buSzPct val="60000"/>
              <a:buFont typeface="Wingdings" panose="05000000000000000000" pitchFamily="2" charset="2"/>
              <a:buChar char="p"/>
              <a:defRPr/>
            </a:pPr>
            <a:r>
              <a:rPr lang="zh-CN" altLang="en-US" sz="2200" dirty="0">
                <a:latin typeface="Times New Roman" panose="02020603050405020304" pitchFamily="18" charset="0"/>
                <a:ea typeface="黑体" panose="02010609060101010101" pitchFamily="49" charset="-122"/>
              </a:rPr>
              <a:t>有时为了方便起见，将该阶段的状态编上号码</a:t>
            </a:r>
            <a:r>
              <a:rPr lang="en-US" altLang="zh-CN" sz="2200" dirty="0">
                <a:latin typeface="Times New Roman" panose="02020603050405020304" pitchFamily="18" charset="0"/>
                <a:ea typeface="黑体" panose="02010609060101010101" pitchFamily="49" charset="-122"/>
              </a:rPr>
              <a:t>1</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2…</a:t>
            </a:r>
            <a:r>
              <a:rPr lang="zh-CN" altLang="en-US" sz="2200" dirty="0">
                <a:latin typeface="Times New Roman" panose="02020603050405020304" pitchFamily="18" charset="0"/>
                <a:ea typeface="黑体" panose="02010609060101010101" pitchFamily="49" charset="-122"/>
              </a:rPr>
              <a:t>这时也可记</a:t>
            </a:r>
            <a:r>
              <a:rPr lang="en-US" altLang="zh-CN" sz="2200" i="1" dirty="0">
                <a:latin typeface="Times New Roman" panose="02020603050405020304" pitchFamily="18" charset="0"/>
                <a:ea typeface="黑体" panose="02010609060101010101" pitchFamily="49" charset="-122"/>
              </a:rPr>
              <a:t>S</a:t>
            </a:r>
            <a:r>
              <a:rPr lang="en-US" altLang="zh-CN" sz="2200" baseline="-25000" dirty="0">
                <a:latin typeface="Times New Roman" panose="02020603050405020304" pitchFamily="18" charset="0"/>
                <a:ea typeface="黑体" panose="02010609060101010101" pitchFamily="49" charset="-122"/>
              </a:rPr>
              <a:t>3</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1</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2</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3</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4</a:t>
            </a:r>
            <a:r>
              <a:rPr lang="zh-CN" altLang="en-US" sz="2200" dirty="0">
                <a:latin typeface="Times New Roman" panose="02020603050405020304" pitchFamily="18" charset="0"/>
                <a:ea typeface="黑体" panose="02010609060101010101" pitchFamily="49" charset="-122"/>
              </a:rPr>
              <a:t>｝。第</a:t>
            </a:r>
            <a:r>
              <a:rPr lang="en-US" altLang="zh-CN" sz="2200" i="1" dirty="0">
                <a:latin typeface="Times New Roman" panose="02020603050405020304" pitchFamily="18" charset="0"/>
                <a:ea typeface="黑体" panose="02010609060101010101" pitchFamily="49" charset="-122"/>
              </a:rPr>
              <a:t>k</a:t>
            </a:r>
            <a:r>
              <a:rPr lang="zh-CN" altLang="en-US" sz="2200" dirty="0">
                <a:latin typeface="Times New Roman" panose="02020603050405020304" pitchFamily="18" charset="0"/>
                <a:ea typeface="黑体" panose="02010609060101010101" pitchFamily="49" charset="-122"/>
              </a:rPr>
              <a:t>阶段的可达状态集合就记为</a:t>
            </a:r>
            <a:r>
              <a:rPr lang="en-US" altLang="zh-CN" sz="2200" i="1" dirty="0" err="1">
                <a:latin typeface="Times New Roman" panose="02020603050405020304" pitchFamily="18" charset="0"/>
                <a:ea typeface="黑体" panose="02010609060101010101" pitchFamily="49" charset="-122"/>
              </a:rPr>
              <a:t>S</a:t>
            </a:r>
            <a:r>
              <a:rPr lang="en-US" altLang="zh-CN" sz="2200" i="1" baseline="-25000" dirty="0" err="1">
                <a:latin typeface="Times New Roman" panose="02020603050405020304" pitchFamily="18" charset="0"/>
                <a:ea typeface="黑体" panose="02010609060101010101" pitchFamily="49" charset="-122"/>
              </a:rPr>
              <a:t>k</a:t>
            </a:r>
            <a:r>
              <a:rPr lang="zh-CN" altLang="en-US" sz="2200" dirty="0">
                <a:latin typeface="Times New Roman" panose="02020603050405020304" pitchFamily="18" charset="0"/>
                <a:ea typeface="黑体" panose="02010609060101010101" pitchFamily="49" charset="-122"/>
              </a:rPr>
              <a:t>。</a:t>
            </a:r>
          </a:p>
          <a:p>
            <a:pPr algn="just" eaLnBrk="1" hangingPunct="1">
              <a:lnSpc>
                <a:spcPct val="120000"/>
              </a:lnSpc>
              <a:spcBef>
                <a:spcPct val="0"/>
              </a:spcBef>
              <a:buClr>
                <a:schemeClr val="folHlink"/>
              </a:buClr>
              <a:buSzPct val="60000"/>
              <a:buFont typeface="Wingdings" panose="05000000000000000000" pitchFamily="2" charset="2"/>
              <a:buNone/>
              <a:defRPr/>
            </a:pPr>
            <a:endParaRPr lang="zh-CN" altLang="en-US" sz="2200" dirty="0">
              <a:latin typeface="Times New Roman" panose="02020603050405020304" pitchFamily="18" charset="0"/>
              <a:ea typeface="黑体" panose="02010609060101010101" pitchFamily="49"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a:xfrm>
            <a:off x="609600" y="1625600"/>
            <a:ext cx="7620000" cy="2794000"/>
          </a:xfrm>
        </p:spPr>
        <p:txBody>
          <a:bodyPr/>
          <a:lstStyle/>
          <a:p>
            <a:pPr eaLnBrk="1" hangingPunct="1">
              <a:lnSpc>
                <a:spcPct val="130000"/>
              </a:lnSpc>
              <a:spcBef>
                <a:spcPct val="0"/>
              </a:spcBef>
              <a:buFont typeface="Wingdings" panose="05000000000000000000" pitchFamily="2" charset="2"/>
              <a:buChar char="p"/>
            </a:pPr>
            <a:r>
              <a:rPr lang="zh-CN" altLang="en-US" sz="2400" u="sng">
                <a:solidFill>
                  <a:srgbClr val="FF0000"/>
                </a:solidFill>
                <a:latin typeface="宋体" panose="02010600030101010101" pitchFamily="2" charset="-122"/>
              </a:rPr>
              <a:t>马尔科夫性：</a:t>
            </a:r>
            <a:endParaRPr lang="en-US" altLang="zh-CN" sz="2400" u="sng">
              <a:solidFill>
                <a:srgbClr val="FF0000"/>
              </a:solidFill>
              <a:latin typeface="宋体" panose="02010600030101010101" pitchFamily="2" charset="-122"/>
            </a:endParaRPr>
          </a:p>
          <a:p>
            <a:pPr eaLnBrk="1" hangingPunct="1">
              <a:lnSpc>
                <a:spcPct val="130000"/>
              </a:lnSpc>
              <a:spcBef>
                <a:spcPct val="0"/>
              </a:spcBef>
              <a:buFont typeface="Wingdings" panose="05000000000000000000" pitchFamily="2" charset="2"/>
              <a:buChar char="u"/>
            </a:pPr>
            <a:r>
              <a:rPr lang="zh-CN" altLang="en-US" sz="2200">
                <a:latin typeface="宋体" panose="02010600030101010101" pitchFamily="2" charset="-122"/>
              </a:rPr>
              <a:t>状态应具有如下性质：</a:t>
            </a:r>
            <a:r>
              <a:rPr lang="zh-CN" altLang="en-US" sz="2200" b="1">
                <a:solidFill>
                  <a:schemeClr val="hlink"/>
                </a:solidFill>
                <a:latin typeface="宋体" panose="02010600030101010101" pitchFamily="2" charset="-122"/>
              </a:rPr>
              <a:t>如果某阶段状态给定后，则在这阶段以后过程的发展不受这阶段以前各阶段状态的影响。</a:t>
            </a:r>
            <a:endParaRPr lang="en-US" altLang="zh-CN" sz="2200" b="1">
              <a:solidFill>
                <a:schemeClr val="hlink"/>
              </a:solidFill>
              <a:latin typeface="宋体" panose="02010600030101010101" pitchFamily="2" charset="-122"/>
            </a:endParaRPr>
          </a:p>
          <a:p>
            <a:pPr eaLnBrk="1" hangingPunct="1">
              <a:lnSpc>
                <a:spcPct val="130000"/>
              </a:lnSpc>
              <a:spcBef>
                <a:spcPct val="0"/>
              </a:spcBef>
              <a:buFont typeface="Wingdings" panose="05000000000000000000" pitchFamily="2" charset="2"/>
              <a:buChar char="u"/>
            </a:pPr>
            <a:r>
              <a:rPr lang="zh-CN" altLang="en-US" sz="2200" b="1">
                <a:solidFill>
                  <a:schemeClr val="hlink"/>
                </a:solidFill>
                <a:latin typeface="宋体" panose="02010600030101010101" pitchFamily="2" charset="-122"/>
              </a:rPr>
              <a:t>换句话说，</a:t>
            </a:r>
            <a:r>
              <a:rPr lang="zh-CN" altLang="en-US" sz="2200" b="1" u="sng">
                <a:solidFill>
                  <a:schemeClr val="hlink"/>
                </a:solidFill>
                <a:latin typeface="宋体" panose="02010600030101010101" pitchFamily="2" charset="-122"/>
              </a:rPr>
              <a:t>过程的过去历史只能通过当前的状态去影响它未来的发展，当前的状态是以往历史的一个总结</a:t>
            </a:r>
            <a:r>
              <a:rPr lang="zh-CN" altLang="en-US" sz="2200">
                <a:solidFill>
                  <a:schemeClr val="hlink"/>
                </a:solidFill>
                <a:latin typeface="宋体" panose="02010600030101010101" pitchFamily="2" charset="-122"/>
              </a:rPr>
              <a:t>。</a:t>
            </a:r>
            <a:r>
              <a:rPr lang="zh-CN" altLang="en-US" sz="2200">
                <a:latin typeface="宋体" panose="02010600030101010101" pitchFamily="2" charset="-122"/>
              </a:rPr>
              <a:t>这个性质称为</a:t>
            </a:r>
            <a:r>
              <a:rPr lang="zh-CN" altLang="en-US" sz="2200" b="1">
                <a:solidFill>
                  <a:srgbClr val="C00000"/>
                </a:solidFill>
                <a:latin typeface="宋体" panose="02010600030101010101" pitchFamily="2" charset="-122"/>
              </a:rPr>
              <a:t>无后效性</a:t>
            </a:r>
            <a:r>
              <a:rPr lang="en-US" altLang="zh-CN" sz="2200" b="1">
                <a:solidFill>
                  <a:srgbClr val="C00000"/>
                </a:solidFill>
                <a:latin typeface="宋体" panose="02010600030101010101" pitchFamily="2" charset="-122"/>
              </a:rPr>
              <a:t>(</a:t>
            </a:r>
            <a:r>
              <a:rPr lang="zh-CN" altLang="en-US" sz="2200">
                <a:latin typeface="宋体" panose="02010600030101010101" pitchFamily="2" charset="-122"/>
              </a:rPr>
              <a:t>即</a:t>
            </a:r>
            <a:r>
              <a:rPr lang="zh-CN" altLang="en-US" sz="2200" b="1">
                <a:solidFill>
                  <a:schemeClr val="hlink"/>
                </a:solidFill>
                <a:latin typeface="宋体" panose="02010600030101010101" pitchFamily="2" charset="-122"/>
              </a:rPr>
              <a:t>马尔科夫性</a:t>
            </a:r>
            <a:r>
              <a:rPr lang="en-US" altLang="zh-CN" sz="2200">
                <a:latin typeface="宋体" panose="02010600030101010101" pitchFamily="2" charset="-122"/>
              </a:rPr>
              <a:t>)</a:t>
            </a:r>
            <a:r>
              <a:rPr lang="zh-CN" altLang="en-US" sz="2200">
                <a:latin typeface="宋体" panose="02010600030101010101" pitchFamily="2" charset="-122"/>
              </a:rPr>
              <a:t>。</a:t>
            </a:r>
          </a:p>
        </p:txBody>
      </p:sp>
      <p:sp>
        <p:nvSpPr>
          <p:cNvPr id="3686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B75C8B4-2B02-409E-9F97-31E88221A0C6}" type="slidenum">
              <a:rPr lang="zh-CN" altLang="zh-CN" sz="1400">
                <a:latin typeface="Arial" panose="020B0604020202020204" pitchFamily="34" charset="0"/>
              </a:rPr>
              <a:pPr>
                <a:spcBef>
                  <a:spcPct val="0"/>
                </a:spcBef>
                <a:buClr>
                  <a:srgbClr val="000000"/>
                </a:buClr>
                <a:buFontTx/>
                <a:buNone/>
              </a:pPr>
              <a:t>21</a:t>
            </a:fld>
            <a:endParaRPr lang="en-US" altLang="zh-CN" sz="1400">
              <a:latin typeface="Arial" panose="020B0604020202020204" pitchFamily="34" charset="0"/>
            </a:endParaRPr>
          </a:p>
        </p:txBody>
      </p:sp>
      <p:sp>
        <p:nvSpPr>
          <p:cNvPr id="36868" name="Rectangle 2"/>
          <p:cNvSpPr txBox="1">
            <a:spLocks noChangeArrowheads="1"/>
          </p:cNvSpPr>
          <p:nvPr/>
        </p:nvSpPr>
        <p:spPr bwMode="auto">
          <a:xfrm>
            <a:off x="612775" y="511175"/>
            <a:ext cx="7007225"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2</a:t>
            </a:r>
            <a:r>
              <a:rPr lang="zh-CN" altLang="en-US" sz="3200" dirty="0">
                <a:solidFill>
                  <a:srgbClr val="000099"/>
                </a:solidFill>
                <a:latin typeface="黑体" panose="02010609060101010101" pitchFamily="49" charset="-122"/>
                <a:ea typeface="黑体" panose="02010609060101010101" pitchFamily="49" charset="-122"/>
              </a:rPr>
              <a:t>）状态</a:t>
            </a:r>
          </a:p>
        </p:txBody>
      </p:sp>
      <p:graphicFrame>
        <p:nvGraphicFramePr>
          <p:cNvPr id="36869" name="对象 1"/>
          <p:cNvGraphicFramePr>
            <a:graphicFrameLocks noChangeAspect="1"/>
          </p:cNvGraphicFramePr>
          <p:nvPr/>
        </p:nvGraphicFramePr>
        <p:xfrm>
          <a:off x="1042988" y="4473575"/>
          <a:ext cx="3814762" cy="1476375"/>
        </p:xfrm>
        <a:graphic>
          <a:graphicData uri="http://schemas.openxmlformats.org/presentationml/2006/ole">
            <mc:AlternateContent xmlns:mc="http://schemas.openxmlformats.org/markup-compatibility/2006">
              <mc:Choice xmlns:v="urn:schemas-microsoft-com:vml" Requires="v">
                <p:oleObj name="Equation" r:id="rId2" imgW="1993900" imgH="635000" progId="Equation.DSMT4">
                  <p:embed/>
                </p:oleObj>
              </mc:Choice>
              <mc:Fallback>
                <p:oleObj name="Equation" r:id="rId2" imgW="1993900" imgH="6350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473575"/>
                        <a:ext cx="3814762" cy="1476375"/>
                      </a:xfrm>
                      <a:prstGeom prst="rect">
                        <a:avLst/>
                      </a:prstGeom>
                      <a:solidFill>
                        <a:srgbClr val="F2F2F2"/>
                      </a:solidFill>
                      <a:ln w="9525">
                        <a:solidFill>
                          <a:srgbClr val="FF0000"/>
                        </a:solidFill>
                        <a:miter lim="800000"/>
                        <a:headEnd/>
                        <a:tailEnd/>
                      </a:ln>
                    </p:spPr>
                  </p:pic>
                </p:oleObj>
              </mc:Fallback>
            </mc:AlternateContent>
          </a:graphicData>
        </a:graphic>
      </p:graphicFrame>
      <p:graphicFrame>
        <p:nvGraphicFramePr>
          <p:cNvPr id="36870" name="对象 2"/>
          <p:cNvGraphicFramePr>
            <a:graphicFrameLocks noChangeAspect="1"/>
          </p:cNvGraphicFramePr>
          <p:nvPr/>
        </p:nvGraphicFramePr>
        <p:xfrm>
          <a:off x="5132388" y="4468813"/>
          <a:ext cx="2752725" cy="1481137"/>
        </p:xfrm>
        <a:graphic>
          <a:graphicData uri="http://schemas.openxmlformats.org/presentationml/2006/ole">
            <mc:AlternateContent xmlns:mc="http://schemas.openxmlformats.org/markup-compatibility/2006">
              <mc:Choice xmlns:v="urn:schemas-microsoft-com:vml" Requires="v">
                <p:oleObj name="Equation" r:id="rId4" imgW="1040948" imgH="634725" progId="Equation.3">
                  <p:embed/>
                </p:oleObj>
              </mc:Choice>
              <mc:Fallback>
                <p:oleObj name="Equation" r:id="rId4" imgW="1040948" imgH="634725" progId="Equation.3">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2388" y="4468813"/>
                        <a:ext cx="2752725" cy="14811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ppt_x"/>
                                          </p:val>
                                        </p:tav>
                                        <p:tav tm="100000">
                                          <p:val>
                                            <p:strVal val="#ppt_x"/>
                                          </p:val>
                                        </p:tav>
                                      </p:tavLst>
                                    </p:anim>
                                    <p:anim calcmode="lin" valueType="num">
                                      <p:cBhvr additive="base">
                                        <p:cTn id="8" dur="500" fill="hold"/>
                                        <p:tgtEl>
                                          <p:spTgt spid="3686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870"/>
                                        </p:tgtEl>
                                        <p:attrNameLst>
                                          <p:attrName>style.visibility</p:attrName>
                                        </p:attrNameLst>
                                      </p:cBhvr>
                                      <p:to>
                                        <p:strVal val="visible"/>
                                      </p:to>
                                    </p:set>
                                    <p:anim calcmode="lin" valueType="num">
                                      <p:cBhvr additive="base">
                                        <p:cTn id="11" dur="500" fill="hold"/>
                                        <p:tgtEl>
                                          <p:spTgt spid="36870"/>
                                        </p:tgtEl>
                                        <p:attrNameLst>
                                          <p:attrName>ppt_x</p:attrName>
                                        </p:attrNameLst>
                                      </p:cBhvr>
                                      <p:tavLst>
                                        <p:tav tm="0">
                                          <p:val>
                                            <p:strVal val="#ppt_x"/>
                                          </p:val>
                                        </p:tav>
                                        <p:tav tm="100000">
                                          <p:val>
                                            <p:strVal val="#ppt_x"/>
                                          </p:val>
                                        </p:tav>
                                      </p:tavLst>
                                    </p:anim>
                                    <p:anim calcmode="lin" valueType="num">
                                      <p:cBhvr additive="base">
                                        <p:cTn id="12"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idx="1"/>
          </p:nvPr>
        </p:nvSpPr>
        <p:spPr>
          <a:xfrm>
            <a:off x="533400" y="1717675"/>
            <a:ext cx="8077200" cy="4073525"/>
          </a:xfrm>
        </p:spPr>
        <p:txBody>
          <a:bodyPr/>
          <a:lstStyle/>
          <a:p>
            <a:pPr algn="just" eaLnBrk="1" hangingPunct="1">
              <a:lnSpc>
                <a:spcPct val="150000"/>
              </a:lnSpc>
              <a:spcBef>
                <a:spcPct val="0"/>
              </a:spcBef>
              <a:buFont typeface="Wingdings" panose="05000000000000000000" pitchFamily="2" charset="2"/>
              <a:buChar char="p"/>
            </a:pPr>
            <a:r>
              <a:rPr lang="zh-CN" altLang="en-US" sz="2400" dirty="0"/>
              <a:t>决策表示当过程处于</a:t>
            </a:r>
            <a:r>
              <a:rPr lang="zh-CN" altLang="en-US" sz="2400" dirty="0">
                <a:solidFill>
                  <a:schemeClr val="hlink"/>
                </a:solidFill>
              </a:rPr>
              <a:t>某一阶段的某个状态</a:t>
            </a:r>
            <a:r>
              <a:rPr lang="zh-CN" altLang="en-US" sz="2400" dirty="0"/>
              <a:t>时，可以</a:t>
            </a:r>
            <a:r>
              <a:rPr lang="zh-CN" altLang="en-US" sz="2400" dirty="0">
                <a:solidFill>
                  <a:schemeClr val="hlink"/>
                </a:solidFill>
              </a:rPr>
              <a:t>作出不同的决定</a:t>
            </a:r>
            <a:r>
              <a:rPr lang="en-US" altLang="zh-CN" sz="2400" dirty="0">
                <a:latin typeface="宋体" panose="02010600030101010101" pitchFamily="2" charset="-122"/>
              </a:rPr>
              <a:t>(</a:t>
            </a:r>
            <a:r>
              <a:rPr lang="zh-CN" altLang="en-US" sz="2400" dirty="0"/>
              <a:t>或选择</a:t>
            </a:r>
            <a:r>
              <a:rPr lang="en-US" altLang="zh-CN" sz="2400" dirty="0">
                <a:latin typeface="宋体" panose="02010600030101010101" pitchFamily="2" charset="-122"/>
              </a:rPr>
              <a:t>)</a:t>
            </a:r>
            <a:r>
              <a:rPr lang="zh-CN" altLang="en-US" sz="2400" dirty="0"/>
              <a:t>，从而确定下一阶段的状态，这种决定称为</a:t>
            </a:r>
            <a:r>
              <a:rPr lang="zh-CN" altLang="en-US" sz="2400" b="1" dirty="0">
                <a:solidFill>
                  <a:srgbClr val="000099"/>
                </a:solidFill>
              </a:rPr>
              <a:t>决策</a:t>
            </a:r>
            <a:r>
              <a:rPr lang="zh-CN" altLang="en-US" sz="2400" dirty="0"/>
              <a:t>。在最优控制中也称为</a:t>
            </a:r>
            <a:r>
              <a:rPr lang="zh-CN" altLang="en-US" sz="2400" b="1" dirty="0">
                <a:solidFill>
                  <a:srgbClr val="000099"/>
                </a:solidFill>
              </a:rPr>
              <a:t>控制</a:t>
            </a:r>
            <a:r>
              <a:rPr lang="zh-CN" altLang="en-US" sz="2400" dirty="0"/>
              <a:t>。</a:t>
            </a:r>
            <a:endParaRPr lang="en-US" altLang="zh-CN" sz="2400" dirty="0"/>
          </a:p>
          <a:p>
            <a:pPr eaLnBrk="1" hangingPunct="1">
              <a:lnSpc>
                <a:spcPct val="150000"/>
              </a:lnSpc>
              <a:spcBef>
                <a:spcPct val="0"/>
              </a:spcBef>
              <a:buFont typeface="Wingdings" panose="05000000000000000000" pitchFamily="2" charset="2"/>
              <a:buChar char="p"/>
            </a:pPr>
            <a:r>
              <a:rPr lang="zh-CN" altLang="en-US" sz="2400" dirty="0">
                <a:latin typeface="Times New Roman" panose="02020603050405020304" pitchFamily="18" charset="0"/>
              </a:rPr>
              <a:t>描述决策的变量，称为</a:t>
            </a:r>
            <a:r>
              <a:rPr lang="zh-CN" altLang="en-US" sz="2400" b="1" dirty="0">
                <a:solidFill>
                  <a:srgbClr val="FF0000"/>
                </a:solidFill>
                <a:latin typeface="Times New Roman" panose="02020603050405020304" pitchFamily="18" charset="0"/>
              </a:rPr>
              <a:t>决策变量</a:t>
            </a:r>
            <a:r>
              <a:rPr lang="zh-CN" altLang="en-US" sz="2400" dirty="0">
                <a:latin typeface="Times New Roman" panose="02020603050405020304" pitchFamily="18" charset="0"/>
              </a:rPr>
              <a:t>。它可用一个数、一组数或一向量来描述。</a:t>
            </a:r>
            <a:endParaRPr lang="en-US" altLang="zh-CN" sz="2400" dirty="0">
              <a:latin typeface="Times New Roman" panose="02020603050405020304" pitchFamily="18" charset="0"/>
            </a:endParaRPr>
          </a:p>
          <a:p>
            <a:pPr eaLnBrk="1" hangingPunct="1">
              <a:lnSpc>
                <a:spcPct val="150000"/>
              </a:lnSpc>
              <a:spcBef>
                <a:spcPct val="0"/>
              </a:spcBef>
              <a:buFont typeface="Wingdings" panose="05000000000000000000" pitchFamily="2" charset="2"/>
              <a:buChar char="p"/>
            </a:pPr>
            <a:r>
              <a:rPr lang="zh-CN" altLang="en-US" sz="2400" dirty="0">
                <a:latin typeface="Times New Roman" panose="02020603050405020304" pitchFamily="18" charset="0"/>
              </a:rPr>
              <a:t>常用</a:t>
            </a:r>
            <a:r>
              <a:rPr lang="en-US" altLang="zh-CN" sz="2400" b="1" i="1" dirty="0" err="1">
                <a:solidFill>
                  <a:srgbClr val="C00000"/>
                </a:solidFill>
                <a:latin typeface="Times New Roman" panose="02020603050405020304" pitchFamily="18" charset="0"/>
              </a:rPr>
              <a:t>u</a:t>
            </a:r>
            <a:r>
              <a:rPr lang="en-US" altLang="zh-CN" sz="2400" b="1" i="1" baseline="-25000" dirty="0" err="1">
                <a:solidFill>
                  <a:srgbClr val="C00000"/>
                </a:solidFill>
                <a:latin typeface="Times New Roman" panose="02020603050405020304" pitchFamily="18" charset="0"/>
              </a:rPr>
              <a:t>k</a:t>
            </a:r>
            <a:r>
              <a:rPr lang="en-US" altLang="zh-CN" sz="2400" b="1" dirty="0">
                <a:solidFill>
                  <a:srgbClr val="C00000"/>
                </a:solidFill>
                <a:latin typeface="Times New Roman" panose="02020603050405020304" pitchFamily="18" charset="0"/>
              </a:rPr>
              <a:t>(</a:t>
            </a:r>
            <a:r>
              <a:rPr lang="en-US" altLang="zh-CN" sz="2400" b="1" i="1" dirty="0" err="1">
                <a:solidFill>
                  <a:srgbClr val="C00000"/>
                </a:solidFill>
                <a:latin typeface="Times New Roman" panose="02020603050405020304" pitchFamily="18" charset="0"/>
              </a:rPr>
              <a:t>s</a:t>
            </a:r>
            <a:r>
              <a:rPr lang="en-US" altLang="zh-CN" sz="2400" b="1" i="1" baseline="-25000" dirty="0" err="1">
                <a:solidFill>
                  <a:srgbClr val="C00000"/>
                </a:solidFill>
                <a:latin typeface="Times New Roman" panose="02020603050405020304" pitchFamily="18" charset="0"/>
              </a:rPr>
              <a:t>k</a:t>
            </a:r>
            <a:r>
              <a:rPr lang="en-US" altLang="zh-CN" sz="2400" b="1" dirty="0">
                <a:solidFill>
                  <a:srgbClr val="C00000"/>
                </a:solidFill>
                <a:latin typeface="Times New Roman" panose="02020603050405020304" pitchFamily="18" charset="0"/>
              </a:rPr>
              <a:t>)</a:t>
            </a:r>
            <a:r>
              <a:rPr lang="zh-CN" altLang="en-US" sz="2400" dirty="0">
                <a:latin typeface="Times New Roman" panose="02020603050405020304" pitchFamily="18" charset="0"/>
              </a:rPr>
              <a:t>表示第</a:t>
            </a:r>
            <a:r>
              <a:rPr lang="en-US" altLang="zh-CN" sz="2400" i="1" dirty="0">
                <a:latin typeface="Times New Roman" panose="02020603050405020304" pitchFamily="18" charset="0"/>
              </a:rPr>
              <a:t>k</a:t>
            </a:r>
            <a:r>
              <a:rPr lang="zh-CN" altLang="en-US" sz="2400" dirty="0">
                <a:latin typeface="Times New Roman" panose="02020603050405020304" pitchFamily="18" charset="0"/>
              </a:rPr>
              <a:t>阶段当状态处于</a:t>
            </a:r>
            <a:r>
              <a:rPr lang="en-US" altLang="zh-CN" sz="2400" i="1" dirty="0" err="1">
                <a:latin typeface="Times New Roman" panose="02020603050405020304" pitchFamily="18" charset="0"/>
              </a:rPr>
              <a:t>s</a:t>
            </a:r>
            <a:r>
              <a:rPr lang="en-US" altLang="zh-CN" sz="2400" i="1" baseline="-25000" dirty="0" err="1">
                <a:latin typeface="Times New Roman" panose="02020603050405020304" pitchFamily="18" charset="0"/>
              </a:rPr>
              <a:t>k</a:t>
            </a:r>
            <a:r>
              <a:rPr lang="zh-CN" altLang="en-US" sz="2400" dirty="0">
                <a:latin typeface="Times New Roman" panose="02020603050405020304" pitchFamily="18" charset="0"/>
              </a:rPr>
              <a:t>时的</a:t>
            </a:r>
            <a:r>
              <a:rPr lang="zh-CN" altLang="en-US" sz="2400" dirty="0">
                <a:solidFill>
                  <a:srgbClr val="C00000"/>
                </a:solidFill>
                <a:latin typeface="Times New Roman" panose="02020603050405020304" pitchFamily="18" charset="0"/>
              </a:rPr>
              <a:t>决策变量</a:t>
            </a:r>
            <a:r>
              <a:rPr lang="zh-CN" altLang="en-US" sz="2400" dirty="0">
                <a:latin typeface="Times New Roman" panose="02020603050405020304" pitchFamily="18" charset="0"/>
              </a:rPr>
              <a:t>。它是</a:t>
            </a:r>
            <a:r>
              <a:rPr lang="zh-CN" altLang="en-US" sz="2400" dirty="0">
                <a:solidFill>
                  <a:srgbClr val="C00000"/>
                </a:solidFill>
                <a:latin typeface="Times New Roman" panose="02020603050405020304" pitchFamily="18" charset="0"/>
              </a:rPr>
              <a:t>状态变量的函数</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p:txBody>
      </p:sp>
      <p:sp>
        <p:nvSpPr>
          <p:cNvPr id="37891"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E0D4A9D-2B0C-4AF2-9DC8-84E111951551}" type="slidenum">
              <a:rPr lang="zh-CN" altLang="zh-CN" sz="1400">
                <a:latin typeface="Arial" panose="020B0604020202020204" pitchFamily="34" charset="0"/>
              </a:rPr>
              <a:pPr>
                <a:spcBef>
                  <a:spcPct val="0"/>
                </a:spcBef>
                <a:buClr>
                  <a:srgbClr val="000000"/>
                </a:buClr>
                <a:buFontTx/>
                <a:buNone/>
              </a:pPr>
              <a:t>22</a:t>
            </a:fld>
            <a:endParaRPr lang="en-US" altLang="zh-CN" sz="1400">
              <a:latin typeface="Arial" panose="020B0604020202020204" pitchFamily="34" charset="0"/>
            </a:endParaRPr>
          </a:p>
        </p:txBody>
      </p:sp>
      <p:sp>
        <p:nvSpPr>
          <p:cNvPr id="37892" name="Rectangle 2"/>
          <p:cNvSpPr txBox="1">
            <a:spLocks noChangeArrowheads="1"/>
          </p:cNvSpPr>
          <p:nvPr/>
        </p:nvSpPr>
        <p:spPr bwMode="auto">
          <a:xfrm>
            <a:off x="576263" y="533400"/>
            <a:ext cx="6653212"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3</a:t>
            </a:r>
            <a:r>
              <a:rPr lang="zh-CN" altLang="en-US" sz="3200" dirty="0">
                <a:solidFill>
                  <a:srgbClr val="000099"/>
                </a:solidFill>
                <a:latin typeface="黑体" panose="02010609060101010101" pitchFamily="49" charset="-122"/>
                <a:ea typeface="黑体" panose="02010609060101010101" pitchFamily="49" charset="-122"/>
              </a:rPr>
              <a:t>）决策</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a:xfrm>
            <a:off x="609600" y="1717675"/>
            <a:ext cx="7924800" cy="2625725"/>
          </a:xfrm>
        </p:spPr>
        <p:txBody>
          <a:bodyPr/>
          <a:lstStyle/>
          <a:p>
            <a:pPr algn="just" eaLnBrk="1" hangingPunct="1">
              <a:lnSpc>
                <a:spcPct val="150000"/>
              </a:lnSpc>
              <a:spcBef>
                <a:spcPct val="0"/>
              </a:spcBef>
              <a:buFont typeface="Wingdings" panose="05000000000000000000" pitchFamily="2" charset="2"/>
              <a:buChar char="p"/>
              <a:defRPr/>
            </a:pPr>
            <a:r>
              <a:rPr lang="zh-CN" altLang="en-US" sz="2400" dirty="0">
                <a:latin typeface="Times New Roman" panose="02020603050405020304" pitchFamily="18" charset="0"/>
              </a:rPr>
              <a:t>在实际问题中，决策变量的取值往往限制在某一范围之内，此范围称为</a:t>
            </a:r>
            <a:r>
              <a:rPr lang="zh-CN" altLang="en-US" sz="2400" b="1" dirty="0">
                <a:solidFill>
                  <a:srgbClr val="000099"/>
                </a:solidFill>
                <a:latin typeface="Times New Roman" panose="02020603050405020304" pitchFamily="18" charset="0"/>
              </a:rPr>
              <a:t>允许决策集合</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lgn="just" eaLnBrk="1" hangingPunct="1">
              <a:lnSpc>
                <a:spcPct val="150000"/>
              </a:lnSpc>
              <a:spcBef>
                <a:spcPct val="0"/>
              </a:spcBef>
              <a:buFont typeface="Wingdings" panose="05000000000000000000" pitchFamily="2" charset="2"/>
              <a:buChar char="p"/>
              <a:defRPr/>
            </a:pPr>
            <a:r>
              <a:rPr lang="zh-CN" altLang="en-US" sz="2400" dirty="0">
                <a:latin typeface="Times New Roman" panose="02020603050405020304" pitchFamily="18" charset="0"/>
              </a:rPr>
              <a:t>常用</a:t>
            </a:r>
            <a:r>
              <a:rPr lang="en-US" altLang="zh-CN" sz="2400" i="1" dirty="0" err="1">
                <a:latin typeface="Times New Roman" panose="02020603050405020304" pitchFamily="18" charset="0"/>
              </a:rPr>
              <a:t>D</a:t>
            </a:r>
            <a:r>
              <a:rPr lang="en-US" altLang="zh-CN" sz="2400" i="1" baseline="-25000" dirty="0" err="1">
                <a:latin typeface="Times New Roman" panose="02020603050405020304" pitchFamily="18" charset="0"/>
              </a:rPr>
              <a:t>k</a:t>
            </a:r>
            <a:r>
              <a:rPr lang="en-US" altLang="zh-CN" sz="2400" dirty="0">
                <a:latin typeface="Times New Roman" panose="02020603050405020304" pitchFamily="18" charset="0"/>
              </a:rPr>
              <a:t>(</a:t>
            </a:r>
            <a:r>
              <a:rPr lang="en-US" altLang="zh-CN" sz="2400" i="1" dirty="0" err="1">
                <a:latin typeface="Times New Roman" panose="02020603050405020304" pitchFamily="18" charset="0"/>
              </a:rPr>
              <a:t>s</a:t>
            </a:r>
            <a:r>
              <a:rPr lang="en-US" altLang="zh-CN" sz="2400" i="1" baseline="-25000" dirty="0" err="1">
                <a:latin typeface="Times New Roman" panose="02020603050405020304" pitchFamily="18" charset="0"/>
              </a:rPr>
              <a:t>k</a:t>
            </a:r>
            <a:r>
              <a:rPr lang="en-US" altLang="zh-CN" sz="2400" dirty="0">
                <a:latin typeface="Times New Roman" panose="02020603050405020304" pitchFamily="18" charset="0"/>
              </a:rPr>
              <a:t>)</a:t>
            </a:r>
            <a:r>
              <a:rPr lang="zh-CN" altLang="en-US" sz="2400" dirty="0">
                <a:latin typeface="Times New Roman" panose="02020603050405020304" pitchFamily="18" charset="0"/>
              </a:rPr>
              <a:t>表示第</a:t>
            </a:r>
            <a:r>
              <a:rPr lang="en-US" altLang="zh-CN" sz="2400" i="1" dirty="0">
                <a:latin typeface="Times New Roman" panose="02020603050405020304" pitchFamily="18" charset="0"/>
              </a:rPr>
              <a:t>k</a:t>
            </a:r>
            <a:r>
              <a:rPr lang="zh-CN" altLang="en-US" sz="2400" dirty="0">
                <a:latin typeface="Times New Roman" panose="02020603050405020304" pitchFamily="18" charset="0"/>
              </a:rPr>
              <a:t>阶段从状态</a:t>
            </a:r>
            <a:r>
              <a:rPr lang="en-US" altLang="zh-CN" sz="2400" i="1" dirty="0" err="1">
                <a:latin typeface="Times New Roman" panose="02020603050405020304" pitchFamily="18" charset="0"/>
              </a:rPr>
              <a:t>s</a:t>
            </a:r>
            <a:r>
              <a:rPr lang="en-US" altLang="zh-CN" sz="2400" i="1" baseline="-25000" dirty="0" err="1">
                <a:latin typeface="Times New Roman" panose="02020603050405020304" pitchFamily="18" charset="0"/>
              </a:rPr>
              <a:t>k</a:t>
            </a:r>
            <a:r>
              <a:rPr lang="zh-CN" altLang="en-US" sz="2400" dirty="0">
                <a:latin typeface="Times New Roman" panose="02020603050405020304" pitchFamily="18" charset="0"/>
              </a:rPr>
              <a:t>出发的</a:t>
            </a:r>
            <a:r>
              <a:rPr lang="zh-CN" altLang="en-US" sz="2400" b="1" dirty="0">
                <a:solidFill>
                  <a:srgbClr val="0070C0"/>
                </a:solidFill>
                <a:latin typeface="Times New Roman" panose="02020603050405020304" pitchFamily="18" charset="0"/>
              </a:rPr>
              <a:t>允许决策集合</a:t>
            </a:r>
            <a:r>
              <a:rPr lang="zh-CN" altLang="en-US" sz="2400" dirty="0">
                <a:latin typeface="Times New Roman" panose="02020603050405020304" pitchFamily="18" charset="0"/>
              </a:rPr>
              <a:t>，显然有</a:t>
            </a:r>
            <a:r>
              <a:rPr lang="en-US" altLang="zh-CN" sz="2400" dirty="0">
                <a:latin typeface="Times New Roman" panose="02020603050405020304" pitchFamily="18" charset="0"/>
              </a:rPr>
              <a:t>,</a:t>
            </a:r>
          </a:p>
          <a:p>
            <a:pPr marL="0" indent="0" algn="just" eaLnBrk="1" hangingPunct="1">
              <a:lnSpc>
                <a:spcPct val="150000"/>
              </a:lnSpc>
              <a:spcBef>
                <a:spcPct val="0"/>
              </a:spcBef>
              <a:buFont typeface="Wingdings" panose="05000000000000000000" pitchFamily="2" charset="2"/>
              <a:buNone/>
              <a:defRPr/>
            </a:pPr>
            <a:r>
              <a:rPr lang="en-US" altLang="zh-CN" sz="2400" dirty="0">
                <a:latin typeface="Times New Roman" panose="02020603050405020304" pitchFamily="18" charset="0"/>
              </a:rPr>
              <a:t>                                 </a:t>
            </a:r>
            <a:r>
              <a:rPr lang="en-US" altLang="zh-CN" sz="2800" i="1" dirty="0" err="1">
                <a:latin typeface="Times New Roman" panose="02020603050405020304" pitchFamily="18" charset="0"/>
              </a:rPr>
              <a:t>u</a:t>
            </a:r>
            <a:r>
              <a:rPr lang="en-US" altLang="zh-CN" sz="2800" i="1" baseline="-25000" dirty="0" err="1">
                <a:latin typeface="Times New Roman" panose="02020603050405020304" pitchFamily="18" charset="0"/>
              </a:rPr>
              <a:t>k</a:t>
            </a:r>
            <a:r>
              <a:rPr lang="en-US" altLang="zh-CN" sz="2800" dirty="0">
                <a:latin typeface="Times New Roman" panose="02020603050405020304" pitchFamily="18" charset="0"/>
              </a:rPr>
              <a:t>(</a:t>
            </a:r>
            <a:r>
              <a:rPr lang="en-US" altLang="zh-CN" sz="2800" i="1" dirty="0" err="1">
                <a:latin typeface="Times New Roman" panose="02020603050405020304" pitchFamily="18" charset="0"/>
              </a:rPr>
              <a:t>s</a:t>
            </a:r>
            <a:r>
              <a:rPr lang="en-US" altLang="zh-CN" sz="2800" i="1" baseline="-25000" dirty="0" err="1">
                <a:latin typeface="Times New Roman" panose="02020603050405020304" pitchFamily="18" charset="0"/>
              </a:rPr>
              <a:t>k</a:t>
            </a:r>
            <a:r>
              <a:rPr lang="en-US" altLang="zh-CN" sz="2800" dirty="0">
                <a:latin typeface="Times New Roman" panose="02020603050405020304" pitchFamily="18" charset="0"/>
              </a:rPr>
              <a:t>) ∈ </a:t>
            </a: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k</a:t>
            </a:r>
            <a:r>
              <a:rPr lang="en-US" altLang="zh-CN" sz="2800" dirty="0">
                <a:latin typeface="Times New Roman" panose="02020603050405020304" pitchFamily="18" charset="0"/>
              </a:rPr>
              <a:t>(</a:t>
            </a:r>
            <a:r>
              <a:rPr lang="en-US" altLang="zh-CN" sz="2800" i="1" dirty="0" err="1">
                <a:latin typeface="Times New Roman" panose="02020603050405020304" pitchFamily="18" charset="0"/>
              </a:rPr>
              <a:t>s</a:t>
            </a:r>
            <a:r>
              <a:rPr lang="en-US" altLang="zh-CN" sz="2800" i="1" baseline="-25000" dirty="0" err="1">
                <a:latin typeface="Times New Roman" panose="02020603050405020304" pitchFamily="18" charset="0"/>
              </a:rPr>
              <a:t>k</a:t>
            </a:r>
            <a:r>
              <a:rPr lang="en-US" altLang="zh-CN" sz="2800" dirty="0">
                <a:latin typeface="Times New Roman" panose="02020603050405020304" pitchFamily="18" charset="0"/>
              </a:rPr>
              <a:t>) </a:t>
            </a:r>
            <a:endParaRPr lang="zh-CN" altLang="en-US" sz="2800" dirty="0">
              <a:latin typeface="Times New Roman" panose="02020603050405020304" pitchFamily="18" charset="0"/>
            </a:endParaRPr>
          </a:p>
        </p:txBody>
      </p:sp>
      <p:sp>
        <p:nvSpPr>
          <p:cNvPr id="38915"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0A3C4BC3-8525-4A13-9958-029F1947C9E0}" type="slidenum">
              <a:rPr lang="zh-CN" altLang="zh-CN" sz="1400">
                <a:latin typeface="Arial" panose="020B0604020202020204" pitchFamily="34" charset="0"/>
              </a:rPr>
              <a:pPr>
                <a:spcBef>
                  <a:spcPct val="0"/>
                </a:spcBef>
                <a:buClr>
                  <a:srgbClr val="000000"/>
                </a:buClr>
                <a:buFontTx/>
                <a:buNone/>
              </a:pPr>
              <a:t>23</a:t>
            </a:fld>
            <a:endParaRPr lang="en-US" altLang="zh-CN" sz="1400">
              <a:latin typeface="Arial" panose="020B0604020202020204" pitchFamily="34" charset="0"/>
            </a:endParaRPr>
          </a:p>
        </p:txBody>
      </p:sp>
      <p:sp>
        <p:nvSpPr>
          <p:cNvPr id="38916" name="Rectangle 2"/>
          <p:cNvSpPr txBox="1">
            <a:spLocks noChangeArrowheads="1"/>
          </p:cNvSpPr>
          <p:nvPr/>
        </p:nvSpPr>
        <p:spPr bwMode="auto">
          <a:xfrm>
            <a:off x="576263" y="533400"/>
            <a:ext cx="6653212"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3</a:t>
            </a:r>
            <a:r>
              <a:rPr lang="zh-CN" altLang="en-US" sz="3200" dirty="0">
                <a:solidFill>
                  <a:srgbClr val="000099"/>
                </a:solidFill>
                <a:latin typeface="黑体" panose="02010609060101010101" pitchFamily="49" charset="-122"/>
                <a:ea typeface="黑体" panose="02010609060101010101" pitchFamily="49" charset="-122"/>
              </a:rPr>
              <a:t>）决策</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609600" y="1676400"/>
            <a:ext cx="8001000" cy="2133600"/>
          </a:xfrm>
        </p:spPr>
        <p:txBody>
          <a:bodyPr/>
          <a:lstStyle/>
          <a:p>
            <a:pPr eaLnBrk="1" hangingPunct="1">
              <a:lnSpc>
                <a:spcPct val="150000"/>
              </a:lnSpc>
              <a:spcBef>
                <a:spcPct val="0"/>
              </a:spcBef>
              <a:buFont typeface="Wingdings" panose="05000000000000000000" pitchFamily="2" charset="2"/>
              <a:buChar char="p"/>
            </a:pPr>
            <a:r>
              <a:rPr lang="zh-CN" altLang="en-US" sz="2200">
                <a:latin typeface="Times New Roman" panose="02020603050405020304" pitchFamily="18" charset="0"/>
                <a:cs typeface="Courier New" panose="02070309020205020404" pitchFamily="49" charset="0"/>
              </a:rPr>
              <a:t>如在例</a:t>
            </a:r>
            <a:r>
              <a:rPr lang="en-US" altLang="zh-CN" sz="2200">
                <a:latin typeface="Times New Roman" panose="02020603050405020304" pitchFamily="18" charset="0"/>
                <a:cs typeface="Courier New" panose="02070309020205020404" pitchFamily="49" charset="0"/>
              </a:rPr>
              <a:t>1</a:t>
            </a:r>
            <a:r>
              <a:rPr lang="zh-CN" altLang="en-US" sz="2200">
                <a:latin typeface="Times New Roman" panose="02020603050405020304" pitchFamily="18" charset="0"/>
                <a:cs typeface="Courier New" panose="02070309020205020404" pitchFamily="49" charset="0"/>
              </a:rPr>
              <a:t>第二阶段中，若从状态</a:t>
            </a:r>
            <a:r>
              <a:rPr lang="en-US" altLang="zh-CN" sz="2200" i="1">
                <a:latin typeface="Times New Roman" panose="02020603050405020304" pitchFamily="18" charset="0"/>
                <a:cs typeface="Courier New" panose="02070309020205020404" pitchFamily="49" charset="0"/>
              </a:rPr>
              <a:t>B</a:t>
            </a:r>
            <a:r>
              <a:rPr lang="en-US" altLang="zh-CN" sz="2200" baseline="-25000">
                <a:latin typeface="Times New Roman" panose="02020603050405020304" pitchFamily="18" charset="0"/>
                <a:cs typeface="Courier New" panose="02070309020205020404" pitchFamily="49" charset="0"/>
              </a:rPr>
              <a:t>1</a:t>
            </a:r>
            <a:r>
              <a:rPr lang="zh-CN" altLang="en-US" sz="2200">
                <a:latin typeface="Times New Roman" panose="02020603050405020304" pitchFamily="18" charset="0"/>
                <a:cs typeface="Courier New" panose="02070309020205020404" pitchFamily="49" charset="0"/>
              </a:rPr>
              <a:t>出发，就可作出三种不同的决策，其允许决策集合：</a:t>
            </a:r>
            <a:r>
              <a:rPr lang="en-US" altLang="zh-CN" sz="2200" i="1">
                <a:latin typeface="Times New Roman" panose="02020603050405020304" pitchFamily="18" charset="0"/>
                <a:cs typeface="Courier New" panose="02070309020205020404" pitchFamily="49" charset="0"/>
              </a:rPr>
              <a:t>   D</a:t>
            </a:r>
            <a:r>
              <a:rPr lang="en-US" altLang="zh-CN" sz="2200" baseline="-25000">
                <a:latin typeface="Times New Roman" panose="02020603050405020304" pitchFamily="18" charset="0"/>
                <a:cs typeface="Courier New" panose="02070309020205020404" pitchFamily="49" charset="0"/>
              </a:rPr>
              <a:t>2</a:t>
            </a:r>
            <a:r>
              <a:rPr lang="en-US" altLang="zh-CN"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B</a:t>
            </a:r>
            <a:r>
              <a:rPr lang="en-US" altLang="zh-CN" sz="2200" baseline="-25000">
                <a:latin typeface="Times New Roman" panose="02020603050405020304" pitchFamily="18" charset="0"/>
                <a:cs typeface="Courier New" panose="02070309020205020404" pitchFamily="49" charset="0"/>
              </a:rPr>
              <a:t>1</a:t>
            </a:r>
            <a:r>
              <a:rPr lang="en-US" altLang="zh-CN" sz="2200">
                <a:latin typeface="Times New Roman" panose="02020603050405020304" pitchFamily="18" charset="0"/>
                <a:cs typeface="Courier New" panose="02070309020205020404" pitchFamily="49" charset="0"/>
              </a:rPr>
              <a:t>)</a:t>
            </a:r>
            <a:r>
              <a:rPr lang="zh-CN" altLang="en-US"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C</a:t>
            </a:r>
            <a:r>
              <a:rPr lang="en-US" altLang="zh-CN" sz="2200" baseline="-25000">
                <a:latin typeface="Times New Roman" panose="02020603050405020304" pitchFamily="18" charset="0"/>
                <a:cs typeface="Courier New" panose="02070309020205020404" pitchFamily="49" charset="0"/>
              </a:rPr>
              <a:t>1</a:t>
            </a:r>
            <a:r>
              <a:rPr lang="zh-CN" altLang="en-US"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C</a:t>
            </a:r>
            <a:r>
              <a:rPr lang="en-US" altLang="zh-CN" sz="2200" baseline="-25000">
                <a:latin typeface="Times New Roman" panose="02020603050405020304" pitchFamily="18" charset="0"/>
                <a:cs typeface="Courier New" panose="02070309020205020404" pitchFamily="49" charset="0"/>
              </a:rPr>
              <a:t>2</a:t>
            </a:r>
            <a:r>
              <a:rPr lang="zh-CN" altLang="en-US"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C</a:t>
            </a:r>
            <a:r>
              <a:rPr lang="en-US" altLang="zh-CN" sz="2200" baseline="-25000">
                <a:latin typeface="Times New Roman" panose="02020603050405020304" pitchFamily="18" charset="0"/>
                <a:cs typeface="Courier New" panose="02070309020205020404" pitchFamily="49" charset="0"/>
              </a:rPr>
              <a:t>3</a:t>
            </a:r>
            <a:r>
              <a:rPr lang="zh-CN" altLang="en-US" sz="2200">
                <a:latin typeface="Times New Roman" panose="02020603050405020304" pitchFamily="18" charset="0"/>
                <a:cs typeface="Courier New" panose="02070309020205020404" pitchFamily="49" charset="0"/>
              </a:rPr>
              <a:t>｝</a:t>
            </a:r>
            <a:endParaRPr lang="en-US" altLang="zh-CN" sz="2200">
              <a:latin typeface="Times New Roman" panose="02020603050405020304" pitchFamily="18" charset="0"/>
              <a:cs typeface="Courier New" panose="02070309020205020404" pitchFamily="49" charset="0"/>
            </a:endParaRPr>
          </a:p>
          <a:p>
            <a:pPr eaLnBrk="1" hangingPunct="1">
              <a:lnSpc>
                <a:spcPct val="150000"/>
              </a:lnSpc>
              <a:spcBef>
                <a:spcPct val="0"/>
              </a:spcBef>
              <a:buFont typeface="Wingdings" panose="05000000000000000000" pitchFamily="2" charset="2"/>
              <a:buChar char="p"/>
            </a:pPr>
            <a:r>
              <a:rPr lang="zh-CN" altLang="en-US" sz="2200">
                <a:latin typeface="Times New Roman" panose="02020603050405020304" pitchFamily="18" charset="0"/>
                <a:cs typeface="Courier New" panose="02070309020205020404" pitchFamily="49" charset="0"/>
              </a:rPr>
              <a:t>若选取的点为</a:t>
            </a:r>
            <a:r>
              <a:rPr lang="en-US" altLang="zh-CN" sz="2200" i="1">
                <a:latin typeface="Times New Roman" panose="02020603050405020304" pitchFamily="18" charset="0"/>
                <a:cs typeface="Courier New" panose="02070309020205020404" pitchFamily="49" charset="0"/>
              </a:rPr>
              <a:t>C</a:t>
            </a:r>
            <a:r>
              <a:rPr lang="en-US" altLang="zh-CN" sz="2200" baseline="-25000">
                <a:latin typeface="Times New Roman" panose="02020603050405020304" pitchFamily="18" charset="0"/>
                <a:cs typeface="Courier New" panose="02070309020205020404" pitchFamily="49" charset="0"/>
              </a:rPr>
              <a:t>2</a:t>
            </a:r>
            <a:r>
              <a:rPr lang="zh-CN" altLang="en-US" sz="2200">
                <a:latin typeface="Times New Roman" panose="02020603050405020304" pitchFamily="18" charset="0"/>
                <a:cs typeface="Courier New" panose="02070309020205020404" pitchFamily="49" charset="0"/>
              </a:rPr>
              <a:t>，则</a:t>
            </a:r>
            <a:r>
              <a:rPr lang="en-US" altLang="zh-CN" sz="2200" i="1">
                <a:latin typeface="Times New Roman" panose="02020603050405020304" pitchFamily="18" charset="0"/>
                <a:cs typeface="Courier New" panose="02070309020205020404" pitchFamily="49" charset="0"/>
              </a:rPr>
              <a:t>C</a:t>
            </a:r>
            <a:r>
              <a:rPr lang="en-US" altLang="zh-CN" sz="2200" baseline="-25000">
                <a:latin typeface="Times New Roman" panose="02020603050405020304" pitchFamily="18" charset="0"/>
                <a:cs typeface="Courier New" panose="02070309020205020404" pitchFamily="49" charset="0"/>
              </a:rPr>
              <a:t>2</a:t>
            </a:r>
            <a:r>
              <a:rPr lang="zh-CN" altLang="en-US" sz="2200">
                <a:latin typeface="Times New Roman" panose="02020603050405020304" pitchFamily="18" charset="0"/>
                <a:cs typeface="Courier New" panose="02070309020205020404" pitchFamily="49" charset="0"/>
              </a:rPr>
              <a:t>是状态</a:t>
            </a:r>
            <a:r>
              <a:rPr lang="en-US" altLang="zh-CN" sz="2200" i="1">
                <a:latin typeface="Times New Roman" panose="02020603050405020304" pitchFamily="18" charset="0"/>
                <a:cs typeface="Courier New" panose="02070309020205020404" pitchFamily="49" charset="0"/>
              </a:rPr>
              <a:t>B</a:t>
            </a:r>
            <a:r>
              <a:rPr lang="en-US" altLang="zh-CN" sz="2200" baseline="-25000">
                <a:latin typeface="Times New Roman" panose="02020603050405020304" pitchFamily="18" charset="0"/>
                <a:cs typeface="Courier New" panose="02070309020205020404" pitchFamily="49" charset="0"/>
              </a:rPr>
              <a:t>1</a:t>
            </a:r>
            <a:r>
              <a:rPr lang="zh-CN" altLang="en-US" sz="2200">
                <a:latin typeface="Times New Roman" panose="02020603050405020304" pitchFamily="18" charset="0"/>
                <a:cs typeface="Courier New" panose="02070309020205020404" pitchFamily="49" charset="0"/>
              </a:rPr>
              <a:t>在决策</a:t>
            </a:r>
            <a:r>
              <a:rPr lang="en-US" altLang="zh-CN" sz="2200" i="1">
                <a:latin typeface="Times New Roman" panose="02020603050405020304" pitchFamily="18" charset="0"/>
                <a:cs typeface="Courier New" panose="02070309020205020404" pitchFamily="49" charset="0"/>
              </a:rPr>
              <a:t>u</a:t>
            </a:r>
            <a:r>
              <a:rPr lang="en-US" altLang="zh-CN" sz="2200" baseline="-25000">
                <a:latin typeface="Times New Roman" panose="02020603050405020304" pitchFamily="18" charset="0"/>
                <a:cs typeface="Courier New" panose="02070309020205020404" pitchFamily="49" charset="0"/>
              </a:rPr>
              <a:t>2</a:t>
            </a:r>
            <a:r>
              <a:rPr lang="en-US" altLang="zh-CN"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B</a:t>
            </a:r>
            <a:r>
              <a:rPr lang="en-US" altLang="zh-CN" sz="2200" baseline="-25000">
                <a:latin typeface="Times New Roman" panose="02020603050405020304" pitchFamily="18" charset="0"/>
                <a:cs typeface="Courier New" panose="02070309020205020404" pitchFamily="49" charset="0"/>
              </a:rPr>
              <a:t>1</a:t>
            </a:r>
            <a:r>
              <a:rPr lang="en-US" altLang="zh-CN" sz="2200">
                <a:latin typeface="Times New Roman" panose="02020603050405020304" pitchFamily="18" charset="0"/>
                <a:cs typeface="Courier New" panose="02070309020205020404" pitchFamily="49" charset="0"/>
              </a:rPr>
              <a:t>)</a:t>
            </a:r>
            <a:r>
              <a:rPr lang="zh-CN" altLang="en-US" sz="2200">
                <a:latin typeface="Times New Roman" panose="02020603050405020304" pitchFamily="18" charset="0"/>
                <a:cs typeface="Courier New" panose="02070309020205020404" pitchFamily="49" charset="0"/>
              </a:rPr>
              <a:t>作用下的一个新的状态，记作 </a:t>
            </a:r>
            <a:r>
              <a:rPr lang="en-US" altLang="zh-CN" sz="2200" i="1">
                <a:latin typeface="Times New Roman" panose="02020603050405020304" pitchFamily="18" charset="0"/>
                <a:cs typeface="Courier New" panose="02070309020205020404" pitchFamily="49" charset="0"/>
              </a:rPr>
              <a:t>u</a:t>
            </a:r>
            <a:r>
              <a:rPr lang="en-US" altLang="zh-CN" sz="2200" baseline="-25000">
                <a:latin typeface="Times New Roman" panose="02020603050405020304" pitchFamily="18" charset="0"/>
                <a:cs typeface="Courier New" panose="02070309020205020404" pitchFamily="49" charset="0"/>
              </a:rPr>
              <a:t>2</a:t>
            </a:r>
            <a:r>
              <a:rPr lang="en-US" altLang="zh-CN"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B</a:t>
            </a:r>
            <a:r>
              <a:rPr lang="en-US" altLang="zh-CN" sz="2200" baseline="-25000">
                <a:latin typeface="Times New Roman" panose="02020603050405020304" pitchFamily="18" charset="0"/>
                <a:cs typeface="Courier New" panose="02070309020205020404" pitchFamily="49" charset="0"/>
              </a:rPr>
              <a:t>1</a:t>
            </a:r>
            <a:r>
              <a:rPr lang="en-US" altLang="zh-CN" sz="2200">
                <a:latin typeface="Times New Roman" panose="02020603050405020304" pitchFamily="18" charset="0"/>
                <a:cs typeface="Courier New" panose="02070309020205020404" pitchFamily="49" charset="0"/>
              </a:rPr>
              <a:t>)=</a:t>
            </a:r>
            <a:r>
              <a:rPr lang="en-US" altLang="zh-CN" sz="2200" i="1">
                <a:latin typeface="Times New Roman" panose="02020603050405020304" pitchFamily="18" charset="0"/>
                <a:cs typeface="Courier New" panose="02070309020205020404" pitchFamily="49" charset="0"/>
              </a:rPr>
              <a:t>C</a:t>
            </a:r>
            <a:r>
              <a:rPr lang="en-US" altLang="zh-CN" sz="2200" baseline="-25000">
                <a:latin typeface="Times New Roman" panose="02020603050405020304" pitchFamily="18" charset="0"/>
                <a:cs typeface="Courier New" panose="02070309020205020404" pitchFamily="49" charset="0"/>
              </a:rPr>
              <a:t>2</a:t>
            </a:r>
            <a:r>
              <a:rPr lang="zh-CN" altLang="en-US" sz="2200">
                <a:latin typeface="Times New Roman" panose="02020603050405020304" pitchFamily="18" charset="0"/>
                <a:cs typeface="Courier New" panose="02070309020205020404" pitchFamily="49" charset="0"/>
              </a:rPr>
              <a:t>。</a:t>
            </a:r>
            <a:endParaRPr lang="zh-CN" altLang="en-US" sz="2200">
              <a:latin typeface="Times New Roman" panose="02020603050405020304" pitchFamily="18" charset="0"/>
            </a:endParaRPr>
          </a:p>
        </p:txBody>
      </p:sp>
      <p:sp>
        <p:nvSpPr>
          <p:cNvPr id="39939" name="Rectangle 2"/>
          <p:cNvSpPr txBox="1">
            <a:spLocks noChangeArrowheads="1"/>
          </p:cNvSpPr>
          <p:nvPr/>
        </p:nvSpPr>
        <p:spPr bwMode="auto">
          <a:xfrm>
            <a:off x="533400" y="533400"/>
            <a:ext cx="67818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3</a:t>
            </a:r>
            <a:r>
              <a:rPr lang="zh-CN" altLang="en-US" sz="3200" dirty="0">
                <a:solidFill>
                  <a:srgbClr val="000099"/>
                </a:solidFill>
                <a:latin typeface="黑体" panose="02010609060101010101" pitchFamily="49" charset="-122"/>
                <a:ea typeface="黑体" panose="02010609060101010101" pitchFamily="49" charset="-122"/>
              </a:rPr>
              <a:t>）决策</a:t>
            </a:r>
          </a:p>
        </p:txBody>
      </p:sp>
      <p:pic>
        <p:nvPicPr>
          <p:cNvPr id="39940"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810000"/>
            <a:ext cx="5308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609600" y="1628775"/>
            <a:ext cx="7958138" cy="1708150"/>
          </a:xfrm>
        </p:spPr>
        <p:txBody>
          <a:bodyPr/>
          <a:lstStyle/>
          <a:p>
            <a:pPr algn="just" eaLnBrk="1" hangingPunct="1">
              <a:lnSpc>
                <a:spcPct val="150000"/>
              </a:lnSpc>
              <a:spcBef>
                <a:spcPct val="0"/>
              </a:spcBef>
              <a:buFont typeface="Wingdings" panose="05000000000000000000" pitchFamily="2" charset="2"/>
              <a:buChar char="p"/>
            </a:pPr>
            <a:r>
              <a:rPr lang="zh-CN" altLang="en-US" sz="2400" b="1">
                <a:solidFill>
                  <a:srgbClr val="000099"/>
                </a:solidFill>
                <a:latin typeface="Times New Roman" panose="02020603050405020304" pitchFamily="18" charset="0"/>
              </a:rPr>
              <a:t>策略</a:t>
            </a:r>
            <a:r>
              <a:rPr lang="zh-CN" altLang="en-US" sz="2400">
                <a:latin typeface="Times New Roman" panose="02020603050405020304" pitchFamily="18" charset="0"/>
              </a:rPr>
              <a:t>是一个按顺序排列的</a:t>
            </a:r>
            <a:r>
              <a:rPr lang="zh-CN" altLang="en-US" sz="2400" b="1">
                <a:solidFill>
                  <a:srgbClr val="000099"/>
                </a:solidFill>
                <a:latin typeface="Times New Roman" panose="02020603050405020304" pitchFamily="18" charset="0"/>
              </a:rPr>
              <a:t>决策</a:t>
            </a:r>
            <a:r>
              <a:rPr lang="zh-CN" altLang="en-US" sz="2400">
                <a:latin typeface="Times New Roman" panose="02020603050405020304" pitchFamily="18" charset="0"/>
              </a:rPr>
              <a:t>组成的</a:t>
            </a:r>
            <a:r>
              <a:rPr lang="zh-CN" altLang="en-US" sz="2400">
                <a:solidFill>
                  <a:srgbClr val="000099"/>
                </a:solidFill>
                <a:latin typeface="Times New Roman" panose="02020603050405020304" pitchFamily="18" charset="0"/>
              </a:rPr>
              <a:t>集合</a:t>
            </a:r>
            <a:r>
              <a:rPr lang="zh-CN" altLang="en-US" sz="2400">
                <a:latin typeface="Times New Roman" panose="02020603050405020304" pitchFamily="18" charset="0"/>
              </a:rPr>
              <a:t>。</a:t>
            </a:r>
          </a:p>
          <a:p>
            <a:pPr algn="just" eaLnBrk="1" hangingPunct="1">
              <a:lnSpc>
                <a:spcPct val="150000"/>
              </a:lnSpc>
              <a:spcBef>
                <a:spcPct val="0"/>
              </a:spcBef>
              <a:buFont typeface="Wingdings" panose="05000000000000000000" pitchFamily="2" charset="2"/>
              <a:buChar char="p"/>
            </a:pPr>
            <a:r>
              <a:rPr lang="zh-CN" altLang="en-US" sz="2400" u="sng">
                <a:solidFill>
                  <a:schemeClr val="hlink"/>
                </a:solidFill>
                <a:latin typeface="Times New Roman" panose="02020603050405020304" pitchFamily="18" charset="0"/>
              </a:rPr>
              <a:t>由过程的第</a:t>
            </a:r>
            <a:r>
              <a:rPr lang="en-US" altLang="zh-CN" sz="2400" i="1" u="sng">
                <a:solidFill>
                  <a:schemeClr val="hlink"/>
                </a:solidFill>
                <a:latin typeface="Times New Roman" panose="02020603050405020304" pitchFamily="18" charset="0"/>
              </a:rPr>
              <a:t>k</a:t>
            </a:r>
            <a:r>
              <a:rPr lang="zh-CN" altLang="en-US" sz="2400" u="sng">
                <a:solidFill>
                  <a:schemeClr val="hlink"/>
                </a:solidFill>
                <a:latin typeface="Times New Roman" panose="02020603050405020304" pitchFamily="18" charset="0"/>
              </a:rPr>
              <a:t>阶段开始到终止状态为止</a:t>
            </a:r>
            <a:r>
              <a:rPr lang="zh-CN" altLang="en-US" sz="2400">
                <a:latin typeface="Times New Roman" panose="02020603050405020304" pitchFamily="18" charset="0"/>
              </a:rPr>
              <a:t>的过程，称为问题的</a:t>
            </a:r>
            <a:r>
              <a:rPr lang="zh-CN" altLang="en-US" sz="2400">
                <a:solidFill>
                  <a:srgbClr val="FF0000"/>
                </a:solidFill>
                <a:latin typeface="Times New Roman" panose="02020603050405020304" pitchFamily="18" charset="0"/>
              </a:rPr>
              <a:t>后部子过程</a:t>
            </a:r>
            <a:r>
              <a:rPr lang="zh-CN" altLang="en-US" sz="2400">
                <a:latin typeface="Times New Roman" panose="02020603050405020304" pitchFamily="18" charset="0"/>
              </a:rPr>
              <a:t>。</a:t>
            </a:r>
          </a:p>
        </p:txBody>
      </p:sp>
      <p:sp>
        <p:nvSpPr>
          <p:cNvPr id="40963"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CAB26695-3252-4E68-9C05-C44DB184E112}" type="slidenum">
              <a:rPr lang="zh-CN" altLang="zh-CN" sz="1400">
                <a:latin typeface="Arial" panose="020B0604020202020204" pitchFamily="34" charset="0"/>
              </a:rPr>
              <a:pPr>
                <a:spcBef>
                  <a:spcPct val="0"/>
                </a:spcBef>
                <a:buClr>
                  <a:srgbClr val="000000"/>
                </a:buClr>
                <a:buFontTx/>
                <a:buNone/>
              </a:pPr>
              <a:t>25</a:t>
            </a:fld>
            <a:endParaRPr lang="en-US" altLang="zh-CN" sz="1400">
              <a:latin typeface="Arial" panose="020B0604020202020204" pitchFamily="34" charset="0"/>
            </a:endParaRPr>
          </a:p>
        </p:txBody>
      </p:sp>
      <p:sp>
        <p:nvSpPr>
          <p:cNvPr id="40964" name="Rectangle 2"/>
          <p:cNvSpPr txBox="1">
            <a:spLocks noChangeArrowheads="1"/>
          </p:cNvSpPr>
          <p:nvPr/>
        </p:nvSpPr>
        <p:spPr bwMode="auto">
          <a:xfrm>
            <a:off x="533400" y="579438"/>
            <a:ext cx="67056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4</a:t>
            </a:r>
            <a:r>
              <a:rPr lang="zh-CN" altLang="en-US" sz="3200" dirty="0">
                <a:solidFill>
                  <a:srgbClr val="000099"/>
                </a:solidFill>
                <a:latin typeface="黑体" panose="02010609060101010101" pitchFamily="49" charset="-122"/>
                <a:ea typeface="黑体" panose="02010609060101010101" pitchFamily="49" charset="-122"/>
              </a:rPr>
              <a:t>）策略</a:t>
            </a:r>
          </a:p>
        </p:txBody>
      </p:sp>
      <p:sp>
        <p:nvSpPr>
          <p:cNvPr id="44038" name="Rectangle 3"/>
          <p:cNvSpPr txBox="1">
            <a:spLocks noChangeArrowheads="1"/>
          </p:cNvSpPr>
          <p:nvPr/>
        </p:nvSpPr>
        <p:spPr bwMode="auto">
          <a:xfrm>
            <a:off x="609600" y="4198938"/>
            <a:ext cx="7886700" cy="1808162"/>
          </a:xfrm>
          <a:prstGeom prst="rect">
            <a:avLst/>
          </a:prstGeom>
          <a:noFill/>
          <a:ln>
            <a:noFill/>
          </a:ln>
          <a:effectLst/>
        </p:spPr>
        <p:txBody>
          <a:bodyPr/>
          <a:lstStyle>
            <a:lvl1pPr marL="812800" indent="-8128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50000"/>
              </a:lnSpc>
              <a:spcBef>
                <a:spcPct val="0"/>
              </a:spcBef>
              <a:buClr>
                <a:srgbClr val="C00000"/>
              </a:buClr>
              <a:buSzPct val="60000"/>
              <a:buFont typeface="Wingdings" panose="05000000000000000000" pitchFamily="2" charset="2"/>
              <a:buChar char="u"/>
              <a:defRPr/>
            </a:pPr>
            <a:r>
              <a:rPr lang="zh-CN" altLang="en-US" sz="2400" dirty="0">
                <a:latin typeface="Times New Roman" panose="02020603050405020304" pitchFamily="18" charset="0"/>
                <a:ea typeface="黑体" panose="02010609060101010101" pitchFamily="49" charset="-122"/>
              </a:rPr>
              <a:t>由每段的决策按顺序排列组成的决策函数序列                                       </a:t>
            </a:r>
            <a:endParaRPr lang="en-US" altLang="zh-CN" sz="2400" dirty="0">
              <a:latin typeface="Times New Roman" panose="02020603050405020304" pitchFamily="18" charset="0"/>
              <a:ea typeface="黑体" panose="02010609060101010101" pitchFamily="49" charset="-122"/>
            </a:endParaRPr>
          </a:p>
          <a:p>
            <a:pPr marL="0" indent="0" algn="just" eaLnBrk="1" hangingPunct="1">
              <a:lnSpc>
                <a:spcPct val="150000"/>
              </a:lnSpc>
              <a:spcBef>
                <a:spcPct val="0"/>
              </a:spcBef>
              <a:buClr>
                <a:srgbClr val="C00000"/>
              </a:buClr>
              <a:buSzPct val="60000"/>
              <a:buFont typeface="Wingdings" panose="05000000000000000000" pitchFamily="2" charset="2"/>
              <a:buNone/>
              <a:defRPr/>
            </a:pPr>
            <a:r>
              <a:rPr lang="en-US" altLang="zh-CN" sz="2400" dirty="0">
                <a:latin typeface="Times New Roman" panose="02020603050405020304" pitchFamily="18" charset="0"/>
                <a:ea typeface="黑体" panose="02010609060101010101" pitchFamily="49" charset="-122"/>
              </a:rPr>
              <a:t>                                                    </a:t>
            </a:r>
            <a:r>
              <a:rPr lang="zh-CN" altLang="en-US" sz="2400" dirty="0">
                <a:latin typeface="Times New Roman" panose="02020603050405020304" pitchFamily="18" charset="0"/>
                <a:ea typeface="黑体" panose="02010609060101010101" pitchFamily="49" charset="-122"/>
              </a:rPr>
              <a:t>称为</a:t>
            </a:r>
            <a:r>
              <a:rPr lang="en-US" altLang="zh-CN" sz="2400" i="1" dirty="0">
                <a:solidFill>
                  <a:srgbClr val="FF0000"/>
                </a:solidFill>
                <a:latin typeface="Times New Roman" panose="02020603050405020304" pitchFamily="18" charset="0"/>
                <a:ea typeface="黑体" panose="02010609060101010101" pitchFamily="49" charset="-122"/>
              </a:rPr>
              <a:t>k</a:t>
            </a:r>
            <a:r>
              <a:rPr lang="zh-CN" altLang="en-US" sz="2400" dirty="0">
                <a:solidFill>
                  <a:srgbClr val="FF0000"/>
                </a:solidFill>
                <a:latin typeface="Times New Roman" panose="02020603050405020304" pitchFamily="18" charset="0"/>
                <a:ea typeface="黑体" panose="02010609060101010101" pitchFamily="49" charset="-122"/>
              </a:rPr>
              <a:t>子过程策略</a:t>
            </a:r>
            <a:r>
              <a:rPr lang="zh-CN" altLang="en-US" sz="2400" dirty="0">
                <a:latin typeface="Times New Roman" panose="02020603050405020304" pitchFamily="18" charset="0"/>
                <a:ea typeface="黑体" panose="02010609060101010101" pitchFamily="49" charset="-122"/>
              </a:rPr>
              <a:t>，简称</a:t>
            </a:r>
            <a:r>
              <a:rPr lang="zh-CN" altLang="en-US" sz="2400" dirty="0">
                <a:solidFill>
                  <a:srgbClr val="FF0000"/>
                </a:solidFill>
                <a:latin typeface="Times New Roman" panose="02020603050405020304" pitchFamily="18" charset="0"/>
                <a:ea typeface="黑体" panose="02010609060101010101" pitchFamily="49" charset="-122"/>
              </a:rPr>
              <a:t>子策略</a:t>
            </a:r>
            <a:r>
              <a:rPr lang="zh-CN" altLang="en-US" sz="2400" dirty="0">
                <a:latin typeface="Times New Roman" panose="02020603050405020304" pitchFamily="18" charset="0"/>
                <a:ea typeface="黑体" panose="02010609060101010101" pitchFamily="49" charset="-122"/>
              </a:rPr>
              <a:t>，记为                ，即</a:t>
            </a:r>
          </a:p>
        </p:txBody>
      </p:sp>
      <p:pic>
        <p:nvPicPr>
          <p:cNvPr id="40966" name="Picture 4" descr="51286659113980877918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363" y="4795838"/>
            <a:ext cx="3241675"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967" name="Picture 5" descr="865849586139808779180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9800" y="5402263"/>
            <a:ext cx="115252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4041" name="Picture 6" descr="9487289041398087791803"/>
          <p:cNvPicPr>
            <a:picLocks noChangeAspect="1" noChangeArrowheads="1"/>
          </p:cNvPicPr>
          <p:nvPr/>
        </p:nvPicPr>
        <p:blipFill>
          <a:blip r:embed="rId5"/>
          <a:srcRect/>
          <a:stretch>
            <a:fillRect/>
          </a:stretch>
        </p:blipFill>
        <p:spPr bwMode="auto">
          <a:xfrm>
            <a:off x="1905000" y="5881688"/>
            <a:ext cx="5562600" cy="669925"/>
          </a:xfrm>
          <a:prstGeom prst="rect">
            <a:avLst/>
          </a:prstGeom>
          <a:solidFill>
            <a:schemeClr val="bg1">
              <a:lumMod val="85000"/>
            </a:schemeClr>
          </a:solidFill>
          <a:ln w="9525">
            <a:noFill/>
            <a:miter lim="800000"/>
            <a:headEnd/>
            <a:tailEnd/>
          </a:ln>
          <a:effectLst/>
        </p:spPr>
      </p:pic>
      <p:pic>
        <p:nvPicPr>
          <p:cNvPr id="40969" name="Picture 4" descr="60963554613980877917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311525"/>
            <a:ext cx="5899150"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sz="half" idx="1"/>
          </p:nvPr>
        </p:nvSpPr>
        <p:spPr>
          <a:xfrm>
            <a:off x="76200" y="1809750"/>
            <a:ext cx="8316913" cy="3600450"/>
          </a:xfrm>
        </p:spPr>
        <p:txBody>
          <a:bodyPr/>
          <a:lstStyle/>
          <a:p>
            <a:pPr marL="812800" indent="-812800" algn="just" eaLnBrk="1" hangingPunct="1">
              <a:lnSpc>
                <a:spcPct val="120000"/>
              </a:lnSpc>
              <a:spcBef>
                <a:spcPct val="0"/>
              </a:spcBef>
              <a:buFont typeface="Wingdings" panose="05000000000000000000" pitchFamily="2" charset="2"/>
              <a:buNone/>
            </a:pPr>
            <a:r>
              <a:rPr lang="zh-CN" altLang="en-US" sz="2400">
                <a:latin typeface="Times New Roman" panose="02020603050405020304" pitchFamily="18" charset="0"/>
              </a:rPr>
              <a:t>                 当</a:t>
            </a:r>
            <a:r>
              <a:rPr lang="en-US" altLang="zh-CN" sz="2400" i="1">
                <a:latin typeface="Times New Roman" panose="02020603050405020304" pitchFamily="18" charset="0"/>
              </a:rPr>
              <a:t>k</a:t>
            </a:r>
            <a:r>
              <a:rPr lang="en-US" altLang="zh-CN" sz="2400">
                <a:latin typeface="Times New Roman" panose="02020603050405020304" pitchFamily="18" charset="0"/>
              </a:rPr>
              <a:t>=1</a:t>
            </a:r>
            <a:r>
              <a:rPr lang="zh-CN" altLang="en-US" sz="2400">
                <a:latin typeface="Times New Roman" panose="02020603050405020304" pitchFamily="18" charset="0"/>
              </a:rPr>
              <a:t>时，此决策函数序列称为</a:t>
            </a:r>
            <a:r>
              <a:rPr lang="zh-CN" altLang="en-US" sz="2400" b="1">
                <a:solidFill>
                  <a:srgbClr val="000099"/>
                </a:solidFill>
                <a:latin typeface="Times New Roman" panose="02020603050405020304" pitchFamily="18" charset="0"/>
              </a:rPr>
              <a:t>全过程的一个策略</a:t>
            </a:r>
            <a:r>
              <a:rPr lang="zh-CN" altLang="en-US" sz="2400">
                <a:latin typeface="Times New Roman" panose="02020603050405020304" pitchFamily="18" charset="0"/>
              </a:rPr>
              <a:t>，简称</a:t>
            </a:r>
            <a:r>
              <a:rPr lang="zh-CN" altLang="en-US" sz="2400">
                <a:solidFill>
                  <a:srgbClr val="FF0000"/>
                </a:solidFill>
                <a:latin typeface="Times New Roman" panose="02020603050405020304" pitchFamily="18" charset="0"/>
              </a:rPr>
              <a:t>策略</a:t>
            </a:r>
            <a:r>
              <a:rPr lang="zh-CN" altLang="en-US" sz="2400">
                <a:latin typeface="Times New Roman" panose="02020603050405020304" pitchFamily="18" charset="0"/>
              </a:rPr>
              <a:t>，记为            ，即</a:t>
            </a:r>
          </a:p>
        </p:txBody>
      </p:sp>
      <p:pic>
        <p:nvPicPr>
          <p:cNvPr id="49156" name="Picture 4" descr="8563466801398087791803"/>
          <p:cNvPicPr>
            <a:picLocks noChangeAspect="1" noChangeArrowheads="1"/>
          </p:cNvPicPr>
          <p:nvPr/>
        </p:nvPicPr>
        <p:blipFill>
          <a:blip r:embed="rId2" cstate="print">
            <a:duotone>
              <a:schemeClr val="accent4">
                <a:shade val="45000"/>
                <a:satMod val="135000"/>
              </a:schemeClr>
              <a:prstClr val="white"/>
            </a:duotone>
          </a:blip>
          <a:srcRect/>
          <a:stretch>
            <a:fillRect/>
          </a:stretch>
        </p:blipFill>
        <p:spPr bwMode="black">
          <a:xfrm>
            <a:off x="3172668" y="2368229"/>
            <a:ext cx="936104" cy="411062"/>
          </a:xfrm>
          <a:prstGeom prst="rect">
            <a:avLst/>
          </a:prstGeom>
          <a:noFill/>
          <a:ln>
            <a:noFill/>
          </a:ln>
          <a:effectLst/>
        </p:spPr>
      </p:pic>
      <p:pic>
        <p:nvPicPr>
          <p:cNvPr id="49157" name="Picture 5" descr="1400936761398087791803"/>
          <p:cNvPicPr>
            <a:picLocks noChangeAspect="1" noChangeArrowheads="1"/>
          </p:cNvPicPr>
          <p:nvPr/>
        </p:nvPicPr>
        <p:blipFill>
          <a:blip r:embed="rId3">
            <a:duotone>
              <a:schemeClr val="accent4">
                <a:shade val="45000"/>
                <a:satMod val="135000"/>
              </a:schemeClr>
              <a:prstClr val="white"/>
            </a:duotone>
          </a:blip>
          <a:srcRect/>
          <a:stretch>
            <a:fillRect/>
          </a:stretch>
        </p:blipFill>
        <p:spPr bwMode="black">
          <a:xfrm>
            <a:off x="1832305" y="2887157"/>
            <a:ext cx="5084779" cy="608938"/>
          </a:xfrm>
          <a:prstGeom prst="rect">
            <a:avLst/>
          </a:prstGeom>
          <a:noFill/>
          <a:ln>
            <a:noFill/>
          </a:ln>
          <a:effectLst/>
        </p:spPr>
      </p:pic>
      <p:sp>
        <p:nvSpPr>
          <p:cNvPr id="43013"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B1EA38A-8885-4334-961F-8F6D453E63E3}" type="slidenum">
              <a:rPr lang="zh-CN" altLang="zh-CN" sz="1400">
                <a:latin typeface="Arial" panose="020B0604020202020204" pitchFamily="34" charset="0"/>
              </a:rPr>
              <a:pPr>
                <a:spcBef>
                  <a:spcPct val="0"/>
                </a:spcBef>
                <a:buClr>
                  <a:srgbClr val="000000"/>
                </a:buClr>
                <a:buFontTx/>
                <a:buNone/>
              </a:pPr>
              <a:t>26</a:t>
            </a:fld>
            <a:endParaRPr lang="en-US" altLang="zh-CN" sz="1400">
              <a:latin typeface="Arial" panose="020B0604020202020204" pitchFamily="34" charset="0"/>
            </a:endParaRPr>
          </a:p>
        </p:txBody>
      </p:sp>
      <p:sp>
        <p:nvSpPr>
          <p:cNvPr id="43014" name="Rectangle 2"/>
          <p:cNvSpPr txBox="1">
            <a:spLocks noChangeArrowheads="1"/>
          </p:cNvSpPr>
          <p:nvPr/>
        </p:nvSpPr>
        <p:spPr bwMode="auto">
          <a:xfrm>
            <a:off x="539750" y="646113"/>
            <a:ext cx="654685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 typeface="Wingdings" panose="05000000000000000000" pitchFamily="2" charset="2"/>
              <a:buNone/>
            </a:pPr>
            <a:r>
              <a:rPr lang="en-US" altLang="zh-CN" sz="3200" dirty="0">
                <a:solidFill>
                  <a:schemeClr val="tx2"/>
                </a:solidFill>
                <a:latin typeface="Times New Roman" panose="02020603050405020304" pitchFamily="18" charset="0"/>
                <a:ea typeface="黑体" panose="02010609060101010101" pitchFamily="49" charset="-122"/>
              </a:rPr>
              <a:t>2</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chemeClr val="tx2"/>
                </a:solidFill>
                <a:latin typeface="黑体" panose="02010609060101010101" pitchFamily="49" charset="-122"/>
                <a:ea typeface="黑体" panose="02010609060101010101" pitchFamily="49" charset="-122"/>
              </a:rPr>
              <a:t>动态规划基本概念</a:t>
            </a:r>
            <a:r>
              <a:rPr lang="en-US" altLang="zh-CN" sz="3200" dirty="0">
                <a:solidFill>
                  <a:schemeClr val="tx2"/>
                </a:solidFill>
                <a:latin typeface="黑体" panose="02010609060101010101" pitchFamily="49" charset="-122"/>
                <a:ea typeface="黑体" panose="02010609060101010101" pitchFamily="49" charset="-122"/>
              </a:rPr>
              <a:t>- </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4</a:t>
            </a:r>
            <a:r>
              <a:rPr lang="zh-CN" altLang="en-US" sz="3200" dirty="0">
                <a:solidFill>
                  <a:srgbClr val="000099"/>
                </a:solidFill>
                <a:latin typeface="黑体" panose="02010609060101010101" pitchFamily="49" charset="-122"/>
                <a:ea typeface="黑体" panose="02010609060101010101" pitchFamily="49" charset="-122"/>
              </a:rPr>
              <a:t>）策略</a:t>
            </a:r>
          </a:p>
        </p:txBody>
      </p:sp>
      <p:sp>
        <p:nvSpPr>
          <p:cNvPr id="43015" name="Rectangle 3"/>
          <p:cNvSpPr>
            <a:spLocks noGrp="1" noChangeArrowheads="1"/>
          </p:cNvSpPr>
          <p:nvPr>
            <p:ph idx="1"/>
          </p:nvPr>
        </p:nvSpPr>
        <p:spPr>
          <a:xfrm>
            <a:off x="685800" y="3681413"/>
            <a:ext cx="7743825" cy="2295525"/>
          </a:xfrm>
        </p:spPr>
        <p:txBody>
          <a:bodyPr/>
          <a:lstStyle/>
          <a:p>
            <a:pPr algn="just" eaLnBrk="1" hangingPunct="1">
              <a:lnSpc>
                <a:spcPct val="150000"/>
              </a:lnSpc>
              <a:spcBef>
                <a:spcPct val="0"/>
              </a:spcBef>
              <a:buFont typeface="Wingdings" panose="05000000000000000000" pitchFamily="2" charset="2"/>
              <a:buChar char="p"/>
            </a:pPr>
            <a:r>
              <a:rPr lang="zh-CN" altLang="en-US" sz="2400">
                <a:latin typeface="Times New Roman" panose="02020603050405020304" pitchFamily="18" charset="0"/>
              </a:rPr>
              <a:t>在实际问题中，可供选择的策略有一定的范围，此范围称为</a:t>
            </a:r>
            <a:r>
              <a:rPr lang="zh-CN" altLang="en-US" sz="2400">
                <a:solidFill>
                  <a:srgbClr val="FF0000"/>
                </a:solidFill>
                <a:latin typeface="Times New Roman" panose="02020603050405020304" pitchFamily="18" charset="0"/>
              </a:rPr>
              <a:t>允许策略集合，用</a:t>
            </a:r>
            <a:r>
              <a:rPr lang="en-US" altLang="zh-CN" sz="2400" i="1">
                <a:solidFill>
                  <a:srgbClr val="FF0000"/>
                </a:solidFill>
                <a:latin typeface="Times New Roman" panose="02020603050405020304" pitchFamily="18" charset="0"/>
              </a:rPr>
              <a:t>P</a:t>
            </a:r>
            <a:r>
              <a:rPr lang="zh-CN" altLang="en-US" sz="2400">
                <a:solidFill>
                  <a:srgbClr val="FF0000"/>
                </a:solidFill>
                <a:latin typeface="Times New Roman" panose="02020603050405020304" pitchFamily="18" charset="0"/>
              </a:rPr>
              <a:t>表示</a:t>
            </a:r>
            <a:r>
              <a:rPr lang="zh-CN" altLang="en-US" sz="2400">
                <a:latin typeface="Times New Roman" panose="02020603050405020304" pitchFamily="18" charset="0"/>
              </a:rPr>
              <a:t>。</a:t>
            </a:r>
            <a:endParaRPr lang="en-US" altLang="zh-CN" sz="2400">
              <a:latin typeface="Times New Roman" panose="02020603050405020304" pitchFamily="18" charset="0"/>
            </a:endParaRPr>
          </a:p>
          <a:p>
            <a:pPr algn="just" eaLnBrk="1" hangingPunct="1">
              <a:lnSpc>
                <a:spcPct val="150000"/>
              </a:lnSpc>
              <a:spcBef>
                <a:spcPct val="0"/>
              </a:spcBef>
              <a:buFont typeface="Wingdings" panose="05000000000000000000" pitchFamily="2" charset="2"/>
              <a:buChar char="p"/>
            </a:pPr>
            <a:r>
              <a:rPr lang="zh-CN" altLang="en-US" sz="2400">
                <a:latin typeface="Times New Roman" panose="02020603050405020304" pitchFamily="18" charset="0"/>
              </a:rPr>
              <a:t>从允许策略集合中找出达到最优效果的策略称为</a:t>
            </a:r>
            <a:r>
              <a:rPr lang="zh-CN" altLang="en-US" sz="2400">
                <a:solidFill>
                  <a:srgbClr val="FF0000"/>
                </a:solidFill>
                <a:latin typeface="Times New Roman" panose="02020603050405020304" pitchFamily="18" charset="0"/>
              </a:rPr>
              <a:t>最优策略</a:t>
            </a:r>
            <a:r>
              <a:rPr lang="zh-CN" altLang="en-US" sz="2400">
                <a:latin typeface="Times New Roman" panose="02020603050405020304" pitchFamily="18" charset="0"/>
              </a:rPr>
              <a:t>。</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idx="1"/>
          </p:nvPr>
        </p:nvSpPr>
        <p:spPr>
          <a:xfrm>
            <a:off x="533400" y="1676400"/>
            <a:ext cx="7891463" cy="5181600"/>
          </a:xfrm>
        </p:spPr>
        <p:txBody>
          <a:bodyPr/>
          <a:lstStyle/>
          <a:p>
            <a:pPr algn="just" eaLnBrk="1" hangingPunct="1">
              <a:lnSpc>
                <a:spcPct val="125000"/>
              </a:lnSpc>
              <a:spcBef>
                <a:spcPct val="0"/>
              </a:spcBef>
              <a:buFont typeface="Wingdings" panose="05000000000000000000" pitchFamily="2" charset="2"/>
              <a:buChar char="p"/>
              <a:defRPr/>
            </a:pPr>
            <a:r>
              <a:rPr lang="zh-CN" altLang="en-US" sz="2400" dirty="0">
                <a:latin typeface="Times New Roman" panose="02020603050405020304" pitchFamily="18" charset="0"/>
              </a:rPr>
              <a:t>状态转移方程是</a:t>
            </a:r>
            <a:r>
              <a:rPr lang="zh-CN" altLang="en-US" sz="2400" dirty="0">
                <a:solidFill>
                  <a:schemeClr val="hlink"/>
                </a:solidFill>
                <a:latin typeface="Times New Roman" panose="02020603050405020304" pitchFamily="18" charset="0"/>
              </a:rPr>
              <a:t>确定活动过程如何由一个状态演变到另一个状态</a:t>
            </a:r>
            <a:r>
              <a:rPr lang="zh-CN" altLang="en-US" sz="2400" dirty="0">
                <a:latin typeface="Times New Roman" panose="02020603050405020304" pitchFamily="18" charset="0"/>
              </a:rPr>
              <a:t>。若给定第</a:t>
            </a:r>
            <a:r>
              <a:rPr lang="en-US" altLang="zh-CN" sz="2400" i="1" dirty="0">
                <a:latin typeface="Times New Roman" panose="02020603050405020304" pitchFamily="18" charset="0"/>
              </a:rPr>
              <a:t>k</a:t>
            </a:r>
            <a:r>
              <a:rPr lang="zh-CN" altLang="en-US" sz="2400" dirty="0">
                <a:latin typeface="Times New Roman" panose="02020603050405020304" pitchFamily="18" charset="0"/>
              </a:rPr>
              <a:t>阶段状态变量的值</a:t>
            </a:r>
            <a:r>
              <a:rPr lang="en-US" altLang="zh-CN" sz="2400" i="1" dirty="0" err="1">
                <a:latin typeface="Times New Roman" panose="02020603050405020304" pitchFamily="18" charset="0"/>
              </a:rPr>
              <a:t>s</a:t>
            </a:r>
            <a:r>
              <a:rPr lang="en-US" altLang="zh-CN" sz="2400" i="1" baseline="-25000" dirty="0" err="1">
                <a:latin typeface="Times New Roman" panose="02020603050405020304" pitchFamily="18" charset="0"/>
              </a:rPr>
              <a:t>k</a:t>
            </a:r>
            <a:r>
              <a:rPr lang="en-US" altLang="zh-CN" sz="2400" i="1" baseline="-25000" dirty="0">
                <a:latin typeface="Times New Roman" panose="02020603050405020304" pitchFamily="18" charset="0"/>
              </a:rPr>
              <a:t> </a:t>
            </a:r>
            <a:r>
              <a:rPr lang="zh-CN" altLang="en-US" sz="2400" dirty="0">
                <a:latin typeface="Times New Roman" panose="02020603050405020304" pitchFamily="18" charset="0"/>
              </a:rPr>
              <a:t>，如果该段的决策变量</a:t>
            </a:r>
            <a:r>
              <a:rPr lang="en-US" altLang="zh-CN" sz="2400" i="1" dirty="0" err="1">
                <a:latin typeface="Times New Roman" panose="02020603050405020304" pitchFamily="18" charset="0"/>
              </a:rPr>
              <a:t>u</a:t>
            </a:r>
            <a:r>
              <a:rPr lang="en-US" altLang="zh-CN" sz="2400" i="1" baseline="-25000" dirty="0" err="1">
                <a:latin typeface="Times New Roman" panose="02020603050405020304" pitchFamily="18" charset="0"/>
              </a:rPr>
              <a:t>k</a:t>
            </a:r>
            <a:r>
              <a:rPr lang="zh-CN" altLang="en-US" sz="2400" dirty="0">
                <a:latin typeface="Times New Roman" panose="02020603050405020304" pitchFamily="18" charset="0"/>
              </a:rPr>
              <a:t>一经确定，第</a:t>
            </a:r>
            <a:r>
              <a:rPr lang="en-US" altLang="zh-CN" sz="2400" i="1" dirty="0">
                <a:latin typeface="Times New Roman" panose="02020603050405020304" pitchFamily="18" charset="0"/>
              </a:rPr>
              <a:t>k</a:t>
            </a:r>
            <a:r>
              <a:rPr lang="en-US" altLang="zh-CN" sz="2400" dirty="0">
                <a:latin typeface="Times New Roman" panose="02020603050405020304" pitchFamily="18" charset="0"/>
              </a:rPr>
              <a:t>+1</a:t>
            </a:r>
            <a:r>
              <a:rPr lang="zh-CN" altLang="en-US" sz="2400" dirty="0">
                <a:latin typeface="Times New Roman" panose="02020603050405020304" pitchFamily="18" charset="0"/>
              </a:rPr>
              <a:t>阶段的状态变量</a:t>
            </a: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k</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的值也就完全确定，即</a:t>
            </a:r>
            <a:r>
              <a:rPr lang="en-US" altLang="zh-CN" sz="2400" i="1" dirty="0">
                <a:solidFill>
                  <a:srgbClr val="C00000"/>
                </a:solidFill>
                <a:latin typeface="Times New Roman" panose="02020603050405020304" pitchFamily="18" charset="0"/>
              </a:rPr>
              <a:t>s</a:t>
            </a:r>
            <a:r>
              <a:rPr lang="en-US" altLang="zh-CN" sz="2400" i="1" baseline="-25000" dirty="0">
                <a:solidFill>
                  <a:srgbClr val="C00000"/>
                </a:solidFill>
                <a:latin typeface="Times New Roman" panose="02020603050405020304" pitchFamily="18" charset="0"/>
              </a:rPr>
              <a:t>k</a:t>
            </a:r>
            <a:r>
              <a:rPr lang="en-US" altLang="zh-CN" sz="2400" baseline="-25000" dirty="0">
                <a:solidFill>
                  <a:srgbClr val="C00000"/>
                </a:solidFill>
                <a:latin typeface="Times New Roman" panose="02020603050405020304" pitchFamily="18" charset="0"/>
              </a:rPr>
              <a:t>+1</a:t>
            </a:r>
            <a:r>
              <a:rPr lang="zh-CN" altLang="en-US" sz="2400" dirty="0">
                <a:solidFill>
                  <a:srgbClr val="C00000"/>
                </a:solidFill>
                <a:latin typeface="Times New Roman" panose="02020603050405020304" pitchFamily="18" charset="0"/>
              </a:rPr>
              <a:t>的值随</a:t>
            </a:r>
            <a:r>
              <a:rPr lang="en-US" altLang="zh-CN" sz="2400" i="1" dirty="0" err="1">
                <a:solidFill>
                  <a:srgbClr val="C00000"/>
                </a:solidFill>
                <a:latin typeface="Times New Roman" panose="02020603050405020304" pitchFamily="18" charset="0"/>
              </a:rPr>
              <a:t>s</a:t>
            </a:r>
            <a:r>
              <a:rPr lang="en-US" altLang="zh-CN" sz="2400" i="1" baseline="-25000" dirty="0" err="1">
                <a:solidFill>
                  <a:srgbClr val="C00000"/>
                </a:solidFill>
                <a:latin typeface="Times New Roman" panose="02020603050405020304" pitchFamily="18" charset="0"/>
              </a:rPr>
              <a:t>k</a:t>
            </a:r>
            <a:r>
              <a:rPr lang="zh-CN" altLang="en-US" sz="2400" dirty="0">
                <a:solidFill>
                  <a:srgbClr val="C00000"/>
                </a:solidFill>
                <a:latin typeface="Times New Roman" panose="02020603050405020304" pitchFamily="18" charset="0"/>
              </a:rPr>
              <a:t>和</a:t>
            </a:r>
            <a:r>
              <a:rPr lang="en-US" altLang="zh-CN" sz="2400" i="1" dirty="0" err="1">
                <a:solidFill>
                  <a:srgbClr val="C00000"/>
                </a:solidFill>
                <a:latin typeface="Times New Roman" panose="02020603050405020304" pitchFamily="18" charset="0"/>
              </a:rPr>
              <a:t>u</a:t>
            </a:r>
            <a:r>
              <a:rPr lang="en-US" altLang="zh-CN" sz="2400" i="1" baseline="-25000" dirty="0" err="1">
                <a:solidFill>
                  <a:srgbClr val="C00000"/>
                </a:solidFill>
                <a:latin typeface="Times New Roman" panose="02020603050405020304" pitchFamily="18" charset="0"/>
              </a:rPr>
              <a:t>k</a:t>
            </a:r>
            <a:r>
              <a:rPr lang="zh-CN" altLang="en-US" sz="2400" dirty="0">
                <a:solidFill>
                  <a:srgbClr val="C00000"/>
                </a:solidFill>
                <a:latin typeface="Times New Roman" panose="02020603050405020304" pitchFamily="18" charset="0"/>
              </a:rPr>
              <a:t>的值变化而变化</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lgn="just" eaLnBrk="1" hangingPunct="1">
              <a:lnSpc>
                <a:spcPct val="125000"/>
              </a:lnSpc>
              <a:spcBef>
                <a:spcPct val="0"/>
              </a:spcBef>
              <a:buFont typeface="Wingdings" panose="05000000000000000000" pitchFamily="2" charset="2"/>
              <a:buChar char="p"/>
              <a:defRPr/>
            </a:pPr>
            <a:r>
              <a:rPr lang="zh-CN" altLang="en-US" sz="2400" dirty="0">
                <a:latin typeface="Times New Roman" panose="02020603050405020304" pitchFamily="18" charset="0"/>
              </a:rPr>
              <a:t>这种确定的对应关系，记为</a:t>
            </a:r>
            <a:r>
              <a:rPr lang="en-US" altLang="zh-CN" sz="2400" dirty="0">
                <a:latin typeface="Times New Roman" panose="02020603050405020304" pitchFamily="18" charset="0"/>
              </a:rPr>
              <a:t>:</a:t>
            </a:r>
          </a:p>
          <a:p>
            <a:pPr algn="just" eaLnBrk="1" hangingPunct="1">
              <a:lnSpc>
                <a:spcPct val="125000"/>
              </a:lnSpc>
              <a:spcBef>
                <a:spcPct val="0"/>
              </a:spcBef>
              <a:buFont typeface="Wingdings" panose="05000000000000000000" pitchFamily="2" charset="2"/>
              <a:buChar char="p"/>
              <a:defRPr/>
            </a:pPr>
            <a:endParaRPr lang="en-US" altLang="zh-CN" sz="2400" dirty="0">
              <a:latin typeface="Times New Roman" panose="02020603050405020304" pitchFamily="18" charset="0"/>
            </a:endParaRPr>
          </a:p>
          <a:p>
            <a:pPr algn="just" eaLnBrk="1" hangingPunct="1">
              <a:lnSpc>
                <a:spcPct val="125000"/>
              </a:lnSpc>
              <a:spcBef>
                <a:spcPct val="0"/>
              </a:spcBef>
              <a:buFont typeface="Wingdings" panose="05000000000000000000" pitchFamily="2" charset="2"/>
              <a:buChar char="p"/>
              <a:defRPr/>
            </a:pPr>
            <a:r>
              <a:rPr lang="zh-CN" altLang="en-US" sz="2400" dirty="0">
                <a:latin typeface="Times New Roman" panose="02020603050405020304" pitchFamily="18" charset="0"/>
              </a:rPr>
              <a:t>它描述了由</a:t>
            </a:r>
            <a:r>
              <a:rPr lang="en-US" altLang="zh-CN" sz="2400" i="1" dirty="0">
                <a:latin typeface="Times New Roman" panose="02020603050405020304" pitchFamily="18" charset="0"/>
              </a:rPr>
              <a:t>k</a:t>
            </a:r>
            <a:r>
              <a:rPr lang="zh-CN" altLang="en-US" sz="2400" dirty="0">
                <a:latin typeface="Times New Roman" panose="02020603050405020304" pitchFamily="18" charset="0"/>
              </a:rPr>
              <a:t>阶段到</a:t>
            </a:r>
            <a:r>
              <a:rPr lang="en-US" altLang="zh-CN" sz="2400" i="1" dirty="0">
                <a:latin typeface="Times New Roman" panose="02020603050405020304" pitchFamily="18" charset="0"/>
              </a:rPr>
              <a:t>k</a:t>
            </a:r>
            <a:r>
              <a:rPr lang="en-US" altLang="zh-CN" sz="2400" dirty="0">
                <a:latin typeface="Times New Roman" panose="02020603050405020304" pitchFamily="18" charset="0"/>
              </a:rPr>
              <a:t>+1</a:t>
            </a:r>
            <a:r>
              <a:rPr lang="zh-CN" altLang="en-US" sz="2400" dirty="0">
                <a:latin typeface="Times New Roman" panose="02020603050405020304" pitchFamily="18" charset="0"/>
              </a:rPr>
              <a:t>阶段的阶段的状态转移规律，成为</a:t>
            </a:r>
            <a:r>
              <a:rPr lang="zh-CN" altLang="en-US" sz="2400" b="1" dirty="0">
                <a:solidFill>
                  <a:srgbClr val="C00000"/>
                </a:solidFill>
                <a:latin typeface="Times New Roman" panose="02020603050405020304" pitchFamily="18" charset="0"/>
              </a:rPr>
              <a:t>状态转移方程</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lgn="just" eaLnBrk="1" hangingPunct="1">
              <a:lnSpc>
                <a:spcPct val="125000"/>
              </a:lnSpc>
              <a:spcBef>
                <a:spcPct val="0"/>
              </a:spcBef>
              <a:buFont typeface="Wingdings" panose="05000000000000000000" pitchFamily="2" charset="2"/>
              <a:buChar char="p"/>
              <a:defRPr/>
            </a:pPr>
            <a:r>
              <a:rPr lang="zh-CN" altLang="en-US" sz="2400" dirty="0">
                <a:latin typeface="Times New Roman" panose="02020603050405020304" pitchFamily="18" charset="0"/>
              </a:rPr>
              <a:t>例</a:t>
            </a:r>
            <a:r>
              <a:rPr lang="en-US" altLang="zh-CN" sz="2400" dirty="0">
                <a:latin typeface="Times New Roman" panose="02020603050405020304" pitchFamily="18" charset="0"/>
              </a:rPr>
              <a:t>1</a:t>
            </a:r>
            <a:r>
              <a:rPr lang="zh-CN" altLang="en-US" sz="2400" dirty="0">
                <a:latin typeface="Times New Roman" panose="02020603050405020304" pitchFamily="18" charset="0"/>
              </a:rPr>
              <a:t>中，状态转移方程为</a:t>
            </a:r>
          </a:p>
          <a:p>
            <a:pPr marL="812800" indent="-812800" algn="just" eaLnBrk="1" hangingPunct="1">
              <a:lnSpc>
                <a:spcPct val="150000"/>
              </a:lnSpc>
              <a:spcBef>
                <a:spcPct val="0"/>
              </a:spcBef>
              <a:buFont typeface="Wingdings" panose="05000000000000000000" pitchFamily="2" charset="2"/>
              <a:buNone/>
              <a:defRPr/>
            </a:pPr>
            <a:endParaRPr lang="zh-CN" altLang="en-US" sz="2400" dirty="0">
              <a:latin typeface="Times New Roman" panose="02020603050405020304" pitchFamily="18" charset="0"/>
            </a:endParaRPr>
          </a:p>
        </p:txBody>
      </p:sp>
      <p:sp>
        <p:nvSpPr>
          <p:cNvPr id="44035"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98A5FDE3-2225-46D0-A684-D7110C2AEE10}" type="slidenum">
              <a:rPr lang="zh-CN" altLang="zh-CN" sz="1400">
                <a:latin typeface="Arial" panose="020B0604020202020204" pitchFamily="34" charset="0"/>
              </a:rPr>
              <a:pPr>
                <a:spcBef>
                  <a:spcPct val="0"/>
                </a:spcBef>
                <a:buClr>
                  <a:srgbClr val="000000"/>
                </a:buClr>
                <a:buFontTx/>
                <a:buNone/>
              </a:pPr>
              <a:t>27</a:t>
            </a:fld>
            <a:endParaRPr lang="en-US" altLang="zh-CN" sz="1400">
              <a:latin typeface="Arial" panose="020B0604020202020204" pitchFamily="34" charset="0"/>
            </a:endParaRPr>
          </a:p>
        </p:txBody>
      </p:sp>
      <p:sp>
        <p:nvSpPr>
          <p:cNvPr id="44036" name="Rectangle 2"/>
          <p:cNvSpPr>
            <a:spLocks noGrp="1" noChangeArrowheads="1"/>
          </p:cNvSpPr>
          <p:nvPr>
            <p:ph type="title"/>
          </p:nvPr>
        </p:nvSpPr>
        <p:spPr>
          <a:xfrm>
            <a:off x="533400" y="838200"/>
            <a:ext cx="8001000" cy="682625"/>
          </a:xfrm>
        </p:spPr>
        <p:txBody>
          <a:bodyPr/>
          <a:lstStyle/>
          <a:p>
            <a:pPr eaLnBrk="1" hangingPunct="1"/>
            <a:r>
              <a:rPr lang="en-US" altLang="zh-CN" sz="3200" dirty="0">
                <a:latin typeface="Times New Roman" panose="02020603050405020304" pitchFamily="18" charset="0"/>
              </a:rPr>
              <a:t>2</a:t>
            </a:r>
            <a:r>
              <a:rPr lang="en-US" altLang="zh-CN" sz="3200" dirty="0">
                <a:latin typeface="黑体" panose="02010609060101010101" pitchFamily="49" charset="-122"/>
              </a:rPr>
              <a:t> </a:t>
            </a:r>
            <a:r>
              <a:rPr lang="zh-CN" altLang="en-US" sz="3200" dirty="0">
                <a:latin typeface="黑体" panose="02010609060101010101" pitchFamily="49" charset="-122"/>
              </a:rPr>
              <a:t>动态规划基本概念</a:t>
            </a:r>
            <a:r>
              <a:rPr lang="en-US" altLang="zh-CN" sz="3200" dirty="0">
                <a:latin typeface="黑体" panose="02010609060101010101" pitchFamily="49" charset="-122"/>
                <a:ea typeface="黑体" panose="02010609060101010101" pitchFamily="49" charset="-122"/>
              </a:rPr>
              <a:t>-</a:t>
            </a:r>
            <a:r>
              <a:rPr lang="zh-CN" altLang="en-US" sz="3200" dirty="0">
                <a:solidFill>
                  <a:srgbClr val="000099"/>
                </a:solidFill>
                <a:latin typeface="黑体" panose="02010609060101010101" pitchFamily="49" charset="-122"/>
                <a:ea typeface="黑体" panose="02010609060101010101" pitchFamily="49" charset="-122"/>
              </a:rPr>
              <a:t>（</a:t>
            </a:r>
            <a:r>
              <a:rPr lang="en-US" altLang="zh-CN" sz="3200" dirty="0">
                <a:solidFill>
                  <a:srgbClr val="000099"/>
                </a:solidFill>
                <a:latin typeface="黑体" panose="02010609060101010101" pitchFamily="49" charset="-122"/>
                <a:ea typeface="黑体" panose="02010609060101010101" pitchFamily="49" charset="-122"/>
              </a:rPr>
              <a:t>5</a:t>
            </a:r>
            <a:r>
              <a:rPr lang="zh-CN" altLang="en-US" sz="3200" dirty="0">
                <a:solidFill>
                  <a:srgbClr val="000099"/>
                </a:solidFill>
                <a:latin typeface="黑体" panose="02010609060101010101" pitchFamily="49" charset="-122"/>
                <a:ea typeface="黑体" panose="02010609060101010101" pitchFamily="49" charset="-122"/>
              </a:rPr>
              <a:t>）状态转移方程</a:t>
            </a:r>
            <a:endParaRPr lang="zh-CN" altLang="en-US" sz="3200" dirty="0">
              <a:latin typeface="黑体" panose="02010609060101010101" pitchFamily="49" charset="-122"/>
            </a:endParaRPr>
          </a:p>
        </p:txBody>
      </p:sp>
      <p:pic>
        <p:nvPicPr>
          <p:cNvPr id="9" name="Picture 4" descr="3120186741398087791803"/>
          <p:cNvPicPr>
            <a:picLocks noChangeAspect="1" noChangeArrowheads="1"/>
          </p:cNvPicPr>
          <p:nvPr/>
        </p:nvPicPr>
        <p:blipFill>
          <a:blip r:embed="rId2">
            <a:duotone>
              <a:prstClr val="black"/>
              <a:schemeClr val="accent4">
                <a:tint val="45000"/>
                <a:satMod val="400000"/>
              </a:schemeClr>
            </a:duotone>
          </a:blip>
          <a:srcRect/>
          <a:stretch>
            <a:fillRect/>
          </a:stretch>
        </p:blipFill>
        <p:spPr bwMode="auto">
          <a:xfrm>
            <a:off x="3200400" y="3962400"/>
            <a:ext cx="2231825" cy="539094"/>
          </a:xfrm>
          <a:prstGeom prst="rect">
            <a:avLst/>
          </a:prstGeom>
          <a:noFill/>
          <a:ln>
            <a:noFill/>
          </a:ln>
          <a:effectLst/>
        </p:spPr>
      </p:pic>
      <p:pic>
        <p:nvPicPr>
          <p:cNvPr id="10" name="Picture 4" descr="2835970281398087791803"/>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auto">
          <a:xfrm>
            <a:off x="4419600" y="5257800"/>
            <a:ext cx="2192677" cy="609600"/>
          </a:xfrm>
          <a:prstGeom prst="rect">
            <a:avLst/>
          </a:prstGeom>
          <a:noFill/>
          <a:ln>
            <a:noFill/>
          </a:ln>
          <a:effec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1"/>
          </p:nvPr>
        </p:nvSpPr>
        <p:spPr>
          <a:xfrm>
            <a:off x="609600" y="1676400"/>
            <a:ext cx="7762875" cy="2438400"/>
          </a:xfrm>
        </p:spPr>
        <p:txBody>
          <a:bodyPr/>
          <a:lstStyle/>
          <a:p>
            <a:pPr algn="just" eaLnBrk="1" hangingPunct="1">
              <a:lnSpc>
                <a:spcPct val="150000"/>
              </a:lnSpc>
              <a:spcBef>
                <a:spcPct val="30000"/>
              </a:spcBef>
            </a:pPr>
            <a:r>
              <a:rPr lang="zh-CN" altLang="en-US" sz="2400">
                <a:latin typeface="Times New Roman" panose="02020603050405020304" pitchFamily="18" charset="0"/>
              </a:rPr>
              <a:t>用来</a:t>
            </a:r>
            <a:r>
              <a:rPr lang="zh-CN" altLang="en-US" sz="2400">
                <a:solidFill>
                  <a:schemeClr val="hlink"/>
                </a:solidFill>
                <a:latin typeface="Times New Roman" panose="02020603050405020304" pitchFamily="18" charset="0"/>
              </a:rPr>
              <a:t>衡量所实现</a:t>
            </a:r>
            <a:r>
              <a:rPr lang="zh-CN" altLang="en-US" sz="2400" b="1">
                <a:solidFill>
                  <a:schemeClr val="hlink"/>
                </a:solidFill>
                <a:latin typeface="Times New Roman" panose="02020603050405020304" pitchFamily="18" charset="0"/>
              </a:rPr>
              <a:t>过程优劣</a:t>
            </a:r>
            <a:r>
              <a:rPr lang="zh-CN" altLang="en-US" sz="2400">
                <a:solidFill>
                  <a:schemeClr val="hlink"/>
                </a:solidFill>
                <a:latin typeface="Times New Roman" panose="02020603050405020304" pitchFamily="18" charset="0"/>
              </a:rPr>
              <a:t>的一种</a:t>
            </a:r>
            <a:r>
              <a:rPr lang="zh-CN" altLang="en-US" sz="2400" b="1">
                <a:solidFill>
                  <a:schemeClr val="hlink"/>
                </a:solidFill>
                <a:latin typeface="Times New Roman" panose="02020603050405020304" pitchFamily="18" charset="0"/>
              </a:rPr>
              <a:t>数量指标</a:t>
            </a:r>
            <a:r>
              <a:rPr lang="zh-CN" altLang="en-US" sz="2400">
                <a:latin typeface="Times New Roman" panose="02020603050405020304" pitchFamily="18" charset="0"/>
              </a:rPr>
              <a:t>，称为</a:t>
            </a:r>
            <a:r>
              <a:rPr lang="zh-CN" altLang="en-US" sz="2400">
                <a:solidFill>
                  <a:srgbClr val="C00000"/>
                </a:solidFill>
                <a:latin typeface="Times New Roman" panose="02020603050405020304" pitchFamily="18" charset="0"/>
              </a:rPr>
              <a:t>指标函数</a:t>
            </a:r>
            <a:r>
              <a:rPr lang="zh-CN" altLang="en-US" sz="2400">
                <a:latin typeface="Times New Roman" panose="02020603050405020304" pitchFamily="18" charset="0"/>
              </a:rPr>
              <a:t>。</a:t>
            </a:r>
            <a:endParaRPr lang="en-US" altLang="zh-CN" sz="2400">
              <a:latin typeface="Times New Roman" panose="02020603050405020304" pitchFamily="18" charset="0"/>
            </a:endParaRPr>
          </a:p>
          <a:p>
            <a:pPr algn="just" eaLnBrk="1" hangingPunct="1">
              <a:lnSpc>
                <a:spcPct val="150000"/>
              </a:lnSpc>
              <a:spcBef>
                <a:spcPct val="30000"/>
              </a:spcBef>
            </a:pPr>
            <a:r>
              <a:rPr lang="zh-CN" altLang="en-US" sz="2400">
                <a:latin typeface="Times New Roman" panose="02020603050405020304" pitchFamily="18" charset="0"/>
              </a:rPr>
              <a:t>指标函数是定义在</a:t>
            </a:r>
            <a:r>
              <a:rPr lang="zh-CN" altLang="en-US" sz="2400" u="sng">
                <a:solidFill>
                  <a:schemeClr val="hlink"/>
                </a:solidFill>
                <a:latin typeface="Times New Roman" panose="02020603050405020304" pitchFamily="18" charset="0"/>
              </a:rPr>
              <a:t>全过程</a:t>
            </a:r>
            <a:r>
              <a:rPr lang="zh-CN" altLang="en-US" sz="2400">
                <a:latin typeface="Times New Roman" panose="02020603050405020304" pitchFamily="18" charset="0"/>
              </a:rPr>
              <a:t>和</a:t>
            </a:r>
            <a:r>
              <a:rPr lang="zh-CN" altLang="en-US" sz="2400" u="sng">
                <a:solidFill>
                  <a:schemeClr val="hlink"/>
                </a:solidFill>
                <a:latin typeface="Times New Roman" panose="02020603050405020304" pitchFamily="18" charset="0"/>
              </a:rPr>
              <a:t>所有后部子过程</a:t>
            </a:r>
            <a:r>
              <a:rPr lang="zh-CN" altLang="en-US" sz="2400">
                <a:latin typeface="Times New Roman" panose="02020603050405020304" pitchFamily="18" charset="0"/>
              </a:rPr>
              <a:t>上的确定的数量函数。</a:t>
            </a:r>
            <a:r>
              <a:rPr lang="en-US" altLang="zh-CN" sz="2400">
                <a:latin typeface="Times New Roman" panose="02020603050405020304" pitchFamily="18" charset="0"/>
              </a:rPr>
              <a:t> </a:t>
            </a:r>
            <a:r>
              <a:rPr lang="zh-CN" altLang="en-US" sz="2400">
                <a:latin typeface="Times New Roman" panose="02020603050405020304" pitchFamily="18" charset="0"/>
              </a:rPr>
              <a:t>常用</a:t>
            </a:r>
            <a:r>
              <a:rPr lang="en-US" altLang="zh-CN" sz="2400" i="1">
                <a:latin typeface="Times New Roman" panose="02020603050405020304" pitchFamily="18" charset="0"/>
              </a:rPr>
              <a:t>V</a:t>
            </a:r>
            <a:r>
              <a:rPr lang="en-US" altLang="zh-CN" sz="1400" i="1">
                <a:latin typeface="Times New Roman" panose="02020603050405020304" pitchFamily="18" charset="0"/>
              </a:rPr>
              <a:t>k,n</a:t>
            </a:r>
            <a:r>
              <a:rPr lang="zh-CN" altLang="en-US" sz="2400">
                <a:latin typeface="Times New Roman" panose="02020603050405020304" pitchFamily="18" charset="0"/>
              </a:rPr>
              <a:t>表示，即</a:t>
            </a:r>
          </a:p>
          <a:p>
            <a:pPr algn="just" eaLnBrk="1" hangingPunct="1">
              <a:lnSpc>
                <a:spcPct val="120000"/>
              </a:lnSpc>
              <a:spcBef>
                <a:spcPct val="30000"/>
              </a:spcBef>
            </a:pPr>
            <a:endParaRPr lang="zh-CN" altLang="en-US" sz="2400">
              <a:latin typeface="Times New Roman" panose="02020603050405020304" pitchFamily="18" charset="0"/>
            </a:endParaRPr>
          </a:p>
        </p:txBody>
      </p:sp>
      <p:sp>
        <p:nvSpPr>
          <p:cNvPr id="45059"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411BEA00-7892-4D8F-9D70-92EACE69B72E}" type="slidenum">
              <a:rPr lang="zh-CN" altLang="zh-CN" sz="1400">
                <a:latin typeface="Arial" panose="020B0604020202020204" pitchFamily="34" charset="0"/>
              </a:rPr>
              <a:pPr>
                <a:spcBef>
                  <a:spcPct val="0"/>
                </a:spcBef>
                <a:buClr>
                  <a:srgbClr val="000000"/>
                </a:buClr>
                <a:buFontTx/>
                <a:buNone/>
              </a:pPr>
              <a:t>28</a:t>
            </a:fld>
            <a:endParaRPr lang="en-US" altLang="zh-CN" sz="1400">
              <a:latin typeface="Arial" panose="020B0604020202020204" pitchFamily="34" charset="0"/>
            </a:endParaRPr>
          </a:p>
        </p:txBody>
      </p:sp>
      <p:sp>
        <p:nvSpPr>
          <p:cNvPr id="45060" name="Rectangle 2"/>
          <p:cNvSpPr txBox="1">
            <a:spLocks noChangeArrowheads="1"/>
          </p:cNvSpPr>
          <p:nvPr/>
        </p:nvSpPr>
        <p:spPr bwMode="auto">
          <a:xfrm>
            <a:off x="457200" y="685800"/>
            <a:ext cx="8305800"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2800" dirty="0">
                <a:solidFill>
                  <a:schemeClr val="tx2"/>
                </a:solidFill>
                <a:latin typeface="Times New Roman" panose="02020603050405020304" pitchFamily="18" charset="0"/>
                <a:ea typeface="黑体" panose="02010609060101010101" pitchFamily="49" charset="-122"/>
              </a:rPr>
              <a:t>2</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动态规划基本概念</a:t>
            </a:r>
            <a:r>
              <a:rPr lang="en-US" altLang="zh-CN" sz="2800" dirty="0">
                <a:solidFill>
                  <a:schemeClr val="tx2"/>
                </a:solidFill>
                <a:latin typeface="黑体" panose="02010609060101010101" pitchFamily="49" charset="-122"/>
                <a:ea typeface="黑体" panose="02010609060101010101" pitchFamily="49" charset="-122"/>
              </a:rPr>
              <a:t>-</a:t>
            </a:r>
            <a:r>
              <a:rPr lang="zh-CN" altLang="en-US" sz="2800" dirty="0">
                <a:solidFill>
                  <a:srgbClr val="000099"/>
                </a:solidFill>
                <a:latin typeface="黑体" panose="02010609060101010101" pitchFamily="49" charset="-122"/>
                <a:ea typeface="黑体" panose="02010609060101010101" pitchFamily="49" charset="-122"/>
              </a:rPr>
              <a:t>（</a:t>
            </a:r>
            <a:r>
              <a:rPr lang="en-US" altLang="zh-CN" sz="2800" dirty="0">
                <a:solidFill>
                  <a:srgbClr val="000099"/>
                </a:solidFill>
                <a:latin typeface="黑体" panose="02010609060101010101" pitchFamily="49" charset="-122"/>
                <a:ea typeface="黑体" panose="02010609060101010101" pitchFamily="49" charset="-122"/>
              </a:rPr>
              <a:t>6</a:t>
            </a:r>
            <a:r>
              <a:rPr lang="zh-CN" altLang="en-US" sz="2800" dirty="0">
                <a:solidFill>
                  <a:srgbClr val="000099"/>
                </a:solidFill>
                <a:latin typeface="黑体" panose="02010609060101010101" pitchFamily="49" charset="-122"/>
                <a:ea typeface="黑体" panose="02010609060101010101" pitchFamily="49" charset="-122"/>
              </a:rPr>
              <a:t>）指标函数和最优值函数</a:t>
            </a:r>
            <a:endParaRPr lang="zh-CN" altLang="en-US" sz="2800" dirty="0">
              <a:solidFill>
                <a:schemeClr val="tx2"/>
              </a:solidFill>
              <a:latin typeface="黑体" panose="02010609060101010101" pitchFamily="49" charset="-122"/>
              <a:ea typeface="黑体" panose="02010609060101010101" pitchFamily="49" charset="-122"/>
            </a:endParaRPr>
          </a:p>
        </p:txBody>
      </p:sp>
      <p:pic>
        <p:nvPicPr>
          <p:cNvPr id="8" name="Picture 4" descr="323061656139808779180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1547664" y="4325573"/>
            <a:ext cx="6552728" cy="655273"/>
          </a:xfrm>
          <a:prstGeom prst="rect">
            <a:avLst/>
          </a:prstGeom>
          <a:noFill/>
          <a:ln>
            <a:noFill/>
          </a:ln>
          <a:effectLst/>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body" sz="half" idx="1"/>
          </p:nvPr>
        </p:nvSpPr>
        <p:spPr>
          <a:xfrm>
            <a:off x="620713" y="1752600"/>
            <a:ext cx="7685087" cy="4267200"/>
          </a:xfrm>
        </p:spPr>
        <p:txBody>
          <a:bodyPr/>
          <a:lstStyle/>
          <a:p>
            <a:pPr marL="812800" indent="-812800" algn="just" eaLnBrk="1" hangingPunct="1">
              <a:lnSpc>
                <a:spcPct val="150000"/>
              </a:lnSpc>
              <a:defRPr/>
            </a:pPr>
            <a:r>
              <a:rPr lang="zh-CN" altLang="en-US" sz="2400" u="sng" dirty="0">
                <a:solidFill>
                  <a:srgbClr val="FF0000"/>
                </a:solidFill>
                <a:latin typeface="Times New Roman" pitchFamily="18" charset="0"/>
                <a:cs typeface="Times New Roman" pitchFamily="18" charset="0"/>
              </a:rPr>
              <a:t>指标函数的性质：</a:t>
            </a:r>
            <a:endParaRPr lang="en-US" altLang="zh-CN" sz="2400" u="sng" dirty="0">
              <a:solidFill>
                <a:srgbClr val="FF0000"/>
              </a:solidFill>
              <a:latin typeface="Times New Roman" pitchFamily="18" charset="0"/>
              <a:cs typeface="Times New Roman" pitchFamily="18" charset="0"/>
            </a:endParaRPr>
          </a:p>
          <a:p>
            <a:pPr algn="just" eaLnBrk="1" hangingPunct="1">
              <a:lnSpc>
                <a:spcPct val="150000"/>
              </a:lnSpc>
              <a:buFont typeface="Wingdings" panose="05000000000000000000" pitchFamily="2" charset="2"/>
              <a:buChar char="u"/>
              <a:defRPr/>
            </a:pPr>
            <a:r>
              <a:rPr lang="zh-CN" altLang="en-US" sz="2400" dirty="0">
                <a:latin typeface="Times New Roman" pitchFamily="18" charset="0"/>
                <a:cs typeface="Times New Roman" pitchFamily="18" charset="0"/>
              </a:rPr>
              <a:t>当应用</a:t>
            </a:r>
            <a:r>
              <a:rPr lang="zh-CN" altLang="en-US" sz="2400" dirty="0">
                <a:solidFill>
                  <a:schemeClr val="tx2">
                    <a:lumMod val="75000"/>
                  </a:schemeClr>
                </a:solidFill>
                <a:latin typeface="Times New Roman" pitchFamily="18" charset="0"/>
                <a:cs typeface="Times New Roman" pitchFamily="18" charset="0"/>
              </a:rPr>
              <a:t>动态规划</a:t>
            </a:r>
            <a:r>
              <a:rPr lang="zh-CN" altLang="en-US" sz="2400" dirty="0">
                <a:latin typeface="Times New Roman" pitchFamily="18" charset="0"/>
                <a:cs typeface="Times New Roman" pitchFamily="18" charset="0"/>
              </a:rPr>
              <a:t>进行求解的多阶段决策问题时，其指标函数应具有</a:t>
            </a:r>
            <a:r>
              <a:rPr lang="zh-CN" altLang="en-US" sz="2400" u="sng" dirty="0">
                <a:solidFill>
                  <a:schemeClr val="hlink"/>
                </a:solidFill>
                <a:latin typeface="Times New Roman" pitchFamily="18" charset="0"/>
                <a:cs typeface="Times New Roman" pitchFamily="18" charset="0"/>
              </a:rPr>
              <a:t>可分离性</a:t>
            </a:r>
            <a:r>
              <a:rPr lang="zh-CN" altLang="en-US" sz="2400" dirty="0">
                <a:latin typeface="Times New Roman" pitchFamily="18" charset="0"/>
                <a:cs typeface="Times New Roman" pitchFamily="18" charset="0"/>
              </a:rPr>
              <a:t>，并</a:t>
            </a:r>
            <a:r>
              <a:rPr lang="zh-CN" altLang="en-US" sz="2400" u="sng" dirty="0">
                <a:solidFill>
                  <a:schemeClr val="hlink"/>
                </a:solidFill>
                <a:latin typeface="Times New Roman" pitchFamily="18" charset="0"/>
                <a:cs typeface="Times New Roman" pitchFamily="18" charset="0"/>
              </a:rPr>
              <a:t>满足递推关系</a:t>
            </a:r>
            <a:r>
              <a:rPr lang="zh-CN" altLang="en-US" sz="2400" dirty="0">
                <a:latin typeface="Times New Roman" pitchFamily="18" charset="0"/>
                <a:cs typeface="Times New Roman" pitchFamily="18" charset="0"/>
              </a:rPr>
              <a:t>，即</a:t>
            </a:r>
            <a:r>
              <a:rPr lang="en-US" altLang="zh-CN" sz="2400" i="1" dirty="0" err="1">
                <a:latin typeface="Times New Roman" pitchFamily="18" charset="0"/>
                <a:cs typeface="Times New Roman" pitchFamily="18" charset="0"/>
              </a:rPr>
              <a:t>V</a:t>
            </a:r>
            <a:r>
              <a:rPr lang="en-US" altLang="zh-CN" sz="2400" i="1" baseline="-25000" dirty="0" err="1">
                <a:latin typeface="Times New Roman" pitchFamily="18" charset="0"/>
                <a:cs typeface="Times New Roman" pitchFamily="18" charset="0"/>
              </a:rPr>
              <a:t>k,n</a:t>
            </a:r>
            <a:r>
              <a:rPr lang="zh-CN" altLang="en-US" sz="2400" dirty="0">
                <a:latin typeface="Times New Roman" pitchFamily="18" charset="0"/>
                <a:cs typeface="Times New Roman" pitchFamily="18" charset="0"/>
              </a:rPr>
              <a:t>可以表示为</a:t>
            </a:r>
            <a:r>
              <a:rPr lang="en-US" altLang="zh-CN" sz="2400" i="1" dirty="0" err="1">
                <a:latin typeface="Times New Roman" pitchFamily="18" charset="0"/>
                <a:cs typeface="Times New Roman" pitchFamily="18" charset="0"/>
              </a:rPr>
              <a:t>s</a:t>
            </a:r>
            <a:r>
              <a:rPr lang="en-US" altLang="zh-CN" sz="2400" i="1" baseline="-25000" dirty="0" err="1">
                <a:latin typeface="Times New Roman" pitchFamily="18" charset="0"/>
                <a:cs typeface="Times New Roman" pitchFamily="18" charset="0"/>
              </a:rPr>
              <a:t>k</a:t>
            </a:r>
            <a:r>
              <a:rPr lang="zh-CN" altLang="en-US" sz="2400" dirty="0">
                <a:latin typeface="Times New Roman" pitchFamily="18" charset="0"/>
                <a:cs typeface="Times New Roman" pitchFamily="18" charset="0"/>
              </a:rPr>
              <a:t>、</a:t>
            </a:r>
            <a:r>
              <a:rPr lang="en-US" altLang="zh-CN" sz="2400" i="1" dirty="0" err="1">
                <a:latin typeface="Times New Roman" pitchFamily="18" charset="0"/>
                <a:cs typeface="Times New Roman" pitchFamily="18" charset="0"/>
              </a:rPr>
              <a:t>u</a:t>
            </a:r>
            <a:r>
              <a:rPr lang="en-US" altLang="zh-CN" sz="2400" i="1" baseline="-25000" dirty="0" err="1">
                <a:latin typeface="Times New Roman" pitchFamily="18" charset="0"/>
                <a:cs typeface="Times New Roman" pitchFamily="18" charset="0"/>
              </a:rPr>
              <a:t>k</a:t>
            </a:r>
            <a:r>
              <a:rPr lang="zh-CN" altLang="en-US" sz="2400" dirty="0">
                <a:latin typeface="Times New Roman" pitchFamily="18" charset="0"/>
                <a:cs typeface="Times New Roman" pitchFamily="18" charset="0"/>
              </a:rPr>
              <a:t>、</a:t>
            </a:r>
            <a:r>
              <a:rPr lang="en-US" altLang="zh-CN" sz="2400" i="1" dirty="0">
                <a:latin typeface="Times New Roman" pitchFamily="18" charset="0"/>
                <a:cs typeface="Times New Roman" pitchFamily="18" charset="0"/>
              </a:rPr>
              <a:t>V</a:t>
            </a:r>
            <a:r>
              <a:rPr lang="en-US" altLang="zh-CN" sz="2400" i="1" baseline="-25000" dirty="0">
                <a:latin typeface="Times New Roman" pitchFamily="18" charset="0"/>
                <a:cs typeface="Times New Roman" pitchFamily="18" charset="0"/>
              </a:rPr>
              <a:t>k+1,n</a:t>
            </a:r>
            <a:r>
              <a:rPr lang="zh-CN" altLang="en-US" sz="2400" dirty="0">
                <a:latin typeface="Times New Roman" pitchFamily="18" charset="0"/>
                <a:cs typeface="Times New Roman" pitchFamily="18" charset="0"/>
              </a:rPr>
              <a:t>的函数，记为</a:t>
            </a:r>
            <a:endParaRPr lang="en-US" altLang="zh-CN" sz="2400" dirty="0">
              <a:latin typeface="Times New Roman" pitchFamily="18" charset="0"/>
              <a:cs typeface="Times New Roman" pitchFamily="18" charset="0"/>
            </a:endParaRPr>
          </a:p>
          <a:p>
            <a:pPr marL="812800" indent="-812800" algn="just" eaLnBrk="1" hangingPunct="1">
              <a:lnSpc>
                <a:spcPct val="150000"/>
              </a:lnSpc>
              <a:defRPr/>
            </a:pPr>
            <a:endParaRPr lang="en-US" altLang="zh-CN" sz="2400" dirty="0">
              <a:latin typeface="Times New Roman" pitchFamily="18" charset="0"/>
              <a:cs typeface="Times New Roman" pitchFamily="18" charset="0"/>
            </a:endParaRPr>
          </a:p>
          <a:p>
            <a:pPr marL="812800" indent="-812800" algn="just" eaLnBrk="1" hangingPunct="1">
              <a:lnSpc>
                <a:spcPct val="150000"/>
              </a:lnSpc>
              <a:defRPr/>
            </a:pPr>
            <a:endParaRPr lang="en-US" altLang="zh-CN" sz="2400" dirty="0">
              <a:latin typeface="Times New Roman" pitchFamily="18" charset="0"/>
              <a:cs typeface="Times New Roman" pitchFamily="18" charset="0"/>
            </a:endParaRPr>
          </a:p>
          <a:p>
            <a:pPr marL="812800" indent="-812800" algn="just" eaLnBrk="1" hangingPunct="1">
              <a:lnSpc>
                <a:spcPct val="150000"/>
              </a:lnSpc>
              <a:defRPr/>
            </a:pPr>
            <a:r>
              <a:rPr lang="zh-CN" altLang="en-US" sz="2400" dirty="0"/>
              <a:t>在实际问题中很多指标函数都满足这个性质。</a:t>
            </a:r>
            <a:endParaRPr lang="zh-CN" altLang="en-US" sz="2400" i="1" dirty="0">
              <a:latin typeface="Times New Roman" pitchFamily="18" charset="0"/>
              <a:cs typeface="Times New Roman" pitchFamily="18" charset="0"/>
            </a:endParaRPr>
          </a:p>
        </p:txBody>
      </p:sp>
      <p:pic>
        <p:nvPicPr>
          <p:cNvPr id="59397" name="Picture 5" descr="8682154771398087791813"/>
          <p:cNvPicPr>
            <a:picLocks noChangeAspect="1" noChangeArrowheads="1"/>
          </p:cNvPicPr>
          <p:nvPr/>
        </p:nvPicPr>
        <p:blipFill>
          <a:blip r:embed="rId3">
            <a:duotone>
              <a:schemeClr val="accent4">
                <a:shade val="45000"/>
                <a:satMod val="135000"/>
              </a:schemeClr>
              <a:prstClr val="white"/>
            </a:duotone>
          </a:blip>
          <a:srcRect/>
          <a:stretch>
            <a:fillRect/>
          </a:stretch>
        </p:blipFill>
        <p:spPr bwMode="auto">
          <a:xfrm>
            <a:off x="1219200" y="4267200"/>
            <a:ext cx="7010400" cy="599453"/>
          </a:xfrm>
          <a:prstGeom prst="rect">
            <a:avLst/>
          </a:prstGeom>
          <a:noFill/>
          <a:ln>
            <a:noFill/>
          </a:ln>
          <a:effectLst/>
        </p:spPr>
      </p:pic>
      <p:sp>
        <p:nvSpPr>
          <p:cNvPr id="46084"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D8001A4D-2E58-469D-BCF8-7AF7212D060D}" type="slidenum">
              <a:rPr lang="zh-CN" altLang="zh-CN" sz="1400">
                <a:latin typeface="Arial" panose="020B0604020202020204" pitchFamily="34" charset="0"/>
              </a:rPr>
              <a:pPr>
                <a:spcBef>
                  <a:spcPct val="0"/>
                </a:spcBef>
                <a:buClr>
                  <a:srgbClr val="000000"/>
                </a:buClr>
                <a:buFontTx/>
                <a:buNone/>
              </a:pPr>
              <a:t>29</a:t>
            </a:fld>
            <a:endParaRPr lang="en-US" altLang="zh-CN" sz="1400">
              <a:latin typeface="Arial" panose="020B0604020202020204" pitchFamily="34" charset="0"/>
            </a:endParaRPr>
          </a:p>
        </p:txBody>
      </p:sp>
      <p:sp>
        <p:nvSpPr>
          <p:cNvPr id="46085" name="Rectangle 2"/>
          <p:cNvSpPr txBox="1">
            <a:spLocks noChangeArrowheads="1"/>
          </p:cNvSpPr>
          <p:nvPr/>
        </p:nvSpPr>
        <p:spPr bwMode="auto">
          <a:xfrm>
            <a:off x="457200" y="914400"/>
            <a:ext cx="85629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2800" dirty="0">
                <a:solidFill>
                  <a:schemeClr val="tx2"/>
                </a:solidFill>
                <a:latin typeface="Times New Roman" panose="02020603050405020304" pitchFamily="18" charset="0"/>
                <a:ea typeface="黑体" panose="02010609060101010101" pitchFamily="49" charset="-122"/>
              </a:rPr>
              <a:t>2</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动态规划基本概念</a:t>
            </a:r>
            <a:r>
              <a:rPr lang="en-US" altLang="zh-CN" sz="2800" dirty="0">
                <a:solidFill>
                  <a:schemeClr val="tx2"/>
                </a:solidFill>
                <a:latin typeface="黑体" panose="02010609060101010101" pitchFamily="49" charset="-122"/>
                <a:ea typeface="黑体" panose="02010609060101010101" pitchFamily="49" charset="-122"/>
              </a:rPr>
              <a:t>-</a:t>
            </a:r>
            <a:r>
              <a:rPr lang="zh-CN" altLang="en-US" sz="2800" dirty="0">
                <a:solidFill>
                  <a:srgbClr val="000099"/>
                </a:solidFill>
                <a:latin typeface="黑体" panose="02010609060101010101" pitchFamily="49" charset="-122"/>
                <a:ea typeface="黑体" panose="02010609060101010101" pitchFamily="49" charset="-122"/>
              </a:rPr>
              <a:t>（</a:t>
            </a:r>
            <a:r>
              <a:rPr lang="en-US" altLang="zh-CN" sz="2800" dirty="0">
                <a:solidFill>
                  <a:srgbClr val="000099"/>
                </a:solidFill>
                <a:latin typeface="黑体" panose="02010609060101010101" pitchFamily="49" charset="-122"/>
                <a:ea typeface="黑体" panose="02010609060101010101" pitchFamily="49" charset="-122"/>
              </a:rPr>
              <a:t>6</a:t>
            </a:r>
            <a:r>
              <a:rPr lang="zh-CN" altLang="en-US" sz="2800" dirty="0">
                <a:solidFill>
                  <a:srgbClr val="000099"/>
                </a:solidFill>
                <a:latin typeface="黑体" panose="02010609060101010101" pitchFamily="49" charset="-122"/>
                <a:ea typeface="黑体" panose="02010609060101010101" pitchFamily="49" charset="-122"/>
              </a:rPr>
              <a:t>）指标函数和最优值函数</a:t>
            </a:r>
            <a:endParaRPr lang="zh-CN" altLang="en-US" sz="2800" dirty="0">
              <a:solidFill>
                <a:schemeClr val="tx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755650" y="3975100"/>
            <a:ext cx="8101013" cy="461963"/>
          </a:xfrm>
          <a:prstGeom prst="rect">
            <a:avLst/>
          </a:prstGeom>
          <a:noFill/>
          <a:ln>
            <a:noFill/>
          </a:ln>
          <a:effectLst/>
        </p:spPr>
        <p:txBody>
          <a:bodyPr anchor="ctr">
            <a:spAutoFit/>
          </a:bodyPr>
          <a:lstStyle/>
          <a:p>
            <a:pPr eaLnBrk="1" hangingPunct="1">
              <a:buClr>
                <a:srgbClr val="000000"/>
              </a:buClr>
              <a:buSzPct val="100000"/>
              <a:defRPr/>
            </a:pPr>
            <a:r>
              <a:rPr lang="zh-CN" altLang="en-US" sz="2400" dirty="0">
                <a:latin typeface="+mn-ea"/>
                <a:ea typeface="+mn-ea"/>
              </a:rPr>
              <a:t>其中         表示第 </a:t>
            </a:r>
            <a:r>
              <a:rPr lang="en-US" altLang="zh-CN" sz="2400" i="1" dirty="0">
                <a:latin typeface="Times New Roman" pitchFamily="18" charset="0"/>
                <a:ea typeface="+mn-ea"/>
                <a:cs typeface="Times New Roman" pitchFamily="18" charset="0"/>
              </a:rPr>
              <a:t>j </a:t>
            </a:r>
            <a:r>
              <a:rPr lang="zh-CN" altLang="en-US" sz="2400" dirty="0">
                <a:latin typeface="+mn-ea"/>
                <a:ea typeface="+mn-ea"/>
              </a:rPr>
              <a:t>阶段的</a:t>
            </a:r>
            <a:r>
              <a:rPr lang="zh-CN" altLang="en-US" sz="2400" b="1" dirty="0">
                <a:solidFill>
                  <a:srgbClr val="C00000"/>
                </a:solidFill>
                <a:latin typeface="+mn-ea"/>
                <a:ea typeface="+mn-ea"/>
              </a:rPr>
              <a:t>阶段指标</a:t>
            </a:r>
            <a:r>
              <a:rPr lang="zh-CN" altLang="en-US" sz="2400" dirty="0">
                <a:latin typeface="+mn-ea"/>
                <a:ea typeface="+mn-ea"/>
              </a:rPr>
              <a:t>，这时上式可写成</a:t>
            </a:r>
          </a:p>
        </p:txBody>
      </p:sp>
      <p:sp>
        <p:nvSpPr>
          <p:cNvPr id="48131" name="Rectangle 4"/>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60421" name="Picture 5" descr="807561653139808779181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2230437" y="3015481"/>
            <a:ext cx="4392613" cy="917575"/>
          </a:xfrm>
          <a:prstGeom prst="rect">
            <a:avLst/>
          </a:prstGeom>
          <a:noFill/>
          <a:ln>
            <a:noFill/>
          </a:ln>
          <a:effectLst/>
        </p:spPr>
      </p:pic>
      <p:pic>
        <p:nvPicPr>
          <p:cNvPr id="60422" name="Picture 6" descr="8495580481398087791813"/>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auto">
          <a:xfrm>
            <a:off x="1450418" y="3922762"/>
            <a:ext cx="1295400" cy="514350"/>
          </a:xfrm>
          <a:prstGeom prst="rect">
            <a:avLst/>
          </a:prstGeom>
          <a:noFill/>
          <a:ln>
            <a:noFill/>
          </a:ln>
          <a:effectLst/>
        </p:spPr>
      </p:pic>
      <p:sp>
        <p:nvSpPr>
          <p:cNvPr id="60423" name="Rectangle 7"/>
          <p:cNvSpPr>
            <a:spLocks noChangeArrowheads="1"/>
          </p:cNvSpPr>
          <p:nvPr/>
        </p:nvSpPr>
        <p:spPr bwMode="auto">
          <a:xfrm>
            <a:off x="533400" y="1887538"/>
            <a:ext cx="8137525" cy="1366837"/>
          </a:xfrm>
          <a:prstGeom prst="rect">
            <a:avLst/>
          </a:prstGeom>
          <a:noFill/>
          <a:ln>
            <a:noFill/>
          </a:ln>
          <a:effectLst/>
        </p:spPr>
        <p:txBody>
          <a:bodyPr anchor="ctr">
            <a:spAutoFit/>
          </a:bodyPr>
          <a:lstStyle/>
          <a:p>
            <a:pPr marL="342900" indent="-342900" algn="just" eaLnBrk="1" hangingPunct="1">
              <a:lnSpc>
                <a:spcPct val="115000"/>
              </a:lnSpc>
              <a:buClr>
                <a:srgbClr val="C00000"/>
              </a:buClr>
              <a:buSzPct val="100000"/>
              <a:buFont typeface="Wingdings" panose="05000000000000000000" pitchFamily="2" charset="2"/>
              <a:buChar char="p"/>
              <a:defRPr/>
            </a:pPr>
            <a:r>
              <a:rPr lang="zh-CN" altLang="en-US" sz="2400" b="1" dirty="0">
                <a:solidFill>
                  <a:srgbClr val="FF0000"/>
                </a:solidFill>
                <a:latin typeface="+mn-ea"/>
                <a:ea typeface="+mn-ea"/>
              </a:rPr>
              <a:t>常见的指标函数形式</a:t>
            </a:r>
            <a:endParaRPr lang="en-US" altLang="zh-CN" sz="2400" b="1" dirty="0">
              <a:solidFill>
                <a:srgbClr val="FF0000"/>
              </a:solidFill>
              <a:latin typeface="+mn-ea"/>
              <a:ea typeface="+mn-ea"/>
            </a:endParaRPr>
          </a:p>
          <a:p>
            <a:pPr algn="just" eaLnBrk="1" hangingPunct="1">
              <a:lnSpc>
                <a:spcPct val="115000"/>
              </a:lnSpc>
              <a:buClr>
                <a:srgbClr val="000000"/>
              </a:buClr>
              <a:buSzPct val="100000"/>
              <a:defRPr/>
            </a:pPr>
            <a:r>
              <a:rPr lang="en-US" altLang="zh-CN" sz="2400" dirty="0">
                <a:latin typeface="+mn-ea"/>
                <a:ea typeface="+mn-ea"/>
              </a:rPr>
              <a:t> (1) </a:t>
            </a:r>
            <a:r>
              <a:rPr lang="zh-CN" altLang="en-US" sz="2400" dirty="0">
                <a:latin typeface="+mn-ea"/>
                <a:ea typeface="+mn-ea"/>
              </a:rPr>
              <a:t>过程和它的任一子过程的指标是它所包含的各阶段的指标的</a:t>
            </a:r>
            <a:r>
              <a:rPr lang="zh-CN" altLang="en-US" sz="2400" dirty="0">
                <a:solidFill>
                  <a:srgbClr val="FF0000"/>
                </a:solidFill>
                <a:latin typeface="+mn-ea"/>
                <a:ea typeface="+mn-ea"/>
              </a:rPr>
              <a:t>和</a:t>
            </a:r>
            <a:r>
              <a:rPr lang="zh-CN" altLang="en-US" sz="2400" dirty="0">
                <a:latin typeface="+mn-ea"/>
                <a:ea typeface="+mn-ea"/>
              </a:rPr>
              <a:t>。即</a:t>
            </a:r>
          </a:p>
        </p:txBody>
      </p:sp>
      <p:pic>
        <p:nvPicPr>
          <p:cNvPr id="60426" name="Picture 10" descr="6735287151398087791813"/>
          <p:cNvPicPr>
            <a:picLocks noChangeAspect="1" noChangeArrowheads="1"/>
          </p:cNvPicPr>
          <p:nvPr/>
        </p:nvPicPr>
        <p:blipFill>
          <a:blip r:embed="rId4">
            <a:duotone>
              <a:schemeClr val="accent4">
                <a:shade val="45000"/>
                <a:satMod val="135000"/>
              </a:schemeClr>
              <a:prstClr val="white"/>
            </a:duotone>
          </a:blip>
          <a:srcRect/>
          <a:stretch>
            <a:fillRect/>
          </a:stretch>
        </p:blipFill>
        <p:spPr bwMode="auto">
          <a:xfrm>
            <a:off x="2098118" y="4524598"/>
            <a:ext cx="5616575" cy="1136650"/>
          </a:xfrm>
          <a:prstGeom prst="rect">
            <a:avLst/>
          </a:prstGeom>
          <a:noFill/>
          <a:ln>
            <a:noFill/>
          </a:ln>
          <a:effectLst/>
        </p:spPr>
      </p:pic>
      <p:sp>
        <p:nvSpPr>
          <p:cNvPr id="48136"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8C26FC0A-1BB9-442C-9B8D-A23FFD58D687}"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4813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2BE7A33E-D418-4BCB-9439-B16DA95EB099}" type="slidenum">
              <a:rPr lang="zh-CN" altLang="zh-CN" sz="1400">
                <a:latin typeface="Arial" panose="020B0604020202020204" pitchFamily="34" charset="0"/>
              </a:rPr>
              <a:pPr>
                <a:spcBef>
                  <a:spcPct val="0"/>
                </a:spcBef>
                <a:buClr>
                  <a:srgbClr val="000000"/>
                </a:buClr>
                <a:buFontTx/>
                <a:buNone/>
              </a:pPr>
              <a:t>30</a:t>
            </a:fld>
            <a:endParaRPr lang="en-US" altLang="zh-CN" sz="1400">
              <a:latin typeface="Arial" panose="020B0604020202020204" pitchFamily="34" charset="0"/>
            </a:endParaRPr>
          </a:p>
        </p:txBody>
      </p:sp>
      <p:sp>
        <p:nvSpPr>
          <p:cNvPr id="48138" name="Rectangle 2"/>
          <p:cNvSpPr txBox="1">
            <a:spLocks noChangeArrowheads="1"/>
          </p:cNvSpPr>
          <p:nvPr/>
        </p:nvSpPr>
        <p:spPr bwMode="auto">
          <a:xfrm>
            <a:off x="457200" y="914400"/>
            <a:ext cx="85629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2800" dirty="0">
                <a:solidFill>
                  <a:schemeClr val="tx2"/>
                </a:solidFill>
                <a:latin typeface="Times New Roman" panose="02020603050405020304" pitchFamily="18" charset="0"/>
                <a:ea typeface="黑体" panose="02010609060101010101" pitchFamily="49" charset="-122"/>
              </a:rPr>
              <a:t>2</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动态规划基本概念</a:t>
            </a:r>
            <a:r>
              <a:rPr lang="en-US" altLang="zh-CN" sz="2800" dirty="0">
                <a:solidFill>
                  <a:schemeClr val="tx2"/>
                </a:solidFill>
                <a:latin typeface="黑体" panose="02010609060101010101" pitchFamily="49" charset="-122"/>
                <a:ea typeface="黑体" panose="02010609060101010101" pitchFamily="49" charset="-122"/>
              </a:rPr>
              <a:t>-</a:t>
            </a:r>
            <a:r>
              <a:rPr lang="zh-CN" altLang="en-US" sz="2800" dirty="0">
                <a:solidFill>
                  <a:srgbClr val="000099"/>
                </a:solidFill>
                <a:latin typeface="黑体" panose="02010609060101010101" pitchFamily="49" charset="-122"/>
                <a:ea typeface="黑体" panose="02010609060101010101" pitchFamily="49" charset="-122"/>
              </a:rPr>
              <a:t>（</a:t>
            </a:r>
            <a:r>
              <a:rPr lang="en-US" altLang="zh-CN" sz="2800" dirty="0">
                <a:solidFill>
                  <a:srgbClr val="000099"/>
                </a:solidFill>
                <a:latin typeface="黑体" panose="02010609060101010101" pitchFamily="49" charset="-122"/>
                <a:ea typeface="黑体" panose="02010609060101010101" pitchFamily="49" charset="-122"/>
              </a:rPr>
              <a:t>6</a:t>
            </a:r>
            <a:r>
              <a:rPr lang="zh-CN" altLang="en-US" sz="2800" dirty="0">
                <a:solidFill>
                  <a:srgbClr val="000099"/>
                </a:solidFill>
                <a:latin typeface="黑体" panose="02010609060101010101" pitchFamily="49" charset="-122"/>
                <a:ea typeface="黑体" panose="02010609060101010101" pitchFamily="49" charset="-122"/>
              </a:rPr>
              <a:t>）指标函数和最优值函数</a:t>
            </a:r>
            <a:endParaRPr lang="zh-CN" altLang="en-US" sz="2800" dirty="0">
              <a:solidFill>
                <a:schemeClr val="tx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4" name="Picture 4" descr="781639937139808779181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1798638" y="2621718"/>
            <a:ext cx="5400675" cy="1079500"/>
          </a:xfrm>
          <a:prstGeom prst="rect">
            <a:avLst/>
          </a:prstGeom>
          <a:noFill/>
          <a:ln>
            <a:noFill/>
          </a:ln>
          <a:effectLst/>
        </p:spPr>
      </p:pic>
      <p:sp>
        <p:nvSpPr>
          <p:cNvPr id="61445" name="Rectangle 5"/>
          <p:cNvSpPr>
            <a:spLocks noChangeArrowheads="1"/>
          </p:cNvSpPr>
          <p:nvPr/>
        </p:nvSpPr>
        <p:spPr bwMode="auto">
          <a:xfrm>
            <a:off x="503238" y="1709738"/>
            <a:ext cx="8424862" cy="979487"/>
          </a:xfrm>
          <a:prstGeom prst="rect">
            <a:avLst/>
          </a:prstGeom>
          <a:noFill/>
          <a:ln>
            <a:noFill/>
          </a:ln>
          <a:effectLst/>
        </p:spPr>
        <p:txBody>
          <a:bodyPr anchor="ctr">
            <a:spAutoFit/>
          </a:bodyPr>
          <a:lstStyle/>
          <a:p>
            <a:pPr algn="just" eaLnBrk="1" hangingPunct="1">
              <a:lnSpc>
                <a:spcPct val="120000"/>
              </a:lnSpc>
              <a:buClr>
                <a:srgbClr val="000000"/>
              </a:buClr>
              <a:buSzPct val="100000"/>
              <a:defRPr/>
            </a:pPr>
            <a:r>
              <a:rPr lang="en-US" altLang="zh-CN" sz="2400" dirty="0">
                <a:latin typeface="+mn-ea"/>
                <a:ea typeface="+mn-ea"/>
              </a:rPr>
              <a:t>(2) </a:t>
            </a:r>
            <a:r>
              <a:rPr lang="zh-CN" altLang="en-US" sz="2400" dirty="0">
                <a:latin typeface="+mn-ea"/>
                <a:ea typeface="+mn-ea"/>
              </a:rPr>
              <a:t>过程和它的任一子过程的指标是它所包含的各阶段指标的</a:t>
            </a:r>
            <a:r>
              <a:rPr lang="zh-CN" altLang="en-US" sz="2400" dirty="0">
                <a:solidFill>
                  <a:srgbClr val="FF0000"/>
                </a:solidFill>
                <a:latin typeface="+mn-ea"/>
                <a:ea typeface="+mn-ea"/>
              </a:rPr>
              <a:t>乘积</a:t>
            </a:r>
            <a:r>
              <a:rPr lang="zh-CN" altLang="en-US" sz="2400" dirty="0">
                <a:latin typeface="+mn-ea"/>
                <a:ea typeface="+mn-ea"/>
              </a:rPr>
              <a:t>，即</a:t>
            </a:r>
          </a:p>
        </p:txBody>
      </p:sp>
      <p:sp>
        <p:nvSpPr>
          <p:cNvPr id="61446" name="Rectangle 6"/>
          <p:cNvSpPr>
            <a:spLocks noChangeArrowheads="1"/>
          </p:cNvSpPr>
          <p:nvPr/>
        </p:nvSpPr>
        <p:spPr bwMode="auto">
          <a:xfrm>
            <a:off x="647700" y="3667125"/>
            <a:ext cx="2954338" cy="461963"/>
          </a:xfrm>
          <a:prstGeom prst="rect">
            <a:avLst/>
          </a:prstGeom>
          <a:noFill/>
          <a:ln>
            <a:noFill/>
          </a:ln>
          <a:effectLst/>
        </p:spPr>
        <p:txBody>
          <a:bodyPr wrap="none" anchor="ctr">
            <a:spAutoFit/>
          </a:bodyPr>
          <a:lstStyle/>
          <a:p>
            <a:pPr eaLnBrk="1" hangingPunct="1">
              <a:buClr>
                <a:srgbClr val="000000"/>
              </a:buClr>
              <a:buSzPct val="100000"/>
              <a:defRPr/>
            </a:pPr>
            <a:r>
              <a:rPr lang="zh-CN" altLang="en-US" sz="2400" dirty="0">
                <a:latin typeface="+mn-ea"/>
                <a:ea typeface="+mn-ea"/>
              </a:rPr>
              <a:t>这时就可写成	</a:t>
            </a:r>
          </a:p>
        </p:txBody>
      </p:sp>
      <p:sp>
        <p:nvSpPr>
          <p:cNvPr id="61447" name="Rectangle 7"/>
          <p:cNvSpPr>
            <a:spLocks noChangeArrowheads="1"/>
          </p:cNvSpPr>
          <p:nvPr/>
        </p:nvSpPr>
        <p:spPr bwMode="auto">
          <a:xfrm>
            <a:off x="-36513" y="2459038"/>
            <a:ext cx="9144001" cy="0"/>
          </a:xfrm>
          <a:prstGeom prst="rect">
            <a:avLst/>
          </a:prstGeom>
          <a:noFill/>
          <a:ln>
            <a:noFill/>
          </a:ln>
          <a:effectLst/>
        </p:spPr>
        <p:txBody>
          <a:bodyPr/>
          <a:lstStyle/>
          <a:p>
            <a:pPr eaLnBrk="1" hangingPunct="1">
              <a:buClr>
                <a:srgbClr val="000000"/>
              </a:buClr>
              <a:buSzPct val="100000"/>
              <a:defRPr/>
            </a:pPr>
            <a:endParaRPr lang="zh-CN" altLang="en-US" sz="2400">
              <a:latin typeface="+mn-ea"/>
              <a:ea typeface="+mn-ea"/>
            </a:endParaRPr>
          </a:p>
        </p:txBody>
      </p:sp>
      <p:pic>
        <p:nvPicPr>
          <p:cNvPr id="61449" name="Picture 9" descr="4560578431398087791813"/>
          <p:cNvPicPr>
            <a:picLocks noChangeAspect="1" noChangeArrowheads="1"/>
          </p:cNvPicPr>
          <p:nvPr/>
        </p:nvPicPr>
        <p:blipFill>
          <a:blip r:embed="rId3">
            <a:duotone>
              <a:schemeClr val="accent4">
                <a:shade val="45000"/>
                <a:satMod val="135000"/>
              </a:schemeClr>
              <a:prstClr val="white"/>
            </a:duotone>
          </a:blip>
          <a:srcRect/>
          <a:stretch>
            <a:fillRect/>
          </a:stretch>
        </p:blipFill>
        <p:spPr bwMode="auto">
          <a:xfrm>
            <a:off x="1725613" y="4314825"/>
            <a:ext cx="5473700" cy="1323975"/>
          </a:xfrm>
          <a:prstGeom prst="rect">
            <a:avLst/>
          </a:prstGeom>
          <a:noFill/>
          <a:ln>
            <a:noFill/>
          </a:ln>
          <a:effectLst/>
        </p:spPr>
      </p:pic>
      <p:sp>
        <p:nvSpPr>
          <p:cNvPr id="49159"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806240D4-254F-4725-9652-CA86251CA023}"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49160"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E2FC68B-C591-4418-964F-79C3296F1231}" type="slidenum">
              <a:rPr lang="zh-CN" altLang="zh-CN" sz="1400">
                <a:latin typeface="Arial" panose="020B0604020202020204" pitchFamily="34" charset="0"/>
              </a:rPr>
              <a:pPr>
                <a:spcBef>
                  <a:spcPct val="0"/>
                </a:spcBef>
                <a:buClr>
                  <a:srgbClr val="000000"/>
                </a:buClr>
                <a:buFontTx/>
                <a:buNone/>
              </a:pPr>
              <a:t>31</a:t>
            </a:fld>
            <a:endParaRPr lang="en-US" altLang="zh-CN" sz="1400">
              <a:latin typeface="Arial" panose="020B0604020202020204" pitchFamily="34" charset="0"/>
            </a:endParaRPr>
          </a:p>
        </p:txBody>
      </p:sp>
      <p:sp>
        <p:nvSpPr>
          <p:cNvPr id="49161" name="Rectangle 2"/>
          <p:cNvSpPr txBox="1">
            <a:spLocks noChangeArrowheads="1"/>
          </p:cNvSpPr>
          <p:nvPr/>
        </p:nvSpPr>
        <p:spPr bwMode="auto">
          <a:xfrm>
            <a:off x="457200" y="914400"/>
            <a:ext cx="85629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2800" dirty="0">
                <a:solidFill>
                  <a:schemeClr val="tx2"/>
                </a:solidFill>
                <a:latin typeface="Times New Roman" panose="02020603050405020304" pitchFamily="18" charset="0"/>
                <a:ea typeface="黑体" panose="02010609060101010101" pitchFamily="49" charset="-122"/>
              </a:rPr>
              <a:t>2</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动态规划基本概念</a:t>
            </a:r>
            <a:r>
              <a:rPr lang="en-US" altLang="zh-CN" sz="2800" dirty="0">
                <a:solidFill>
                  <a:schemeClr val="tx2"/>
                </a:solidFill>
                <a:latin typeface="黑体" panose="02010609060101010101" pitchFamily="49" charset="-122"/>
                <a:ea typeface="黑体" panose="02010609060101010101" pitchFamily="49" charset="-122"/>
              </a:rPr>
              <a:t>-</a:t>
            </a:r>
            <a:r>
              <a:rPr lang="zh-CN" altLang="en-US" sz="2800" dirty="0">
                <a:solidFill>
                  <a:srgbClr val="000099"/>
                </a:solidFill>
                <a:latin typeface="黑体" panose="02010609060101010101" pitchFamily="49" charset="-122"/>
                <a:ea typeface="黑体" panose="02010609060101010101" pitchFamily="49" charset="-122"/>
              </a:rPr>
              <a:t>（</a:t>
            </a:r>
            <a:r>
              <a:rPr lang="en-US" altLang="zh-CN" sz="2800" dirty="0">
                <a:solidFill>
                  <a:srgbClr val="000099"/>
                </a:solidFill>
                <a:latin typeface="黑体" panose="02010609060101010101" pitchFamily="49" charset="-122"/>
                <a:ea typeface="黑体" panose="02010609060101010101" pitchFamily="49" charset="-122"/>
              </a:rPr>
              <a:t>6</a:t>
            </a:r>
            <a:r>
              <a:rPr lang="zh-CN" altLang="en-US" sz="2800" dirty="0">
                <a:solidFill>
                  <a:srgbClr val="000099"/>
                </a:solidFill>
                <a:latin typeface="黑体" panose="02010609060101010101" pitchFamily="49" charset="-122"/>
                <a:ea typeface="黑体" panose="02010609060101010101" pitchFamily="49" charset="-122"/>
              </a:rPr>
              <a:t>）指标函数和最优值函数</a:t>
            </a:r>
            <a:endParaRPr lang="zh-CN" altLang="en-US" sz="2800" dirty="0">
              <a:solidFill>
                <a:schemeClr val="tx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612775" y="1760538"/>
            <a:ext cx="7921625" cy="2198687"/>
          </a:xfrm>
          <a:prstGeom prst="rect">
            <a:avLst/>
          </a:prstGeom>
          <a:noFill/>
          <a:ln>
            <a:noFill/>
          </a:ln>
          <a:effectLst/>
        </p:spPr>
        <p:txBody>
          <a:bodyPr anchor="ctr">
            <a:spAutoFit/>
          </a:bodyPr>
          <a:lstStyle/>
          <a:p>
            <a:pPr marL="342900" indent="-342900" eaLnBrk="1" hangingPunct="1">
              <a:lnSpc>
                <a:spcPct val="150000"/>
              </a:lnSpc>
              <a:buClr>
                <a:srgbClr val="C00000"/>
              </a:buClr>
              <a:buSzPct val="100000"/>
              <a:buFont typeface="Wingdings" panose="05000000000000000000" pitchFamily="2" charset="2"/>
              <a:buChar char="p"/>
              <a:defRPr/>
            </a:pPr>
            <a:r>
              <a:rPr lang="zh-CN" altLang="en-US" sz="2400" u="sng" dirty="0">
                <a:solidFill>
                  <a:srgbClr val="FF0000"/>
                </a:solidFill>
                <a:latin typeface="+mn-ea"/>
                <a:ea typeface="+mn-ea"/>
              </a:rPr>
              <a:t>最优值函数</a:t>
            </a:r>
            <a:r>
              <a:rPr lang="zh-CN" altLang="en-US" sz="2400" dirty="0">
                <a:latin typeface="+mn-ea"/>
                <a:ea typeface="+mn-ea"/>
              </a:rPr>
              <a:t>，记为       </a:t>
            </a:r>
            <a:r>
              <a:rPr lang="en-US" altLang="zh-CN" sz="2400" dirty="0">
                <a:latin typeface="+mn-ea"/>
                <a:ea typeface="+mn-ea"/>
              </a:rPr>
              <a:t>:</a:t>
            </a:r>
          </a:p>
          <a:p>
            <a:pPr eaLnBrk="1" hangingPunct="1">
              <a:lnSpc>
                <a:spcPct val="150000"/>
              </a:lnSpc>
              <a:buClr>
                <a:srgbClr val="000000"/>
              </a:buClr>
              <a:buSzPct val="100000"/>
              <a:defRPr/>
            </a:pPr>
            <a:r>
              <a:rPr lang="zh-CN" altLang="en-US" sz="2400" dirty="0">
                <a:latin typeface="Times New Roman" pitchFamily="18" charset="0"/>
                <a:ea typeface="+mn-ea"/>
                <a:cs typeface="Times New Roman" pitchFamily="18" charset="0"/>
              </a:rPr>
              <a:t>        从第</a:t>
            </a:r>
            <a:r>
              <a:rPr lang="en-US" altLang="zh-CN" sz="2400" i="1" dirty="0">
                <a:latin typeface="Times New Roman" pitchFamily="18" charset="0"/>
                <a:ea typeface="+mn-ea"/>
                <a:cs typeface="Times New Roman" pitchFamily="18" charset="0"/>
              </a:rPr>
              <a:t>k</a:t>
            </a:r>
            <a:r>
              <a:rPr lang="zh-CN" altLang="en-US" sz="2400" dirty="0">
                <a:latin typeface="Times New Roman" pitchFamily="18" charset="0"/>
                <a:ea typeface="+mn-ea"/>
                <a:cs typeface="Times New Roman" pitchFamily="18" charset="0"/>
              </a:rPr>
              <a:t>阶段的状态</a:t>
            </a:r>
            <a:r>
              <a:rPr lang="en-US" altLang="zh-CN" sz="2400" i="1" dirty="0" err="1">
                <a:latin typeface="Times New Roman" pitchFamily="18" charset="0"/>
                <a:ea typeface="+mn-ea"/>
                <a:cs typeface="Times New Roman" pitchFamily="18" charset="0"/>
              </a:rPr>
              <a:t>s</a:t>
            </a:r>
            <a:r>
              <a:rPr lang="en-US" altLang="zh-CN" sz="2400" i="1" baseline="-25000" dirty="0" err="1">
                <a:latin typeface="Times New Roman" pitchFamily="18" charset="0"/>
                <a:ea typeface="+mn-ea"/>
                <a:cs typeface="Times New Roman" pitchFamily="18" charset="0"/>
              </a:rPr>
              <a:t>k</a:t>
            </a:r>
            <a:r>
              <a:rPr lang="zh-CN" altLang="en-US" sz="2400" dirty="0">
                <a:latin typeface="Times New Roman" pitchFamily="18" charset="0"/>
                <a:ea typeface="+mn-ea"/>
                <a:cs typeface="Times New Roman" pitchFamily="18" charset="0"/>
              </a:rPr>
              <a:t>开始到第</a:t>
            </a:r>
            <a:r>
              <a:rPr lang="en-US" altLang="zh-CN" sz="2400" i="1" dirty="0">
                <a:latin typeface="Times New Roman" pitchFamily="18" charset="0"/>
                <a:ea typeface="+mn-ea"/>
                <a:cs typeface="Times New Roman" pitchFamily="18" charset="0"/>
              </a:rPr>
              <a:t>n</a:t>
            </a:r>
            <a:r>
              <a:rPr lang="zh-CN" altLang="en-US" sz="2400" dirty="0">
                <a:latin typeface="Times New Roman" pitchFamily="18" charset="0"/>
                <a:ea typeface="+mn-ea"/>
                <a:cs typeface="Times New Roman" pitchFamily="18" charset="0"/>
              </a:rPr>
              <a:t>阶段的终止状态的过程，采取</a:t>
            </a:r>
            <a:r>
              <a:rPr lang="zh-CN" altLang="en-US" sz="2400" b="1" dirty="0">
                <a:solidFill>
                  <a:srgbClr val="000099"/>
                </a:solidFill>
                <a:latin typeface="Times New Roman" pitchFamily="18" charset="0"/>
                <a:ea typeface="+mn-ea"/>
                <a:cs typeface="Times New Roman" pitchFamily="18" charset="0"/>
              </a:rPr>
              <a:t>最优策略</a:t>
            </a:r>
            <a:r>
              <a:rPr lang="zh-CN" altLang="en-US" sz="2400" dirty="0">
                <a:latin typeface="Times New Roman" pitchFamily="18" charset="0"/>
                <a:ea typeface="+mn-ea"/>
                <a:cs typeface="Times New Roman" pitchFamily="18" charset="0"/>
              </a:rPr>
              <a:t>所得到的指标函数值，即</a:t>
            </a:r>
          </a:p>
          <a:p>
            <a:pPr eaLnBrk="1" hangingPunct="1">
              <a:lnSpc>
                <a:spcPct val="120000"/>
              </a:lnSpc>
              <a:buClr>
                <a:srgbClr val="000000"/>
              </a:buClr>
              <a:buSzPct val="100000"/>
              <a:defRPr/>
            </a:pPr>
            <a:endParaRPr lang="zh-CN" altLang="en-US" sz="2400" b="1" dirty="0">
              <a:solidFill>
                <a:schemeClr val="bg1"/>
              </a:solidFill>
              <a:latin typeface="Times New Roman" pitchFamily="18" charset="0"/>
            </a:endParaRPr>
          </a:p>
        </p:txBody>
      </p:sp>
      <p:sp>
        <p:nvSpPr>
          <p:cNvPr id="50179" name="Rectangle 4"/>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60421" name="Picture 5" descr="8956917851398087791803"/>
          <p:cNvPicPr>
            <a:picLocks noChangeAspect="1" noChangeArrowheads="1"/>
          </p:cNvPicPr>
          <p:nvPr/>
        </p:nvPicPr>
        <p:blipFill>
          <a:blip r:embed="rId2" cstate="print">
            <a:duotone>
              <a:prstClr val="black"/>
              <a:schemeClr val="tx2">
                <a:tint val="45000"/>
                <a:satMod val="400000"/>
              </a:schemeClr>
            </a:duotone>
          </a:blip>
          <a:srcRect/>
          <a:stretch>
            <a:fillRect/>
          </a:stretch>
        </p:blipFill>
        <p:spPr bwMode="auto">
          <a:xfrm>
            <a:off x="3505200" y="1868521"/>
            <a:ext cx="1008063" cy="465138"/>
          </a:xfrm>
          <a:prstGeom prst="rect">
            <a:avLst/>
          </a:prstGeom>
          <a:noFill/>
          <a:ln>
            <a:noFill/>
          </a:ln>
          <a:effectLst/>
        </p:spPr>
      </p:pic>
      <p:pic>
        <p:nvPicPr>
          <p:cNvPr id="60422" name="Picture 6" descr="6765081681398087791803"/>
          <p:cNvPicPr>
            <a:picLocks noChangeAspect="1" noChangeArrowheads="1"/>
          </p:cNvPicPr>
          <p:nvPr/>
        </p:nvPicPr>
        <p:blipFill>
          <a:blip r:embed="rId3">
            <a:duotone>
              <a:prstClr val="black"/>
              <a:schemeClr val="tx2">
                <a:tint val="45000"/>
                <a:satMod val="400000"/>
              </a:schemeClr>
            </a:duotone>
          </a:blip>
          <a:srcRect/>
          <a:stretch>
            <a:fillRect/>
          </a:stretch>
        </p:blipFill>
        <p:spPr bwMode="auto">
          <a:xfrm>
            <a:off x="1831052" y="3929817"/>
            <a:ext cx="5255547" cy="946983"/>
          </a:xfrm>
          <a:prstGeom prst="rect">
            <a:avLst/>
          </a:prstGeom>
          <a:noFill/>
          <a:ln>
            <a:noFill/>
          </a:ln>
          <a:effectLst/>
        </p:spPr>
      </p:pic>
      <p:sp>
        <p:nvSpPr>
          <p:cNvPr id="50182"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9F999961-4132-4906-A0F2-EBD4C9B00103}"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50183"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FB241914-8FD0-493A-B0E5-2B71E2C4CC3E}" type="slidenum">
              <a:rPr lang="zh-CN" altLang="zh-CN" sz="1400">
                <a:latin typeface="Arial" panose="020B0604020202020204" pitchFamily="34" charset="0"/>
              </a:rPr>
              <a:pPr>
                <a:spcBef>
                  <a:spcPct val="0"/>
                </a:spcBef>
                <a:buClr>
                  <a:srgbClr val="000000"/>
                </a:buClr>
                <a:buFontTx/>
                <a:buNone/>
              </a:pPr>
              <a:t>32</a:t>
            </a:fld>
            <a:endParaRPr lang="en-US" altLang="zh-CN" sz="1400">
              <a:latin typeface="Arial" panose="020B0604020202020204" pitchFamily="34" charset="0"/>
            </a:endParaRPr>
          </a:p>
        </p:txBody>
      </p:sp>
      <p:sp>
        <p:nvSpPr>
          <p:cNvPr id="50184" name="Rectangle 2"/>
          <p:cNvSpPr txBox="1">
            <a:spLocks noChangeArrowheads="1"/>
          </p:cNvSpPr>
          <p:nvPr/>
        </p:nvSpPr>
        <p:spPr bwMode="auto">
          <a:xfrm>
            <a:off x="457200" y="914400"/>
            <a:ext cx="85629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2800" dirty="0">
                <a:solidFill>
                  <a:schemeClr val="tx2"/>
                </a:solidFill>
                <a:latin typeface="Times New Roman" panose="02020603050405020304" pitchFamily="18" charset="0"/>
                <a:ea typeface="黑体" panose="02010609060101010101" pitchFamily="49" charset="-122"/>
              </a:rPr>
              <a:t>2</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动态规划基本概念</a:t>
            </a:r>
            <a:r>
              <a:rPr lang="en-US" altLang="zh-CN" sz="2800" dirty="0">
                <a:solidFill>
                  <a:schemeClr val="tx2"/>
                </a:solidFill>
                <a:latin typeface="黑体" panose="02010609060101010101" pitchFamily="49" charset="-122"/>
                <a:ea typeface="黑体" panose="02010609060101010101" pitchFamily="49" charset="-122"/>
              </a:rPr>
              <a:t>-</a:t>
            </a:r>
            <a:r>
              <a:rPr lang="zh-CN" altLang="en-US" sz="2800" dirty="0">
                <a:solidFill>
                  <a:srgbClr val="000099"/>
                </a:solidFill>
                <a:latin typeface="黑体" panose="02010609060101010101" pitchFamily="49" charset="-122"/>
                <a:ea typeface="黑体" panose="02010609060101010101" pitchFamily="49" charset="-122"/>
              </a:rPr>
              <a:t>（</a:t>
            </a:r>
            <a:r>
              <a:rPr lang="en-US" altLang="zh-CN" sz="2800" dirty="0">
                <a:solidFill>
                  <a:srgbClr val="000099"/>
                </a:solidFill>
                <a:latin typeface="黑体" panose="02010609060101010101" pitchFamily="49" charset="-122"/>
                <a:ea typeface="黑体" panose="02010609060101010101" pitchFamily="49" charset="-122"/>
              </a:rPr>
              <a:t>6</a:t>
            </a:r>
            <a:r>
              <a:rPr lang="zh-CN" altLang="en-US" sz="2800" dirty="0">
                <a:solidFill>
                  <a:srgbClr val="000099"/>
                </a:solidFill>
                <a:latin typeface="黑体" panose="02010609060101010101" pitchFamily="49" charset="-122"/>
                <a:ea typeface="黑体" panose="02010609060101010101" pitchFamily="49" charset="-122"/>
              </a:rPr>
              <a:t>）指标函数和最优值函数</a:t>
            </a:r>
            <a:endParaRPr lang="zh-CN" altLang="en-US" sz="2800" dirty="0">
              <a:solidFill>
                <a:schemeClr val="tx2"/>
              </a:solidFill>
              <a:latin typeface="黑体" panose="02010609060101010101" pitchFamily="49" charset="-122"/>
              <a:ea typeface="黑体" panose="02010609060101010101" pitchFamily="49" charset="-122"/>
            </a:endParaRPr>
          </a:p>
        </p:txBody>
      </p:sp>
      <p:sp>
        <p:nvSpPr>
          <p:cNvPr id="50185" name="Rectangle 26"/>
          <p:cNvSpPr>
            <a:spLocks noChangeArrowheads="1"/>
          </p:cNvSpPr>
          <p:nvPr/>
        </p:nvSpPr>
        <p:spPr bwMode="auto">
          <a:xfrm>
            <a:off x="665163" y="5410200"/>
            <a:ext cx="81470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a:t>“opt”</a:t>
            </a:r>
            <a:r>
              <a:rPr lang="zh-CN" altLang="en-US" sz="2000"/>
              <a:t>是最优化</a:t>
            </a:r>
            <a:r>
              <a:rPr lang="en-US" altLang="zh-CN" sz="2000"/>
              <a:t>(optimization)</a:t>
            </a:r>
            <a:r>
              <a:rPr lang="zh-CN" altLang="en-US" sz="2000"/>
              <a:t>的缩写，可根据题意而取</a:t>
            </a:r>
            <a:r>
              <a:rPr lang="en-US" altLang="zh-CN" sz="2000"/>
              <a:t>min</a:t>
            </a:r>
            <a:r>
              <a:rPr lang="zh-CN" altLang="en-US" sz="2000"/>
              <a:t>或</a:t>
            </a:r>
            <a:r>
              <a:rPr lang="en-US" altLang="zh-CN" sz="2000"/>
              <a:t>max</a:t>
            </a:r>
            <a:r>
              <a:rPr lang="zh-CN" altLang="en-US" sz="2000"/>
              <a:t>。 </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idx="1"/>
          </p:nvPr>
        </p:nvSpPr>
        <p:spPr>
          <a:xfrm>
            <a:off x="1905000" y="5210175"/>
            <a:ext cx="5473700" cy="504825"/>
          </a:xfrm>
        </p:spPr>
        <p:txBody>
          <a:bodyPr/>
          <a:lstStyle/>
          <a:p>
            <a:pPr marL="812800" indent="-812800" algn="ctr" eaLnBrk="1" hangingPunct="1">
              <a:lnSpc>
                <a:spcPct val="120000"/>
              </a:lnSpc>
              <a:spcBef>
                <a:spcPct val="0"/>
              </a:spcBef>
              <a:buFont typeface="Wingdings" panose="05000000000000000000" pitchFamily="2" charset="2"/>
              <a:buNone/>
            </a:pPr>
            <a:r>
              <a:rPr lang="zh-CN" altLang="en-US" sz="2400">
                <a:latin typeface="宋体" panose="02010600030101010101" pitchFamily="2" charset="-122"/>
              </a:rPr>
              <a:t>最短路线问题“最优值函数”的示意图</a:t>
            </a:r>
          </a:p>
        </p:txBody>
      </p:sp>
      <p:pic>
        <p:nvPicPr>
          <p:cNvPr id="51203" name="Picture 4" descr="18064401113980877918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8" y="2000250"/>
            <a:ext cx="7421562" cy="302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04"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9050A0CA-6CE8-47EB-A6EE-0D04B404ABC4}" type="slidenum">
              <a:rPr lang="zh-CN" altLang="zh-CN" sz="1400">
                <a:latin typeface="Arial" panose="020B0604020202020204" pitchFamily="34" charset="0"/>
              </a:rPr>
              <a:pPr>
                <a:spcBef>
                  <a:spcPct val="0"/>
                </a:spcBef>
                <a:buClr>
                  <a:srgbClr val="000000"/>
                </a:buClr>
                <a:buFontTx/>
                <a:buNone/>
              </a:pPr>
              <a:t>33</a:t>
            </a:fld>
            <a:endParaRPr lang="en-US" altLang="zh-CN" sz="1400">
              <a:latin typeface="Arial" panose="020B0604020202020204" pitchFamily="34" charset="0"/>
            </a:endParaRPr>
          </a:p>
        </p:txBody>
      </p:sp>
      <p:sp>
        <p:nvSpPr>
          <p:cNvPr id="51205" name="Rectangle 2"/>
          <p:cNvSpPr txBox="1">
            <a:spLocks noChangeArrowheads="1"/>
          </p:cNvSpPr>
          <p:nvPr/>
        </p:nvSpPr>
        <p:spPr bwMode="auto">
          <a:xfrm>
            <a:off x="457200" y="914400"/>
            <a:ext cx="85629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2800" dirty="0">
                <a:solidFill>
                  <a:schemeClr val="tx2"/>
                </a:solidFill>
                <a:latin typeface="Times New Roman" panose="02020603050405020304" pitchFamily="18" charset="0"/>
                <a:ea typeface="黑体" panose="02010609060101010101" pitchFamily="49" charset="-122"/>
              </a:rPr>
              <a:t>2</a:t>
            </a:r>
            <a:r>
              <a:rPr lang="en-US" altLang="zh-CN" sz="2800" dirty="0">
                <a:solidFill>
                  <a:schemeClr val="tx2"/>
                </a:solidFill>
                <a:latin typeface="黑体" panose="02010609060101010101" pitchFamily="49" charset="-122"/>
                <a:ea typeface="黑体" panose="02010609060101010101" pitchFamily="49" charset="-122"/>
              </a:rPr>
              <a:t> </a:t>
            </a:r>
            <a:r>
              <a:rPr lang="zh-CN" altLang="en-US" sz="2800" dirty="0">
                <a:solidFill>
                  <a:schemeClr val="tx2"/>
                </a:solidFill>
                <a:latin typeface="黑体" panose="02010609060101010101" pitchFamily="49" charset="-122"/>
                <a:ea typeface="黑体" panose="02010609060101010101" pitchFamily="49" charset="-122"/>
              </a:rPr>
              <a:t>动态规划基本概念</a:t>
            </a:r>
            <a:r>
              <a:rPr lang="en-US" altLang="zh-CN" sz="2800" dirty="0">
                <a:solidFill>
                  <a:schemeClr val="tx2"/>
                </a:solidFill>
                <a:latin typeface="黑体" panose="02010609060101010101" pitchFamily="49" charset="-122"/>
                <a:ea typeface="黑体" panose="02010609060101010101" pitchFamily="49" charset="-122"/>
              </a:rPr>
              <a:t>-</a:t>
            </a:r>
            <a:r>
              <a:rPr lang="zh-CN" altLang="en-US" sz="2800" dirty="0">
                <a:solidFill>
                  <a:srgbClr val="000099"/>
                </a:solidFill>
                <a:latin typeface="黑体" panose="02010609060101010101" pitchFamily="49" charset="-122"/>
                <a:ea typeface="黑体" panose="02010609060101010101" pitchFamily="49" charset="-122"/>
              </a:rPr>
              <a:t>（</a:t>
            </a:r>
            <a:r>
              <a:rPr lang="en-US" altLang="zh-CN" sz="2800" dirty="0">
                <a:solidFill>
                  <a:srgbClr val="000099"/>
                </a:solidFill>
                <a:latin typeface="黑体" panose="02010609060101010101" pitchFamily="49" charset="-122"/>
                <a:ea typeface="黑体" panose="02010609060101010101" pitchFamily="49" charset="-122"/>
              </a:rPr>
              <a:t>6</a:t>
            </a:r>
            <a:r>
              <a:rPr lang="zh-CN" altLang="en-US" sz="2800" dirty="0">
                <a:solidFill>
                  <a:srgbClr val="000099"/>
                </a:solidFill>
                <a:latin typeface="黑体" panose="02010609060101010101" pitchFamily="49" charset="-122"/>
                <a:ea typeface="黑体" panose="02010609060101010101" pitchFamily="49" charset="-122"/>
              </a:rPr>
              <a:t>）指标函数和最优值函数</a:t>
            </a:r>
            <a:endParaRPr lang="zh-CN" altLang="en-US" sz="2800" dirty="0">
              <a:solidFill>
                <a:schemeClr val="tx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74675" y="762000"/>
            <a:ext cx="6816725" cy="758825"/>
          </a:xfrm>
        </p:spPr>
        <p:txBody>
          <a:bodyPr/>
          <a:lstStyle/>
          <a:p>
            <a:pPr eaLnBrk="1" hangingPunct="1"/>
            <a:r>
              <a:rPr lang="zh-CN" altLang="en-US" dirty="0"/>
              <a:t>第</a:t>
            </a:r>
            <a:r>
              <a:rPr lang="en-US" altLang="zh-CN" dirty="0"/>
              <a:t>8</a:t>
            </a:r>
            <a:r>
              <a:rPr lang="zh-CN" altLang="en-US" dirty="0"/>
              <a:t>章  动态规划</a:t>
            </a:r>
          </a:p>
        </p:txBody>
      </p:sp>
      <p:sp>
        <p:nvSpPr>
          <p:cNvPr id="22531" name="Rectangle 3"/>
          <p:cNvSpPr>
            <a:spLocks noGrp="1" noChangeArrowheads="1"/>
          </p:cNvSpPr>
          <p:nvPr>
            <p:ph type="body" idx="1"/>
          </p:nvPr>
        </p:nvSpPr>
        <p:spPr>
          <a:xfrm>
            <a:off x="644525" y="1676400"/>
            <a:ext cx="6858000" cy="4267200"/>
          </a:xfrm>
        </p:spPr>
        <p:txBody>
          <a:bodyPr/>
          <a:lstStyle/>
          <a:p>
            <a:pPr lvl="1" eaLnBrk="1" hangingPunct="1">
              <a:lnSpc>
                <a:spcPct val="150000"/>
              </a:lnSpc>
            </a:pPr>
            <a:r>
              <a:rPr lang="zh-CN" altLang="en-US" dirty="0">
                <a:solidFill>
                  <a:srgbClr val="333333"/>
                </a:solidFill>
                <a:latin typeface="arial" panose="020B0604020202020204" pitchFamily="34" charset="0"/>
              </a:rPr>
              <a:t>多阶段决策过程及实例</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动态规划的基本概念</a:t>
            </a:r>
            <a:endParaRPr lang="en-US" altLang="zh-CN" dirty="0">
              <a:solidFill>
                <a:srgbClr val="333333"/>
              </a:solidFill>
              <a:latin typeface="Arial" panose="020B0604020202020204" pitchFamily="34" charset="0"/>
            </a:endParaRPr>
          </a:p>
          <a:p>
            <a:pPr lvl="1" eaLnBrk="1" hangingPunct="1">
              <a:lnSpc>
                <a:spcPct val="150000"/>
              </a:lnSpc>
            </a:pPr>
            <a:r>
              <a:rPr lang="zh-CN" altLang="en-US" b="1" dirty="0">
                <a:solidFill>
                  <a:srgbClr val="0070C0"/>
                </a:solidFill>
                <a:latin typeface="Arial" panose="020B0604020202020204" pitchFamily="34" charset="0"/>
              </a:rPr>
              <a:t>动态规划的基本思想和基本方程</a:t>
            </a:r>
            <a:endParaRPr lang="en-US" altLang="zh-CN" b="1" dirty="0">
              <a:solidFill>
                <a:srgbClr val="0070C0"/>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动态规划的最优性原理</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动态规划的求解方法</a:t>
            </a:r>
            <a:endParaRPr lang="en-US" altLang="zh-CN" dirty="0">
              <a:solidFill>
                <a:srgbClr val="333333"/>
              </a:solidFill>
              <a:latin typeface="Arial" panose="020B0604020202020204" pitchFamily="34" charset="0"/>
            </a:endParaRPr>
          </a:p>
          <a:p>
            <a:pPr lvl="1" eaLnBrk="1" hangingPunct="1">
              <a:lnSpc>
                <a:spcPct val="150000"/>
              </a:lnSpc>
            </a:pPr>
            <a:r>
              <a:rPr lang="zh-CN" altLang="en-US" dirty="0">
                <a:solidFill>
                  <a:srgbClr val="333333"/>
                </a:solidFill>
                <a:latin typeface="Arial" panose="020B0604020202020204" pitchFamily="34" charset="0"/>
              </a:rPr>
              <a:t>动态规划的管理应用</a:t>
            </a:r>
            <a:endParaRPr lang="en-US" altLang="zh-CN" dirty="0">
              <a:solidFill>
                <a:srgbClr val="333333"/>
              </a:solidFill>
              <a:latin typeface="Arial" panose="020B0604020202020204" pitchFamily="34" charset="0"/>
            </a:endParaRPr>
          </a:p>
          <a:p>
            <a:pPr marL="909637" lvl="2" indent="0" eaLnBrk="1" hangingPunct="1">
              <a:lnSpc>
                <a:spcPct val="120000"/>
              </a:lnSpc>
              <a:buNone/>
            </a:pPr>
            <a:endParaRPr lang="en-US" altLang="zh-CN" sz="2500" dirty="0">
              <a:solidFill>
                <a:srgbClr val="333333"/>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
        <p:nvSpPr>
          <p:cNvPr id="54275" name="Rectangle 3"/>
          <p:cNvSpPr>
            <a:spLocks noGrp="1" noChangeArrowheads="1"/>
          </p:cNvSpPr>
          <p:nvPr>
            <p:ph idx="1"/>
          </p:nvPr>
        </p:nvSpPr>
        <p:spPr>
          <a:xfrm>
            <a:off x="538163" y="1752600"/>
            <a:ext cx="8066087" cy="2168525"/>
          </a:xfrm>
        </p:spPr>
        <p:txBody>
          <a:bodyPr/>
          <a:lstStyle/>
          <a:p>
            <a:pPr algn="just" eaLnBrk="1" hangingPunct="1">
              <a:lnSpc>
                <a:spcPct val="120000"/>
              </a:lnSpc>
              <a:buFont typeface="Wingdings" panose="05000000000000000000" pitchFamily="2" charset="2"/>
              <a:buChar char="p"/>
              <a:defRPr/>
            </a:pPr>
            <a:r>
              <a:rPr lang="zh-CN" altLang="en-US" sz="2400" dirty="0"/>
              <a:t>结合最短路线问题，介绍动态规划方法的基本思想。</a:t>
            </a:r>
            <a:endParaRPr lang="en-US" altLang="zh-CN" sz="2400" dirty="0"/>
          </a:p>
          <a:p>
            <a:pPr algn="just" eaLnBrk="1" hangingPunct="1">
              <a:lnSpc>
                <a:spcPct val="125000"/>
              </a:lnSpc>
              <a:buFont typeface="Wingdings" panose="05000000000000000000" pitchFamily="2" charset="2"/>
              <a:buChar char="u"/>
              <a:defRPr/>
            </a:pPr>
            <a:r>
              <a:rPr lang="zh-CN" altLang="en-US" sz="2000" dirty="0">
                <a:latin typeface="Times New Roman" panose="02020603050405020304" pitchFamily="18" charset="0"/>
              </a:rPr>
              <a:t>最短路线有一个</a:t>
            </a:r>
            <a:r>
              <a:rPr lang="zh-CN" altLang="en-US" sz="2000" dirty="0">
                <a:solidFill>
                  <a:srgbClr val="FF0000"/>
                </a:solidFill>
                <a:latin typeface="Times New Roman" panose="02020603050405020304" pitchFamily="18" charset="0"/>
              </a:rPr>
              <a:t>重要特性</a:t>
            </a:r>
            <a:r>
              <a:rPr lang="zh-CN" altLang="en-US" sz="2000" dirty="0">
                <a:latin typeface="Times New Roman" panose="02020603050405020304" pitchFamily="18" charset="0"/>
              </a:rPr>
              <a:t>：如果由起点</a:t>
            </a:r>
            <a:r>
              <a:rPr lang="en-US" altLang="zh-CN" sz="2000" dirty="0">
                <a:latin typeface="Times New Roman" panose="02020603050405020304" pitchFamily="18" charset="0"/>
              </a:rPr>
              <a:t>A</a:t>
            </a:r>
            <a:r>
              <a:rPr lang="zh-CN" altLang="en-US" sz="2000" dirty="0">
                <a:latin typeface="Times New Roman" panose="02020603050405020304" pitchFamily="18" charset="0"/>
              </a:rPr>
              <a:t>经过</a:t>
            </a:r>
            <a:r>
              <a:rPr lang="en-US" altLang="zh-CN" sz="2000" dirty="0">
                <a:latin typeface="Times New Roman" panose="02020603050405020304" pitchFamily="18" charset="0"/>
              </a:rPr>
              <a:t>P</a:t>
            </a:r>
            <a:r>
              <a:rPr lang="zh-CN" altLang="en-US" sz="2000" dirty="0">
                <a:latin typeface="Times New Roman" panose="02020603050405020304" pitchFamily="18" charset="0"/>
              </a:rPr>
              <a:t>点和</a:t>
            </a:r>
            <a:r>
              <a:rPr lang="en-US" altLang="zh-CN" sz="2000" dirty="0">
                <a:latin typeface="Times New Roman" panose="02020603050405020304" pitchFamily="18" charset="0"/>
              </a:rPr>
              <a:t>H</a:t>
            </a:r>
            <a:r>
              <a:rPr lang="zh-CN" altLang="en-US" sz="2000" dirty="0">
                <a:latin typeface="Times New Roman" panose="02020603050405020304" pitchFamily="18" charset="0"/>
              </a:rPr>
              <a:t>点而到达终点</a:t>
            </a:r>
            <a:r>
              <a:rPr lang="en-US" altLang="zh-CN" sz="2000" dirty="0">
                <a:latin typeface="Times New Roman" panose="02020603050405020304" pitchFamily="18" charset="0"/>
              </a:rPr>
              <a:t>G</a:t>
            </a:r>
            <a:r>
              <a:rPr lang="zh-CN" altLang="en-US" sz="2000" dirty="0">
                <a:latin typeface="Times New Roman" panose="02020603050405020304" pitchFamily="18" charset="0"/>
              </a:rPr>
              <a:t>是一条最短路线，则由点</a:t>
            </a:r>
            <a:r>
              <a:rPr lang="en-US" altLang="zh-CN" sz="2000" dirty="0">
                <a:latin typeface="Times New Roman" panose="02020603050405020304" pitchFamily="18" charset="0"/>
              </a:rPr>
              <a:t>P</a:t>
            </a:r>
            <a:r>
              <a:rPr lang="zh-CN" altLang="en-US" sz="2000" dirty="0">
                <a:latin typeface="Times New Roman" panose="02020603050405020304" pitchFamily="18" charset="0"/>
              </a:rPr>
              <a:t>出发经过</a:t>
            </a:r>
            <a:r>
              <a:rPr lang="en-US" altLang="zh-CN" sz="2000" dirty="0">
                <a:latin typeface="Times New Roman" panose="02020603050405020304" pitchFamily="18" charset="0"/>
              </a:rPr>
              <a:t>H</a:t>
            </a:r>
            <a:r>
              <a:rPr lang="zh-CN" altLang="en-US" sz="2000" dirty="0">
                <a:latin typeface="Times New Roman" panose="02020603050405020304" pitchFamily="18" charset="0"/>
              </a:rPr>
              <a:t>点到达终点</a:t>
            </a:r>
            <a:r>
              <a:rPr lang="en-US" altLang="zh-CN" sz="2000" dirty="0">
                <a:latin typeface="Times New Roman" panose="02020603050405020304" pitchFamily="18" charset="0"/>
              </a:rPr>
              <a:t>G</a:t>
            </a:r>
            <a:r>
              <a:rPr lang="zh-CN" altLang="en-US" sz="2000" dirty="0">
                <a:latin typeface="Times New Roman" panose="02020603050405020304" pitchFamily="18" charset="0"/>
              </a:rPr>
              <a:t>的这条子路线，对于从点</a:t>
            </a:r>
            <a:r>
              <a:rPr lang="en-US" altLang="zh-CN" sz="2000" dirty="0">
                <a:latin typeface="Times New Roman" panose="02020603050405020304" pitchFamily="18" charset="0"/>
              </a:rPr>
              <a:t>P</a:t>
            </a:r>
            <a:r>
              <a:rPr lang="zh-CN" altLang="en-US" sz="2000" dirty="0">
                <a:latin typeface="Times New Roman" panose="02020603050405020304" pitchFamily="18" charset="0"/>
              </a:rPr>
              <a:t>出发到达终点的所有可能选择的不同路线来说，必定也是最短路线。</a:t>
            </a:r>
          </a:p>
          <a:p>
            <a:pPr marL="812800" indent="-812800" algn="just" eaLnBrk="1" hangingPunct="1">
              <a:lnSpc>
                <a:spcPct val="120000"/>
              </a:lnSpc>
              <a:buFont typeface="Wingdings" panose="05000000000000000000" pitchFamily="2" charset="2"/>
              <a:buNone/>
              <a:defRPr/>
            </a:pPr>
            <a:endParaRPr lang="zh-CN" altLang="en-US" sz="2400" dirty="0"/>
          </a:p>
        </p:txBody>
      </p:sp>
      <p:sp>
        <p:nvSpPr>
          <p:cNvPr id="52228"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9D59C00-87A1-42D1-A280-B981244C8A3E}" type="slidenum">
              <a:rPr lang="zh-CN" altLang="zh-CN" sz="1400">
                <a:latin typeface="Arial" panose="020B0604020202020204" pitchFamily="34" charset="0"/>
              </a:rPr>
              <a:pPr>
                <a:spcBef>
                  <a:spcPct val="0"/>
                </a:spcBef>
                <a:buClr>
                  <a:srgbClr val="000000"/>
                </a:buClr>
                <a:buFontTx/>
                <a:buNone/>
              </a:pPr>
              <a:t>35</a:t>
            </a:fld>
            <a:endParaRPr lang="en-US" altLang="zh-CN" sz="1400">
              <a:latin typeface="Arial" panose="020B0604020202020204" pitchFamily="34" charset="0"/>
            </a:endParaRPr>
          </a:p>
        </p:txBody>
      </p:sp>
      <p:grpSp>
        <p:nvGrpSpPr>
          <p:cNvPr id="52229" name="Group 3"/>
          <p:cNvGrpSpPr>
            <a:grpSpLocks/>
          </p:cNvGrpSpPr>
          <p:nvPr/>
        </p:nvGrpSpPr>
        <p:grpSpPr bwMode="auto">
          <a:xfrm>
            <a:off x="1905000" y="3846513"/>
            <a:ext cx="5832475" cy="2554287"/>
            <a:chOff x="748" y="1298"/>
            <a:chExt cx="4545" cy="2345"/>
          </a:xfrm>
        </p:grpSpPr>
        <p:grpSp>
          <p:nvGrpSpPr>
            <p:cNvPr id="52230" name="Group 4"/>
            <p:cNvGrpSpPr>
              <a:grpSpLocks/>
            </p:cNvGrpSpPr>
            <p:nvPr/>
          </p:nvGrpSpPr>
          <p:grpSpPr bwMode="auto">
            <a:xfrm>
              <a:off x="748" y="1298"/>
              <a:ext cx="4545" cy="2345"/>
              <a:chOff x="748" y="1298"/>
              <a:chExt cx="4545" cy="2345"/>
            </a:xfrm>
          </p:grpSpPr>
          <p:pic>
            <p:nvPicPr>
              <p:cNvPr id="52234" name="Picture 5" descr="10409982113973437561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 y="1298"/>
                <a:ext cx="4545" cy="2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35" name="Line 6"/>
              <p:cNvSpPr>
                <a:spLocks noChangeShapeType="1"/>
              </p:cNvSpPr>
              <p:nvPr/>
            </p:nvSpPr>
            <p:spPr bwMode="auto">
              <a:xfrm>
                <a:off x="1052" y="1526"/>
                <a:ext cx="0" cy="206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36" name="Line 7"/>
              <p:cNvSpPr>
                <a:spLocks noChangeShapeType="1"/>
              </p:cNvSpPr>
              <p:nvPr/>
            </p:nvSpPr>
            <p:spPr bwMode="auto">
              <a:xfrm>
                <a:off x="1660" y="1526"/>
                <a:ext cx="0" cy="2117"/>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37" name="Line 8"/>
              <p:cNvSpPr>
                <a:spLocks noChangeShapeType="1"/>
              </p:cNvSpPr>
              <p:nvPr/>
            </p:nvSpPr>
            <p:spPr bwMode="auto">
              <a:xfrm>
                <a:off x="2317" y="1470"/>
                <a:ext cx="0" cy="217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38" name="Line 9"/>
              <p:cNvSpPr>
                <a:spLocks noChangeShapeType="1"/>
              </p:cNvSpPr>
              <p:nvPr/>
            </p:nvSpPr>
            <p:spPr bwMode="auto">
              <a:xfrm>
                <a:off x="2975" y="1470"/>
                <a:ext cx="0" cy="211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39" name="Line 10"/>
              <p:cNvSpPr>
                <a:spLocks noChangeShapeType="1"/>
              </p:cNvSpPr>
              <p:nvPr/>
            </p:nvSpPr>
            <p:spPr bwMode="auto">
              <a:xfrm>
                <a:off x="3582" y="1470"/>
                <a:ext cx="0" cy="211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40" name="Line 11"/>
              <p:cNvSpPr>
                <a:spLocks noChangeShapeType="1"/>
              </p:cNvSpPr>
              <p:nvPr/>
            </p:nvSpPr>
            <p:spPr bwMode="auto">
              <a:xfrm>
                <a:off x="4241" y="1470"/>
                <a:ext cx="0" cy="2059"/>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41" name="Line 12"/>
              <p:cNvSpPr>
                <a:spLocks noChangeShapeType="1"/>
              </p:cNvSpPr>
              <p:nvPr/>
            </p:nvSpPr>
            <p:spPr bwMode="auto">
              <a:xfrm>
                <a:off x="4949" y="1470"/>
                <a:ext cx="0" cy="211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pic>
          <p:nvPicPr>
            <p:cNvPr id="52231" name="Picture 13" descr="45567328613980877918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 y="2608"/>
              <a:ext cx="375"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2232" name="Picture 14" descr="69311762413980877918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1" y="2041"/>
              <a:ext cx="391"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2233" name="Picture 15" descr="57115022713980877918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61" y="3087"/>
              <a:ext cx="403"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24013"/>
            <a:ext cx="7848600" cy="1938337"/>
          </a:xfrm>
        </p:spPr>
        <p:txBody>
          <a:bodyPr/>
          <a:lstStyle/>
          <a:p>
            <a:pPr eaLnBrk="1" hangingPunct="1">
              <a:lnSpc>
                <a:spcPct val="120000"/>
              </a:lnSpc>
              <a:buFont typeface="Wingdings" panose="05000000000000000000" pitchFamily="2" charset="2"/>
              <a:buChar char="p"/>
            </a:pPr>
            <a:r>
              <a:rPr lang="zh-CN" altLang="en-US" sz="2400" dirty="0">
                <a:latin typeface="Times New Roman" panose="02020603050405020304" pitchFamily="18" charset="0"/>
              </a:rPr>
              <a:t>例如，在最短路线问题中，若找到了</a:t>
            </a:r>
            <a:r>
              <a:rPr lang="en-US" altLang="zh-CN" sz="2400" dirty="0">
                <a:latin typeface="Times New Roman" panose="02020603050405020304" pitchFamily="18" charset="0"/>
              </a:rPr>
              <a:t>A→B1→C2→D1→E2→F2→G</a:t>
            </a:r>
            <a:r>
              <a:rPr lang="zh-CN" altLang="en-US" sz="2400" dirty="0">
                <a:latin typeface="Times New Roman" panose="02020603050405020304" pitchFamily="18" charset="0"/>
              </a:rPr>
              <a:t>（</a:t>
            </a:r>
            <a:r>
              <a:rPr lang="zh-CN" altLang="en-US" sz="2400" dirty="0">
                <a:solidFill>
                  <a:srgbClr val="FF0000"/>
                </a:solidFill>
                <a:latin typeface="Times New Roman" panose="02020603050405020304" pitchFamily="18" charset="0"/>
              </a:rPr>
              <a:t>见红色箭头</a:t>
            </a:r>
            <a:r>
              <a:rPr lang="zh-CN" altLang="en-US" sz="2400" dirty="0">
                <a:latin typeface="Times New Roman" panose="02020603050405020304" pitchFamily="18" charset="0"/>
              </a:rPr>
              <a:t>）是由</a:t>
            </a:r>
            <a:r>
              <a:rPr lang="en-US" altLang="zh-CN" sz="2400" dirty="0">
                <a:latin typeface="Times New Roman" panose="02020603050405020304" pitchFamily="18" charset="0"/>
              </a:rPr>
              <a:t>A</a:t>
            </a:r>
            <a:r>
              <a:rPr lang="zh-CN" altLang="en-US" sz="2400" dirty="0">
                <a:latin typeface="Times New Roman" panose="02020603050405020304" pitchFamily="18" charset="0"/>
              </a:rPr>
              <a:t>到</a:t>
            </a:r>
            <a:r>
              <a:rPr lang="en-US" altLang="zh-CN" sz="2400" dirty="0">
                <a:latin typeface="Times New Roman" panose="02020603050405020304" pitchFamily="18" charset="0"/>
              </a:rPr>
              <a:t>G</a:t>
            </a:r>
            <a:r>
              <a:rPr lang="zh-CN" altLang="en-US" sz="2400" dirty="0">
                <a:latin typeface="Times New Roman" panose="02020603050405020304" pitchFamily="18" charset="0"/>
              </a:rPr>
              <a:t>的最短路线，则</a:t>
            </a:r>
            <a:r>
              <a:rPr lang="en-US" altLang="zh-CN" sz="2400" dirty="0">
                <a:latin typeface="Times New Roman" panose="02020603050405020304" pitchFamily="18" charset="0"/>
              </a:rPr>
              <a:t>D1→E2→F2→G</a:t>
            </a:r>
            <a:r>
              <a:rPr lang="zh-CN" altLang="en-US" sz="2400" dirty="0">
                <a:latin typeface="Times New Roman" panose="02020603050405020304" pitchFamily="18" charset="0"/>
              </a:rPr>
              <a:t>应该是由</a:t>
            </a:r>
            <a:r>
              <a:rPr lang="en-US" altLang="zh-CN" sz="2400" dirty="0">
                <a:latin typeface="Times New Roman" panose="02020603050405020304" pitchFamily="18" charset="0"/>
              </a:rPr>
              <a:t>D1</a:t>
            </a:r>
            <a:r>
              <a:rPr lang="zh-CN" altLang="en-US" sz="2400" dirty="0">
                <a:latin typeface="Times New Roman" panose="02020603050405020304" pitchFamily="18" charset="0"/>
              </a:rPr>
              <a:t>出发到</a:t>
            </a:r>
            <a:r>
              <a:rPr lang="en-US" altLang="zh-CN" sz="2400" dirty="0">
                <a:latin typeface="Times New Roman" panose="02020603050405020304" pitchFamily="18" charset="0"/>
              </a:rPr>
              <a:t>G</a:t>
            </a:r>
            <a:r>
              <a:rPr lang="zh-CN" altLang="en-US" sz="2400" dirty="0">
                <a:latin typeface="Times New Roman" panose="02020603050405020304" pitchFamily="18" charset="0"/>
              </a:rPr>
              <a:t>点的所有可能选择的不同路线中的最短路线。</a:t>
            </a:r>
          </a:p>
        </p:txBody>
      </p:sp>
      <p:sp>
        <p:nvSpPr>
          <p:cNvPr id="53251"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E4876F8-EE5E-4EBB-9CF1-9DA275A9835A}" type="slidenum">
              <a:rPr lang="zh-CN" altLang="zh-CN" sz="1400">
                <a:latin typeface="Arial" panose="020B0604020202020204" pitchFamily="34" charset="0"/>
              </a:rPr>
              <a:pPr>
                <a:spcBef>
                  <a:spcPct val="0"/>
                </a:spcBef>
                <a:buClr>
                  <a:srgbClr val="000000"/>
                </a:buClr>
                <a:buFontTx/>
                <a:buNone/>
              </a:pPr>
              <a:t>36</a:t>
            </a:fld>
            <a:endParaRPr lang="en-US" altLang="zh-CN" sz="1400">
              <a:latin typeface="Arial" panose="020B0604020202020204" pitchFamily="34" charset="0"/>
            </a:endParaRPr>
          </a:p>
        </p:txBody>
      </p:sp>
      <p:grpSp>
        <p:nvGrpSpPr>
          <p:cNvPr id="53252" name="组合 19"/>
          <p:cNvGrpSpPr>
            <a:grpSpLocks/>
          </p:cNvGrpSpPr>
          <p:nvPr/>
        </p:nvGrpSpPr>
        <p:grpSpPr bwMode="auto">
          <a:xfrm>
            <a:off x="1371600" y="3517900"/>
            <a:ext cx="6565900" cy="2959100"/>
            <a:chOff x="228600" y="1066800"/>
            <a:chExt cx="8686800" cy="3962400"/>
          </a:xfrm>
        </p:grpSpPr>
        <p:sp>
          <p:nvSpPr>
            <p:cNvPr id="53254" name="Oval 3"/>
            <p:cNvSpPr>
              <a:spLocks noChangeArrowheads="1"/>
            </p:cNvSpPr>
            <p:nvPr/>
          </p:nvSpPr>
          <p:spPr bwMode="auto">
            <a:xfrm>
              <a:off x="2286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A</a:t>
              </a:r>
            </a:p>
          </p:txBody>
        </p:sp>
        <p:sp>
          <p:nvSpPr>
            <p:cNvPr id="53255" name="Oval 4"/>
            <p:cNvSpPr>
              <a:spLocks noChangeArrowheads="1"/>
            </p:cNvSpPr>
            <p:nvPr/>
          </p:nvSpPr>
          <p:spPr bwMode="auto">
            <a:xfrm>
              <a:off x="1295400" y="1828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B</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3256" name="Oval 5"/>
            <p:cNvSpPr>
              <a:spLocks noChangeArrowheads="1"/>
            </p:cNvSpPr>
            <p:nvPr/>
          </p:nvSpPr>
          <p:spPr bwMode="auto">
            <a:xfrm>
              <a:off x="1371600" y="3352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B</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3257" name="Oval 6"/>
            <p:cNvSpPr>
              <a:spLocks noChangeArrowheads="1"/>
            </p:cNvSpPr>
            <p:nvPr/>
          </p:nvSpPr>
          <p:spPr bwMode="auto">
            <a:xfrm>
              <a:off x="2895600" y="1066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3258" name="Oval 7"/>
            <p:cNvSpPr>
              <a:spLocks noChangeArrowheads="1"/>
            </p:cNvSpPr>
            <p:nvPr/>
          </p:nvSpPr>
          <p:spPr bwMode="auto">
            <a:xfrm>
              <a:off x="2819400" y="2133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2</a:t>
              </a:r>
            </a:p>
          </p:txBody>
        </p:sp>
        <p:sp>
          <p:nvSpPr>
            <p:cNvPr id="53259" name="Oval 8"/>
            <p:cNvSpPr>
              <a:spLocks noChangeArrowheads="1"/>
            </p:cNvSpPr>
            <p:nvPr/>
          </p:nvSpPr>
          <p:spPr bwMode="auto">
            <a:xfrm>
              <a:off x="2819400" y="3429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3</a:t>
              </a:r>
              <a:endParaRPr lang="en-US" altLang="zh-CN" sz="1600">
                <a:latin typeface="Arial" panose="020B0604020202020204" pitchFamily="34" charset="0"/>
              </a:endParaRPr>
            </a:p>
          </p:txBody>
        </p:sp>
        <p:sp>
          <p:nvSpPr>
            <p:cNvPr id="53260" name="Oval 9"/>
            <p:cNvSpPr>
              <a:spLocks noChangeArrowheads="1"/>
            </p:cNvSpPr>
            <p:nvPr/>
          </p:nvSpPr>
          <p:spPr bwMode="auto">
            <a:xfrm>
              <a:off x="2819400" y="4572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4</a:t>
              </a:r>
              <a:endParaRPr lang="en-US" altLang="zh-CN" sz="1600">
                <a:latin typeface="Arial" panose="020B0604020202020204" pitchFamily="34" charset="0"/>
              </a:endParaRPr>
            </a:p>
          </p:txBody>
        </p:sp>
        <p:sp>
          <p:nvSpPr>
            <p:cNvPr id="53261" name="Oval 10"/>
            <p:cNvSpPr>
              <a:spLocks noChangeArrowheads="1"/>
            </p:cNvSpPr>
            <p:nvPr/>
          </p:nvSpPr>
          <p:spPr bwMode="auto">
            <a:xfrm>
              <a:off x="4419600" y="1600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D</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3262" name="Oval 11"/>
            <p:cNvSpPr>
              <a:spLocks noChangeArrowheads="1"/>
            </p:cNvSpPr>
            <p:nvPr/>
          </p:nvSpPr>
          <p:spPr bwMode="auto">
            <a:xfrm>
              <a:off x="44196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D</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3263" name="Oval 12"/>
            <p:cNvSpPr>
              <a:spLocks noChangeArrowheads="1"/>
            </p:cNvSpPr>
            <p:nvPr/>
          </p:nvSpPr>
          <p:spPr bwMode="auto">
            <a:xfrm>
              <a:off x="4419600" y="39624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D</a:t>
              </a:r>
              <a:r>
                <a:rPr lang="en-US" altLang="zh-CN" sz="1600" baseline="-25000">
                  <a:latin typeface="Arial" panose="020B0604020202020204" pitchFamily="34" charset="0"/>
                </a:rPr>
                <a:t>3</a:t>
              </a:r>
              <a:endParaRPr lang="en-US" altLang="zh-CN" sz="1600">
                <a:latin typeface="Arial" panose="020B0604020202020204" pitchFamily="34" charset="0"/>
              </a:endParaRPr>
            </a:p>
          </p:txBody>
        </p:sp>
        <p:sp>
          <p:nvSpPr>
            <p:cNvPr id="53264" name="Oval 13"/>
            <p:cNvSpPr>
              <a:spLocks noChangeArrowheads="1"/>
            </p:cNvSpPr>
            <p:nvPr/>
          </p:nvSpPr>
          <p:spPr bwMode="auto">
            <a:xfrm>
              <a:off x="6019800" y="1600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E</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3265" name="Oval 14"/>
            <p:cNvSpPr>
              <a:spLocks noChangeArrowheads="1"/>
            </p:cNvSpPr>
            <p:nvPr/>
          </p:nvSpPr>
          <p:spPr bwMode="auto">
            <a:xfrm>
              <a:off x="60198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E</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3266" name="Oval 15"/>
            <p:cNvSpPr>
              <a:spLocks noChangeArrowheads="1"/>
            </p:cNvSpPr>
            <p:nvPr/>
          </p:nvSpPr>
          <p:spPr bwMode="auto">
            <a:xfrm>
              <a:off x="6096000" y="4038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E</a:t>
              </a:r>
              <a:r>
                <a:rPr lang="en-US" altLang="zh-CN" sz="1600" baseline="-25000">
                  <a:latin typeface="Arial" panose="020B0604020202020204" pitchFamily="34" charset="0"/>
                </a:rPr>
                <a:t>3</a:t>
              </a:r>
              <a:endParaRPr lang="en-US" altLang="zh-CN" sz="1600">
                <a:latin typeface="Arial" panose="020B0604020202020204" pitchFamily="34" charset="0"/>
              </a:endParaRPr>
            </a:p>
          </p:txBody>
        </p:sp>
        <p:sp>
          <p:nvSpPr>
            <p:cNvPr id="53267" name="Oval 16"/>
            <p:cNvSpPr>
              <a:spLocks noChangeArrowheads="1"/>
            </p:cNvSpPr>
            <p:nvPr/>
          </p:nvSpPr>
          <p:spPr bwMode="auto">
            <a:xfrm>
              <a:off x="7391400" y="2133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F</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3268" name="Oval 17"/>
            <p:cNvSpPr>
              <a:spLocks noChangeArrowheads="1"/>
            </p:cNvSpPr>
            <p:nvPr/>
          </p:nvSpPr>
          <p:spPr bwMode="auto">
            <a:xfrm>
              <a:off x="7391400" y="35814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F</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3269" name="Oval 18"/>
            <p:cNvSpPr>
              <a:spLocks noChangeArrowheads="1"/>
            </p:cNvSpPr>
            <p:nvPr/>
          </p:nvSpPr>
          <p:spPr bwMode="auto">
            <a:xfrm>
              <a:off x="84582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G</a:t>
              </a:r>
            </a:p>
          </p:txBody>
        </p:sp>
        <p:sp>
          <p:nvSpPr>
            <p:cNvPr id="53270" name="Line 21"/>
            <p:cNvSpPr>
              <a:spLocks noChangeShapeType="1"/>
            </p:cNvSpPr>
            <p:nvPr/>
          </p:nvSpPr>
          <p:spPr bwMode="auto">
            <a:xfrm flipV="1">
              <a:off x="609600" y="2209800"/>
              <a:ext cx="7620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1" name="Line 22"/>
            <p:cNvSpPr>
              <a:spLocks noChangeShapeType="1"/>
            </p:cNvSpPr>
            <p:nvPr/>
          </p:nvSpPr>
          <p:spPr bwMode="auto">
            <a:xfrm>
              <a:off x="609600" y="3124200"/>
              <a:ext cx="762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2" name="Line 23"/>
            <p:cNvSpPr>
              <a:spLocks noChangeShapeType="1"/>
            </p:cNvSpPr>
            <p:nvPr/>
          </p:nvSpPr>
          <p:spPr bwMode="auto">
            <a:xfrm flipV="1">
              <a:off x="1676400" y="1371600"/>
              <a:ext cx="12192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3" name="Line 24"/>
            <p:cNvSpPr>
              <a:spLocks noChangeShapeType="1"/>
            </p:cNvSpPr>
            <p:nvPr/>
          </p:nvSpPr>
          <p:spPr bwMode="auto">
            <a:xfrm>
              <a:off x="1752600" y="2057400"/>
              <a:ext cx="10668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4" name="Line 25"/>
            <p:cNvSpPr>
              <a:spLocks noChangeShapeType="1"/>
            </p:cNvSpPr>
            <p:nvPr/>
          </p:nvSpPr>
          <p:spPr bwMode="auto">
            <a:xfrm>
              <a:off x="1676400" y="2286000"/>
              <a:ext cx="1219200" cy="1219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5" name="Line 26"/>
            <p:cNvSpPr>
              <a:spLocks noChangeShapeType="1"/>
            </p:cNvSpPr>
            <p:nvPr/>
          </p:nvSpPr>
          <p:spPr bwMode="auto">
            <a:xfrm flipV="1">
              <a:off x="1752600" y="2438400"/>
              <a:ext cx="10668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6" name="Line 27"/>
            <p:cNvSpPr>
              <a:spLocks noChangeShapeType="1"/>
            </p:cNvSpPr>
            <p:nvPr/>
          </p:nvSpPr>
          <p:spPr bwMode="auto">
            <a:xfrm>
              <a:off x="1828800" y="3657600"/>
              <a:ext cx="990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7" name="Line 28"/>
            <p:cNvSpPr>
              <a:spLocks noChangeShapeType="1"/>
            </p:cNvSpPr>
            <p:nvPr/>
          </p:nvSpPr>
          <p:spPr bwMode="auto">
            <a:xfrm>
              <a:off x="1752600" y="3733800"/>
              <a:ext cx="1143000" cy="914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8" name="Line 29"/>
            <p:cNvSpPr>
              <a:spLocks noChangeShapeType="1"/>
            </p:cNvSpPr>
            <p:nvPr/>
          </p:nvSpPr>
          <p:spPr bwMode="auto">
            <a:xfrm>
              <a:off x="3352800" y="1371600"/>
              <a:ext cx="10668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9" name="Line 30"/>
            <p:cNvSpPr>
              <a:spLocks noChangeShapeType="1"/>
            </p:cNvSpPr>
            <p:nvPr/>
          </p:nvSpPr>
          <p:spPr bwMode="auto">
            <a:xfrm>
              <a:off x="3276600" y="1524000"/>
              <a:ext cx="1219200" cy="1295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0" name="Line 31"/>
            <p:cNvSpPr>
              <a:spLocks noChangeShapeType="1"/>
            </p:cNvSpPr>
            <p:nvPr/>
          </p:nvSpPr>
          <p:spPr bwMode="auto">
            <a:xfrm flipV="1">
              <a:off x="3276600" y="1905000"/>
              <a:ext cx="11430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1" name="Line 32"/>
            <p:cNvSpPr>
              <a:spLocks noChangeShapeType="1"/>
            </p:cNvSpPr>
            <p:nvPr/>
          </p:nvSpPr>
          <p:spPr bwMode="auto">
            <a:xfrm>
              <a:off x="3276600" y="2514600"/>
              <a:ext cx="11430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2" name="Line 33"/>
            <p:cNvSpPr>
              <a:spLocks noChangeShapeType="1"/>
            </p:cNvSpPr>
            <p:nvPr/>
          </p:nvSpPr>
          <p:spPr bwMode="auto">
            <a:xfrm flipV="1">
              <a:off x="3276600" y="3048000"/>
              <a:ext cx="11430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3" name="Line 34"/>
            <p:cNvSpPr>
              <a:spLocks noChangeShapeType="1"/>
            </p:cNvSpPr>
            <p:nvPr/>
          </p:nvSpPr>
          <p:spPr bwMode="auto">
            <a:xfrm>
              <a:off x="3276600" y="3810000"/>
              <a:ext cx="1143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4" name="Line 35"/>
            <p:cNvSpPr>
              <a:spLocks noChangeShapeType="1"/>
            </p:cNvSpPr>
            <p:nvPr/>
          </p:nvSpPr>
          <p:spPr bwMode="auto">
            <a:xfrm flipV="1">
              <a:off x="3276600" y="4343400"/>
              <a:ext cx="12192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5" name="Line 36"/>
            <p:cNvSpPr>
              <a:spLocks noChangeShapeType="1"/>
            </p:cNvSpPr>
            <p:nvPr/>
          </p:nvSpPr>
          <p:spPr bwMode="auto">
            <a:xfrm flipV="1">
              <a:off x="3276600" y="3124200"/>
              <a:ext cx="129540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6" name="Line 37"/>
            <p:cNvSpPr>
              <a:spLocks noChangeShapeType="1"/>
            </p:cNvSpPr>
            <p:nvPr/>
          </p:nvSpPr>
          <p:spPr bwMode="auto">
            <a:xfrm>
              <a:off x="4876800" y="1828800"/>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7" name="Line 38"/>
            <p:cNvSpPr>
              <a:spLocks noChangeShapeType="1"/>
            </p:cNvSpPr>
            <p:nvPr/>
          </p:nvSpPr>
          <p:spPr bwMode="auto">
            <a:xfrm>
              <a:off x="4876800" y="1981200"/>
              <a:ext cx="1219200" cy="914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8" name="Line 40"/>
            <p:cNvSpPr>
              <a:spLocks noChangeShapeType="1"/>
            </p:cNvSpPr>
            <p:nvPr/>
          </p:nvSpPr>
          <p:spPr bwMode="auto">
            <a:xfrm>
              <a:off x="4876800" y="3048000"/>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9" name="Line 42"/>
            <p:cNvSpPr>
              <a:spLocks noChangeShapeType="1"/>
            </p:cNvSpPr>
            <p:nvPr/>
          </p:nvSpPr>
          <p:spPr bwMode="auto">
            <a:xfrm>
              <a:off x="4800600" y="3124200"/>
              <a:ext cx="12954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0" name="Line 43"/>
            <p:cNvSpPr>
              <a:spLocks noChangeShapeType="1"/>
            </p:cNvSpPr>
            <p:nvPr/>
          </p:nvSpPr>
          <p:spPr bwMode="auto">
            <a:xfrm flipV="1">
              <a:off x="4876800" y="3124200"/>
              <a:ext cx="12192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1" name="Line 44"/>
            <p:cNvSpPr>
              <a:spLocks noChangeShapeType="1"/>
            </p:cNvSpPr>
            <p:nvPr/>
          </p:nvSpPr>
          <p:spPr bwMode="auto">
            <a:xfrm>
              <a:off x="4876800" y="4267200"/>
              <a:ext cx="1219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2" name="Line 45"/>
            <p:cNvSpPr>
              <a:spLocks noChangeShapeType="1"/>
            </p:cNvSpPr>
            <p:nvPr/>
          </p:nvSpPr>
          <p:spPr bwMode="auto">
            <a:xfrm>
              <a:off x="6477000" y="1905000"/>
              <a:ext cx="9906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3" name="Line 46"/>
            <p:cNvSpPr>
              <a:spLocks noChangeShapeType="1"/>
            </p:cNvSpPr>
            <p:nvPr/>
          </p:nvSpPr>
          <p:spPr bwMode="auto">
            <a:xfrm flipV="1">
              <a:off x="6477000" y="2438400"/>
              <a:ext cx="9144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4" name="Line 47"/>
            <p:cNvSpPr>
              <a:spLocks noChangeShapeType="1"/>
            </p:cNvSpPr>
            <p:nvPr/>
          </p:nvSpPr>
          <p:spPr bwMode="auto">
            <a:xfrm>
              <a:off x="6477000" y="1981200"/>
              <a:ext cx="106680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5" name="Line 48"/>
            <p:cNvSpPr>
              <a:spLocks noChangeShapeType="1"/>
            </p:cNvSpPr>
            <p:nvPr/>
          </p:nvSpPr>
          <p:spPr bwMode="auto">
            <a:xfrm>
              <a:off x="6477000" y="3048000"/>
              <a:ext cx="9906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6" name="Line 49"/>
            <p:cNvSpPr>
              <a:spLocks noChangeShapeType="1"/>
            </p:cNvSpPr>
            <p:nvPr/>
          </p:nvSpPr>
          <p:spPr bwMode="auto">
            <a:xfrm flipV="1">
              <a:off x="6553200" y="2590800"/>
              <a:ext cx="990600" cy="1524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7" name="Line 50"/>
            <p:cNvSpPr>
              <a:spLocks noChangeShapeType="1"/>
            </p:cNvSpPr>
            <p:nvPr/>
          </p:nvSpPr>
          <p:spPr bwMode="auto">
            <a:xfrm flipV="1">
              <a:off x="6553200" y="3962400"/>
              <a:ext cx="9144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8" name="Line 51"/>
            <p:cNvSpPr>
              <a:spLocks noChangeShapeType="1"/>
            </p:cNvSpPr>
            <p:nvPr/>
          </p:nvSpPr>
          <p:spPr bwMode="auto">
            <a:xfrm>
              <a:off x="7848600" y="2438400"/>
              <a:ext cx="6858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9" name="Line 52"/>
            <p:cNvSpPr>
              <a:spLocks noChangeShapeType="1"/>
            </p:cNvSpPr>
            <p:nvPr/>
          </p:nvSpPr>
          <p:spPr bwMode="auto">
            <a:xfrm flipV="1">
              <a:off x="7848600" y="3124200"/>
              <a:ext cx="6858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0" name="Text Box 53"/>
            <p:cNvSpPr txBox="1">
              <a:spLocks noChangeArrowheads="1"/>
            </p:cNvSpPr>
            <p:nvPr/>
          </p:nvSpPr>
          <p:spPr bwMode="auto">
            <a:xfrm>
              <a:off x="685800" y="2133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3301" name="Text Box 54"/>
            <p:cNvSpPr txBox="1">
              <a:spLocks noChangeArrowheads="1"/>
            </p:cNvSpPr>
            <p:nvPr/>
          </p:nvSpPr>
          <p:spPr bwMode="auto">
            <a:xfrm>
              <a:off x="685800" y="3276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02" name="Text Box 55"/>
            <p:cNvSpPr txBox="1">
              <a:spLocks noChangeArrowheads="1"/>
            </p:cNvSpPr>
            <p:nvPr/>
          </p:nvSpPr>
          <p:spPr bwMode="auto">
            <a:xfrm>
              <a:off x="1828800" y="1371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1</a:t>
              </a:r>
            </a:p>
          </p:txBody>
        </p:sp>
        <p:sp>
          <p:nvSpPr>
            <p:cNvPr id="53303" name="Text Box 56"/>
            <p:cNvSpPr txBox="1">
              <a:spLocks noChangeArrowheads="1"/>
            </p:cNvSpPr>
            <p:nvPr/>
          </p:nvSpPr>
          <p:spPr bwMode="auto">
            <a:xfrm>
              <a:off x="2209800" y="1828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04" name="Text Box 57"/>
            <p:cNvSpPr txBox="1">
              <a:spLocks noChangeArrowheads="1"/>
            </p:cNvSpPr>
            <p:nvPr/>
          </p:nvSpPr>
          <p:spPr bwMode="auto">
            <a:xfrm>
              <a:off x="1905001" y="22098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3305" name="Text Box 58"/>
            <p:cNvSpPr txBox="1">
              <a:spLocks noChangeArrowheads="1"/>
            </p:cNvSpPr>
            <p:nvPr/>
          </p:nvSpPr>
          <p:spPr bwMode="auto">
            <a:xfrm>
              <a:off x="1752600" y="2819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8</a:t>
              </a:r>
            </a:p>
          </p:txBody>
        </p:sp>
        <p:sp>
          <p:nvSpPr>
            <p:cNvPr id="53306" name="Text Box 59"/>
            <p:cNvSpPr txBox="1">
              <a:spLocks noChangeArrowheads="1"/>
            </p:cNvSpPr>
            <p:nvPr/>
          </p:nvSpPr>
          <p:spPr bwMode="auto">
            <a:xfrm>
              <a:off x="1981200" y="3276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7</a:t>
              </a:r>
            </a:p>
          </p:txBody>
        </p:sp>
        <p:sp>
          <p:nvSpPr>
            <p:cNvPr id="53307" name="Text Box 60"/>
            <p:cNvSpPr txBox="1">
              <a:spLocks noChangeArrowheads="1"/>
            </p:cNvSpPr>
            <p:nvPr/>
          </p:nvSpPr>
          <p:spPr bwMode="auto">
            <a:xfrm>
              <a:off x="2209800" y="3733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3308" name="Text Box 61"/>
            <p:cNvSpPr txBox="1">
              <a:spLocks noChangeArrowheads="1"/>
            </p:cNvSpPr>
            <p:nvPr/>
          </p:nvSpPr>
          <p:spPr bwMode="auto">
            <a:xfrm>
              <a:off x="3276601" y="19049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09" name="Text Box 62"/>
            <p:cNvSpPr txBox="1">
              <a:spLocks noChangeArrowheads="1"/>
            </p:cNvSpPr>
            <p:nvPr/>
          </p:nvSpPr>
          <p:spPr bwMode="auto">
            <a:xfrm>
              <a:off x="3657600" y="1066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3310" name="Text Box 63"/>
            <p:cNvSpPr txBox="1">
              <a:spLocks noChangeArrowheads="1"/>
            </p:cNvSpPr>
            <p:nvPr/>
          </p:nvSpPr>
          <p:spPr bwMode="auto">
            <a:xfrm>
              <a:off x="3581400" y="16001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8</a:t>
              </a:r>
            </a:p>
          </p:txBody>
        </p:sp>
        <p:sp>
          <p:nvSpPr>
            <p:cNvPr id="53311" name="Text Box 64"/>
            <p:cNvSpPr txBox="1">
              <a:spLocks noChangeArrowheads="1"/>
            </p:cNvSpPr>
            <p:nvPr/>
          </p:nvSpPr>
          <p:spPr bwMode="auto">
            <a:xfrm>
              <a:off x="3581400" y="22098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3312" name="Text Box 65"/>
            <p:cNvSpPr txBox="1">
              <a:spLocks noChangeArrowheads="1"/>
            </p:cNvSpPr>
            <p:nvPr/>
          </p:nvSpPr>
          <p:spPr bwMode="auto">
            <a:xfrm>
              <a:off x="3352800" y="2971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13" name="Text Box 66"/>
            <p:cNvSpPr txBox="1">
              <a:spLocks noChangeArrowheads="1"/>
            </p:cNvSpPr>
            <p:nvPr/>
          </p:nvSpPr>
          <p:spPr bwMode="auto">
            <a:xfrm>
              <a:off x="3505199" y="35052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14" name="Text Box 67"/>
            <p:cNvSpPr txBox="1">
              <a:spLocks noChangeArrowheads="1"/>
            </p:cNvSpPr>
            <p:nvPr/>
          </p:nvSpPr>
          <p:spPr bwMode="auto">
            <a:xfrm>
              <a:off x="3276601" y="4114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8</a:t>
              </a:r>
            </a:p>
          </p:txBody>
        </p:sp>
        <p:sp>
          <p:nvSpPr>
            <p:cNvPr id="53315" name="Text Box 68"/>
            <p:cNvSpPr txBox="1">
              <a:spLocks noChangeArrowheads="1"/>
            </p:cNvSpPr>
            <p:nvPr/>
          </p:nvSpPr>
          <p:spPr bwMode="auto">
            <a:xfrm>
              <a:off x="3733800" y="41910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4</a:t>
              </a:r>
            </a:p>
          </p:txBody>
        </p:sp>
        <p:sp>
          <p:nvSpPr>
            <p:cNvPr id="53316" name="Text Box 69"/>
            <p:cNvSpPr txBox="1">
              <a:spLocks noChangeArrowheads="1"/>
            </p:cNvSpPr>
            <p:nvPr/>
          </p:nvSpPr>
          <p:spPr bwMode="auto">
            <a:xfrm>
              <a:off x="5257801" y="1371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3317" name="Text Box 70"/>
            <p:cNvSpPr txBox="1">
              <a:spLocks noChangeArrowheads="1"/>
            </p:cNvSpPr>
            <p:nvPr/>
          </p:nvSpPr>
          <p:spPr bwMode="auto">
            <a:xfrm>
              <a:off x="5410200" y="2057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3318" name="Text Box 71"/>
            <p:cNvSpPr txBox="1">
              <a:spLocks noChangeArrowheads="1"/>
            </p:cNvSpPr>
            <p:nvPr/>
          </p:nvSpPr>
          <p:spPr bwMode="auto">
            <a:xfrm>
              <a:off x="5181600" y="30480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3319" name="Text Box 72"/>
            <p:cNvSpPr txBox="1">
              <a:spLocks noChangeArrowheads="1"/>
            </p:cNvSpPr>
            <p:nvPr/>
          </p:nvSpPr>
          <p:spPr bwMode="auto">
            <a:xfrm>
              <a:off x="5029200" y="26670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1</a:t>
              </a:r>
            </a:p>
          </p:txBody>
        </p:sp>
        <p:sp>
          <p:nvSpPr>
            <p:cNvPr id="53320" name="Text Box 73"/>
            <p:cNvSpPr txBox="1">
              <a:spLocks noChangeArrowheads="1"/>
            </p:cNvSpPr>
            <p:nvPr/>
          </p:nvSpPr>
          <p:spPr bwMode="auto">
            <a:xfrm>
              <a:off x="4876799" y="35813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21" name="Text Box 74"/>
            <p:cNvSpPr txBox="1">
              <a:spLocks noChangeArrowheads="1"/>
            </p:cNvSpPr>
            <p:nvPr/>
          </p:nvSpPr>
          <p:spPr bwMode="auto">
            <a:xfrm>
              <a:off x="7924800" y="31242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22" name="Text Box 75"/>
            <p:cNvSpPr txBox="1">
              <a:spLocks noChangeArrowheads="1"/>
            </p:cNvSpPr>
            <p:nvPr/>
          </p:nvSpPr>
          <p:spPr bwMode="auto">
            <a:xfrm>
              <a:off x="6857999" y="1676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3323" name="Text Box 76"/>
            <p:cNvSpPr txBox="1">
              <a:spLocks noChangeArrowheads="1"/>
            </p:cNvSpPr>
            <p:nvPr/>
          </p:nvSpPr>
          <p:spPr bwMode="auto">
            <a:xfrm>
              <a:off x="6781800" y="2133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3324" name="Text Box 77"/>
            <p:cNvSpPr txBox="1">
              <a:spLocks noChangeArrowheads="1"/>
            </p:cNvSpPr>
            <p:nvPr/>
          </p:nvSpPr>
          <p:spPr bwMode="auto">
            <a:xfrm>
              <a:off x="6705600" y="28955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3325" name="Text Box 78"/>
            <p:cNvSpPr txBox="1">
              <a:spLocks noChangeArrowheads="1"/>
            </p:cNvSpPr>
            <p:nvPr/>
          </p:nvSpPr>
          <p:spPr bwMode="auto">
            <a:xfrm>
              <a:off x="6477000" y="2438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3326" name="Text Box 79"/>
            <p:cNvSpPr txBox="1">
              <a:spLocks noChangeArrowheads="1"/>
            </p:cNvSpPr>
            <p:nvPr/>
          </p:nvSpPr>
          <p:spPr bwMode="auto">
            <a:xfrm>
              <a:off x="6477000" y="35052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3327" name="Text Box 80"/>
            <p:cNvSpPr txBox="1">
              <a:spLocks noChangeArrowheads="1"/>
            </p:cNvSpPr>
            <p:nvPr/>
          </p:nvSpPr>
          <p:spPr bwMode="auto">
            <a:xfrm>
              <a:off x="6781800" y="38100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3328" name="Text Box 81"/>
            <p:cNvSpPr txBox="1">
              <a:spLocks noChangeArrowheads="1"/>
            </p:cNvSpPr>
            <p:nvPr/>
          </p:nvSpPr>
          <p:spPr bwMode="auto">
            <a:xfrm>
              <a:off x="8077200" y="22098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4</a:t>
              </a:r>
            </a:p>
          </p:txBody>
        </p:sp>
        <p:sp>
          <p:nvSpPr>
            <p:cNvPr id="53329" name="Line 83"/>
            <p:cNvSpPr>
              <a:spLocks noChangeShapeType="1"/>
            </p:cNvSpPr>
            <p:nvPr/>
          </p:nvSpPr>
          <p:spPr bwMode="auto">
            <a:xfrm flipV="1">
              <a:off x="609600" y="2209800"/>
              <a:ext cx="7620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0" name="Line 84"/>
            <p:cNvSpPr>
              <a:spLocks noChangeShapeType="1"/>
            </p:cNvSpPr>
            <p:nvPr/>
          </p:nvSpPr>
          <p:spPr bwMode="auto">
            <a:xfrm>
              <a:off x="1752600" y="2057400"/>
              <a:ext cx="1066800" cy="3048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1" name="Line 85"/>
            <p:cNvSpPr>
              <a:spLocks noChangeShapeType="1"/>
            </p:cNvSpPr>
            <p:nvPr/>
          </p:nvSpPr>
          <p:spPr bwMode="auto">
            <a:xfrm flipV="1">
              <a:off x="3276600" y="1905000"/>
              <a:ext cx="1143000" cy="457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2" name="Line 86"/>
            <p:cNvSpPr>
              <a:spLocks noChangeShapeType="1"/>
            </p:cNvSpPr>
            <p:nvPr/>
          </p:nvSpPr>
          <p:spPr bwMode="auto">
            <a:xfrm>
              <a:off x="4876800" y="1981200"/>
              <a:ext cx="1219200" cy="9144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3" name="Line 87"/>
            <p:cNvSpPr>
              <a:spLocks noChangeShapeType="1"/>
            </p:cNvSpPr>
            <p:nvPr/>
          </p:nvSpPr>
          <p:spPr bwMode="auto">
            <a:xfrm>
              <a:off x="6477000" y="3048000"/>
              <a:ext cx="9906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4" name="Line 88"/>
            <p:cNvSpPr>
              <a:spLocks noChangeShapeType="1"/>
            </p:cNvSpPr>
            <p:nvPr/>
          </p:nvSpPr>
          <p:spPr bwMode="auto">
            <a:xfrm flipV="1">
              <a:off x="7848600" y="3124200"/>
              <a:ext cx="6858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5" name="Line 90"/>
            <p:cNvSpPr>
              <a:spLocks noChangeShapeType="1"/>
            </p:cNvSpPr>
            <p:nvPr/>
          </p:nvSpPr>
          <p:spPr bwMode="auto">
            <a:xfrm>
              <a:off x="609600" y="3124200"/>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6" name="Text Box 92"/>
            <p:cNvSpPr txBox="1">
              <a:spLocks noChangeArrowheads="1"/>
            </p:cNvSpPr>
            <p:nvPr/>
          </p:nvSpPr>
          <p:spPr bwMode="auto">
            <a:xfrm>
              <a:off x="5105400" y="42672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grpSp>
      <p:sp>
        <p:nvSpPr>
          <p:cNvPr id="53253"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24013"/>
            <a:ext cx="7848600" cy="1663700"/>
          </a:xfrm>
        </p:spPr>
        <p:txBody>
          <a:bodyPr/>
          <a:lstStyle/>
          <a:p>
            <a:pPr algn="just" eaLnBrk="1" hangingPunct="1">
              <a:lnSpc>
                <a:spcPct val="120000"/>
              </a:lnSpc>
              <a:buFont typeface="Wingdings" panose="05000000000000000000" pitchFamily="2" charset="2"/>
              <a:buChar char="p"/>
              <a:defRPr/>
            </a:pPr>
            <a:r>
              <a:rPr lang="zh-CN" altLang="en-US" sz="2000" dirty="0">
                <a:latin typeface="+mn-ea"/>
              </a:rPr>
              <a:t>证明：（用反证法）如果不是这样，则从点</a:t>
            </a:r>
            <a:r>
              <a:rPr lang="en-US" altLang="zh-CN" sz="2000" dirty="0">
                <a:latin typeface="+mn-ea"/>
              </a:rPr>
              <a:t>P</a:t>
            </a:r>
            <a:r>
              <a:rPr lang="zh-CN" altLang="en-US" sz="2000" dirty="0">
                <a:latin typeface="+mn-ea"/>
              </a:rPr>
              <a:t>到</a:t>
            </a:r>
            <a:r>
              <a:rPr lang="en-US" altLang="zh-CN" sz="2000" dirty="0">
                <a:latin typeface="+mn-ea"/>
              </a:rPr>
              <a:t>G</a:t>
            </a:r>
            <a:r>
              <a:rPr lang="zh-CN" altLang="en-US" sz="2000" dirty="0">
                <a:latin typeface="+mn-ea"/>
              </a:rPr>
              <a:t>点有另一条距离更短的路线存在，把它和原来最短路线由</a:t>
            </a:r>
            <a:r>
              <a:rPr lang="en-US" altLang="zh-CN" sz="2000" dirty="0">
                <a:latin typeface="+mn-ea"/>
              </a:rPr>
              <a:t>A</a:t>
            </a:r>
            <a:r>
              <a:rPr lang="zh-CN" altLang="en-US" sz="2000" dirty="0">
                <a:latin typeface="+mn-ea"/>
              </a:rPr>
              <a:t>点到达</a:t>
            </a:r>
            <a:r>
              <a:rPr lang="en-US" altLang="zh-CN" sz="2000" dirty="0">
                <a:latin typeface="+mn-ea"/>
              </a:rPr>
              <a:t>P</a:t>
            </a:r>
            <a:r>
              <a:rPr lang="zh-CN" altLang="en-US" sz="2000" dirty="0">
                <a:latin typeface="+mn-ea"/>
              </a:rPr>
              <a:t>点的那部分连接起来，就会得到一条由</a:t>
            </a:r>
            <a:r>
              <a:rPr lang="en-US" altLang="zh-CN" sz="2000" dirty="0">
                <a:latin typeface="+mn-ea"/>
              </a:rPr>
              <a:t>A</a:t>
            </a:r>
            <a:r>
              <a:rPr lang="zh-CN" altLang="en-US" sz="2000" dirty="0">
                <a:latin typeface="+mn-ea"/>
              </a:rPr>
              <a:t>点到</a:t>
            </a:r>
            <a:r>
              <a:rPr lang="en-US" altLang="zh-CN" sz="2000" dirty="0">
                <a:latin typeface="+mn-ea"/>
              </a:rPr>
              <a:t>G</a:t>
            </a:r>
            <a:r>
              <a:rPr lang="zh-CN" altLang="en-US" sz="2000" dirty="0">
                <a:latin typeface="+mn-ea"/>
              </a:rPr>
              <a:t>点的新路线，它比原来那条最短路线的距离还要短些。这与假设矛盾，是不可能的。</a:t>
            </a:r>
          </a:p>
        </p:txBody>
      </p:sp>
      <p:sp>
        <p:nvSpPr>
          <p:cNvPr id="54275"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9529C909-3027-4239-8B6C-DC1F927A46E5}" type="slidenum">
              <a:rPr lang="zh-CN" altLang="zh-CN" sz="1400">
                <a:latin typeface="Arial" panose="020B0604020202020204" pitchFamily="34" charset="0"/>
              </a:rPr>
              <a:pPr>
                <a:spcBef>
                  <a:spcPct val="0"/>
                </a:spcBef>
                <a:buClr>
                  <a:srgbClr val="000000"/>
                </a:buClr>
                <a:buFontTx/>
                <a:buNone/>
              </a:pPr>
              <a:t>37</a:t>
            </a:fld>
            <a:endParaRPr lang="en-US" altLang="zh-CN" sz="1400">
              <a:latin typeface="Arial" panose="020B0604020202020204" pitchFamily="34" charset="0"/>
            </a:endParaRPr>
          </a:p>
        </p:txBody>
      </p:sp>
      <p:grpSp>
        <p:nvGrpSpPr>
          <p:cNvPr id="54276" name="组合 19"/>
          <p:cNvGrpSpPr>
            <a:grpSpLocks/>
          </p:cNvGrpSpPr>
          <p:nvPr/>
        </p:nvGrpSpPr>
        <p:grpSpPr bwMode="auto">
          <a:xfrm>
            <a:off x="1371600" y="3517900"/>
            <a:ext cx="6565900" cy="2959100"/>
            <a:chOff x="228600" y="1066800"/>
            <a:chExt cx="8686800" cy="3962400"/>
          </a:xfrm>
        </p:grpSpPr>
        <p:sp>
          <p:nvSpPr>
            <p:cNvPr id="54278" name="Oval 3"/>
            <p:cNvSpPr>
              <a:spLocks noChangeArrowheads="1"/>
            </p:cNvSpPr>
            <p:nvPr/>
          </p:nvSpPr>
          <p:spPr bwMode="auto">
            <a:xfrm>
              <a:off x="2286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A</a:t>
              </a:r>
            </a:p>
          </p:txBody>
        </p:sp>
        <p:sp>
          <p:nvSpPr>
            <p:cNvPr id="54279" name="Oval 4"/>
            <p:cNvSpPr>
              <a:spLocks noChangeArrowheads="1"/>
            </p:cNvSpPr>
            <p:nvPr/>
          </p:nvSpPr>
          <p:spPr bwMode="auto">
            <a:xfrm>
              <a:off x="1295400" y="1828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B</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4280" name="Oval 5"/>
            <p:cNvSpPr>
              <a:spLocks noChangeArrowheads="1"/>
            </p:cNvSpPr>
            <p:nvPr/>
          </p:nvSpPr>
          <p:spPr bwMode="auto">
            <a:xfrm>
              <a:off x="1371600" y="3352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B</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4281" name="Oval 6"/>
            <p:cNvSpPr>
              <a:spLocks noChangeArrowheads="1"/>
            </p:cNvSpPr>
            <p:nvPr/>
          </p:nvSpPr>
          <p:spPr bwMode="auto">
            <a:xfrm>
              <a:off x="2895600" y="1066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4282" name="Oval 7"/>
            <p:cNvSpPr>
              <a:spLocks noChangeArrowheads="1"/>
            </p:cNvSpPr>
            <p:nvPr/>
          </p:nvSpPr>
          <p:spPr bwMode="auto">
            <a:xfrm>
              <a:off x="2819400" y="2133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2</a:t>
              </a:r>
            </a:p>
          </p:txBody>
        </p:sp>
        <p:sp>
          <p:nvSpPr>
            <p:cNvPr id="54283" name="Oval 8"/>
            <p:cNvSpPr>
              <a:spLocks noChangeArrowheads="1"/>
            </p:cNvSpPr>
            <p:nvPr/>
          </p:nvSpPr>
          <p:spPr bwMode="auto">
            <a:xfrm>
              <a:off x="2819400" y="3429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3</a:t>
              </a:r>
              <a:endParaRPr lang="en-US" altLang="zh-CN" sz="1600">
                <a:latin typeface="Arial" panose="020B0604020202020204" pitchFamily="34" charset="0"/>
              </a:endParaRPr>
            </a:p>
          </p:txBody>
        </p:sp>
        <p:sp>
          <p:nvSpPr>
            <p:cNvPr id="54284" name="Oval 9"/>
            <p:cNvSpPr>
              <a:spLocks noChangeArrowheads="1"/>
            </p:cNvSpPr>
            <p:nvPr/>
          </p:nvSpPr>
          <p:spPr bwMode="auto">
            <a:xfrm>
              <a:off x="2819400" y="4572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C</a:t>
              </a:r>
              <a:r>
                <a:rPr lang="en-US" altLang="zh-CN" sz="1600" baseline="-25000">
                  <a:latin typeface="Arial" panose="020B0604020202020204" pitchFamily="34" charset="0"/>
                </a:rPr>
                <a:t>4</a:t>
              </a:r>
              <a:endParaRPr lang="en-US" altLang="zh-CN" sz="1600">
                <a:latin typeface="Arial" panose="020B0604020202020204" pitchFamily="34" charset="0"/>
              </a:endParaRPr>
            </a:p>
          </p:txBody>
        </p:sp>
        <p:sp>
          <p:nvSpPr>
            <p:cNvPr id="54285" name="Oval 10"/>
            <p:cNvSpPr>
              <a:spLocks noChangeArrowheads="1"/>
            </p:cNvSpPr>
            <p:nvPr/>
          </p:nvSpPr>
          <p:spPr bwMode="auto">
            <a:xfrm>
              <a:off x="4419600" y="1600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D</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4286" name="Oval 11"/>
            <p:cNvSpPr>
              <a:spLocks noChangeArrowheads="1"/>
            </p:cNvSpPr>
            <p:nvPr/>
          </p:nvSpPr>
          <p:spPr bwMode="auto">
            <a:xfrm>
              <a:off x="44196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D</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4287" name="Oval 12"/>
            <p:cNvSpPr>
              <a:spLocks noChangeArrowheads="1"/>
            </p:cNvSpPr>
            <p:nvPr/>
          </p:nvSpPr>
          <p:spPr bwMode="auto">
            <a:xfrm>
              <a:off x="4419600" y="39624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D</a:t>
              </a:r>
              <a:r>
                <a:rPr lang="en-US" altLang="zh-CN" sz="1600" baseline="-25000">
                  <a:latin typeface="Arial" panose="020B0604020202020204" pitchFamily="34" charset="0"/>
                </a:rPr>
                <a:t>3</a:t>
              </a:r>
              <a:endParaRPr lang="en-US" altLang="zh-CN" sz="1600">
                <a:latin typeface="Arial" panose="020B0604020202020204" pitchFamily="34" charset="0"/>
              </a:endParaRPr>
            </a:p>
          </p:txBody>
        </p:sp>
        <p:sp>
          <p:nvSpPr>
            <p:cNvPr id="54288" name="Oval 13"/>
            <p:cNvSpPr>
              <a:spLocks noChangeArrowheads="1"/>
            </p:cNvSpPr>
            <p:nvPr/>
          </p:nvSpPr>
          <p:spPr bwMode="auto">
            <a:xfrm>
              <a:off x="6019800" y="1600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E</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4289" name="Oval 14"/>
            <p:cNvSpPr>
              <a:spLocks noChangeArrowheads="1"/>
            </p:cNvSpPr>
            <p:nvPr/>
          </p:nvSpPr>
          <p:spPr bwMode="auto">
            <a:xfrm>
              <a:off x="60198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E</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4290" name="Oval 15"/>
            <p:cNvSpPr>
              <a:spLocks noChangeArrowheads="1"/>
            </p:cNvSpPr>
            <p:nvPr/>
          </p:nvSpPr>
          <p:spPr bwMode="auto">
            <a:xfrm>
              <a:off x="6096000" y="4038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E</a:t>
              </a:r>
              <a:r>
                <a:rPr lang="en-US" altLang="zh-CN" sz="1600" baseline="-25000">
                  <a:latin typeface="Arial" panose="020B0604020202020204" pitchFamily="34" charset="0"/>
                </a:rPr>
                <a:t>3</a:t>
              </a:r>
              <a:endParaRPr lang="en-US" altLang="zh-CN" sz="1600">
                <a:latin typeface="Arial" panose="020B0604020202020204" pitchFamily="34" charset="0"/>
              </a:endParaRPr>
            </a:p>
          </p:txBody>
        </p:sp>
        <p:sp>
          <p:nvSpPr>
            <p:cNvPr id="54291" name="Oval 16"/>
            <p:cNvSpPr>
              <a:spLocks noChangeArrowheads="1"/>
            </p:cNvSpPr>
            <p:nvPr/>
          </p:nvSpPr>
          <p:spPr bwMode="auto">
            <a:xfrm>
              <a:off x="7391400" y="2133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F</a:t>
              </a:r>
              <a:r>
                <a:rPr lang="en-US" altLang="zh-CN" sz="1600" baseline="-25000">
                  <a:latin typeface="Arial" panose="020B0604020202020204" pitchFamily="34" charset="0"/>
                </a:rPr>
                <a:t>1</a:t>
              </a:r>
              <a:endParaRPr lang="en-US" altLang="zh-CN" sz="1600">
                <a:latin typeface="Arial" panose="020B0604020202020204" pitchFamily="34" charset="0"/>
              </a:endParaRPr>
            </a:p>
          </p:txBody>
        </p:sp>
        <p:sp>
          <p:nvSpPr>
            <p:cNvPr id="54292" name="Oval 17"/>
            <p:cNvSpPr>
              <a:spLocks noChangeArrowheads="1"/>
            </p:cNvSpPr>
            <p:nvPr/>
          </p:nvSpPr>
          <p:spPr bwMode="auto">
            <a:xfrm>
              <a:off x="7391400" y="35814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F</a:t>
              </a:r>
              <a:r>
                <a:rPr lang="en-US" altLang="zh-CN" sz="1600" baseline="-25000">
                  <a:latin typeface="Arial" panose="020B0604020202020204" pitchFamily="34" charset="0"/>
                </a:rPr>
                <a:t>2</a:t>
              </a:r>
              <a:endParaRPr lang="en-US" altLang="zh-CN" sz="1600">
                <a:latin typeface="Arial" panose="020B0604020202020204" pitchFamily="34" charset="0"/>
              </a:endParaRPr>
            </a:p>
          </p:txBody>
        </p:sp>
        <p:sp>
          <p:nvSpPr>
            <p:cNvPr id="54293" name="Oval 18"/>
            <p:cNvSpPr>
              <a:spLocks noChangeArrowheads="1"/>
            </p:cNvSpPr>
            <p:nvPr/>
          </p:nvSpPr>
          <p:spPr bwMode="auto">
            <a:xfrm>
              <a:off x="84582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600">
                  <a:latin typeface="Arial" panose="020B0604020202020204" pitchFamily="34" charset="0"/>
                </a:rPr>
                <a:t>G</a:t>
              </a:r>
            </a:p>
          </p:txBody>
        </p:sp>
        <p:sp>
          <p:nvSpPr>
            <p:cNvPr id="54294" name="Line 21"/>
            <p:cNvSpPr>
              <a:spLocks noChangeShapeType="1"/>
            </p:cNvSpPr>
            <p:nvPr/>
          </p:nvSpPr>
          <p:spPr bwMode="auto">
            <a:xfrm flipV="1">
              <a:off x="609600" y="2209800"/>
              <a:ext cx="7620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5" name="Line 22"/>
            <p:cNvSpPr>
              <a:spLocks noChangeShapeType="1"/>
            </p:cNvSpPr>
            <p:nvPr/>
          </p:nvSpPr>
          <p:spPr bwMode="auto">
            <a:xfrm>
              <a:off x="609600" y="3124200"/>
              <a:ext cx="762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6" name="Line 23"/>
            <p:cNvSpPr>
              <a:spLocks noChangeShapeType="1"/>
            </p:cNvSpPr>
            <p:nvPr/>
          </p:nvSpPr>
          <p:spPr bwMode="auto">
            <a:xfrm flipV="1">
              <a:off x="1676400" y="1371600"/>
              <a:ext cx="12192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7" name="Line 24"/>
            <p:cNvSpPr>
              <a:spLocks noChangeShapeType="1"/>
            </p:cNvSpPr>
            <p:nvPr/>
          </p:nvSpPr>
          <p:spPr bwMode="auto">
            <a:xfrm>
              <a:off x="1752600" y="2057400"/>
              <a:ext cx="10668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8" name="Line 25"/>
            <p:cNvSpPr>
              <a:spLocks noChangeShapeType="1"/>
            </p:cNvSpPr>
            <p:nvPr/>
          </p:nvSpPr>
          <p:spPr bwMode="auto">
            <a:xfrm>
              <a:off x="1676400" y="2286000"/>
              <a:ext cx="1219200" cy="1219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9" name="Line 26"/>
            <p:cNvSpPr>
              <a:spLocks noChangeShapeType="1"/>
            </p:cNvSpPr>
            <p:nvPr/>
          </p:nvSpPr>
          <p:spPr bwMode="auto">
            <a:xfrm flipV="1">
              <a:off x="1752600" y="2438400"/>
              <a:ext cx="10668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0" name="Line 27"/>
            <p:cNvSpPr>
              <a:spLocks noChangeShapeType="1"/>
            </p:cNvSpPr>
            <p:nvPr/>
          </p:nvSpPr>
          <p:spPr bwMode="auto">
            <a:xfrm>
              <a:off x="1828800" y="3657600"/>
              <a:ext cx="990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1" name="Line 28"/>
            <p:cNvSpPr>
              <a:spLocks noChangeShapeType="1"/>
            </p:cNvSpPr>
            <p:nvPr/>
          </p:nvSpPr>
          <p:spPr bwMode="auto">
            <a:xfrm>
              <a:off x="1752600" y="3733800"/>
              <a:ext cx="1143000" cy="914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2" name="Line 29"/>
            <p:cNvSpPr>
              <a:spLocks noChangeShapeType="1"/>
            </p:cNvSpPr>
            <p:nvPr/>
          </p:nvSpPr>
          <p:spPr bwMode="auto">
            <a:xfrm>
              <a:off x="3352800" y="1371600"/>
              <a:ext cx="10668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3" name="Line 30"/>
            <p:cNvSpPr>
              <a:spLocks noChangeShapeType="1"/>
            </p:cNvSpPr>
            <p:nvPr/>
          </p:nvSpPr>
          <p:spPr bwMode="auto">
            <a:xfrm>
              <a:off x="3276600" y="1524000"/>
              <a:ext cx="1219200" cy="1295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4" name="Line 31"/>
            <p:cNvSpPr>
              <a:spLocks noChangeShapeType="1"/>
            </p:cNvSpPr>
            <p:nvPr/>
          </p:nvSpPr>
          <p:spPr bwMode="auto">
            <a:xfrm flipV="1">
              <a:off x="3276600" y="1905000"/>
              <a:ext cx="11430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5" name="Line 32"/>
            <p:cNvSpPr>
              <a:spLocks noChangeShapeType="1"/>
            </p:cNvSpPr>
            <p:nvPr/>
          </p:nvSpPr>
          <p:spPr bwMode="auto">
            <a:xfrm>
              <a:off x="3276600" y="2514600"/>
              <a:ext cx="11430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6" name="Line 33"/>
            <p:cNvSpPr>
              <a:spLocks noChangeShapeType="1"/>
            </p:cNvSpPr>
            <p:nvPr/>
          </p:nvSpPr>
          <p:spPr bwMode="auto">
            <a:xfrm flipV="1">
              <a:off x="3276600" y="3048000"/>
              <a:ext cx="11430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7" name="Line 34"/>
            <p:cNvSpPr>
              <a:spLocks noChangeShapeType="1"/>
            </p:cNvSpPr>
            <p:nvPr/>
          </p:nvSpPr>
          <p:spPr bwMode="auto">
            <a:xfrm>
              <a:off x="3276600" y="3810000"/>
              <a:ext cx="1143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8" name="Line 35"/>
            <p:cNvSpPr>
              <a:spLocks noChangeShapeType="1"/>
            </p:cNvSpPr>
            <p:nvPr/>
          </p:nvSpPr>
          <p:spPr bwMode="auto">
            <a:xfrm flipV="1">
              <a:off x="3276600" y="4343400"/>
              <a:ext cx="12192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9" name="Line 36"/>
            <p:cNvSpPr>
              <a:spLocks noChangeShapeType="1"/>
            </p:cNvSpPr>
            <p:nvPr/>
          </p:nvSpPr>
          <p:spPr bwMode="auto">
            <a:xfrm flipV="1">
              <a:off x="3276600" y="3124200"/>
              <a:ext cx="129540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0" name="Line 37"/>
            <p:cNvSpPr>
              <a:spLocks noChangeShapeType="1"/>
            </p:cNvSpPr>
            <p:nvPr/>
          </p:nvSpPr>
          <p:spPr bwMode="auto">
            <a:xfrm>
              <a:off x="4876800" y="1828800"/>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1" name="Line 38"/>
            <p:cNvSpPr>
              <a:spLocks noChangeShapeType="1"/>
            </p:cNvSpPr>
            <p:nvPr/>
          </p:nvSpPr>
          <p:spPr bwMode="auto">
            <a:xfrm>
              <a:off x="4876800" y="1981200"/>
              <a:ext cx="1219200" cy="914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2" name="Line 40"/>
            <p:cNvSpPr>
              <a:spLocks noChangeShapeType="1"/>
            </p:cNvSpPr>
            <p:nvPr/>
          </p:nvSpPr>
          <p:spPr bwMode="auto">
            <a:xfrm>
              <a:off x="4876800" y="3048000"/>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3" name="Line 42"/>
            <p:cNvSpPr>
              <a:spLocks noChangeShapeType="1"/>
            </p:cNvSpPr>
            <p:nvPr/>
          </p:nvSpPr>
          <p:spPr bwMode="auto">
            <a:xfrm>
              <a:off x="4800600" y="3124200"/>
              <a:ext cx="12954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4" name="Line 43"/>
            <p:cNvSpPr>
              <a:spLocks noChangeShapeType="1"/>
            </p:cNvSpPr>
            <p:nvPr/>
          </p:nvSpPr>
          <p:spPr bwMode="auto">
            <a:xfrm flipV="1">
              <a:off x="4876800" y="3124200"/>
              <a:ext cx="12192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5" name="Line 44"/>
            <p:cNvSpPr>
              <a:spLocks noChangeShapeType="1"/>
            </p:cNvSpPr>
            <p:nvPr/>
          </p:nvSpPr>
          <p:spPr bwMode="auto">
            <a:xfrm>
              <a:off x="4876800" y="4267200"/>
              <a:ext cx="1219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6" name="Line 45"/>
            <p:cNvSpPr>
              <a:spLocks noChangeShapeType="1"/>
            </p:cNvSpPr>
            <p:nvPr/>
          </p:nvSpPr>
          <p:spPr bwMode="auto">
            <a:xfrm>
              <a:off x="6477000" y="1905000"/>
              <a:ext cx="9906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7" name="Line 46"/>
            <p:cNvSpPr>
              <a:spLocks noChangeShapeType="1"/>
            </p:cNvSpPr>
            <p:nvPr/>
          </p:nvSpPr>
          <p:spPr bwMode="auto">
            <a:xfrm flipV="1">
              <a:off x="6477000" y="2438400"/>
              <a:ext cx="9144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8" name="Line 47"/>
            <p:cNvSpPr>
              <a:spLocks noChangeShapeType="1"/>
            </p:cNvSpPr>
            <p:nvPr/>
          </p:nvSpPr>
          <p:spPr bwMode="auto">
            <a:xfrm>
              <a:off x="6477000" y="1981200"/>
              <a:ext cx="106680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9" name="Line 48"/>
            <p:cNvSpPr>
              <a:spLocks noChangeShapeType="1"/>
            </p:cNvSpPr>
            <p:nvPr/>
          </p:nvSpPr>
          <p:spPr bwMode="auto">
            <a:xfrm>
              <a:off x="6477000" y="3048000"/>
              <a:ext cx="9906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0" name="Line 49"/>
            <p:cNvSpPr>
              <a:spLocks noChangeShapeType="1"/>
            </p:cNvSpPr>
            <p:nvPr/>
          </p:nvSpPr>
          <p:spPr bwMode="auto">
            <a:xfrm flipV="1">
              <a:off x="6553200" y="2590800"/>
              <a:ext cx="990600" cy="1524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1" name="Line 50"/>
            <p:cNvSpPr>
              <a:spLocks noChangeShapeType="1"/>
            </p:cNvSpPr>
            <p:nvPr/>
          </p:nvSpPr>
          <p:spPr bwMode="auto">
            <a:xfrm flipV="1">
              <a:off x="6553200" y="3962400"/>
              <a:ext cx="9144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2" name="Line 51"/>
            <p:cNvSpPr>
              <a:spLocks noChangeShapeType="1"/>
            </p:cNvSpPr>
            <p:nvPr/>
          </p:nvSpPr>
          <p:spPr bwMode="auto">
            <a:xfrm>
              <a:off x="7848600" y="2438400"/>
              <a:ext cx="6858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3" name="Line 52"/>
            <p:cNvSpPr>
              <a:spLocks noChangeShapeType="1"/>
            </p:cNvSpPr>
            <p:nvPr/>
          </p:nvSpPr>
          <p:spPr bwMode="auto">
            <a:xfrm flipV="1">
              <a:off x="7848600" y="3124200"/>
              <a:ext cx="6858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4" name="Text Box 53"/>
            <p:cNvSpPr txBox="1">
              <a:spLocks noChangeArrowheads="1"/>
            </p:cNvSpPr>
            <p:nvPr/>
          </p:nvSpPr>
          <p:spPr bwMode="auto">
            <a:xfrm>
              <a:off x="685800" y="2133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4325" name="Text Box 54"/>
            <p:cNvSpPr txBox="1">
              <a:spLocks noChangeArrowheads="1"/>
            </p:cNvSpPr>
            <p:nvPr/>
          </p:nvSpPr>
          <p:spPr bwMode="auto">
            <a:xfrm>
              <a:off x="685800" y="3276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26" name="Text Box 55"/>
            <p:cNvSpPr txBox="1">
              <a:spLocks noChangeArrowheads="1"/>
            </p:cNvSpPr>
            <p:nvPr/>
          </p:nvSpPr>
          <p:spPr bwMode="auto">
            <a:xfrm>
              <a:off x="1828800" y="1371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1</a:t>
              </a:r>
            </a:p>
          </p:txBody>
        </p:sp>
        <p:sp>
          <p:nvSpPr>
            <p:cNvPr id="54327" name="Text Box 56"/>
            <p:cNvSpPr txBox="1">
              <a:spLocks noChangeArrowheads="1"/>
            </p:cNvSpPr>
            <p:nvPr/>
          </p:nvSpPr>
          <p:spPr bwMode="auto">
            <a:xfrm>
              <a:off x="2209800" y="1828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28" name="Text Box 57"/>
            <p:cNvSpPr txBox="1">
              <a:spLocks noChangeArrowheads="1"/>
            </p:cNvSpPr>
            <p:nvPr/>
          </p:nvSpPr>
          <p:spPr bwMode="auto">
            <a:xfrm>
              <a:off x="1905001" y="22098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4329" name="Text Box 58"/>
            <p:cNvSpPr txBox="1">
              <a:spLocks noChangeArrowheads="1"/>
            </p:cNvSpPr>
            <p:nvPr/>
          </p:nvSpPr>
          <p:spPr bwMode="auto">
            <a:xfrm>
              <a:off x="1752600" y="2819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8</a:t>
              </a:r>
            </a:p>
          </p:txBody>
        </p:sp>
        <p:sp>
          <p:nvSpPr>
            <p:cNvPr id="54330" name="Text Box 59"/>
            <p:cNvSpPr txBox="1">
              <a:spLocks noChangeArrowheads="1"/>
            </p:cNvSpPr>
            <p:nvPr/>
          </p:nvSpPr>
          <p:spPr bwMode="auto">
            <a:xfrm>
              <a:off x="1981200" y="3276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7</a:t>
              </a:r>
            </a:p>
          </p:txBody>
        </p:sp>
        <p:sp>
          <p:nvSpPr>
            <p:cNvPr id="54331" name="Text Box 60"/>
            <p:cNvSpPr txBox="1">
              <a:spLocks noChangeArrowheads="1"/>
            </p:cNvSpPr>
            <p:nvPr/>
          </p:nvSpPr>
          <p:spPr bwMode="auto">
            <a:xfrm>
              <a:off x="2209800" y="3733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4332" name="Text Box 61"/>
            <p:cNvSpPr txBox="1">
              <a:spLocks noChangeArrowheads="1"/>
            </p:cNvSpPr>
            <p:nvPr/>
          </p:nvSpPr>
          <p:spPr bwMode="auto">
            <a:xfrm>
              <a:off x="3276601" y="19049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33" name="Text Box 62"/>
            <p:cNvSpPr txBox="1">
              <a:spLocks noChangeArrowheads="1"/>
            </p:cNvSpPr>
            <p:nvPr/>
          </p:nvSpPr>
          <p:spPr bwMode="auto">
            <a:xfrm>
              <a:off x="3657600" y="1066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4334" name="Text Box 63"/>
            <p:cNvSpPr txBox="1">
              <a:spLocks noChangeArrowheads="1"/>
            </p:cNvSpPr>
            <p:nvPr/>
          </p:nvSpPr>
          <p:spPr bwMode="auto">
            <a:xfrm>
              <a:off x="3581400" y="16001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8</a:t>
              </a:r>
            </a:p>
          </p:txBody>
        </p:sp>
        <p:sp>
          <p:nvSpPr>
            <p:cNvPr id="54335" name="Text Box 64"/>
            <p:cNvSpPr txBox="1">
              <a:spLocks noChangeArrowheads="1"/>
            </p:cNvSpPr>
            <p:nvPr/>
          </p:nvSpPr>
          <p:spPr bwMode="auto">
            <a:xfrm>
              <a:off x="3581400" y="22098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4336" name="Text Box 65"/>
            <p:cNvSpPr txBox="1">
              <a:spLocks noChangeArrowheads="1"/>
            </p:cNvSpPr>
            <p:nvPr/>
          </p:nvSpPr>
          <p:spPr bwMode="auto">
            <a:xfrm>
              <a:off x="3352800" y="2971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37" name="Text Box 66"/>
            <p:cNvSpPr txBox="1">
              <a:spLocks noChangeArrowheads="1"/>
            </p:cNvSpPr>
            <p:nvPr/>
          </p:nvSpPr>
          <p:spPr bwMode="auto">
            <a:xfrm>
              <a:off x="3505199" y="35052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38" name="Text Box 67"/>
            <p:cNvSpPr txBox="1">
              <a:spLocks noChangeArrowheads="1"/>
            </p:cNvSpPr>
            <p:nvPr/>
          </p:nvSpPr>
          <p:spPr bwMode="auto">
            <a:xfrm>
              <a:off x="3276601" y="41148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8</a:t>
              </a:r>
            </a:p>
          </p:txBody>
        </p:sp>
        <p:sp>
          <p:nvSpPr>
            <p:cNvPr id="54339" name="Text Box 68"/>
            <p:cNvSpPr txBox="1">
              <a:spLocks noChangeArrowheads="1"/>
            </p:cNvSpPr>
            <p:nvPr/>
          </p:nvSpPr>
          <p:spPr bwMode="auto">
            <a:xfrm>
              <a:off x="3733800" y="41910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4</a:t>
              </a:r>
            </a:p>
          </p:txBody>
        </p:sp>
        <p:sp>
          <p:nvSpPr>
            <p:cNvPr id="54340" name="Text Box 69"/>
            <p:cNvSpPr txBox="1">
              <a:spLocks noChangeArrowheads="1"/>
            </p:cNvSpPr>
            <p:nvPr/>
          </p:nvSpPr>
          <p:spPr bwMode="auto">
            <a:xfrm>
              <a:off x="5257801" y="1371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4341" name="Text Box 70"/>
            <p:cNvSpPr txBox="1">
              <a:spLocks noChangeArrowheads="1"/>
            </p:cNvSpPr>
            <p:nvPr/>
          </p:nvSpPr>
          <p:spPr bwMode="auto">
            <a:xfrm>
              <a:off x="5410200" y="2057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4342" name="Text Box 71"/>
            <p:cNvSpPr txBox="1">
              <a:spLocks noChangeArrowheads="1"/>
            </p:cNvSpPr>
            <p:nvPr/>
          </p:nvSpPr>
          <p:spPr bwMode="auto">
            <a:xfrm>
              <a:off x="5181600" y="30480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4343" name="Text Box 72"/>
            <p:cNvSpPr txBox="1">
              <a:spLocks noChangeArrowheads="1"/>
            </p:cNvSpPr>
            <p:nvPr/>
          </p:nvSpPr>
          <p:spPr bwMode="auto">
            <a:xfrm>
              <a:off x="5029200" y="26670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1</a:t>
              </a:r>
            </a:p>
          </p:txBody>
        </p:sp>
        <p:sp>
          <p:nvSpPr>
            <p:cNvPr id="54344" name="Text Box 73"/>
            <p:cNvSpPr txBox="1">
              <a:spLocks noChangeArrowheads="1"/>
            </p:cNvSpPr>
            <p:nvPr/>
          </p:nvSpPr>
          <p:spPr bwMode="auto">
            <a:xfrm>
              <a:off x="4876799" y="35813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45" name="Text Box 74"/>
            <p:cNvSpPr txBox="1">
              <a:spLocks noChangeArrowheads="1"/>
            </p:cNvSpPr>
            <p:nvPr/>
          </p:nvSpPr>
          <p:spPr bwMode="auto">
            <a:xfrm>
              <a:off x="7924800" y="31242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46" name="Text Box 75"/>
            <p:cNvSpPr txBox="1">
              <a:spLocks noChangeArrowheads="1"/>
            </p:cNvSpPr>
            <p:nvPr/>
          </p:nvSpPr>
          <p:spPr bwMode="auto">
            <a:xfrm>
              <a:off x="6857999" y="1676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sp>
          <p:nvSpPr>
            <p:cNvPr id="54347" name="Text Box 76"/>
            <p:cNvSpPr txBox="1">
              <a:spLocks noChangeArrowheads="1"/>
            </p:cNvSpPr>
            <p:nvPr/>
          </p:nvSpPr>
          <p:spPr bwMode="auto">
            <a:xfrm>
              <a:off x="6781800" y="21336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4348" name="Text Box 77"/>
            <p:cNvSpPr txBox="1">
              <a:spLocks noChangeArrowheads="1"/>
            </p:cNvSpPr>
            <p:nvPr/>
          </p:nvSpPr>
          <p:spPr bwMode="auto">
            <a:xfrm>
              <a:off x="6705600" y="2895599"/>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2</a:t>
              </a:r>
            </a:p>
          </p:txBody>
        </p:sp>
        <p:sp>
          <p:nvSpPr>
            <p:cNvPr id="54349" name="Text Box 78"/>
            <p:cNvSpPr txBox="1">
              <a:spLocks noChangeArrowheads="1"/>
            </p:cNvSpPr>
            <p:nvPr/>
          </p:nvSpPr>
          <p:spPr bwMode="auto">
            <a:xfrm>
              <a:off x="6477000" y="24384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5</a:t>
              </a:r>
            </a:p>
          </p:txBody>
        </p:sp>
        <p:sp>
          <p:nvSpPr>
            <p:cNvPr id="54350" name="Text Box 79"/>
            <p:cNvSpPr txBox="1">
              <a:spLocks noChangeArrowheads="1"/>
            </p:cNvSpPr>
            <p:nvPr/>
          </p:nvSpPr>
          <p:spPr bwMode="auto">
            <a:xfrm>
              <a:off x="6477000" y="35052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4351" name="Text Box 80"/>
            <p:cNvSpPr txBox="1">
              <a:spLocks noChangeArrowheads="1"/>
            </p:cNvSpPr>
            <p:nvPr/>
          </p:nvSpPr>
          <p:spPr bwMode="auto">
            <a:xfrm>
              <a:off x="6781800" y="38100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6</a:t>
              </a:r>
            </a:p>
          </p:txBody>
        </p:sp>
        <p:sp>
          <p:nvSpPr>
            <p:cNvPr id="54352" name="Text Box 81"/>
            <p:cNvSpPr txBox="1">
              <a:spLocks noChangeArrowheads="1"/>
            </p:cNvSpPr>
            <p:nvPr/>
          </p:nvSpPr>
          <p:spPr bwMode="auto">
            <a:xfrm>
              <a:off x="8077200" y="2209801"/>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4</a:t>
              </a:r>
            </a:p>
          </p:txBody>
        </p:sp>
        <p:sp>
          <p:nvSpPr>
            <p:cNvPr id="54353" name="Line 83"/>
            <p:cNvSpPr>
              <a:spLocks noChangeShapeType="1"/>
            </p:cNvSpPr>
            <p:nvPr/>
          </p:nvSpPr>
          <p:spPr bwMode="auto">
            <a:xfrm flipV="1">
              <a:off x="609600" y="2209800"/>
              <a:ext cx="7620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4" name="Line 84"/>
            <p:cNvSpPr>
              <a:spLocks noChangeShapeType="1"/>
            </p:cNvSpPr>
            <p:nvPr/>
          </p:nvSpPr>
          <p:spPr bwMode="auto">
            <a:xfrm>
              <a:off x="1752600" y="2057400"/>
              <a:ext cx="1066800" cy="3048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5" name="Line 85"/>
            <p:cNvSpPr>
              <a:spLocks noChangeShapeType="1"/>
            </p:cNvSpPr>
            <p:nvPr/>
          </p:nvSpPr>
          <p:spPr bwMode="auto">
            <a:xfrm flipV="1">
              <a:off x="3276600" y="1905000"/>
              <a:ext cx="1143000" cy="457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6" name="Line 86"/>
            <p:cNvSpPr>
              <a:spLocks noChangeShapeType="1"/>
            </p:cNvSpPr>
            <p:nvPr/>
          </p:nvSpPr>
          <p:spPr bwMode="auto">
            <a:xfrm>
              <a:off x="4876800" y="1981200"/>
              <a:ext cx="1219200" cy="9144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7" name="Line 87"/>
            <p:cNvSpPr>
              <a:spLocks noChangeShapeType="1"/>
            </p:cNvSpPr>
            <p:nvPr/>
          </p:nvSpPr>
          <p:spPr bwMode="auto">
            <a:xfrm>
              <a:off x="6477000" y="3048000"/>
              <a:ext cx="9906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8" name="Line 88"/>
            <p:cNvSpPr>
              <a:spLocks noChangeShapeType="1"/>
            </p:cNvSpPr>
            <p:nvPr/>
          </p:nvSpPr>
          <p:spPr bwMode="auto">
            <a:xfrm flipV="1">
              <a:off x="7848600" y="3124200"/>
              <a:ext cx="6858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9" name="Line 90"/>
            <p:cNvSpPr>
              <a:spLocks noChangeShapeType="1"/>
            </p:cNvSpPr>
            <p:nvPr/>
          </p:nvSpPr>
          <p:spPr bwMode="auto">
            <a:xfrm>
              <a:off x="609600" y="3124200"/>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60" name="Text Box 92"/>
            <p:cNvSpPr txBox="1">
              <a:spLocks noChangeArrowheads="1"/>
            </p:cNvSpPr>
            <p:nvPr/>
          </p:nvSpPr>
          <p:spPr bwMode="auto">
            <a:xfrm>
              <a:off x="5105400" y="4267200"/>
              <a:ext cx="394894" cy="45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a:latin typeface="Arial" panose="020B0604020202020204" pitchFamily="34" charset="0"/>
                </a:rPr>
                <a:t>3</a:t>
              </a:r>
            </a:p>
          </p:txBody>
        </p:sp>
      </p:grpSp>
      <p:sp>
        <p:nvSpPr>
          <p:cNvPr id="54277"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609600" y="1704975"/>
            <a:ext cx="7315200" cy="984250"/>
          </a:xfrm>
        </p:spPr>
        <p:txBody>
          <a:bodyPr/>
          <a:lstStyle/>
          <a:p>
            <a:pPr algn="just" eaLnBrk="1" hangingPunct="1">
              <a:lnSpc>
                <a:spcPct val="120000"/>
              </a:lnSpc>
              <a:buFont typeface="Wingdings" panose="05000000000000000000" pitchFamily="2" charset="2"/>
              <a:buChar char="p"/>
            </a:pPr>
            <a:r>
              <a:rPr lang="zh-CN" altLang="en-US" sz="2400">
                <a:latin typeface="Times New Roman" panose="02020603050405020304" pitchFamily="18" charset="0"/>
              </a:rPr>
              <a:t> 所以，动态规划的方法是：</a:t>
            </a:r>
            <a:r>
              <a:rPr lang="zh-CN" altLang="en-US" sz="2400">
                <a:solidFill>
                  <a:schemeClr val="hlink"/>
                </a:solidFill>
                <a:latin typeface="Times New Roman" panose="02020603050405020304" pitchFamily="18" charset="0"/>
              </a:rPr>
              <a:t>从终点逐段向始点方向寻找最短路线</a:t>
            </a:r>
            <a:r>
              <a:rPr lang="zh-CN" altLang="en-US" sz="2400">
                <a:latin typeface="Times New Roman" panose="02020603050405020304" pitchFamily="18" charset="0"/>
              </a:rPr>
              <a:t>的一种方法</a:t>
            </a:r>
            <a:r>
              <a:rPr lang="en-US" altLang="zh-CN" sz="2400">
                <a:latin typeface="Times New Roman" panose="02020603050405020304" pitchFamily="18" charset="0"/>
              </a:rPr>
              <a:t>——</a:t>
            </a:r>
            <a:r>
              <a:rPr lang="zh-CN" altLang="en-US" sz="2400">
                <a:solidFill>
                  <a:srgbClr val="FF0000"/>
                </a:solidFill>
                <a:latin typeface="Times New Roman" panose="02020603050405020304" pitchFamily="18" charset="0"/>
              </a:rPr>
              <a:t>逆推解法</a:t>
            </a:r>
            <a:r>
              <a:rPr lang="zh-CN" altLang="en-US" sz="2400">
                <a:latin typeface="Times New Roman" panose="02020603050405020304" pitchFamily="18" charset="0"/>
              </a:rPr>
              <a:t>。</a:t>
            </a:r>
          </a:p>
        </p:txBody>
      </p:sp>
      <p:sp>
        <p:nvSpPr>
          <p:cNvPr id="55299" name="Rectangle 5"/>
          <p:cNvSpPr>
            <a:spLocks noChangeArrowheads="1"/>
          </p:cNvSpPr>
          <p:nvPr/>
        </p:nvSpPr>
        <p:spPr bwMode="auto">
          <a:xfrm>
            <a:off x="295275" y="6175375"/>
            <a:ext cx="8353425"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812800" indent="-8128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120000"/>
              </a:lnSpc>
              <a:buClr>
                <a:schemeClr val="folHlink"/>
              </a:buClr>
              <a:buSzPct val="60000"/>
              <a:buFont typeface="Wingdings" panose="05000000000000000000" pitchFamily="2" charset="2"/>
              <a:buNone/>
            </a:pPr>
            <a:r>
              <a:rPr lang="zh-CN" altLang="en-US" sz="2400" b="1">
                <a:solidFill>
                  <a:schemeClr val="bg1"/>
                </a:solidFill>
                <a:latin typeface="Times New Roman" panose="02020603050405020304" pitchFamily="18" charset="0"/>
              </a:rPr>
              <a:t>动态规划方法示意图</a:t>
            </a:r>
          </a:p>
        </p:txBody>
      </p:sp>
      <p:sp>
        <p:nvSpPr>
          <p:cNvPr id="55300"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EE1107A5-0ED9-4EEE-98D2-D9BC844326E0}" type="slidenum">
              <a:rPr lang="zh-CN" altLang="zh-CN" sz="1400">
                <a:latin typeface="Arial" panose="020B0604020202020204" pitchFamily="34" charset="0"/>
              </a:rPr>
              <a:pPr>
                <a:spcBef>
                  <a:spcPct val="0"/>
                </a:spcBef>
                <a:buClr>
                  <a:srgbClr val="000000"/>
                </a:buClr>
                <a:buFontTx/>
                <a:buNone/>
              </a:pPr>
              <a:t>38</a:t>
            </a:fld>
            <a:endParaRPr lang="en-US" altLang="zh-CN" sz="1400">
              <a:latin typeface="Arial" panose="020B0604020202020204" pitchFamily="34" charset="0"/>
            </a:endParaRPr>
          </a:p>
        </p:txBody>
      </p:sp>
      <p:grpSp>
        <p:nvGrpSpPr>
          <p:cNvPr id="55301" name="Group 3"/>
          <p:cNvGrpSpPr>
            <a:grpSpLocks/>
          </p:cNvGrpSpPr>
          <p:nvPr/>
        </p:nvGrpSpPr>
        <p:grpSpPr bwMode="auto">
          <a:xfrm>
            <a:off x="1787525" y="2740025"/>
            <a:ext cx="5688013" cy="2663825"/>
            <a:chOff x="748" y="1298"/>
            <a:chExt cx="4545" cy="2345"/>
          </a:xfrm>
        </p:grpSpPr>
        <p:grpSp>
          <p:nvGrpSpPr>
            <p:cNvPr id="55304" name="Group 4"/>
            <p:cNvGrpSpPr>
              <a:grpSpLocks/>
            </p:cNvGrpSpPr>
            <p:nvPr/>
          </p:nvGrpSpPr>
          <p:grpSpPr bwMode="auto">
            <a:xfrm>
              <a:off x="748" y="1298"/>
              <a:ext cx="4545" cy="2345"/>
              <a:chOff x="748" y="1298"/>
              <a:chExt cx="4545" cy="2345"/>
            </a:xfrm>
          </p:grpSpPr>
          <p:pic>
            <p:nvPicPr>
              <p:cNvPr id="55308" name="Picture 5" descr="10409982113973437561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 y="1298"/>
                <a:ext cx="4545" cy="2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309" name="Line 6"/>
              <p:cNvSpPr>
                <a:spLocks noChangeShapeType="1"/>
              </p:cNvSpPr>
              <p:nvPr/>
            </p:nvSpPr>
            <p:spPr bwMode="auto">
              <a:xfrm>
                <a:off x="1052" y="1526"/>
                <a:ext cx="0" cy="206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310" name="Line 7"/>
              <p:cNvSpPr>
                <a:spLocks noChangeShapeType="1"/>
              </p:cNvSpPr>
              <p:nvPr/>
            </p:nvSpPr>
            <p:spPr bwMode="auto">
              <a:xfrm>
                <a:off x="1660" y="1526"/>
                <a:ext cx="0" cy="2117"/>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311" name="Line 8"/>
              <p:cNvSpPr>
                <a:spLocks noChangeShapeType="1"/>
              </p:cNvSpPr>
              <p:nvPr/>
            </p:nvSpPr>
            <p:spPr bwMode="auto">
              <a:xfrm>
                <a:off x="2317" y="1470"/>
                <a:ext cx="0" cy="217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312" name="Line 9"/>
              <p:cNvSpPr>
                <a:spLocks noChangeShapeType="1"/>
              </p:cNvSpPr>
              <p:nvPr/>
            </p:nvSpPr>
            <p:spPr bwMode="auto">
              <a:xfrm>
                <a:off x="2975" y="1470"/>
                <a:ext cx="0" cy="211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313" name="Line 10"/>
              <p:cNvSpPr>
                <a:spLocks noChangeShapeType="1"/>
              </p:cNvSpPr>
              <p:nvPr/>
            </p:nvSpPr>
            <p:spPr bwMode="auto">
              <a:xfrm>
                <a:off x="3582" y="1470"/>
                <a:ext cx="0" cy="211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314" name="Line 11"/>
              <p:cNvSpPr>
                <a:spLocks noChangeShapeType="1"/>
              </p:cNvSpPr>
              <p:nvPr/>
            </p:nvSpPr>
            <p:spPr bwMode="auto">
              <a:xfrm>
                <a:off x="4241" y="1470"/>
                <a:ext cx="0" cy="2059"/>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315" name="Line 12"/>
              <p:cNvSpPr>
                <a:spLocks noChangeShapeType="1"/>
              </p:cNvSpPr>
              <p:nvPr/>
            </p:nvSpPr>
            <p:spPr bwMode="auto">
              <a:xfrm>
                <a:off x="4949" y="1470"/>
                <a:ext cx="0" cy="211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pic>
          <p:nvPicPr>
            <p:cNvPr id="55305" name="Picture 13" descr="45567328613980877918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 y="2608"/>
              <a:ext cx="375"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5306" name="Picture 14" descr="69311762413980877918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1" y="2041"/>
              <a:ext cx="391"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5307" name="Picture 15" descr="57115022713980877918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61" y="3087"/>
              <a:ext cx="403"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55302" name="Picture 4" descr="72649461913980877918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9588" y="5103813"/>
            <a:ext cx="5688012" cy="160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303"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896937"/>
          </a:xfrm>
        </p:spPr>
        <p:txBody>
          <a:bodyPr/>
          <a:lstStyle/>
          <a:p>
            <a:pPr algn="just" eaLnBrk="1" hangingPunct="1">
              <a:lnSpc>
                <a:spcPct val="120000"/>
              </a:lnSpc>
              <a:buFont typeface="Wingdings" panose="05000000000000000000" pitchFamily="2" charset="2"/>
              <a:buChar char="p"/>
              <a:defRPr/>
            </a:pPr>
            <a:r>
              <a:rPr lang="zh-CN" altLang="en-US" sz="2400" dirty="0">
                <a:latin typeface="Times New Roman" panose="02020603050405020304" pitchFamily="18" charset="0"/>
                <a:cs typeface="Times New Roman" panose="02020603050405020304" pitchFamily="18" charset="0"/>
              </a:rPr>
              <a:t>当</a:t>
            </a:r>
            <a:r>
              <a:rPr lang="en-US" altLang="zh-CN" sz="2400" i="1" dirty="0">
                <a:latin typeface="Times New Roman" panose="02020603050405020304" pitchFamily="18" charset="0"/>
                <a:cs typeface="Times New Roman" panose="02020603050405020304" pitchFamily="18" charset="0"/>
              </a:rPr>
              <a:t>k</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cs typeface="Times New Roman" panose="02020603050405020304" pitchFamily="18" charset="0"/>
              </a:rPr>
              <a:t>时，由</a:t>
            </a:r>
            <a:r>
              <a:rPr lang="en-US" altLang="zh-CN" sz="2400" i="1" dirty="0">
                <a:latin typeface="Times New Roman" panose="02020603050405020304" pitchFamily="18" charset="0"/>
                <a:cs typeface="Times New Roman" panose="02020603050405020304" pitchFamily="18" charset="0"/>
              </a:rPr>
              <a:t>F</a:t>
            </a:r>
            <a:r>
              <a:rPr lang="en-US" altLang="zh-CN" sz="2400" baseline="-250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到终点</a:t>
            </a:r>
            <a:r>
              <a:rPr lang="en-US" altLang="zh-CN" sz="2400" i="1" dirty="0">
                <a:latin typeface="Times New Roman" panose="02020603050405020304" pitchFamily="18" charset="0"/>
                <a:cs typeface="Times New Roman" panose="02020603050405020304" pitchFamily="18" charset="0"/>
              </a:rPr>
              <a:t>G</a:t>
            </a:r>
            <a:r>
              <a:rPr lang="zh-CN" altLang="en-US" sz="2400" dirty="0">
                <a:latin typeface="Times New Roman" panose="02020603050405020304" pitchFamily="18" charset="0"/>
                <a:cs typeface="Times New Roman" panose="02020603050405020304" pitchFamily="18" charset="0"/>
              </a:rPr>
              <a:t>只有一条路线，故最优值函数</a:t>
            </a:r>
            <a:endParaRPr lang="en-US" altLang="zh-CN" sz="2400" dirty="0">
              <a:latin typeface="Times New Roman" panose="02020603050405020304" pitchFamily="18" charset="0"/>
              <a:cs typeface="Times New Roman" panose="02020603050405020304" pitchFamily="18" charset="0"/>
            </a:endParaRPr>
          </a:p>
          <a:p>
            <a:pPr algn="just" eaLnBrk="1" hangingPunct="1">
              <a:lnSpc>
                <a:spcPct val="120000"/>
              </a:lnSpc>
              <a:buFont typeface="Wingdings" panose="05000000000000000000" pitchFamily="2" charset="2"/>
              <a:buChar char="p"/>
              <a:defRPr/>
            </a:pPr>
            <a:endParaRPr lang="en-US" altLang="zh-CN" sz="2400" dirty="0">
              <a:latin typeface="Times New Roman" panose="02020603050405020304" pitchFamily="18" charset="0"/>
              <a:cs typeface="Times New Roman" panose="02020603050405020304" pitchFamily="18" charset="0"/>
            </a:endParaRPr>
          </a:p>
          <a:p>
            <a:pPr algn="just" eaLnBrk="1" hangingPunct="1">
              <a:lnSpc>
                <a:spcPct val="120000"/>
              </a:lnSpc>
              <a:buFont typeface="Wingdings" panose="05000000000000000000" pitchFamily="2" charset="2"/>
              <a:buChar char="p"/>
              <a:defRPr/>
            </a:pPr>
            <a:r>
              <a:rPr lang="zh-CN" altLang="en-US" sz="2400" dirty="0">
                <a:latin typeface="Times New Roman" panose="02020603050405020304" pitchFamily="18" charset="0"/>
                <a:cs typeface="Times New Roman" panose="02020603050405020304" pitchFamily="18" charset="0"/>
              </a:rPr>
              <a:t>同理， </a:t>
            </a:r>
          </a:p>
          <a:p>
            <a:pPr algn="just" eaLnBrk="1" hangingPunct="1">
              <a:lnSpc>
                <a:spcPct val="120000"/>
              </a:lnSpc>
              <a:buFont typeface="Wingdings" panose="05000000000000000000" pitchFamily="2" charset="2"/>
              <a:buChar char="p"/>
              <a:defRPr/>
            </a:pPr>
            <a:endParaRPr lang="zh-CN" altLang="en-US" sz="2000" dirty="0">
              <a:latin typeface="+mn-ea"/>
            </a:endParaRPr>
          </a:p>
        </p:txBody>
      </p:sp>
      <p:sp>
        <p:nvSpPr>
          <p:cNvPr id="56323"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419EE860-64DF-45A0-A806-CAF8CAEB50D8}" type="slidenum">
              <a:rPr lang="zh-CN" altLang="zh-CN" sz="1400">
                <a:latin typeface="Arial" panose="020B0604020202020204" pitchFamily="34" charset="0"/>
              </a:rPr>
              <a:pPr>
                <a:spcBef>
                  <a:spcPct val="0"/>
                </a:spcBef>
                <a:buClr>
                  <a:srgbClr val="000000"/>
                </a:buClr>
                <a:buFontTx/>
                <a:buNone/>
              </a:pPr>
              <a:t>39</a:t>
            </a:fld>
            <a:endParaRPr lang="en-US" altLang="zh-CN" sz="1400">
              <a:latin typeface="Arial" panose="020B0604020202020204" pitchFamily="34" charset="0"/>
            </a:endParaRPr>
          </a:p>
        </p:txBody>
      </p:sp>
      <p:sp>
        <p:nvSpPr>
          <p:cNvPr id="56324"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graphicFrame>
        <p:nvGraphicFramePr>
          <p:cNvPr id="56325" name="Object 13"/>
          <p:cNvGraphicFramePr>
            <a:graphicFrameLocks noChangeAspect="1"/>
          </p:cNvGraphicFramePr>
          <p:nvPr/>
        </p:nvGraphicFramePr>
        <p:xfrm>
          <a:off x="1296988" y="2184400"/>
          <a:ext cx="1308100" cy="460375"/>
        </p:xfrm>
        <a:graphic>
          <a:graphicData uri="http://schemas.openxmlformats.org/presentationml/2006/ole">
            <mc:AlternateContent xmlns:mc="http://schemas.openxmlformats.org/markup-compatibility/2006">
              <mc:Choice xmlns:v="urn:schemas-microsoft-com:vml" Requires="v">
                <p:oleObj r:id="rId2" imgW="647700" imgH="228600" progId="Equation.DSMT4">
                  <p:embed/>
                </p:oleObj>
              </mc:Choice>
              <mc:Fallback>
                <p:oleObj r:id="rId2" imgW="647700" imgH="228600" progId="Equation.DSMT4">
                  <p:embed/>
                  <p:pic>
                    <p:nvPicPr>
                      <p:cNvPr id="56325"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988" y="2184400"/>
                        <a:ext cx="1308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0" name="Picture 6" descr="6765081681398087791803"/>
          <p:cNvPicPr>
            <a:picLocks noChangeAspect="1" noChangeArrowheads="1"/>
          </p:cNvPicPr>
          <p:nvPr/>
        </p:nvPicPr>
        <p:blipFill>
          <a:blip r:embed="rId4">
            <a:duotone>
              <a:prstClr val="black"/>
              <a:schemeClr val="tx2">
                <a:tint val="45000"/>
                <a:satMod val="400000"/>
              </a:schemeClr>
            </a:duotone>
          </a:blip>
          <a:srcRect/>
          <a:stretch>
            <a:fillRect/>
          </a:stretch>
        </p:blipFill>
        <p:spPr bwMode="auto">
          <a:xfrm>
            <a:off x="762000" y="5943600"/>
            <a:ext cx="3886199" cy="630100"/>
          </a:xfrm>
          <a:prstGeom prst="rect">
            <a:avLst/>
          </a:prstGeom>
          <a:solidFill>
            <a:schemeClr val="bg1">
              <a:lumMod val="75000"/>
            </a:schemeClr>
          </a:solidFill>
          <a:ln>
            <a:noFill/>
          </a:ln>
          <a:effectLst/>
        </p:spPr>
      </p:pic>
      <p:graphicFrame>
        <p:nvGraphicFramePr>
          <p:cNvPr id="56327" name="Object 12"/>
          <p:cNvGraphicFramePr>
            <a:graphicFrameLocks noChangeAspect="1"/>
          </p:cNvGraphicFramePr>
          <p:nvPr/>
        </p:nvGraphicFramePr>
        <p:xfrm>
          <a:off x="1981200" y="2713038"/>
          <a:ext cx="1327150" cy="461962"/>
        </p:xfrm>
        <a:graphic>
          <a:graphicData uri="http://schemas.openxmlformats.org/presentationml/2006/ole">
            <mc:AlternateContent xmlns:mc="http://schemas.openxmlformats.org/markup-compatibility/2006">
              <mc:Choice xmlns:v="urn:schemas-microsoft-com:vml" Requires="v">
                <p:oleObj r:id="rId5" imgW="660400" imgH="228600" progId="Equation.DSMT4">
                  <p:embed/>
                </p:oleObj>
              </mc:Choice>
              <mc:Fallback>
                <p:oleObj r:id="rId5" imgW="660400" imgH="228600" progId="Equation.DSMT4">
                  <p:embed/>
                  <p:pic>
                    <p:nvPicPr>
                      <p:cNvPr id="56327"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713038"/>
                        <a:ext cx="1327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6328" name="图片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124200"/>
            <a:ext cx="58674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1663700"/>
          </a:xfrm>
        </p:spPr>
        <p:txBody>
          <a:bodyPr/>
          <a:lstStyle/>
          <a:p>
            <a:pPr algn="just" eaLnBrk="1" hangingPunct="1">
              <a:lnSpc>
                <a:spcPct val="120000"/>
              </a:lnSpc>
              <a:buFont typeface="Wingdings" panose="05000000000000000000" pitchFamily="2" charset="2"/>
              <a:buChar char="p"/>
              <a:defRPr/>
            </a:pPr>
            <a:r>
              <a:rPr lang="zh-CN" altLang="en-US" sz="2000" dirty="0">
                <a:latin typeface="Times New Roman" panose="02020603050405020304" pitchFamily="18" charset="0"/>
                <a:cs typeface="Times New Roman" panose="02020603050405020304" pitchFamily="18" charset="0"/>
              </a:rPr>
              <a:t>当</a:t>
            </a:r>
            <a:r>
              <a:rPr lang="en-US" altLang="zh-CN" sz="2000" i="1" dirty="0">
                <a:latin typeface="Times New Roman" panose="02020603050405020304" pitchFamily="18" charset="0"/>
                <a:cs typeface="Times New Roman" panose="02020603050405020304" pitchFamily="18" charset="0"/>
              </a:rPr>
              <a:t>k</a:t>
            </a:r>
            <a:r>
              <a:rPr lang="en-US" altLang="zh-CN" sz="2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时，出发点有</a:t>
            </a:r>
            <a:r>
              <a:rPr lang="en-US" altLang="zh-CN" sz="2000" dirty="0">
                <a:latin typeface="Times New Roman" panose="02020603050405020304" pitchFamily="18" charset="0"/>
                <a:cs typeface="Times New Roman" panose="02020603050405020304" pitchFamily="18" charset="0"/>
              </a:rPr>
              <a:t>E1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E2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E3</a:t>
            </a:r>
            <a:r>
              <a:rPr lang="zh-CN" altLang="en-US" sz="2000" dirty="0">
                <a:latin typeface="Times New Roman" panose="02020603050405020304" pitchFamily="18" charset="0"/>
                <a:cs typeface="Times New Roman" panose="02020603050405020304" pitchFamily="18" charset="0"/>
              </a:rPr>
              <a:t>  三个。若从</a:t>
            </a:r>
            <a:r>
              <a:rPr lang="en-US" altLang="zh-CN" sz="2000" i="1" dirty="0">
                <a:latin typeface="Times New Roman" panose="02020603050405020304" pitchFamily="18" charset="0"/>
                <a:cs typeface="Times New Roman" panose="02020603050405020304" pitchFamily="18" charset="0"/>
              </a:rPr>
              <a:t>E</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出发，则有两个选择①至</a:t>
            </a:r>
            <a:r>
              <a:rPr lang="en-US" altLang="zh-CN" sz="2000" dirty="0">
                <a:latin typeface="Times New Roman" panose="02020603050405020304" pitchFamily="18" charset="0"/>
                <a:cs typeface="Times New Roman" panose="02020603050405020304" pitchFamily="18" charset="0"/>
              </a:rPr>
              <a:t>F</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，②至</a:t>
            </a:r>
            <a:r>
              <a:rPr lang="en-US" altLang="zh-CN" sz="2000" dirty="0">
                <a:latin typeface="Times New Roman" panose="02020603050405020304" pitchFamily="18" charset="0"/>
                <a:cs typeface="Times New Roman" panose="02020603050405020304" pitchFamily="18" charset="0"/>
              </a:rPr>
              <a:t>F</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，则</a:t>
            </a:r>
          </a:p>
          <a:p>
            <a:pPr>
              <a:buClrTx/>
              <a:buFontTx/>
              <a:buNone/>
              <a:defRPr/>
            </a:pPr>
            <a:endParaRPr lang="zh-CN" altLang="en-US" sz="1400" dirty="0">
              <a:latin typeface="Times New Roman" panose="02020603050405020304" pitchFamily="18" charset="0"/>
              <a:cs typeface="Times New Roman" panose="02020603050405020304" pitchFamily="18" charset="0"/>
            </a:endParaRPr>
          </a:p>
          <a:p>
            <a:pPr algn="just" eaLnBrk="1" hangingPunct="1">
              <a:lnSpc>
                <a:spcPct val="120000"/>
              </a:lnSpc>
              <a:buFont typeface="Wingdings" panose="05000000000000000000" pitchFamily="2" charset="2"/>
              <a:buChar char="p"/>
              <a:defRPr/>
            </a:pPr>
            <a:endParaRPr lang="zh-CN" altLang="en-US" sz="2000" dirty="0">
              <a:latin typeface="+mn-ea"/>
            </a:endParaRPr>
          </a:p>
        </p:txBody>
      </p:sp>
      <p:sp>
        <p:nvSpPr>
          <p:cNvPr id="5734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7D68823C-32BF-4467-A992-A43FD9B6A3A4}" type="slidenum">
              <a:rPr lang="zh-CN" altLang="zh-CN" sz="1400">
                <a:latin typeface="Arial" panose="020B0604020202020204" pitchFamily="34" charset="0"/>
              </a:rPr>
              <a:pPr>
                <a:spcBef>
                  <a:spcPct val="0"/>
                </a:spcBef>
                <a:buClr>
                  <a:srgbClr val="000000"/>
                </a:buClr>
                <a:buFontTx/>
                <a:buNone/>
              </a:pPr>
              <a:t>40</a:t>
            </a:fld>
            <a:endParaRPr lang="en-US" altLang="zh-CN" sz="1400">
              <a:latin typeface="Arial" panose="020B0604020202020204" pitchFamily="34" charset="0"/>
            </a:endParaRPr>
          </a:p>
        </p:txBody>
      </p:sp>
      <p:sp>
        <p:nvSpPr>
          <p:cNvPr id="57348"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pic>
        <p:nvPicPr>
          <p:cNvPr id="90" name="Picture 6" descr="6765081681398087791803"/>
          <p:cNvPicPr>
            <a:picLocks noChangeAspect="1" noChangeArrowheads="1"/>
          </p:cNvPicPr>
          <p:nvPr/>
        </p:nvPicPr>
        <p:blipFill>
          <a:blip r:embed="rId2">
            <a:duotone>
              <a:prstClr val="black"/>
              <a:schemeClr val="tx2">
                <a:tint val="45000"/>
                <a:satMod val="400000"/>
              </a:schemeClr>
            </a:duotone>
          </a:blip>
          <a:srcRect/>
          <a:stretch>
            <a:fillRect/>
          </a:stretch>
        </p:blipFill>
        <p:spPr bwMode="auto">
          <a:xfrm>
            <a:off x="812175" y="6198576"/>
            <a:ext cx="2927643" cy="527524"/>
          </a:xfrm>
          <a:prstGeom prst="rect">
            <a:avLst/>
          </a:prstGeom>
          <a:solidFill>
            <a:schemeClr val="bg1">
              <a:lumMod val="75000"/>
            </a:schemeClr>
          </a:solidFill>
          <a:ln>
            <a:noFill/>
          </a:ln>
          <a:effectLst/>
        </p:spPr>
      </p:pic>
      <p:pic>
        <p:nvPicPr>
          <p:cNvPr id="59398" name="图片 4"/>
          <p:cNvPicPr>
            <a:picLocks noChangeAspect="1" noChangeArrowheads="1"/>
          </p:cNvPicPr>
          <p:nvPr/>
        </p:nvPicPr>
        <p:blipFill>
          <a:blip r:embed="rId3"/>
          <a:srcRect/>
          <a:stretch>
            <a:fillRect/>
          </a:stretch>
        </p:blipFill>
        <p:spPr bwMode="auto">
          <a:xfrm>
            <a:off x="4953000" y="5175250"/>
            <a:ext cx="3667125" cy="1682750"/>
          </a:xfrm>
          <a:prstGeom prst="rect">
            <a:avLst/>
          </a:prstGeom>
          <a:solidFill>
            <a:schemeClr val="bg1">
              <a:lumMod val="85000"/>
            </a:schemeClr>
          </a:solidFill>
          <a:ln>
            <a:noFill/>
          </a:ln>
        </p:spPr>
      </p:pic>
      <p:pic>
        <p:nvPicPr>
          <p:cNvPr id="57351" name="图片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925" y="2474913"/>
            <a:ext cx="6823075"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6"/>
          <p:cNvGrpSpPr>
            <a:grpSpLocks/>
          </p:cNvGrpSpPr>
          <p:nvPr/>
        </p:nvGrpSpPr>
        <p:grpSpPr bwMode="auto">
          <a:xfrm>
            <a:off x="755650" y="1755775"/>
            <a:ext cx="3206750" cy="1200150"/>
            <a:chOff x="338" y="-543"/>
            <a:chExt cx="2020" cy="756"/>
          </a:xfrm>
        </p:grpSpPr>
        <p:sp>
          <p:nvSpPr>
            <p:cNvPr id="2" name="Text Box 7"/>
            <p:cNvSpPr txBox="1">
              <a:spLocks noChangeArrowheads="1"/>
            </p:cNvSpPr>
            <p:nvPr/>
          </p:nvSpPr>
          <p:spPr bwMode="auto">
            <a:xfrm>
              <a:off x="338" y="-542"/>
              <a:ext cx="10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000000"/>
                </a:buClr>
                <a:buFontTx/>
                <a:buNone/>
              </a:pPr>
              <a:r>
                <a:rPr lang="en-US" altLang="zh-CN" sz="1800">
                  <a:latin typeface="Arial" panose="020B0604020202020204" pitchFamily="34" charset="0"/>
                </a:rPr>
                <a:t>k=4</a:t>
              </a:r>
              <a:r>
                <a:rPr lang="zh-CN" altLang="en-US" sz="1800">
                  <a:latin typeface="Arial" panose="020B0604020202020204" pitchFamily="34" charset="0"/>
                </a:rPr>
                <a:t>，</a:t>
              </a:r>
            </a:p>
          </p:txBody>
        </p:sp>
        <p:sp>
          <p:nvSpPr>
            <p:cNvPr id="58379" name="Text Box 8"/>
            <p:cNvSpPr txBox="1">
              <a:spLocks noChangeArrowheads="1"/>
            </p:cNvSpPr>
            <p:nvPr/>
          </p:nvSpPr>
          <p:spPr bwMode="auto">
            <a:xfrm>
              <a:off x="768" y="-543"/>
              <a:ext cx="1590" cy="75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000000"/>
                </a:buClr>
                <a:buFontTx/>
                <a:buNone/>
              </a:pPr>
              <a:r>
                <a:rPr lang="en-US" altLang="zh-CN" sz="1800" i="1">
                  <a:latin typeface="Arial" panose="020B0604020202020204" pitchFamily="34" charset="0"/>
                </a:rPr>
                <a:t>f</a:t>
              </a:r>
              <a:r>
                <a:rPr lang="en-US" altLang="zh-CN" sz="1800" baseline="-25000">
                  <a:latin typeface="Arial" panose="020B0604020202020204" pitchFamily="34" charset="0"/>
                </a:rPr>
                <a:t>4</a:t>
              </a:r>
              <a:r>
                <a:rPr lang="en-US" altLang="zh-CN" sz="1800">
                  <a:latin typeface="Arial" panose="020B0604020202020204" pitchFamily="34" charset="0"/>
                </a:rPr>
                <a:t>(D1)=7   </a:t>
              </a:r>
              <a:r>
                <a:rPr lang="en-US" altLang="zh-CN" sz="1800" i="1">
                  <a:latin typeface="Arial" panose="020B0604020202020204" pitchFamily="34" charset="0"/>
                </a:rPr>
                <a:t>u</a:t>
              </a:r>
              <a:r>
                <a:rPr lang="en-US" altLang="zh-CN" sz="1800" baseline="-25000">
                  <a:latin typeface="Arial" panose="020B0604020202020204" pitchFamily="34" charset="0"/>
                </a:rPr>
                <a:t>4</a:t>
              </a:r>
              <a:r>
                <a:rPr lang="en-US" altLang="zh-CN" sz="1800">
                  <a:latin typeface="Arial" panose="020B0604020202020204" pitchFamily="34" charset="0"/>
                </a:rPr>
                <a:t>(D1)=E2</a:t>
              </a:r>
            </a:p>
            <a:p>
              <a:pPr eaLnBrk="1" hangingPunct="1">
                <a:spcBef>
                  <a:spcPct val="50000"/>
                </a:spcBef>
                <a:buClr>
                  <a:srgbClr val="000000"/>
                </a:buClr>
                <a:buFontTx/>
                <a:buNone/>
              </a:pPr>
              <a:r>
                <a:rPr lang="en-US" altLang="zh-CN" sz="1800" i="1">
                  <a:latin typeface="Arial" panose="020B0604020202020204" pitchFamily="34" charset="0"/>
                </a:rPr>
                <a:t>f</a:t>
              </a:r>
              <a:r>
                <a:rPr lang="en-US" altLang="zh-CN" sz="1800" baseline="-25000">
                  <a:latin typeface="Arial" panose="020B0604020202020204" pitchFamily="34" charset="0"/>
                </a:rPr>
                <a:t>4</a:t>
              </a:r>
              <a:r>
                <a:rPr lang="en-US" altLang="zh-CN" sz="1800">
                  <a:latin typeface="Arial" panose="020B0604020202020204" pitchFamily="34" charset="0"/>
                </a:rPr>
                <a:t>(D2)=6   </a:t>
              </a:r>
              <a:r>
                <a:rPr lang="en-US" altLang="zh-CN" sz="1800" i="1">
                  <a:latin typeface="Arial" panose="020B0604020202020204" pitchFamily="34" charset="0"/>
                </a:rPr>
                <a:t>u</a:t>
              </a:r>
              <a:r>
                <a:rPr lang="en-US" altLang="zh-CN" sz="1800" baseline="-25000">
                  <a:latin typeface="Arial" panose="020B0604020202020204" pitchFamily="34" charset="0"/>
                </a:rPr>
                <a:t>4</a:t>
              </a:r>
              <a:r>
                <a:rPr lang="en-US" altLang="zh-CN" sz="1800">
                  <a:latin typeface="Arial" panose="020B0604020202020204" pitchFamily="34" charset="0"/>
                </a:rPr>
                <a:t>(D2)=E2</a:t>
              </a:r>
            </a:p>
            <a:p>
              <a:pPr eaLnBrk="1" hangingPunct="1">
                <a:spcBef>
                  <a:spcPct val="50000"/>
                </a:spcBef>
                <a:buClr>
                  <a:srgbClr val="000000"/>
                </a:buClr>
                <a:buFontTx/>
                <a:buNone/>
              </a:pPr>
              <a:r>
                <a:rPr lang="en-US" altLang="zh-CN" sz="1800" i="1">
                  <a:latin typeface="Arial" panose="020B0604020202020204" pitchFamily="34" charset="0"/>
                </a:rPr>
                <a:t>f</a:t>
              </a:r>
              <a:r>
                <a:rPr lang="en-US" altLang="zh-CN" sz="1800" baseline="-25000">
                  <a:latin typeface="Arial" panose="020B0604020202020204" pitchFamily="34" charset="0"/>
                </a:rPr>
                <a:t>4</a:t>
              </a:r>
              <a:r>
                <a:rPr lang="en-US" altLang="zh-CN" sz="1800">
                  <a:latin typeface="Arial" panose="020B0604020202020204" pitchFamily="34" charset="0"/>
                </a:rPr>
                <a:t>(D3)=8  </a:t>
              </a:r>
              <a:r>
                <a:rPr lang="en-US" altLang="zh-CN" sz="1800" i="1">
                  <a:latin typeface="Arial" panose="020B0604020202020204" pitchFamily="34" charset="0"/>
                </a:rPr>
                <a:t>u</a:t>
              </a:r>
              <a:r>
                <a:rPr lang="en-US" altLang="zh-CN" sz="1800" baseline="-25000">
                  <a:latin typeface="Arial" panose="020B0604020202020204" pitchFamily="34" charset="0"/>
                </a:rPr>
                <a:t>4</a:t>
              </a:r>
              <a:r>
                <a:rPr lang="en-US" altLang="zh-CN" sz="1800">
                  <a:latin typeface="Arial" panose="020B0604020202020204" pitchFamily="34" charset="0"/>
                </a:rPr>
                <a:t>(D3)=E2</a:t>
              </a:r>
            </a:p>
          </p:txBody>
        </p:sp>
      </p:grpSp>
      <p:sp>
        <p:nvSpPr>
          <p:cNvPr id="58377" name="Text Box 9"/>
          <p:cNvSpPr txBox="1">
            <a:spLocks noChangeArrowheads="1"/>
          </p:cNvSpPr>
          <p:nvPr/>
        </p:nvSpPr>
        <p:spPr bwMode="auto">
          <a:xfrm>
            <a:off x="682625" y="3371850"/>
            <a:ext cx="3127375" cy="784225"/>
          </a:xfrm>
          <a:prstGeom prst="rect">
            <a:avLst/>
          </a:prstGeom>
          <a:solidFill>
            <a:schemeClr val="bg1">
              <a:lumMod val="75000"/>
            </a:schemeClr>
          </a:solidFill>
          <a:ln>
            <a:noFill/>
          </a:ln>
          <a:effec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000000"/>
              </a:buClr>
              <a:buFontTx/>
              <a:buNone/>
              <a:defRPr/>
            </a:pPr>
            <a:r>
              <a:rPr lang="en-US" altLang="zh-CN" sz="1800" dirty="0">
                <a:latin typeface="Arial" panose="020B0604020202020204" pitchFamily="34" charset="0"/>
              </a:rPr>
              <a:t>k=2, </a:t>
            </a:r>
            <a:r>
              <a:rPr lang="en-US" altLang="zh-CN" sz="1800" i="1" dirty="0">
                <a:latin typeface="Arial" panose="020B0604020202020204" pitchFamily="34" charset="0"/>
              </a:rPr>
              <a:t> f</a:t>
            </a:r>
            <a:r>
              <a:rPr lang="en-US" altLang="zh-CN" sz="1800" baseline="-25000" dirty="0">
                <a:latin typeface="Arial" panose="020B0604020202020204" pitchFamily="34" charset="0"/>
              </a:rPr>
              <a:t>2</a:t>
            </a:r>
            <a:r>
              <a:rPr lang="en-US" altLang="zh-CN" sz="1800" dirty="0">
                <a:latin typeface="Arial" panose="020B0604020202020204" pitchFamily="34" charset="0"/>
              </a:rPr>
              <a:t>(B1)=13   </a:t>
            </a:r>
            <a:r>
              <a:rPr lang="en-US" altLang="zh-CN" sz="1800" i="1" dirty="0">
                <a:latin typeface="Arial" panose="020B0604020202020204" pitchFamily="34" charset="0"/>
              </a:rPr>
              <a:t>u</a:t>
            </a:r>
            <a:r>
              <a:rPr lang="en-US" altLang="zh-CN" sz="1800" baseline="-25000" dirty="0">
                <a:latin typeface="Arial" panose="020B0604020202020204" pitchFamily="34" charset="0"/>
              </a:rPr>
              <a:t>2</a:t>
            </a:r>
            <a:r>
              <a:rPr lang="en-US" altLang="zh-CN" sz="1800" dirty="0">
                <a:latin typeface="Arial" panose="020B0604020202020204" pitchFamily="34" charset="0"/>
              </a:rPr>
              <a:t>(B1)=C2</a:t>
            </a:r>
          </a:p>
          <a:p>
            <a:pPr eaLnBrk="1" hangingPunct="1">
              <a:spcBef>
                <a:spcPct val="50000"/>
              </a:spcBef>
              <a:buClr>
                <a:srgbClr val="000000"/>
              </a:buClr>
              <a:buFontTx/>
              <a:buNone/>
              <a:defRPr/>
            </a:pPr>
            <a:r>
              <a:rPr lang="en-US" altLang="zh-CN" sz="1800" i="1" dirty="0">
                <a:latin typeface="Arial" panose="020B0604020202020204" pitchFamily="34" charset="0"/>
              </a:rPr>
              <a:t>       f</a:t>
            </a:r>
            <a:r>
              <a:rPr lang="en-US" altLang="zh-CN" sz="1800" baseline="-25000" dirty="0">
                <a:latin typeface="Arial" panose="020B0604020202020204" pitchFamily="34" charset="0"/>
              </a:rPr>
              <a:t>2</a:t>
            </a:r>
            <a:r>
              <a:rPr lang="en-US" altLang="zh-CN" sz="1800" dirty="0">
                <a:latin typeface="Arial" panose="020B0604020202020204" pitchFamily="34" charset="0"/>
              </a:rPr>
              <a:t>(B2)=16   </a:t>
            </a:r>
            <a:r>
              <a:rPr lang="en-US" altLang="zh-CN" sz="1800" i="1" dirty="0">
                <a:latin typeface="Arial" panose="020B0604020202020204" pitchFamily="34" charset="0"/>
              </a:rPr>
              <a:t>u</a:t>
            </a:r>
            <a:r>
              <a:rPr lang="en-US" altLang="zh-CN" sz="1800" baseline="-25000" dirty="0">
                <a:latin typeface="Arial" panose="020B0604020202020204" pitchFamily="34" charset="0"/>
              </a:rPr>
              <a:t>2</a:t>
            </a:r>
            <a:r>
              <a:rPr lang="en-US" altLang="zh-CN" sz="1800" dirty="0">
                <a:latin typeface="Arial" panose="020B0604020202020204" pitchFamily="34" charset="0"/>
              </a:rPr>
              <a:t>(B2)=C3</a:t>
            </a:r>
          </a:p>
        </p:txBody>
      </p:sp>
      <p:grpSp>
        <p:nvGrpSpPr>
          <p:cNvPr id="58378" name="Group 10"/>
          <p:cNvGrpSpPr>
            <a:grpSpLocks/>
          </p:cNvGrpSpPr>
          <p:nvPr/>
        </p:nvGrpSpPr>
        <p:grpSpPr bwMode="auto">
          <a:xfrm>
            <a:off x="4343400" y="2062162"/>
            <a:ext cx="3263900" cy="1616075"/>
            <a:chOff x="4489" y="0"/>
            <a:chExt cx="2129" cy="1018"/>
          </a:xfrm>
        </p:grpSpPr>
        <p:sp>
          <p:nvSpPr>
            <p:cNvPr id="58376" name="Text Box 11"/>
            <p:cNvSpPr txBox="1">
              <a:spLocks noChangeArrowheads="1"/>
            </p:cNvSpPr>
            <p:nvPr/>
          </p:nvSpPr>
          <p:spPr bwMode="auto">
            <a:xfrm>
              <a:off x="4848" y="0"/>
              <a:ext cx="1770" cy="10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000000"/>
                </a:buClr>
                <a:buFontTx/>
                <a:buNone/>
              </a:pPr>
              <a:r>
                <a:rPr lang="en-US" altLang="zh-CN" sz="1800" i="1" dirty="0">
                  <a:latin typeface="Arial" panose="020B0604020202020204" pitchFamily="34" charset="0"/>
                </a:rPr>
                <a:t>f</a:t>
              </a:r>
              <a:r>
                <a:rPr lang="en-US" altLang="zh-CN" sz="1800" baseline="-25000" dirty="0">
                  <a:latin typeface="Arial" panose="020B0604020202020204" pitchFamily="34" charset="0"/>
                </a:rPr>
                <a:t>3</a:t>
              </a:r>
              <a:r>
                <a:rPr lang="en-US" altLang="zh-CN" sz="1800" dirty="0">
                  <a:latin typeface="Arial" panose="020B0604020202020204" pitchFamily="34" charset="0"/>
                </a:rPr>
                <a:t>(C1)=13  </a:t>
              </a:r>
              <a:r>
                <a:rPr lang="en-US" altLang="zh-CN" sz="1800" i="1" dirty="0">
                  <a:latin typeface="Arial" panose="020B0604020202020204" pitchFamily="34" charset="0"/>
                </a:rPr>
                <a:t>u</a:t>
              </a:r>
              <a:r>
                <a:rPr lang="en-US" altLang="zh-CN" sz="1800" baseline="-25000" dirty="0">
                  <a:latin typeface="Arial" panose="020B0604020202020204" pitchFamily="34" charset="0"/>
                </a:rPr>
                <a:t>3</a:t>
              </a:r>
              <a:r>
                <a:rPr lang="en-US" altLang="zh-CN" sz="1800" dirty="0">
                  <a:latin typeface="Arial" panose="020B0604020202020204" pitchFamily="34" charset="0"/>
                </a:rPr>
                <a:t>(C1)=D1</a:t>
              </a:r>
            </a:p>
            <a:p>
              <a:pPr eaLnBrk="1" hangingPunct="1">
                <a:spcBef>
                  <a:spcPct val="50000"/>
                </a:spcBef>
                <a:buClr>
                  <a:srgbClr val="000000"/>
                </a:buClr>
                <a:buFontTx/>
                <a:buNone/>
              </a:pPr>
              <a:r>
                <a:rPr lang="en-US" altLang="zh-CN" sz="1800" i="1" dirty="0">
                  <a:latin typeface="Arial" panose="020B0604020202020204" pitchFamily="34" charset="0"/>
                </a:rPr>
                <a:t>f</a:t>
              </a:r>
              <a:r>
                <a:rPr lang="en-US" altLang="zh-CN" sz="1800" baseline="-25000" dirty="0">
                  <a:latin typeface="Arial" panose="020B0604020202020204" pitchFamily="34" charset="0"/>
                </a:rPr>
                <a:t>3</a:t>
              </a:r>
              <a:r>
                <a:rPr lang="en-US" altLang="zh-CN" sz="1800" dirty="0">
                  <a:latin typeface="Arial" panose="020B0604020202020204" pitchFamily="34" charset="0"/>
                </a:rPr>
                <a:t>(C2)=10  </a:t>
              </a:r>
              <a:r>
                <a:rPr lang="en-US" altLang="zh-CN" sz="1800" i="1" dirty="0">
                  <a:latin typeface="Arial" panose="020B0604020202020204" pitchFamily="34" charset="0"/>
                </a:rPr>
                <a:t>u</a:t>
              </a:r>
              <a:r>
                <a:rPr lang="en-US" altLang="zh-CN" sz="1800" baseline="-25000" dirty="0">
                  <a:latin typeface="Arial" panose="020B0604020202020204" pitchFamily="34" charset="0"/>
                </a:rPr>
                <a:t>3</a:t>
              </a:r>
              <a:r>
                <a:rPr lang="en-US" altLang="zh-CN" sz="1800" dirty="0">
                  <a:latin typeface="Arial" panose="020B0604020202020204" pitchFamily="34" charset="0"/>
                </a:rPr>
                <a:t>(C2)=D1</a:t>
              </a:r>
            </a:p>
            <a:p>
              <a:pPr eaLnBrk="1" hangingPunct="1">
                <a:spcBef>
                  <a:spcPct val="50000"/>
                </a:spcBef>
                <a:buClr>
                  <a:srgbClr val="000000"/>
                </a:buClr>
                <a:buFontTx/>
                <a:buNone/>
              </a:pPr>
              <a:r>
                <a:rPr lang="en-US" altLang="zh-CN" sz="1800" i="1" dirty="0">
                  <a:latin typeface="Arial" panose="020B0604020202020204" pitchFamily="34" charset="0"/>
                </a:rPr>
                <a:t>f</a:t>
              </a:r>
              <a:r>
                <a:rPr lang="en-US" altLang="zh-CN" sz="1800" baseline="-25000" dirty="0">
                  <a:latin typeface="Arial" panose="020B0604020202020204" pitchFamily="34" charset="0"/>
                </a:rPr>
                <a:t>3</a:t>
              </a:r>
              <a:r>
                <a:rPr lang="en-US" altLang="zh-CN" sz="1800" dirty="0">
                  <a:latin typeface="Arial" panose="020B0604020202020204" pitchFamily="34" charset="0"/>
                </a:rPr>
                <a:t>(C3)=9  </a:t>
              </a:r>
              <a:r>
                <a:rPr lang="en-US" altLang="zh-CN" sz="1800" i="1" dirty="0">
                  <a:latin typeface="Arial" panose="020B0604020202020204" pitchFamily="34" charset="0"/>
                </a:rPr>
                <a:t>u</a:t>
              </a:r>
              <a:r>
                <a:rPr lang="en-US" altLang="zh-CN" sz="1800" baseline="-25000" dirty="0">
                  <a:latin typeface="Arial" panose="020B0604020202020204" pitchFamily="34" charset="0"/>
                </a:rPr>
                <a:t>3</a:t>
              </a:r>
              <a:r>
                <a:rPr lang="en-US" altLang="zh-CN" sz="1800" dirty="0">
                  <a:latin typeface="Arial" panose="020B0604020202020204" pitchFamily="34" charset="0"/>
                </a:rPr>
                <a:t>(C3)=D2</a:t>
              </a:r>
            </a:p>
            <a:p>
              <a:pPr eaLnBrk="1" hangingPunct="1">
                <a:spcBef>
                  <a:spcPct val="50000"/>
                </a:spcBef>
                <a:buClr>
                  <a:srgbClr val="000000"/>
                </a:buClr>
                <a:buFontTx/>
                <a:buNone/>
              </a:pPr>
              <a:r>
                <a:rPr lang="en-US" altLang="zh-CN" sz="1800" i="1" dirty="0">
                  <a:latin typeface="Arial" panose="020B0604020202020204" pitchFamily="34" charset="0"/>
                </a:rPr>
                <a:t>f</a:t>
              </a:r>
              <a:r>
                <a:rPr lang="en-US" altLang="zh-CN" sz="1800" baseline="-25000" dirty="0">
                  <a:latin typeface="Arial" panose="020B0604020202020204" pitchFamily="34" charset="0"/>
                </a:rPr>
                <a:t>3</a:t>
              </a:r>
              <a:r>
                <a:rPr lang="en-US" altLang="zh-CN" sz="1800" dirty="0">
                  <a:latin typeface="Arial" panose="020B0604020202020204" pitchFamily="34" charset="0"/>
                </a:rPr>
                <a:t>(C4)=12  </a:t>
              </a:r>
              <a:r>
                <a:rPr lang="en-US" altLang="zh-CN" sz="1800" i="1" dirty="0">
                  <a:latin typeface="Arial" panose="020B0604020202020204" pitchFamily="34" charset="0"/>
                </a:rPr>
                <a:t>u</a:t>
              </a:r>
              <a:r>
                <a:rPr lang="en-US" altLang="zh-CN" sz="1800" baseline="-25000" dirty="0">
                  <a:latin typeface="Arial" panose="020B0604020202020204" pitchFamily="34" charset="0"/>
                </a:rPr>
                <a:t>3</a:t>
              </a:r>
              <a:r>
                <a:rPr lang="en-US" altLang="zh-CN" sz="1800" dirty="0">
                  <a:latin typeface="Arial" panose="020B0604020202020204" pitchFamily="34" charset="0"/>
                </a:rPr>
                <a:t>(C4)=D3</a:t>
              </a:r>
            </a:p>
          </p:txBody>
        </p:sp>
        <p:sp>
          <p:nvSpPr>
            <p:cNvPr id="3" name="Text Box 12"/>
            <p:cNvSpPr txBox="1">
              <a:spLocks noChangeArrowheads="1"/>
            </p:cNvSpPr>
            <p:nvPr/>
          </p:nvSpPr>
          <p:spPr bwMode="auto">
            <a:xfrm>
              <a:off x="4489" y="0"/>
              <a:ext cx="81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000000"/>
                </a:buClr>
                <a:buFontTx/>
                <a:buNone/>
              </a:pPr>
              <a:r>
                <a:rPr lang="en-US" altLang="zh-CN" sz="1800">
                  <a:latin typeface="Arial" panose="020B0604020202020204" pitchFamily="34" charset="0"/>
                </a:rPr>
                <a:t>k=3,</a:t>
              </a:r>
            </a:p>
          </p:txBody>
        </p:sp>
      </p:grpSp>
      <p:sp>
        <p:nvSpPr>
          <p:cNvPr id="58373" name="Text Box 29"/>
          <p:cNvSpPr txBox="1">
            <a:spLocks noChangeArrowheads="1"/>
          </p:cNvSpPr>
          <p:nvPr/>
        </p:nvSpPr>
        <p:spPr bwMode="auto">
          <a:xfrm>
            <a:off x="838200" y="5732463"/>
            <a:ext cx="12954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000000"/>
              </a:buClr>
              <a:buFontTx/>
              <a:buNone/>
            </a:pPr>
            <a:r>
              <a:rPr lang="en-US" altLang="zh-CN" sz="1800" i="1">
                <a:latin typeface="Arial" panose="020B0604020202020204" pitchFamily="34" charset="0"/>
              </a:rPr>
              <a:t>u</a:t>
            </a:r>
            <a:r>
              <a:rPr lang="en-US" altLang="zh-CN" sz="1800" baseline="-25000">
                <a:latin typeface="Arial" panose="020B0604020202020204" pitchFamily="34" charset="0"/>
              </a:rPr>
              <a:t>1</a:t>
            </a:r>
            <a:r>
              <a:rPr lang="en-US" altLang="zh-CN" sz="1800">
                <a:latin typeface="Arial" panose="020B0604020202020204" pitchFamily="34" charset="0"/>
              </a:rPr>
              <a:t>(A)=B1</a:t>
            </a:r>
          </a:p>
        </p:txBody>
      </p:sp>
      <p:pic>
        <p:nvPicPr>
          <p:cNvPr id="58374"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88" y="4400550"/>
            <a:ext cx="67881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41"/>
          <p:cNvSpPr>
            <a:spLocks noChangeArrowheads="1"/>
          </p:cNvSpPr>
          <p:nvPr/>
        </p:nvSpPr>
        <p:spPr bwMode="auto">
          <a:xfrm>
            <a:off x="2030413" y="5680075"/>
            <a:ext cx="6122987" cy="460375"/>
          </a:xfrm>
          <a:prstGeom prst="rect">
            <a:avLst/>
          </a:prstGeom>
          <a:solidFill>
            <a:schemeClr val="bg1">
              <a:lumMod val="85000"/>
            </a:schemeClr>
          </a:solidFill>
          <a:ln>
            <a:noFill/>
          </a:ln>
          <a:effectLst/>
        </p:spPr>
        <p:txBody>
          <a:bodyPr anchor="ctr">
            <a:spAutoFit/>
          </a:bodyPr>
          <a:lstStyle/>
          <a:p>
            <a:pPr>
              <a:defRPr/>
            </a:pPr>
            <a:r>
              <a:rPr lang="zh-CN" altLang="en-US" sz="2400" dirty="0">
                <a:latin typeface="Times New Roman" panose="02020603050405020304" pitchFamily="18" charset="0"/>
                <a:cs typeface="Times New Roman" panose="02020603050405020304" pitchFamily="18" charset="0"/>
              </a:rPr>
              <a:t>于是得到从起点</a:t>
            </a:r>
            <a:r>
              <a:rPr lang="en-US" altLang="zh-CN" sz="2400" i="1"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到终点</a:t>
            </a:r>
            <a:r>
              <a:rPr lang="en-US" altLang="zh-CN" sz="2400" i="1" dirty="0">
                <a:latin typeface="Times New Roman" panose="02020603050405020304" pitchFamily="18" charset="0"/>
                <a:cs typeface="Times New Roman" panose="02020603050405020304" pitchFamily="18" charset="0"/>
              </a:rPr>
              <a:t>G</a:t>
            </a:r>
            <a:r>
              <a:rPr lang="zh-CN" altLang="en-US" sz="2400" dirty="0">
                <a:latin typeface="Times New Roman" panose="02020603050405020304" pitchFamily="18" charset="0"/>
                <a:cs typeface="Times New Roman" panose="02020603050405020304" pitchFamily="18" charset="0"/>
              </a:rPr>
              <a:t>的最短距离为</a:t>
            </a:r>
            <a:r>
              <a:rPr lang="en-US" altLang="zh-CN" sz="2400" dirty="0">
                <a:latin typeface="Times New Roman" panose="02020603050405020304" pitchFamily="18" charset="0"/>
                <a:cs typeface="Times New Roman" panose="02020603050405020304" pitchFamily="18" charset="0"/>
              </a:rPr>
              <a:t>18</a:t>
            </a:r>
            <a:r>
              <a:rPr lang="zh-CN" altLang="en-US" sz="2400" dirty="0">
                <a:latin typeface="Times New Roman" panose="02020603050405020304" pitchFamily="18" charset="0"/>
                <a:cs typeface="Times New Roman" panose="02020603050405020304" pitchFamily="18" charset="0"/>
              </a:rPr>
              <a:t>。</a:t>
            </a:r>
            <a:r>
              <a:rPr lang="zh-CN" altLang="en-US" sz="2400" dirty="0"/>
              <a:t> </a:t>
            </a:r>
          </a:p>
        </p:txBody>
      </p:sp>
      <p:pic>
        <p:nvPicPr>
          <p:cNvPr id="12" name="图片 4">
            <a:extLst>
              <a:ext uri="{FF2B5EF4-FFF2-40B4-BE49-F238E27FC236}">
                <a16:creationId xmlns:a16="http://schemas.microsoft.com/office/drawing/2014/main" id="{1C8E265A-5015-4CE1-B5FE-9A37CD8334BA}"/>
              </a:ext>
            </a:extLst>
          </p:cNvPr>
          <p:cNvPicPr>
            <a:picLocks noChangeAspect="1" noChangeArrowheads="1"/>
          </p:cNvPicPr>
          <p:nvPr/>
        </p:nvPicPr>
        <p:blipFill>
          <a:blip r:embed="rId3"/>
          <a:srcRect/>
          <a:stretch>
            <a:fillRect/>
          </a:stretch>
        </p:blipFill>
        <p:spPr bwMode="auto">
          <a:xfrm>
            <a:off x="5257800" y="112712"/>
            <a:ext cx="3352800" cy="1538514"/>
          </a:xfrm>
          <a:prstGeom prst="rect">
            <a:avLst/>
          </a:prstGeom>
          <a:solidFill>
            <a:schemeClr val="bg1">
              <a:lumMod val="85000"/>
            </a:schemeClr>
          </a:solid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83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8373"/>
                                        </p:tgtEl>
                                        <p:attrNameLst>
                                          <p:attrName>style.visibility</p:attrName>
                                        </p:attrNameLst>
                                      </p:cBhvr>
                                      <p:to>
                                        <p:strVal val="visible"/>
                                      </p:to>
                                    </p:set>
                                    <p:anim calcmode="lin" valueType="num">
                                      <p:cBhvr additive="base">
                                        <p:cTn id="15" dur="500" fill="hold"/>
                                        <p:tgtEl>
                                          <p:spTgt spid="58373"/>
                                        </p:tgtEl>
                                        <p:attrNameLst>
                                          <p:attrName>ppt_x</p:attrName>
                                        </p:attrNameLst>
                                      </p:cBhvr>
                                      <p:tavLst>
                                        <p:tav tm="0">
                                          <p:val>
                                            <p:strVal val="#ppt_x"/>
                                          </p:val>
                                        </p:tav>
                                        <p:tav tm="100000">
                                          <p:val>
                                            <p:strVal val="#ppt_x"/>
                                          </p:val>
                                        </p:tav>
                                      </p:tavLst>
                                    </p:anim>
                                    <p:anim calcmode="lin" valueType="num">
                                      <p:cBhvr additive="base">
                                        <p:cTn id="16" dur="500" fill="hold"/>
                                        <p:tgtEl>
                                          <p:spTgt spid="5837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8374"/>
                                        </p:tgtEl>
                                        <p:attrNameLst>
                                          <p:attrName>style.visibility</p:attrName>
                                        </p:attrNameLst>
                                      </p:cBhvr>
                                      <p:to>
                                        <p:strVal val="visible"/>
                                      </p:to>
                                    </p:set>
                                    <p:anim calcmode="lin" valueType="num">
                                      <p:cBhvr additive="base">
                                        <p:cTn id="19" dur="500" fill="hold"/>
                                        <p:tgtEl>
                                          <p:spTgt spid="58374"/>
                                        </p:tgtEl>
                                        <p:attrNameLst>
                                          <p:attrName>ppt_x</p:attrName>
                                        </p:attrNameLst>
                                      </p:cBhvr>
                                      <p:tavLst>
                                        <p:tav tm="0">
                                          <p:val>
                                            <p:strVal val="#ppt_x"/>
                                          </p:val>
                                        </p:tav>
                                        <p:tav tm="100000">
                                          <p:val>
                                            <p:strVal val="#ppt_x"/>
                                          </p:val>
                                        </p:tav>
                                      </p:tavLst>
                                    </p:anim>
                                    <p:anim calcmode="lin" valueType="num">
                                      <p:cBhvr additive="base">
                                        <p:cTn id="20" dur="500" fill="hold"/>
                                        <p:tgtEl>
                                          <p:spTgt spid="5837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ppt_x"/>
                                          </p:val>
                                        </p:tav>
                                        <p:tav tm="100000">
                                          <p:val>
                                            <p:strVal val="#ppt_x"/>
                                          </p:val>
                                        </p:tav>
                                      </p:tavLst>
                                    </p:anim>
                                    <p:anim calcmode="lin" valueType="num">
                                      <p:cBhvr additive="base">
                                        <p:cTn id="2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7" grpId="0" animBg="1" autoUpdateAnimBg="0"/>
      <p:bldP spid="58373" grpId="0"/>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3"/>
          <p:cNvSpPr txBox="1">
            <a:spLocks noChangeArrowheads="1"/>
          </p:cNvSpPr>
          <p:nvPr/>
        </p:nvSpPr>
        <p:spPr>
          <a:xfrm>
            <a:off x="663575" y="2438400"/>
            <a:ext cx="7848600" cy="501650"/>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algn="just" eaLnBrk="1" hangingPunct="1">
              <a:lnSpc>
                <a:spcPct val="120000"/>
              </a:lnSpc>
              <a:buFont typeface="Wingdings" panose="05000000000000000000" pitchFamily="2" charset="2"/>
              <a:buNone/>
              <a:defRPr/>
            </a:pPr>
            <a:r>
              <a:rPr lang="zh-CN" altLang="en-US" sz="2200" dirty="0">
                <a:latin typeface="Times New Roman" panose="02020603050405020304" pitchFamily="18" charset="0"/>
                <a:cs typeface="Times New Roman" panose="02020603050405020304" pitchFamily="18" charset="0"/>
              </a:rPr>
              <a:t>组成一个</a:t>
            </a:r>
            <a:r>
              <a:rPr lang="zh-CN" altLang="en-US" sz="2200" b="1" dirty="0">
                <a:solidFill>
                  <a:srgbClr val="FF0000"/>
                </a:solidFill>
                <a:latin typeface="Times New Roman" panose="02020603050405020304" pitchFamily="18" charset="0"/>
                <a:cs typeface="Times New Roman" panose="02020603050405020304" pitchFamily="18" charset="0"/>
              </a:rPr>
              <a:t>最优策略</a:t>
            </a:r>
            <a:r>
              <a:rPr lang="zh-CN" altLang="en-US" sz="2200" dirty="0">
                <a:latin typeface="Times New Roman" panose="02020603050405020304" pitchFamily="18" charset="0"/>
                <a:cs typeface="Times New Roman" panose="02020603050405020304" pitchFamily="18" charset="0"/>
              </a:rPr>
              <a:t>。因而，找出相应的</a:t>
            </a:r>
            <a:r>
              <a:rPr lang="zh-CN" altLang="en-US" sz="2200" dirty="0">
                <a:solidFill>
                  <a:srgbClr val="FF0000"/>
                </a:solidFill>
                <a:latin typeface="Times New Roman" panose="02020603050405020304" pitchFamily="18" charset="0"/>
                <a:cs typeface="Times New Roman" panose="02020603050405020304" pitchFamily="18" charset="0"/>
              </a:rPr>
              <a:t>最短路线</a:t>
            </a:r>
            <a:r>
              <a:rPr lang="zh-CN" altLang="en-US" sz="2200" dirty="0">
                <a:latin typeface="Times New Roman" panose="02020603050405020304" pitchFamily="18" charset="0"/>
                <a:cs typeface="Times New Roman" panose="02020603050405020304" pitchFamily="18" charset="0"/>
              </a:rPr>
              <a:t>为</a:t>
            </a:r>
            <a:endParaRPr lang="zh-CN" altLang="en-US" sz="2200" kern="0" dirty="0">
              <a:latin typeface="Times New Roman" panose="02020603050405020304" pitchFamily="18" charset="0"/>
              <a:cs typeface="Times New Roman" panose="02020603050405020304" pitchFamily="18" charset="0"/>
            </a:endParaRPr>
          </a:p>
        </p:txBody>
      </p:sp>
      <p:graphicFrame>
        <p:nvGraphicFramePr>
          <p:cNvPr id="59395" name="Object 16"/>
          <p:cNvGraphicFramePr>
            <a:graphicFrameLocks noChangeAspect="1"/>
          </p:cNvGraphicFramePr>
          <p:nvPr/>
        </p:nvGraphicFramePr>
        <p:xfrm>
          <a:off x="762000" y="1905000"/>
          <a:ext cx="7723188" cy="385763"/>
        </p:xfrm>
        <a:graphic>
          <a:graphicData uri="http://schemas.openxmlformats.org/presentationml/2006/ole">
            <mc:AlternateContent xmlns:mc="http://schemas.openxmlformats.org/markup-compatibility/2006">
              <mc:Choice xmlns:v="urn:schemas-microsoft-com:vml" Requires="v">
                <p:oleObj r:id="rId2" imgW="4381500" imgH="228600" progId="Equation.DSMT4">
                  <p:embed/>
                </p:oleObj>
              </mc:Choice>
              <mc:Fallback>
                <p:oleObj r:id="rId2" imgW="4381500" imgH="228600" progId="Equation.DSMT4">
                  <p:embed/>
                  <p:pic>
                    <p:nvPicPr>
                      <p:cNvPr id="59395"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7723188" cy="385763"/>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396" name="Object 15"/>
          <p:cNvGraphicFramePr>
            <a:graphicFrameLocks noChangeAspect="1"/>
          </p:cNvGraphicFramePr>
          <p:nvPr/>
        </p:nvGraphicFramePr>
        <p:xfrm>
          <a:off x="1908175" y="3032125"/>
          <a:ext cx="5006975" cy="498475"/>
        </p:xfrm>
        <a:graphic>
          <a:graphicData uri="http://schemas.openxmlformats.org/presentationml/2006/ole">
            <mc:AlternateContent xmlns:mc="http://schemas.openxmlformats.org/markup-compatibility/2006">
              <mc:Choice xmlns:v="urn:schemas-microsoft-com:vml" Requires="v">
                <p:oleObj r:id="rId4" imgW="2298700" imgH="228600" progId="Equation.DSMT4">
                  <p:embed/>
                </p:oleObj>
              </mc:Choice>
              <mc:Fallback>
                <p:oleObj r:id="rId4" imgW="2298700" imgH="228600" progId="Equation.DSMT4">
                  <p:embed/>
                  <p:pic>
                    <p:nvPicPr>
                      <p:cNvPr id="59396"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3032125"/>
                        <a:ext cx="50069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9397" name="组合 23"/>
          <p:cNvGrpSpPr>
            <a:grpSpLocks/>
          </p:cNvGrpSpPr>
          <p:nvPr/>
        </p:nvGrpSpPr>
        <p:grpSpPr bwMode="auto">
          <a:xfrm>
            <a:off x="1219200" y="3668713"/>
            <a:ext cx="6400800" cy="2474912"/>
            <a:chOff x="228600" y="1981200"/>
            <a:chExt cx="8686800" cy="3962400"/>
          </a:xfrm>
        </p:grpSpPr>
        <p:sp>
          <p:nvSpPr>
            <p:cNvPr id="59399" name="Oval 118"/>
            <p:cNvSpPr>
              <a:spLocks noChangeArrowheads="1"/>
            </p:cNvSpPr>
            <p:nvPr/>
          </p:nvSpPr>
          <p:spPr bwMode="auto">
            <a:xfrm>
              <a:off x="228600" y="3657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A</a:t>
              </a:r>
            </a:p>
          </p:txBody>
        </p:sp>
        <p:sp>
          <p:nvSpPr>
            <p:cNvPr id="59400" name="Oval 119"/>
            <p:cNvSpPr>
              <a:spLocks noChangeArrowheads="1"/>
            </p:cNvSpPr>
            <p:nvPr/>
          </p:nvSpPr>
          <p:spPr bwMode="auto">
            <a:xfrm>
              <a:off x="1295400" y="2743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B</a:t>
              </a:r>
              <a:r>
                <a:rPr lang="en-US" altLang="zh-CN" sz="1400" baseline="-25000">
                  <a:latin typeface="Arial" panose="020B0604020202020204" pitchFamily="34" charset="0"/>
                </a:rPr>
                <a:t>1</a:t>
              </a:r>
              <a:endParaRPr lang="en-US" altLang="zh-CN" sz="1400">
                <a:latin typeface="Arial" panose="020B0604020202020204" pitchFamily="34" charset="0"/>
              </a:endParaRPr>
            </a:p>
          </p:txBody>
        </p:sp>
        <p:sp>
          <p:nvSpPr>
            <p:cNvPr id="59401" name="Oval 120"/>
            <p:cNvSpPr>
              <a:spLocks noChangeArrowheads="1"/>
            </p:cNvSpPr>
            <p:nvPr/>
          </p:nvSpPr>
          <p:spPr bwMode="auto">
            <a:xfrm>
              <a:off x="1371600" y="4267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B</a:t>
              </a:r>
              <a:r>
                <a:rPr lang="en-US" altLang="zh-CN" sz="1400" baseline="-25000">
                  <a:latin typeface="Arial" panose="020B0604020202020204" pitchFamily="34" charset="0"/>
                </a:rPr>
                <a:t>2</a:t>
              </a:r>
              <a:endParaRPr lang="en-US" altLang="zh-CN" sz="1400">
                <a:latin typeface="Arial" panose="020B0604020202020204" pitchFamily="34" charset="0"/>
              </a:endParaRPr>
            </a:p>
          </p:txBody>
        </p:sp>
        <p:sp>
          <p:nvSpPr>
            <p:cNvPr id="59402" name="Oval 121"/>
            <p:cNvSpPr>
              <a:spLocks noChangeArrowheads="1"/>
            </p:cNvSpPr>
            <p:nvPr/>
          </p:nvSpPr>
          <p:spPr bwMode="auto">
            <a:xfrm>
              <a:off x="2895600" y="19812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C</a:t>
              </a:r>
              <a:r>
                <a:rPr lang="en-US" altLang="zh-CN" sz="1400" baseline="-25000">
                  <a:latin typeface="Arial" panose="020B0604020202020204" pitchFamily="34" charset="0"/>
                </a:rPr>
                <a:t>1</a:t>
              </a:r>
              <a:endParaRPr lang="en-US" altLang="zh-CN" sz="1400">
                <a:latin typeface="Arial" panose="020B0604020202020204" pitchFamily="34" charset="0"/>
              </a:endParaRPr>
            </a:p>
          </p:txBody>
        </p:sp>
        <p:sp>
          <p:nvSpPr>
            <p:cNvPr id="59403" name="Oval 122"/>
            <p:cNvSpPr>
              <a:spLocks noChangeArrowheads="1"/>
            </p:cNvSpPr>
            <p:nvPr/>
          </p:nvSpPr>
          <p:spPr bwMode="auto">
            <a:xfrm>
              <a:off x="2819400" y="3048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C</a:t>
              </a:r>
              <a:r>
                <a:rPr lang="en-US" altLang="zh-CN" sz="1400" baseline="-25000">
                  <a:latin typeface="Arial" panose="020B0604020202020204" pitchFamily="34" charset="0"/>
                </a:rPr>
                <a:t>2</a:t>
              </a:r>
            </a:p>
          </p:txBody>
        </p:sp>
        <p:sp>
          <p:nvSpPr>
            <p:cNvPr id="59404" name="Oval 123"/>
            <p:cNvSpPr>
              <a:spLocks noChangeArrowheads="1"/>
            </p:cNvSpPr>
            <p:nvPr/>
          </p:nvSpPr>
          <p:spPr bwMode="auto">
            <a:xfrm>
              <a:off x="2819400" y="43434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C</a:t>
              </a:r>
              <a:r>
                <a:rPr lang="en-US" altLang="zh-CN" sz="1400" baseline="-25000">
                  <a:latin typeface="Arial" panose="020B0604020202020204" pitchFamily="34" charset="0"/>
                </a:rPr>
                <a:t>3</a:t>
              </a:r>
              <a:endParaRPr lang="en-US" altLang="zh-CN" sz="1400">
                <a:latin typeface="Arial" panose="020B0604020202020204" pitchFamily="34" charset="0"/>
              </a:endParaRPr>
            </a:p>
          </p:txBody>
        </p:sp>
        <p:sp>
          <p:nvSpPr>
            <p:cNvPr id="59405" name="Oval 124"/>
            <p:cNvSpPr>
              <a:spLocks noChangeArrowheads="1"/>
            </p:cNvSpPr>
            <p:nvPr/>
          </p:nvSpPr>
          <p:spPr bwMode="auto">
            <a:xfrm>
              <a:off x="2819400" y="54864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C</a:t>
              </a:r>
              <a:r>
                <a:rPr lang="en-US" altLang="zh-CN" sz="1400" baseline="-25000">
                  <a:latin typeface="Arial" panose="020B0604020202020204" pitchFamily="34" charset="0"/>
                </a:rPr>
                <a:t>4</a:t>
              </a:r>
              <a:endParaRPr lang="en-US" altLang="zh-CN" sz="1400">
                <a:latin typeface="Arial" panose="020B0604020202020204" pitchFamily="34" charset="0"/>
              </a:endParaRPr>
            </a:p>
          </p:txBody>
        </p:sp>
        <p:sp>
          <p:nvSpPr>
            <p:cNvPr id="59406" name="Oval 125"/>
            <p:cNvSpPr>
              <a:spLocks noChangeArrowheads="1"/>
            </p:cNvSpPr>
            <p:nvPr/>
          </p:nvSpPr>
          <p:spPr bwMode="auto">
            <a:xfrm>
              <a:off x="4419600" y="2514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D</a:t>
              </a:r>
              <a:r>
                <a:rPr lang="en-US" altLang="zh-CN" sz="1400" baseline="-25000">
                  <a:latin typeface="Arial" panose="020B0604020202020204" pitchFamily="34" charset="0"/>
                </a:rPr>
                <a:t>1</a:t>
              </a:r>
              <a:endParaRPr lang="en-US" altLang="zh-CN" sz="1400">
                <a:latin typeface="Arial" panose="020B0604020202020204" pitchFamily="34" charset="0"/>
              </a:endParaRPr>
            </a:p>
          </p:txBody>
        </p:sp>
        <p:sp>
          <p:nvSpPr>
            <p:cNvPr id="59407" name="Oval 126"/>
            <p:cNvSpPr>
              <a:spLocks noChangeArrowheads="1"/>
            </p:cNvSpPr>
            <p:nvPr/>
          </p:nvSpPr>
          <p:spPr bwMode="auto">
            <a:xfrm>
              <a:off x="4419600" y="3657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D</a:t>
              </a:r>
              <a:r>
                <a:rPr lang="en-US" altLang="zh-CN" sz="1400" baseline="-25000">
                  <a:latin typeface="Arial" panose="020B0604020202020204" pitchFamily="34" charset="0"/>
                </a:rPr>
                <a:t>2</a:t>
              </a:r>
              <a:endParaRPr lang="en-US" altLang="zh-CN" sz="1400">
                <a:latin typeface="Arial" panose="020B0604020202020204" pitchFamily="34" charset="0"/>
              </a:endParaRPr>
            </a:p>
          </p:txBody>
        </p:sp>
        <p:sp>
          <p:nvSpPr>
            <p:cNvPr id="59408" name="Oval 127"/>
            <p:cNvSpPr>
              <a:spLocks noChangeArrowheads="1"/>
            </p:cNvSpPr>
            <p:nvPr/>
          </p:nvSpPr>
          <p:spPr bwMode="auto">
            <a:xfrm>
              <a:off x="4419600" y="4876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D</a:t>
              </a:r>
              <a:r>
                <a:rPr lang="en-US" altLang="zh-CN" sz="1400" baseline="-25000">
                  <a:latin typeface="Arial" panose="020B0604020202020204" pitchFamily="34" charset="0"/>
                </a:rPr>
                <a:t>3</a:t>
              </a:r>
              <a:endParaRPr lang="en-US" altLang="zh-CN" sz="1400">
                <a:latin typeface="Arial" panose="020B0604020202020204" pitchFamily="34" charset="0"/>
              </a:endParaRPr>
            </a:p>
          </p:txBody>
        </p:sp>
        <p:sp>
          <p:nvSpPr>
            <p:cNvPr id="59409" name="Oval 128"/>
            <p:cNvSpPr>
              <a:spLocks noChangeArrowheads="1"/>
            </p:cNvSpPr>
            <p:nvPr/>
          </p:nvSpPr>
          <p:spPr bwMode="auto">
            <a:xfrm>
              <a:off x="6019800" y="2514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E</a:t>
              </a:r>
              <a:r>
                <a:rPr lang="en-US" altLang="zh-CN" sz="1400" baseline="-25000">
                  <a:latin typeface="Arial" panose="020B0604020202020204" pitchFamily="34" charset="0"/>
                </a:rPr>
                <a:t>1</a:t>
              </a:r>
              <a:endParaRPr lang="en-US" altLang="zh-CN" sz="1400">
                <a:latin typeface="Arial" panose="020B0604020202020204" pitchFamily="34" charset="0"/>
              </a:endParaRPr>
            </a:p>
          </p:txBody>
        </p:sp>
        <p:sp>
          <p:nvSpPr>
            <p:cNvPr id="59410" name="Oval 129"/>
            <p:cNvSpPr>
              <a:spLocks noChangeArrowheads="1"/>
            </p:cNvSpPr>
            <p:nvPr/>
          </p:nvSpPr>
          <p:spPr bwMode="auto">
            <a:xfrm>
              <a:off x="6019800" y="3657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E</a:t>
              </a:r>
              <a:r>
                <a:rPr lang="en-US" altLang="zh-CN" sz="1400" baseline="-25000">
                  <a:latin typeface="Arial" panose="020B0604020202020204" pitchFamily="34" charset="0"/>
                </a:rPr>
                <a:t>2</a:t>
              </a:r>
              <a:endParaRPr lang="en-US" altLang="zh-CN" sz="1400">
                <a:latin typeface="Arial" panose="020B0604020202020204" pitchFamily="34" charset="0"/>
              </a:endParaRPr>
            </a:p>
          </p:txBody>
        </p:sp>
        <p:sp>
          <p:nvSpPr>
            <p:cNvPr id="59411" name="Oval 130"/>
            <p:cNvSpPr>
              <a:spLocks noChangeArrowheads="1"/>
            </p:cNvSpPr>
            <p:nvPr/>
          </p:nvSpPr>
          <p:spPr bwMode="auto">
            <a:xfrm>
              <a:off x="6096000" y="4953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E</a:t>
              </a:r>
              <a:r>
                <a:rPr lang="en-US" altLang="zh-CN" sz="1400" baseline="-25000">
                  <a:latin typeface="Arial" panose="020B0604020202020204" pitchFamily="34" charset="0"/>
                </a:rPr>
                <a:t>3</a:t>
              </a:r>
              <a:endParaRPr lang="en-US" altLang="zh-CN" sz="1400">
                <a:latin typeface="Arial" panose="020B0604020202020204" pitchFamily="34" charset="0"/>
              </a:endParaRPr>
            </a:p>
          </p:txBody>
        </p:sp>
        <p:sp>
          <p:nvSpPr>
            <p:cNvPr id="59412" name="Oval 131"/>
            <p:cNvSpPr>
              <a:spLocks noChangeArrowheads="1"/>
            </p:cNvSpPr>
            <p:nvPr/>
          </p:nvSpPr>
          <p:spPr bwMode="auto">
            <a:xfrm>
              <a:off x="7391400" y="30480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F</a:t>
              </a:r>
              <a:r>
                <a:rPr lang="en-US" altLang="zh-CN" sz="1400" baseline="-25000">
                  <a:latin typeface="Arial" panose="020B0604020202020204" pitchFamily="34" charset="0"/>
                </a:rPr>
                <a:t>1</a:t>
              </a:r>
              <a:endParaRPr lang="en-US" altLang="zh-CN" sz="1400">
                <a:latin typeface="Arial" panose="020B0604020202020204" pitchFamily="34" charset="0"/>
              </a:endParaRPr>
            </a:p>
          </p:txBody>
        </p:sp>
        <p:sp>
          <p:nvSpPr>
            <p:cNvPr id="59413" name="Oval 132"/>
            <p:cNvSpPr>
              <a:spLocks noChangeArrowheads="1"/>
            </p:cNvSpPr>
            <p:nvPr/>
          </p:nvSpPr>
          <p:spPr bwMode="auto">
            <a:xfrm>
              <a:off x="7391400" y="44958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F</a:t>
              </a:r>
              <a:r>
                <a:rPr lang="en-US" altLang="zh-CN" sz="1400" baseline="-25000">
                  <a:latin typeface="Arial" panose="020B0604020202020204" pitchFamily="34" charset="0"/>
                </a:rPr>
                <a:t>2</a:t>
              </a:r>
              <a:endParaRPr lang="en-US" altLang="zh-CN" sz="1400">
                <a:latin typeface="Arial" panose="020B0604020202020204" pitchFamily="34" charset="0"/>
              </a:endParaRPr>
            </a:p>
          </p:txBody>
        </p:sp>
        <p:sp>
          <p:nvSpPr>
            <p:cNvPr id="59414" name="Oval 133"/>
            <p:cNvSpPr>
              <a:spLocks noChangeArrowheads="1"/>
            </p:cNvSpPr>
            <p:nvPr/>
          </p:nvSpPr>
          <p:spPr bwMode="auto">
            <a:xfrm>
              <a:off x="8458200" y="3657600"/>
              <a:ext cx="457200" cy="457200"/>
            </a:xfrm>
            <a:prstGeom prst="ellipse">
              <a:avLst/>
            </a:prstGeom>
            <a:solidFill>
              <a:srgbClr val="66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
                  <a:srgbClr val="000000"/>
                </a:buClr>
                <a:buFontTx/>
                <a:buNone/>
              </a:pPr>
              <a:r>
                <a:rPr lang="en-US" altLang="zh-CN" sz="1400">
                  <a:latin typeface="Arial" panose="020B0604020202020204" pitchFamily="34" charset="0"/>
                </a:rPr>
                <a:t>G</a:t>
              </a:r>
            </a:p>
          </p:txBody>
        </p:sp>
        <p:sp>
          <p:nvSpPr>
            <p:cNvPr id="59415" name="Line 134"/>
            <p:cNvSpPr>
              <a:spLocks noChangeShapeType="1"/>
            </p:cNvSpPr>
            <p:nvPr/>
          </p:nvSpPr>
          <p:spPr bwMode="auto">
            <a:xfrm flipV="1">
              <a:off x="609600" y="3124200"/>
              <a:ext cx="7620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6" name="Line 135"/>
            <p:cNvSpPr>
              <a:spLocks noChangeShapeType="1"/>
            </p:cNvSpPr>
            <p:nvPr/>
          </p:nvSpPr>
          <p:spPr bwMode="auto">
            <a:xfrm>
              <a:off x="609600" y="4038600"/>
              <a:ext cx="762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7" name="Line 136"/>
            <p:cNvSpPr>
              <a:spLocks noChangeShapeType="1"/>
            </p:cNvSpPr>
            <p:nvPr/>
          </p:nvSpPr>
          <p:spPr bwMode="auto">
            <a:xfrm flipV="1">
              <a:off x="1676400" y="2286000"/>
              <a:ext cx="12192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8" name="Line 137"/>
            <p:cNvSpPr>
              <a:spLocks noChangeShapeType="1"/>
            </p:cNvSpPr>
            <p:nvPr/>
          </p:nvSpPr>
          <p:spPr bwMode="auto">
            <a:xfrm>
              <a:off x="1752600" y="2971800"/>
              <a:ext cx="10668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9" name="Line 138"/>
            <p:cNvSpPr>
              <a:spLocks noChangeShapeType="1"/>
            </p:cNvSpPr>
            <p:nvPr/>
          </p:nvSpPr>
          <p:spPr bwMode="auto">
            <a:xfrm>
              <a:off x="1676400" y="3200400"/>
              <a:ext cx="1219200" cy="1219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0" name="Line 139"/>
            <p:cNvSpPr>
              <a:spLocks noChangeShapeType="1"/>
            </p:cNvSpPr>
            <p:nvPr/>
          </p:nvSpPr>
          <p:spPr bwMode="auto">
            <a:xfrm flipV="1">
              <a:off x="1752600" y="3352800"/>
              <a:ext cx="10668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1" name="Line 140"/>
            <p:cNvSpPr>
              <a:spLocks noChangeShapeType="1"/>
            </p:cNvSpPr>
            <p:nvPr/>
          </p:nvSpPr>
          <p:spPr bwMode="auto">
            <a:xfrm>
              <a:off x="1828800" y="4572000"/>
              <a:ext cx="990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2" name="Line 141"/>
            <p:cNvSpPr>
              <a:spLocks noChangeShapeType="1"/>
            </p:cNvSpPr>
            <p:nvPr/>
          </p:nvSpPr>
          <p:spPr bwMode="auto">
            <a:xfrm>
              <a:off x="1752600" y="4648200"/>
              <a:ext cx="1143000" cy="914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3" name="Line 142"/>
            <p:cNvSpPr>
              <a:spLocks noChangeShapeType="1"/>
            </p:cNvSpPr>
            <p:nvPr/>
          </p:nvSpPr>
          <p:spPr bwMode="auto">
            <a:xfrm>
              <a:off x="3352800" y="2286000"/>
              <a:ext cx="10668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4" name="Line 143"/>
            <p:cNvSpPr>
              <a:spLocks noChangeShapeType="1"/>
            </p:cNvSpPr>
            <p:nvPr/>
          </p:nvSpPr>
          <p:spPr bwMode="auto">
            <a:xfrm>
              <a:off x="3276600" y="2438400"/>
              <a:ext cx="1219200" cy="1295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5" name="Line 144"/>
            <p:cNvSpPr>
              <a:spLocks noChangeShapeType="1"/>
            </p:cNvSpPr>
            <p:nvPr/>
          </p:nvSpPr>
          <p:spPr bwMode="auto">
            <a:xfrm flipV="1">
              <a:off x="3276600" y="2819400"/>
              <a:ext cx="11430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6" name="Line 145"/>
            <p:cNvSpPr>
              <a:spLocks noChangeShapeType="1"/>
            </p:cNvSpPr>
            <p:nvPr/>
          </p:nvSpPr>
          <p:spPr bwMode="auto">
            <a:xfrm>
              <a:off x="3276600" y="3429000"/>
              <a:ext cx="11430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7" name="Line 146"/>
            <p:cNvSpPr>
              <a:spLocks noChangeShapeType="1"/>
            </p:cNvSpPr>
            <p:nvPr/>
          </p:nvSpPr>
          <p:spPr bwMode="auto">
            <a:xfrm flipV="1">
              <a:off x="3276600" y="3962400"/>
              <a:ext cx="11430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8" name="Line 147"/>
            <p:cNvSpPr>
              <a:spLocks noChangeShapeType="1"/>
            </p:cNvSpPr>
            <p:nvPr/>
          </p:nvSpPr>
          <p:spPr bwMode="auto">
            <a:xfrm>
              <a:off x="3276600" y="4724400"/>
              <a:ext cx="11430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9" name="Line 148"/>
            <p:cNvSpPr>
              <a:spLocks noChangeShapeType="1"/>
            </p:cNvSpPr>
            <p:nvPr/>
          </p:nvSpPr>
          <p:spPr bwMode="auto">
            <a:xfrm flipV="1">
              <a:off x="3276600" y="5257800"/>
              <a:ext cx="121920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0" name="Line 149"/>
            <p:cNvSpPr>
              <a:spLocks noChangeShapeType="1"/>
            </p:cNvSpPr>
            <p:nvPr/>
          </p:nvSpPr>
          <p:spPr bwMode="auto">
            <a:xfrm flipV="1">
              <a:off x="3276600" y="4038600"/>
              <a:ext cx="129540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1" name="Line 150"/>
            <p:cNvSpPr>
              <a:spLocks noChangeShapeType="1"/>
            </p:cNvSpPr>
            <p:nvPr/>
          </p:nvSpPr>
          <p:spPr bwMode="auto">
            <a:xfrm>
              <a:off x="4876800" y="2743200"/>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2" name="Line 151"/>
            <p:cNvSpPr>
              <a:spLocks noChangeShapeType="1"/>
            </p:cNvSpPr>
            <p:nvPr/>
          </p:nvSpPr>
          <p:spPr bwMode="auto">
            <a:xfrm>
              <a:off x="4876800" y="2895600"/>
              <a:ext cx="1219200" cy="914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3" name="Line 152"/>
            <p:cNvSpPr>
              <a:spLocks noChangeShapeType="1"/>
            </p:cNvSpPr>
            <p:nvPr/>
          </p:nvSpPr>
          <p:spPr bwMode="auto">
            <a:xfrm>
              <a:off x="4876800" y="3962400"/>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4" name="Line 153"/>
            <p:cNvSpPr>
              <a:spLocks noChangeShapeType="1"/>
            </p:cNvSpPr>
            <p:nvPr/>
          </p:nvSpPr>
          <p:spPr bwMode="auto">
            <a:xfrm>
              <a:off x="4800600" y="4038600"/>
              <a:ext cx="12954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5" name="Line 154"/>
            <p:cNvSpPr>
              <a:spLocks noChangeShapeType="1"/>
            </p:cNvSpPr>
            <p:nvPr/>
          </p:nvSpPr>
          <p:spPr bwMode="auto">
            <a:xfrm flipV="1">
              <a:off x="4876800" y="4038600"/>
              <a:ext cx="1219200" cy="990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6" name="Line 155"/>
            <p:cNvSpPr>
              <a:spLocks noChangeShapeType="1"/>
            </p:cNvSpPr>
            <p:nvPr/>
          </p:nvSpPr>
          <p:spPr bwMode="auto">
            <a:xfrm>
              <a:off x="4876800" y="5181600"/>
              <a:ext cx="1219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7" name="Line 156"/>
            <p:cNvSpPr>
              <a:spLocks noChangeShapeType="1"/>
            </p:cNvSpPr>
            <p:nvPr/>
          </p:nvSpPr>
          <p:spPr bwMode="auto">
            <a:xfrm>
              <a:off x="6477000" y="2819400"/>
              <a:ext cx="9906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8" name="Line 157"/>
            <p:cNvSpPr>
              <a:spLocks noChangeShapeType="1"/>
            </p:cNvSpPr>
            <p:nvPr/>
          </p:nvSpPr>
          <p:spPr bwMode="auto">
            <a:xfrm flipV="1">
              <a:off x="6477000" y="3352800"/>
              <a:ext cx="91440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9" name="Line 158"/>
            <p:cNvSpPr>
              <a:spLocks noChangeShapeType="1"/>
            </p:cNvSpPr>
            <p:nvPr/>
          </p:nvSpPr>
          <p:spPr bwMode="auto">
            <a:xfrm>
              <a:off x="6477000" y="2895600"/>
              <a:ext cx="106680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40" name="Line 159"/>
            <p:cNvSpPr>
              <a:spLocks noChangeShapeType="1"/>
            </p:cNvSpPr>
            <p:nvPr/>
          </p:nvSpPr>
          <p:spPr bwMode="auto">
            <a:xfrm>
              <a:off x="6477000" y="3962400"/>
              <a:ext cx="9906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41" name="Line 160"/>
            <p:cNvSpPr>
              <a:spLocks noChangeShapeType="1"/>
            </p:cNvSpPr>
            <p:nvPr/>
          </p:nvSpPr>
          <p:spPr bwMode="auto">
            <a:xfrm flipV="1">
              <a:off x="6553200" y="3505200"/>
              <a:ext cx="990600" cy="1524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42" name="Line 161"/>
            <p:cNvSpPr>
              <a:spLocks noChangeShapeType="1"/>
            </p:cNvSpPr>
            <p:nvPr/>
          </p:nvSpPr>
          <p:spPr bwMode="auto">
            <a:xfrm flipV="1">
              <a:off x="6553200" y="4876800"/>
              <a:ext cx="9144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43" name="Line 162"/>
            <p:cNvSpPr>
              <a:spLocks noChangeShapeType="1"/>
            </p:cNvSpPr>
            <p:nvPr/>
          </p:nvSpPr>
          <p:spPr bwMode="auto">
            <a:xfrm>
              <a:off x="7848600" y="3352800"/>
              <a:ext cx="6858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44" name="Line 163"/>
            <p:cNvSpPr>
              <a:spLocks noChangeShapeType="1"/>
            </p:cNvSpPr>
            <p:nvPr/>
          </p:nvSpPr>
          <p:spPr bwMode="auto">
            <a:xfrm flipV="1">
              <a:off x="7848600" y="4038600"/>
              <a:ext cx="68580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45" name="Text Box 164"/>
            <p:cNvSpPr txBox="1">
              <a:spLocks noChangeArrowheads="1"/>
            </p:cNvSpPr>
            <p:nvPr/>
          </p:nvSpPr>
          <p:spPr bwMode="auto">
            <a:xfrm>
              <a:off x="685800" y="30480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5</a:t>
              </a:r>
            </a:p>
          </p:txBody>
        </p:sp>
        <p:sp>
          <p:nvSpPr>
            <p:cNvPr id="59446" name="Text Box 165"/>
            <p:cNvSpPr txBox="1">
              <a:spLocks noChangeArrowheads="1"/>
            </p:cNvSpPr>
            <p:nvPr/>
          </p:nvSpPr>
          <p:spPr bwMode="auto">
            <a:xfrm>
              <a:off x="685800" y="41910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47" name="Text Box 166"/>
            <p:cNvSpPr txBox="1">
              <a:spLocks noChangeArrowheads="1"/>
            </p:cNvSpPr>
            <p:nvPr/>
          </p:nvSpPr>
          <p:spPr bwMode="auto">
            <a:xfrm>
              <a:off x="1828800" y="22859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1</a:t>
              </a:r>
            </a:p>
          </p:txBody>
        </p:sp>
        <p:sp>
          <p:nvSpPr>
            <p:cNvPr id="59448" name="Text Box 167"/>
            <p:cNvSpPr txBox="1">
              <a:spLocks noChangeArrowheads="1"/>
            </p:cNvSpPr>
            <p:nvPr/>
          </p:nvSpPr>
          <p:spPr bwMode="auto">
            <a:xfrm>
              <a:off x="2209801" y="27432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49" name="Text Box 168"/>
            <p:cNvSpPr txBox="1">
              <a:spLocks noChangeArrowheads="1"/>
            </p:cNvSpPr>
            <p:nvPr/>
          </p:nvSpPr>
          <p:spPr bwMode="auto">
            <a:xfrm>
              <a:off x="1905000" y="31242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6</a:t>
              </a:r>
            </a:p>
          </p:txBody>
        </p:sp>
        <p:sp>
          <p:nvSpPr>
            <p:cNvPr id="59450" name="Text Box 169"/>
            <p:cNvSpPr txBox="1">
              <a:spLocks noChangeArrowheads="1"/>
            </p:cNvSpPr>
            <p:nvPr/>
          </p:nvSpPr>
          <p:spPr bwMode="auto">
            <a:xfrm>
              <a:off x="1752600" y="37337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8</a:t>
              </a:r>
            </a:p>
          </p:txBody>
        </p:sp>
        <p:sp>
          <p:nvSpPr>
            <p:cNvPr id="59451" name="Text Box 170"/>
            <p:cNvSpPr txBox="1">
              <a:spLocks noChangeArrowheads="1"/>
            </p:cNvSpPr>
            <p:nvPr/>
          </p:nvSpPr>
          <p:spPr bwMode="auto">
            <a:xfrm>
              <a:off x="1981199" y="41910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7</a:t>
              </a:r>
            </a:p>
          </p:txBody>
        </p:sp>
        <p:sp>
          <p:nvSpPr>
            <p:cNvPr id="59452" name="Text Box 171"/>
            <p:cNvSpPr txBox="1">
              <a:spLocks noChangeArrowheads="1"/>
            </p:cNvSpPr>
            <p:nvPr/>
          </p:nvSpPr>
          <p:spPr bwMode="auto">
            <a:xfrm>
              <a:off x="2209801" y="46482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6</a:t>
              </a:r>
            </a:p>
          </p:txBody>
        </p:sp>
        <p:sp>
          <p:nvSpPr>
            <p:cNvPr id="59453" name="Text Box 172"/>
            <p:cNvSpPr txBox="1">
              <a:spLocks noChangeArrowheads="1"/>
            </p:cNvSpPr>
            <p:nvPr/>
          </p:nvSpPr>
          <p:spPr bwMode="auto">
            <a:xfrm>
              <a:off x="3276600" y="28193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54" name="Text Box 173"/>
            <p:cNvSpPr txBox="1">
              <a:spLocks noChangeArrowheads="1"/>
            </p:cNvSpPr>
            <p:nvPr/>
          </p:nvSpPr>
          <p:spPr bwMode="auto">
            <a:xfrm>
              <a:off x="3657601" y="19812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6</a:t>
              </a:r>
            </a:p>
          </p:txBody>
        </p:sp>
        <p:sp>
          <p:nvSpPr>
            <p:cNvPr id="59455" name="Text Box 174"/>
            <p:cNvSpPr txBox="1">
              <a:spLocks noChangeArrowheads="1"/>
            </p:cNvSpPr>
            <p:nvPr/>
          </p:nvSpPr>
          <p:spPr bwMode="auto">
            <a:xfrm>
              <a:off x="3581400" y="25146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8</a:t>
              </a:r>
            </a:p>
          </p:txBody>
        </p:sp>
        <p:sp>
          <p:nvSpPr>
            <p:cNvPr id="59456" name="Text Box 175"/>
            <p:cNvSpPr txBox="1">
              <a:spLocks noChangeArrowheads="1"/>
            </p:cNvSpPr>
            <p:nvPr/>
          </p:nvSpPr>
          <p:spPr bwMode="auto">
            <a:xfrm>
              <a:off x="3581400" y="31242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5</a:t>
              </a:r>
            </a:p>
          </p:txBody>
        </p:sp>
        <p:sp>
          <p:nvSpPr>
            <p:cNvPr id="59457" name="Text Box 176"/>
            <p:cNvSpPr txBox="1">
              <a:spLocks noChangeArrowheads="1"/>
            </p:cNvSpPr>
            <p:nvPr/>
          </p:nvSpPr>
          <p:spPr bwMode="auto">
            <a:xfrm>
              <a:off x="3352800" y="38861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58" name="Text Box 177"/>
            <p:cNvSpPr txBox="1">
              <a:spLocks noChangeArrowheads="1"/>
            </p:cNvSpPr>
            <p:nvPr/>
          </p:nvSpPr>
          <p:spPr bwMode="auto">
            <a:xfrm>
              <a:off x="3505200" y="44195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59" name="Text Box 178"/>
            <p:cNvSpPr txBox="1">
              <a:spLocks noChangeArrowheads="1"/>
            </p:cNvSpPr>
            <p:nvPr/>
          </p:nvSpPr>
          <p:spPr bwMode="auto">
            <a:xfrm>
              <a:off x="3276600" y="50292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8</a:t>
              </a:r>
            </a:p>
          </p:txBody>
        </p:sp>
        <p:sp>
          <p:nvSpPr>
            <p:cNvPr id="59460" name="Text Box 179"/>
            <p:cNvSpPr txBox="1">
              <a:spLocks noChangeArrowheads="1"/>
            </p:cNvSpPr>
            <p:nvPr/>
          </p:nvSpPr>
          <p:spPr bwMode="auto">
            <a:xfrm>
              <a:off x="3733800" y="51054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4</a:t>
              </a:r>
            </a:p>
          </p:txBody>
        </p:sp>
        <p:sp>
          <p:nvSpPr>
            <p:cNvPr id="59461" name="Text Box 180"/>
            <p:cNvSpPr txBox="1">
              <a:spLocks noChangeArrowheads="1"/>
            </p:cNvSpPr>
            <p:nvPr/>
          </p:nvSpPr>
          <p:spPr bwMode="auto">
            <a:xfrm>
              <a:off x="5257800" y="22859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2</a:t>
              </a:r>
            </a:p>
          </p:txBody>
        </p:sp>
        <p:sp>
          <p:nvSpPr>
            <p:cNvPr id="59462" name="Text Box 181"/>
            <p:cNvSpPr txBox="1">
              <a:spLocks noChangeArrowheads="1"/>
            </p:cNvSpPr>
            <p:nvPr/>
          </p:nvSpPr>
          <p:spPr bwMode="auto">
            <a:xfrm>
              <a:off x="5410200" y="29718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dirty="0">
                  <a:latin typeface="Arial" panose="020B0604020202020204" pitchFamily="34" charset="0"/>
                </a:rPr>
                <a:t>2</a:t>
              </a:r>
            </a:p>
          </p:txBody>
        </p:sp>
        <p:sp>
          <p:nvSpPr>
            <p:cNvPr id="59463" name="Text Box 182"/>
            <p:cNvSpPr txBox="1">
              <a:spLocks noChangeArrowheads="1"/>
            </p:cNvSpPr>
            <p:nvPr/>
          </p:nvSpPr>
          <p:spPr bwMode="auto">
            <a:xfrm>
              <a:off x="5181600" y="39624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2</a:t>
              </a:r>
            </a:p>
          </p:txBody>
        </p:sp>
        <p:sp>
          <p:nvSpPr>
            <p:cNvPr id="59464" name="Text Box 183"/>
            <p:cNvSpPr txBox="1">
              <a:spLocks noChangeArrowheads="1"/>
            </p:cNvSpPr>
            <p:nvPr/>
          </p:nvSpPr>
          <p:spPr bwMode="auto">
            <a:xfrm>
              <a:off x="5029200" y="35814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1</a:t>
              </a:r>
            </a:p>
          </p:txBody>
        </p:sp>
        <p:sp>
          <p:nvSpPr>
            <p:cNvPr id="59465" name="Text Box 184"/>
            <p:cNvSpPr txBox="1">
              <a:spLocks noChangeArrowheads="1"/>
            </p:cNvSpPr>
            <p:nvPr/>
          </p:nvSpPr>
          <p:spPr bwMode="auto">
            <a:xfrm>
              <a:off x="4876799" y="44958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66" name="Text Box 185"/>
            <p:cNvSpPr txBox="1">
              <a:spLocks noChangeArrowheads="1"/>
            </p:cNvSpPr>
            <p:nvPr/>
          </p:nvSpPr>
          <p:spPr bwMode="auto">
            <a:xfrm>
              <a:off x="7924800" y="40386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67" name="Text Box 186"/>
            <p:cNvSpPr txBox="1">
              <a:spLocks noChangeArrowheads="1"/>
            </p:cNvSpPr>
            <p:nvPr/>
          </p:nvSpPr>
          <p:spPr bwMode="auto">
            <a:xfrm>
              <a:off x="6858000" y="25908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sp>
          <p:nvSpPr>
            <p:cNvPr id="59468" name="Text Box 187"/>
            <p:cNvSpPr txBox="1">
              <a:spLocks noChangeArrowheads="1"/>
            </p:cNvSpPr>
            <p:nvPr/>
          </p:nvSpPr>
          <p:spPr bwMode="auto">
            <a:xfrm>
              <a:off x="6781800" y="30480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5</a:t>
              </a:r>
            </a:p>
          </p:txBody>
        </p:sp>
        <p:sp>
          <p:nvSpPr>
            <p:cNvPr id="59469" name="Text Box 188"/>
            <p:cNvSpPr txBox="1">
              <a:spLocks noChangeArrowheads="1"/>
            </p:cNvSpPr>
            <p:nvPr/>
          </p:nvSpPr>
          <p:spPr bwMode="auto">
            <a:xfrm>
              <a:off x="6705600" y="38100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2</a:t>
              </a:r>
            </a:p>
          </p:txBody>
        </p:sp>
        <p:sp>
          <p:nvSpPr>
            <p:cNvPr id="59470" name="Text Box 189"/>
            <p:cNvSpPr txBox="1">
              <a:spLocks noChangeArrowheads="1"/>
            </p:cNvSpPr>
            <p:nvPr/>
          </p:nvSpPr>
          <p:spPr bwMode="auto">
            <a:xfrm>
              <a:off x="6477000" y="33527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5</a:t>
              </a:r>
            </a:p>
          </p:txBody>
        </p:sp>
        <p:sp>
          <p:nvSpPr>
            <p:cNvPr id="59471" name="Text Box 190"/>
            <p:cNvSpPr txBox="1">
              <a:spLocks noChangeArrowheads="1"/>
            </p:cNvSpPr>
            <p:nvPr/>
          </p:nvSpPr>
          <p:spPr bwMode="auto">
            <a:xfrm>
              <a:off x="6477000" y="4419599"/>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6</a:t>
              </a:r>
            </a:p>
          </p:txBody>
        </p:sp>
        <p:sp>
          <p:nvSpPr>
            <p:cNvPr id="59472" name="Text Box 191"/>
            <p:cNvSpPr txBox="1">
              <a:spLocks noChangeArrowheads="1"/>
            </p:cNvSpPr>
            <p:nvPr/>
          </p:nvSpPr>
          <p:spPr bwMode="auto">
            <a:xfrm>
              <a:off x="6781800" y="47244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6</a:t>
              </a:r>
            </a:p>
          </p:txBody>
        </p:sp>
        <p:sp>
          <p:nvSpPr>
            <p:cNvPr id="59473" name="Text Box 192"/>
            <p:cNvSpPr txBox="1">
              <a:spLocks noChangeArrowheads="1"/>
            </p:cNvSpPr>
            <p:nvPr/>
          </p:nvSpPr>
          <p:spPr bwMode="auto">
            <a:xfrm>
              <a:off x="8077200" y="3124201"/>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4</a:t>
              </a:r>
            </a:p>
          </p:txBody>
        </p:sp>
        <p:sp>
          <p:nvSpPr>
            <p:cNvPr id="59474" name="Line 193"/>
            <p:cNvSpPr>
              <a:spLocks noChangeShapeType="1"/>
            </p:cNvSpPr>
            <p:nvPr/>
          </p:nvSpPr>
          <p:spPr bwMode="auto">
            <a:xfrm flipV="1">
              <a:off x="609600" y="3124200"/>
              <a:ext cx="7620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5" name="Line 194"/>
            <p:cNvSpPr>
              <a:spLocks noChangeShapeType="1"/>
            </p:cNvSpPr>
            <p:nvPr/>
          </p:nvSpPr>
          <p:spPr bwMode="auto">
            <a:xfrm>
              <a:off x="1752600" y="2971800"/>
              <a:ext cx="1066800" cy="3048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6" name="Line 195"/>
            <p:cNvSpPr>
              <a:spLocks noChangeShapeType="1"/>
            </p:cNvSpPr>
            <p:nvPr/>
          </p:nvSpPr>
          <p:spPr bwMode="auto">
            <a:xfrm flipV="1">
              <a:off x="3276600" y="2819400"/>
              <a:ext cx="1143000" cy="457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7" name="Line 196"/>
            <p:cNvSpPr>
              <a:spLocks noChangeShapeType="1"/>
            </p:cNvSpPr>
            <p:nvPr/>
          </p:nvSpPr>
          <p:spPr bwMode="auto">
            <a:xfrm>
              <a:off x="4876800" y="2895600"/>
              <a:ext cx="1219200" cy="9144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8" name="Line 197"/>
            <p:cNvSpPr>
              <a:spLocks noChangeShapeType="1"/>
            </p:cNvSpPr>
            <p:nvPr/>
          </p:nvSpPr>
          <p:spPr bwMode="auto">
            <a:xfrm>
              <a:off x="6477000" y="3962400"/>
              <a:ext cx="9906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9" name="Line 198"/>
            <p:cNvSpPr>
              <a:spLocks noChangeShapeType="1"/>
            </p:cNvSpPr>
            <p:nvPr/>
          </p:nvSpPr>
          <p:spPr bwMode="auto">
            <a:xfrm flipV="1">
              <a:off x="7848600" y="4038600"/>
              <a:ext cx="68580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80" name="Line 199"/>
            <p:cNvSpPr>
              <a:spLocks noChangeShapeType="1"/>
            </p:cNvSpPr>
            <p:nvPr/>
          </p:nvSpPr>
          <p:spPr bwMode="auto">
            <a:xfrm>
              <a:off x="609600" y="4038600"/>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81" name="Text Box 200"/>
            <p:cNvSpPr txBox="1">
              <a:spLocks noChangeArrowheads="1"/>
            </p:cNvSpPr>
            <p:nvPr/>
          </p:nvSpPr>
          <p:spPr bwMode="auto">
            <a:xfrm>
              <a:off x="5105401" y="5181600"/>
              <a:ext cx="385499" cy="62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400">
                  <a:latin typeface="Arial" panose="020B0604020202020204" pitchFamily="34" charset="0"/>
                </a:rPr>
                <a:t>3</a:t>
              </a:r>
            </a:p>
          </p:txBody>
        </p:sp>
      </p:grpSp>
      <p:sp>
        <p:nvSpPr>
          <p:cNvPr id="89" name="Rectangle 3"/>
          <p:cNvSpPr txBox="1">
            <a:spLocks noChangeArrowheads="1"/>
          </p:cNvSpPr>
          <p:nvPr/>
        </p:nvSpPr>
        <p:spPr>
          <a:xfrm>
            <a:off x="647700" y="714375"/>
            <a:ext cx="7848600" cy="838200"/>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algn="just" eaLnBrk="1" hangingPunct="1">
              <a:lnSpc>
                <a:spcPct val="120000"/>
              </a:lnSpc>
              <a:buFont typeface="Wingdings" panose="05000000000000000000" pitchFamily="2" charset="2"/>
              <a:buChar char="p"/>
              <a:defRPr/>
            </a:pPr>
            <a:r>
              <a:rPr lang="zh-CN" altLang="en-US" sz="2200" kern="0" dirty="0">
                <a:latin typeface="Times New Roman" panose="02020603050405020304" pitchFamily="18" charset="0"/>
                <a:cs typeface="Times New Roman" panose="02020603050405020304" pitchFamily="18" charset="0"/>
              </a:rPr>
              <a:t>为了找出最短路线，再按计算的顺序反推之，可求出</a:t>
            </a:r>
            <a:r>
              <a:rPr lang="zh-CN" altLang="en-US" sz="2200" kern="0" dirty="0">
                <a:solidFill>
                  <a:srgbClr val="FF0000"/>
                </a:solidFill>
                <a:latin typeface="Times New Roman" panose="02020603050405020304" pitchFamily="18" charset="0"/>
                <a:cs typeface="Times New Roman" panose="02020603050405020304" pitchFamily="18" charset="0"/>
              </a:rPr>
              <a:t>最优决策函数序列</a:t>
            </a:r>
            <a:r>
              <a:rPr lang="en-US" altLang="zh-CN" sz="2200" kern="0" dirty="0">
                <a:latin typeface="Times New Roman" panose="02020603050405020304" pitchFamily="18" charset="0"/>
                <a:cs typeface="Times New Roman" panose="02020603050405020304" pitchFamily="18" charset="0"/>
              </a:rPr>
              <a:t>{</a:t>
            </a:r>
            <a:r>
              <a:rPr lang="en-US" altLang="zh-CN" sz="2200" i="1" kern="0" dirty="0" err="1">
                <a:latin typeface="Times New Roman" panose="02020603050405020304" pitchFamily="18" charset="0"/>
                <a:cs typeface="Times New Roman" panose="02020603050405020304" pitchFamily="18" charset="0"/>
              </a:rPr>
              <a:t>u</a:t>
            </a:r>
            <a:r>
              <a:rPr lang="en-US" altLang="zh-CN" sz="2200" i="1" kern="0" baseline="-25000" dirty="0" err="1">
                <a:latin typeface="Times New Roman" panose="02020603050405020304" pitchFamily="18" charset="0"/>
                <a:cs typeface="Times New Roman" panose="02020603050405020304" pitchFamily="18" charset="0"/>
              </a:rPr>
              <a:t>k</a:t>
            </a:r>
            <a:r>
              <a:rPr lang="en-US" altLang="zh-CN" sz="2200" kern="0" dirty="0">
                <a:latin typeface="Times New Roman" panose="02020603050405020304" pitchFamily="18" charset="0"/>
                <a:cs typeface="Times New Roman" panose="02020603050405020304" pitchFamily="18" charset="0"/>
              </a:rPr>
              <a:t>}</a:t>
            </a:r>
            <a:r>
              <a:rPr lang="zh-CN" altLang="en-US" sz="2200" kern="0" dirty="0">
                <a:latin typeface="Times New Roman" panose="02020603050405020304" pitchFamily="18" charset="0"/>
                <a:cs typeface="Times New Roman" panose="02020603050405020304" pitchFamily="18" charset="0"/>
              </a:rPr>
              <a:t>，即由</a:t>
            </a:r>
            <a:endParaRPr lang="en-US" altLang="zh-CN" sz="22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40964" name="Picture 4" descr="539963626139808779182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685800" y="3119264"/>
            <a:ext cx="7992876" cy="1224136"/>
          </a:xfrm>
          <a:prstGeom prst="rect">
            <a:avLst/>
          </a:prstGeom>
          <a:noFill/>
          <a:ln>
            <a:noFill/>
          </a:ln>
          <a:effectLst/>
        </p:spPr>
      </p:pic>
      <p:sp>
        <p:nvSpPr>
          <p:cNvPr id="60420" name="Rectangle 5"/>
          <p:cNvSpPr>
            <a:spLocks noChangeArrowheads="1"/>
          </p:cNvSpPr>
          <p:nvPr/>
        </p:nvSpPr>
        <p:spPr bwMode="auto">
          <a:xfrm>
            <a:off x="762000" y="1881188"/>
            <a:ext cx="7489825" cy="1128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50000"/>
              </a:lnSpc>
              <a:spcBef>
                <a:spcPct val="0"/>
              </a:spcBef>
              <a:buClr>
                <a:srgbClr val="000000"/>
              </a:buClr>
              <a:buFontTx/>
              <a:buNone/>
            </a:pPr>
            <a:r>
              <a:rPr lang="zh-CN" altLang="en-US" sz="2400">
                <a:latin typeface="Times New Roman" panose="02020603050405020304" pitchFamily="18" charset="0"/>
                <a:ea typeface="黑体" panose="02010609060101010101" pitchFamily="49" charset="-122"/>
                <a:cs typeface="Times New Roman" panose="02020603050405020304" pitchFamily="18" charset="0"/>
              </a:rPr>
              <a:t>    从上面的计算过程中可以看出：在求解的各个阶段，利用了</a:t>
            </a:r>
            <a:r>
              <a:rPr lang="en-US" altLang="zh-CN" sz="2400" i="1">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a:latin typeface="Times New Roman" panose="02020603050405020304" pitchFamily="18" charset="0"/>
                <a:ea typeface="黑体" panose="02010609060101010101" pitchFamily="49" charset="-122"/>
                <a:cs typeface="Times New Roman" panose="02020603050405020304" pitchFamily="18" charset="0"/>
              </a:rPr>
              <a:t>阶段与</a:t>
            </a:r>
            <a:r>
              <a:rPr lang="en-US" altLang="zh-CN" sz="2400" i="1">
                <a:latin typeface="Times New Roman" panose="02020603050405020304" pitchFamily="18" charset="0"/>
                <a:ea typeface="黑体" panose="02010609060101010101" pitchFamily="49" charset="-122"/>
                <a:cs typeface="Times New Roman" panose="02020603050405020304" pitchFamily="18" charset="0"/>
              </a:rPr>
              <a:t>k</a:t>
            </a:r>
            <a:r>
              <a:rPr lang="en-US" altLang="zh-CN" sz="240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a:latin typeface="Times New Roman" panose="02020603050405020304" pitchFamily="18" charset="0"/>
                <a:ea typeface="黑体" panose="02010609060101010101" pitchFamily="49" charset="-122"/>
                <a:cs typeface="Times New Roman" panose="02020603050405020304" pitchFamily="18" charset="0"/>
              </a:rPr>
              <a:t>阶段之间的</a:t>
            </a:r>
            <a:r>
              <a:rPr lang="zh-CN" altLang="en-US" sz="240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递推关系</a:t>
            </a:r>
            <a:r>
              <a:rPr lang="zh-CN" altLang="en-US" sz="240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60421"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555FD83-D7FF-420B-9F6C-BDF327253B2F}"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60422"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2319888D-460B-4805-B2E7-CD41B878AEF0}" type="slidenum">
              <a:rPr lang="zh-CN" altLang="zh-CN" sz="1400">
                <a:latin typeface="Arial" panose="020B0604020202020204" pitchFamily="34" charset="0"/>
              </a:rPr>
              <a:pPr>
                <a:spcBef>
                  <a:spcPct val="0"/>
                </a:spcBef>
                <a:buClr>
                  <a:srgbClr val="000000"/>
                </a:buClr>
                <a:buFontTx/>
                <a:buNone/>
              </a:pPr>
              <a:t>43</a:t>
            </a:fld>
            <a:endParaRPr lang="en-US" altLang="zh-CN" sz="1400">
              <a:latin typeface="Arial" panose="020B0604020202020204" pitchFamily="34" charset="0"/>
            </a:endParaRPr>
          </a:p>
        </p:txBody>
      </p:sp>
      <p:sp>
        <p:nvSpPr>
          <p:cNvPr id="60423"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41988" name="Picture 4" descr="952452348139808779182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1392534" y="2558344"/>
            <a:ext cx="6815137" cy="1231776"/>
          </a:xfrm>
          <a:prstGeom prst="rect">
            <a:avLst/>
          </a:prstGeom>
          <a:noFill/>
          <a:ln>
            <a:noFill/>
          </a:ln>
          <a:effectLst/>
        </p:spPr>
      </p:pic>
      <p:pic>
        <p:nvPicPr>
          <p:cNvPr id="41989" name="Picture 5" descr="9164694031398087791823"/>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auto">
          <a:xfrm>
            <a:off x="3750790" y="3990726"/>
            <a:ext cx="1620193" cy="547265"/>
          </a:xfrm>
          <a:prstGeom prst="rect">
            <a:avLst/>
          </a:prstGeom>
          <a:noFill/>
          <a:ln>
            <a:noFill/>
          </a:ln>
          <a:effectLst/>
        </p:spPr>
      </p:pic>
      <p:sp>
        <p:nvSpPr>
          <p:cNvPr id="61445" name="Rectangle 6"/>
          <p:cNvSpPr>
            <a:spLocks noChangeArrowheads="1"/>
          </p:cNvSpPr>
          <p:nvPr/>
        </p:nvSpPr>
        <p:spPr bwMode="auto">
          <a:xfrm>
            <a:off x="762000" y="1954213"/>
            <a:ext cx="76327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latin typeface="Times New Roman" panose="02020603050405020304" pitchFamily="18" charset="0"/>
                <a:ea typeface="黑体" panose="02010609060101010101" pitchFamily="49" charset="-122"/>
                <a:cs typeface="Times New Roman" panose="02020603050405020304" pitchFamily="18" charset="0"/>
              </a:rPr>
              <a:t>一般情况，</a:t>
            </a:r>
            <a:r>
              <a:rPr lang="en-US" altLang="zh-CN" sz="2400" b="1" i="1">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阶段与</a:t>
            </a:r>
            <a:r>
              <a:rPr lang="en-US" altLang="zh-CN" sz="2400" b="1" i="1">
                <a:latin typeface="Times New Roman" panose="02020603050405020304" pitchFamily="18" charset="0"/>
                <a:ea typeface="黑体" panose="02010609060101010101" pitchFamily="49" charset="-122"/>
                <a:cs typeface="Times New Roman" panose="02020603050405020304" pitchFamily="18" charset="0"/>
              </a:rPr>
              <a:t>k</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阶段的递推关系式可写成：</a:t>
            </a:r>
          </a:p>
        </p:txBody>
      </p:sp>
      <p:sp>
        <p:nvSpPr>
          <p:cNvPr id="61446" name="Rectangle 7"/>
          <p:cNvSpPr>
            <a:spLocks noChangeArrowheads="1"/>
          </p:cNvSpPr>
          <p:nvPr/>
        </p:nvSpPr>
        <p:spPr bwMode="auto">
          <a:xfrm>
            <a:off x="1408113" y="4033838"/>
            <a:ext cx="1724025"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2400">
                <a:latin typeface="黑体" panose="02010609060101010101" pitchFamily="49" charset="-122"/>
                <a:ea typeface="黑体" panose="02010609060101010101" pitchFamily="49" charset="-122"/>
              </a:rPr>
              <a:t>边界条件为</a:t>
            </a:r>
          </a:p>
        </p:txBody>
      </p:sp>
      <p:sp>
        <p:nvSpPr>
          <p:cNvPr id="61447"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72429540-56BD-4267-BEE8-D3FBAC61D75A}"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61448"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2B86571-3E8F-4971-9A4B-A0AF20D5A93C}" type="slidenum">
              <a:rPr lang="zh-CN" altLang="zh-CN" sz="1400">
                <a:latin typeface="Arial" panose="020B0604020202020204" pitchFamily="34" charset="0"/>
              </a:rPr>
              <a:pPr>
                <a:spcBef>
                  <a:spcPct val="0"/>
                </a:spcBef>
                <a:buClr>
                  <a:srgbClr val="000000"/>
                </a:buClr>
                <a:buFontTx/>
                <a:buNone/>
              </a:pPr>
              <a:t>44</a:t>
            </a:fld>
            <a:endParaRPr lang="en-US" altLang="zh-CN" sz="1400">
              <a:latin typeface="Arial" panose="020B0604020202020204" pitchFamily="34" charset="0"/>
            </a:endParaRPr>
          </a:p>
        </p:txBody>
      </p:sp>
      <p:sp>
        <p:nvSpPr>
          <p:cNvPr id="61449" name="Rectangle 4"/>
          <p:cNvSpPr>
            <a:spLocks noChangeArrowheads="1"/>
          </p:cNvSpPr>
          <p:nvPr/>
        </p:nvSpPr>
        <p:spPr bwMode="auto">
          <a:xfrm>
            <a:off x="1068388" y="5102225"/>
            <a:ext cx="69850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latin typeface="黑体" panose="02010609060101010101" pitchFamily="49" charset="-122"/>
                <a:ea typeface="黑体" panose="02010609060101010101" pitchFamily="49" charset="-122"/>
              </a:rPr>
              <a:t>递推关系式</a:t>
            </a:r>
            <a:r>
              <a:rPr lang="en-US" altLang="zh-CN" sz="2400" b="1">
                <a:latin typeface="黑体" panose="02010609060101010101" pitchFamily="49" charset="-122"/>
                <a:ea typeface="黑体" panose="02010609060101010101" pitchFamily="49" charset="-122"/>
              </a:rPr>
              <a:t>(1-1)</a:t>
            </a:r>
            <a:r>
              <a:rPr lang="zh-CN" altLang="en-US" sz="2400" b="1">
                <a:latin typeface="黑体" panose="02010609060101010101" pitchFamily="49" charset="-122"/>
                <a:ea typeface="黑体" panose="02010609060101010101" pitchFamily="49" charset="-122"/>
              </a:rPr>
              <a:t>称为</a:t>
            </a:r>
            <a:r>
              <a:rPr lang="zh-CN" altLang="en-US" sz="2400" b="1" u="sng">
                <a:solidFill>
                  <a:srgbClr val="FF0000"/>
                </a:solidFill>
                <a:latin typeface="黑体" panose="02010609060101010101" pitchFamily="49" charset="-122"/>
                <a:ea typeface="黑体" panose="02010609060101010101" pitchFamily="49" charset="-122"/>
              </a:rPr>
              <a:t>动态规划的基本方程</a:t>
            </a:r>
            <a:r>
              <a:rPr lang="zh-CN" altLang="en-US" sz="2400" b="1">
                <a:latin typeface="黑体" panose="02010609060101010101" pitchFamily="49" charset="-122"/>
                <a:ea typeface="黑体" panose="02010609060101010101" pitchFamily="49" charset="-122"/>
              </a:rPr>
              <a:t>。 </a:t>
            </a:r>
          </a:p>
        </p:txBody>
      </p:sp>
      <p:graphicFrame>
        <p:nvGraphicFramePr>
          <p:cNvPr id="61450" name="对象 2"/>
          <p:cNvGraphicFramePr>
            <a:graphicFrameLocks noChangeAspect="1"/>
          </p:cNvGraphicFramePr>
          <p:nvPr/>
        </p:nvGraphicFramePr>
        <p:xfrm>
          <a:off x="4103688" y="2806700"/>
          <a:ext cx="914400" cy="179388"/>
        </p:xfrm>
        <a:graphic>
          <a:graphicData uri="http://schemas.openxmlformats.org/presentationml/2006/ole">
            <mc:AlternateContent xmlns:mc="http://schemas.openxmlformats.org/markup-compatibility/2006">
              <mc:Choice xmlns:v="urn:schemas-microsoft-com:vml" Requires="v">
                <p:oleObj name="Equation" r:id="rId4" imgW="428207" imgH="666100" progId="Equation.DSMT4">
                  <p:embed/>
                </p:oleObj>
              </mc:Choice>
              <mc:Fallback>
                <p:oleObj name="Equation" r:id="rId4" imgW="428207" imgH="666100" progId="Equation.DSMT4">
                  <p:embed/>
                  <p:pic>
                    <p:nvPicPr>
                      <p:cNvPr id="6145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3688" y="2806700"/>
                        <a:ext cx="91440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1"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566737"/>
          </a:xfrm>
        </p:spPr>
        <p:txBody>
          <a:bodyPr/>
          <a:lstStyle/>
          <a:p>
            <a:pPr algn="just" eaLnBrk="1" hangingPunct="1">
              <a:lnSpc>
                <a:spcPct val="120000"/>
              </a:lnSpc>
              <a:buFont typeface="Wingdings" panose="05000000000000000000" pitchFamily="2" charset="2"/>
              <a:buChar char="p"/>
              <a:defRPr/>
            </a:pPr>
            <a:r>
              <a:rPr lang="zh-CN" altLang="en-US" sz="2400" u="sng" dirty="0">
                <a:solidFill>
                  <a:srgbClr val="FF0000"/>
                </a:solidFill>
              </a:rPr>
              <a:t>动态规划方法基本思想归纳</a:t>
            </a:r>
            <a:endParaRPr lang="zh-CN" altLang="en-US" sz="2000" dirty="0">
              <a:latin typeface="+mn-ea"/>
            </a:endParaRPr>
          </a:p>
        </p:txBody>
      </p:sp>
      <p:sp>
        <p:nvSpPr>
          <p:cNvPr id="6246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17C6187-495D-4DC5-BC3A-EBE7BB704E1D}" type="slidenum">
              <a:rPr lang="zh-CN" altLang="zh-CN" sz="1400">
                <a:latin typeface="Arial" panose="020B0604020202020204" pitchFamily="34" charset="0"/>
              </a:rPr>
              <a:pPr>
                <a:spcBef>
                  <a:spcPct val="0"/>
                </a:spcBef>
                <a:buClr>
                  <a:srgbClr val="000000"/>
                </a:buClr>
                <a:buFontTx/>
                <a:buNone/>
              </a:pPr>
              <a:t>45</a:t>
            </a:fld>
            <a:endParaRPr lang="en-US" altLang="zh-CN" sz="1400">
              <a:latin typeface="Arial" panose="020B0604020202020204" pitchFamily="34" charset="0"/>
            </a:endParaRPr>
          </a:p>
        </p:txBody>
      </p:sp>
      <p:sp>
        <p:nvSpPr>
          <p:cNvPr id="62468"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
        <p:nvSpPr>
          <p:cNvPr id="62469" name="Rectangle 3"/>
          <p:cNvSpPr txBox="1">
            <a:spLocks noChangeArrowheads="1"/>
          </p:cNvSpPr>
          <p:nvPr/>
        </p:nvSpPr>
        <p:spPr bwMode="auto">
          <a:xfrm>
            <a:off x="685800" y="2286000"/>
            <a:ext cx="7848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buFont typeface="宋体" panose="02010600030101010101" pitchFamily="2" charset="-122"/>
              <a:buAutoNum type="circleNumDbPlain"/>
            </a:pPr>
            <a:r>
              <a:rPr lang="zh-CN" altLang="en-US" sz="2000"/>
              <a:t>动态规划方法的关键在于正确地写出基本的递推关系式和恰当的边界条件</a:t>
            </a:r>
            <a:r>
              <a:rPr lang="en-US" altLang="zh-CN" sz="2000"/>
              <a:t>(</a:t>
            </a:r>
            <a:r>
              <a:rPr lang="zh-CN" altLang="en-US" sz="2000"/>
              <a:t>简言之为</a:t>
            </a:r>
            <a:r>
              <a:rPr lang="zh-CN" altLang="en-US" sz="2000">
                <a:solidFill>
                  <a:srgbClr val="C00000"/>
                </a:solidFill>
              </a:rPr>
              <a:t>基本方程</a:t>
            </a:r>
            <a:r>
              <a:rPr lang="en-US" altLang="zh-CN" sz="2000"/>
              <a:t>)</a:t>
            </a:r>
            <a:r>
              <a:rPr lang="zh-CN" altLang="en-US" sz="2000"/>
              <a:t>。</a:t>
            </a:r>
            <a:endParaRPr lang="en-US" altLang="zh-CN" sz="2000"/>
          </a:p>
          <a:p>
            <a:pPr lvl="1" algn="just" eaLnBrk="1" hangingPunct="1">
              <a:lnSpc>
                <a:spcPct val="120000"/>
              </a:lnSpc>
              <a:buFont typeface="Wingdings" panose="05000000000000000000" pitchFamily="2" charset="2"/>
              <a:buChar char="l"/>
            </a:pPr>
            <a:r>
              <a:rPr lang="zh-CN" altLang="en-US" sz="2000"/>
              <a:t>要做到这一点，必须先将问题的过程分成几个相互联系的</a:t>
            </a:r>
            <a:r>
              <a:rPr lang="zh-CN" altLang="en-US" sz="2000">
                <a:solidFill>
                  <a:srgbClr val="FF0000"/>
                </a:solidFill>
              </a:rPr>
              <a:t>阶段</a:t>
            </a:r>
            <a:r>
              <a:rPr lang="zh-CN" altLang="en-US" sz="2000"/>
              <a:t>，恰当地选取</a:t>
            </a:r>
            <a:r>
              <a:rPr lang="zh-CN" altLang="en-US" sz="2000">
                <a:solidFill>
                  <a:srgbClr val="FF0000"/>
                </a:solidFill>
              </a:rPr>
              <a:t>状态变量</a:t>
            </a:r>
            <a:r>
              <a:rPr lang="zh-CN" altLang="en-US" sz="2000"/>
              <a:t>和</a:t>
            </a:r>
            <a:r>
              <a:rPr lang="zh-CN" altLang="en-US" sz="2000">
                <a:solidFill>
                  <a:srgbClr val="FF0000"/>
                </a:solidFill>
              </a:rPr>
              <a:t>决策变量</a:t>
            </a:r>
            <a:r>
              <a:rPr lang="zh-CN" altLang="en-US" sz="2000"/>
              <a:t>及定义</a:t>
            </a:r>
            <a:r>
              <a:rPr lang="zh-CN" altLang="en-US" sz="2000">
                <a:solidFill>
                  <a:srgbClr val="FF0000"/>
                </a:solidFill>
              </a:rPr>
              <a:t>最优值函数</a:t>
            </a:r>
            <a:r>
              <a:rPr lang="zh-CN" altLang="en-US" sz="2000"/>
              <a:t>，从而把一个大问题化成一族同类型的</a:t>
            </a:r>
            <a:r>
              <a:rPr lang="zh-CN" altLang="en-US" sz="2000">
                <a:solidFill>
                  <a:srgbClr val="FF0000"/>
                </a:solidFill>
              </a:rPr>
              <a:t>子问题</a:t>
            </a:r>
            <a:r>
              <a:rPr lang="zh-CN" altLang="en-US" sz="2000"/>
              <a:t>，然后逐个求解。</a:t>
            </a:r>
            <a:endParaRPr lang="en-US" altLang="zh-CN" sz="2000"/>
          </a:p>
          <a:p>
            <a:pPr lvl="1" algn="just" eaLnBrk="1" hangingPunct="1">
              <a:lnSpc>
                <a:spcPct val="120000"/>
              </a:lnSpc>
              <a:buFont typeface="Wingdings" panose="05000000000000000000" pitchFamily="2" charset="2"/>
              <a:buChar char="l"/>
            </a:pPr>
            <a:r>
              <a:rPr lang="zh-CN" altLang="en-US" sz="2000"/>
              <a:t>即从边界条件开始，逐段递推寻优，在每一个子问题的求解中，均利用了它前面的子问题的最优化结果，依次进行，最后一个子问题所得的最优解，就是整个问题的最优解。</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566737"/>
          </a:xfrm>
        </p:spPr>
        <p:txBody>
          <a:bodyPr/>
          <a:lstStyle/>
          <a:p>
            <a:pPr algn="just" eaLnBrk="1" hangingPunct="1">
              <a:lnSpc>
                <a:spcPct val="120000"/>
              </a:lnSpc>
              <a:buFont typeface="Wingdings" panose="05000000000000000000" pitchFamily="2" charset="2"/>
              <a:buChar char="p"/>
              <a:defRPr/>
            </a:pPr>
            <a:r>
              <a:rPr lang="zh-CN" altLang="en-US" sz="2400" u="sng" dirty="0">
                <a:solidFill>
                  <a:srgbClr val="FF0000"/>
                </a:solidFill>
              </a:rPr>
              <a:t>动态规划方法基本思想归纳</a:t>
            </a:r>
            <a:endParaRPr lang="zh-CN" altLang="en-US" sz="2000" dirty="0">
              <a:latin typeface="+mn-ea"/>
            </a:endParaRPr>
          </a:p>
        </p:txBody>
      </p:sp>
      <p:sp>
        <p:nvSpPr>
          <p:cNvPr id="63491"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8BDBBE9C-62E2-4319-B93F-6CD222E829DE}" type="slidenum">
              <a:rPr lang="zh-CN" altLang="zh-CN" sz="1400">
                <a:latin typeface="Arial" panose="020B0604020202020204" pitchFamily="34" charset="0"/>
              </a:rPr>
              <a:pPr>
                <a:spcBef>
                  <a:spcPct val="0"/>
                </a:spcBef>
                <a:buClr>
                  <a:srgbClr val="000000"/>
                </a:buClr>
                <a:buFontTx/>
                <a:buNone/>
              </a:pPr>
              <a:t>46</a:t>
            </a:fld>
            <a:endParaRPr lang="en-US" altLang="zh-CN" sz="1400">
              <a:latin typeface="Arial" panose="020B0604020202020204" pitchFamily="34" charset="0"/>
            </a:endParaRPr>
          </a:p>
        </p:txBody>
      </p:sp>
      <p:sp>
        <p:nvSpPr>
          <p:cNvPr id="63492"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
        <p:nvSpPr>
          <p:cNvPr id="63493" name="Rectangle 3"/>
          <p:cNvSpPr txBox="1">
            <a:spLocks noChangeArrowheads="1"/>
          </p:cNvSpPr>
          <p:nvPr/>
        </p:nvSpPr>
        <p:spPr bwMode="auto">
          <a:xfrm>
            <a:off x="685800" y="2286000"/>
            <a:ext cx="7848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buFont typeface="宋体" panose="02010600030101010101" pitchFamily="2" charset="-122"/>
              <a:buAutoNum type="circleNumDbPlain" startAt="2"/>
            </a:pPr>
            <a:r>
              <a:rPr lang="zh-CN" altLang="en-US" sz="2000"/>
              <a:t>在多阶段决策过程中，动态规划方法是既把当前一段和未来各段分开，又把当前效益和未来效益结合起来考虑的一种最优化方法。</a:t>
            </a:r>
            <a:endParaRPr lang="en-US" altLang="zh-CN" sz="2000"/>
          </a:p>
          <a:p>
            <a:pPr lvl="1" algn="just" eaLnBrk="1" hangingPunct="1">
              <a:lnSpc>
                <a:spcPct val="120000"/>
              </a:lnSpc>
              <a:buFont typeface="Wingdings" panose="05000000000000000000" pitchFamily="2" charset="2"/>
              <a:buChar char="l"/>
            </a:pPr>
            <a:r>
              <a:rPr lang="zh-CN" altLang="en-US" sz="2000"/>
              <a:t>因此，每段决策的选取是从全局来考虑的，与该段的最优选择答案一般是不同的。</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566737"/>
          </a:xfrm>
        </p:spPr>
        <p:txBody>
          <a:bodyPr/>
          <a:lstStyle/>
          <a:p>
            <a:pPr algn="just" eaLnBrk="1" hangingPunct="1">
              <a:lnSpc>
                <a:spcPct val="120000"/>
              </a:lnSpc>
              <a:buFont typeface="Wingdings" panose="05000000000000000000" pitchFamily="2" charset="2"/>
              <a:buChar char="p"/>
              <a:defRPr/>
            </a:pPr>
            <a:r>
              <a:rPr lang="zh-CN" altLang="en-US" sz="2400" u="sng" dirty="0">
                <a:solidFill>
                  <a:srgbClr val="FF0000"/>
                </a:solidFill>
              </a:rPr>
              <a:t>动态规划方法基本思想归纳</a:t>
            </a:r>
            <a:endParaRPr lang="zh-CN" altLang="en-US" sz="2000" dirty="0">
              <a:latin typeface="+mn-ea"/>
            </a:endParaRPr>
          </a:p>
        </p:txBody>
      </p:sp>
      <p:sp>
        <p:nvSpPr>
          <p:cNvPr id="64515"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90119E40-4C19-420F-B036-1E9ABCE862D7}" type="slidenum">
              <a:rPr lang="zh-CN" altLang="zh-CN" sz="1400">
                <a:latin typeface="Arial" panose="020B0604020202020204" pitchFamily="34" charset="0"/>
              </a:rPr>
              <a:pPr>
                <a:spcBef>
                  <a:spcPct val="0"/>
                </a:spcBef>
                <a:buClr>
                  <a:srgbClr val="000000"/>
                </a:buClr>
                <a:buFontTx/>
                <a:buNone/>
              </a:pPr>
              <a:t>47</a:t>
            </a:fld>
            <a:endParaRPr lang="en-US" altLang="zh-CN" sz="1400">
              <a:latin typeface="Arial" panose="020B0604020202020204" pitchFamily="34" charset="0"/>
            </a:endParaRPr>
          </a:p>
        </p:txBody>
      </p:sp>
      <p:sp>
        <p:nvSpPr>
          <p:cNvPr id="64516"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sp>
        <p:nvSpPr>
          <p:cNvPr id="64517" name="Rectangle 3"/>
          <p:cNvSpPr txBox="1">
            <a:spLocks noChangeArrowheads="1"/>
          </p:cNvSpPr>
          <p:nvPr/>
        </p:nvSpPr>
        <p:spPr bwMode="auto">
          <a:xfrm>
            <a:off x="685800" y="2133600"/>
            <a:ext cx="7848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buFont typeface="宋体" panose="02010600030101010101" pitchFamily="2" charset="-122"/>
              <a:buAutoNum type="circleNumDbPlain" startAt="3"/>
            </a:pPr>
            <a:r>
              <a:rPr lang="zh-CN" altLang="en-US" sz="2000" dirty="0">
                <a:cs typeface="Courier New" panose="02070309020205020404" pitchFamily="49" charset="0"/>
              </a:rPr>
              <a:t>在求整个问题的最优策略时，由于</a:t>
            </a:r>
            <a:r>
              <a:rPr lang="zh-CN" altLang="en-US" sz="2000" b="1" dirty="0">
                <a:solidFill>
                  <a:srgbClr val="C00000"/>
                </a:solidFill>
                <a:cs typeface="Courier New" panose="02070309020205020404" pitchFamily="49" charset="0"/>
              </a:rPr>
              <a:t>初始状态是已知的</a:t>
            </a:r>
            <a:r>
              <a:rPr lang="zh-CN" altLang="en-US" sz="2000" dirty="0">
                <a:cs typeface="Courier New" panose="02070309020205020404" pitchFamily="49" charset="0"/>
              </a:rPr>
              <a:t>，而每段的决策都是该段状态的函数，故最优策略所经过的各段状态便可逐次变换得到，从而确定了最优路线。</a:t>
            </a:r>
            <a:endParaRPr lang="zh-CN" altLang="en-US" sz="2000" dirty="0"/>
          </a:p>
          <a:p>
            <a:pPr lvl="1" algn="just" eaLnBrk="1" hangingPunct="1">
              <a:lnSpc>
                <a:spcPct val="120000"/>
              </a:lnSpc>
              <a:buFont typeface="Wingdings" panose="05000000000000000000" pitchFamily="2" charset="2"/>
              <a:buChar char="l"/>
            </a:pPr>
            <a:r>
              <a:rPr lang="zh-CN" altLang="en-US" sz="2000" dirty="0">
                <a:cs typeface="Courier New" panose="02070309020205020404" pitchFamily="49" charset="0"/>
              </a:rPr>
              <a:t>如例</a:t>
            </a:r>
            <a:r>
              <a:rPr lang="en-US" altLang="zh-CN" sz="2000" dirty="0">
                <a:cs typeface="Courier New" panose="02070309020205020404" pitchFamily="49" charset="0"/>
              </a:rPr>
              <a:t>1</a:t>
            </a:r>
            <a:r>
              <a:rPr lang="zh-CN" altLang="en-US" sz="2000" dirty="0">
                <a:cs typeface="Courier New" panose="02070309020205020404" pitchFamily="49" charset="0"/>
              </a:rPr>
              <a:t>最短路线问题，初始状态</a:t>
            </a:r>
            <a:r>
              <a:rPr lang="en-US" altLang="zh-CN" sz="2000" dirty="0">
                <a:cs typeface="Courier New" panose="02070309020205020404" pitchFamily="49" charset="0"/>
              </a:rPr>
              <a:t>A</a:t>
            </a:r>
            <a:r>
              <a:rPr lang="zh-CN" altLang="en-US" sz="2000" dirty="0">
                <a:cs typeface="Courier New" panose="02070309020205020404" pitchFamily="49" charset="0"/>
              </a:rPr>
              <a:t>已知，则按下面箭头所指的方向逐次变换有</a:t>
            </a:r>
            <a:endParaRPr lang="en-US" altLang="zh-CN" sz="2000" dirty="0">
              <a:cs typeface="Courier New" panose="02070309020205020404" pitchFamily="49" charset="0"/>
            </a:endParaRPr>
          </a:p>
          <a:p>
            <a:pPr lvl="1" algn="just" eaLnBrk="1" hangingPunct="1">
              <a:lnSpc>
                <a:spcPct val="120000"/>
              </a:lnSpc>
              <a:buFont typeface="Wingdings" panose="05000000000000000000" pitchFamily="2" charset="2"/>
              <a:buChar char="l"/>
            </a:pPr>
            <a:endParaRPr lang="en-US" altLang="zh-CN" sz="2000" dirty="0">
              <a:cs typeface="Courier New" panose="02070309020205020404" pitchFamily="49" charset="0"/>
            </a:endParaRPr>
          </a:p>
          <a:p>
            <a:pPr lvl="1" algn="just" eaLnBrk="1" hangingPunct="1">
              <a:lnSpc>
                <a:spcPct val="120000"/>
              </a:lnSpc>
              <a:buFont typeface="Wingdings" panose="05000000000000000000" pitchFamily="2" charset="2"/>
              <a:buChar char="l"/>
            </a:pPr>
            <a:endParaRPr lang="en-US" altLang="zh-CN" sz="2000" dirty="0">
              <a:cs typeface="Courier New" panose="02070309020205020404" pitchFamily="49" charset="0"/>
            </a:endParaRPr>
          </a:p>
          <a:p>
            <a:pPr lvl="1" algn="just" eaLnBrk="1" hangingPunct="1">
              <a:lnSpc>
                <a:spcPct val="120000"/>
              </a:lnSpc>
              <a:buFont typeface="Wingdings" panose="05000000000000000000" pitchFamily="2" charset="2"/>
              <a:buChar char="l"/>
            </a:pPr>
            <a:endParaRPr lang="en-US" altLang="zh-CN" sz="2000" dirty="0">
              <a:cs typeface="Courier New" panose="02070309020205020404" pitchFamily="49" charset="0"/>
            </a:endParaRPr>
          </a:p>
          <a:p>
            <a:pPr lvl="1" algn="just" eaLnBrk="1" hangingPunct="1">
              <a:lnSpc>
                <a:spcPct val="120000"/>
              </a:lnSpc>
              <a:buFont typeface="Wingdings" panose="05000000000000000000" pitchFamily="2" charset="2"/>
              <a:buChar char="l"/>
            </a:pPr>
            <a:r>
              <a:rPr lang="zh-CN" altLang="en-US" sz="2000" dirty="0">
                <a:latin typeface="Times New Roman" panose="02020603050405020304" pitchFamily="18" charset="0"/>
                <a:cs typeface="Times New Roman" panose="02020603050405020304" pitchFamily="18" charset="0"/>
              </a:rPr>
              <a:t>从而可得最优策略为｛</a:t>
            </a:r>
            <a:r>
              <a:rPr lang="en-US" altLang="zh-CN" sz="2000" i="1" dirty="0">
                <a:latin typeface="Times New Roman" panose="02020603050405020304" pitchFamily="18" charset="0"/>
                <a:cs typeface="Times New Roman" panose="02020603050405020304" pitchFamily="18" charset="0"/>
              </a:rPr>
              <a:t>u</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A</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u</a:t>
            </a:r>
            <a:r>
              <a:rPr lang="en-US" altLang="zh-CN" sz="2000" i="1" baseline="-30000" dirty="0">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(B</a:t>
            </a:r>
            <a:r>
              <a:rPr lang="en-US" altLang="zh-CN" sz="2000" i="1"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u</a:t>
            </a:r>
            <a:r>
              <a:rPr lang="en-US" altLang="zh-CN" sz="2000" baseline="-30000" dirty="0">
                <a:latin typeface="Times New Roman" panose="02020603050405020304" pitchFamily="18" charset="0"/>
                <a:cs typeface="Times New Roman" panose="02020603050405020304" pitchFamily="18" charset="0"/>
              </a:rPr>
              <a:t>0</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F</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｝，相应的最短路线为</a:t>
            </a:r>
          </a:p>
        </p:txBody>
      </p:sp>
      <p:pic>
        <p:nvPicPr>
          <p:cNvPr id="6451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89338" y="3810000"/>
            <a:ext cx="359092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4519" name="Object 5"/>
          <p:cNvGraphicFramePr>
            <a:graphicFrameLocks noChangeAspect="1"/>
          </p:cNvGraphicFramePr>
          <p:nvPr/>
        </p:nvGraphicFramePr>
        <p:xfrm>
          <a:off x="2640013" y="5775325"/>
          <a:ext cx="5360987" cy="473075"/>
        </p:xfrm>
        <a:graphic>
          <a:graphicData uri="http://schemas.openxmlformats.org/presentationml/2006/ole">
            <mc:AlternateContent xmlns:mc="http://schemas.openxmlformats.org/markup-compatibility/2006">
              <mc:Choice xmlns:v="urn:schemas-microsoft-com:vml" Requires="v">
                <p:oleObj name="公式" r:id="rId3" imgW="2679700" imgH="228600" progId="Equation.3">
                  <p:embed/>
                </p:oleObj>
              </mc:Choice>
              <mc:Fallback>
                <p:oleObj name="公式" r:id="rId3" imgW="2679700" imgH="228600" progId="Equation.3">
                  <p:embed/>
                  <p:pic>
                    <p:nvPicPr>
                      <p:cNvPr id="6451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5775325"/>
                        <a:ext cx="5360987" cy="4730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719263"/>
            <a:ext cx="7848600" cy="566737"/>
          </a:xfrm>
        </p:spPr>
        <p:txBody>
          <a:bodyPr/>
          <a:lstStyle/>
          <a:p>
            <a:pPr algn="just" eaLnBrk="1" hangingPunct="1">
              <a:lnSpc>
                <a:spcPct val="120000"/>
              </a:lnSpc>
              <a:buFont typeface="Wingdings" panose="05000000000000000000" pitchFamily="2" charset="2"/>
              <a:buChar char="p"/>
              <a:defRPr/>
            </a:pPr>
            <a:r>
              <a:rPr lang="zh-CN" altLang="en-US" sz="2400" dirty="0"/>
              <a:t>求解最短路问题的</a:t>
            </a:r>
            <a:r>
              <a:rPr lang="zh-CN" altLang="en-US" sz="2400" b="1" dirty="0">
                <a:solidFill>
                  <a:srgbClr val="C00000"/>
                </a:solidFill>
              </a:rPr>
              <a:t>标号法</a:t>
            </a:r>
            <a:r>
              <a:rPr lang="en-US" altLang="zh-CN" sz="2400" dirty="0"/>
              <a:t>——</a:t>
            </a:r>
            <a:r>
              <a:rPr lang="zh-CN" altLang="en-US" sz="2400" dirty="0"/>
              <a:t>逆序解法</a:t>
            </a:r>
          </a:p>
          <a:p>
            <a:pPr algn="just" eaLnBrk="1" hangingPunct="1">
              <a:lnSpc>
                <a:spcPct val="120000"/>
              </a:lnSpc>
              <a:buFont typeface="Wingdings" panose="05000000000000000000" pitchFamily="2" charset="2"/>
              <a:buChar char="p"/>
              <a:defRPr/>
            </a:pPr>
            <a:endParaRPr lang="zh-CN" altLang="en-US" sz="2000" dirty="0">
              <a:latin typeface="+mn-ea"/>
            </a:endParaRPr>
          </a:p>
        </p:txBody>
      </p:sp>
      <p:sp>
        <p:nvSpPr>
          <p:cNvPr id="65539"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A8260BE-7322-4858-A17A-6425F2B63B86}" type="slidenum">
              <a:rPr lang="zh-CN" altLang="zh-CN" sz="1400">
                <a:latin typeface="Arial" panose="020B0604020202020204" pitchFamily="34" charset="0"/>
              </a:rPr>
              <a:pPr>
                <a:spcBef>
                  <a:spcPct val="0"/>
                </a:spcBef>
                <a:buClr>
                  <a:srgbClr val="000000"/>
                </a:buClr>
                <a:buFontTx/>
                <a:buNone/>
              </a:pPr>
              <a:t>48</a:t>
            </a:fld>
            <a:endParaRPr lang="en-US" altLang="zh-CN" sz="1400">
              <a:latin typeface="Arial" panose="020B0604020202020204" pitchFamily="34" charset="0"/>
            </a:endParaRPr>
          </a:p>
        </p:txBody>
      </p:sp>
      <p:sp>
        <p:nvSpPr>
          <p:cNvPr id="65540"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pic>
        <p:nvPicPr>
          <p:cNvPr id="65541" name="图片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063" y="2746375"/>
            <a:ext cx="58674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8g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633663"/>
            <a:ext cx="6842125" cy="304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6" descr="8g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630020"/>
            <a:ext cx="4949428" cy="2227980"/>
          </a:xfrm>
          <a:prstGeom prst="rect">
            <a:avLst/>
          </a:prstGeom>
          <a:solidFill>
            <a:schemeClr val="bg1">
              <a:lumMod val="85000"/>
            </a:schemeClr>
          </a:solidFill>
          <a:ln>
            <a:noFill/>
          </a:ln>
        </p:spPr>
      </p:pic>
      <p:sp>
        <p:nvSpPr>
          <p:cNvPr id="53250" name="Rectangle 3"/>
          <p:cNvSpPr>
            <a:spLocks noGrp="1" noChangeArrowheads="1"/>
          </p:cNvSpPr>
          <p:nvPr>
            <p:ph idx="1"/>
          </p:nvPr>
        </p:nvSpPr>
        <p:spPr>
          <a:xfrm>
            <a:off x="609600" y="1676400"/>
            <a:ext cx="6191109" cy="566737"/>
          </a:xfrm>
        </p:spPr>
        <p:txBody>
          <a:bodyPr/>
          <a:lstStyle/>
          <a:p>
            <a:pPr algn="just" eaLnBrk="1" hangingPunct="1">
              <a:lnSpc>
                <a:spcPct val="120000"/>
              </a:lnSpc>
              <a:buFont typeface="Wingdings" panose="05000000000000000000" pitchFamily="2" charset="2"/>
              <a:buChar char="p"/>
              <a:defRPr/>
            </a:pPr>
            <a:r>
              <a:rPr lang="zh-CN" altLang="en-US" sz="2400" dirty="0"/>
              <a:t>求解最短路问题的</a:t>
            </a:r>
            <a:r>
              <a:rPr lang="zh-CN" altLang="en-US" sz="2400" b="1" dirty="0">
                <a:solidFill>
                  <a:srgbClr val="C00000"/>
                </a:solidFill>
              </a:rPr>
              <a:t>标号法</a:t>
            </a:r>
            <a:r>
              <a:rPr lang="en-US" altLang="zh-CN" sz="2400" dirty="0"/>
              <a:t>——</a:t>
            </a:r>
            <a:r>
              <a:rPr lang="zh-CN" altLang="en-US" sz="2400" dirty="0"/>
              <a:t>顺序解法</a:t>
            </a:r>
          </a:p>
          <a:p>
            <a:pPr algn="just" eaLnBrk="1" hangingPunct="1">
              <a:lnSpc>
                <a:spcPct val="120000"/>
              </a:lnSpc>
              <a:buFont typeface="Wingdings" panose="05000000000000000000" pitchFamily="2" charset="2"/>
              <a:buChar char="p"/>
              <a:defRPr/>
            </a:pPr>
            <a:endParaRPr lang="zh-CN" altLang="en-US" sz="2000" dirty="0">
              <a:latin typeface="+mn-ea"/>
            </a:endParaRPr>
          </a:p>
        </p:txBody>
      </p:sp>
      <p:sp>
        <p:nvSpPr>
          <p:cNvPr id="66564" name="灯片编号占位符 2"/>
          <p:cNvSpPr>
            <a:spLocks noGrp="1" noChangeArrowheads="1"/>
          </p:cNvSpPr>
          <p:nvPr>
            <p:ph type="sldNum" sz="quarter" idx="11"/>
          </p:nvPr>
        </p:nvSpPr>
        <p:spPr>
          <a:xfrm>
            <a:off x="7848600" y="6245225"/>
            <a:ext cx="6858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085F41A5-8BB1-4D02-8566-E86667890358}" type="slidenum">
              <a:rPr lang="zh-CN" altLang="zh-CN" sz="1400">
                <a:latin typeface="Arial" panose="020B0604020202020204" pitchFamily="34" charset="0"/>
              </a:rPr>
              <a:pPr>
                <a:spcBef>
                  <a:spcPct val="0"/>
                </a:spcBef>
                <a:buClr>
                  <a:srgbClr val="000000"/>
                </a:buClr>
                <a:buFontTx/>
                <a:buNone/>
              </a:pPr>
              <a:t>49</a:t>
            </a:fld>
            <a:endParaRPr lang="en-US" altLang="zh-CN" sz="1400">
              <a:latin typeface="Arial" panose="020B0604020202020204" pitchFamily="34" charset="0"/>
            </a:endParaRPr>
          </a:p>
        </p:txBody>
      </p:sp>
      <p:sp>
        <p:nvSpPr>
          <p:cNvPr id="66565"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grpSp>
        <p:nvGrpSpPr>
          <p:cNvPr id="21" name="组合 20">
            <a:extLst>
              <a:ext uri="{FF2B5EF4-FFF2-40B4-BE49-F238E27FC236}">
                <a16:creationId xmlns:a16="http://schemas.microsoft.com/office/drawing/2014/main" id="{E2ED160F-EB5E-459B-537C-8511AE7AB0EE}"/>
              </a:ext>
            </a:extLst>
          </p:cNvPr>
          <p:cNvGrpSpPr/>
          <p:nvPr/>
        </p:nvGrpSpPr>
        <p:grpSpPr>
          <a:xfrm>
            <a:off x="2286000" y="2077134"/>
            <a:ext cx="6248400" cy="2590800"/>
            <a:chOff x="228600" y="2861846"/>
            <a:chExt cx="7906579" cy="3691354"/>
          </a:xfrm>
        </p:grpSpPr>
        <p:pic>
          <p:nvPicPr>
            <p:cNvPr id="3" name="图片 2">
              <a:extLst>
                <a:ext uri="{FF2B5EF4-FFF2-40B4-BE49-F238E27FC236}">
                  <a16:creationId xmlns:a16="http://schemas.microsoft.com/office/drawing/2014/main" id="{12B13446-579F-4437-9CB9-A358CE26EFDC}"/>
                </a:ext>
              </a:extLst>
            </p:cNvPr>
            <p:cNvPicPr>
              <a:picLocks noChangeAspect="1"/>
            </p:cNvPicPr>
            <p:nvPr/>
          </p:nvPicPr>
          <p:blipFill>
            <a:blip r:embed="rId3"/>
            <a:stretch>
              <a:fillRect/>
            </a:stretch>
          </p:blipFill>
          <p:spPr>
            <a:xfrm>
              <a:off x="228600" y="2971800"/>
              <a:ext cx="7906579" cy="3581400"/>
            </a:xfrm>
            <a:prstGeom prst="rect">
              <a:avLst/>
            </a:prstGeom>
            <a:ln>
              <a:noFill/>
            </a:ln>
          </p:spPr>
        </p:pic>
        <p:sp>
          <p:nvSpPr>
            <p:cNvPr id="4" name="文本框 3">
              <a:extLst>
                <a:ext uri="{FF2B5EF4-FFF2-40B4-BE49-F238E27FC236}">
                  <a16:creationId xmlns:a16="http://schemas.microsoft.com/office/drawing/2014/main" id="{3D5FE437-7FE0-1D26-8C9A-21BFE1A0BFF1}"/>
                </a:ext>
              </a:extLst>
            </p:cNvPr>
            <p:cNvSpPr txBox="1"/>
            <p:nvPr/>
          </p:nvSpPr>
          <p:spPr>
            <a:xfrm>
              <a:off x="304800" y="4233446"/>
              <a:ext cx="304799" cy="368132"/>
            </a:xfrm>
            <a:prstGeom prst="rect">
              <a:avLst/>
            </a:prstGeom>
            <a:noFill/>
            <a:ln>
              <a:noFill/>
            </a:ln>
          </p:spPr>
          <p:txBody>
            <a:bodyPr wrap="square" rtlCol="0">
              <a:spAutoFit/>
            </a:bodyPr>
            <a:lstStyle/>
            <a:p>
              <a:r>
                <a:rPr lang="en-US" altLang="zh-CN" sz="1100" dirty="0">
                  <a:solidFill>
                    <a:srgbClr val="FF0000"/>
                  </a:solidFill>
                </a:rPr>
                <a:t>0</a:t>
              </a:r>
              <a:endParaRPr lang="zh-CN" altLang="en-US" sz="1100" dirty="0">
                <a:solidFill>
                  <a:srgbClr val="FF0000"/>
                </a:solidFill>
              </a:endParaRPr>
            </a:p>
          </p:txBody>
        </p:sp>
        <p:sp>
          <p:nvSpPr>
            <p:cNvPr id="5" name="文本框 4">
              <a:extLst>
                <a:ext uri="{FF2B5EF4-FFF2-40B4-BE49-F238E27FC236}">
                  <a16:creationId xmlns:a16="http://schemas.microsoft.com/office/drawing/2014/main" id="{139A773E-88B6-2C46-1456-3C9C35EE3E1D}"/>
                </a:ext>
              </a:extLst>
            </p:cNvPr>
            <p:cNvSpPr txBox="1"/>
            <p:nvPr/>
          </p:nvSpPr>
          <p:spPr>
            <a:xfrm>
              <a:off x="6705600" y="3700047"/>
              <a:ext cx="457200" cy="368132"/>
            </a:xfrm>
            <a:prstGeom prst="rect">
              <a:avLst/>
            </a:prstGeom>
            <a:noFill/>
            <a:ln>
              <a:noFill/>
            </a:ln>
          </p:spPr>
          <p:txBody>
            <a:bodyPr wrap="square" rtlCol="0">
              <a:spAutoFit/>
            </a:bodyPr>
            <a:lstStyle/>
            <a:p>
              <a:r>
                <a:rPr lang="en-US" altLang="zh-CN" sz="1100" dirty="0">
                  <a:solidFill>
                    <a:srgbClr val="FF0000"/>
                  </a:solidFill>
                </a:rPr>
                <a:t>16</a:t>
              </a:r>
              <a:endParaRPr lang="zh-CN" altLang="en-US" sz="1100" dirty="0">
                <a:solidFill>
                  <a:srgbClr val="FF0000"/>
                </a:solidFill>
              </a:endParaRPr>
            </a:p>
          </p:txBody>
        </p:sp>
        <p:sp>
          <p:nvSpPr>
            <p:cNvPr id="6" name="文本框 5">
              <a:extLst>
                <a:ext uri="{FF2B5EF4-FFF2-40B4-BE49-F238E27FC236}">
                  <a16:creationId xmlns:a16="http://schemas.microsoft.com/office/drawing/2014/main" id="{92C17BCC-EB84-8B10-C983-F8AD2BCA7E7D}"/>
                </a:ext>
              </a:extLst>
            </p:cNvPr>
            <p:cNvSpPr txBox="1"/>
            <p:nvPr/>
          </p:nvSpPr>
          <p:spPr>
            <a:xfrm>
              <a:off x="7620000" y="4191000"/>
              <a:ext cx="463777" cy="368132"/>
            </a:xfrm>
            <a:prstGeom prst="rect">
              <a:avLst/>
            </a:prstGeom>
            <a:noFill/>
            <a:ln>
              <a:noFill/>
            </a:ln>
          </p:spPr>
          <p:txBody>
            <a:bodyPr wrap="square" rtlCol="0">
              <a:spAutoFit/>
            </a:bodyPr>
            <a:lstStyle/>
            <a:p>
              <a:r>
                <a:rPr lang="en-US" altLang="zh-CN" sz="1100" dirty="0">
                  <a:solidFill>
                    <a:srgbClr val="FF0000"/>
                  </a:solidFill>
                </a:rPr>
                <a:t>18</a:t>
              </a:r>
              <a:endParaRPr lang="zh-CN" altLang="en-US" sz="1100" dirty="0">
                <a:solidFill>
                  <a:srgbClr val="FF0000"/>
                </a:solidFill>
              </a:endParaRPr>
            </a:p>
          </p:txBody>
        </p:sp>
        <p:sp>
          <p:nvSpPr>
            <p:cNvPr id="7" name="文本框 6">
              <a:extLst>
                <a:ext uri="{FF2B5EF4-FFF2-40B4-BE49-F238E27FC236}">
                  <a16:creationId xmlns:a16="http://schemas.microsoft.com/office/drawing/2014/main" id="{F05DCD6D-64AE-6D4B-5576-238891253FFE}"/>
                </a:ext>
              </a:extLst>
            </p:cNvPr>
            <p:cNvSpPr txBox="1"/>
            <p:nvPr/>
          </p:nvSpPr>
          <p:spPr>
            <a:xfrm>
              <a:off x="5486400" y="3242845"/>
              <a:ext cx="457200" cy="368132"/>
            </a:xfrm>
            <a:prstGeom prst="rect">
              <a:avLst/>
            </a:prstGeom>
            <a:noFill/>
            <a:ln>
              <a:noFill/>
            </a:ln>
          </p:spPr>
          <p:txBody>
            <a:bodyPr wrap="square" rtlCol="0">
              <a:spAutoFit/>
            </a:bodyPr>
            <a:lstStyle/>
            <a:p>
              <a:r>
                <a:rPr lang="en-US" altLang="zh-CN" sz="1100" dirty="0">
                  <a:solidFill>
                    <a:srgbClr val="FF0000"/>
                  </a:solidFill>
                </a:rPr>
                <a:t>13</a:t>
              </a:r>
              <a:endParaRPr lang="zh-CN" altLang="en-US" sz="1100" dirty="0">
                <a:solidFill>
                  <a:srgbClr val="FF0000"/>
                </a:solidFill>
              </a:endParaRPr>
            </a:p>
          </p:txBody>
        </p:sp>
        <p:sp>
          <p:nvSpPr>
            <p:cNvPr id="8" name="文本框 7">
              <a:extLst>
                <a:ext uri="{FF2B5EF4-FFF2-40B4-BE49-F238E27FC236}">
                  <a16:creationId xmlns:a16="http://schemas.microsoft.com/office/drawing/2014/main" id="{5683A167-03F6-CB71-6F27-507E720A4631}"/>
                </a:ext>
              </a:extLst>
            </p:cNvPr>
            <p:cNvSpPr txBox="1"/>
            <p:nvPr/>
          </p:nvSpPr>
          <p:spPr>
            <a:xfrm>
              <a:off x="6702425" y="4919247"/>
              <a:ext cx="457200" cy="368132"/>
            </a:xfrm>
            <a:prstGeom prst="rect">
              <a:avLst/>
            </a:prstGeom>
            <a:noFill/>
            <a:ln>
              <a:noFill/>
            </a:ln>
          </p:spPr>
          <p:txBody>
            <a:bodyPr wrap="square" rtlCol="0">
              <a:spAutoFit/>
            </a:bodyPr>
            <a:lstStyle/>
            <a:p>
              <a:r>
                <a:rPr lang="en-US" altLang="zh-CN" sz="1100" dirty="0">
                  <a:solidFill>
                    <a:srgbClr val="FF0000"/>
                  </a:solidFill>
                </a:rPr>
                <a:t>15</a:t>
              </a:r>
              <a:endParaRPr lang="zh-CN" altLang="en-US" sz="1100" dirty="0">
                <a:solidFill>
                  <a:srgbClr val="FF0000"/>
                </a:solidFill>
              </a:endParaRPr>
            </a:p>
          </p:txBody>
        </p:sp>
        <p:sp>
          <p:nvSpPr>
            <p:cNvPr id="9" name="文本框 8">
              <a:extLst>
                <a:ext uri="{FF2B5EF4-FFF2-40B4-BE49-F238E27FC236}">
                  <a16:creationId xmlns:a16="http://schemas.microsoft.com/office/drawing/2014/main" id="{45131DF1-DE83-50AB-E95B-ACB6403D514D}"/>
                </a:ext>
              </a:extLst>
            </p:cNvPr>
            <p:cNvSpPr txBox="1"/>
            <p:nvPr/>
          </p:nvSpPr>
          <p:spPr>
            <a:xfrm>
              <a:off x="5484207" y="4191000"/>
              <a:ext cx="457200" cy="368132"/>
            </a:xfrm>
            <a:prstGeom prst="rect">
              <a:avLst/>
            </a:prstGeom>
            <a:noFill/>
            <a:ln>
              <a:noFill/>
            </a:ln>
          </p:spPr>
          <p:txBody>
            <a:bodyPr wrap="square" rtlCol="0">
              <a:spAutoFit/>
            </a:bodyPr>
            <a:lstStyle/>
            <a:p>
              <a:r>
                <a:rPr lang="en-US" altLang="zh-CN" sz="1100" dirty="0">
                  <a:solidFill>
                    <a:srgbClr val="FF0000"/>
                  </a:solidFill>
                </a:rPr>
                <a:t>13</a:t>
              </a:r>
              <a:endParaRPr lang="zh-CN" altLang="en-US" sz="1100" dirty="0">
                <a:solidFill>
                  <a:srgbClr val="FF0000"/>
                </a:solidFill>
              </a:endParaRPr>
            </a:p>
          </p:txBody>
        </p:sp>
        <p:sp>
          <p:nvSpPr>
            <p:cNvPr id="10" name="文本框 9">
              <a:extLst>
                <a:ext uri="{FF2B5EF4-FFF2-40B4-BE49-F238E27FC236}">
                  <a16:creationId xmlns:a16="http://schemas.microsoft.com/office/drawing/2014/main" id="{AF485BFB-9067-C69F-9C66-7E136EA9D84C}"/>
                </a:ext>
              </a:extLst>
            </p:cNvPr>
            <p:cNvSpPr txBox="1"/>
            <p:nvPr/>
          </p:nvSpPr>
          <p:spPr>
            <a:xfrm>
              <a:off x="4038599" y="3242845"/>
              <a:ext cx="457200" cy="368132"/>
            </a:xfrm>
            <a:prstGeom prst="rect">
              <a:avLst/>
            </a:prstGeom>
            <a:noFill/>
            <a:ln>
              <a:noFill/>
            </a:ln>
          </p:spPr>
          <p:txBody>
            <a:bodyPr wrap="square" rtlCol="0">
              <a:spAutoFit/>
            </a:bodyPr>
            <a:lstStyle/>
            <a:p>
              <a:r>
                <a:rPr lang="en-US" altLang="zh-CN" sz="1100" dirty="0">
                  <a:solidFill>
                    <a:srgbClr val="FF0000"/>
                  </a:solidFill>
                </a:rPr>
                <a:t>11</a:t>
              </a:r>
              <a:endParaRPr lang="zh-CN" altLang="en-US" sz="1100" dirty="0">
                <a:solidFill>
                  <a:srgbClr val="FF0000"/>
                </a:solidFill>
              </a:endParaRPr>
            </a:p>
          </p:txBody>
        </p:sp>
        <p:sp>
          <p:nvSpPr>
            <p:cNvPr id="11" name="文本框 10">
              <a:extLst>
                <a:ext uri="{FF2B5EF4-FFF2-40B4-BE49-F238E27FC236}">
                  <a16:creationId xmlns:a16="http://schemas.microsoft.com/office/drawing/2014/main" id="{3B429B6C-10B0-1221-59F8-1F9C636FC28F}"/>
                </a:ext>
              </a:extLst>
            </p:cNvPr>
            <p:cNvSpPr txBox="1"/>
            <p:nvPr/>
          </p:nvSpPr>
          <p:spPr>
            <a:xfrm>
              <a:off x="4038599" y="4190136"/>
              <a:ext cx="457200" cy="368132"/>
            </a:xfrm>
            <a:prstGeom prst="rect">
              <a:avLst/>
            </a:prstGeom>
            <a:noFill/>
            <a:ln>
              <a:noFill/>
            </a:ln>
          </p:spPr>
          <p:txBody>
            <a:bodyPr wrap="square" rtlCol="0">
              <a:spAutoFit/>
            </a:bodyPr>
            <a:lstStyle/>
            <a:p>
              <a:r>
                <a:rPr lang="en-US" altLang="zh-CN" sz="1100" dirty="0">
                  <a:solidFill>
                    <a:srgbClr val="FF0000"/>
                  </a:solidFill>
                </a:rPr>
                <a:t>13</a:t>
              </a:r>
              <a:endParaRPr lang="zh-CN" altLang="en-US" sz="1100" dirty="0">
                <a:solidFill>
                  <a:srgbClr val="FF0000"/>
                </a:solidFill>
              </a:endParaRPr>
            </a:p>
          </p:txBody>
        </p:sp>
        <p:sp>
          <p:nvSpPr>
            <p:cNvPr id="12" name="文本框 11">
              <a:extLst>
                <a:ext uri="{FF2B5EF4-FFF2-40B4-BE49-F238E27FC236}">
                  <a16:creationId xmlns:a16="http://schemas.microsoft.com/office/drawing/2014/main" id="{74A4D0BB-9F35-79D7-AAB4-AA8AA0DC123E}"/>
                </a:ext>
              </a:extLst>
            </p:cNvPr>
            <p:cNvSpPr txBox="1"/>
            <p:nvPr/>
          </p:nvSpPr>
          <p:spPr>
            <a:xfrm>
              <a:off x="5486400" y="5300246"/>
              <a:ext cx="457200" cy="368132"/>
            </a:xfrm>
            <a:prstGeom prst="rect">
              <a:avLst/>
            </a:prstGeom>
            <a:noFill/>
            <a:ln>
              <a:noFill/>
            </a:ln>
          </p:spPr>
          <p:txBody>
            <a:bodyPr wrap="square" rtlCol="0">
              <a:spAutoFit/>
            </a:bodyPr>
            <a:lstStyle/>
            <a:p>
              <a:r>
                <a:rPr lang="en-US" altLang="zh-CN" sz="1100" dirty="0">
                  <a:solidFill>
                    <a:srgbClr val="FF0000"/>
                  </a:solidFill>
                </a:rPr>
                <a:t>15</a:t>
              </a:r>
              <a:endParaRPr lang="zh-CN" altLang="en-US" sz="1100" dirty="0">
                <a:solidFill>
                  <a:srgbClr val="FF0000"/>
                </a:solidFill>
              </a:endParaRPr>
            </a:p>
          </p:txBody>
        </p:sp>
        <p:sp>
          <p:nvSpPr>
            <p:cNvPr id="13" name="文本框 12">
              <a:extLst>
                <a:ext uri="{FF2B5EF4-FFF2-40B4-BE49-F238E27FC236}">
                  <a16:creationId xmlns:a16="http://schemas.microsoft.com/office/drawing/2014/main" id="{D723CE79-57D7-68C2-565A-BCF4B9C96ED1}"/>
                </a:ext>
              </a:extLst>
            </p:cNvPr>
            <p:cNvSpPr txBox="1"/>
            <p:nvPr/>
          </p:nvSpPr>
          <p:spPr>
            <a:xfrm>
              <a:off x="4038599" y="5257800"/>
              <a:ext cx="457200" cy="368132"/>
            </a:xfrm>
            <a:prstGeom prst="rect">
              <a:avLst/>
            </a:prstGeom>
            <a:noFill/>
            <a:ln>
              <a:noFill/>
            </a:ln>
          </p:spPr>
          <p:txBody>
            <a:bodyPr wrap="square" rtlCol="0">
              <a:spAutoFit/>
            </a:bodyPr>
            <a:lstStyle/>
            <a:p>
              <a:r>
                <a:rPr lang="en-US" altLang="zh-CN" sz="1100" dirty="0">
                  <a:solidFill>
                    <a:srgbClr val="FF0000"/>
                  </a:solidFill>
                </a:rPr>
                <a:t>13</a:t>
              </a:r>
              <a:endParaRPr lang="zh-CN" altLang="en-US" sz="1100" dirty="0">
                <a:solidFill>
                  <a:srgbClr val="FF0000"/>
                </a:solidFill>
              </a:endParaRPr>
            </a:p>
          </p:txBody>
        </p:sp>
        <p:sp>
          <p:nvSpPr>
            <p:cNvPr id="15" name="文本框 14">
              <a:extLst>
                <a:ext uri="{FF2B5EF4-FFF2-40B4-BE49-F238E27FC236}">
                  <a16:creationId xmlns:a16="http://schemas.microsoft.com/office/drawing/2014/main" id="{0127C7B4-F7E6-2B95-54B1-A9C28A3A840E}"/>
                </a:ext>
              </a:extLst>
            </p:cNvPr>
            <p:cNvSpPr txBox="1"/>
            <p:nvPr/>
          </p:nvSpPr>
          <p:spPr>
            <a:xfrm>
              <a:off x="2597445" y="4737910"/>
              <a:ext cx="457200" cy="368132"/>
            </a:xfrm>
            <a:prstGeom prst="rect">
              <a:avLst/>
            </a:prstGeom>
            <a:noFill/>
            <a:ln>
              <a:noFill/>
            </a:ln>
          </p:spPr>
          <p:txBody>
            <a:bodyPr wrap="square" rtlCol="0">
              <a:spAutoFit/>
            </a:bodyPr>
            <a:lstStyle/>
            <a:p>
              <a:r>
                <a:rPr lang="en-US" altLang="zh-CN" sz="1100" dirty="0">
                  <a:solidFill>
                    <a:srgbClr val="FF0000"/>
                  </a:solidFill>
                </a:rPr>
                <a:t>10</a:t>
              </a:r>
              <a:endParaRPr lang="zh-CN" altLang="en-US" sz="1100" dirty="0">
                <a:solidFill>
                  <a:srgbClr val="FF0000"/>
                </a:solidFill>
              </a:endParaRPr>
            </a:p>
          </p:txBody>
        </p:sp>
        <p:sp>
          <p:nvSpPr>
            <p:cNvPr id="16" name="文本框 15">
              <a:extLst>
                <a:ext uri="{FF2B5EF4-FFF2-40B4-BE49-F238E27FC236}">
                  <a16:creationId xmlns:a16="http://schemas.microsoft.com/office/drawing/2014/main" id="{FF3976C2-FFE0-64FD-1D69-D6F8ACAEFAA6}"/>
                </a:ext>
              </a:extLst>
            </p:cNvPr>
            <p:cNvSpPr txBox="1"/>
            <p:nvPr/>
          </p:nvSpPr>
          <p:spPr>
            <a:xfrm>
              <a:off x="2666999" y="5714999"/>
              <a:ext cx="304799" cy="368132"/>
            </a:xfrm>
            <a:prstGeom prst="rect">
              <a:avLst/>
            </a:prstGeom>
            <a:noFill/>
            <a:ln>
              <a:noFill/>
            </a:ln>
          </p:spPr>
          <p:txBody>
            <a:bodyPr wrap="square" rtlCol="0">
              <a:spAutoFit/>
            </a:bodyPr>
            <a:lstStyle/>
            <a:p>
              <a:r>
                <a:rPr lang="en-US" altLang="zh-CN" sz="1100" dirty="0">
                  <a:solidFill>
                    <a:srgbClr val="FF0000"/>
                  </a:solidFill>
                </a:rPr>
                <a:t>9</a:t>
              </a:r>
              <a:endParaRPr lang="zh-CN" altLang="en-US" sz="1100" dirty="0">
                <a:solidFill>
                  <a:srgbClr val="FF0000"/>
                </a:solidFill>
              </a:endParaRPr>
            </a:p>
          </p:txBody>
        </p:sp>
        <p:sp>
          <p:nvSpPr>
            <p:cNvPr id="17" name="文本框 16">
              <a:extLst>
                <a:ext uri="{FF2B5EF4-FFF2-40B4-BE49-F238E27FC236}">
                  <a16:creationId xmlns:a16="http://schemas.microsoft.com/office/drawing/2014/main" id="{226B5A12-6085-9FFA-633F-14F64F51D637}"/>
                </a:ext>
              </a:extLst>
            </p:cNvPr>
            <p:cNvSpPr txBox="1"/>
            <p:nvPr/>
          </p:nvSpPr>
          <p:spPr>
            <a:xfrm>
              <a:off x="1267853" y="3429000"/>
              <a:ext cx="304799" cy="368132"/>
            </a:xfrm>
            <a:prstGeom prst="rect">
              <a:avLst/>
            </a:prstGeom>
            <a:noFill/>
            <a:ln>
              <a:noFill/>
            </a:ln>
          </p:spPr>
          <p:txBody>
            <a:bodyPr wrap="square" rtlCol="0">
              <a:spAutoFit/>
            </a:bodyPr>
            <a:lstStyle/>
            <a:p>
              <a:r>
                <a:rPr lang="en-US" altLang="zh-CN" sz="1100" dirty="0">
                  <a:solidFill>
                    <a:srgbClr val="FF0000"/>
                  </a:solidFill>
                </a:rPr>
                <a:t>5</a:t>
              </a:r>
              <a:endParaRPr lang="zh-CN" altLang="en-US" sz="1100" dirty="0">
                <a:solidFill>
                  <a:srgbClr val="FF0000"/>
                </a:solidFill>
              </a:endParaRPr>
            </a:p>
          </p:txBody>
        </p:sp>
        <p:sp>
          <p:nvSpPr>
            <p:cNvPr id="18" name="文本框 17">
              <a:extLst>
                <a:ext uri="{FF2B5EF4-FFF2-40B4-BE49-F238E27FC236}">
                  <a16:creationId xmlns:a16="http://schemas.microsoft.com/office/drawing/2014/main" id="{9C57C3BD-F139-5E64-4F1C-989C245C1160}"/>
                </a:ext>
              </a:extLst>
            </p:cNvPr>
            <p:cNvSpPr txBox="1"/>
            <p:nvPr/>
          </p:nvSpPr>
          <p:spPr>
            <a:xfrm>
              <a:off x="1317090" y="4724400"/>
              <a:ext cx="304799" cy="368132"/>
            </a:xfrm>
            <a:prstGeom prst="rect">
              <a:avLst/>
            </a:prstGeom>
            <a:noFill/>
            <a:ln>
              <a:noFill/>
            </a:ln>
          </p:spPr>
          <p:txBody>
            <a:bodyPr wrap="square" rtlCol="0">
              <a:spAutoFit/>
            </a:bodyPr>
            <a:lstStyle/>
            <a:p>
              <a:r>
                <a:rPr lang="en-US" altLang="zh-CN" sz="1100" dirty="0">
                  <a:solidFill>
                    <a:srgbClr val="FF0000"/>
                  </a:solidFill>
                </a:rPr>
                <a:t>3</a:t>
              </a:r>
              <a:endParaRPr lang="zh-CN" altLang="en-US" sz="1100" dirty="0">
                <a:solidFill>
                  <a:srgbClr val="FF0000"/>
                </a:solidFill>
              </a:endParaRPr>
            </a:p>
          </p:txBody>
        </p:sp>
        <p:sp>
          <p:nvSpPr>
            <p:cNvPr id="19" name="文本框 18">
              <a:extLst>
                <a:ext uri="{FF2B5EF4-FFF2-40B4-BE49-F238E27FC236}">
                  <a16:creationId xmlns:a16="http://schemas.microsoft.com/office/drawing/2014/main" id="{2B4B4ABA-C817-0494-3324-92E0A16FDA26}"/>
                </a:ext>
              </a:extLst>
            </p:cNvPr>
            <p:cNvSpPr txBox="1"/>
            <p:nvPr/>
          </p:nvSpPr>
          <p:spPr>
            <a:xfrm>
              <a:off x="2688105" y="2861846"/>
              <a:ext cx="304799" cy="368132"/>
            </a:xfrm>
            <a:prstGeom prst="rect">
              <a:avLst/>
            </a:prstGeom>
            <a:noFill/>
            <a:ln>
              <a:noFill/>
            </a:ln>
          </p:spPr>
          <p:txBody>
            <a:bodyPr wrap="square" rtlCol="0">
              <a:spAutoFit/>
            </a:bodyPr>
            <a:lstStyle/>
            <a:p>
              <a:r>
                <a:rPr lang="en-US" altLang="zh-CN" sz="1100" dirty="0">
                  <a:solidFill>
                    <a:srgbClr val="FF0000"/>
                  </a:solidFill>
                </a:rPr>
                <a:t>6</a:t>
              </a:r>
              <a:endParaRPr lang="zh-CN" altLang="en-US" sz="1100" dirty="0">
                <a:solidFill>
                  <a:srgbClr val="FF0000"/>
                </a:solidFill>
              </a:endParaRPr>
            </a:p>
          </p:txBody>
        </p:sp>
        <p:sp>
          <p:nvSpPr>
            <p:cNvPr id="20" name="文本框 19">
              <a:extLst>
                <a:ext uri="{FF2B5EF4-FFF2-40B4-BE49-F238E27FC236}">
                  <a16:creationId xmlns:a16="http://schemas.microsoft.com/office/drawing/2014/main" id="{D0723AD5-DD19-154E-21D7-9B271771F3AC}"/>
                </a:ext>
              </a:extLst>
            </p:cNvPr>
            <p:cNvSpPr txBox="1"/>
            <p:nvPr/>
          </p:nvSpPr>
          <p:spPr>
            <a:xfrm>
              <a:off x="2683172" y="3703238"/>
              <a:ext cx="304799" cy="368132"/>
            </a:xfrm>
            <a:prstGeom prst="rect">
              <a:avLst/>
            </a:prstGeom>
            <a:noFill/>
            <a:ln>
              <a:noFill/>
            </a:ln>
          </p:spPr>
          <p:txBody>
            <a:bodyPr wrap="square" rtlCol="0">
              <a:spAutoFit/>
            </a:bodyPr>
            <a:lstStyle/>
            <a:p>
              <a:r>
                <a:rPr lang="en-US" altLang="zh-CN" sz="1100" dirty="0">
                  <a:solidFill>
                    <a:srgbClr val="FF0000"/>
                  </a:solidFill>
                </a:rPr>
                <a:t>8</a:t>
              </a:r>
              <a:endParaRPr lang="zh-CN" altLang="en-US" sz="1100" dirty="0">
                <a:solidFill>
                  <a:srgbClr val="FF0000"/>
                </a:solidFill>
              </a:endParaRPr>
            </a:p>
          </p:txBody>
        </p:sp>
      </p:gr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灯片编号占位符 2"/>
          <p:cNvSpPr>
            <a:spLocks noGrp="1" noChangeArrowheads="1"/>
          </p:cNvSpPr>
          <p:nvPr>
            <p:ph type="sldNum" sz="quarter" idx="11"/>
          </p:nvPr>
        </p:nvSpPr>
        <p:spPr>
          <a:xfrm>
            <a:off x="7848600" y="6245225"/>
            <a:ext cx="6858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085F41A5-8BB1-4D02-8566-E86667890358}" type="slidenum">
              <a:rPr lang="zh-CN" altLang="zh-CN" sz="1400">
                <a:latin typeface="Arial" panose="020B0604020202020204" pitchFamily="34" charset="0"/>
              </a:rPr>
              <a:pPr>
                <a:spcBef>
                  <a:spcPct val="0"/>
                </a:spcBef>
                <a:buClr>
                  <a:srgbClr val="000000"/>
                </a:buClr>
                <a:buFontTx/>
                <a:buNone/>
              </a:pPr>
              <a:t>50</a:t>
            </a:fld>
            <a:endParaRPr lang="en-US" altLang="zh-CN" sz="1400">
              <a:latin typeface="Arial" panose="020B0604020202020204" pitchFamily="34" charset="0"/>
            </a:endParaRPr>
          </a:p>
        </p:txBody>
      </p:sp>
      <p:sp>
        <p:nvSpPr>
          <p:cNvPr id="66565" name="Rectangle 2"/>
          <p:cNvSpPr>
            <a:spLocks noGrp="1" noChangeArrowheads="1"/>
          </p:cNvSpPr>
          <p:nvPr>
            <p:ph type="title"/>
          </p:nvPr>
        </p:nvSpPr>
        <p:spPr>
          <a:xfrm>
            <a:off x="538163" y="749300"/>
            <a:ext cx="6621462" cy="622300"/>
          </a:xfrm>
        </p:spPr>
        <p:txBody>
          <a:bodyPr/>
          <a:lstStyle/>
          <a:p>
            <a:pPr eaLnBrk="1" hangingPunct="1"/>
            <a:r>
              <a:rPr lang="en-US" altLang="zh-CN" sz="3200" dirty="0">
                <a:latin typeface="Times New Roman" panose="02020603050405020304" pitchFamily="18" charset="0"/>
                <a:ea typeface="新宋体" panose="02010609030101010101" pitchFamily="49" charset="-122"/>
              </a:rPr>
              <a:t>3</a:t>
            </a:r>
            <a:r>
              <a:rPr lang="en-US" altLang="zh-CN" sz="3200" dirty="0">
                <a:latin typeface="Times New Roman" panose="02020603050405020304" pitchFamily="18" charset="0"/>
              </a:rPr>
              <a:t> </a:t>
            </a:r>
            <a:r>
              <a:rPr lang="zh-CN" altLang="en-US" sz="3200" dirty="0"/>
              <a:t>动态规划的基本思想和基本方程</a:t>
            </a:r>
          </a:p>
        </p:txBody>
      </p:sp>
      <p:pic>
        <p:nvPicPr>
          <p:cNvPr id="93" name="Picture 8" descr="8g4">
            <a:extLst>
              <a:ext uri="{FF2B5EF4-FFF2-40B4-BE49-F238E27FC236}">
                <a16:creationId xmlns:a16="http://schemas.microsoft.com/office/drawing/2014/main" id="{74F2476B-06BA-419E-9560-AEEE41A73F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 y="4191000"/>
            <a:ext cx="4686300" cy="2084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2" name="Picture 6" descr="8g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600" y="1687380"/>
            <a:ext cx="5053927" cy="227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A79992E1-F077-5B64-A4A2-3341EBC9DE0F}"/>
              </a:ext>
            </a:extLst>
          </p:cNvPr>
          <p:cNvSpPr txBox="1">
            <a:spLocks noChangeArrowheads="1"/>
          </p:cNvSpPr>
          <p:nvPr/>
        </p:nvSpPr>
        <p:spPr bwMode="auto">
          <a:xfrm>
            <a:off x="685800" y="2057400"/>
            <a:ext cx="2605547" cy="126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algn="just" eaLnBrk="1" hangingPunct="1">
              <a:lnSpc>
                <a:spcPct val="120000"/>
              </a:lnSpc>
              <a:buFont typeface="Wingdings" panose="05000000000000000000" pitchFamily="2" charset="2"/>
              <a:buChar char="p"/>
              <a:defRPr/>
            </a:pPr>
            <a:r>
              <a:rPr lang="zh-CN" altLang="en-US" sz="2000" kern="0" dirty="0"/>
              <a:t>求解最短路问题的</a:t>
            </a:r>
            <a:r>
              <a:rPr lang="zh-CN" altLang="en-US" sz="2000" b="1" kern="0" dirty="0">
                <a:solidFill>
                  <a:srgbClr val="C00000"/>
                </a:solidFill>
              </a:rPr>
              <a:t>标号法</a:t>
            </a:r>
            <a:r>
              <a:rPr lang="en-US" altLang="zh-CN" sz="2000" kern="0" dirty="0"/>
              <a:t>——</a:t>
            </a:r>
          </a:p>
          <a:p>
            <a:pPr marL="0" indent="0" algn="just" eaLnBrk="1" hangingPunct="1">
              <a:lnSpc>
                <a:spcPct val="120000"/>
              </a:lnSpc>
              <a:buNone/>
              <a:defRPr/>
            </a:pPr>
            <a:r>
              <a:rPr lang="en-US" altLang="zh-CN" sz="2000" kern="0" dirty="0"/>
              <a:t>     </a:t>
            </a:r>
            <a:r>
              <a:rPr lang="zh-CN" altLang="en-US" sz="2000" kern="0" dirty="0"/>
              <a:t>顺序解法</a:t>
            </a:r>
          </a:p>
          <a:p>
            <a:pPr algn="just" eaLnBrk="1" hangingPunct="1">
              <a:lnSpc>
                <a:spcPct val="120000"/>
              </a:lnSpc>
              <a:buFont typeface="Wingdings" panose="05000000000000000000" pitchFamily="2" charset="2"/>
              <a:buChar char="p"/>
              <a:defRPr/>
            </a:pPr>
            <a:endParaRPr lang="zh-CN" altLang="en-US" sz="2000" kern="0" dirty="0">
              <a:latin typeface="+mn-ea"/>
            </a:endParaRPr>
          </a:p>
        </p:txBody>
      </p:sp>
      <p:sp>
        <p:nvSpPr>
          <p:cNvPr id="4" name="Rectangle 3">
            <a:extLst>
              <a:ext uri="{FF2B5EF4-FFF2-40B4-BE49-F238E27FC236}">
                <a16:creationId xmlns:a16="http://schemas.microsoft.com/office/drawing/2014/main" id="{CAE7A321-7EEA-940A-12E4-DCA31BCB705E}"/>
              </a:ext>
            </a:extLst>
          </p:cNvPr>
          <p:cNvSpPr txBox="1">
            <a:spLocks noChangeArrowheads="1"/>
          </p:cNvSpPr>
          <p:nvPr/>
        </p:nvSpPr>
        <p:spPr bwMode="auto">
          <a:xfrm>
            <a:off x="5715000" y="4605032"/>
            <a:ext cx="2605547" cy="126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algn="just" eaLnBrk="1" hangingPunct="1">
              <a:lnSpc>
                <a:spcPct val="120000"/>
              </a:lnSpc>
              <a:buFont typeface="Wingdings" panose="05000000000000000000" pitchFamily="2" charset="2"/>
              <a:buChar char="p"/>
              <a:defRPr/>
            </a:pPr>
            <a:r>
              <a:rPr lang="zh-CN" altLang="en-US" sz="2000" kern="0" dirty="0"/>
              <a:t>求解最短路问题的</a:t>
            </a:r>
            <a:r>
              <a:rPr lang="zh-CN" altLang="en-US" sz="2000" b="1" kern="0" dirty="0">
                <a:solidFill>
                  <a:srgbClr val="C00000"/>
                </a:solidFill>
              </a:rPr>
              <a:t>标号法</a:t>
            </a:r>
            <a:r>
              <a:rPr lang="en-US" altLang="zh-CN" sz="2000" kern="0" dirty="0"/>
              <a:t>——</a:t>
            </a:r>
          </a:p>
          <a:p>
            <a:pPr marL="0" indent="0" algn="just" eaLnBrk="1" hangingPunct="1">
              <a:lnSpc>
                <a:spcPct val="120000"/>
              </a:lnSpc>
              <a:buNone/>
              <a:defRPr/>
            </a:pPr>
            <a:r>
              <a:rPr lang="en-US" altLang="zh-CN" sz="2000" kern="0" dirty="0"/>
              <a:t>     </a:t>
            </a:r>
            <a:r>
              <a:rPr lang="zh-CN" altLang="en-US" sz="2000" kern="0" dirty="0"/>
              <a:t>逆序解法</a:t>
            </a:r>
          </a:p>
          <a:p>
            <a:pPr algn="just" eaLnBrk="1" hangingPunct="1">
              <a:lnSpc>
                <a:spcPct val="120000"/>
              </a:lnSpc>
              <a:buFont typeface="Wingdings" panose="05000000000000000000" pitchFamily="2" charset="2"/>
              <a:buChar char="p"/>
              <a:defRPr/>
            </a:pPr>
            <a:endParaRPr lang="zh-CN" altLang="en-US" sz="2000" kern="0" dirty="0">
              <a:latin typeface="+mn-ea"/>
            </a:endParaRPr>
          </a:p>
        </p:txBody>
      </p:sp>
      <p:sp>
        <p:nvSpPr>
          <p:cNvPr id="6" name="箭头: 右 5">
            <a:extLst>
              <a:ext uri="{FF2B5EF4-FFF2-40B4-BE49-F238E27FC236}">
                <a16:creationId xmlns:a16="http://schemas.microsoft.com/office/drawing/2014/main" id="{8B9CE18E-114F-2923-15D1-7D9DCE3806F9}"/>
              </a:ext>
            </a:extLst>
          </p:cNvPr>
          <p:cNvSpPr/>
          <p:nvPr/>
        </p:nvSpPr>
        <p:spPr>
          <a:xfrm>
            <a:off x="2788674" y="2872118"/>
            <a:ext cx="457200"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752AE45B-20E4-ECCE-5475-ACE1944DBCD6}"/>
              </a:ext>
            </a:extLst>
          </p:cNvPr>
          <p:cNvSpPr/>
          <p:nvPr/>
        </p:nvSpPr>
        <p:spPr>
          <a:xfrm rot="10800000">
            <a:off x="5334000" y="5273496"/>
            <a:ext cx="457200"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07670035"/>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574675" y="906463"/>
            <a:ext cx="4378325" cy="620712"/>
          </a:xfrm>
        </p:spPr>
        <p:txBody>
          <a:bodyPr/>
          <a:lstStyle/>
          <a:p>
            <a:pPr eaLnBrk="1" hangingPunct="1"/>
            <a:r>
              <a:rPr lang="zh-CN" altLang="en-US" sz="2800" b="1" u="sng">
                <a:solidFill>
                  <a:schemeClr val="hlink"/>
                </a:solidFill>
              </a:rPr>
              <a:t>与穷举法相比有以下优点</a:t>
            </a:r>
          </a:p>
        </p:txBody>
      </p:sp>
      <p:sp>
        <p:nvSpPr>
          <p:cNvPr id="67587"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67588" name="Rectangle 4"/>
          <p:cNvSpPr>
            <a:spLocks noChangeArrowheads="1"/>
          </p:cNvSpPr>
          <p:nvPr/>
        </p:nvSpPr>
        <p:spPr bwMode="auto">
          <a:xfrm>
            <a:off x="712788" y="1828800"/>
            <a:ext cx="7669212"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5000"/>
              </a:lnSpc>
              <a:spcBef>
                <a:spcPct val="0"/>
              </a:spcBef>
              <a:buClr>
                <a:srgbClr val="000000"/>
              </a:buClr>
              <a:buFontTx/>
              <a:buNone/>
            </a:pPr>
            <a:r>
              <a:rPr lang="zh-CN" altLang="en-US" sz="2200" dirty="0">
                <a:latin typeface="Times New Roman" panose="02020603050405020304" pitchFamily="18" charset="0"/>
              </a:rPr>
              <a:t>      </a:t>
            </a:r>
            <a:r>
              <a:rPr lang="en-US" altLang="zh-CN" sz="2200" b="1" dirty="0">
                <a:latin typeface="Times New Roman" panose="02020603050405020304" pitchFamily="18" charset="0"/>
              </a:rPr>
              <a:t>(1) </a:t>
            </a:r>
            <a:r>
              <a:rPr lang="zh-CN" altLang="en-US" sz="2200" b="1" dirty="0">
                <a:solidFill>
                  <a:srgbClr val="C00000"/>
                </a:solidFill>
                <a:latin typeface="Times New Roman" panose="02020603050405020304" pitchFamily="18" charset="0"/>
              </a:rPr>
              <a:t>减少了计算量</a:t>
            </a:r>
            <a:r>
              <a:rPr lang="zh-CN" altLang="en-US" sz="2200" b="1" dirty="0">
                <a:latin typeface="Times New Roman" panose="02020603050405020304" pitchFamily="18" charset="0"/>
              </a:rPr>
              <a:t>。计算例</a:t>
            </a:r>
            <a:r>
              <a:rPr lang="en-US" altLang="zh-CN" sz="2200" b="1" dirty="0">
                <a:latin typeface="Times New Roman" panose="02020603050405020304" pitchFamily="18" charset="0"/>
              </a:rPr>
              <a:t>1</a:t>
            </a:r>
            <a:r>
              <a:rPr lang="zh-CN" altLang="en-US" sz="2200" b="1" dirty="0">
                <a:latin typeface="Times New Roman" panose="02020603050405020304" pitchFamily="18" charset="0"/>
              </a:rPr>
              <a:t>若用穷举法，就要对</a:t>
            </a:r>
            <a:r>
              <a:rPr lang="en-US" altLang="zh-CN" sz="2200" b="1" dirty="0">
                <a:latin typeface="Times New Roman" panose="02020603050405020304" pitchFamily="18" charset="0"/>
              </a:rPr>
              <a:t>48</a:t>
            </a:r>
            <a:r>
              <a:rPr lang="zh-CN" altLang="en-US" sz="2200" b="1" dirty="0">
                <a:latin typeface="Times New Roman" panose="02020603050405020304" pitchFamily="18" charset="0"/>
              </a:rPr>
              <a:t>条路线进行比较，运算在计算机上进行时，比较运算要进行</a:t>
            </a:r>
            <a:r>
              <a:rPr lang="en-US" altLang="zh-CN" sz="2200" b="1" dirty="0">
                <a:latin typeface="Times New Roman" panose="02020603050405020304" pitchFamily="18" charset="0"/>
              </a:rPr>
              <a:t>47</a:t>
            </a:r>
            <a:r>
              <a:rPr lang="zh-CN" altLang="en-US" sz="2200" b="1" dirty="0">
                <a:latin typeface="Times New Roman" panose="02020603050405020304" pitchFamily="18" charset="0"/>
              </a:rPr>
              <a:t>次；求各条路线的距离，即使用逐段累加方法，也要进行</a:t>
            </a:r>
            <a:r>
              <a:rPr lang="en-US" altLang="zh-CN" sz="2200" b="1" dirty="0">
                <a:latin typeface="Times New Roman" panose="02020603050405020304" pitchFamily="18" charset="0"/>
              </a:rPr>
              <a:t>6+12+24+48+48</a:t>
            </a:r>
            <a:r>
              <a:rPr lang="zh-CN" altLang="en-US" sz="2200" b="1" dirty="0">
                <a:latin typeface="Times New Roman" panose="02020603050405020304" pitchFamily="18" charset="0"/>
              </a:rPr>
              <a:t>＝</a:t>
            </a:r>
            <a:r>
              <a:rPr lang="en-US" altLang="zh-CN" sz="2200" b="1" dirty="0">
                <a:latin typeface="Times New Roman" panose="02020603050405020304" pitchFamily="18" charset="0"/>
              </a:rPr>
              <a:t>138</a:t>
            </a:r>
            <a:r>
              <a:rPr lang="zh-CN" altLang="en-US" sz="2200" b="1" dirty="0">
                <a:latin typeface="Times New Roman" panose="02020603050405020304" pitchFamily="18" charset="0"/>
              </a:rPr>
              <a:t>次加法运算。</a:t>
            </a:r>
            <a:endParaRPr lang="en-US" altLang="zh-CN" sz="2200" b="1" dirty="0">
              <a:latin typeface="Times New Roman" panose="02020603050405020304" pitchFamily="18" charset="0"/>
            </a:endParaRPr>
          </a:p>
          <a:p>
            <a:pPr algn="just" eaLnBrk="1" hangingPunct="1">
              <a:lnSpc>
                <a:spcPct val="125000"/>
              </a:lnSpc>
              <a:spcBef>
                <a:spcPts val="1200"/>
              </a:spcBef>
              <a:buClr>
                <a:srgbClr val="000000"/>
              </a:buClr>
              <a:buFontTx/>
              <a:buNone/>
            </a:pPr>
            <a:r>
              <a:rPr lang="zh-CN" altLang="en-US" sz="2200" b="1" dirty="0">
                <a:latin typeface="Times New Roman" panose="02020603050405020304" pitchFamily="18" charset="0"/>
              </a:rPr>
              <a:t>     用动态规划方法来计算，比较运算</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从</a:t>
            </a:r>
            <a:r>
              <a:rPr lang="en-US" altLang="zh-CN" sz="2200" b="1" i="1" dirty="0">
                <a:latin typeface="Times New Roman" panose="02020603050405020304" pitchFamily="18" charset="0"/>
              </a:rPr>
              <a:t>k</a:t>
            </a:r>
            <a:r>
              <a:rPr lang="en-US" altLang="zh-CN" sz="2200" b="1" dirty="0">
                <a:latin typeface="Times New Roman" panose="02020603050405020304" pitchFamily="18" charset="0"/>
              </a:rPr>
              <a:t>=5</a:t>
            </a:r>
            <a:r>
              <a:rPr lang="zh-CN" altLang="en-US" sz="2200" b="1" dirty="0">
                <a:latin typeface="Times New Roman" panose="02020603050405020304" pitchFamily="18" charset="0"/>
              </a:rPr>
              <a:t>段开始向前算</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共进行</a:t>
            </a:r>
            <a:r>
              <a:rPr lang="en-US" altLang="zh-CN" sz="2200" b="1" dirty="0">
                <a:latin typeface="Times New Roman" panose="02020603050405020304" pitchFamily="18" charset="0"/>
              </a:rPr>
              <a:t>3+3+4+4+1</a:t>
            </a:r>
            <a:r>
              <a:rPr lang="zh-CN" altLang="en-US" sz="2200" b="1" dirty="0">
                <a:latin typeface="Times New Roman" panose="02020603050405020304" pitchFamily="18" charset="0"/>
              </a:rPr>
              <a:t>＝</a:t>
            </a:r>
            <a:r>
              <a:rPr lang="en-US" altLang="zh-CN" sz="2200" b="1" dirty="0">
                <a:latin typeface="Times New Roman" panose="02020603050405020304" pitchFamily="18" charset="0"/>
              </a:rPr>
              <a:t>15</a:t>
            </a:r>
            <a:r>
              <a:rPr lang="zh-CN" altLang="en-US" sz="2200" b="1" dirty="0">
                <a:latin typeface="Times New Roman" panose="02020603050405020304" pitchFamily="18" charset="0"/>
              </a:rPr>
              <a:t>次。每次比较运算相应有两次加法运算，再去掉中间重复两次</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即</a:t>
            </a:r>
            <a:r>
              <a:rPr lang="en-US" altLang="zh-CN" sz="2200" b="1" dirty="0">
                <a:latin typeface="Times New Roman" panose="02020603050405020304" pitchFamily="18" charset="0"/>
              </a:rPr>
              <a:t>B1→C1</a:t>
            </a:r>
            <a:r>
              <a:rPr lang="zh-CN" altLang="en-US" sz="2200" b="1" dirty="0">
                <a:latin typeface="Times New Roman" panose="02020603050405020304" pitchFamily="18" charset="0"/>
              </a:rPr>
              <a:t>，</a:t>
            </a:r>
            <a:r>
              <a:rPr lang="en-US" altLang="zh-CN" sz="2200" b="1" dirty="0">
                <a:latin typeface="Times New Roman" panose="02020603050405020304" pitchFamily="18" charset="0"/>
              </a:rPr>
              <a:t>B2→C4</a:t>
            </a:r>
            <a:r>
              <a:rPr lang="zh-CN" altLang="en-US" sz="2200" b="1" dirty="0">
                <a:latin typeface="Times New Roman" panose="02020603050405020304" pitchFamily="18" charset="0"/>
              </a:rPr>
              <a:t>各多算了一次</a:t>
            </a:r>
            <a:r>
              <a:rPr lang="en-US" altLang="zh-CN" sz="2200" b="1" dirty="0">
                <a:latin typeface="Times New Roman" panose="02020603050405020304" pitchFamily="18" charset="0"/>
              </a:rPr>
              <a:t>)</a:t>
            </a:r>
            <a:r>
              <a:rPr lang="zh-CN" altLang="en-US" sz="2200" b="1" dirty="0">
                <a:latin typeface="Times New Roman" panose="02020603050405020304" pitchFamily="18" charset="0"/>
              </a:rPr>
              <a:t>，实际只有</a:t>
            </a:r>
            <a:r>
              <a:rPr lang="en-US" altLang="zh-CN" sz="2200" b="1" dirty="0">
                <a:latin typeface="Times New Roman" panose="02020603050405020304" pitchFamily="18" charset="0"/>
              </a:rPr>
              <a:t>28</a:t>
            </a:r>
            <a:r>
              <a:rPr lang="zh-CN" altLang="en-US" sz="2200" b="1" dirty="0">
                <a:latin typeface="Times New Roman" panose="02020603050405020304" pitchFamily="18" charset="0"/>
              </a:rPr>
              <a:t>次加法运算。可见，动态规划方法比穷举法减少了计算量。而且随着段数的增加，计算量将大大地减少。</a:t>
            </a:r>
          </a:p>
        </p:txBody>
      </p:sp>
      <p:sp>
        <p:nvSpPr>
          <p:cNvPr id="67589"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3F888084-E234-4473-9E8E-B35A6B06F5AA}"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67590"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E959D51-6862-4E3F-9F7E-97F11EA24174}" type="slidenum">
              <a:rPr lang="zh-CN" altLang="zh-CN" sz="1400">
                <a:latin typeface="Arial" panose="020B0604020202020204" pitchFamily="34" charset="0"/>
              </a:rPr>
              <a:pPr>
                <a:spcBef>
                  <a:spcPct val="0"/>
                </a:spcBef>
                <a:buClr>
                  <a:srgbClr val="000000"/>
                </a:buClr>
                <a:buFontTx/>
                <a:buNone/>
              </a:pPr>
              <a:t>51</a:t>
            </a:fld>
            <a:endParaRPr lang="en-US" altLang="zh-CN" sz="1400">
              <a:latin typeface="Arial" panose="020B0604020202020204" pitchFamily="34" charset="0"/>
            </a:endParaRPr>
          </a:p>
        </p:txBody>
      </p:sp>
      <p:sp>
        <p:nvSpPr>
          <p:cNvPr id="8"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69635" name="Rectangle 4"/>
          <p:cNvSpPr>
            <a:spLocks noChangeArrowheads="1"/>
          </p:cNvSpPr>
          <p:nvPr/>
        </p:nvSpPr>
        <p:spPr bwMode="auto">
          <a:xfrm>
            <a:off x="792163" y="1849438"/>
            <a:ext cx="7559675" cy="178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5000"/>
              </a:lnSpc>
              <a:spcBef>
                <a:spcPct val="0"/>
              </a:spcBef>
              <a:buClr>
                <a:srgbClr val="000000"/>
              </a:buClr>
              <a:buFontTx/>
              <a:buNone/>
            </a:pPr>
            <a:r>
              <a:rPr lang="zh-CN" altLang="en-US" sz="2200" b="1">
                <a:latin typeface="Times New Roman" panose="02020603050405020304" pitchFamily="18" charset="0"/>
              </a:rPr>
              <a:t>     </a:t>
            </a:r>
            <a:r>
              <a:rPr lang="en-US" altLang="zh-CN" sz="2200" b="1">
                <a:latin typeface="Times New Roman" panose="02020603050405020304" pitchFamily="18" charset="0"/>
              </a:rPr>
              <a:t>(2) </a:t>
            </a:r>
            <a:r>
              <a:rPr lang="zh-CN" altLang="en-US" sz="2200" b="1">
                <a:solidFill>
                  <a:srgbClr val="C00000"/>
                </a:solidFill>
                <a:latin typeface="Times New Roman" panose="02020603050405020304" pitchFamily="18" charset="0"/>
              </a:rPr>
              <a:t>丰富了计算结果</a:t>
            </a:r>
            <a:r>
              <a:rPr lang="zh-CN" altLang="en-US" sz="2200" b="1">
                <a:latin typeface="Times New Roman" panose="02020603050405020304" pitchFamily="18" charset="0"/>
              </a:rPr>
              <a:t>。在上述解法中，我们得到的不仅仅是由</a:t>
            </a:r>
            <a:r>
              <a:rPr lang="en-US" altLang="zh-CN" sz="2200" b="1">
                <a:latin typeface="Times New Roman" panose="02020603050405020304" pitchFamily="18" charset="0"/>
              </a:rPr>
              <a:t>A</a:t>
            </a:r>
            <a:r>
              <a:rPr lang="zh-CN" altLang="en-US" sz="2200" b="1">
                <a:latin typeface="Times New Roman" panose="02020603050405020304" pitchFamily="18" charset="0"/>
              </a:rPr>
              <a:t>点出发到</a:t>
            </a:r>
            <a:r>
              <a:rPr lang="en-US" altLang="zh-CN" sz="2200" b="1">
                <a:latin typeface="Times New Roman" panose="02020603050405020304" pitchFamily="18" charset="0"/>
              </a:rPr>
              <a:t>G</a:t>
            </a:r>
            <a:r>
              <a:rPr lang="zh-CN" altLang="en-US" sz="2200" b="1">
                <a:latin typeface="Times New Roman" panose="02020603050405020304" pitchFamily="18" charset="0"/>
              </a:rPr>
              <a:t>点的最短路线及相应的最短距离，而且得到了</a:t>
            </a:r>
            <a:r>
              <a:rPr lang="zh-CN" altLang="en-US" sz="2200" b="1">
                <a:solidFill>
                  <a:srgbClr val="0070C0"/>
                </a:solidFill>
                <a:latin typeface="Times New Roman" panose="02020603050405020304" pitchFamily="18" charset="0"/>
              </a:rPr>
              <a:t>从所有各中间点出发到</a:t>
            </a:r>
            <a:r>
              <a:rPr lang="en-US" altLang="zh-CN" sz="2200" b="1">
                <a:solidFill>
                  <a:srgbClr val="0070C0"/>
                </a:solidFill>
                <a:latin typeface="Times New Roman" panose="02020603050405020304" pitchFamily="18" charset="0"/>
              </a:rPr>
              <a:t>G</a:t>
            </a:r>
            <a:r>
              <a:rPr lang="zh-CN" altLang="en-US" sz="2200" b="1">
                <a:solidFill>
                  <a:srgbClr val="0070C0"/>
                </a:solidFill>
                <a:latin typeface="Times New Roman" panose="02020603050405020304" pitchFamily="18" charset="0"/>
              </a:rPr>
              <a:t>点</a:t>
            </a:r>
            <a:r>
              <a:rPr lang="zh-CN" altLang="en-US" sz="2200" b="1">
                <a:latin typeface="Times New Roman" panose="02020603050405020304" pitchFamily="18" charset="0"/>
              </a:rPr>
              <a:t>的最短路线及相应的距离。这就是说，求出的不是一个最优策略，而是</a:t>
            </a:r>
            <a:r>
              <a:rPr lang="zh-CN" altLang="en-US" sz="2200" b="1">
                <a:solidFill>
                  <a:srgbClr val="0070C0"/>
                </a:solidFill>
                <a:latin typeface="Times New Roman" panose="02020603050405020304" pitchFamily="18" charset="0"/>
              </a:rPr>
              <a:t>一族的最优策略</a:t>
            </a:r>
            <a:r>
              <a:rPr lang="zh-CN" altLang="en-US" sz="2200" b="1">
                <a:latin typeface="Times New Roman" panose="02020603050405020304" pitchFamily="18" charset="0"/>
              </a:rPr>
              <a:t>。</a:t>
            </a:r>
          </a:p>
        </p:txBody>
      </p:sp>
      <p:sp>
        <p:nvSpPr>
          <p:cNvPr id="69636"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223ECA2D-5919-4521-988E-156850E8AAE7}"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6963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6CB26B7-0B3C-4510-9449-AAA35E203D33}" type="slidenum">
              <a:rPr lang="zh-CN" altLang="zh-CN" sz="1400">
                <a:latin typeface="Arial" panose="020B0604020202020204" pitchFamily="34" charset="0"/>
              </a:rPr>
              <a:pPr>
                <a:spcBef>
                  <a:spcPct val="0"/>
                </a:spcBef>
                <a:buClr>
                  <a:srgbClr val="000000"/>
                </a:buClr>
                <a:buFontTx/>
                <a:buNone/>
              </a:pPr>
              <a:t>52</a:t>
            </a:fld>
            <a:endParaRPr lang="en-US" altLang="zh-CN" sz="1400">
              <a:latin typeface="Arial" panose="020B0604020202020204" pitchFamily="34" charset="0"/>
            </a:endParaRPr>
          </a:p>
        </p:txBody>
      </p:sp>
      <p:sp>
        <p:nvSpPr>
          <p:cNvPr id="69638" name="AutoShape 5">
            <a:hlinkClick r:id="" action="ppaction://noaction" highlightClick="1"/>
          </p:cNvPr>
          <p:cNvSpPr>
            <a:spLocks noChangeArrowheads="1"/>
          </p:cNvSpPr>
          <p:nvPr/>
        </p:nvSpPr>
        <p:spPr bwMode="auto">
          <a:xfrm>
            <a:off x="7956550" y="6021388"/>
            <a:ext cx="647700" cy="503237"/>
          </a:xfrm>
          <a:prstGeom prst="actionButtonEnd">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grpSp>
        <p:nvGrpSpPr>
          <p:cNvPr id="69639" name="组合 1"/>
          <p:cNvGrpSpPr>
            <a:grpSpLocks/>
          </p:cNvGrpSpPr>
          <p:nvPr/>
        </p:nvGrpSpPr>
        <p:grpSpPr bwMode="auto">
          <a:xfrm>
            <a:off x="722313" y="3711575"/>
            <a:ext cx="7056437" cy="2763838"/>
            <a:chOff x="179387" y="3467130"/>
            <a:chExt cx="8424863" cy="3668772"/>
          </a:xfrm>
        </p:grpSpPr>
        <p:pic>
          <p:nvPicPr>
            <p:cNvPr id="69642" name="Picture 4" descr="14075991613980877917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7" y="3724365"/>
              <a:ext cx="8424863" cy="3411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9643" name="TextBox 9"/>
            <p:cNvSpPr txBox="1">
              <a:spLocks noChangeArrowheads="1"/>
            </p:cNvSpPr>
            <p:nvPr/>
          </p:nvSpPr>
          <p:spPr bwMode="auto">
            <a:xfrm>
              <a:off x="6587777" y="3868729"/>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4</a:t>
              </a:r>
              <a:endParaRPr lang="zh-CN" altLang="en-US" sz="1600" b="1">
                <a:solidFill>
                  <a:srgbClr val="FF0000"/>
                </a:solidFill>
                <a:latin typeface="Arial" panose="020B0604020202020204" pitchFamily="34" charset="0"/>
              </a:endParaRPr>
            </a:p>
          </p:txBody>
        </p:sp>
        <p:sp>
          <p:nvSpPr>
            <p:cNvPr id="69644" name="TextBox 10"/>
            <p:cNvSpPr txBox="1">
              <a:spLocks noChangeArrowheads="1"/>
            </p:cNvSpPr>
            <p:nvPr/>
          </p:nvSpPr>
          <p:spPr bwMode="auto">
            <a:xfrm>
              <a:off x="6528305" y="5245467"/>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3</a:t>
              </a:r>
              <a:endParaRPr lang="zh-CN" altLang="en-US" sz="1600" b="1">
                <a:solidFill>
                  <a:srgbClr val="FF0000"/>
                </a:solidFill>
                <a:latin typeface="Arial" panose="020B0604020202020204" pitchFamily="34" charset="0"/>
              </a:endParaRPr>
            </a:p>
          </p:txBody>
        </p:sp>
        <p:cxnSp>
          <p:nvCxnSpPr>
            <p:cNvPr id="12" name="直接连接符 11"/>
            <p:cNvCxnSpPr/>
            <p:nvPr/>
          </p:nvCxnSpPr>
          <p:spPr>
            <a:xfrm>
              <a:off x="6947708" y="4588202"/>
              <a:ext cx="851016" cy="431993"/>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6972348" y="5338393"/>
              <a:ext cx="826376" cy="431993"/>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69647" name="TextBox 13"/>
            <p:cNvSpPr txBox="1">
              <a:spLocks noChangeArrowheads="1"/>
            </p:cNvSpPr>
            <p:nvPr/>
          </p:nvSpPr>
          <p:spPr bwMode="auto">
            <a:xfrm>
              <a:off x="5291633" y="3684062"/>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7</a:t>
              </a:r>
              <a:endParaRPr lang="zh-CN" altLang="en-US" sz="1600" b="1">
                <a:solidFill>
                  <a:srgbClr val="FF0000"/>
                </a:solidFill>
                <a:latin typeface="Arial" panose="020B0604020202020204" pitchFamily="34" charset="0"/>
              </a:endParaRPr>
            </a:p>
          </p:txBody>
        </p:sp>
        <p:cxnSp>
          <p:nvCxnSpPr>
            <p:cNvPr id="15" name="直接连接符 14"/>
            <p:cNvCxnSpPr/>
            <p:nvPr/>
          </p:nvCxnSpPr>
          <p:spPr>
            <a:xfrm>
              <a:off x="5723307" y="4373260"/>
              <a:ext cx="648212" cy="7164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723307" y="5431113"/>
              <a:ext cx="720236" cy="30977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5795330" y="6029580"/>
              <a:ext cx="648212" cy="1432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584198" y="4588202"/>
              <a:ext cx="634944" cy="50364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69652" name="TextBox 18"/>
            <p:cNvSpPr txBox="1">
              <a:spLocks noChangeArrowheads="1"/>
            </p:cNvSpPr>
            <p:nvPr/>
          </p:nvSpPr>
          <p:spPr bwMode="auto">
            <a:xfrm>
              <a:off x="4175794" y="3684062"/>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7</a:t>
              </a:r>
              <a:endParaRPr lang="zh-CN" altLang="en-US" sz="1600" b="1">
                <a:solidFill>
                  <a:srgbClr val="FF0000"/>
                </a:solidFill>
                <a:latin typeface="Arial" panose="020B0604020202020204" pitchFamily="34" charset="0"/>
              </a:endParaRPr>
            </a:p>
          </p:txBody>
        </p:sp>
        <p:sp>
          <p:nvSpPr>
            <p:cNvPr id="69653" name="TextBox 19"/>
            <p:cNvSpPr txBox="1">
              <a:spLocks noChangeArrowheads="1"/>
            </p:cNvSpPr>
            <p:nvPr/>
          </p:nvSpPr>
          <p:spPr bwMode="auto">
            <a:xfrm>
              <a:off x="4175794" y="4724068"/>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6</a:t>
              </a:r>
              <a:endParaRPr lang="zh-CN" altLang="en-US" sz="1600" b="1">
                <a:solidFill>
                  <a:srgbClr val="FF0000"/>
                </a:solidFill>
                <a:latin typeface="Arial" panose="020B0604020202020204" pitchFamily="34" charset="0"/>
              </a:endParaRPr>
            </a:p>
          </p:txBody>
        </p:sp>
        <p:sp>
          <p:nvSpPr>
            <p:cNvPr id="69654" name="TextBox 20"/>
            <p:cNvSpPr txBox="1">
              <a:spLocks noChangeArrowheads="1"/>
            </p:cNvSpPr>
            <p:nvPr/>
          </p:nvSpPr>
          <p:spPr bwMode="auto">
            <a:xfrm>
              <a:off x="4152899" y="5731644"/>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8</a:t>
              </a:r>
              <a:endParaRPr lang="zh-CN" altLang="en-US" sz="1600" b="1">
                <a:solidFill>
                  <a:srgbClr val="FF0000"/>
                </a:solidFill>
                <a:latin typeface="Arial" panose="020B0604020202020204" pitchFamily="34" charset="0"/>
              </a:endParaRPr>
            </a:p>
          </p:txBody>
        </p:sp>
        <p:cxnSp>
          <p:nvCxnSpPr>
            <p:cNvPr id="22" name="直接连接符 21"/>
            <p:cNvCxnSpPr/>
            <p:nvPr/>
          </p:nvCxnSpPr>
          <p:spPr>
            <a:xfrm>
              <a:off x="4606942" y="5308891"/>
              <a:ext cx="612200"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4584198" y="5431113"/>
              <a:ext cx="706968" cy="741762"/>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69657" name="TextBox 23"/>
            <p:cNvSpPr txBox="1">
              <a:spLocks noChangeArrowheads="1"/>
            </p:cNvSpPr>
            <p:nvPr/>
          </p:nvSpPr>
          <p:spPr bwMode="auto">
            <a:xfrm>
              <a:off x="2843361" y="3467130"/>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13</a:t>
              </a:r>
              <a:endParaRPr lang="zh-CN" altLang="en-US" sz="1600" b="1">
                <a:solidFill>
                  <a:srgbClr val="FF0000"/>
                </a:solidFill>
                <a:latin typeface="Arial" panose="020B0604020202020204" pitchFamily="34" charset="0"/>
              </a:endParaRPr>
            </a:p>
          </p:txBody>
        </p:sp>
        <p:sp>
          <p:nvSpPr>
            <p:cNvPr id="69658" name="TextBox 24"/>
            <p:cNvSpPr txBox="1">
              <a:spLocks noChangeArrowheads="1"/>
            </p:cNvSpPr>
            <p:nvPr/>
          </p:nvSpPr>
          <p:spPr bwMode="auto">
            <a:xfrm>
              <a:off x="2799562" y="4343326"/>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10</a:t>
              </a:r>
              <a:endParaRPr lang="zh-CN" altLang="en-US" sz="1600" b="1">
                <a:solidFill>
                  <a:srgbClr val="FF0000"/>
                </a:solidFill>
                <a:latin typeface="Arial" panose="020B0604020202020204" pitchFamily="34" charset="0"/>
              </a:endParaRPr>
            </a:p>
          </p:txBody>
        </p:sp>
        <p:sp>
          <p:nvSpPr>
            <p:cNvPr id="69659" name="TextBox 25"/>
            <p:cNvSpPr txBox="1">
              <a:spLocks noChangeArrowheads="1"/>
            </p:cNvSpPr>
            <p:nvPr/>
          </p:nvSpPr>
          <p:spPr bwMode="auto">
            <a:xfrm>
              <a:off x="2843361" y="6172984"/>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12</a:t>
              </a:r>
              <a:endParaRPr lang="zh-CN" altLang="en-US" sz="1600" b="1">
                <a:solidFill>
                  <a:srgbClr val="FF0000"/>
                </a:solidFill>
                <a:latin typeface="Arial" panose="020B0604020202020204" pitchFamily="34" charset="0"/>
              </a:endParaRPr>
            </a:p>
          </p:txBody>
        </p:sp>
        <p:sp>
          <p:nvSpPr>
            <p:cNvPr id="69660" name="TextBox 26"/>
            <p:cNvSpPr txBox="1">
              <a:spLocks noChangeArrowheads="1"/>
            </p:cNvSpPr>
            <p:nvPr/>
          </p:nvSpPr>
          <p:spPr bwMode="auto">
            <a:xfrm>
              <a:off x="2843361" y="5307638"/>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9</a:t>
              </a:r>
              <a:endParaRPr lang="zh-CN" altLang="en-US" sz="1600" b="1">
                <a:solidFill>
                  <a:srgbClr val="FF0000"/>
                </a:solidFill>
                <a:latin typeface="Arial" panose="020B0604020202020204" pitchFamily="34" charset="0"/>
              </a:endParaRPr>
            </a:p>
          </p:txBody>
        </p:sp>
        <p:cxnSp>
          <p:nvCxnSpPr>
            <p:cNvPr id="28" name="直接连接符 27"/>
            <p:cNvCxnSpPr/>
            <p:nvPr/>
          </p:nvCxnSpPr>
          <p:spPr>
            <a:xfrm>
              <a:off x="3302936" y="4156211"/>
              <a:ext cx="763828" cy="18754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3302936" y="4527092"/>
              <a:ext cx="763828" cy="313984"/>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3346529" y="5492225"/>
              <a:ext cx="720236" cy="309769"/>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3346529" y="6461573"/>
              <a:ext cx="805527" cy="214942"/>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69665" name="TextBox 31"/>
            <p:cNvSpPr txBox="1">
              <a:spLocks noChangeArrowheads="1"/>
            </p:cNvSpPr>
            <p:nvPr/>
          </p:nvSpPr>
          <p:spPr bwMode="auto">
            <a:xfrm>
              <a:off x="1619225" y="3962584"/>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13</a:t>
              </a:r>
              <a:endParaRPr lang="zh-CN" altLang="en-US" sz="1600" b="1">
                <a:solidFill>
                  <a:srgbClr val="FF0000"/>
                </a:solidFill>
                <a:latin typeface="Arial" panose="020B0604020202020204" pitchFamily="34" charset="0"/>
              </a:endParaRPr>
            </a:p>
          </p:txBody>
        </p:sp>
        <p:sp>
          <p:nvSpPr>
            <p:cNvPr id="69666" name="TextBox 32"/>
            <p:cNvSpPr txBox="1">
              <a:spLocks noChangeArrowheads="1"/>
            </p:cNvSpPr>
            <p:nvPr/>
          </p:nvSpPr>
          <p:spPr bwMode="auto">
            <a:xfrm>
              <a:off x="1585585" y="5546979"/>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16</a:t>
              </a:r>
              <a:endParaRPr lang="zh-CN" altLang="en-US" sz="1600" b="1">
                <a:solidFill>
                  <a:srgbClr val="FF0000"/>
                </a:solidFill>
                <a:latin typeface="Arial" panose="020B0604020202020204" pitchFamily="34" charset="0"/>
              </a:endParaRPr>
            </a:p>
          </p:txBody>
        </p:sp>
        <p:sp>
          <p:nvSpPr>
            <p:cNvPr id="69667" name="TextBox 33"/>
            <p:cNvSpPr txBox="1">
              <a:spLocks noChangeArrowheads="1"/>
            </p:cNvSpPr>
            <p:nvPr/>
          </p:nvSpPr>
          <p:spPr bwMode="auto">
            <a:xfrm>
              <a:off x="323081" y="4804832"/>
              <a:ext cx="504056"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18</a:t>
              </a:r>
              <a:endParaRPr lang="zh-CN" altLang="en-US" sz="1600" b="1">
                <a:solidFill>
                  <a:srgbClr val="FF0000"/>
                </a:solidFill>
                <a:latin typeface="Arial" panose="020B0604020202020204" pitchFamily="34" charset="0"/>
              </a:endParaRPr>
            </a:p>
          </p:txBody>
        </p:sp>
        <p:cxnSp>
          <p:nvCxnSpPr>
            <p:cNvPr id="35" name="直接连接符 34"/>
            <p:cNvCxnSpPr/>
            <p:nvPr/>
          </p:nvCxnSpPr>
          <p:spPr>
            <a:xfrm>
              <a:off x="2124024" y="4712532"/>
              <a:ext cx="674747" cy="195976"/>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124024" y="6029580"/>
              <a:ext cx="674747" cy="143295"/>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899623" y="4841075"/>
              <a:ext cx="720236" cy="590038"/>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69671" name="TextBox 37"/>
            <p:cNvSpPr txBox="1">
              <a:spLocks noChangeArrowheads="1"/>
            </p:cNvSpPr>
            <p:nvPr/>
          </p:nvSpPr>
          <p:spPr bwMode="auto">
            <a:xfrm>
              <a:off x="5219625" y="4664005"/>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5</a:t>
              </a:r>
              <a:endParaRPr lang="zh-CN" altLang="en-US" sz="1600" b="1">
                <a:solidFill>
                  <a:srgbClr val="FF0000"/>
                </a:solidFill>
                <a:latin typeface="Arial" panose="020B0604020202020204" pitchFamily="34" charset="0"/>
              </a:endParaRPr>
            </a:p>
          </p:txBody>
        </p:sp>
        <p:sp>
          <p:nvSpPr>
            <p:cNvPr id="69672" name="TextBox 38"/>
            <p:cNvSpPr txBox="1">
              <a:spLocks noChangeArrowheads="1"/>
            </p:cNvSpPr>
            <p:nvPr/>
          </p:nvSpPr>
          <p:spPr bwMode="auto">
            <a:xfrm>
              <a:off x="5222001" y="5585534"/>
              <a:ext cx="432048" cy="44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en-US" altLang="zh-CN" sz="1600" b="1">
                  <a:solidFill>
                    <a:srgbClr val="FF0000"/>
                  </a:solidFill>
                  <a:latin typeface="Arial" panose="020B0604020202020204" pitchFamily="34" charset="0"/>
                </a:rPr>
                <a:t>9</a:t>
              </a:r>
              <a:endParaRPr lang="zh-CN" altLang="en-US" sz="1600" b="1">
                <a:solidFill>
                  <a:srgbClr val="FF0000"/>
                </a:solidFill>
                <a:latin typeface="Arial" panose="020B0604020202020204" pitchFamily="34" charset="0"/>
              </a:endParaRPr>
            </a:p>
          </p:txBody>
        </p:sp>
      </p:grpSp>
      <p:sp>
        <p:nvSpPr>
          <p:cNvPr id="69640" name="Rectangle 2"/>
          <p:cNvSpPr>
            <a:spLocks noGrp="1" noChangeArrowheads="1"/>
          </p:cNvSpPr>
          <p:nvPr>
            <p:ph type="title"/>
          </p:nvPr>
        </p:nvSpPr>
        <p:spPr>
          <a:xfrm>
            <a:off x="574675" y="906463"/>
            <a:ext cx="4378325" cy="620712"/>
          </a:xfrm>
        </p:spPr>
        <p:txBody>
          <a:bodyPr/>
          <a:lstStyle/>
          <a:p>
            <a:pPr eaLnBrk="1" hangingPunct="1"/>
            <a:r>
              <a:rPr lang="zh-CN" altLang="en-US" sz="2800" b="1" u="sng">
                <a:solidFill>
                  <a:schemeClr val="hlink"/>
                </a:solidFill>
              </a:rPr>
              <a:t>与穷举法相比有以下优点</a:t>
            </a:r>
          </a:p>
        </p:txBody>
      </p:sp>
      <p:sp>
        <p:nvSpPr>
          <p:cNvPr id="43"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44036" name="Rectangle 4"/>
          <p:cNvSpPr>
            <a:spLocks noChangeArrowheads="1"/>
          </p:cNvSpPr>
          <p:nvPr/>
        </p:nvSpPr>
        <p:spPr bwMode="auto">
          <a:xfrm>
            <a:off x="395288" y="1730375"/>
            <a:ext cx="8785225" cy="2740025"/>
          </a:xfrm>
          <a:prstGeom prst="rect">
            <a:avLst/>
          </a:prstGeom>
          <a:noFill/>
          <a:ln>
            <a:noFill/>
          </a:ln>
          <a:effectLst/>
        </p:spPr>
        <p:txBody>
          <a:bodyPr anchor="ctr">
            <a:spAutoFit/>
          </a:bodyPr>
          <a:lstStyle/>
          <a:p>
            <a:pPr indent="266700" algn="just" eaLnBrk="1" hangingPunct="1">
              <a:lnSpc>
                <a:spcPct val="130000"/>
              </a:lnSpc>
              <a:buClr>
                <a:srgbClr val="000000"/>
              </a:buClr>
              <a:buSzPct val="100000"/>
              <a:defRPr/>
            </a:pPr>
            <a:r>
              <a:rPr lang="en-US" altLang="zh-CN" sz="2000" dirty="0">
                <a:latin typeface="Times New Roman" pitchFamily="18" charset="0"/>
                <a:ea typeface="+mn-ea"/>
                <a:cs typeface="Times New Roman" pitchFamily="18" charset="0"/>
              </a:rPr>
              <a:t>(1)  </a:t>
            </a:r>
            <a:r>
              <a:rPr lang="zh-CN" altLang="en-US" sz="2000" dirty="0">
                <a:latin typeface="Times New Roman" pitchFamily="18" charset="0"/>
                <a:ea typeface="+mn-ea"/>
                <a:cs typeface="Times New Roman" pitchFamily="18" charset="0"/>
              </a:rPr>
              <a:t>将问题的过程划分成恰当的阶段；</a:t>
            </a:r>
          </a:p>
          <a:p>
            <a:pPr indent="266700" algn="just" eaLnBrk="1" hangingPunct="1">
              <a:lnSpc>
                <a:spcPct val="130000"/>
              </a:lnSpc>
              <a:spcBef>
                <a:spcPct val="20000"/>
              </a:spcBef>
              <a:buClr>
                <a:srgbClr val="000000"/>
              </a:buClr>
              <a:buSzPct val="100000"/>
              <a:defRPr/>
            </a:pPr>
            <a:r>
              <a:rPr lang="en-US" altLang="zh-CN" sz="2000" dirty="0">
                <a:latin typeface="Times New Roman" pitchFamily="18" charset="0"/>
                <a:ea typeface="+mn-ea"/>
                <a:cs typeface="Times New Roman" pitchFamily="18" charset="0"/>
              </a:rPr>
              <a:t>(2) </a:t>
            </a:r>
            <a:r>
              <a:rPr lang="zh-CN" altLang="en-US" sz="2000" dirty="0">
                <a:latin typeface="Times New Roman" pitchFamily="18" charset="0"/>
                <a:ea typeface="+mn-ea"/>
                <a:cs typeface="Times New Roman" pitchFamily="18" charset="0"/>
              </a:rPr>
              <a:t>正确选择状态变量</a:t>
            </a:r>
            <a:r>
              <a:rPr lang="en-US" altLang="zh-CN" sz="2000" i="1" dirty="0" err="1">
                <a:latin typeface="Times New Roman" pitchFamily="18" charset="0"/>
                <a:ea typeface="+mn-ea"/>
                <a:cs typeface="Times New Roman" pitchFamily="18" charset="0"/>
              </a:rPr>
              <a:t>s</a:t>
            </a:r>
            <a:r>
              <a:rPr lang="en-US" altLang="zh-CN" sz="2000" i="1" baseline="-25000" dirty="0" err="1">
                <a:latin typeface="Times New Roman" pitchFamily="18" charset="0"/>
                <a:ea typeface="+mn-ea"/>
                <a:cs typeface="Times New Roman" pitchFamily="18" charset="0"/>
              </a:rPr>
              <a:t>k</a:t>
            </a:r>
            <a:r>
              <a:rPr lang="zh-CN" altLang="en-US" sz="2000" dirty="0">
                <a:latin typeface="Times New Roman" pitchFamily="18" charset="0"/>
                <a:ea typeface="+mn-ea"/>
                <a:cs typeface="Times New Roman" pitchFamily="18" charset="0"/>
              </a:rPr>
              <a:t>，使它既能描述过程的演变，又要满足</a:t>
            </a:r>
            <a:r>
              <a:rPr lang="zh-CN" altLang="en-US" sz="2000" dirty="0">
                <a:solidFill>
                  <a:srgbClr val="C00000"/>
                </a:solidFill>
                <a:latin typeface="Times New Roman" pitchFamily="18" charset="0"/>
                <a:ea typeface="+mn-ea"/>
                <a:cs typeface="Times New Roman" pitchFamily="18" charset="0"/>
              </a:rPr>
              <a:t>无后效性</a:t>
            </a:r>
            <a:r>
              <a:rPr lang="zh-CN" altLang="en-US" sz="2000" dirty="0">
                <a:latin typeface="Times New Roman" pitchFamily="18" charset="0"/>
                <a:ea typeface="+mn-ea"/>
                <a:cs typeface="Times New Roman" pitchFamily="18" charset="0"/>
              </a:rPr>
              <a:t>；</a:t>
            </a:r>
          </a:p>
          <a:p>
            <a:pPr indent="266700" algn="just" eaLnBrk="1" hangingPunct="1">
              <a:lnSpc>
                <a:spcPct val="130000"/>
              </a:lnSpc>
              <a:spcBef>
                <a:spcPct val="20000"/>
              </a:spcBef>
              <a:buClr>
                <a:srgbClr val="000000"/>
              </a:buClr>
              <a:buSzPct val="100000"/>
              <a:defRPr/>
            </a:pPr>
            <a:r>
              <a:rPr lang="en-US" altLang="zh-CN" sz="2000" dirty="0">
                <a:latin typeface="Times New Roman" pitchFamily="18" charset="0"/>
                <a:ea typeface="+mn-ea"/>
                <a:cs typeface="Times New Roman" pitchFamily="18" charset="0"/>
              </a:rPr>
              <a:t>(3) </a:t>
            </a:r>
            <a:r>
              <a:rPr lang="zh-CN" altLang="en-US" sz="2000" dirty="0">
                <a:latin typeface="Times New Roman" pitchFamily="18" charset="0"/>
                <a:ea typeface="+mn-ea"/>
                <a:cs typeface="Times New Roman" pitchFamily="18" charset="0"/>
              </a:rPr>
              <a:t>确定决策变量</a:t>
            </a:r>
            <a:r>
              <a:rPr lang="en-US" altLang="zh-CN" sz="2000" i="1" dirty="0" err="1">
                <a:latin typeface="Times New Roman" pitchFamily="18" charset="0"/>
                <a:ea typeface="+mn-ea"/>
                <a:cs typeface="Times New Roman" pitchFamily="18" charset="0"/>
              </a:rPr>
              <a:t>u</a:t>
            </a:r>
            <a:r>
              <a:rPr lang="en-US" altLang="zh-CN" sz="2000" i="1" baseline="-25000" dirty="0" err="1">
                <a:latin typeface="Times New Roman" pitchFamily="18" charset="0"/>
                <a:ea typeface="+mn-ea"/>
                <a:cs typeface="Times New Roman" pitchFamily="18" charset="0"/>
              </a:rPr>
              <a:t>k</a:t>
            </a:r>
            <a:r>
              <a:rPr lang="zh-CN" altLang="en-US" sz="2000" dirty="0">
                <a:latin typeface="Times New Roman" pitchFamily="18" charset="0"/>
                <a:ea typeface="+mn-ea"/>
                <a:cs typeface="Times New Roman" pitchFamily="18" charset="0"/>
              </a:rPr>
              <a:t>及每阶段的允许决策集合</a:t>
            </a:r>
            <a:r>
              <a:rPr lang="en-US" altLang="zh-CN" sz="2000" i="1" dirty="0" err="1">
                <a:latin typeface="Times New Roman" pitchFamily="18" charset="0"/>
                <a:ea typeface="+mn-ea"/>
                <a:cs typeface="Times New Roman" pitchFamily="18" charset="0"/>
              </a:rPr>
              <a:t>D</a:t>
            </a:r>
            <a:r>
              <a:rPr lang="en-US" altLang="zh-CN" sz="2000" i="1" baseline="-25000" dirty="0" err="1">
                <a:latin typeface="Times New Roman" pitchFamily="18" charset="0"/>
                <a:ea typeface="+mn-ea"/>
                <a:cs typeface="Times New Roman" pitchFamily="18" charset="0"/>
              </a:rPr>
              <a:t>k</a:t>
            </a:r>
            <a:r>
              <a:rPr lang="en-US" altLang="zh-CN" sz="2000" dirty="0">
                <a:latin typeface="Times New Roman" pitchFamily="18" charset="0"/>
                <a:ea typeface="+mn-ea"/>
                <a:cs typeface="Times New Roman" pitchFamily="18" charset="0"/>
              </a:rPr>
              <a:t>(</a:t>
            </a:r>
            <a:r>
              <a:rPr lang="en-US" altLang="zh-CN" sz="2000" i="1" dirty="0" err="1">
                <a:latin typeface="Times New Roman" pitchFamily="18" charset="0"/>
                <a:ea typeface="+mn-ea"/>
                <a:cs typeface="Times New Roman" pitchFamily="18" charset="0"/>
              </a:rPr>
              <a:t>s</a:t>
            </a:r>
            <a:r>
              <a:rPr lang="en-US" altLang="zh-CN" sz="2000" i="1" baseline="-25000" dirty="0" err="1">
                <a:latin typeface="Times New Roman" pitchFamily="18" charset="0"/>
                <a:ea typeface="+mn-ea"/>
                <a:cs typeface="Times New Roman" pitchFamily="18" charset="0"/>
              </a:rPr>
              <a:t>k</a:t>
            </a:r>
            <a:r>
              <a:rPr lang="en-US" altLang="zh-CN" sz="2000" dirty="0">
                <a:latin typeface="Times New Roman" pitchFamily="18" charset="0"/>
                <a:ea typeface="+mn-ea"/>
                <a:cs typeface="Times New Roman" pitchFamily="18" charset="0"/>
              </a:rPr>
              <a:t>)</a:t>
            </a:r>
            <a:r>
              <a:rPr lang="zh-CN" altLang="en-US" sz="2000" dirty="0">
                <a:latin typeface="Times New Roman" pitchFamily="18" charset="0"/>
                <a:ea typeface="+mn-ea"/>
                <a:cs typeface="Times New Roman" pitchFamily="18" charset="0"/>
              </a:rPr>
              <a:t>；</a:t>
            </a:r>
          </a:p>
          <a:p>
            <a:pPr indent="266700" algn="just" eaLnBrk="1" hangingPunct="1">
              <a:lnSpc>
                <a:spcPct val="130000"/>
              </a:lnSpc>
              <a:spcBef>
                <a:spcPct val="20000"/>
              </a:spcBef>
              <a:buClr>
                <a:srgbClr val="000000"/>
              </a:buClr>
              <a:buSzPct val="100000"/>
              <a:defRPr/>
            </a:pPr>
            <a:r>
              <a:rPr lang="en-US" altLang="zh-CN" sz="2000" dirty="0">
                <a:latin typeface="Times New Roman" pitchFamily="18" charset="0"/>
                <a:ea typeface="+mn-ea"/>
                <a:cs typeface="Times New Roman" pitchFamily="18" charset="0"/>
              </a:rPr>
              <a:t>(4) </a:t>
            </a:r>
            <a:r>
              <a:rPr lang="zh-CN" altLang="en-US" sz="2000" dirty="0">
                <a:latin typeface="Times New Roman" pitchFamily="18" charset="0"/>
                <a:ea typeface="+mn-ea"/>
                <a:cs typeface="Times New Roman" pitchFamily="18" charset="0"/>
              </a:rPr>
              <a:t>正确写出状态转移方程；</a:t>
            </a:r>
            <a:endParaRPr lang="en-US" altLang="zh-CN" sz="2000" dirty="0">
              <a:latin typeface="Times New Roman" pitchFamily="18" charset="0"/>
              <a:ea typeface="+mn-ea"/>
              <a:cs typeface="Times New Roman" pitchFamily="18" charset="0"/>
            </a:endParaRPr>
          </a:p>
          <a:p>
            <a:pPr indent="266700" algn="just" eaLnBrk="1" hangingPunct="1">
              <a:lnSpc>
                <a:spcPct val="130000"/>
              </a:lnSpc>
              <a:buClr>
                <a:srgbClr val="000000"/>
              </a:buClr>
              <a:buSzPct val="100000"/>
              <a:defRPr/>
            </a:pPr>
            <a:r>
              <a:rPr lang="en-US" altLang="zh-CN" sz="2000" dirty="0">
                <a:latin typeface="Times New Roman" pitchFamily="18" charset="0"/>
                <a:ea typeface="+mn-ea"/>
                <a:cs typeface="Times New Roman" pitchFamily="18" charset="0"/>
              </a:rPr>
              <a:t>(5) </a:t>
            </a:r>
            <a:r>
              <a:rPr lang="zh-CN" altLang="en-US" sz="2000" dirty="0">
                <a:latin typeface="Times New Roman" pitchFamily="18" charset="0"/>
                <a:ea typeface="+mn-ea"/>
                <a:cs typeface="Times New Roman" pitchFamily="18" charset="0"/>
              </a:rPr>
              <a:t>正确写出指标函数</a:t>
            </a:r>
            <a:r>
              <a:rPr lang="en-US" altLang="zh-CN" sz="2000" i="1" dirty="0" err="1">
                <a:latin typeface="Times New Roman" pitchFamily="18" charset="0"/>
                <a:ea typeface="+mn-ea"/>
                <a:cs typeface="Times New Roman" pitchFamily="18" charset="0"/>
              </a:rPr>
              <a:t>V</a:t>
            </a:r>
            <a:r>
              <a:rPr lang="en-US" altLang="zh-CN" sz="2000" i="1" baseline="-25000" dirty="0" err="1">
                <a:latin typeface="Times New Roman" pitchFamily="18" charset="0"/>
                <a:ea typeface="+mn-ea"/>
                <a:cs typeface="Times New Roman" pitchFamily="18" charset="0"/>
              </a:rPr>
              <a:t>k,n</a:t>
            </a:r>
            <a:r>
              <a:rPr lang="zh-CN" altLang="en-US" sz="2000" dirty="0">
                <a:latin typeface="Times New Roman" pitchFamily="18" charset="0"/>
                <a:ea typeface="+mn-ea"/>
                <a:cs typeface="Times New Roman" pitchFamily="18" charset="0"/>
              </a:rPr>
              <a:t>的关系，它应满足下面三个性质：</a:t>
            </a:r>
          </a:p>
          <a:p>
            <a:pPr indent="266700" algn="just" eaLnBrk="1" hangingPunct="1">
              <a:lnSpc>
                <a:spcPct val="130000"/>
              </a:lnSpc>
              <a:spcBef>
                <a:spcPct val="20000"/>
              </a:spcBef>
              <a:buClr>
                <a:srgbClr val="000000"/>
              </a:buClr>
              <a:buSzPct val="100000"/>
              <a:defRPr/>
            </a:pPr>
            <a:r>
              <a:rPr lang="zh-CN" altLang="en-US" sz="2000" dirty="0">
                <a:latin typeface="Times New Roman" pitchFamily="18" charset="0"/>
                <a:ea typeface="+mn-ea"/>
                <a:cs typeface="Times New Roman" pitchFamily="18" charset="0"/>
              </a:rPr>
              <a:t>      ① 是定义在全过程和所有后部子过程上的数量函数；</a:t>
            </a:r>
          </a:p>
        </p:txBody>
      </p:sp>
      <p:sp>
        <p:nvSpPr>
          <p:cNvPr id="70660"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8DFF0D76-CD3F-451D-AEA3-53B148C29513}" type="slidenum">
              <a:rPr lang="zh-CN" altLang="zh-CN" sz="2000">
                <a:latin typeface="Arial" panose="020B0604020202020204" pitchFamily="34" charset="0"/>
              </a:rPr>
              <a:pPr>
                <a:spcBef>
                  <a:spcPct val="0"/>
                </a:spcBef>
                <a:buClr>
                  <a:srgbClr val="000000"/>
                </a:buClr>
                <a:buFontTx/>
                <a:buNone/>
              </a:pPr>
              <a:t>53</a:t>
            </a:fld>
            <a:endParaRPr lang="en-US" altLang="zh-CN" sz="2000">
              <a:latin typeface="Arial" panose="020B0604020202020204" pitchFamily="34" charset="0"/>
            </a:endParaRPr>
          </a:p>
        </p:txBody>
      </p:sp>
      <p:sp>
        <p:nvSpPr>
          <p:cNvPr id="44040" name="Rectangle 2"/>
          <p:cNvSpPr>
            <a:spLocks noChangeArrowheads="1"/>
          </p:cNvSpPr>
          <p:nvPr/>
        </p:nvSpPr>
        <p:spPr bwMode="auto">
          <a:xfrm>
            <a:off x="431800" y="4403725"/>
            <a:ext cx="8497888" cy="1692275"/>
          </a:xfrm>
          <a:prstGeom prst="rect">
            <a:avLst/>
          </a:prstGeom>
          <a:noFill/>
          <a:ln>
            <a:noFill/>
          </a:ln>
          <a:effectLst/>
        </p:spPr>
        <p:txBody>
          <a:bodyPr anchor="ctr">
            <a:spAutoFit/>
          </a:bodyPr>
          <a:lstStyle/>
          <a:p>
            <a:pPr indent="266700" algn="just" eaLnBrk="1" hangingPunct="1">
              <a:lnSpc>
                <a:spcPct val="130000"/>
              </a:lnSpc>
              <a:buClr>
                <a:srgbClr val="000000"/>
              </a:buClr>
              <a:buSzPct val="100000"/>
              <a:defRPr/>
            </a:pPr>
            <a:r>
              <a:rPr lang="zh-CN" altLang="en-US" sz="2000" dirty="0">
                <a:latin typeface="Times New Roman" pitchFamily="18" charset="0"/>
                <a:ea typeface="+mn-ea"/>
                <a:cs typeface="Times New Roman" pitchFamily="18" charset="0"/>
              </a:rPr>
              <a:t>     ② 要具有</a:t>
            </a:r>
            <a:r>
              <a:rPr lang="zh-CN" altLang="en-US" sz="2000" dirty="0">
                <a:solidFill>
                  <a:srgbClr val="C00000"/>
                </a:solidFill>
                <a:latin typeface="Times New Roman" pitchFamily="18" charset="0"/>
                <a:ea typeface="+mn-ea"/>
                <a:cs typeface="Times New Roman" pitchFamily="18" charset="0"/>
              </a:rPr>
              <a:t>可分离性</a:t>
            </a:r>
            <a:r>
              <a:rPr lang="zh-CN" altLang="en-US" sz="2000" dirty="0">
                <a:latin typeface="Times New Roman" pitchFamily="18" charset="0"/>
                <a:ea typeface="+mn-ea"/>
                <a:cs typeface="Times New Roman" pitchFamily="18" charset="0"/>
              </a:rPr>
              <a:t>，并满足</a:t>
            </a:r>
            <a:r>
              <a:rPr lang="zh-CN" altLang="en-US" sz="2000" dirty="0">
                <a:solidFill>
                  <a:srgbClr val="C00000"/>
                </a:solidFill>
                <a:latin typeface="Times New Roman" pitchFamily="18" charset="0"/>
                <a:ea typeface="+mn-ea"/>
                <a:cs typeface="Times New Roman" pitchFamily="18" charset="0"/>
              </a:rPr>
              <a:t>递推关系</a:t>
            </a:r>
            <a:r>
              <a:rPr lang="en-US" altLang="zh-CN" sz="2000" dirty="0">
                <a:latin typeface="Times New Roman" pitchFamily="18" charset="0"/>
                <a:ea typeface="+mn-ea"/>
                <a:cs typeface="Times New Roman" pitchFamily="18" charset="0"/>
              </a:rPr>
              <a:t>,</a:t>
            </a:r>
            <a:r>
              <a:rPr lang="zh-CN" altLang="en-US" sz="2000" dirty="0">
                <a:latin typeface="Times New Roman" pitchFamily="18" charset="0"/>
                <a:ea typeface="+mn-ea"/>
                <a:cs typeface="Times New Roman" pitchFamily="18" charset="0"/>
              </a:rPr>
              <a:t>即  </a:t>
            </a:r>
            <a:endParaRPr lang="en-US" altLang="zh-CN" sz="2000" dirty="0">
              <a:latin typeface="Times New Roman" pitchFamily="18" charset="0"/>
              <a:ea typeface="+mn-ea"/>
              <a:cs typeface="Times New Roman" pitchFamily="18" charset="0"/>
            </a:endParaRPr>
          </a:p>
          <a:p>
            <a:pPr indent="266700" algn="just" eaLnBrk="1" hangingPunct="1">
              <a:lnSpc>
                <a:spcPct val="130000"/>
              </a:lnSpc>
              <a:buClr>
                <a:srgbClr val="000000"/>
              </a:buClr>
              <a:buSzPct val="100000"/>
              <a:defRPr/>
            </a:pPr>
            <a:endParaRPr lang="zh-CN" altLang="en-US" sz="2000" dirty="0">
              <a:latin typeface="Times New Roman" pitchFamily="18" charset="0"/>
              <a:ea typeface="+mn-ea"/>
              <a:cs typeface="Times New Roman" pitchFamily="18" charset="0"/>
            </a:endParaRPr>
          </a:p>
          <a:p>
            <a:pPr indent="266700" algn="just" eaLnBrk="1" hangingPunct="1">
              <a:lnSpc>
                <a:spcPct val="130000"/>
              </a:lnSpc>
              <a:buClr>
                <a:srgbClr val="000000"/>
              </a:buClr>
              <a:buSzPct val="100000"/>
              <a:defRPr/>
            </a:pPr>
            <a:endParaRPr lang="zh-CN" altLang="en-US" sz="2000" dirty="0">
              <a:latin typeface="Times New Roman" pitchFamily="18" charset="0"/>
              <a:ea typeface="+mn-ea"/>
              <a:cs typeface="Times New Roman" pitchFamily="18" charset="0"/>
            </a:endParaRPr>
          </a:p>
          <a:p>
            <a:pPr indent="266700" algn="just" eaLnBrk="1" hangingPunct="1">
              <a:lnSpc>
                <a:spcPct val="130000"/>
              </a:lnSpc>
              <a:buClr>
                <a:srgbClr val="000000"/>
              </a:buClr>
              <a:buSzPct val="100000"/>
              <a:defRPr/>
            </a:pPr>
            <a:r>
              <a:rPr lang="zh-CN" altLang="en-US" sz="2000" dirty="0">
                <a:latin typeface="Times New Roman" pitchFamily="18" charset="0"/>
                <a:ea typeface="+mn-ea"/>
                <a:cs typeface="Times New Roman" pitchFamily="18" charset="0"/>
              </a:rPr>
              <a:t>     ③ 函数                                 对于变量</a:t>
            </a:r>
            <a:r>
              <a:rPr lang="en-US" altLang="zh-CN" sz="2000" i="1" dirty="0">
                <a:latin typeface="Times New Roman" pitchFamily="18" charset="0"/>
                <a:ea typeface="+mn-ea"/>
                <a:cs typeface="Times New Roman" pitchFamily="18" charset="0"/>
              </a:rPr>
              <a:t>V</a:t>
            </a:r>
            <a:r>
              <a:rPr lang="en-US" altLang="zh-CN" sz="2000" i="1" baseline="-25000" dirty="0">
                <a:latin typeface="Times New Roman" pitchFamily="18" charset="0"/>
                <a:ea typeface="+mn-ea"/>
                <a:cs typeface="Times New Roman" pitchFamily="18" charset="0"/>
              </a:rPr>
              <a:t>k</a:t>
            </a:r>
            <a:r>
              <a:rPr lang="en-US" altLang="zh-CN" sz="2000" baseline="-25000" dirty="0">
                <a:latin typeface="Times New Roman" pitchFamily="18" charset="0"/>
                <a:ea typeface="+mn-ea"/>
                <a:cs typeface="Times New Roman" pitchFamily="18" charset="0"/>
              </a:rPr>
              <a:t>+1,</a:t>
            </a:r>
            <a:r>
              <a:rPr lang="en-US" altLang="zh-CN" sz="2000" i="1" baseline="-25000" dirty="0">
                <a:latin typeface="Times New Roman" pitchFamily="18" charset="0"/>
                <a:ea typeface="+mn-ea"/>
                <a:cs typeface="Times New Roman" pitchFamily="18" charset="0"/>
              </a:rPr>
              <a:t>n</a:t>
            </a:r>
            <a:r>
              <a:rPr lang="zh-CN" altLang="en-US" sz="2000" dirty="0">
                <a:latin typeface="Times New Roman" pitchFamily="18" charset="0"/>
                <a:ea typeface="+mn-ea"/>
                <a:cs typeface="Times New Roman" pitchFamily="18" charset="0"/>
              </a:rPr>
              <a:t>要</a:t>
            </a:r>
            <a:r>
              <a:rPr lang="zh-CN" altLang="en-US" sz="2000" dirty="0">
                <a:solidFill>
                  <a:srgbClr val="C00000"/>
                </a:solidFill>
                <a:latin typeface="Times New Roman" pitchFamily="18" charset="0"/>
                <a:ea typeface="+mn-ea"/>
                <a:cs typeface="Times New Roman" pitchFamily="18" charset="0"/>
              </a:rPr>
              <a:t>严格单调</a:t>
            </a:r>
            <a:r>
              <a:rPr lang="zh-CN" altLang="en-US" sz="2000" dirty="0">
                <a:latin typeface="Times New Roman" pitchFamily="18" charset="0"/>
                <a:ea typeface="+mn-ea"/>
                <a:cs typeface="Times New Roman" pitchFamily="18" charset="0"/>
              </a:rPr>
              <a:t>。</a:t>
            </a:r>
          </a:p>
        </p:txBody>
      </p:sp>
      <p:pic>
        <p:nvPicPr>
          <p:cNvPr id="9" name="Picture 5" descr="6141149731398087791823"/>
          <p:cNvPicPr>
            <a:picLocks noChangeAspect="1" noChangeArrowheads="1"/>
          </p:cNvPicPr>
          <p:nvPr/>
        </p:nvPicPr>
        <p:blipFill>
          <a:blip r:embed="rId3">
            <a:duotone>
              <a:schemeClr val="accent4">
                <a:shade val="45000"/>
                <a:satMod val="135000"/>
              </a:schemeClr>
              <a:prstClr val="white"/>
            </a:duotone>
          </a:blip>
          <a:srcRect/>
          <a:stretch>
            <a:fillRect/>
          </a:stretch>
        </p:blipFill>
        <p:spPr bwMode="auto">
          <a:xfrm>
            <a:off x="1512168" y="4829980"/>
            <a:ext cx="6049490" cy="574401"/>
          </a:xfrm>
          <a:prstGeom prst="rect">
            <a:avLst/>
          </a:prstGeom>
          <a:noFill/>
          <a:ln>
            <a:noFill/>
          </a:ln>
          <a:effectLst/>
        </p:spPr>
      </p:pic>
      <p:pic>
        <p:nvPicPr>
          <p:cNvPr id="10" name="Picture 6" descr="4207416331398087791823"/>
          <p:cNvPicPr>
            <a:picLocks noChangeAspect="1" noChangeArrowheads="1"/>
          </p:cNvPicPr>
          <p:nvPr/>
        </p:nvPicPr>
        <p:blipFill>
          <a:blip r:embed="rId4" cstate="print">
            <a:duotone>
              <a:schemeClr val="accent4">
                <a:shade val="45000"/>
                <a:satMod val="135000"/>
              </a:schemeClr>
              <a:prstClr val="white"/>
            </a:duotone>
          </a:blip>
          <a:srcRect/>
          <a:stretch>
            <a:fillRect/>
          </a:stretch>
        </p:blipFill>
        <p:spPr bwMode="auto">
          <a:xfrm>
            <a:off x="1936249" y="5556100"/>
            <a:ext cx="2015306" cy="519382"/>
          </a:xfrm>
          <a:prstGeom prst="rect">
            <a:avLst/>
          </a:prstGeom>
          <a:noFill/>
          <a:ln>
            <a:noFill/>
          </a:ln>
          <a:effectLst/>
        </p:spPr>
      </p:pic>
      <p:sp>
        <p:nvSpPr>
          <p:cNvPr id="11" name="Rectangle 2"/>
          <p:cNvSpPr txBox="1">
            <a:spLocks noChangeArrowheads="1"/>
          </p:cNvSpPr>
          <p:nvPr/>
        </p:nvSpPr>
        <p:spPr bwMode="auto">
          <a:xfrm>
            <a:off x="574675" y="906463"/>
            <a:ext cx="43783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建立</a:t>
            </a:r>
            <a:r>
              <a:rPr lang="en-US" altLang="zh-CN" sz="2800" b="1" u="sng" kern="0" dirty="0">
                <a:solidFill>
                  <a:schemeClr val="hlink"/>
                </a:solidFill>
              </a:rPr>
              <a:t>DP</a:t>
            </a:r>
            <a:r>
              <a:rPr lang="zh-CN" altLang="en-US" sz="2800" b="1" u="sng" kern="0" dirty="0">
                <a:solidFill>
                  <a:schemeClr val="hlink"/>
                </a:solidFill>
              </a:rPr>
              <a:t>模型的五个要点</a:t>
            </a:r>
          </a:p>
        </p:txBody>
      </p:sp>
      <p:sp>
        <p:nvSpPr>
          <p:cNvPr id="12"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035050" y="3021013"/>
            <a:ext cx="7640638" cy="977900"/>
          </a:xfrm>
          <a:prstGeom prst="rect">
            <a:avLst/>
          </a:prstGeom>
          <a:noFill/>
          <a:ln>
            <a:noFill/>
          </a:ln>
          <a:effectLst/>
        </p:spPr>
        <p:txBody>
          <a:bodyPr anchor="ctr">
            <a:spAutoFit/>
          </a:bodyPr>
          <a:lstStyle/>
          <a:p>
            <a:pPr algn="just" eaLnBrk="1" hangingPunct="1">
              <a:lnSpc>
                <a:spcPct val="120000"/>
              </a:lnSpc>
              <a:buClr>
                <a:srgbClr val="000000"/>
              </a:buClr>
              <a:buSzPct val="100000"/>
              <a:defRPr/>
            </a:pPr>
            <a:r>
              <a:rPr lang="zh-CN" altLang="en-US" sz="2400" dirty="0">
                <a:latin typeface="Times New Roman" pitchFamily="18" charset="0"/>
                <a:ea typeface="+mn-ea"/>
                <a:cs typeface="Times New Roman" pitchFamily="18" charset="0"/>
              </a:rPr>
              <a:t>其中                表示第 </a:t>
            </a:r>
            <a:r>
              <a:rPr lang="en-US" altLang="zh-CN" sz="2400" i="1" dirty="0">
                <a:latin typeface="Times New Roman" pitchFamily="18" charset="0"/>
                <a:ea typeface="+mn-ea"/>
                <a:cs typeface="Times New Roman" pitchFamily="18" charset="0"/>
              </a:rPr>
              <a:t>j </a:t>
            </a:r>
            <a:r>
              <a:rPr lang="zh-CN" altLang="en-US" sz="2400" dirty="0">
                <a:latin typeface="Times New Roman" pitchFamily="18" charset="0"/>
                <a:ea typeface="+mn-ea"/>
                <a:cs typeface="Times New Roman" pitchFamily="18" charset="0"/>
              </a:rPr>
              <a:t>段的指标。它显然是满足指标函数性质的。</a:t>
            </a:r>
          </a:p>
        </p:txBody>
      </p:sp>
      <p:sp>
        <p:nvSpPr>
          <p:cNvPr id="72707" name="Rectangle 4"/>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49157" name="Picture 5" descr="624228269139808779182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3126891" y="2067744"/>
            <a:ext cx="2286278" cy="1010398"/>
          </a:xfrm>
          <a:prstGeom prst="rect">
            <a:avLst/>
          </a:prstGeom>
          <a:noFill/>
          <a:ln>
            <a:noFill/>
          </a:ln>
          <a:effectLst/>
        </p:spPr>
      </p:pic>
      <p:pic>
        <p:nvPicPr>
          <p:cNvPr id="49158" name="Picture 6" descr="323820621398087791823"/>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auto">
          <a:xfrm>
            <a:off x="1870661" y="3076834"/>
            <a:ext cx="1189171" cy="471806"/>
          </a:xfrm>
          <a:prstGeom prst="rect">
            <a:avLst/>
          </a:prstGeom>
          <a:noFill/>
          <a:ln>
            <a:noFill/>
          </a:ln>
          <a:effectLst/>
        </p:spPr>
      </p:pic>
      <p:sp>
        <p:nvSpPr>
          <p:cNvPr id="45062" name="Rectangle 7"/>
          <p:cNvSpPr>
            <a:spLocks noChangeArrowheads="1"/>
          </p:cNvSpPr>
          <p:nvPr/>
        </p:nvSpPr>
        <p:spPr bwMode="auto">
          <a:xfrm>
            <a:off x="574675" y="1771650"/>
            <a:ext cx="7993063" cy="461963"/>
          </a:xfrm>
          <a:prstGeom prst="rect">
            <a:avLst/>
          </a:prstGeom>
          <a:noFill/>
          <a:ln>
            <a:noFill/>
          </a:ln>
          <a:effectLst/>
        </p:spPr>
        <p:txBody>
          <a:bodyPr anchor="ctr">
            <a:spAutoFit/>
          </a:bodyPr>
          <a:lstStyle/>
          <a:p>
            <a:pPr algn="just" eaLnBrk="1" hangingPunct="1">
              <a:buClr>
                <a:srgbClr val="000000"/>
              </a:buClr>
              <a:buSzPct val="100000"/>
              <a:defRPr/>
            </a:pPr>
            <a:r>
              <a:rPr lang="zh-CN" altLang="en-US" sz="2400" dirty="0">
                <a:latin typeface="Times New Roman" pitchFamily="18" charset="0"/>
                <a:ea typeface="+mn-ea"/>
                <a:cs typeface="Times New Roman" pitchFamily="18" charset="0"/>
              </a:rPr>
              <a:t>设指标函数是取各阶段指标的</a:t>
            </a:r>
            <a:r>
              <a:rPr lang="zh-CN" altLang="en-US" sz="2400" dirty="0">
                <a:solidFill>
                  <a:srgbClr val="FF0000"/>
                </a:solidFill>
                <a:latin typeface="Times New Roman" pitchFamily="18" charset="0"/>
                <a:ea typeface="+mn-ea"/>
                <a:cs typeface="Times New Roman" pitchFamily="18" charset="0"/>
              </a:rPr>
              <a:t>和的形式</a:t>
            </a:r>
            <a:r>
              <a:rPr lang="zh-CN" altLang="en-US" sz="2400" dirty="0">
                <a:latin typeface="Times New Roman" pitchFamily="18" charset="0"/>
                <a:ea typeface="+mn-ea"/>
                <a:cs typeface="Times New Roman" pitchFamily="18" charset="0"/>
              </a:rPr>
              <a:t>，即</a:t>
            </a:r>
          </a:p>
        </p:txBody>
      </p:sp>
      <p:sp>
        <p:nvSpPr>
          <p:cNvPr id="72711"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72712"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695FF8A9-C3B9-4BDB-9DE4-E65C37E98BA0}" type="slidenum">
              <a:rPr lang="zh-CN" altLang="zh-CN" sz="1400">
                <a:latin typeface="Arial" panose="020B0604020202020204" pitchFamily="34" charset="0"/>
              </a:rPr>
              <a:pPr>
                <a:spcBef>
                  <a:spcPct val="0"/>
                </a:spcBef>
                <a:buClr>
                  <a:srgbClr val="000000"/>
                </a:buClr>
                <a:buFontTx/>
                <a:buNone/>
              </a:pPr>
              <a:t>54</a:t>
            </a:fld>
            <a:endParaRPr lang="en-US" altLang="zh-CN" sz="1400">
              <a:latin typeface="Arial" panose="020B0604020202020204" pitchFamily="34" charset="0"/>
            </a:endParaRPr>
          </a:p>
        </p:txBody>
      </p:sp>
      <p:sp>
        <p:nvSpPr>
          <p:cNvPr id="45068" name="Rectangle 4"/>
          <p:cNvSpPr>
            <a:spLocks noChangeArrowheads="1"/>
          </p:cNvSpPr>
          <p:nvPr/>
        </p:nvSpPr>
        <p:spPr bwMode="auto">
          <a:xfrm>
            <a:off x="1077913" y="4035425"/>
            <a:ext cx="1731962" cy="461963"/>
          </a:xfrm>
          <a:prstGeom prst="rect">
            <a:avLst/>
          </a:prstGeom>
          <a:noFill/>
          <a:ln>
            <a:noFill/>
          </a:ln>
          <a:effectLst/>
        </p:spPr>
        <p:txBody>
          <a:bodyPr wrap="none" anchor="ctr">
            <a:spAutoFit/>
          </a:bodyPr>
          <a:lstStyle/>
          <a:p>
            <a:pPr eaLnBrk="1" hangingPunct="1">
              <a:buClr>
                <a:srgbClr val="000000"/>
              </a:buClr>
              <a:buSzPct val="100000"/>
              <a:defRPr/>
            </a:pPr>
            <a:r>
              <a:rPr lang="zh-CN" altLang="en-US" sz="2400">
                <a:latin typeface="Times New Roman" pitchFamily="18" charset="0"/>
                <a:ea typeface="+mn-ea"/>
                <a:cs typeface="Times New Roman" pitchFamily="18" charset="0"/>
              </a:rPr>
              <a:t>上式可写成</a:t>
            </a:r>
          </a:p>
        </p:txBody>
      </p:sp>
      <p:sp>
        <p:nvSpPr>
          <p:cNvPr id="45069" name="Rectangle 6"/>
          <p:cNvSpPr>
            <a:spLocks noChangeArrowheads="1"/>
          </p:cNvSpPr>
          <p:nvPr/>
        </p:nvSpPr>
        <p:spPr bwMode="auto">
          <a:xfrm>
            <a:off x="2466975" y="5329238"/>
            <a:ext cx="261938" cy="460375"/>
          </a:xfrm>
          <a:prstGeom prst="rect">
            <a:avLst/>
          </a:prstGeom>
          <a:noFill/>
          <a:ln>
            <a:noFill/>
          </a:ln>
          <a:effectLst/>
        </p:spPr>
        <p:txBody>
          <a:bodyPr wrap="none" anchor="ctr">
            <a:spAutoFit/>
          </a:bodyPr>
          <a:lstStyle/>
          <a:p>
            <a:pPr eaLnBrk="1" hangingPunct="1">
              <a:buClr>
                <a:srgbClr val="000000"/>
              </a:buClr>
              <a:buSzPct val="100000"/>
              <a:defRPr/>
            </a:pPr>
            <a:r>
              <a:rPr lang="zh-CN" altLang="en-US" sz="2400">
                <a:latin typeface="Times New Roman" pitchFamily="18" charset="0"/>
                <a:ea typeface="+mn-ea"/>
                <a:cs typeface="Times New Roman" pitchFamily="18" charset="0"/>
              </a:rPr>
              <a:t> </a:t>
            </a:r>
          </a:p>
        </p:txBody>
      </p:sp>
      <p:pic>
        <p:nvPicPr>
          <p:cNvPr id="18" name="Picture 8" descr="7676792001398087791823"/>
          <p:cNvPicPr>
            <a:picLocks noChangeAspect="1" noChangeArrowheads="1"/>
          </p:cNvPicPr>
          <p:nvPr/>
        </p:nvPicPr>
        <p:blipFill>
          <a:blip r:embed="rId4">
            <a:duotone>
              <a:schemeClr val="accent4">
                <a:shade val="45000"/>
                <a:satMod val="135000"/>
              </a:schemeClr>
              <a:prstClr val="white"/>
            </a:duotone>
          </a:blip>
          <a:srcRect/>
          <a:stretch>
            <a:fillRect/>
          </a:stretch>
        </p:blipFill>
        <p:spPr bwMode="auto">
          <a:xfrm>
            <a:off x="2827783" y="4026584"/>
            <a:ext cx="4732042" cy="568429"/>
          </a:xfrm>
          <a:prstGeom prst="rect">
            <a:avLst/>
          </a:prstGeom>
          <a:noFill/>
          <a:ln>
            <a:noFill/>
          </a:ln>
          <a:effectLst/>
        </p:spPr>
      </p:pic>
      <p:sp>
        <p:nvSpPr>
          <p:cNvPr id="45072" name="Rectangle 9"/>
          <p:cNvSpPr>
            <a:spLocks noChangeArrowheads="1"/>
          </p:cNvSpPr>
          <p:nvPr/>
        </p:nvSpPr>
        <p:spPr bwMode="auto">
          <a:xfrm>
            <a:off x="358775" y="4584700"/>
            <a:ext cx="8064500" cy="941388"/>
          </a:xfrm>
          <a:prstGeom prst="rect">
            <a:avLst/>
          </a:prstGeom>
          <a:noFill/>
          <a:ln>
            <a:noFill/>
          </a:ln>
          <a:effectLst/>
        </p:spPr>
        <p:txBody>
          <a:bodyPr anchor="ctr">
            <a:spAutoFit/>
          </a:bodyPr>
          <a:lstStyle/>
          <a:p>
            <a:pPr algn="just" eaLnBrk="1" hangingPunct="1">
              <a:lnSpc>
                <a:spcPct val="115000"/>
              </a:lnSpc>
              <a:buClr>
                <a:srgbClr val="000000"/>
              </a:buClr>
              <a:buSzPct val="100000"/>
              <a:defRPr/>
            </a:pPr>
            <a:r>
              <a:rPr lang="zh-CN" altLang="en-US" sz="2400" dirty="0">
                <a:latin typeface="Times New Roman" pitchFamily="18" charset="0"/>
                <a:ea typeface="+mn-ea"/>
                <a:cs typeface="Times New Roman" pitchFamily="18" charset="0"/>
              </a:rPr>
              <a:t>        当初始状态和过程的策略给定时，指标函数也就确定了。因此，</a:t>
            </a:r>
            <a:r>
              <a:rPr lang="zh-CN" altLang="en-US" sz="2400" b="1" dirty="0">
                <a:solidFill>
                  <a:srgbClr val="C00000"/>
                </a:solidFill>
                <a:latin typeface="Times New Roman" pitchFamily="18" charset="0"/>
                <a:ea typeface="+mn-ea"/>
                <a:cs typeface="Times New Roman" pitchFamily="18" charset="0"/>
              </a:rPr>
              <a:t>指标函数</a:t>
            </a:r>
            <a:r>
              <a:rPr lang="zh-CN" altLang="en-US" sz="2400" dirty="0">
                <a:latin typeface="Times New Roman" pitchFamily="18" charset="0"/>
                <a:ea typeface="+mn-ea"/>
                <a:cs typeface="Times New Roman" pitchFamily="18" charset="0"/>
              </a:rPr>
              <a:t>是</a:t>
            </a:r>
            <a:r>
              <a:rPr lang="zh-CN" altLang="en-US" sz="2400" dirty="0">
                <a:solidFill>
                  <a:srgbClr val="0070C0"/>
                </a:solidFill>
                <a:latin typeface="Times New Roman" pitchFamily="18" charset="0"/>
                <a:ea typeface="+mn-ea"/>
                <a:cs typeface="Times New Roman" pitchFamily="18" charset="0"/>
              </a:rPr>
              <a:t>初始状态和策略</a:t>
            </a:r>
            <a:r>
              <a:rPr lang="zh-CN" altLang="en-US" sz="2400" dirty="0">
                <a:latin typeface="Times New Roman" pitchFamily="18" charset="0"/>
                <a:ea typeface="+mn-ea"/>
                <a:cs typeface="Times New Roman" pitchFamily="18" charset="0"/>
              </a:rPr>
              <a:t>的</a:t>
            </a:r>
            <a:r>
              <a:rPr lang="zh-CN" altLang="en-US" sz="2400" b="1" dirty="0">
                <a:solidFill>
                  <a:srgbClr val="0070C0"/>
                </a:solidFill>
                <a:latin typeface="Times New Roman" pitchFamily="18" charset="0"/>
                <a:ea typeface="+mn-ea"/>
                <a:cs typeface="Times New Roman" pitchFamily="18" charset="0"/>
              </a:rPr>
              <a:t>函数</a:t>
            </a:r>
            <a:r>
              <a:rPr lang="zh-CN" altLang="en-US" sz="2400" dirty="0">
                <a:latin typeface="Times New Roman" pitchFamily="18" charset="0"/>
                <a:ea typeface="+mn-ea"/>
                <a:cs typeface="Times New Roman" pitchFamily="18" charset="0"/>
              </a:rPr>
              <a:t>。可记为</a:t>
            </a:r>
          </a:p>
        </p:txBody>
      </p:sp>
      <p:pic>
        <p:nvPicPr>
          <p:cNvPr id="21" name="Picture 13" descr="2663361131398087791823"/>
          <p:cNvPicPr>
            <a:picLocks noChangeAspect="1" noChangeArrowheads="1"/>
          </p:cNvPicPr>
          <p:nvPr/>
        </p:nvPicPr>
        <p:blipFill>
          <a:blip r:embed="rId5">
            <a:duotone>
              <a:schemeClr val="accent4">
                <a:shade val="45000"/>
                <a:satMod val="135000"/>
              </a:schemeClr>
              <a:prstClr val="white"/>
            </a:duotone>
          </a:blip>
          <a:srcRect/>
          <a:stretch>
            <a:fillRect/>
          </a:stretch>
        </p:blipFill>
        <p:spPr bwMode="auto">
          <a:xfrm>
            <a:off x="3023320" y="5656299"/>
            <a:ext cx="2253439" cy="515901"/>
          </a:xfrm>
          <a:prstGeom prst="rect">
            <a:avLst/>
          </a:prstGeom>
          <a:noFill/>
          <a:ln>
            <a:noFill/>
          </a:ln>
          <a:effectLst/>
        </p:spPr>
      </p:pic>
      <p:sp>
        <p:nvSpPr>
          <p:cNvPr id="16" name="Rectangle 2"/>
          <p:cNvSpPr txBox="1">
            <a:spLocks noChangeArrowheads="1"/>
          </p:cNvSpPr>
          <p:nvPr/>
        </p:nvSpPr>
        <p:spPr bwMode="auto">
          <a:xfrm>
            <a:off x="574675" y="906463"/>
            <a:ext cx="5216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下面考虑动态规划基本方程</a:t>
            </a:r>
          </a:p>
        </p:txBody>
      </p:sp>
      <p:sp>
        <p:nvSpPr>
          <p:cNvPr id="17"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592138" y="3803650"/>
            <a:ext cx="7848600"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0000"/>
              </a:lnSpc>
              <a:spcBef>
                <a:spcPct val="0"/>
              </a:spcBef>
              <a:buClr>
                <a:srgbClr val="000000"/>
              </a:buClr>
              <a:buFontTx/>
              <a:buNone/>
            </a:pPr>
            <a:r>
              <a:rPr lang="zh-CN" altLang="en-US" sz="2400" b="1">
                <a:latin typeface="宋体" panose="02010600030101010101" pitchFamily="2" charset="-122"/>
              </a:rPr>
              <a:t>  其子策略      可看成是由决策     和</a:t>
            </a:r>
            <a:r>
              <a:rPr lang="zh-CN" altLang="en-US" sz="2400" b="1">
                <a:latin typeface="Tahoma" panose="020B0604030504040204" pitchFamily="34" charset="0"/>
              </a:rPr>
              <a:t>子策略               组合而成，即</a:t>
            </a:r>
            <a:endParaRPr lang="zh-CN" altLang="en-US" sz="2400" b="1">
              <a:latin typeface="宋体" panose="02010600030101010101" pitchFamily="2" charset="-122"/>
            </a:endParaRPr>
          </a:p>
        </p:txBody>
      </p:sp>
      <p:sp>
        <p:nvSpPr>
          <p:cNvPr id="73731" name="Rectangle 3"/>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51204" name="Picture 4" descr="979671172139808779182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1751012" y="2910001"/>
            <a:ext cx="5334000" cy="595199"/>
          </a:xfrm>
          <a:prstGeom prst="rect">
            <a:avLst/>
          </a:prstGeom>
          <a:noFill/>
          <a:ln>
            <a:noFill/>
          </a:ln>
          <a:effectLst/>
        </p:spPr>
      </p:pic>
      <p:pic>
        <p:nvPicPr>
          <p:cNvPr id="51205" name="Picture 5" descr="4001760971398087791823"/>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auto">
          <a:xfrm>
            <a:off x="2207841" y="3849579"/>
            <a:ext cx="916359" cy="431673"/>
          </a:xfrm>
          <a:prstGeom prst="rect">
            <a:avLst/>
          </a:prstGeom>
          <a:noFill/>
          <a:ln>
            <a:noFill/>
          </a:ln>
          <a:effectLst/>
        </p:spPr>
      </p:pic>
      <p:pic>
        <p:nvPicPr>
          <p:cNvPr id="51206" name="Picture 6" descr="8111804861398087791823"/>
          <p:cNvPicPr>
            <a:picLocks noChangeAspect="1" noChangeArrowheads="1"/>
          </p:cNvPicPr>
          <p:nvPr/>
        </p:nvPicPr>
        <p:blipFill>
          <a:blip r:embed="rId4" cstate="print">
            <a:duotone>
              <a:schemeClr val="accent4">
                <a:shade val="45000"/>
                <a:satMod val="135000"/>
              </a:schemeClr>
              <a:prstClr val="white"/>
            </a:duotone>
          </a:blip>
          <a:srcRect/>
          <a:stretch>
            <a:fillRect/>
          </a:stretch>
        </p:blipFill>
        <p:spPr bwMode="auto">
          <a:xfrm>
            <a:off x="5364924" y="3849579"/>
            <a:ext cx="731076" cy="399135"/>
          </a:xfrm>
          <a:prstGeom prst="rect">
            <a:avLst/>
          </a:prstGeom>
          <a:noFill/>
          <a:ln>
            <a:noFill/>
          </a:ln>
          <a:effectLst/>
        </p:spPr>
      </p:pic>
      <p:pic>
        <p:nvPicPr>
          <p:cNvPr id="51207" name="Picture 7" descr="2808923611398087791823"/>
          <p:cNvPicPr>
            <a:picLocks noChangeAspect="1" noChangeArrowheads="1"/>
          </p:cNvPicPr>
          <p:nvPr/>
        </p:nvPicPr>
        <p:blipFill>
          <a:blip r:embed="rId5" cstate="print">
            <a:duotone>
              <a:schemeClr val="accent4">
                <a:shade val="45000"/>
                <a:satMod val="135000"/>
              </a:schemeClr>
              <a:prstClr val="white"/>
            </a:duotone>
          </a:blip>
          <a:srcRect/>
          <a:stretch>
            <a:fillRect/>
          </a:stretch>
        </p:blipFill>
        <p:spPr bwMode="auto">
          <a:xfrm>
            <a:off x="7242448" y="3817048"/>
            <a:ext cx="1368152" cy="497635"/>
          </a:xfrm>
          <a:prstGeom prst="rect">
            <a:avLst/>
          </a:prstGeom>
          <a:noFill/>
          <a:ln>
            <a:noFill/>
          </a:ln>
          <a:effectLst/>
        </p:spPr>
      </p:pic>
      <p:pic>
        <p:nvPicPr>
          <p:cNvPr id="51208" name="Picture 8" descr="8771989761398087791823"/>
          <p:cNvPicPr>
            <a:picLocks noChangeAspect="1" noChangeArrowheads="1"/>
          </p:cNvPicPr>
          <p:nvPr/>
        </p:nvPicPr>
        <p:blipFill>
          <a:blip r:embed="rId6">
            <a:duotone>
              <a:schemeClr val="accent4">
                <a:shade val="45000"/>
                <a:satMod val="135000"/>
              </a:schemeClr>
              <a:prstClr val="white"/>
            </a:duotone>
          </a:blip>
          <a:srcRect/>
          <a:stretch>
            <a:fillRect/>
          </a:stretch>
        </p:blipFill>
        <p:spPr bwMode="auto">
          <a:xfrm>
            <a:off x="2268538" y="4667759"/>
            <a:ext cx="4360862" cy="742441"/>
          </a:xfrm>
          <a:prstGeom prst="rect">
            <a:avLst/>
          </a:prstGeom>
          <a:noFill/>
          <a:ln>
            <a:noFill/>
          </a:ln>
          <a:effectLst/>
        </p:spPr>
      </p:pic>
      <p:sp>
        <p:nvSpPr>
          <p:cNvPr id="73737" name="Rectangle 9"/>
          <p:cNvSpPr>
            <a:spLocks noChangeArrowheads="1"/>
          </p:cNvSpPr>
          <p:nvPr/>
        </p:nvSpPr>
        <p:spPr bwMode="auto">
          <a:xfrm>
            <a:off x="838200" y="2433638"/>
            <a:ext cx="35052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2400" b="1">
                <a:latin typeface="Times New Roman" panose="02020603050405020304" pitchFamily="18" charset="0"/>
              </a:rPr>
              <a:t>上面递推关系又可写成</a:t>
            </a:r>
            <a:endParaRPr lang="zh-CN" altLang="en-US" sz="2400" b="1">
              <a:latin typeface="Arial" panose="020B0604020202020204" pitchFamily="34" charset="0"/>
            </a:endParaRPr>
          </a:p>
        </p:txBody>
      </p:sp>
      <p:sp>
        <p:nvSpPr>
          <p:cNvPr id="73738"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D204C32D-B6C8-46D2-8FBE-886C05F4EBF5}"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73739"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A711A2E9-40B9-40A8-AD97-DFDFE1C873DF}" type="slidenum">
              <a:rPr lang="zh-CN" altLang="zh-CN" sz="1400">
                <a:latin typeface="Arial" panose="020B0604020202020204" pitchFamily="34" charset="0"/>
              </a:rPr>
              <a:pPr>
                <a:spcBef>
                  <a:spcPct val="0"/>
                </a:spcBef>
                <a:buClr>
                  <a:srgbClr val="000000"/>
                </a:buClr>
                <a:buFontTx/>
                <a:buNone/>
              </a:pPr>
              <a:t>55</a:t>
            </a:fld>
            <a:endParaRPr lang="en-US" altLang="zh-CN" sz="1400">
              <a:latin typeface="Arial" panose="020B0604020202020204" pitchFamily="34" charset="0"/>
            </a:endParaRPr>
          </a:p>
        </p:txBody>
      </p:sp>
      <p:sp>
        <p:nvSpPr>
          <p:cNvPr id="13" name="Rectangle 2"/>
          <p:cNvSpPr txBox="1">
            <a:spLocks noChangeArrowheads="1"/>
          </p:cNvSpPr>
          <p:nvPr/>
        </p:nvSpPr>
        <p:spPr bwMode="auto">
          <a:xfrm>
            <a:off x="574675" y="906463"/>
            <a:ext cx="3311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动态规划基本方程</a:t>
            </a:r>
          </a:p>
        </p:txBody>
      </p:sp>
      <p:sp>
        <p:nvSpPr>
          <p:cNvPr id="14"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pic>
        <p:nvPicPr>
          <p:cNvPr id="15" name="Picture 13" descr="2663361131398087791823"/>
          <p:cNvPicPr>
            <a:picLocks noChangeAspect="1" noChangeArrowheads="1"/>
          </p:cNvPicPr>
          <p:nvPr/>
        </p:nvPicPr>
        <p:blipFill>
          <a:blip r:embed="rId7">
            <a:duotone>
              <a:schemeClr val="accent4">
                <a:shade val="45000"/>
                <a:satMod val="135000"/>
              </a:schemeClr>
              <a:prstClr val="white"/>
            </a:duotone>
          </a:blip>
          <a:srcRect/>
          <a:stretch>
            <a:fillRect/>
          </a:stretch>
        </p:blipFill>
        <p:spPr bwMode="auto">
          <a:xfrm>
            <a:off x="6315886" y="946212"/>
            <a:ext cx="2253439" cy="515901"/>
          </a:xfrm>
          <a:prstGeom prst="rect">
            <a:avLst/>
          </a:prstGeom>
          <a:solidFill>
            <a:schemeClr val="bg1">
              <a:lumMod val="75000"/>
            </a:schemeClr>
          </a:solidFill>
          <a:ln>
            <a:noFill/>
          </a:ln>
          <a:effectLst/>
        </p:spPr>
      </p:pic>
      <p:pic>
        <p:nvPicPr>
          <p:cNvPr id="16" name="Picture 8" descr="7676792001398087791823"/>
          <p:cNvPicPr>
            <a:picLocks noChangeAspect="1" noChangeArrowheads="1"/>
          </p:cNvPicPr>
          <p:nvPr/>
        </p:nvPicPr>
        <p:blipFill>
          <a:blip r:embed="rId8">
            <a:duotone>
              <a:schemeClr val="accent4">
                <a:shade val="45000"/>
                <a:satMod val="135000"/>
              </a:schemeClr>
              <a:prstClr val="white"/>
            </a:duotone>
          </a:blip>
          <a:srcRect/>
          <a:stretch>
            <a:fillRect/>
          </a:stretch>
        </p:blipFill>
        <p:spPr bwMode="auto">
          <a:xfrm>
            <a:off x="3870056" y="1722184"/>
            <a:ext cx="4732042" cy="568429"/>
          </a:xfrm>
          <a:prstGeom prst="rect">
            <a:avLst/>
          </a:prstGeom>
          <a:solidFill>
            <a:schemeClr val="bg1">
              <a:lumMod val="75000"/>
            </a:schemeClr>
          </a:solidFill>
          <a:ln>
            <a:noFill/>
          </a:ln>
          <a:effectLst/>
        </p:spPr>
      </p:pic>
      <p:sp>
        <p:nvSpPr>
          <p:cNvPr id="2" name="箭头: 下 1"/>
          <p:cNvSpPr/>
          <p:nvPr/>
        </p:nvSpPr>
        <p:spPr>
          <a:xfrm>
            <a:off x="5368925" y="2362200"/>
            <a:ext cx="269875"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pic>
        <p:nvPicPr>
          <p:cNvPr id="52227" name="Picture 3" descr="6003225861398087791823"/>
          <p:cNvPicPr>
            <a:picLocks noChangeAspect="1" noChangeArrowheads="1"/>
          </p:cNvPicPr>
          <p:nvPr/>
        </p:nvPicPr>
        <p:blipFill>
          <a:blip r:embed="rId2">
            <a:duotone>
              <a:schemeClr val="accent4">
                <a:shade val="45000"/>
                <a:satMod val="135000"/>
              </a:schemeClr>
              <a:prstClr val="white"/>
            </a:duotone>
          </a:blip>
          <a:srcRect/>
          <a:stretch>
            <a:fillRect/>
          </a:stretch>
        </p:blipFill>
        <p:spPr bwMode="auto">
          <a:xfrm>
            <a:off x="1447800" y="2676317"/>
            <a:ext cx="6324600" cy="846022"/>
          </a:xfrm>
          <a:prstGeom prst="rect">
            <a:avLst/>
          </a:prstGeom>
          <a:noFill/>
          <a:ln>
            <a:noFill/>
          </a:ln>
          <a:effectLst/>
        </p:spPr>
      </p:pic>
      <p:sp>
        <p:nvSpPr>
          <p:cNvPr id="74756" name="Rectangle 4"/>
          <p:cNvSpPr>
            <a:spLocks noChangeArrowheads="1"/>
          </p:cNvSpPr>
          <p:nvPr/>
        </p:nvSpPr>
        <p:spPr bwMode="auto">
          <a:xfrm>
            <a:off x="720725" y="1606550"/>
            <a:ext cx="7920038"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latin typeface="Times New Roman" panose="02020603050405020304" pitchFamily="18" charset="0"/>
              </a:rPr>
              <a:t>         如果用</a:t>
            </a:r>
            <a:r>
              <a:rPr lang="en-US" altLang="zh-CN" sz="2400" b="1" i="1">
                <a:latin typeface="Times New Roman" panose="02020603050405020304" pitchFamily="18" charset="0"/>
              </a:rPr>
              <a:t>p</a:t>
            </a:r>
            <a:r>
              <a:rPr lang="en-US" altLang="zh-CN" sz="2400" b="1">
                <a:latin typeface="Times New Roman" panose="02020603050405020304" pitchFamily="18" charset="0"/>
              </a:rPr>
              <a:t>*</a:t>
            </a:r>
            <a:r>
              <a:rPr lang="en-US" altLang="zh-CN" sz="2400" b="1" i="1" baseline="-25000">
                <a:latin typeface="Times New Roman" panose="02020603050405020304" pitchFamily="18" charset="0"/>
              </a:rPr>
              <a:t>k,n</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i="1" baseline="-25000">
                <a:latin typeface="Times New Roman" panose="02020603050405020304" pitchFamily="18" charset="0"/>
              </a:rPr>
              <a:t>k</a:t>
            </a:r>
            <a:r>
              <a:rPr lang="en-US" altLang="zh-CN" sz="2400" b="1">
                <a:latin typeface="Times New Roman" panose="02020603050405020304" pitchFamily="18" charset="0"/>
              </a:rPr>
              <a:t>)</a:t>
            </a:r>
            <a:r>
              <a:rPr lang="zh-CN" altLang="en-US" sz="2400" b="1">
                <a:latin typeface="Times New Roman" panose="02020603050405020304" pitchFamily="18" charset="0"/>
              </a:rPr>
              <a:t>表示初始状态为</a:t>
            </a:r>
            <a:r>
              <a:rPr lang="en-US" altLang="zh-CN" sz="2400" b="1" i="1">
                <a:latin typeface="Times New Roman" panose="02020603050405020304" pitchFamily="18" charset="0"/>
              </a:rPr>
              <a:t>s</a:t>
            </a:r>
            <a:r>
              <a:rPr lang="en-US" altLang="zh-CN" sz="2400" b="1" i="1" baseline="-25000">
                <a:latin typeface="Times New Roman" panose="02020603050405020304" pitchFamily="18" charset="0"/>
              </a:rPr>
              <a:t>k</a:t>
            </a:r>
            <a:r>
              <a:rPr lang="zh-CN" altLang="en-US" sz="2400" b="1">
                <a:latin typeface="Times New Roman" panose="02020603050405020304" pitchFamily="18" charset="0"/>
              </a:rPr>
              <a:t>的后部子过程所有子策略中的最优子策略，则最优值函数为  </a:t>
            </a:r>
          </a:p>
        </p:txBody>
      </p:sp>
      <p:sp>
        <p:nvSpPr>
          <p:cNvPr id="74757"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492F2264-5FBF-4BA1-943E-28E8FC072ECD}" type="slidenum">
              <a:rPr lang="zh-CN" altLang="zh-CN" sz="1400">
                <a:latin typeface="Arial" panose="020B0604020202020204" pitchFamily="34" charset="0"/>
              </a:rPr>
              <a:pPr>
                <a:spcBef>
                  <a:spcPct val="0"/>
                </a:spcBef>
                <a:buClr>
                  <a:srgbClr val="000000"/>
                </a:buClr>
                <a:buFontTx/>
                <a:buNone/>
              </a:pPr>
              <a:t>56</a:t>
            </a:fld>
            <a:endParaRPr lang="en-US" altLang="zh-CN" sz="1400">
              <a:latin typeface="Arial" panose="020B0604020202020204" pitchFamily="34" charset="0"/>
            </a:endParaRPr>
          </a:p>
        </p:txBody>
      </p:sp>
      <p:pic>
        <p:nvPicPr>
          <p:cNvPr id="7" name="Picture 3" descr="3188850711398087791823"/>
          <p:cNvPicPr>
            <a:picLocks noChangeAspect="1" noChangeArrowheads="1"/>
          </p:cNvPicPr>
          <p:nvPr/>
        </p:nvPicPr>
        <p:blipFill>
          <a:blip r:embed="rId3">
            <a:duotone>
              <a:schemeClr val="accent4">
                <a:shade val="45000"/>
                <a:satMod val="135000"/>
              </a:schemeClr>
              <a:prstClr val="white"/>
            </a:duotone>
          </a:blip>
          <a:srcRect/>
          <a:stretch>
            <a:fillRect/>
          </a:stretch>
        </p:blipFill>
        <p:spPr bwMode="auto">
          <a:xfrm>
            <a:off x="1371601" y="3549888"/>
            <a:ext cx="6934200" cy="1911510"/>
          </a:xfrm>
          <a:prstGeom prst="rect">
            <a:avLst/>
          </a:prstGeom>
          <a:noFill/>
          <a:ln>
            <a:noFill/>
          </a:ln>
          <a:effectLst/>
        </p:spPr>
      </p:pic>
      <p:sp>
        <p:nvSpPr>
          <p:cNvPr id="74759" name="Rectangle 4"/>
          <p:cNvSpPr>
            <a:spLocks noChangeArrowheads="1"/>
          </p:cNvSpPr>
          <p:nvPr/>
        </p:nvSpPr>
        <p:spPr bwMode="auto">
          <a:xfrm>
            <a:off x="665163" y="3549650"/>
            <a:ext cx="8064500"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2400" b="1">
                <a:latin typeface="Times New Roman" panose="02020603050405020304" pitchFamily="18" charset="0"/>
              </a:rPr>
              <a:t>由于</a:t>
            </a:r>
          </a:p>
        </p:txBody>
      </p:sp>
      <p:sp>
        <p:nvSpPr>
          <p:cNvPr id="74760" name="Rectangle 5"/>
          <p:cNvSpPr>
            <a:spLocks noChangeArrowheads="1"/>
          </p:cNvSpPr>
          <p:nvPr/>
        </p:nvSpPr>
        <p:spPr bwMode="auto">
          <a:xfrm>
            <a:off x="755650" y="5494338"/>
            <a:ext cx="80645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2400" b="1">
                <a:latin typeface="Times New Roman" panose="02020603050405020304" pitchFamily="18" charset="0"/>
              </a:rPr>
              <a:t>同时</a:t>
            </a:r>
          </a:p>
        </p:txBody>
      </p:sp>
      <p:pic>
        <p:nvPicPr>
          <p:cNvPr id="10" name="Picture 6" descr="805375611398087791823"/>
          <p:cNvPicPr>
            <a:picLocks noChangeAspect="1" noChangeArrowheads="1"/>
          </p:cNvPicPr>
          <p:nvPr/>
        </p:nvPicPr>
        <p:blipFill>
          <a:blip r:embed="rId4">
            <a:duotone>
              <a:schemeClr val="accent4">
                <a:shade val="45000"/>
                <a:satMod val="135000"/>
              </a:schemeClr>
              <a:prstClr val="white"/>
            </a:duotone>
          </a:blip>
          <a:srcRect/>
          <a:stretch>
            <a:fillRect/>
          </a:stretch>
        </p:blipFill>
        <p:spPr bwMode="auto">
          <a:xfrm>
            <a:off x="1901153" y="5525825"/>
            <a:ext cx="4364710" cy="722575"/>
          </a:xfrm>
          <a:prstGeom prst="rect">
            <a:avLst/>
          </a:prstGeom>
          <a:noFill/>
          <a:ln>
            <a:noFill/>
          </a:ln>
          <a:effectLst/>
        </p:spPr>
      </p:pic>
      <p:sp>
        <p:nvSpPr>
          <p:cNvPr id="74762" name="AutoShape 4">
            <a:hlinkClick r:id="rId5" action="ppaction://hlinksldjump" highlightClick="1"/>
          </p:cNvPr>
          <p:cNvSpPr>
            <a:spLocks noChangeArrowheads="1"/>
          </p:cNvSpPr>
          <p:nvPr/>
        </p:nvSpPr>
        <p:spPr bwMode="auto">
          <a:xfrm>
            <a:off x="7885113" y="5949950"/>
            <a:ext cx="647700" cy="503238"/>
          </a:xfrm>
          <a:prstGeom prst="actionButtonEnd">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13" name="Rectangle 2"/>
          <p:cNvSpPr txBox="1">
            <a:spLocks noChangeArrowheads="1"/>
          </p:cNvSpPr>
          <p:nvPr/>
        </p:nvSpPr>
        <p:spPr bwMode="auto">
          <a:xfrm>
            <a:off x="574675" y="906463"/>
            <a:ext cx="3311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动态规划基本方程</a:t>
            </a:r>
          </a:p>
        </p:txBody>
      </p:sp>
      <p:sp>
        <p:nvSpPr>
          <p:cNvPr id="14"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900113" y="2276475"/>
            <a:ext cx="7740650" cy="21605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defRPr/>
            </a:pPr>
            <a:endParaRPr lang="zh-CN" altLang="en-US"/>
          </a:p>
        </p:txBody>
      </p:sp>
      <p:sp>
        <p:nvSpPr>
          <p:cNvPr id="75779" name="Rectangle 2"/>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75780" name="Rectangle 4"/>
          <p:cNvSpPr>
            <a:spLocks noChangeArrowheads="1"/>
          </p:cNvSpPr>
          <p:nvPr/>
        </p:nvSpPr>
        <p:spPr bwMode="auto">
          <a:xfrm>
            <a:off x="720725" y="1638300"/>
            <a:ext cx="792003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latin typeface="Times New Roman" panose="02020603050405020304" pitchFamily="18" charset="0"/>
              </a:rPr>
              <a:t>所以有：</a:t>
            </a:r>
          </a:p>
        </p:txBody>
      </p:sp>
      <p:sp>
        <p:nvSpPr>
          <p:cNvPr id="75781" name="日期占位符 1"/>
          <p:cNvSpPr>
            <a:spLocks noGrp="1" noChangeArrowheads="1"/>
          </p:cNvSpPr>
          <p:nvPr>
            <p:ph type="dt" sz="quarter" idx="4294967295"/>
          </p:nvPr>
        </p:nvSpPr>
        <p:spPr bwMode="auto">
          <a:xfrm>
            <a:off x="609600" y="6245225"/>
            <a:ext cx="19812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A2956364-A2EE-4A16-B573-5529EE5D6E3B}" type="datetime1">
              <a:rPr lang="zh-CN" altLang="en-US" sz="1400">
                <a:latin typeface="Arial" panose="020B0604020202020204" pitchFamily="34" charset="0"/>
              </a:rPr>
              <a:pPr>
                <a:spcBef>
                  <a:spcPct val="0"/>
                </a:spcBef>
                <a:buClr>
                  <a:srgbClr val="000000"/>
                </a:buClr>
                <a:buFontTx/>
                <a:buNone/>
              </a:pPr>
              <a:t>2024/1/6</a:t>
            </a:fld>
            <a:endParaRPr lang="en-US" altLang="zh-CN" sz="1400">
              <a:latin typeface="Arial" panose="020B0604020202020204" pitchFamily="34" charset="0"/>
            </a:endParaRPr>
          </a:p>
        </p:txBody>
      </p:sp>
      <p:sp>
        <p:nvSpPr>
          <p:cNvPr id="75782"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4393F12D-2895-4206-95B9-48E75CE91528}" type="slidenum">
              <a:rPr lang="zh-CN" altLang="zh-CN" sz="1400">
                <a:latin typeface="Arial" panose="020B0604020202020204" pitchFamily="34" charset="0"/>
              </a:rPr>
              <a:pPr>
                <a:spcBef>
                  <a:spcPct val="0"/>
                </a:spcBef>
                <a:buClr>
                  <a:srgbClr val="000000"/>
                </a:buClr>
                <a:buFontTx/>
                <a:buNone/>
              </a:pPr>
              <a:t>57</a:t>
            </a:fld>
            <a:endParaRPr lang="en-US" altLang="zh-CN" sz="1400">
              <a:latin typeface="Arial" panose="020B0604020202020204" pitchFamily="34" charset="0"/>
            </a:endParaRPr>
          </a:p>
        </p:txBody>
      </p:sp>
      <p:graphicFrame>
        <p:nvGraphicFramePr>
          <p:cNvPr id="75783" name="对象 1"/>
          <p:cNvGraphicFramePr>
            <a:graphicFrameLocks noChangeAspect="1"/>
          </p:cNvGraphicFramePr>
          <p:nvPr/>
        </p:nvGraphicFramePr>
        <p:xfrm>
          <a:off x="919163" y="2420938"/>
          <a:ext cx="7721600" cy="863600"/>
        </p:xfrm>
        <a:graphic>
          <a:graphicData uri="http://schemas.openxmlformats.org/presentationml/2006/ole">
            <mc:AlternateContent xmlns:mc="http://schemas.openxmlformats.org/markup-compatibility/2006">
              <mc:Choice xmlns:v="urn:schemas-microsoft-com:vml" Requires="v">
                <p:oleObj name="Equation" r:id="rId2" imgW="3517900" imgH="393700" progId="Equation.DSMT4">
                  <p:embed/>
                </p:oleObj>
              </mc:Choice>
              <mc:Fallback>
                <p:oleObj name="Equation" r:id="rId2" imgW="3517900" imgH="393700" progId="Equation.DSMT4">
                  <p:embed/>
                  <p:pic>
                    <p:nvPicPr>
                      <p:cNvPr id="75783"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63" y="2420938"/>
                        <a:ext cx="7721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 name="Picture 5" descr="9164694031398087791823"/>
          <p:cNvPicPr>
            <a:picLocks noChangeAspect="1" noChangeArrowheads="1"/>
          </p:cNvPicPr>
          <p:nvPr/>
        </p:nvPicPr>
        <p:blipFill>
          <a:blip r:embed="rId4" cstate="print">
            <a:duotone>
              <a:schemeClr val="accent4">
                <a:shade val="45000"/>
                <a:satMod val="135000"/>
              </a:schemeClr>
              <a:prstClr val="white"/>
            </a:duotone>
          </a:blip>
          <a:srcRect/>
          <a:stretch>
            <a:fillRect/>
          </a:stretch>
        </p:blipFill>
        <p:spPr bwMode="auto">
          <a:xfrm>
            <a:off x="3347864" y="3645024"/>
            <a:ext cx="1620193" cy="547265"/>
          </a:xfrm>
          <a:prstGeom prst="rect">
            <a:avLst/>
          </a:prstGeom>
          <a:noFill/>
          <a:ln>
            <a:noFill/>
          </a:ln>
          <a:effectLst/>
        </p:spPr>
      </p:pic>
      <p:sp>
        <p:nvSpPr>
          <p:cNvPr id="75785" name="Rectangle 7"/>
          <p:cNvSpPr>
            <a:spLocks noChangeArrowheads="1"/>
          </p:cNvSpPr>
          <p:nvPr/>
        </p:nvSpPr>
        <p:spPr bwMode="auto">
          <a:xfrm>
            <a:off x="1004888" y="3687763"/>
            <a:ext cx="1724025"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2400">
                <a:latin typeface="黑体" panose="02010609060101010101" pitchFamily="49" charset="-122"/>
                <a:ea typeface="黑体" panose="02010609060101010101" pitchFamily="49" charset="-122"/>
              </a:rPr>
              <a:t>边界条件为</a:t>
            </a:r>
          </a:p>
        </p:txBody>
      </p:sp>
      <p:sp>
        <p:nvSpPr>
          <p:cNvPr id="75786" name="Rectangle 4"/>
          <p:cNvSpPr>
            <a:spLocks noChangeArrowheads="1"/>
          </p:cNvSpPr>
          <p:nvPr/>
        </p:nvSpPr>
        <p:spPr bwMode="auto">
          <a:xfrm>
            <a:off x="2251075" y="5454650"/>
            <a:ext cx="4641850"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solidFill>
                  <a:srgbClr val="FF0000"/>
                </a:solidFill>
                <a:latin typeface="黑体" panose="02010609060101010101" pitchFamily="49" charset="-122"/>
                <a:ea typeface="黑体" panose="02010609060101010101" pitchFamily="49" charset="-122"/>
              </a:rPr>
              <a:t>动态规划逆序解法的基本方程</a:t>
            </a:r>
          </a:p>
        </p:txBody>
      </p:sp>
      <p:sp>
        <p:nvSpPr>
          <p:cNvPr id="4" name="上箭头 3"/>
          <p:cNvSpPr/>
          <p:nvPr/>
        </p:nvSpPr>
        <p:spPr>
          <a:xfrm>
            <a:off x="4227513" y="4476750"/>
            <a:ext cx="484187" cy="9779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defRPr/>
            </a:pPr>
            <a:endParaRPr lang="zh-CN" altLang="en-US"/>
          </a:p>
        </p:txBody>
      </p:sp>
      <p:sp>
        <p:nvSpPr>
          <p:cNvPr id="13" name="Rectangle 2"/>
          <p:cNvSpPr txBox="1">
            <a:spLocks noChangeArrowheads="1"/>
          </p:cNvSpPr>
          <p:nvPr/>
        </p:nvSpPr>
        <p:spPr bwMode="auto">
          <a:xfrm>
            <a:off x="574675" y="906463"/>
            <a:ext cx="3311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动态规划基本方程</a:t>
            </a:r>
          </a:p>
        </p:txBody>
      </p:sp>
      <p:sp>
        <p:nvSpPr>
          <p:cNvPr id="15"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3233737"/>
          </a:xfrm>
        </p:spPr>
        <p:txBody>
          <a:bodyPr/>
          <a:lstStyle/>
          <a:p>
            <a:pPr algn="just" eaLnBrk="1" hangingPunct="1">
              <a:lnSpc>
                <a:spcPct val="120000"/>
              </a:lnSpc>
              <a:buFont typeface="Wingdings" panose="05000000000000000000" pitchFamily="2" charset="2"/>
              <a:buChar char="p"/>
              <a:defRPr/>
            </a:pPr>
            <a:r>
              <a:rPr lang="zh-CN" altLang="en-US" sz="2400" b="1" u="sng" dirty="0">
                <a:solidFill>
                  <a:srgbClr val="FF0000"/>
                </a:solidFill>
                <a:latin typeface="Times New Roman" panose="02020603050405020304" pitchFamily="18" charset="0"/>
                <a:cs typeface="Times New Roman" panose="02020603050405020304" pitchFamily="18" charset="0"/>
              </a:rPr>
              <a:t>动态规划逆序解法</a:t>
            </a:r>
            <a:endParaRPr lang="en-US" altLang="zh-CN" sz="2400" b="1" u="sng" dirty="0">
              <a:solidFill>
                <a:srgbClr val="FF0000"/>
              </a:solidFill>
              <a:latin typeface="Times New Roman" panose="02020603050405020304" pitchFamily="18" charset="0"/>
              <a:cs typeface="Times New Roman" panose="02020603050405020304" pitchFamily="18" charset="0"/>
            </a:endParaRPr>
          </a:p>
          <a:p>
            <a:pPr algn="just" eaLnBrk="1" hangingPunct="1">
              <a:lnSpc>
                <a:spcPct val="120000"/>
              </a:lnSpc>
              <a:buFont typeface="Wingdings" panose="05000000000000000000" pitchFamily="2" charset="2"/>
              <a:buChar char="u"/>
              <a:defRPr/>
            </a:pPr>
            <a:r>
              <a:rPr lang="zh-CN" altLang="en-US" sz="2400" dirty="0">
                <a:latin typeface="Times New Roman" panose="02020603050405020304" pitchFamily="18" charset="0"/>
                <a:cs typeface="Times New Roman" panose="02020603050405020304" pitchFamily="18" charset="0"/>
              </a:rPr>
              <a:t>求解过程：根据边界条件，从</a:t>
            </a:r>
            <a:r>
              <a:rPr lang="en-US" altLang="zh-CN" sz="2400" dirty="0">
                <a:latin typeface="Times New Roman" panose="02020603050405020304" pitchFamily="18" charset="0"/>
                <a:cs typeface="Times New Roman" panose="02020603050405020304" pitchFamily="18" charset="0"/>
              </a:rPr>
              <a:t>k=n</a:t>
            </a:r>
            <a:r>
              <a:rPr lang="zh-CN" altLang="en-US" sz="2400" dirty="0"/>
              <a:t>开始，由后向前逆推，从而逐步可求得各段的最优决策和相应的最优值，最后求出</a:t>
            </a:r>
          </a:p>
          <a:p>
            <a:pPr eaLnBrk="1" hangingPunct="1">
              <a:spcBef>
                <a:spcPct val="0"/>
              </a:spcBef>
              <a:buClrTx/>
              <a:buFontTx/>
              <a:buNone/>
              <a:defRPr/>
            </a:pPr>
            <a:endParaRPr lang="en-US" altLang="zh-CN" sz="2400" dirty="0"/>
          </a:p>
          <a:p>
            <a:pPr marL="0" indent="0" algn="just" eaLnBrk="1" hangingPunct="1">
              <a:lnSpc>
                <a:spcPct val="120000"/>
              </a:lnSpc>
              <a:buFont typeface="Wingdings" panose="05000000000000000000" pitchFamily="2" charset="2"/>
              <a:buNone/>
              <a:defRPr/>
            </a:pPr>
            <a:endParaRPr lang="en-US" altLang="zh-CN" sz="2400" dirty="0"/>
          </a:p>
          <a:p>
            <a:pPr marL="0" indent="0" algn="just" eaLnBrk="1" hangingPunct="1">
              <a:lnSpc>
                <a:spcPct val="120000"/>
              </a:lnSpc>
              <a:buFont typeface="Wingdings" panose="05000000000000000000" pitchFamily="2" charset="2"/>
              <a:buNone/>
              <a:defRPr/>
            </a:pPr>
            <a:r>
              <a:rPr lang="zh-CN" altLang="en-US" sz="2400" dirty="0">
                <a:latin typeface="Times New Roman" panose="02020603050405020304" pitchFamily="18" charset="0"/>
                <a:cs typeface="Times New Roman" panose="02020603050405020304" pitchFamily="18" charset="0"/>
              </a:rPr>
              <a:t>       时，就得到整个问题的最优解</a:t>
            </a:r>
            <a:r>
              <a:rPr lang="en-US" altLang="zh-CN" sz="2400" dirty="0"/>
              <a:t>.</a:t>
            </a:r>
            <a:endParaRPr lang="zh-CN" altLang="en-US" sz="2400" dirty="0"/>
          </a:p>
        </p:txBody>
      </p:sp>
      <p:sp>
        <p:nvSpPr>
          <p:cNvPr id="76803"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B809BE0B-C8CC-4701-ADCC-86BFFBA749F0}" type="slidenum">
              <a:rPr lang="zh-CN" altLang="zh-CN" sz="1400">
                <a:latin typeface="Arial" panose="020B0604020202020204" pitchFamily="34" charset="0"/>
              </a:rPr>
              <a:pPr>
                <a:spcBef>
                  <a:spcPct val="0"/>
                </a:spcBef>
                <a:buClr>
                  <a:srgbClr val="000000"/>
                </a:buClr>
                <a:buFontTx/>
                <a:buNone/>
              </a:pPr>
              <a:t>58</a:t>
            </a:fld>
            <a:endParaRPr lang="en-US" altLang="zh-CN" sz="1400">
              <a:latin typeface="Arial" panose="020B0604020202020204" pitchFamily="34" charset="0"/>
            </a:endParaRPr>
          </a:p>
        </p:txBody>
      </p:sp>
      <p:sp>
        <p:nvSpPr>
          <p:cNvPr id="9" name="Rectangle 2"/>
          <p:cNvSpPr txBox="1">
            <a:spLocks noChangeArrowheads="1"/>
          </p:cNvSpPr>
          <p:nvPr/>
        </p:nvSpPr>
        <p:spPr bwMode="auto">
          <a:xfrm>
            <a:off x="574675" y="906463"/>
            <a:ext cx="3311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动态规划基本方程</a:t>
            </a:r>
          </a:p>
        </p:txBody>
      </p:sp>
      <p:sp>
        <p:nvSpPr>
          <p:cNvPr id="10"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graphicFrame>
        <p:nvGraphicFramePr>
          <p:cNvPr id="76806" name="Object 25"/>
          <p:cNvGraphicFramePr>
            <a:graphicFrameLocks noChangeAspect="1"/>
          </p:cNvGraphicFramePr>
          <p:nvPr/>
        </p:nvGraphicFramePr>
        <p:xfrm>
          <a:off x="3048000" y="3429000"/>
          <a:ext cx="1141413" cy="685800"/>
        </p:xfrm>
        <a:graphic>
          <a:graphicData uri="http://schemas.openxmlformats.org/presentationml/2006/ole">
            <mc:AlternateContent xmlns:mc="http://schemas.openxmlformats.org/markup-compatibility/2006">
              <mc:Choice xmlns:v="urn:schemas-microsoft-com:vml" Requires="v">
                <p:oleObj r:id="rId2" imgW="381000" imgH="228600" progId="Equation.DSMT4">
                  <p:embed/>
                </p:oleObj>
              </mc:Choice>
              <mc:Fallback>
                <p:oleObj r:id="rId2" imgW="381000" imgH="228600" progId="Equation.DSMT4">
                  <p:embed/>
                  <p:pic>
                    <p:nvPicPr>
                      <p:cNvPr id="76806"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429000"/>
                        <a:ext cx="11414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0" y="134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77827" name="Rectangle 4"/>
          <p:cNvSpPr>
            <a:spLocks noChangeArrowheads="1"/>
          </p:cNvSpPr>
          <p:nvPr/>
        </p:nvSpPr>
        <p:spPr bwMode="auto">
          <a:xfrm>
            <a:off x="720725" y="1581150"/>
            <a:ext cx="7920038"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800" b="1" u="sng">
                <a:latin typeface="Times New Roman" panose="02020603050405020304" pitchFamily="18" charset="0"/>
              </a:rPr>
              <a:t>顺序解法？</a:t>
            </a:r>
          </a:p>
        </p:txBody>
      </p:sp>
      <p:sp>
        <p:nvSpPr>
          <p:cNvPr id="77828"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4B3D3253-0482-4EE9-BEF4-DA762FE7C38E}" type="slidenum">
              <a:rPr lang="zh-CN" altLang="zh-CN" sz="1400">
                <a:latin typeface="Arial" panose="020B0604020202020204" pitchFamily="34" charset="0"/>
              </a:rPr>
              <a:pPr>
                <a:spcBef>
                  <a:spcPct val="0"/>
                </a:spcBef>
                <a:buClr>
                  <a:srgbClr val="000000"/>
                </a:buClr>
                <a:buFontTx/>
                <a:buNone/>
              </a:pPr>
              <a:t>59</a:t>
            </a:fld>
            <a:endParaRPr lang="en-US" altLang="zh-CN" sz="1400">
              <a:latin typeface="Arial" panose="020B0604020202020204" pitchFamily="34" charset="0"/>
            </a:endParaRPr>
          </a:p>
        </p:txBody>
      </p:sp>
      <p:sp>
        <p:nvSpPr>
          <p:cNvPr id="77829" name="AutoShape 4">
            <a:hlinkClick r:id="rId3" action="ppaction://hlinksldjump" highlightClick="1"/>
          </p:cNvPr>
          <p:cNvSpPr>
            <a:spLocks noChangeArrowheads="1"/>
          </p:cNvSpPr>
          <p:nvPr/>
        </p:nvSpPr>
        <p:spPr bwMode="auto">
          <a:xfrm>
            <a:off x="7885113" y="6126163"/>
            <a:ext cx="647700" cy="503237"/>
          </a:xfrm>
          <a:prstGeom prst="actionButtonEnd">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endParaRPr lang="zh-CN" altLang="en-US" sz="1800">
              <a:latin typeface="Arial" panose="020B0604020202020204" pitchFamily="34" charset="0"/>
            </a:endParaRPr>
          </a:p>
        </p:txBody>
      </p:sp>
      <p:sp>
        <p:nvSpPr>
          <p:cNvPr id="77830" name="Rectangle 4"/>
          <p:cNvSpPr>
            <a:spLocks noChangeArrowheads="1"/>
          </p:cNvSpPr>
          <p:nvPr/>
        </p:nvSpPr>
        <p:spPr bwMode="auto">
          <a:xfrm>
            <a:off x="2251075" y="5734050"/>
            <a:ext cx="4641850"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solidFill>
                  <a:srgbClr val="FF0000"/>
                </a:solidFill>
                <a:latin typeface="黑体" panose="02010609060101010101" pitchFamily="49" charset="-122"/>
                <a:ea typeface="黑体" panose="02010609060101010101" pitchFamily="49" charset="-122"/>
              </a:rPr>
              <a:t>动态规划顺序解法的基本方程</a:t>
            </a:r>
          </a:p>
        </p:txBody>
      </p:sp>
      <p:sp>
        <p:nvSpPr>
          <p:cNvPr id="4" name="上箭头 3"/>
          <p:cNvSpPr/>
          <p:nvPr/>
        </p:nvSpPr>
        <p:spPr>
          <a:xfrm>
            <a:off x="4227513" y="5203825"/>
            <a:ext cx="484187" cy="48895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defRPr/>
            </a:pPr>
            <a:endParaRPr lang="zh-CN" altLang="en-US"/>
          </a:p>
        </p:txBody>
      </p:sp>
      <p:grpSp>
        <p:nvGrpSpPr>
          <p:cNvPr id="77832" name="组合 1"/>
          <p:cNvGrpSpPr>
            <a:grpSpLocks/>
          </p:cNvGrpSpPr>
          <p:nvPr/>
        </p:nvGrpSpPr>
        <p:grpSpPr bwMode="auto">
          <a:xfrm>
            <a:off x="900113" y="3028950"/>
            <a:ext cx="7740650" cy="2160588"/>
            <a:chOff x="900113" y="2852738"/>
            <a:chExt cx="7740650" cy="2160587"/>
          </a:xfrm>
        </p:grpSpPr>
        <p:sp>
          <p:nvSpPr>
            <p:cNvPr id="3" name="圆角矩形 2"/>
            <p:cNvSpPr/>
            <p:nvPr/>
          </p:nvSpPr>
          <p:spPr>
            <a:xfrm>
              <a:off x="900113" y="2852738"/>
              <a:ext cx="7740650" cy="216058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defRPr/>
              </a:pPr>
              <a:endParaRPr lang="zh-CN" altLang="en-US"/>
            </a:p>
          </p:txBody>
        </p:sp>
        <p:graphicFrame>
          <p:nvGraphicFramePr>
            <p:cNvPr id="77840" name="对象 1"/>
            <p:cNvGraphicFramePr>
              <a:graphicFrameLocks noChangeAspect="1"/>
            </p:cNvGraphicFramePr>
            <p:nvPr/>
          </p:nvGraphicFramePr>
          <p:xfrm>
            <a:off x="989013" y="2970213"/>
            <a:ext cx="7581900" cy="919162"/>
          </p:xfrm>
          <a:graphic>
            <a:graphicData uri="http://schemas.openxmlformats.org/presentationml/2006/ole">
              <mc:AlternateContent xmlns:mc="http://schemas.openxmlformats.org/markup-compatibility/2006">
                <mc:Choice xmlns:v="urn:schemas-microsoft-com:vml" Requires="v">
                  <p:oleObj name="Equation" r:id="rId4" imgW="3454400" imgH="419100" progId="Equation.DSMT4">
                    <p:embed/>
                  </p:oleObj>
                </mc:Choice>
                <mc:Fallback>
                  <p:oleObj name="Equation" r:id="rId4" imgW="3454400" imgH="419100" progId="Equation.DSMT4">
                    <p:embed/>
                    <p:pic>
                      <p:nvPicPr>
                        <p:cNvPr id="7784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2970213"/>
                          <a:ext cx="7581900"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41" name="Rectangle 7"/>
            <p:cNvSpPr>
              <a:spLocks noChangeArrowheads="1"/>
            </p:cNvSpPr>
            <p:nvPr/>
          </p:nvSpPr>
          <p:spPr bwMode="auto">
            <a:xfrm>
              <a:off x="1004888" y="4264025"/>
              <a:ext cx="1724025"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
                  <a:srgbClr val="000000"/>
                </a:buClr>
                <a:buFontTx/>
                <a:buNone/>
              </a:pPr>
              <a:r>
                <a:rPr lang="zh-CN" altLang="en-US" sz="2400">
                  <a:latin typeface="黑体" panose="02010609060101010101" pitchFamily="49" charset="-122"/>
                  <a:ea typeface="黑体" panose="02010609060101010101" pitchFamily="49" charset="-122"/>
                </a:rPr>
                <a:t>边界条件为</a:t>
              </a:r>
            </a:p>
          </p:txBody>
        </p:sp>
        <p:graphicFrame>
          <p:nvGraphicFramePr>
            <p:cNvPr id="77842" name="对象 4"/>
            <p:cNvGraphicFramePr>
              <a:graphicFrameLocks noChangeAspect="1"/>
            </p:cNvGraphicFramePr>
            <p:nvPr/>
          </p:nvGraphicFramePr>
          <p:xfrm>
            <a:off x="2800350" y="4264025"/>
            <a:ext cx="1393825" cy="501650"/>
          </p:xfrm>
          <a:graphic>
            <a:graphicData uri="http://schemas.openxmlformats.org/presentationml/2006/ole">
              <mc:AlternateContent xmlns:mc="http://schemas.openxmlformats.org/markup-compatibility/2006">
                <mc:Choice xmlns:v="urn:schemas-microsoft-com:vml" Requires="v">
                  <p:oleObj name="Equation" r:id="rId6" imgW="634725" imgH="228501" progId="Equation.DSMT4">
                    <p:embed/>
                  </p:oleObj>
                </mc:Choice>
                <mc:Fallback>
                  <p:oleObj name="Equation" r:id="rId6" imgW="634725" imgH="228501" progId="Equation.DSMT4">
                    <p:embed/>
                    <p:pic>
                      <p:nvPicPr>
                        <p:cNvPr id="77842"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0350" y="4264025"/>
                          <a:ext cx="13938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2238" name="对象 5"/>
          <p:cNvGraphicFramePr>
            <a:graphicFrameLocks noChangeAspect="1"/>
          </p:cNvGraphicFramePr>
          <p:nvPr/>
        </p:nvGraphicFramePr>
        <p:xfrm>
          <a:off x="2800350" y="2236788"/>
          <a:ext cx="2174875" cy="530225"/>
        </p:xfrm>
        <a:graphic>
          <a:graphicData uri="http://schemas.openxmlformats.org/presentationml/2006/ole">
            <mc:AlternateContent xmlns:mc="http://schemas.openxmlformats.org/markup-compatibility/2006">
              <mc:Choice xmlns:v="urn:schemas-microsoft-com:vml" Requires="v">
                <p:oleObj name="Equation" r:id="rId8" imgW="990170" imgH="241195" progId="Equation.DSMT4">
                  <p:embed/>
                </p:oleObj>
              </mc:Choice>
              <mc:Fallback>
                <p:oleObj name="Equation" r:id="rId8" imgW="990170" imgH="241195" progId="Equation.DSMT4">
                  <p:embed/>
                  <p:pic>
                    <p:nvPicPr>
                      <p:cNvPr id="52238"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0350" y="2236788"/>
                        <a:ext cx="2174875" cy="53022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34" name="Rectangle 4"/>
          <p:cNvSpPr>
            <a:spLocks noChangeArrowheads="1"/>
          </p:cNvSpPr>
          <p:nvPr/>
        </p:nvSpPr>
        <p:spPr bwMode="auto">
          <a:xfrm>
            <a:off x="684213" y="2235200"/>
            <a:ext cx="2070100"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solidFill>
                  <a:srgbClr val="FF0000"/>
                </a:solidFill>
                <a:latin typeface="黑体" panose="02010609060101010101" pitchFamily="49" charset="-122"/>
                <a:ea typeface="黑体" panose="02010609060101010101" pitchFamily="49" charset="-122"/>
              </a:rPr>
              <a:t>状态转移函数</a:t>
            </a:r>
          </a:p>
        </p:txBody>
      </p:sp>
      <p:sp>
        <p:nvSpPr>
          <p:cNvPr id="77835" name="Rectangle 4"/>
          <p:cNvSpPr>
            <a:spLocks noChangeArrowheads="1"/>
          </p:cNvSpPr>
          <p:nvPr/>
        </p:nvSpPr>
        <p:spPr bwMode="auto">
          <a:xfrm>
            <a:off x="5094288" y="2266950"/>
            <a:ext cx="20701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
                <a:srgbClr val="000000"/>
              </a:buClr>
              <a:buFontTx/>
              <a:buNone/>
            </a:pPr>
            <a:r>
              <a:rPr lang="zh-CN" altLang="en-US" sz="2400" b="1">
                <a:solidFill>
                  <a:srgbClr val="FF0000"/>
                </a:solidFill>
                <a:latin typeface="黑体" panose="02010609060101010101" pitchFamily="49" charset="-122"/>
                <a:ea typeface="黑体" panose="02010609060101010101" pitchFamily="49" charset="-122"/>
              </a:rPr>
              <a:t>允许决策集合</a:t>
            </a:r>
          </a:p>
        </p:txBody>
      </p:sp>
      <p:graphicFrame>
        <p:nvGraphicFramePr>
          <p:cNvPr id="52241" name="对象 6"/>
          <p:cNvGraphicFramePr>
            <a:graphicFrameLocks noChangeAspect="1"/>
          </p:cNvGraphicFramePr>
          <p:nvPr/>
        </p:nvGraphicFramePr>
        <p:xfrm>
          <a:off x="7164388" y="2162175"/>
          <a:ext cx="1152525" cy="684213"/>
        </p:xfrm>
        <a:graphic>
          <a:graphicData uri="http://schemas.openxmlformats.org/presentationml/2006/ole">
            <mc:AlternateContent xmlns:mc="http://schemas.openxmlformats.org/markup-compatibility/2006">
              <mc:Choice xmlns:v="urn:schemas-microsoft-com:vml" Requires="v">
                <p:oleObj name="Equation" r:id="rId10" imgW="406224" imgH="241195" progId="Equation.DSMT4">
                  <p:embed/>
                </p:oleObj>
              </mc:Choice>
              <mc:Fallback>
                <p:oleObj name="Equation" r:id="rId10" imgW="406224" imgH="241195" progId="Equation.DSMT4">
                  <p:embed/>
                  <p:pic>
                    <p:nvPicPr>
                      <p:cNvPr id="52241" name="对象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4388" y="2162175"/>
                        <a:ext cx="1152525" cy="6842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2"/>
          <p:cNvSpPr txBox="1">
            <a:spLocks noChangeArrowheads="1"/>
          </p:cNvSpPr>
          <p:nvPr/>
        </p:nvSpPr>
        <p:spPr bwMode="auto">
          <a:xfrm>
            <a:off x="574675" y="906463"/>
            <a:ext cx="3311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动态规划基本方程</a:t>
            </a:r>
          </a:p>
        </p:txBody>
      </p:sp>
      <p:sp>
        <p:nvSpPr>
          <p:cNvPr id="20"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685800" y="1643063"/>
            <a:ext cx="7848600" cy="3233737"/>
          </a:xfrm>
        </p:spPr>
        <p:txBody>
          <a:bodyPr/>
          <a:lstStyle/>
          <a:p>
            <a:pPr algn="just" eaLnBrk="1" hangingPunct="1">
              <a:lnSpc>
                <a:spcPct val="120000"/>
              </a:lnSpc>
              <a:buFont typeface="Wingdings" panose="05000000000000000000" pitchFamily="2" charset="2"/>
              <a:buChar char="p"/>
              <a:defRPr/>
            </a:pPr>
            <a:r>
              <a:rPr lang="zh-CN" altLang="en-US" sz="2400" b="1" u="sng" dirty="0">
                <a:solidFill>
                  <a:srgbClr val="FF0000"/>
                </a:solidFill>
                <a:latin typeface="Times New Roman" panose="02020603050405020304" pitchFamily="18" charset="0"/>
                <a:cs typeface="Times New Roman" panose="02020603050405020304" pitchFamily="18" charset="0"/>
              </a:rPr>
              <a:t>动态规划顺序解法</a:t>
            </a:r>
            <a:endParaRPr lang="en-US" altLang="zh-CN" sz="2400" b="1" u="sng" dirty="0">
              <a:solidFill>
                <a:srgbClr val="FF0000"/>
              </a:solidFill>
              <a:latin typeface="Times New Roman" panose="02020603050405020304" pitchFamily="18" charset="0"/>
              <a:cs typeface="Times New Roman" panose="02020603050405020304" pitchFamily="18" charset="0"/>
            </a:endParaRPr>
          </a:p>
          <a:p>
            <a:pPr algn="just" eaLnBrk="1" hangingPunct="1">
              <a:lnSpc>
                <a:spcPct val="120000"/>
              </a:lnSpc>
              <a:buFont typeface="Wingdings" panose="05000000000000000000" pitchFamily="2" charset="2"/>
              <a:buChar char="u"/>
              <a:defRPr/>
            </a:pPr>
            <a:r>
              <a:rPr lang="zh-CN" altLang="en-US" sz="2400" dirty="0">
                <a:latin typeface="Times New Roman" panose="02020603050405020304" pitchFamily="18" charset="0"/>
                <a:cs typeface="Times New Roman" panose="02020603050405020304" pitchFamily="18" charset="0"/>
              </a:rPr>
              <a:t>求解过程：根据边界条件，从</a:t>
            </a:r>
            <a:r>
              <a:rPr lang="en-US" altLang="zh-CN" sz="2400" dirty="0">
                <a:latin typeface="Times New Roman" panose="02020603050405020304" pitchFamily="18" charset="0"/>
                <a:cs typeface="Times New Roman" panose="02020603050405020304" pitchFamily="18" charset="0"/>
              </a:rPr>
              <a:t>k=1</a:t>
            </a:r>
            <a:r>
              <a:rPr lang="zh-CN" altLang="en-US" sz="2400" dirty="0"/>
              <a:t>开始，由前向后顺推，逐步求得各段的最优决策和相应的最优值，最后求出   </a:t>
            </a:r>
            <a:endParaRPr lang="en-US" altLang="zh-CN" sz="2400" dirty="0"/>
          </a:p>
          <a:p>
            <a:pPr algn="just" eaLnBrk="1" hangingPunct="1">
              <a:lnSpc>
                <a:spcPct val="120000"/>
              </a:lnSpc>
              <a:buFont typeface="Wingdings" panose="05000000000000000000" pitchFamily="2" charset="2"/>
              <a:buChar char="u"/>
              <a:defRPr/>
            </a:pPr>
            <a:endParaRPr lang="en-US" altLang="zh-CN" sz="2400" dirty="0"/>
          </a:p>
          <a:p>
            <a:pPr algn="just" eaLnBrk="1" hangingPunct="1">
              <a:lnSpc>
                <a:spcPct val="120000"/>
              </a:lnSpc>
              <a:buFont typeface="Wingdings" panose="05000000000000000000" pitchFamily="2" charset="2"/>
              <a:buChar char="u"/>
              <a:defRPr/>
            </a:pPr>
            <a:endParaRPr lang="en-US" altLang="zh-CN" sz="2400" dirty="0"/>
          </a:p>
          <a:p>
            <a:pPr marL="0" indent="0" algn="just" eaLnBrk="1" hangingPunct="1">
              <a:lnSpc>
                <a:spcPct val="120000"/>
              </a:lnSpc>
              <a:buFont typeface="Wingdings" panose="05000000000000000000" pitchFamily="2" charset="2"/>
              <a:buNone/>
              <a:defRPr/>
            </a:pPr>
            <a:r>
              <a:rPr lang="zh-CN" altLang="en-US" sz="2400" dirty="0">
                <a:latin typeface="Times New Roman" panose="02020603050405020304" pitchFamily="18" charset="0"/>
                <a:cs typeface="Times New Roman" panose="02020603050405020304" pitchFamily="18" charset="0"/>
              </a:rPr>
              <a:t>       就得到整个问题的最优解</a:t>
            </a:r>
            <a:r>
              <a:rPr lang="en-US" altLang="zh-CN" sz="2400" dirty="0"/>
              <a:t>.</a:t>
            </a:r>
            <a:endParaRPr lang="zh-CN" altLang="en-US" sz="2400" dirty="0"/>
          </a:p>
        </p:txBody>
      </p:sp>
      <p:sp>
        <p:nvSpPr>
          <p:cNvPr id="79875" name="灯片编号占位符 2"/>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
                <a:srgbClr val="000000"/>
              </a:buClr>
              <a:buFontTx/>
              <a:buNone/>
            </a:pPr>
            <a:fld id="{19CB6D24-819E-491E-AA2B-50C6CA584E53}" type="slidenum">
              <a:rPr lang="zh-CN" altLang="zh-CN" sz="1400">
                <a:latin typeface="Arial" panose="020B0604020202020204" pitchFamily="34" charset="0"/>
              </a:rPr>
              <a:pPr>
                <a:spcBef>
                  <a:spcPct val="0"/>
                </a:spcBef>
                <a:buClr>
                  <a:srgbClr val="000000"/>
                </a:buClr>
                <a:buFontTx/>
                <a:buNone/>
              </a:pPr>
              <a:t>60</a:t>
            </a:fld>
            <a:endParaRPr lang="en-US" altLang="zh-CN" sz="1400">
              <a:latin typeface="Arial" panose="020B0604020202020204" pitchFamily="34" charset="0"/>
            </a:endParaRPr>
          </a:p>
        </p:txBody>
      </p:sp>
      <p:sp>
        <p:nvSpPr>
          <p:cNvPr id="9" name="Rectangle 2"/>
          <p:cNvSpPr txBox="1">
            <a:spLocks noChangeArrowheads="1"/>
          </p:cNvSpPr>
          <p:nvPr/>
        </p:nvSpPr>
        <p:spPr bwMode="auto">
          <a:xfrm>
            <a:off x="574675" y="906463"/>
            <a:ext cx="3311525" cy="620712"/>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2800" b="1" u="sng" kern="0" dirty="0">
                <a:solidFill>
                  <a:schemeClr val="hlink"/>
                </a:solidFill>
              </a:rPr>
              <a:t>动态规划基本方程</a:t>
            </a:r>
          </a:p>
        </p:txBody>
      </p:sp>
      <p:sp>
        <p:nvSpPr>
          <p:cNvPr id="10" name="Rectangle 2"/>
          <p:cNvSpPr txBox="1">
            <a:spLocks noChangeArrowheads="1"/>
          </p:cNvSpPr>
          <p:nvPr/>
        </p:nvSpPr>
        <p:spPr bwMode="auto">
          <a:xfrm>
            <a:off x="574675" y="284163"/>
            <a:ext cx="6621463" cy="622300"/>
          </a:xfrm>
          <a:prstGeom prst="rect">
            <a:avLst/>
          </a:prstGeom>
          <a:noFill/>
          <a:ln>
            <a:noFill/>
          </a:ln>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kern="0" dirty="0">
                <a:latin typeface="Times New Roman" panose="02020603050405020304" pitchFamily="18" charset="0"/>
                <a:ea typeface="新宋体" panose="02010609030101010101" pitchFamily="49" charset="-122"/>
              </a:rPr>
              <a:t>3</a:t>
            </a:r>
            <a:r>
              <a:rPr lang="en-US" altLang="zh-CN" sz="3200" kern="0" dirty="0">
                <a:latin typeface="Times New Roman" panose="02020603050405020304" pitchFamily="18" charset="0"/>
              </a:rPr>
              <a:t> </a:t>
            </a:r>
            <a:r>
              <a:rPr lang="zh-CN" altLang="en-US" sz="3200" kern="0" dirty="0"/>
              <a:t>动态规划的基本思想和基本方程</a:t>
            </a:r>
          </a:p>
        </p:txBody>
      </p:sp>
      <p:graphicFrame>
        <p:nvGraphicFramePr>
          <p:cNvPr id="79878" name="Object 10"/>
          <p:cNvGraphicFramePr>
            <a:graphicFrameLocks noChangeAspect="1"/>
          </p:cNvGraphicFramePr>
          <p:nvPr/>
        </p:nvGraphicFramePr>
        <p:xfrm>
          <a:off x="3429000" y="3200400"/>
          <a:ext cx="1347788" cy="609600"/>
        </p:xfrm>
        <a:graphic>
          <a:graphicData uri="http://schemas.openxmlformats.org/presentationml/2006/ole">
            <mc:AlternateContent xmlns:mc="http://schemas.openxmlformats.org/markup-compatibility/2006">
              <mc:Choice xmlns:v="urn:schemas-microsoft-com:vml" Requires="v">
                <p:oleObj r:id="rId2" imgW="508000" imgH="228600" progId="Equation.DSMT4">
                  <p:embed/>
                </p:oleObj>
              </mc:Choice>
              <mc:Fallback>
                <p:oleObj r:id="rId2" imgW="508000" imgH="228600" progId="Equation.DSMT4">
                  <p:embed/>
                  <p:pic>
                    <p:nvPicPr>
                      <p:cNvPr id="79878"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200400"/>
                        <a:ext cx="1347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4661</TotalTime>
  <Words>4638</Words>
  <Application>Microsoft Office PowerPoint</Application>
  <PresentationFormat>全屏显示(4:3)</PresentationFormat>
  <Paragraphs>531</Paragraphs>
  <Slides>60</Slides>
  <Notes>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60</vt:i4>
      </vt:variant>
    </vt:vector>
  </HeadingPairs>
  <TitlesOfParts>
    <vt:vector size="74" baseType="lpstr">
      <vt:lpstr>黑体</vt:lpstr>
      <vt:lpstr>宋体</vt:lpstr>
      <vt:lpstr>微软雅黑</vt:lpstr>
      <vt:lpstr>Arial</vt:lpstr>
      <vt:lpstr>Arial</vt:lpstr>
      <vt:lpstr>Calibri</vt:lpstr>
      <vt:lpstr>Tahoma</vt:lpstr>
      <vt:lpstr>Times New Roman</vt:lpstr>
      <vt:lpstr>Verdana</vt:lpstr>
      <vt:lpstr>Wingdings</vt:lpstr>
      <vt:lpstr>Profile</vt:lpstr>
      <vt:lpstr>Equation</vt:lpstr>
      <vt:lpstr>MathType 6.0 Equation</vt:lpstr>
      <vt:lpstr>公式</vt:lpstr>
      <vt:lpstr>最优化理论与方法（动态规划与图论）</vt:lpstr>
      <vt:lpstr>教学安排（16学时）</vt:lpstr>
      <vt:lpstr>什么是动态规划？</vt:lpstr>
      <vt:lpstr>动态规划的形成</vt:lpstr>
      <vt:lpstr>动态规划</vt:lpstr>
      <vt:lpstr>理查德·贝尔曼 (Richard Bellman)</vt:lpstr>
      <vt:lpstr>第8章  动态规划</vt:lpstr>
      <vt:lpstr>1 多阶段决策过程及实例</vt:lpstr>
      <vt:lpstr>1 多阶段决策过程及实例</vt:lpstr>
      <vt:lpstr>示例1：最短路问题</vt:lpstr>
      <vt:lpstr>PowerPoint 演示文稿</vt:lpstr>
      <vt:lpstr>示例2：机器负荷分配问题</vt:lpstr>
      <vt:lpstr>总结</vt:lpstr>
      <vt:lpstr>2 动态规划基本概念</vt:lpstr>
      <vt:lpstr>2 动态规划基本概念</vt:lpstr>
      <vt:lpstr>PowerPoint 演示文稿</vt:lpstr>
      <vt:lpstr>PowerPoint 演示文稿</vt:lpstr>
      <vt:lpstr>2 动态规划基本概念-（2）状态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动态规划基本概念-（5）状态转移方程</vt:lpstr>
      <vt:lpstr>PowerPoint 演示文稿</vt:lpstr>
      <vt:lpstr>PowerPoint 演示文稿</vt:lpstr>
      <vt:lpstr>PowerPoint 演示文稿</vt:lpstr>
      <vt:lpstr>PowerPoint 演示文稿</vt:lpstr>
      <vt:lpstr>PowerPoint 演示文稿</vt:lpstr>
      <vt:lpstr>PowerPoint 演示文稿</vt:lpstr>
      <vt:lpstr>第8章  动态规划</vt:lpstr>
      <vt:lpstr>3 动态规划的基本思想和基本方程</vt:lpstr>
      <vt:lpstr>3 动态规划的基本思想和基本方程</vt:lpstr>
      <vt:lpstr>3 动态规划的基本思想和基本方程</vt:lpstr>
      <vt:lpstr>3 动态规划的基本思想和基本方程</vt:lpstr>
      <vt:lpstr>3 动态规划的基本思想和基本方程</vt:lpstr>
      <vt:lpstr>3 动态规划的基本思想和基本方程</vt:lpstr>
      <vt:lpstr>PowerPoint 演示文稿</vt:lpstr>
      <vt:lpstr>PowerPoint 演示文稿</vt:lpstr>
      <vt:lpstr>3 动态规划的基本思想和基本方程</vt:lpstr>
      <vt:lpstr>3 动态规划的基本思想和基本方程</vt:lpstr>
      <vt:lpstr>3 动态规划的基本思想和基本方程</vt:lpstr>
      <vt:lpstr>3 动态规划的基本思想和基本方程</vt:lpstr>
      <vt:lpstr>3 动态规划的基本思想和基本方程</vt:lpstr>
      <vt:lpstr>3 动态规划的基本思想和基本方程</vt:lpstr>
      <vt:lpstr>3 动态规划的基本思想和基本方程</vt:lpstr>
      <vt:lpstr>3 动态规划的基本思想和基本方程</vt:lpstr>
      <vt:lpstr>与穷举法相比有以下优点</vt:lpstr>
      <vt:lpstr>与穷举法相比有以下优点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think</dc:creator>
  <cp:lastModifiedBy>hq</cp:lastModifiedBy>
  <cp:revision>519</cp:revision>
  <cp:lastPrinted>1601-01-01T00:00:00Z</cp:lastPrinted>
  <dcterms:created xsi:type="dcterms:W3CDTF">1601-01-01T00:00:00Z</dcterms:created>
  <dcterms:modified xsi:type="dcterms:W3CDTF">2024-01-06T14:28:35Z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